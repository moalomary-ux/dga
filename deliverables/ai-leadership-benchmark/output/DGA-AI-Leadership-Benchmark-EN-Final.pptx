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7562088"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ckinsey.com/capabilities/quantumblack/our-insights/the-state-of-ai-how-organizations-are-rewiring-to-capture-value" TargetMode="External"/><Relationship Id="rId3" Type="http://schemas.openxmlformats.org/officeDocument/2006/relationships/hyperlink" Target="https://www.mckinsey.com/capabilities/quantumblack/our-insights/the-state-of-ai" TargetMode="External"/><Relationship Id="rId4" Type="http://schemas.openxmlformats.org/officeDocument/2006/relationships/hyperlink" Target="https://www.gartner.com/en/newsroom/press-releases/2025-05-06-gartner-survey-reveals-that-ceos-believe-their-executive-teams-lack-ai-savviness" TargetMode="External"/><Relationship Id="rId5" Type="http://schemas.openxmlformats.org/officeDocument/2006/relationships/hyperlink" Target="https://www.gartner.com/en/articles/2025-ceo-challenges" TargetMode="External"/><Relationship Id="rId6" Type="http://schemas.openxmlformats.org/officeDocument/2006/relationships/hyperlink" Target="https://www.gartner.com/en/newsroom/press-releases/2026-04-23-gartner-survey-reveals-80-percent-of-ceos-say-artificial-intelligence-will-force-operational-capability-overhauls" TargetMode="External"/><Relationship Id="rId7" Type="http://schemas.openxmlformats.org/officeDocument/2006/relationships/hyperlink" Target="https://www.deloitte.com/us/en/insights/industry/public-sector/use-of-ai-in-government.html" TargetMode="External"/><Relationship Id="rId8" Type="http://schemas.openxmlformats.org/officeDocument/2006/relationships/hyperlink" Target="https://www.accenture.com/sg-en/insights/public-service/experience-new-lens" TargetMode="External"/><Relationship Id="rId9" Type="http://schemas.openxmlformats.org/officeDocument/2006/relationships/hyperlink" Target="https://www.spa.gov.sa/en/N2174231" TargetMode="External"/><Relationship Id="rId10" Type="http://schemas.openxmlformats.org/officeDocument/2006/relationships/hyperlink" Target="https://www.spa.gov.sa/en/N2472986" TargetMode="External"/><Relationship Id="rId11" Type="http://schemas.openxmlformats.org/officeDocument/2006/relationships/hyperlink" Target="https://www.oecd.org/en/publications/building-an-ai-ready-public-workforce_b89244c7-en/full-report.html" TargetMode="External"/><Relationship Id="rId12" Type="http://schemas.openxmlformats.org/officeDocument/2006/relationships/hyperlink" Target="https://www.oecd.org/en/publications/2026/06/digital-government-outlook_4585678e/full-report/adopting-and-governing-ai-in-government_7ef312a9.html" TargetMode="External"/><Relationship Id="rId13" Type="http://schemas.openxmlformats.org/officeDocument/2006/relationships/hyperlink" Target="https://online.em.kellogg.northwestern.edu/c-suite-program-in-digital-transformation-and-ai" TargetMode="External"/><Relationship Id="rId14" Type="http://schemas.openxmlformats.org/officeDocument/2006/relationships/hyperlink" Target="https://executive-ed.xpro.mit.edu/ai-for-senior-executives-program" TargetMode="External"/><Relationship Id="rId15" Type="http://schemas.openxmlformats.org/officeDocument/2006/relationships/hyperlink" Target="https://www.jbs.cam.ac.uk/executive-education/artificial-intelligence-ai/cambridge-ai-leadership-programme/"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icenterforgovernment.org/ai-government-leadership-program/" TargetMode="External"/><Relationship Id="rId3" Type="http://schemas.openxmlformats.org/officeDocument/2006/relationships/hyperlink" Target="https://www.gsa.gov/blog/2024/09/23/empowering-responsible-ai-the-ai-training-series-for-government-employees" TargetMode="External"/><Relationship Id="rId4" Type="http://schemas.openxmlformats.org/officeDocument/2006/relationships/hyperlink" Target="https://www.ipa.ie/courses/all-courses/artificial-intelligence-masterclass/" TargetMode="External"/><Relationship Id="rId5" Type="http://schemas.openxmlformats.org/officeDocument/2006/relationships/hyperlink" Target="https://www.darden.virginia.edu/executive-education/ai-essentials-government-leaders" TargetMode="External"/><Relationship Id="rId6" Type="http://schemas.openxmlformats.org/officeDocument/2006/relationships/hyperlink" Target="https://engineering.jhu.edu/ExecEd/course/ai-for-senior-leaders-online/" TargetMode="External"/><Relationship Id="rId7" Type="http://schemas.openxmlformats.org/officeDocument/2006/relationships/hyperlink" Target="https://lkyspp.nus.edu.sg/executive-education/programmes/ai-and-digital-transformation-for-public-policy-leaders/" TargetMode="External"/><Relationship Id="rId8" Type="http://schemas.openxmlformats.org/officeDocument/2006/relationships/hyperlink" Target="https://www.govexec.com/technology/2024/10/partnership-public-service-plans-ai-training-center-federal-employees-2025/400342/" TargetMode="External"/><Relationship Id="rId9" Type="http://schemas.openxmlformats.org/officeDocument/2006/relationships/hyperlink" Target="https://apolitical.co/pages/apolitical-receives-5-million-grant-from-googleorg-to-train-one-million-civil-servants-in-ai" TargetMode="External"/><Relationship Id="rId10" Type="http://schemas.openxmlformats.org/officeDocument/2006/relationships/hyperlink" Target="https://www.khaleejtimes.com/uae/approves-project-to-train-80000-employees-in-agentic-ai" TargetMode="External"/><Relationship Id="rId11" Type="http://schemas.openxmlformats.org/officeDocument/2006/relationships/hyperlink" Target="https://www.fahr.gov.ae/en/news/uae-government-announces-strategic-knowledge-partnership-with-mbzuai/" TargetMode="External"/><Relationship Id="rId12" Type="http://schemas.openxmlformats.org/officeDocument/2006/relationships/hyperlink" Target="https://mediaoffice.ae/en/news/2026/may/20-05/mohammed-bin-rashid-attends-national-retreat-showcasing-projects" TargetMode="External"/><Relationship Id="rId13" Type="http://schemas.openxmlformats.org/officeDocument/2006/relationships/hyperlink" Target="https://www.mddi.gov.sg/newsroom/launch-of-institute-of-digital-government/" TargetMode="External"/><Relationship Id="rId14" Type="http://schemas.openxmlformats.org/officeDocument/2006/relationships/hyperlink" Target="https://moderncivilservice.blog.gov.uk/2024/09/02/upskilling-senior-civil-servants-with-the-digital-excellence-programme/" TargetMode="External"/><Relationship Id="rId15" Type="http://schemas.openxmlformats.org/officeDocument/2006/relationships/hyperlink" Target="https://www.undp.org/ghana/press-releases/government-ghana-and-undp-kicks-ministerial-bootcamp-strengthen-ai-capacity-and-advance-ai-enabled-public-services" TargetMode="External"/><Relationship Id="rId16" Type="http://schemas.openxmlformats.org/officeDocument/2006/relationships/hyperlink" Target="https://academy.mbzuai.ac.ae/wp-content/uploads/2026/04/GAILP-Prospectus-April-2027.pdf" TargetMode="External"/><Relationship Id="rId17" Type="http://schemas.openxmlformats.org/officeDocument/2006/relationships/hyperlink" Target="https://mbzuai.ac.ae/news/mbzuais-global-ai-leadership-program-returns-with-expanded-second-edition/" TargetMode="External"/><Relationship Id="rId18" Type="http://schemas.openxmlformats.org/officeDocument/2006/relationships/hyperlink" Target="https://mbzuai.ac.ae/innovate/training-programs/mbzuai-executive-program/" TargetMode="External"/><Relationship Id="rId19" Type="http://schemas.openxmlformats.org/officeDocument/2006/relationships/hyperlink" Target="https://www.bsg.ox.ac.uk/course/leading-ai-through-co-creation" TargetMode="External"/><Relationship Id="rId20" Type="http://schemas.openxmlformats.org/officeDocument/2006/relationships/hyperlink" Target="https://www.hks.harvard.edu/educational-programs/executive-education/leading-artificial-intelligence"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mperial.ac.uk/research-and-innovation/the-forum/courses-for-policymakers/fellowships/" TargetMode="External"/><Relationship Id="rId3" Type="http://schemas.openxmlformats.org/officeDocument/2006/relationships/hyperlink" Target="https://blogs.imperial.ac.uk/the-forum/2025/10/21/from-theory-to-practice-how-20-civil-servants-are-building-ai-capability-across-government/" TargetMode="External"/><Relationship Id="rId4" Type="http://schemas.openxmlformats.org/officeDocument/2006/relationships/hyperlink" Target="https://www.gogradia.com/guides/open-enrollment-vs-custom-executive-education" TargetMode="External"/><Relationship Id="rId5" Type="http://schemas.openxmlformats.org/officeDocument/2006/relationships/hyperlink" Target="https://www.icf.com/clients/workforce/uk-civil-service-digital-excellence-programme-evaluation" TargetMode="External"/><Relationship Id="rId6" Type="http://schemas.openxmlformats.org/officeDocument/2006/relationships/hyperlink" Target="https://www.pib.gov.in/PressReleasePage.aspx?PRID=2294777&amp;reg=22&amp;lang=1" TargetMode="External"/><Relationship Id="rId7" Type="http://schemas.openxmlformats.org/officeDocument/2006/relationships/hyperlink" Target="https://en.kabar.kg/news/kazakhstan-starts-training-1st-cohort-of-ai-officers-for-public-sector/" TargetMode="External"/><Relationship Id="rId8" Type="http://schemas.openxmlformats.org/officeDocument/2006/relationships/hyperlink" Target="https://egyptinnovate.com/en/news/mcit-nta-co-launch-ai-for-government-organization-leaders-national-initiative" TargetMode="External"/><Relationship Id="rId9" Type="http://schemas.openxmlformats.org/officeDocument/2006/relationships/hyperlink" Target="https://www.digital.gov.au/ai/ai-in-government-policy/staff-training" TargetMode="External"/><Relationship Id="rId10" Type="http://schemas.openxmlformats.org/officeDocument/2006/relationships/hyperlink" Target="https://numerique.gouv.fr/sinformer/espace-presse/formation-des-agents-publics-au-num%C3%A9rique--l%C3%A9tat-lance-le-dispositif-pix-pour-la-fonction-publique-d%C3%A9tat/" TargetMode="External"/><Relationship Id="rId11" Type="http://schemas.openxmlformats.org/officeDocument/2006/relationships/hyperlink" Target="https://lexaraadvisory.com/article-4-ai-literacy-obligation.html" TargetMode="External"/><Relationship Id="rId12" Type="http://schemas.openxmlformats.org/officeDocument/2006/relationships/hyperlink" Target="https://www.globalgovernmentforum.com/united-arab-emirates-launches-training-programme-for-chief-ai-officers/" TargetMode="External"/><Relationship Id="rId13" Type="http://schemas.openxmlformats.org/officeDocument/2006/relationships/hyperlink" Target="https://apolitical.co/en/pages/apolitical-releases-new-learnings-report-from-training-public-servants-for-ai-governance" TargetMode="External"/><Relationship Id="rId14" Type="http://schemas.openxmlformats.org/officeDocument/2006/relationships/hyperlink" Target="https://moderncivilservice.blog.gov.uk/2025/10/14/one-big-thing-ai-for-all-is-live/" TargetMode="External"/><Relationship Id="rId15" Type="http://schemas.openxmlformats.org/officeDocument/2006/relationships/hyperlink" Target="https://www.ecofinagency.com/news-digital/1301-51886-rwanda-rolls-out-mandatory-ai-training-for-all-civil-servants" TargetMode="External"/><Relationship Id="rId16" Type="http://schemas.openxmlformats.org/officeDocument/2006/relationships/hyperlink" Target="https://www.spa.gov.sa/en/N2612574" TargetMode="External"/><Relationship Id="rId17" Type="http://schemas.openxmlformats.org/officeDocument/2006/relationships/hyperlink" Target="https://www.spa.gov.sa/en/N2311819" TargetMode="External"/><Relationship Id="rId18" Type="http://schemas.openxmlformats.org/officeDocument/2006/relationships/hyperlink" Target="https://saudipedia.com/en/digital-government-capacity-development-program" TargetMode="External"/><Relationship Id="rId19" Type="http://schemas.openxmlformats.org/officeDocument/2006/relationships/hyperlink" Target="https://www.spa.gov.sa/en/N2447957"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rmg-sa.com/en/conclusion-of-ai-for-leaders-and-decision-makers/" TargetMode="External"/><Relationship Id="rId3" Type="http://schemas.openxmlformats.org/officeDocument/2006/relationships/hyperlink" Target="https://www.rmg-sa.com/en/concludes-the-first-of-its-kind-training-program/" TargetMode="External"/><Relationship Id="rId4" Type="http://schemas.openxmlformats.org/officeDocument/2006/relationships/hyperlink" Target="https://www.psau.edu.sa/dhr/en/news/waed-track-program-leadership-development-has-been-launched-partnership-leadership-development" TargetMode="External"/><Relationship Id="rId5" Type="http://schemas.openxmlformats.org/officeDocument/2006/relationships/hyperlink" Target="https://pll.harvard.edu/course/ai-action-organizational-strategy-responsible-adoption-ai" TargetMode="External"/><Relationship Id="rId6" Type="http://schemas.openxmlformats.org/officeDocument/2006/relationships/hyperlink" Target="https://www.mediaoffice.ae/en/news/2026/april/01-04/mbrsg-launches-government-leadership-programme-on-the-path-of-mohammed-bin-rashid" TargetMode="External"/><Relationship Id="rId7" Type="http://schemas.openxmlformats.org/officeDocument/2006/relationships/hyperlink" Target="https://executivecourses.com/schools/uk-ireland/uk/university-of-oxford-said-business-school-executive-education" TargetMode="External"/><Relationship Id="rId8" Type="http://schemas.openxmlformats.org/officeDocument/2006/relationships/hyperlink" Target="https://windsorleadership.org.uk/programmes-overview" TargetMode="External"/><Relationship Id="rId9" Type="http://schemas.openxmlformats.org/officeDocument/2006/relationships/hyperlink" Target="https://etda.libraries.psu.edu/files/final_submissions/2804" TargetMode="External"/><Relationship Id="rId10" Type="http://schemas.openxmlformats.org/officeDocument/2006/relationships/hyperlink" Target="https://xedinstitute.org/wp-content/uploads/2025/08/DRHP-Aug-Final-12.08.25.pdf" TargetMode="External"/><Relationship Id="rId11" Type="http://schemas.openxmlformats.org/officeDocument/2006/relationships/hyperlink" Target="https://poetsandquantsforexecs.com/exec-ed/imd-reimagines-a-new-normal-in-executive-education/" TargetMode="External"/><Relationship Id="rId12" Type="http://schemas.openxmlformats.org/officeDocument/2006/relationships/hyperlink" Target="https://qazinform.com/news/top-kazakhstani-executives-to-undergo-ai-training-with-professors-from-stanford-openai-academy-bf9f94"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ayan-cover-bg.png"/>
          <p:cNvPicPr>
            <a:picLocks noChangeAspect="1"/>
          </p:cNvPicPr>
          <p:nvPr/>
        </p:nvPicPr>
        <p:blipFill>
          <a:blip r:embed="rId2"/>
          <a:stretch>
            <a:fillRect/>
          </a:stretch>
        </p:blipFill>
        <p:spPr>
          <a:xfrm>
            <a:off x="0" y="0"/>
            <a:ext cx="7562088" cy="10689336"/>
          </a:xfrm>
          <a:prstGeom prst="rect">
            <a:avLst/>
          </a:prstGeom>
        </p:spPr>
      </p:pic>
      <p:sp>
        <p:nvSpPr>
          <p:cNvPr id="3" name="Rounded Rectangle 2"/>
          <p:cNvSpPr/>
          <p:nvPr/>
        </p:nvSpPr>
        <p:spPr>
          <a:xfrm>
            <a:off x="566928" y="3977639"/>
            <a:ext cx="3992650" cy="310896"/>
          </a:xfrm>
          <a:prstGeom prst="roundRect">
            <a:avLst>
              <a:gd name="adj" fmla="val 17647"/>
            </a:avLst>
          </a:prstGeom>
          <a:solidFill>
            <a:srgbClr val="1A144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0" spc="140">
                <a:solidFill>
                  <a:srgbClr val="1CC182"/>
                </a:solidFill>
                <a:latin typeface="Diodrum Arabic SemiBold"/>
                <a:ea typeface="Diodrum Arabic SemiBold"/>
                <a:cs typeface="Diodrum Arabic SemiBold"/>
              </a:rPr>
              <a:t>EXPLORATORY BENCHMARK STUDY  ·  AUGUST 2026</a:t>
            </a:r>
          </a:p>
        </p:txBody>
      </p:sp>
      <p:sp>
        <p:nvSpPr>
          <p:cNvPr id="4" name="TextBox 3"/>
          <p:cNvSpPr txBox="1"/>
          <p:nvPr/>
        </p:nvSpPr>
        <p:spPr>
          <a:xfrm>
            <a:off x="566928" y="4526280"/>
            <a:ext cx="6428231" cy="486155"/>
          </a:xfrm>
          <a:prstGeom prst="rect">
            <a:avLst/>
          </a:prstGeom>
          <a:noFill/>
        </p:spPr>
        <p:txBody>
          <a:bodyPr wrap="square" lIns="0" rIns="0" tIns="0" bIns="0">
            <a:spAutoFit/>
          </a:bodyPr>
          <a:lstStyle/>
          <a:p>
            <a:pPr algn="l">
              <a:lnSpc>
                <a:spcPts val="3540"/>
              </a:lnSpc>
            </a:pPr>
            <a:r>
              <a:rPr sz="3000" b="1">
                <a:solidFill>
                  <a:srgbClr val="FFFFFF"/>
                </a:solidFill>
                <a:latin typeface="Diodrum Arabic"/>
                <a:ea typeface="Diodrum Arabic"/>
                <a:cs typeface="Diodrum Arabic"/>
              </a:rPr>
              <a:t>AI Leadership Development</a:t>
            </a:r>
          </a:p>
        </p:txBody>
      </p:sp>
      <p:sp>
        <p:nvSpPr>
          <p:cNvPr id="5" name="TextBox 4"/>
          <p:cNvSpPr txBox="1"/>
          <p:nvPr/>
        </p:nvSpPr>
        <p:spPr>
          <a:xfrm>
            <a:off x="566928" y="4994148"/>
            <a:ext cx="6428231" cy="486155"/>
          </a:xfrm>
          <a:prstGeom prst="rect">
            <a:avLst/>
          </a:prstGeom>
          <a:noFill/>
        </p:spPr>
        <p:txBody>
          <a:bodyPr wrap="square" lIns="0" rIns="0" tIns="0" bIns="0">
            <a:spAutoFit/>
          </a:bodyPr>
          <a:lstStyle/>
          <a:p>
            <a:pPr algn="l">
              <a:lnSpc>
                <a:spcPts val="3540"/>
              </a:lnSpc>
            </a:pPr>
            <a:r>
              <a:rPr sz="3000" b="1">
                <a:solidFill>
                  <a:srgbClr val="3DD6DA"/>
                </a:solidFill>
                <a:latin typeface="Diodrum Arabic"/>
                <a:ea typeface="Diodrum Arabic"/>
                <a:cs typeface="Diodrum Arabic"/>
              </a:rPr>
              <a:t>for Senior Government Leaders</a:t>
            </a:r>
          </a:p>
        </p:txBody>
      </p:sp>
      <p:sp>
        <p:nvSpPr>
          <p:cNvPr id="6" name="TextBox 5"/>
          <p:cNvSpPr txBox="1"/>
          <p:nvPr/>
        </p:nvSpPr>
        <p:spPr>
          <a:xfrm>
            <a:off x="566928" y="5626608"/>
            <a:ext cx="6428231" cy="460121"/>
          </a:xfrm>
          <a:prstGeom prst="rect">
            <a:avLst/>
          </a:prstGeom>
          <a:noFill/>
        </p:spPr>
        <p:txBody>
          <a:bodyPr wrap="square" lIns="0" rIns="0" tIns="0" bIns="0">
            <a:spAutoFit/>
          </a:bodyPr>
          <a:lstStyle/>
          <a:p>
            <a:pPr algn="l">
              <a:lnSpc>
                <a:spcPts val="1667"/>
              </a:lnSpc>
            </a:pPr>
            <a:r>
              <a:rPr sz="1150" b="0">
                <a:solidFill>
                  <a:srgbClr val="E8E6F6"/>
                </a:solidFill>
                <a:latin typeface="Diodrum Arabic"/>
                <a:ea typeface="Diodrum Arabic"/>
                <a:cs typeface="Diodrum Arabic"/>
              </a:rPr>
              <a:t>Global and local benchmarking and a proposed Saudi model for four leadership levels — prepared by the Qudratak programme, Digital Government Authority.</a:t>
            </a:r>
          </a:p>
        </p:txBody>
      </p:sp>
      <p:sp>
        <p:nvSpPr>
          <p:cNvPr id="7" name="Rectangle 6"/>
          <p:cNvSpPr/>
          <p:nvPr/>
        </p:nvSpPr>
        <p:spPr>
          <a:xfrm>
            <a:off x="566928" y="8732520"/>
            <a:ext cx="6428231" cy="9144"/>
          </a:xfrm>
          <a:prstGeom prst="rect">
            <a:avLst/>
          </a:prstGeom>
          <a:solidFill>
            <a:srgbClr val="4A4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8878824"/>
            <a:ext cx="1959863" cy="352551"/>
          </a:xfrm>
          <a:prstGeom prst="rect">
            <a:avLst/>
          </a:prstGeom>
          <a:noFill/>
        </p:spPr>
        <p:txBody>
          <a:bodyPr wrap="square" lIns="0" rIns="0" tIns="0" bIns="0">
            <a:spAutoFit/>
          </a:bodyPr>
          <a:lstStyle/>
          <a:p>
            <a:pPr algn="l">
              <a:lnSpc>
                <a:spcPts val="927"/>
              </a:lnSpc>
            </a:pPr>
            <a:r>
              <a:rPr sz="800" b="0" spc="120">
                <a:solidFill>
                  <a:srgbClr val="9E97C8"/>
                </a:solidFill>
                <a:latin typeface="Diodrum Arabic SemiBold"/>
                <a:ea typeface="Diodrum Arabic SemiBold"/>
                <a:cs typeface="Diodrum Arabic SemiBold"/>
              </a:rPr>
              <a:t>DOCUMENT TYPE</a:t>
            </a:r>
          </a:p>
          <a:p>
            <a:pPr algn="l">
              <a:lnSpc>
                <a:spcPts val="1160"/>
              </a:lnSpc>
              <a:spcBef>
                <a:spcPts val="400"/>
              </a:spcBef>
            </a:pPr>
            <a:r>
              <a:rPr sz="1000" b="0">
                <a:solidFill>
                  <a:srgbClr val="FFFFFF"/>
                </a:solidFill>
                <a:latin typeface="Diodrum Arabic"/>
                <a:ea typeface="Diodrum Arabic"/>
                <a:cs typeface="Diodrum Arabic"/>
              </a:rPr>
              <a:t>Exploratory benchmark study</a:t>
            </a:r>
          </a:p>
        </p:txBody>
      </p:sp>
      <p:sp>
        <p:nvSpPr>
          <p:cNvPr id="9" name="TextBox 8"/>
          <p:cNvSpPr txBox="1"/>
          <p:nvPr/>
        </p:nvSpPr>
        <p:spPr>
          <a:xfrm>
            <a:off x="2709672" y="8878824"/>
            <a:ext cx="1959863" cy="352551"/>
          </a:xfrm>
          <a:prstGeom prst="rect">
            <a:avLst/>
          </a:prstGeom>
          <a:noFill/>
        </p:spPr>
        <p:txBody>
          <a:bodyPr wrap="square" lIns="0" rIns="0" tIns="0" bIns="0">
            <a:spAutoFit/>
          </a:bodyPr>
          <a:lstStyle/>
          <a:p>
            <a:pPr algn="l">
              <a:lnSpc>
                <a:spcPts val="927"/>
              </a:lnSpc>
            </a:pPr>
            <a:r>
              <a:rPr sz="800" b="0" spc="120">
                <a:solidFill>
                  <a:srgbClr val="9E97C8"/>
                </a:solidFill>
                <a:latin typeface="Diodrum Arabic SemiBold"/>
                <a:ea typeface="Diodrum Arabic SemiBold"/>
                <a:cs typeface="Diodrum Arabic SemiBold"/>
              </a:rPr>
              <a:t>ISSUE DATE</a:t>
            </a:r>
          </a:p>
          <a:p>
            <a:pPr algn="l">
              <a:lnSpc>
                <a:spcPts val="1160"/>
              </a:lnSpc>
              <a:spcBef>
                <a:spcPts val="400"/>
              </a:spcBef>
            </a:pPr>
            <a:r>
              <a:rPr sz="1000" b="0">
                <a:solidFill>
                  <a:srgbClr val="FFFFFF"/>
                </a:solidFill>
                <a:latin typeface="Diodrum Arabic"/>
                <a:ea typeface="Diodrum Arabic"/>
                <a:cs typeface="Diodrum Arabic"/>
              </a:rPr>
              <a:t>August 2026</a:t>
            </a:r>
          </a:p>
        </p:txBody>
      </p:sp>
      <p:sp>
        <p:nvSpPr>
          <p:cNvPr id="10" name="TextBox 9"/>
          <p:cNvSpPr txBox="1"/>
          <p:nvPr/>
        </p:nvSpPr>
        <p:spPr>
          <a:xfrm>
            <a:off x="4852416" y="8878824"/>
            <a:ext cx="1959863" cy="352551"/>
          </a:xfrm>
          <a:prstGeom prst="rect">
            <a:avLst/>
          </a:prstGeom>
          <a:noFill/>
        </p:spPr>
        <p:txBody>
          <a:bodyPr wrap="square" lIns="0" rIns="0" tIns="0" bIns="0">
            <a:spAutoFit/>
          </a:bodyPr>
          <a:lstStyle/>
          <a:p>
            <a:pPr algn="l">
              <a:lnSpc>
                <a:spcPts val="927"/>
              </a:lnSpc>
            </a:pPr>
            <a:r>
              <a:rPr sz="800" b="0" spc="120">
                <a:solidFill>
                  <a:srgbClr val="9E97C8"/>
                </a:solidFill>
                <a:latin typeface="Diodrum Arabic SemiBold"/>
                <a:ea typeface="Diodrum Arabic SemiBold"/>
                <a:cs typeface="Diodrum Arabic SemiBold"/>
              </a:rPr>
              <a:t>VERSION</a:t>
            </a:r>
          </a:p>
          <a:p>
            <a:pPr algn="l">
              <a:lnSpc>
                <a:spcPts val="1160"/>
              </a:lnSpc>
              <a:spcBef>
                <a:spcPts val="400"/>
              </a:spcBef>
            </a:pPr>
            <a:r>
              <a:rPr sz="1000" b="0">
                <a:solidFill>
                  <a:srgbClr val="FFFFFF"/>
                </a:solidFill>
                <a:latin typeface="Diodrum Arabic"/>
                <a:ea typeface="Diodrum Arabic"/>
                <a:cs typeface="Diodrum Arabic"/>
              </a:rPr>
              <a:t>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EXECUTIVE SUMMARY</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The study in one page</a:t>
            </a:r>
          </a:p>
        </p:txBody>
      </p:sp>
      <p:sp>
        <p:nvSpPr>
          <p:cNvPr id="4" name="TextBox 3"/>
          <p:cNvSpPr txBox="1"/>
          <p:nvPr/>
        </p:nvSpPr>
        <p:spPr>
          <a:xfrm>
            <a:off x="566928" y="1111758"/>
            <a:ext cx="6428231" cy="374395"/>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Commissioned by the Government AI Committee through the training channel [1]; every statement below is evidenced in the sections that follow.</a:t>
            </a:r>
          </a:p>
        </p:txBody>
      </p:sp>
      <p:sp>
        <p:nvSpPr>
          <p:cNvPr id="5" name="Rectangle 4"/>
          <p:cNvSpPr/>
          <p:nvPr/>
        </p:nvSpPr>
        <p:spPr>
          <a:xfrm>
            <a:off x="566928" y="154101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23898"/>
            <a:ext cx="3140963" cy="1383030"/>
          </a:xfrm>
          <a:prstGeom prst="roundRect">
            <a:avLst>
              <a:gd name="adj" fmla="val 595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87020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989073"/>
            <a:ext cx="2848356" cy="199263"/>
          </a:xfrm>
          <a:prstGeom prst="rect">
            <a:avLst/>
          </a:prstGeom>
          <a:noFill/>
        </p:spPr>
        <p:txBody>
          <a:bodyPr wrap="square" lIns="0" rIns="0" tIns="0" bIns="0">
            <a:spAutoFit/>
          </a:bodyPr>
          <a:lstStyle/>
          <a:p>
            <a:pPr algn="l">
              <a:lnSpc>
                <a:spcPts val="1281"/>
              </a:lnSpc>
            </a:pPr>
            <a:r>
              <a:rPr sz="1050" b="0">
                <a:solidFill>
                  <a:srgbClr val="7C32C9"/>
                </a:solidFill>
                <a:latin typeface="Diodrum Arabic SemiBold"/>
                <a:ea typeface="Diodrum Arabic SemiBold"/>
                <a:cs typeface="Diodrum Arabic SemiBold"/>
              </a:rPr>
              <a:t>One question drives the study</a:t>
            </a:r>
          </a:p>
        </p:txBody>
      </p:sp>
      <p:sp>
        <p:nvSpPr>
          <p:cNvPr id="9" name="TextBox 8"/>
          <p:cNvSpPr txBox="1"/>
          <p:nvPr/>
        </p:nvSpPr>
        <p:spPr>
          <a:xfrm>
            <a:off x="713232" y="2215768"/>
            <a:ext cx="2848356" cy="483488"/>
          </a:xfrm>
          <a:prstGeom prst="rect">
            <a:avLst/>
          </a:prstGeom>
          <a:noFill/>
        </p:spPr>
        <p:txBody>
          <a:bodyPr wrap="square" lIns="0" rIns="0" tIns="0" bIns="0">
            <a:spAutoFit/>
          </a:bodyPr>
          <a:lstStyle/>
          <a:p>
            <a:pPr algn="just">
              <a:lnSpc>
                <a:spcPts val="1172"/>
              </a:lnSpc>
            </a:pPr>
            <a:r>
              <a:rPr sz="850" b="0">
                <a:solidFill>
                  <a:srgbClr val="474956"/>
                </a:solidFill>
                <a:latin typeface="Diodrum Arabic"/>
                <a:ea typeface="Diodrum Arabic"/>
                <a:cs typeface="Diodrum Arabic"/>
              </a:rPr>
              <a:t>What forms of AI leadership training exist for senior government leaders, what evidence supports them, and what should Saudi Arabia learn, adapt, and build?</a:t>
            </a:r>
          </a:p>
        </p:txBody>
      </p:sp>
      <p:sp>
        <p:nvSpPr>
          <p:cNvPr id="10" name="Rounded Rectangle 9"/>
          <p:cNvSpPr/>
          <p:nvPr/>
        </p:nvSpPr>
        <p:spPr>
          <a:xfrm>
            <a:off x="3854196" y="1723898"/>
            <a:ext cx="3140963" cy="1383030"/>
          </a:xfrm>
          <a:prstGeom prst="roundRect">
            <a:avLst>
              <a:gd name="adj" fmla="val 595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00500" y="1870202"/>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00500" y="1989073"/>
            <a:ext cx="2848356" cy="199263"/>
          </a:xfrm>
          <a:prstGeom prst="rect">
            <a:avLst/>
          </a:prstGeom>
          <a:noFill/>
        </p:spPr>
        <p:txBody>
          <a:bodyPr wrap="square" lIns="0" rIns="0" tIns="0" bIns="0">
            <a:spAutoFit/>
          </a:bodyPr>
          <a:lstStyle/>
          <a:p>
            <a:pPr algn="l">
              <a:lnSpc>
                <a:spcPts val="1281"/>
              </a:lnSpc>
            </a:pPr>
            <a:r>
              <a:rPr sz="1050" b="0">
                <a:solidFill>
                  <a:srgbClr val="00ABAF"/>
                </a:solidFill>
                <a:latin typeface="Diodrum Arabic SemiBold"/>
                <a:ea typeface="Diodrum Arabic SemiBold"/>
                <a:cs typeface="Diodrum Arabic SemiBold"/>
              </a:rPr>
              <a:t>Four levels, not one audience</a:t>
            </a:r>
          </a:p>
        </p:txBody>
      </p:sp>
      <p:sp>
        <p:nvSpPr>
          <p:cNvPr id="13" name="TextBox 12"/>
          <p:cNvSpPr txBox="1"/>
          <p:nvPr/>
        </p:nvSpPr>
        <p:spPr>
          <a:xfrm>
            <a:off x="4000500" y="2215768"/>
            <a:ext cx="2848356" cy="781430"/>
          </a:xfrm>
          <a:prstGeom prst="rect">
            <a:avLst/>
          </a:prstGeom>
          <a:noFill/>
        </p:spPr>
        <p:txBody>
          <a:bodyPr wrap="square" lIns="0" rIns="0" tIns="0" bIns="0">
            <a:spAutoFit/>
          </a:bodyPr>
          <a:lstStyle/>
          <a:p>
            <a:pPr algn="just">
              <a:lnSpc>
                <a:spcPts val="1172"/>
              </a:lnSpc>
            </a:pPr>
            <a:r>
              <a:rPr sz="850" b="0">
                <a:solidFill>
                  <a:srgbClr val="474956"/>
                </a:solidFill>
                <a:latin typeface="Diodrum Arabic"/>
                <a:ea typeface="Diodrum Arabic"/>
                <a:cs typeface="Diodrum Arabic"/>
              </a:rPr>
              <a:t>Ministers; Vice Ministers and Excellency-rank leaders; Deputy Ministers and Deputy Governors; Assistant Deputy Ministers and equivalent executive leaders. Classification follows decision scope, accountability, and protocol — not job title alone.</a:t>
            </a:r>
          </a:p>
        </p:txBody>
      </p:sp>
      <p:sp>
        <p:nvSpPr>
          <p:cNvPr id="14" name="Rounded Rectangle 13"/>
          <p:cNvSpPr/>
          <p:nvPr/>
        </p:nvSpPr>
        <p:spPr>
          <a:xfrm>
            <a:off x="566928" y="3253232"/>
            <a:ext cx="3140963" cy="1234058"/>
          </a:xfrm>
          <a:prstGeom prst="roundRect">
            <a:avLst>
              <a:gd name="adj" fmla="val 6668"/>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3399536"/>
            <a:ext cx="347472" cy="45720"/>
          </a:xfrm>
          <a:prstGeom prst="rect">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518408"/>
            <a:ext cx="2848356" cy="199263"/>
          </a:xfrm>
          <a:prstGeom prst="rect">
            <a:avLst/>
          </a:prstGeom>
          <a:noFill/>
        </p:spPr>
        <p:txBody>
          <a:bodyPr wrap="square" lIns="0" rIns="0" tIns="0" bIns="0">
            <a:spAutoFit/>
          </a:bodyPr>
          <a:lstStyle/>
          <a:p>
            <a:pPr algn="l">
              <a:lnSpc>
                <a:spcPts val="1281"/>
              </a:lnSpc>
            </a:pPr>
            <a:r>
              <a:rPr sz="1050" b="0">
                <a:solidFill>
                  <a:srgbClr val="2D9CDB"/>
                </a:solidFill>
                <a:latin typeface="Diodrum Arabic SemiBold"/>
                <a:ea typeface="Diodrum Arabic SemiBold"/>
                <a:cs typeface="Diodrum Arabic SemiBold"/>
              </a:rPr>
              <a:t>What the market shows</a:t>
            </a:r>
          </a:p>
        </p:txBody>
      </p:sp>
      <p:sp>
        <p:nvSpPr>
          <p:cNvPr id="17" name="TextBox 16"/>
          <p:cNvSpPr txBox="1"/>
          <p:nvPr/>
        </p:nvSpPr>
        <p:spPr>
          <a:xfrm>
            <a:off x="713232" y="3745103"/>
            <a:ext cx="2848356" cy="632460"/>
          </a:xfrm>
          <a:prstGeom prst="rect">
            <a:avLst/>
          </a:prstGeom>
          <a:noFill/>
        </p:spPr>
        <p:txBody>
          <a:bodyPr wrap="square" lIns="0" rIns="0" tIns="0" bIns="0">
            <a:spAutoFit/>
          </a:bodyPr>
          <a:lstStyle/>
          <a:p>
            <a:pPr algn="just">
              <a:lnSpc>
                <a:spcPts val="1172"/>
              </a:lnSpc>
            </a:pPr>
            <a:r>
              <a:rPr sz="850" b="0">
                <a:solidFill>
                  <a:srgbClr val="474956"/>
                </a:solidFill>
                <a:latin typeface="Diodrum Arabic"/>
                <a:ea typeface="Diodrum Arabic"/>
                <a:cs typeface="Diodrum Arabic"/>
              </a:rPr>
              <a:t>Across a register of 32 documented programmes, the ease of buying a ready-made programme falls as the leadership level rises; no documented open programme addresses ministers as its primary audience.</a:t>
            </a:r>
          </a:p>
        </p:txBody>
      </p:sp>
      <p:sp>
        <p:nvSpPr>
          <p:cNvPr id="18" name="Rounded Rectangle 17"/>
          <p:cNvSpPr/>
          <p:nvPr/>
        </p:nvSpPr>
        <p:spPr>
          <a:xfrm>
            <a:off x="3854196" y="3253232"/>
            <a:ext cx="3140963" cy="1234058"/>
          </a:xfrm>
          <a:prstGeom prst="roundRect">
            <a:avLst>
              <a:gd name="adj" fmla="val 6668"/>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000500" y="3399536"/>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00500" y="3518408"/>
            <a:ext cx="2848356" cy="199263"/>
          </a:xfrm>
          <a:prstGeom prst="rect">
            <a:avLst/>
          </a:prstGeom>
          <a:noFill/>
        </p:spPr>
        <p:txBody>
          <a:bodyPr wrap="square" lIns="0" rIns="0" tIns="0" bIns="0">
            <a:spAutoFit/>
          </a:bodyPr>
          <a:lstStyle/>
          <a:p>
            <a:pPr algn="l">
              <a:lnSpc>
                <a:spcPts val="1281"/>
              </a:lnSpc>
            </a:pPr>
            <a:r>
              <a:rPr sz="1050" b="0">
                <a:solidFill>
                  <a:srgbClr val="1CC182"/>
                </a:solidFill>
                <a:latin typeface="Diodrum Arabic SemiBold"/>
                <a:ea typeface="Diodrum Arabic SemiBold"/>
                <a:cs typeface="Diodrum Arabic SemiBold"/>
              </a:rPr>
              <a:t>The national base is real</a:t>
            </a:r>
          </a:p>
        </p:txBody>
      </p:sp>
      <p:sp>
        <p:nvSpPr>
          <p:cNvPr id="21" name="TextBox 20"/>
          <p:cNvSpPr txBox="1"/>
          <p:nvPr/>
        </p:nvSpPr>
        <p:spPr>
          <a:xfrm>
            <a:off x="4000500" y="3745103"/>
            <a:ext cx="2848356" cy="632460"/>
          </a:xfrm>
          <a:prstGeom prst="rect">
            <a:avLst/>
          </a:prstGeom>
          <a:noFill/>
        </p:spPr>
        <p:txBody>
          <a:bodyPr wrap="square" lIns="0" rIns="0" tIns="0" bIns="0">
            <a:spAutoFit/>
          </a:bodyPr>
          <a:lstStyle/>
          <a:p>
            <a:pPr algn="just">
              <a:lnSpc>
                <a:spcPts val="1172"/>
              </a:lnSpc>
            </a:pPr>
            <a:r>
              <a:rPr sz="850" b="0">
                <a:solidFill>
                  <a:srgbClr val="474956"/>
                </a:solidFill>
                <a:latin typeface="Diodrum Arabic"/>
                <a:ea typeface="Diodrum Arabic"/>
                <a:cs typeface="Diodrum Arabic"/>
              </a:rPr>
              <a:t>SDAIA has trained more than 278 government leaders [52]; Qudratak holds a national platform and documented academic partnerships [54]. What is missing is one graded, owned, measured programme.</a:t>
            </a:r>
          </a:p>
        </p:txBody>
      </p:sp>
      <p:sp>
        <p:nvSpPr>
          <p:cNvPr id="22" name="Rounded Rectangle 21"/>
          <p:cNvSpPr/>
          <p:nvPr/>
        </p:nvSpPr>
        <p:spPr>
          <a:xfrm>
            <a:off x="566928" y="4725035"/>
            <a:ext cx="6428231" cy="1740027"/>
          </a:xfrm>
          <a:prstGeom prst="roundRect">
            <a:avLst>
              <a:gd name="adj" fmla="val 5255"/>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907915"/>
            <a:ext cx="6062471" cy="191262"/>
          </a:xfrm>
          <a:prstGeom prst="rect">
            <a:avLst/>
          </a:prstGeom>
          <a:noFill/>
        </p:spPr>
        <p:txBody>
          <a:bodyPr wrap="square" lIns="0" rIns="0" tIns="0" bIns="0">
            <a:spAutoFit/>
          </a:bodyPr>
          <a:lstStyle/>
          <a:p>
            <a:pPr algn="l">
              <a:lnSpc>
                <a:spcPts val="1218"/>
              </a:lnSpc>
            </a:pPr>
            <a:r>
              <a:rPr sz="1050" b="0" spc="90">
                <a:solidFill>
                  <a:srgbClr val="D9F3EE"/>
                </a:solidFill>
                <a:latin typeface="Diodrum Arabic SemiBold"/>
                <a:ea typeface="Diodrum Arabic SemiBold"/>
                <a:cs typeface="Diodrum Arabic SemiBold"/>
              </a:rPr>
              <a:t>THE PROPOSED ANSWER</a:t>
            </a:r>
          </a:p>
        </p:txBody>
      </p:sp>
      <p:sp>
        <p:nvSpPr>
          <p:cNvPr id="24" name="TextBox 23"/>
          <p:cNvSpPr txBox="1"/>
          <p:nvPr/>
        </p:nvSpPr>
        <p:spPr>
          <a:xfrm>
            <a:off x="749808" y="5108321"/>
            <a:ext cx="6062471" cy="523494"/>
          </a:xfrm>
          <a:prstGeom prst="rect">
            <a:avLst/>
          </a:prstGeom>
          <a:noFill/>
        </p:spPr>
        <p:txBody>
          <a:bodyPr wrap="square" lIns="0" rIns="0" tIns="0" bIns="0">
            <a:spAutoFit/>
          </a:bodyPr>
          <a:lstStyle/>
          <a:p>
            <a:pPr algn="just">
              <a:lnSpc>
                <a:spcPts val="1278"/>
              </a:lnSpc>
            </a:pPr>
            <a:r>
              <a:rPr sz="900" b="0">
                <a:solidFill>
                  <a:srgbClr val="FFFFFF"/>
                </a:solidFill>
                <a:latin typeface="Diodrum Arabic"/>
                <a:ea typeface="Diodrum Arabic"/>
                <a:cs typeface="Diodrum Arabic"/>
              </a:rPr>
              <a:t>Four interlinked pathways — build locally for Ministers, co-develop for Vice Ministers and Excellency-rank leaders, procure and adapt for Deputy Ministers, license and scale for Assistant Deputy Ministers — sharing one knowledge core, Saudi cases, a unified measurement framework, and national ownership of data and the operating model.</a:t>
            </a:r>
          </a:p>
        </p:txBody>
      </p:sp>
      <p:sp>
        <p:nvSpPr>
          <p:cNvPr id="25" name="TextBox 24"/>
          <p:cNvSpPr txBox="1"/>
          <p:nvPr/>
        </p:nvSpPr>
        <p:spPr>
          <a:xfrm>
            <a:off x="749808" y="5704967"/>
            <a:ext cx="6062471" cy="191262"/>
          </a:xfrm>
          <a:prstGeom prst="rect">
            <a:avLst/>
          </a:prstGeom>
          <a:noFill/>
        </p:spPr>
        <p:txBody>
          <a:bodyPr wrap="square" lIns="0" rIns="0" tIns="0" bIns="0">
            <a:spAutoFit/>
          </a:bodyPr>
          <a:lstStyle/>
          <a:p>
            <a:pPr algn="l">
              <a:lnSpc>
                <a:spcPts val="1218"/>
              </a:lnSpc>
            </a:pPr>
            <a:r>
              <a:rPr sz="1050" b="0" spc="90">
                <a:solidFill>
                  <a:srgbClr val="D9F3EE"/>
                </a:solidFill>
                <a:latin typeface="Diodrum Arabic SemiBold"/>
                <a:ea typeface="Diodrum Arabic SemiBold"/>
                <a:cs typeface="Diodrum Arabic SemiBold"/>
              </a:rPr>
              <a:t>INDICATIVE COST — NOT A QUOTATION</a:t>
            </a:r>
          </a:p>
        </p:txBody>
      </p:sp>
      <p:sp>
        <p:nvSpPr>
          <p:cNvPr id="26" name="TextBox 25"/>
          <p:cNvSpPr txBox="1"/>
          <p:nvPr/>
        </p:nvSpPr>
        <p:spPr>
          <a:xfrm>
            <a:off x="749808" y="5905372"/>
            <a:ext cx="6062471" cy="361187"/>
          </a:xfrm>
          <a:prstGeom prst="rect">
            <a:avLst/>
          </a:prstGeom>
          <a:noFill/>
        </p:spPr>
        <p:txBody>
          <a:bodyPr wrap="square" lIns="0" rIns="0" tIns="0" bIns="0">
            <a:spAutoFit/>
          </a:bodyPr>
          <a:lstStyle/>
          <a:p>
            <a:pPr algn="just">
              <a:lnSpc>
                <a:spcPts val="1278"/>
              </a:lnSpc>
            </a:pPr>
            <a:r>
              <a:rPr sz="900" b="0">
                <a:solidFill>
                  <a:srgbClr val="FFFFFF"/>
                </a:solidFill>
                <a:latin typeface="Diodrum Arabic"/>
                <a:ea typeface="Diodrum Arabic"/>
                <a:cs typeface="Diodrum Arabic"/>
              </a:rPr>
              <a:t>SAR 45,000–94,000 per participant, and SAR 1.35–2.8 million for a 30-participant cohort, applying mainly to Level 2 or 3 cohorts [65]. Eight recommendations to the Qudratak programme close the study.</a:t>
            </a:r>
          </a:p>
        </p:txBody>
      </p:sp>
      <p:sp>
        <p:nvSpPr>
          <p:cNvPr id="27" name="Rectangle 26"/>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29" name="TextBox 28"/>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DOCUMENT MAP</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Contents</a:t>
            </a:r>
          </a:p>
        </p:txBody>
      </p:sp>
      <p:sp>
        <p:nvSpPr>
          <p:cNvPr id="4" name="TextBox 3"/>
          <p:cNvSpPr txBox="1"/>
          <p:nvPr/>
        </p:nvSpPr>
        <p:spPr>
          <a:xfrm>
            <a:off x="566928" y="1111758"/>
            <a:ext cx="6428231" cy="205486"/>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From the commission, to the evidence gathered globally and locally, to a model the Qudratak programme can act on.</a:t>
            </a:r>
          </a:p>
        </p:txBody>
      </p:sp>
      <p:sp>
        <p:nvSpPr>
          <p:cNvPr id="5" name="Rectangle 4"/>
          <p:cNvSpPr/>
          <p:nvPr/>
        </p:nvSpPr>
        <p:spPr>
          <a:xfrm>
            <a:off x="566928" y="137210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54988"/>
            <a:ext cx="566928" cy="272288"/>
          </a:xfrm>
          <a:prstGeom prst="rect">
            <a:avLst/>
          </a:prstGeom>
          <a:noFill/>
        </p:spPr>
        <p:txBody>
          <a:bodyPr wrap="square" lIns="0" rIns="0" tIns="0" bIns="0">
            <a:spAutoFit/>
          </a:bodyPr>
          <a:lstStyle/>
          <a:p>
            <a:pPr algn="l">
              <a:lnSpc>
                <a:spcPts val="1855"/>
              </a:lnSpc>
            </a:pPr>
            <a:r>
              <a:rPr sz="1600" b="1">
                <a:solidFill>
                  <a:srgbClr val="7C32C9"/>
                </a:solidFill>
                <a:latin typeface="Diodrum Arabic"/>
                <a:ea typeface="Diodrum Arabic"/>
                <a:cs typeface="Diodrum Arabic"/>
              </a:rPr>
              <a:t>01</a:t>
            </a:r>
          </a:p>
        </p:txBody>
      </p:sp>
      <p:sp>
        <p:nvSpPr>
          <p:cNvPr id="7" name="TextBox 6"/>
          <p:cNvSpPr txBox="1"/>
          <p:nvPr/>
        </p:nvSpPr>
        <p:spPr>
          <a:xfrm>
            <a:off x="1243584" y="1554988"/>
            <a:ext cx="5202936" cy="205994"/>
          </a:xfrm>
          <a:prstGeom prst="rect">
            <a:avLst/>
          </a:prstGeom>
          <a:noFill/>
        </p:spPr>
        <p:txBody>
          <a:bodyPr wrap="square" lIns="0" rIns="0" tIns="0" bIns="0">
            <a:spAutoFit/>
          </a:bodyPr>
          <a:lstStyle/>
          <a:p>
            <a:pPr algn="l">
              <a:lnSpc>
                <a:spcPts val="1334"/>
              </a:lnSpc>
            </a:pPr>
            <a:r>
              <a:rPr sz="1150" b="0">
                <a:solidFill>
                  <a:srgbClr val="232046"/>
                </a:solidFill>
                <a:latin typeface="Diodrum Arabic SemiBold"/>
                <a:ea typeface="Diodrum Arabic SemiBold"/>
                <a:cs typeface="Diodrum Arabic SemiBold"/>
              </a:rPr>
              <a:t>Study Context and Methodology</a:t>
            </a:r>
          </a:p>
        </p:txBody>
      </p:sp>
      <p:sp>
        <p:nvSpPr>
          <p:cNvPr id="8" name="TextBox 7"/>
          <p:cNvSpPr txBox="1"/>
          <p:nvPr/>
        </p:nvSpPr>
        <p:spPr>
          <a:xfrm>
            <a:off x="1243584" y="1751838"/>
            <a:ext cx="5202936" cy="328041"/>
          </a:xfrm>
          <a:prstGeom prst="rect">
            <a:avLst/>
          </a:prstGeom>
          <a:noFill/>
        </p:spPr>
        <p:txBody>
          <a:bodyPr wrap="square" lIns="0" rIns="0" tIns="0" bIns="0">
            <a:spAutoFit/>
          </a:bodyPr>
          <a:lstStyle/>
          <a:p>
            <a:pPr algn="l">
              <a:lnSpc>
                <a:spcPts val="1147"/>
              </a:lnSpc>
            </a:pPr>
            <a:r>
              <a:rPr sz="850" b="0">
                <a:solidFill>
                  <a:srgbClr val="6E7077"/>
                </a:solidFill>
                <a:latin typeface="Diodrum Arabic"/>
                <a:ea typeface="Diodrum Arabic"/>
                <a:cs typeface="Diodrum Arabic"/>
              </a:rPr>
              <a:t>Why the study was commissioned, its scope and limits, the evidence classification, and the demand indicators.</a:t>
            </a:r>
          </a:p>
        </p:txBody>
      </p:sp>
      <p:sp>
        <p:nvSpPr>
          <p:cNvPr id="9" name="TextBox 8"/>
          <p:cNvSpPr txBox="1"/>
          <p:nvPr/>
        </p:nvSpPr>
        <p:spPr>
          <a:xfrm>
            <a:off x="6629399" y="1573276"/>
            <a:ext cx="365760" cy="183896"/>
          </a:xfrm>
          <a:prstGeom prst="rect">
            <a:avLst/>
          </a:prstGeom>
          <a:noFill/>
        </p:spPr>
        <p:txBody>
          <a:bodyPr wrap="square" lIns="0" rIns="0" tIns="0" bIns="0">
            <a:spAutoFit/>
          </a:bodyPr>
          <a:lstStyle/>
          <a:p>
            <a:pPr algn="r">
              <a:lnSpc>
                <a:spcPts val="1160"/>
              </a:lnSpc>
            </a:pPr>
            <a:r>
              <a:rPr sz="1000" b="0">
                <a:solidFill>
                  <a:srgbClr val="00ABAF"/>
                </a:solidFill>
                <a:latin typeface="Diodrum Arabic SemiBold"/>
                <a:ea typeface="Diodrum Arabic SemiBold"/>
                <a:cs typeface="Diodrum Arabic SemiBold"/>
              </a:rPr>
              <a:t>4</a:t>
            </a:r>
          </a:p>
        </p:txBody>
      </p:sp>
      <p:sp>
        <p:nvSpPr>
          <p:cNvPr id="10" name="Rectangle 9"/>
          <p:cNvSpPr/>
          <p:nvPr/>
        </p:nvSpPr>
        <p:spPr>
          <a:xfrm>
            <a:off x="566928" y="2125599"/>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253615"/>
            <a:ext cx="566928" cy="272288"/>
          </a:xfrm>
          <a:prstGeom prst="rect">
            <a:avLst/>
          </a:prstGeom>
          <a:noFill/>
        </p:spPr>
        <p:txBody>
          <a:bodyPr wrap="square" lIns="0" rIns="0" tIns="0" bIns="0">
            <a:spAutoFit/>
          </a:bodyPr>
          <a:lstStyle/>
          <a:p>
            <a:pPr algn="l">
              <a:lnSpc>
                <a:spcPts val="1855"/>
              </a:lnSpc>
            </a:pPr>
            <a:r>
              <a:rPr sz="1600" b="1">
                <a:solidFill>
                  <a:srgbClr val="7C32C9"/>
                </a:solidFill>
                <a:latin typeface="Diodrum Arabic"/>
                <a:ea typeface="Diodrum Arabic"/>
                <a:cs typeface="Diodrum Arabic"/>
              </a:rPr>
              <a:t>02</a:t>
            </a:r>
          </a:p>
        </p:txBody>
      </p:sp>
      <p:sp>
        <p:nvSpPr>
          <p:cNvPr id="12" name="TextBox 11"/>
          <p:cNvSpPr txBox="1"/>
          <p:nvPr/>
        </p:nvSpPr>
        <p:spPr>
          <a:xfrm>
            <a:off x="1243584" y="2253615"/>
            <a:ext cx="5202936" cy="205994"/>
          </a:xfrm>
          <a:prstGeom prst="rect">
            <a:avLst/>
          </a:prstGeom>
          <a:noFill/>
        </p:spPr>
        <p:txBody>
          <a:bodyPr wrap="square" lIns="0" rIns="0" tIns="0" bIns="0">
            <a:spAutoFit/>
          </a:bodyPr>
          <a:lstStyle/>
          <a:p>
            <a:pPr algn="l">
              <a:lnSpc>
                <a:spcPts val="1334"/>
              </a:lnSpc>
            </a:pPr>
            <a:r>
              <a:rPr sz="1150" b="0">
                <a:solidFill>
                  <a:srgbClr val="232046"/>
                </a:solidFill>
                <a:latin typeface="Diodrum Arabic SemiBold"/>
                <a:ea typeface="Diodrum Arabic SemiBold"/>
                <a:cs typeface="Diodrum Arabic SemiBold"/>
              </a:rPr>
              <a:t>The Four Leadership Levels and Their Decision Responsibilities</a:t>
            </a:r>
          </a:p>
        </p:txBody>
      </p:sp>
      <p:sp>
        <p:nvSpPr>
          <p:cNvPr id="13" name="TextBox 12"/>
          <p:cNvSpPr txBox="1"/>
          <p:nvPr/>
        </p:nvSpPr>
        <p:spPr>
          <a:xfrm>
            <a:off x="1243584" y="2450465"/>
            <a:ext cx="5202936" cy="182308"/>
          </a:xfrm>
          <a:prstGeom prst="rect">
            <a:avLst/>
          </a:prstGeom>
          <a:noFill/>
        </p:spPr>
        <p:txBody>
          <a:bodyPr wrap="square" lIns="0" rIns="0" tIns="0" bIns="0">
            <a:spAutoFit/>
          </a:bodyPr>
          <a:lstStyle/>
          <a:p>
            <a:pPr algn="l">
              <a:lnSpc>
                <a:spcPts val="1147"/>
              </a:lnSpc>
            </a:pPr>
            <a:r>
              <a:rPr sz="850" b="0">
                <a:solidFill>
                  <a:srgbClr val="6E7077"/>
                </a:solidFill>
                <a:latin typeface="Diodrum Arabic"/>
                <a:ea typeface="Diodrum Arabic"/>
                <a:cs typeface="Diodrum Arabic"/>
              </a:rPr>
              <a:t>Who is meant, level by level: category, decision type, training protocol, and applied output.</a:t>
            </a:r>
          </a:p>
        </p:txBody>
      </p:sp>
      <p:sp>
        <p:nvSpPr>
          <p:cNvPr id="14" name="TextBox 13"/>
          <p:cNvSpPr txBox="1"/>
          <p:nvPr/>
        </p:nvSpPr>
        <p:spPr>
          <a:xfrm>
            <a:off x="6629399" y="2271903"/>
            <a:ext cx="365760" cy="183896"/>
          </a:xfrm>
          <a:prstGeom prst="rect">
            <a:avLst/>
          </a:prstGeom>
          <a:noFill/>
        </p:spPr>
        <p:txBody>
          <a:bodyPr wrap="square" lIns="0" rIns="0" tIns="0" bIns="0">
            <a:spAutoFit/>
          </a:bodyPr>
          <a:lstStyle/>
          <a:p>
            <a:pPr algn="r">
              <a:lnSpc>
                <a:spcPts val="1160"/>
              </a:lnSpc>
            </a:pPr>
            <a:r>
              <a:rPr sz="1000" b="0">
                <a:solidFill>
                  <a:srgbClr val="00ABAF"/>
                </a:solidFill>
                <a:latin typeface="Diodrum Arabic SemiBold"/>
                <a:ea typeface="Diodrum Arabic SemiBold"/>
                <a:cs typeface="Diodrum Arabic SemiBold"/>
              </a:rPr>
              <a:t>9</a:t>
            </a:r>
          </a:p>
        </p:txBody>
      </p:sp>
      <p:sp>
        <p:nvSpPr>
          <p:cNvPr id="15" name="Rectangle 14"/>
          <p:cNvSpPr/>
          <p:nvPr/>
        </p:nvSpPr>
        <p:spPr>
          <a:xfrm>
            <a:off x="566928" y="2678493"/>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06509"/>
            <a:ext cx="566928" cy="272288"/>
          </a:xfrm>
          <a:prstGeom prst="rect">
            <a:avLst/>
          </a:prstGeom>
          <a:noFill/>
        </p:spPr>
        <p:txBody>
          <a:bodyPr wrap="square" lIns="0" rIns="0" tIns="0" bIns="0">
            <a:spAutoFit/>
          </a:bodyPr>
          <a:lstStyle/>
          <a:p>
            <a:pPr algn="l">
              <a:lnSpc>
                <a:spcPts val="1855"/>
              </a:lnSpc>
            </a:pPr>
            <a:r>
              <a:rPr sz="1600" b="1">
                <a:solidFill>
                  <a:srgbClr val="7C32C9"/>
                </a:solidFill>
                <a:latin typeface="Diodrum Arabic"/>
                <a:ea typeface="Diodrum Arabic"/>
                <a:cs typeface="Diodrum Arabic"/>
              </a:rPr>
              <a:t>03</a:t>
            </a:r>
          </a:p>
        </p:txBody>
      </p:sp>
      <p:sp>
        <p:nvSpPr>
          <p:cNvPr id="17" name="TextBox 16"/>
          <p:cNvSpPr txBox="1"/>
          <p:nvPr/>
        </p:nvSpPr>
        <p:spPr>
          <a:xfrm>
            <a:off x="1243584" y="2806509"/>
            <a:ext cx="5202936" cy="205994"/>
          </a:xfrm>
          <a:prstGeom prst="rect">
            <a:avLst/>
          </a:prstGeom>
          <a:noFill/>
        </p:spPr>
        <p:txBody>
          <a:bodyPr wrap="square" lIns="0" rIns="0" tIns="0" bIns="0">
            <a:spAutoFit/>
          </a:bodyPr>
          <a:lstStyle/>
          <a:p>
            <a:pPr algn="l">
              <a:lnSpc>
                <a:spcPts val="1334"/>
              </a:lnSpc>
            </a:pPr>
            <a:r>
              <a:rPr sz="1150" b="0">
                <a:solidFill>
                  <a:srgbClr val="232046"/>
                </a:solidFill>
                <a:latin typeface="Diodrum Arabic SemiBold"/>
                <a:ea typeface="Diodrum Arabic SemiBold"/>
                <a:cs typeface="Diodrum Arabic SemiBold"/>
              </a:rPr>
              <a:t>Benchmarking Findings</a:t>
            </a:r>
          </a:p>
        </p:txBody>
      </p:sp>
      <p:sp>
        <p:nvSpPr>
          <p:cNvPr id="18" name="TextBox 17"/>
          <p:cNvSpPr txBox="1"/>
          <p:nvPr/>
        </p:nvSpPr>
        <p:spPr>
          <a:xfrm>
            <a:off x="1243584" y="3003359"/>
            <a:ext cx="5202936" cy="328041"/>
          </a:xfrm>
          <a:prstGeom prst="rect">
            <a:avLst/>
          </a:prstGeom>
          <a:noFill/>
        </p:spPr>
        <p:txBody>
          <a:bodyPr wrap="square" lIns="0" rIns="0" tIns="0" bIns="0">
            <a:spAutoFit/>
          </a:bodyPr>
          <a:lstStyle/>
          <a:p>
            <a:pPr algn="l">
              <a:lnSpc>
                <a:spcPts val="1147"/>
              </a:lnSpc>
            </a:pPr>
            <a:r>
              <a:rPr sz="850" b="0">
                <a:solidFill>
                  <a:srgbClr val="6E7077"/>
                </a:solidFill>
                <a:latin typeface="Diodrum Arabic"/>
                <a:ea typeface="Diodrum Arabic"/>
                <a:cs typeface="Diodrum Arabic"/>
              </a:rPr>
              <a:t>32 documented programmes, ten national experiences, the Kingdom’s own capabilities, and what has matured.</a:t>
            </a:r>
          </a:p>
        </p:txBody>
      </p:sp>
      <p:sp>
        <p:nvSpPr>
          <p:cNvPr id="19" name="TextBox 18"/>
          <p:cNvSpPr txBox="1"/>
          <p:nvPr/>
        </p:nvSpPr>
        <p:spPr>
          <a:xfrm>
            <a:off x="6629399" y="2824797"/>
            <a:ext cx="365760" cy="183896"/>
          </a:xfrm>
          <a:prstGeom prst="rect">
            <a:avLst/>
          </a:prstGeom>
          <a:noFill/>
        </p:spPr>
        <p:txBody>
          <a:bodyPr wrap="square" lIns="0" rIns="0" tIns="0" bIns="0">
            <a:spAutoFit/>
          </a:bodyPr>
          <a:lstStyle/>
          <a:p>
            <a:pPr algn="r">
              <a:lnSpc>
                <a:spcPts val="1160"/>
              </a:lnSpc>
            </a:pPr>
            <a:r>
              <a:rPr sz="1000" b="0">
                <a:solidFill>
                  <a:srgbClr val="00ABAF"/>
                </a:solidFill>
                <a:latin typeface="Diodrum Arabic SemiBold"/>
                <a:ea typeface="Diodrum Arabic SemiBold"/>
                <a:cs typeface="Diodrum Arabic SemiBold"/>
              </a:rPr>
              <a:t>15</a:t>
            </a:r>
          </a:p>
        </p:txBody>
      </p:sp>
      <p:sp>
        <p:nvSpPr>
          <p:cNvPr id="20" name="Rectangle 19"/>
          <p:cNvSpPr/>
          <p:nvPr/>
        </p:nvSpPr>
        <p:spPr>
          <a:xfrm>
            <a:off x="566928" y="337712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505136"/>
            <a:ext cx="566928" cy="272288"/>
          </a:xfrm>
          <a:prstGeom prst="rect">
            <a:avLst/>
          </a:prstGeom>
          <a:noFill/>
        </p:spPr>
        <p:txBody>
          <a:bodyPr wrap="square" lIns="0" rIns="0" tIns="0" bIns="0">
            <a:spAutoFit/>
          </a:bodyPr>
          <a:lstStyle/>
          <a:p>
            <a:pPr algn="l">
              <a:lnSpc>
                <a:spcPts val="1855"/>
              </a:lnSpc>
            </a:pPr>
            <a:r>
              <a:rPr sz="1600" b="1">
                <a:solidFill>
                  <a:srgbClr val="7C32C9"/>
                </a:solidFill>
                <a:latin typeface="Diodrum Arabic"/>
                <a:ea typeface="Diodrum Arabic"/>
                <a:cs typeface="Diodrum Arabic"/>
              </a:rPr>
              <a:t>04</a:t>
            </a:r>
          </a:p>
        </p:txBody>
      </p:sp>
      <p:sp>
        <p:nvSpPr>
          <p:cNvPr id="22" name="TextBox 21"/>
          <p:cNvSpPr txBox="1"/>
          <p:nvPr/>
        </p:nvSpPr>
        <p:spPr>
          <a:xfrm>
            <a:off x="1243584" y="3505136"/>
            <a:ext cx="5202936" cy="205994"/>
          </a:xfrm>
          <a:prstGeom prst="rect">
            <a:avLst/>
          </a:prstGeom>
          <a:noFill/>
        </p:spPr>
        <p:txBody>
          <a:bodyPr wrap="square" lIns="0" rIns="0" tIns="0" bIns="0">
            <a:spAutoFit/>
          </a:bodyPr>
          <a:lstStyle/>
          <a:p>
            <a:pPr algn="l">
              <a:lnSpc>
                <a:spcPts val="1334"/>
              </a:lnSpc>
            </a:pPr>
            <a:r>
              <a:rPr sz="1150" b="0">
                <a:solidFill>
                  <a:srgbClr val="232046"/>
                </a:solidFill>
                <a:latin typeface="Diodrum Arabic SemiBold"/>
                <a:ea typeface="Diodrum Arabic SemiBold"/>
                <a:cs typeface="Diodrum Arabic SemiBold"/>
              </a:rPr>
              <a:t>Availability by Leadership Level</a:t>
            </a:r>
          </a:p>
        </p:txBody>
      </p:sp>
      <p:sp>
        <p:nvSpPr>
          <p:cNvPr id="23" name="TextBox 22"/>
          <p:cNvSpPr txBox="1"/>
          <p:nvPr/>
        </p:nvSpPr>
        <p:spPr>
          <a:xfrm>
            <a:off x="1243584" y="3701986"/>
            <a:ext cx="5202936" cy="182308"/>
          </a:xfrm>
          <a:prstGeom prst="rect">
            <a:avLst/>
          </a:prstGeom>
          <a:noFill/>
        </p:spPr>
        <p:txBody>
          <a:bodyPr wrap="square" lIns="0" rIns="0" tIns="0" bIns="0">
            <a:spAutoFit/>
          </a:bodyPr>
          <a:lstStyle/>
          <a:p>
            <a:pPr algn="l">
              <a:lnSpc>
                <a:spcPts val="1147"/>
              </a:lnSpc>
            </a:pPr>
            <a:r>
              <a:rPr sz="850" b="0">
                <a:solidFill>
                  <a:srgbClr val="6E7077"/>
                </a:solidFill>
                <a:latin typeface="Diodrum Arabic"/>
                <a:ea typeface="Diodrum Arabic"/>
                <a:cs typeface="Diodrum Arabic"/>
              </a:rPr>
              <a:t>What can actually be bought, and what must be built, for each of the four levels.</a:t>
            </a:r>
          </a:p>
        </p:txBody>
      </p:sp>
      <p:sp>
        <p:nvSpPr>
          <p:cNvPr id="24" name="TextBox 23"/>
          <p:cNvSpPr txBox="1"/>
          <p:nvPr/>
        </p:nvSpPr>
        <p:spPr>
          <a:xfrm>
            <a:off x="6629399" y="3523424"/>
            <a:ext cx="365760" cy="183896"/>
          </a:xfrm>
          <a:prstGeom prst="rect">
            <a:avLst/>
          </a:prstGeom>
          <a:noFill/>
        </p:spPr>
        <p:txBody>
          <a:bodyPr wrap="square" lIns="0" rIns="0" tIns="0" bIns="0">
            <a:spAutoFit/>
          </a:bodyPr>
          <a:lstStyle/>
          <a:p>
            <a:pPr algn="r">
              <a:lnSpc>
                <a:spcPts val="1160"/>
              </a:lnSpc>
            </a:pPr>
            <a:r>
              <a:rPr sz="1000" b="0">
                <a:solidFill>
                  <a:srgbClr val="00ABAF"/>
                </a:solidFill>
                <a:latin typeface="Diodrum Arabic SemiBold"/>
                <a:ea typeface="Diodrum Arabic SemiBold"/>
                <a:cs typeface="Diodrum Arabic SemiBold"/>
              </a:rPr>
              <a:t>24</a:t>
            </a:r>
          </a:p>
        </p:txBody>
      </p:sp>
      <p:sp>
        <p:nvSpPr>
          <p:cNvPr id="25" name="Rectangle 24"/>
          <p:cNvSpPr/>
          <p:nvPr/>
        </p:nvSpPr>
        <p:spPr>
          <a:xfrm>
            <a:off x="566928" y="3930015"/>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058031"/>
            <a:ext cx="566928" cy="272288"/>
          </a:xfrm>
          <a:prstGeom prst="rect">
            <a:avLst/>
          </a:prstGeom>
          <a:noFill/>
        </p:spPr>
        <p:txBody>
          <a:bodyPr wrap="square" lIns="0" rIns="0" tIns="0" bIns="0">
            <a:spAutoFit/>
          </a:bodyPr>
          <a:lstStyle/>
          <a:p>
            <a:pPr algn="l">
              <a:lnSpc>
                <a:spcPts val="1855"/>
              </a:lnSpc>
            </a:pPr>
            <a:r>
              <a:rPr sz="1600" b="1">
                <a:solidFill>
                  <a:srgbClr val="7C32C9"/>
                </a:solidFill>
                <a:latin typeface="Diodrum Arabic"/>
                <a:ea typeface="Diodrum Arabic"/>
                <a:cs typeface="Diodrum Arabic"/>
              </a:rPr>
              <a:t>05</a:t>
            </a:r>
          </a:p>
        </p:txBody>
      </p:sp>
      <p:sp>
        <p:nvSpPr>
          <p:cNvPr id="27" name="TextBox 26"/>
          <p:cNvSpPr txBox="1"/>
          <p:nvPr/>
        </p:nvSpPr>
        <p:spPr>
          <a:xfrm>
            <a:off x="1243584" y="4058031"/>
            <a:ext cx="5202936" cy="205994"/>
          </a:xfrm>
          <a:prstGeom prst="rect">
            <a:avLst/>
          </a:prstGeom>
          <a:noFill/>
        </p:spPr>
        <p:txBody>
          <a:bodyPr wrap="square" lIns="0" rIns="0" tIns="0" bIns="0">
            <a:spAutoFit/>
          </a:bodyPr>
          <a:lstStyle/>
          <a:p>
            <a:pPr algn="l">
              <a:lnSpc>
                <a:spcPts val="1334"/>
              </a:lnSpc>
            </a:pPr>
            <a:r>
              <a:rPr sz="1150" b="0">
                <a:solidFill>
                  <a:srgbClr val="232046"/>
                </a:solidFill>
                <a:latin typeface="Diodrum Arabic SemiBold"/>
                <a:ea typeface="Diodrum Arabic SemiBold"/>
                <a:cs typeface="Diodrum Arabic SemiBold"/>
              </a:rPr>
              <a:t>The Proposed Model for the Kingdom</a:t>
            </a:r>
          </a:p>
        </p:txBody>
      </p:sp>
      <p:sp>
        <p:nvSpPr>
          <p:cNvPr id="28" name="TextBox 27"/>
          <p:cNvSpPr txBox="1"/>
          <p:nvPr/>
        </p:nvSpPr>
        <p:spPr>
          <a:xfrm>
            <a:off x="1243584" y="4254881"/>
            <a:ext cx="5202936" cy="182308"/>
          </a:xfrm>
          <a:prstGeom prst="rect">
            <a:avLst/>
          </a:prstGeom>
          <a:noFill/>
        </p:spPr>
        <p:txBody>
          <a:bodyPr wrap="square" lIns="0" rIns="0" tIns="0" bIns="0">
            <a:spAutoFit/>
          </a:bodyPr>
          <a:lstStyle/>
          <a:p>
            <a:pPr algn="l">
              <a:lnSpc>
                <a:spcPts val="1147"/>
              </a:lnSpc>
            </a:pPr>
            <a:r>
              <a:rPr sz="850" b="0">
                <a:solidFill>
                  <a:srgbClr val="6E7077"/>
                </a:solidFill>
                <a:latin typeface="Diodrum Arabic"/>
                <a:ea typeface="Diodrum Arabic"/>
                <a:cs typeface="Diodrum Arabic"/>
              </a:rPr>
              <a:t>Four pathways, one shared core, Saudi cases, measurement, indicative cost, and ownership.</a:t>
            </a:r>
          </a:p>
        </p:txBody>
      </p:sp>
      <p:sp>
        <p:nvSpPr>
          <p:cNvPr id="29" name="TextBox 28"/>
          <p:cNvSpPr txBox="1"/>
          <p:nvPr/>
        </p:nvSpPr>
        <p:spPr>
          <a:xfrm>
            <a:off x="6629399" y="4076319"/>
            <a:ext cx="365760" cy="183896"/>
          </a:xfrm>
          <a:prstGeom prst="rect">
            <a:avLst/>
          </a:prstGeom>
          <a:noFill/>
        </p:spPr>
        <p:txBody>
          <a:bodyPr wrap="square" lIns="0" rIns="0" tIns="0" bIns="0">
            <a:spAutoFit/>
          </a:bodyPr>
          <a:lstStyle/>
          <a:p>
            <a:pPr algn="r">
              <a:lnSpc>
                <a:spcPts val="1160"/>
              </a:lnSpc>
            </a:pPr>
            <a:r>
              <a:rPr sz="1000" b="0">
                <a:solidFill>
                  <a:srgbClr val="00ABAF"/>
                </a:solidFill>
                <a:latin typeface="Diodrum Arabic SemiBold"/>
                <a:ea typeface="Diodrum Arabic SemiBold"/>
                <a:cs typeface="Diodrum Arabic SemiBold"/>
              </a:rPr>
              <a:t>27</a:t>
            </a:r>
          </a:p>
        </p:txBody>
      </p:sp>
      <p:sp>
        <p:nvSpPr>
          <p:cNvPr id="30" name="Rectangle 29"/>
          <p:cNvSpPr/>
          <p:nvPr/>
        </p:nvSpPr>
        <p:spPr>
          <a:xfrm>
            <a:off x="566928" y="4482909"/>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610925"/>
            <a:ext cx="566928" cy="272288"/>
          </a:xfrm>
          <a:prstGeom prst="rect">
            <a:avLst/>
          </a:prstGeom>
          <a:noFill/>
        </p:spPr>
        <p:txBody>
          <a:bodyPr wrap="square" lIns="0" rIns="0" tIns="0" bIns="0">
            <a:spAutoFit/>
          </a:bodyPr>
          <a:lstStyle/>
          <a:p>
            <a:pPr algn="l">
              <a:lnSpc>
                <a:spcPts val="1855"/>
              </a:lnSpc>
            </a:pPr>
            <a:r>
              <a:rPr sz="1600" b="1">
                <a:solidFill>
                  <a:srgbClr val="7C32C9"/>
                </a:solidFill>
                <a:latin typeface="Diodrum Arabic"/>
                <a:ea typeface="Diodrum Arabic"/>
                <a:cs typeface="Diodrum Arabic"/>
              </a:rPr>
              <a:t>06</a:t>
            </a:r>
          </a:p>
        </p:txBody>
      </p:sp>
      <p:sp>
        <p:nvSpPr>
          <p:cNvPr id="32" name="TextBox 31"/>
          <p:cNvSpPr txBox="1"/>
          <p:nvPr/>
        </p:nvSpPr>
        <p:spPr>
          <a:xfrm>
            <a:off x="1243584" y="4610925"/>
            <a:ext cx="5202936" cy="205994"/>
          </a:xfrm>
          <a:prstGeom prst="rect">
            <a:avLst/>
          </a:prstGeom>
          <a:noFill/>
        </p:spPr>
        <p:txBody>
          <a:bodyPr wrap="square" lIns="0" rIns="0" tIns="0" bIns="0">
            <a:spAutoFit/>
          </a:bodyPr>
          <a:lstStyle/>
          <a:p>
            <a:pPr algn="l">
              <a:lnSpc>
                <a:spcPts val="1334"/>
              </a:lnSpc>
            </a:pPr>
            <a:r>
              <a:rPr sz="1150" b="0">
                <a:solidFill>
                  <a:srgbClr val="232046"/>
                </a:solidFill>
                <a:latin typeface="Diodrum Arabic SemiBold"/>
                <a:ea typeface="Diodrum Arabic SemiBold"/>
                <a:cs typeface="Diodrum Arabic SemiBold"/>
              </a:rPr>
              <a:t>Recommendations for the Qudratak Programme</a:t>
            </a:r>
          </a:p>
        </p:txBody>
      </p:sp>
      <p:sp>
        <p:nvSpPr>
          <p:cNvPr id="33" name="TextBox 32"/>
          <p:cNvSpPr txBox="1"/>
          <p:nvPr/>
        </p:nvSpPr>
        <p:spPr>
          <a:xfrm>
            <a:off x="1243584" y="4807775"/>
            <a:ext cx="5202936" cy="182308"/>
          </a:xfrm>
          <a:prstGeom prst="rect">
            <a:avLst/>
          </a:prstGeom>
          <a:noFill/>
        </p:spPr>
        <p:txBody>
          <a:bodyPr wrap="square" lIns="0" rIns="0" tIns="0" bIns="0">
            <a:spAutoFit/>
          </a:bodyPr>
          <a:lstStyle/>
          <a:p>
            <a:pPr algn="l">
              <a:lnSpc>
                <a:spcPts val="1147"/>
              </a:lnSpc>
            </a:pPr>
            <a:r>
              <a:rPr sz="850" b="0">
                <a:solidFill>
                  <a:srgbClr val="6E7077"/>
                </a:solidFill>
                <a:latin typeface="Diodrum Arabic"/>
                <a:ea typeface="Diodrum Arabic"/>
                <a:cs typeface="Diodrum Arabic"/>
              </a:rPr>
              <a:t>Five evidence-based findings, eight recommendations, and the next steps.</a:t>
            </a:r>
          </a:p>
        </p:txBody>
      </p:sp>
      <p:sp>
        <p:nvSpPr>
          <p:cNvPr id="34" name="TextBox 33"/>
          <p:cNvSpPr txBox="1"/>
          <p:nvPr/>
        </p:nvSpPr>
        <p:spPr>
          <a:xfrm>
            <a:off x="6629399" y="4629213"/>
            <a:ext cx="365760" cy="183896"/>
          </a:xfrm>
          <a:prstGeom prst="rect">
            <a:avLst/>
          </a:prstGeom>
          <a:noFill/>
        </p:spPr>
        <p:txBody>
          <a:bodyPr wrap="square" lIns="0" rIns="0" tIns="0" bIns="0">
            <a:spAutoFit/>
          </a:bodyPr>
          <a:lstStyle/>
          <a:p>
            <a:pPr algn="r">
              <a:lnSpc>
                <a:spcPts val="1160"/>
              </a:lnSpc>
            </a:pPr>
            <a:r>
              <a:rPr sz="1000" b="0">
                <a:solidFill>
                  <a:srgbClr val="00ABAF"/>
                </a:solidFill>
                <a:latin typeface="Diodrum Arabic SemiBold"/>
                <a:ea typeface="Diodrum Arabic SemiBold"/>
                <a:cs typeface="Diodrum Arabic SemiBold"/>
              </a:rPr>
              <a:t>33</a:t>
            </a:r>
          </a:p>
        </p:txBody>
      </p:sp>
      <p:sp>
        <p:nvSpPr>
          <p:cNvPr id="35" name="Rectangle 34"/>
          <p:cNvSpPr/>
          <p:nvPr/>
        </p:nvSpPr>
        <p:spPr>
          <a:xfrm>
            <a:off x="566928" y="5035804"/>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5163820"/>
            <a:ext cx="566928" cy="272288"/>
          </a:xfrm>
          <a:prstGeom prst="rect">
            <a:avLst/>
          </a:prstGeom>
          <a:noFill/>
        </p:spPr>
        <p:txBody>
          <a:bodyPr wrap="square" lIns="0" rIns="0" tIns="0" bIns="0">
            <a:spAutoFit/>
          </a:bodyPr>
          <a:lstStyle/>
          <a:p>
            <a:pPr algn="l">
              <a:lnSpc>
                <a:spcPts val="1855"/>
              </a:lnSpc>
            </a:pPr>
            <a:r>
              <a:rPr sz="1600" b="1">
                <a:solidFill>
                  <a:srgbClr val="7C32C9"/>
                </a:solidFill>
                <a:latin typeface="Diodrum Arabic"/>
                <a:ea typeface="Diodrum Arabic"/>
                <a:cs typeface="Diodrum Arabic"/>
              </a:rPr>
              <a:t>REF</a:t>
            </a:r>
          </a:p>
        </p:txBody>
      </p:sp>
      <p:sp>
        <p:nvSpPr>
          <p:cNvPr id="37" name="TextBox 36"/>
          <p:cNvSpPr txBox="1"/>
          <p:nvPr/>
        </p:nvSpPr>
        <p:spPr>
          <a:xfrm>
            <a:off x="1243584" y="5163820"/>
            <a:ext cx="5202936" cy="205994"/>
          </a:xfrm>
          <a:prstGeom prst="rect">
            <a:avLst/>
          </a:prstGeom>
          <a:noFill/>
        </p:spPr>
        <p:txBody>
          <a:bodyPr wrap="square" lIns="0" rIns="0" tIns="0" bIns="0">
            <a:spAutoFit/>
          </a:bodyPr>
          <a:lstStyle/>
          <a:p>
            <a:pPr algn="l">
              <a:lnSpc>
                <a:spcPts val="1334"/>
              </a:lnSpc>
            </a:pPr>
            <a:r>
              <a:rPr sz="1150" b="0">
                <a:solidFill>
                  <a:srgbClr val="232046"/>
                </a:solidFill>
                <a:latin typeface="Diodrum Arabic SemiBold"/>
                <a:ea typeface="Diodrum Arabic SemiBold"/>
                <a:cs typeface="Diodrum Arabic SemiBold"/>
              </a:rPr>
              <a:t>References</a:t>
            </a:r>
          </a:p>
        </p:txBody>
      </p:sp>
      <p:sp>
        <p:nvSpPr>
          <p:cNvPr id="38" name="TextBox 37"/>
          <p:cNvSpPr txBox="1"/>
          <p:nvPr/>
        </p:nvSpPr>
        <p:spPr>
          <a:xfrm>
            <a:off x="1243584" y="5360670"/>
            <a:ext cx="5202936" cy="182308"/>
          </a:xfrm>
          <a:prstGeom prst="rect">
            <a:avLst/>
          </a:prstGeom>
          <a:noFill/>
        </p:spPr>
        <p:txBody>
          <a:bodyPr wrap="square" lIns="0" rIns="0" tIns="0" bIns="0">
            <a:spAutoFit/>
          </a:bodyPr>
          <a:lstStyle/>
          <a:p>
            <a:pPr algn="l">
              <a:lnSpc>
                <a:spcPts val="1147"/>
              </a:lnSpc>
            </a:pPr>
            <a:r>
              <a:rPr sz="850" b="0">
                <a:solidFill>
                  <a:srgbClr val="6E7077"/>
                </a:solidFill>
                <a:latin typeface="Diodrum Arabic"/>
                <a:ea typeface="Diodrum Arabic"/>
                <a:cs typeface="Diodrum Arabic"/>
              </a:rPr>
              <a:t>71 numbered, evidence-tagged sources with live links, checked 21 August 2026.</a:t>
            </a:r>
          </a:p>
        </p:txBody>
      </p:sp>
      <p:sp>
        <p:nvSpPr>
          <p:cNvPr id="39" name="TextBox 38"/>
          <p:cNvSpPr txBox="1"/>
          <p:nvPr/>
        </p:nvSpPr>
        <p:spPr>
          <a:xfrm>
            <a:off x="6629399" y="5182108"/>
            <a:ext cx="365760" cy="183896"/>
          </a:xfrm>
          <a:prstGeom prst="rect">
            <a:avLst/>
          </a:prstGeom>
          <a:noFill/>
        </p:spPr>
        <p:txBody>
          <a:bodyPr wrap="square" lIns="0" rIns="0" tIns="0" bIns="0">
            <a:spAutoFit/>
          </a:bodyPr>
          <a:lstStyle/>
          <a:p>
            <a:pPr algn="r">
              <a:lnSpc>
                <a:spcPts val="1160"/>
              </a:lnSpc>
            </a:pPr>
            <a:r>
              <a:rPr sz="1000" b="0">
                <a:solidFill>
                  <a:srgbClr val="00ABAF"/>
                </a:solidFill>
                <a:latin typeface="Diodrum Arabic SemiBold"/>
                <a:ea typeface="Diodrum Arabic SemiBold"/>
                <a:cs typeface="Diodrum Arabic SemiBold"/>
              </a:rPr>
              <a:t>36</a:t>
            </a:r>
          </a:p>
        </p:txBody>
      </p:sp>
      <p:sp>
        <p:nvSpPr>
          <p:cNvPr id="40" name="Rectangle 39"/>
          <p:cNvSpPr/>
          <p:nvPr/>
        </p:nvSpPr>
        <p:spPr>
          <a:xfrm>
            <a:off x="566928" y="5588698"/>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566928" y="5762434"/>
            <a:ext cx="6428231" cy="1070038"/>
          </a:xfrm>
          <a:prstGeom prst="roundRect">
            <a:avLst>
              <a:gd name="adj" fmla="val 769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5927026"/>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HOW TO READ THIS DOCUMENT</a:t>
            </a:r>
          </a:p>
        </p:txBody>
      </p:sp>
      <p:sp>
        <p:nvSpPr>
          <p:cNvPr id="43" name="TextBox 42"/>
          <p:cNvSpPr txBox="1"/>
          <p:nvPr/>
        </p:nvSpPr>
        <p:spPr>
          <a:xfrm>
            <a:off x="731520" y="6136576"/>
            <a:ext cx="6099047" cy="523494"/>
          </a:xfrm>
          <a:prstGeom prst="rect">
            <a:avLst/>
          </a:prstGeom>
          <a:noFill/>
        </p:spPr>
        <p:txBody>
          <a:bodyPr wrap="square" lIns="0" rIns="0" tIns="0" bIns="0">
            <a:spAutoFit/>
          </a:bodyPr>
          <a:lstStyle/>
          <a:p>
            <a:pPr algn="just">
              <a:lnSpc>
                <a:spcPts val="1278"/>
              </a:lnSpc>
            </a:pPr>
            <a:r>
              <a:rPr sz="900" b="0">
                <a:solidFill>
                  <a:srgbClr val="474956"/>
                </a:solidFill>
                <a:latin typeface="Diodrum Arabic"/>
                <a:ea typeface="Diodrum Arabic"/>
                <a:cs typeface="Diodrum Arabic"/>
              </a:rPr>
              <a:t>An exploratory study describing the market as published up to 21 August 2026. It contains no internal needs assessment, no provider selection, and no contractual price quotation; cost figures are published figures attributed to their publishers, or indicative estimates explicitly labelled as such.</a:t>
            </a:r>
          </a:p>
        </p:txBody>
      </p:sp>
      <p:sp>
        <p:nvSpPr>
          <p:cNvPr id="44" name="Rectangle 43"/>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46" name="TextBox 45"/>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842769"/>
          </a:xfrm>
          <a:prstGeom prst="rect">
            <a:avLst/>
          </a:prstGeom>
          <a:gradFill rotWithShape="1">
            <a:gsLst>
              <a:gs pos="0">
                <a:srgbClr val="7C32C9"/>
              </a:gs>
              <a:gs pos="100000">
                <a:srgbClr val="2A206A"/>
              </a:gs>
            </a:gsLst>
            <a:lin scaled="0" ang="20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28231" cy="198628"/>
          </a:xfrm>
          <a:prstGeom prst="rect">
            <a:avLst/>
          </a:prstGeom>
          <a:noFill/>
        </p:spPr>
        <p:txBody>
          <a:bodyPr wrap="square" lIns="0" rIns="0" tIns="0" bIns="0">
            <a:spAutoFit/>
          </a:bodyPr>
          <a:lstStyle/>
          <a:p>
            <a:pPr algn="l">
              <a:lnSpc>
                <a:spcPts val="1276"/>
              </a:lnSpc>
            </a:pPr>
            <a:r>
              <a:rPr sz="1100" b="0" spc="160">
                <a:solidFill>
                  <a:srgbClr val="CEC6EC"/>
                </a:solidFill>
                <a:latin typeface="Diodrum Arabic SemiBold"/>
                <a:ea typeface="Diodrum Arabic SemiBold"/>
                <a:cs typeface="Diodrum Arabic SemiBold"/>
              </a:rPr>
              <a:t>SECTION 01</a:t>
            </a:r>
          </a:p>
        </p:txBody>
      </p:sp>
      <p:sp>
        <p:nvSpPr>
          <p:cNvPr id="4" name="TextBox 3"/>
          <p:cNvSpPr txBox="1"/>
          <p:nvPr/>
        </p:nvSpPr>
        <p:spPr>
          <a:xfrm>
            <a:off x="566928" y="694943"/>
            <a:ext cx="6428231" cy="366267"/>
          </a:xfrm>
          <a:prstGeom prst="rect">
            <a:avLst/>
          </a:prstGeom>
          <a:noFill/>
        </p:spPr>
        <p:txBody>
          <a:bodyPr wrap="square" lIns="0" rIns="0" tIns="0" bIns="0">
            <a:spAutoFit/>
          </a:bodyPr>
          <a:lstStyle/>
          <a:p>
            <a:pPr algn="l">
              <a:lnSpc>
                <a:spcPts val="2595"/>
              </a:lnSpc>
            </a:pPr>
            <a:r>
              <a:rPr sz="2200" b="1">
                <a:solidFill>
                  <a:srgbClr val="FFFFFF"/>
                </a:solidFill>
                <a:latin typeface="Diodrum Arabic"/>
                <a:ea typeface="Diodrum Arabic"/>
                <a:cs typeface="Diodrum Arabic"/>
              </a:rPr>
              <a:t>Study Context and Methodology</a:t>
            </a:r>
          </a:p>
        </p:txBody>
      </p:sp>
      <p:sp>
        <p:nvSpPr>
          <p:cNvPr id="5" name="TextBox 4"/>
          <p:cNvSpPr txBox="1"/>
          <p:nvPr/>
        </p:nvSpPr>
        <p:spPr>
          <a:xfrm>
            <a:off x="566928" y="1116075"/>
            <a:ext cx="5513831" cy="379221"/>
          </a:xfrm>
          <a:prstGeom prst="rect">
            <a:avLst/>
          </a:prstGeom>
          <a:noFill/>
        </p:spPr>
        <p:txBody>
          <a:bodyPr wrap="square" lIns="0" rIns="0" tIns="0" bIns="0">
            <a:spAutoFit/>
          </a:bodyPr>
          <a:lstStyle/>
          <a:p>
            <a:pPr algn="l">
              <a:lnSpc>
                <a:spcPts val="1348"/>
              </a:lnSpc>
            </a:pPr>
            <a:r>
              <a:rPr sz="950" b="0">
                <a:solidFill>
                  <a:srgbClr val="DDDAF0"/>
                </a:solidFill>
                <a:latin typeface="Diodrum Arabic"/>
                <a:ea typeface="Diodrum Arabic"/>
                <a:cs typeface="Diodrum Arabic"/>
              </a:rPr>
              <a:t>The commission and its three questions, the scope and its limits, the evidence system, and the demand signals that frame the study.</a:t>
            </a:r>
          </a:p>
        </p:txBody>
      </p:sp>
      <p:sp>
        <p:nvSpPr>
          <p:cNvPr id="6" name="Rectangle 5"/>
          <p:cNvSpPr/>
          <p:nvPr/>
        </p:nvSpPr>
        <p:spPr>
          <a:xfrm>
            <a:off x="566928" y="1623313"/>
            <a:ext cx="274320"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2688"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98448"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64208"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29968"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95728"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117089"/>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1.1  BACKGROUND AND COMMISSIONING</a:t>
            </a:r>
          </a:p>
        </p:txBody>
      </p:sp>
      <p:sp>
        <p:nvSpPr>
          <p:cNvPr id="13" name="TextBox 12"/>
          <p:cNvSpPr txBox="1"/>
          <p:nvPr/>
        </p:nvSpPr>
        <p:spPr>
          <a:xfrm>
            <a:off x="566928" y="2344927"/>
            <a:ext cx="6428231" cy="326135"/>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A commission with three questions</a:t>
            </a:r>
          </a:p>
        </p:txBody>
      </p:sp>
      <p:sp>
        <p:nvSpPr>
          <p:cNvPr id="14" name="TextBox 13"/>
          <p:cNvSpPr txBox="1"/>
          <p:nvPr/>
        </p:nvSpPr>
        <p:spPr>
          <a:xfrm>
            <a:off x="566928" y="2725927"/>
            <a:ext cx="6428231" cy="550545"/>
          </a:xfrm>
          <a:prstGeom prst="rect">
            <a:avLst/>
          </a:prstGeom>
          <a:noFill/>
        </p:spPr>
        <p:txBody>
          <a:bodyPr wrap="square" lIns="0" rIns="0" tIns="0" bIns="0">
            <a:spAutoFit/>
          </a:bodyPr>
          <a:lstStyle/>
          <a:p>
            <a:pPr algn="just">
              <a:lnSpc>
                <a:spcPts val="1348"/>
              </a:lnSpc>
            </a:pPr>
            <a:r>
              <a:rPr sz="950" b="0">
                <a:solidFill>
                  <a:srgbClr val="474956"/>
                </a:solidFill>
                <a:latin typeface="Diodrum Arabic"/>
                <a:ea typeface="Diodrum Arabic"/>
                <a:cs typeface="Diodrum Arabic"/>
              </a:rPr>
              <a:t>The Qudratak programme at the Digital Government Authority received a request from the Government AI Committee, through the training channel, to conduct a comparative benchmarking study of AI programmes targeting senior government leaders [1].</a:t>
            </a:r>
          </a:p>
        </p:txBody>
      </p:sp>
      <p:sp>
        <p:nvSpPr>
          <p:cNvPr id="15" name="Rounded Rectangle 14"/>
          <p:cNvSpPr/>
          <p:nvPr/>
        </p:nvSpPr>
        <p:spPr>
          <a:xfrm>
            <a:off x="566928" y="3367912"/>
            <a:ext cx="2045207" cy="1247775"/>
          </a:xfrm>
          <a:prstGeom prst="roundRect">
            <a:avLst>
              <a:gd name="adj" fmla="val 6595"/>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 y="3514216"/>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3633088"/>
            <a:ext cx="1752599" cy="199263"/>
          </a:xfrm>
          <a:prstGeom prst="rect">
            <a:avLst/>
          </a:prstGeom>
          <a:noFill/>
        </p:spPr>
        <p:txBody>
          <a:bodyPr wrap="square" lIns="0" rIns="0" tIns="0" bIns="0">
            <a:spAutoFit/>
          </a:bodyPr>
          <a:lstStyle/>
          <a:p>
            <a:pPr algn="l">
              <a:lnSpc>
                <a:spcPts val="1281"/>
              </a:lnSpc>
            </a:pPr>
            <a:r>
              <a:rPr sz="1050" b="0">
                <a:solidFill>
                  <a:srgbClr val="7C32C9"/>
                </a:solidFill>
                <a:latin typeface="Diodrum Arabic SemiBold"/>
                <a:ea typeface="Diodrum Arabic SemiBold"/>
                <a:cs typeface="Diodrum Arabic SemiBold"/>
              </a:rPr>
              <a:t>1 · What is available?</a:t>
            </a:r>
          </a:p>
        </p:txBody>
      </p:sp>
      <p:sp>
        <p:nvSpPr>
          <p:cNvPr id="18" name="TextBox 17"/>
          <p:cNvSpPr txBox="1"/>
          <p:nvPr/>
        </p:nvSpPr>
        <p:spPr>
          <a:xfrm>
            <a:off x="713232" y="3859784"/>
            <a:ext cx="1752599" cy="483488"/>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What programmes does the global and local market offer this category today?</a:t>
            </a:r>
          </a:p>
        </p:txBody>
      </p:sp>
      <p:sp>
        <p:nvSpPr>
          <p:cNvPr id="19" name="Rounded Rectangle 18"/>
          <p:cNvSpPr/>
          <p:nvPr/>
        </p:nvSpPr>
        <p:spPr>
          <a:xfrm>
            <a:off x="2758440" y="3367912"/>
            <a:ext cx="2045207" cy="1247775"/>
          </a:xfrm>
          <a:prstGeom prst="roundRect">
            <a:avLst>
              <a:gd name="adj" fmla="val 6595"/>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4744" y="3514216"/>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04744" y="3633088"/>
            <a:ext cx="1752599" cy="361950"/>
          </a:xfrm>
          <a:prstGeom prst="rect">
            <a:avLst/>
          </a:prstGeom>
          <a:noFill/>
        </p:spPr>
        <p:txBody>
          <a:bodyPr wrap="square" lIns="0" rIns="0" tIns="0" bIns="0">
            <a:spAutoFit/>
          </a:bodyPr>
          <a:lstStyle/>
          <a:p>
            <a:pPr algn="l">
              <a:lnSpc>
                <a:spcPts val="1281"/>
              </a:lnSpc>
            </a:pPr>
            <a:r>
              <a:rPr sz="1050" b="0">
                <a:solidFill>
                  <a:srgbClr val="00ABAF"/>
                </a:solidFill>
                <a:latin typeface="Diodrum Arabic SemiBold"/>
                <a:ea typeface="Diodrum Arabic SemiBold"/>
                <a:cs typeface="Diodrum Arabic SemiBold"/>
              </a:rPr>
              <a:t>2 · What have governments done?</a:t>
            </a:r>
          </a:p>
        </p:txBody>
      </p:sp>
      <p:sp>
        <p:nvSpPr>
          <p:cNvPr id="22" name="TextBox 21"/>
          <p:cNvSpPr txBox="1"/>
          <p:nvPr/>
        </p:nvSpPr>
        <p:spPr>
          <a:xfrm>
            <a:off x="2904744" y="4022471"/>
            <a:ext cx="1752599" cy="483488"/>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What initiatives have other governments actually implemented for their leaders?</a:t>
            </a:r>
          </a:p>
        </p:txBody>
      </p:sp>
      <p:sp>
        <p:nvSpPr>
          <p:cNvPr id="23" name="Rounded Rectangle 22"/>
          <p:cNvSpPr/>
          <p:nvPr/>
        </p:nvSpPr>
        <p:spPr>
          <a:xfrm>
            <a:off x="4949952" y="3367912"/>
            <a:ext cx="2045207" cy="1247775"/>
          </a:xfrm>
          <a:prstGeom prst="roundRect">
            <a:avLst>
              <a:gd name="adj" fmla="val 6595"/>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96256" y="3514216"/>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96256" y="3633088"/>
            <a:ext cx="1752599" cy="199263"/>
          </a:xfrm>
          <a:prstGeom prst="rect">
            <a:avLst/>
          </a:prstGeom>
          <a:noFill/>
        </p:spPr>
        <p:txBody>
          <a:bodyPr wrap="square" lIns="0" rIns="0" tIns="0" bIns="0">
            <a:spAutoFit/>
          </a:bodyPr>
          <a:lstStyle/>
          <a:p>
            <a:pPr algn="l">
              <a:lnSpc>
                <a:spcPts val="1281"/>
              </a:lnSpc>
            </a:pPr>
            <a:r>
              <a:rPr sz="1050" b="0">
                <a:solidFill>
                  <a:srgbClr val="1CC182"/>
                </a:solidFill>
                <a:latin typeface="Diodrum Arabic SemiBold"/>
                <a:ea typeface="Diodrum Arabic SemiBold"/>
                <a:cs typeface="Diodrum Arabic SemiBold"/>
              </a:rPr>
              <a:t>3 · How can it be built?</a:t>
            </a:r>
          </a:p>
        </p:txBody>
      </p:sp>
      <p:sp>
        <p:nvSpPr>
          <p:cNvPr id="26" name="TextBox 25"/>
          <p:cNvSpPr txBox="1"/>
          <p:nvPr/>
        </p:nvSpPr>
        <p:spPr>
          <a:xfrm>
            <a:off x="5096256" y="3859784"/>
            <a:ext cx="1752599" cy="483488"/>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How can a national programme serve four leadership levels — with an indicative cost estimate?</a:t>
            </a:r>
          </a:p>
        </p:txBody>
      </p:sp>
      <p:sp>
        <p:nvSpPr>
          <p:cNvPr id="27" name="Rounded Rectangle 26"/>
          <p:cNvSpPr/>
          <p:nvPr/>
        </p:nvSpPr>
        <p:spPr>
          <a:xfrm>
            <a:off x="566928" y="4844287"/>
            <a:ext cx="6428231" cy="1556956"/>
          </a:xfrm>
          <a:prstGeom prst="roundRect">
            <a:avLst>
              <a:gd name="adj" fmla="val 5285"/>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008879"/>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THE PROBLEM STATEMENT</a:t>
            </a:r>
          </a:p>
        </p:txBody>
      </p:sp>
      <p:sp>
        <p:nvSpPr>
          <p:cNvPr id="29" name="TextBox 28"/>
          <p:cNvSpPr txBox="1"/>
          <p:nvPr/>
        </p:nvSpPr>
        <p:spPr>
          <a:xfrm>
            <a:off x="731520" y="5218429"/>
            <a:ext cx="6099047" cy="1010412"/>
          </a:xfrm>
          <a:prstGeom prst="rect">
            <a:avLst/>
          </a:prstGeom>
          <a:noFill/>
        </p:spPr>
        <p:txBody>
          <a:bodyPr wrap="square" lIns="0" rIns="0" tIns="0" bIns="0">
            <a:spAutoFit/>
          </a:bodyPr>
          <a:lstStyle/>
          <a:p>
            <a:pPr algn="just">
              <a:lnSpc>
                <a:spcPts val="1278"/>
              </a:lnSpc>
            </a:pPr>
            <a:r>
              <a:rPr sz="900" b="0">
                <a:solidFill>
                  <a:srgbClr val="474956"/>
                </a:solidFill>
                <a:latin typeface="Diodrum Arabic"/>
                <a:ea typeface="Diodrum Arabic"/>
                <a:cs typeface="Diodrum Arabic"/>
              </a:rPr>
              <a:t>AI decisions in government are no longer technical matters delegated to specialised departments; they have become sovereign decisions touching national data, public procurement, the quality of citizen services, and the foundations of accountability. Those who sign them occupy the senior leadership levels — not the model engineers. The potential gap examined here is therefore not in the national strategy, where the Kingdom’s position is advanced, but in the individual leadership readiness of the decision-maker. The study presumes no deficiency on anyone’s part; it records what the market offers and leaves judgement to the evidence.</a:t>
            </a:r>
          </a:p>
        </p:txBody>
      </p:sp>
      <p:sp>
        <p:nvSpPr>
          <p:cNvPr id="30" name="Rectangle 29"/>
          <p:cNvSpPr/>
          <p:nvPr/>
        </p:nvSpPr>
        <p:spPr>
          <a:xfrm>
            <a:off x="566928" y="6584124"/>
            <a:ext cx="45720" cy="405384"/>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6593268"/>
            <a:ext cx="6199631" cy="387095"/>
          </a:xfrm>
          <a:prstGeom prst="rect">
            <a:avLst/>
          </a:prstGeom>
          <a:noFill/>
        </p:spPr>
        <p:txBody>
          <a:bodyPr wrap="square" lIns="0" rIns="0" tIns="0" bIns="0">
            <a:spAutoFit/>
          </a:bodyPr>
          <a:lstStyle/>
          <a:p>
            <a:pPr algn="l">
              <a:lnSpc>
                <a:spcPts val="1380"/>
              </a:lnSpc>
            </a:pPr>
            <a:r>
              <a:rPr sz="1000" b="0">
                <a:solidFill>
                  <a:srgbClr val="232046"/>
                </a:solidFill>
                <a:latin typeface="Diodrum Arabic SemiBold"/>
                <a:ea typeface="Diodrum Arabic SemiBold"/>
                <a:cs typeface="Diodrum Arabic SemiBold"/>
              </a:rPr>
              <a:t>Answering the three questions first requires fixing the scope and limits of the review — what the study covers, and what it does not claim.</a:t>
            </a:r>
          </a:p>
        </p:txBody>
      </p:sp>
      <p:sp>
        <p:nvSpPr>
          <p:cNvPr id="32" name="Rectangle 3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34" name="TextBox 33"/>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01 · 1.2  SCOPE AND LIMITS</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What the study covers — and what it does not claim</a:t>
            </a:r>
          </a:p>
        </p:txBody>
      </p:sp>
      <p:sp>
        <p:nvSpPr>
          <p:cNvPr id="4" name="TextBox 3"/>
          <p:cNvSpPr txBox="1"/>
          <p:nvPr/>
        </p:nvSpPr>
        <p:spPr>
          <a:xfrm>
            <a:off x="566928" y="1111758"/>
            <a:ext cx="6428231" cy="205486"/>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Everything in the study describes the market as it stood on 21 August 2026.</a:t>
            </a:r>
          </a:p>
        </p:txBody>
      </p:sp>
      <p:sp>
        <p:nvSpPr>
          <p:cNvPr id="5" name="Rectangle 4"/>
          <p:cNvSpPr/>
          <p:nvPr/>
        </p:nvSpPr>
        <p:spPr>
          <a:xfrm>
            <a:off x="566928" y="137210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54988"/>
            <a:ext cx="3113532" cy="205994"/>
          </a:xfrm>
          <a:prstGeom prst="rect">
            <a:avLst/>
          </a:prstGeom>
          <a:noFill/>
        </p:spPr>
        <p:txBody>
          <a:bodyPr wrap="square" lIns="0" rIns="0" tIns="0" bIns="0">
            <a:spAutoFit/>
          </a:bodyPr>
          <a:lstStyle/>
          <a:p>
            <a:pPr algn="l">
              <a:lnSpc>
                <a:spcPts val="1334"/>
              </a:lnSpc>
            </a:pPr>
            <a:r>
              <a:rPr sz="1150" b="0" spc="70">
                <a:solidFill>
                  <a:srgbClr val="00ABAF"/>
                </a:solidFill>
                <a:latin typeface="Diodrum Arabic SemiBold"/>
                <a:ea typeface="Diodrum Arabic SemiBold"/>
                <a:cs typeface="Diodrum Arabic SemiBold"/>
              </a:rPr>
              <a:t>WITHIN SCOPE</a:t>
            </a:r>
          </a:p>
        </p:txBody>
      </p:sp>
      <p:sp>
        <p:nvSpPr>
          <p:cNvPr id="7" name="TextBox 6"/>
          <p:cNvSpPr txBox="1"/>
          <p:nvPr/>
        </p:nvSpPr>
        <p:spPr>
          <a:xfrm>
            <a:off x="566928" y="1802130"/>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8" name="TextBox 7"/>
          <p:cNvSpPr txBox="1"/>
          <p:nvPr/>
        </p:nvSpPr>
        <p:spPr>
          <a:xfrm>
            <a:off x="740664" y="1806702"/>
            <a:ext cx="2939796" cy="352043"/>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Programmes, frameworks, and practices published up to 21 August 2026.</a:t>
            </a:r>
          </a:p>
        </p:txBody>
      </p:sp>
      <p:sp>
        <p:nvSpPr>
          <p:cNvPr id="9" name="TextBox 8"/>
          <p:cNvSpPr txBox="1"/>
          <p:nvPr/>
        </p:nvSpPr>
        <p:spPr>
          <a:xfrm>
            <a:off x="566928" y="2167890"/>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10" name="TextBox 9"/>
          <p:cNvSpPr txBox="1"/>
          <p:nvPr/>
        </p:nvSpPr>
        <p:spPr>
          <a:xfrm>
            <a:off x="740664" y="2172462"/>
            <a:ext cx="2939796" cy="352043"/>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Publicly available information, plus the internal documents provided under the commission.</a:t>
            </a:r>
          </a:p>
        </p:txBody>
      </p:sp>
      <p:sp>
        <p:nvSpPr>
          <p:cNvPr id="11" name="TextBox 10"/>
          <p:cNvSpPr txBox="1"/>
          <p:nvPr/>
        </p:nvSpPr>
        <p:spPr>
          <a:xfrm>
            <a:off x="566928" y="2533650"/>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12" name="TextBox 11"/>
          <p:cNvSpPr txBox="1"/>
          <p:nvPr/>
        </p:nvSpPr>
        <p:spPr>
          <a:xfrm>
            <a:off x="740664" y="2538222"/>
            <a:ext cx="2939796" cy="352043"/>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Published cost figures attributed to their publishers, or estimates explicitly labelled indicative.</a:t>
            </a:r>
          </a:p>
        </p:txBody>
      </p:sp>
      <p:sp>
        <p:nvSpPr>
          <p:cNvPr id="13" name="TextBox 12"/>
          <p:cNvSpPr txBox="1"/>
          <p:nvPr/>
        </p:nvSpPr>
        <p:spPr>
          <a:xfrm>
            <a:off x="3881628" y="1554988"/>
            <a:ext cx="3113532" cy="205994"/>
          </a:xfrm>
          <a:prstGeom prst="rect">
            <a:avLst/>
          </a:prstGeom>
          <a:noFill/>
        </p:spPr>
        <p:txBody>
          <a:bodyPr wrap="square" lIns="0" rIns="0" tIns="0" bIns="0">
            <a:spAutoFit/>
          </a:bodyPr>
          <a:lstStyle/>
          <a:p>
            <a:pPr algn="l">
              <a:lnSpc>
                <a:spcPts val="1334"/>
              </a:lnSpc>
            </a:pPr>
            <a:r>
              <a:rPr sz="1150" b="0" spc="70">
                <a:solidFill>
                  <a:srgbClr val="7C32C9"/>
                </a:solidFill>
                <a:latin typeface="Diodrum Arabic SemiBold"/>
                <a:ea typeface="Diodrum Arabic SemiBold"/>
                <a:cs typeface="Diodrum Arabic SemiBold"/>
              </a:rPr>
              <a:t>OUT OF SCOPE</a:t>
            </a:r>
          </a:p>
        </p:txBody>
      </p:sp>
      <p:sp>
        <p:nvSpPr>
          <p:cNvPr id="14" name="TextBox 13"/>
          <p:cNvSpPr txBox="1"/>
          <p:nvPr/>
        </p:nvSpPr>
        <p:spPr>
          <a:xfrm>
            <a:off x="3881628" y="1802130"/>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15" name="TextBox 14"/>
          <p:cNvSpPr txBox="1"/>
          <p:nvPr/>
        </p:nvSpPr>
        <p:spPr>
          <a:xfrm>
            <a:off x="4055364" y="1806702"/>
            <a:ext cx="2939796" cy="352043"/>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An internal needs assessment for each government entity.</a:t>
            </a:r>
          </a:p>
        </p:txBody>
      </p:sp>
      <p:sp>
        <p:nvSpPr>
          <p:cNvPr id="16" name="TextBox 15"/>
          <p:cNvSpPr txBox="1"/>
          <p:nvPr/>
        </p:nvSpPr>
        <p:spPr>
          <a:xfrm>
            <a:off x="3881628" y="2167890"/>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17" name="TextBox 16"/>
          <p:cNvSpPr txBox="1"/>
          <p:nvPr/>
        </p:nvSpPr>
        <p:spPr>
          <a:xfrm>
            <a:off x="4055364" y="2172462"/>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The selection of a specific provider.</a:t>
            </a:r>
          </a:p>
        </p:txBody>
      </p:sp>
      <p:sp>
        <p:nvSpPr>
          <p:cNvPr id="18" name="TextBox 17"/>
          <p:cNvSpPr txBox="1"/>
          <p:nvPr/>
        </p:nvSpPr>
        <p:spPr>
          <a:xfrm>
            <a:off x="3881628" y="2375916"/>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19" name="TextBox 18"/>
          <p:cNvSpPr txBox="1"/>
          <p:nvPr/>
        </p:nvSpPr>
        <p:spPr>
          <a:xfrm>
            <a:off x="4055364" y="2380488"/>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The submission of any contractual price quotation.</a:t>
            </a:r>
          </a:p>
        </p:txBody>
      </p:sp>
      <p:sp>
        <p:nvSpPr>
          <p:cNvPr id="20" name="Rounded Rectangle 19"/>
          <p:cNvSpPr/>
          <p:nvPr/>
        </p:nvSpPr>
        <p:spPr>
          <a:xfrm>
            <a:off x="566928" y="3096006"/>
            <a:ext cx="2045207" cy="1130553"/>
          </a:xfrm>
          <a:prstGeom prst="roundRect">
            <a:avLst>
              <a:gd name="adj" fmla="val 7279"/>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3242310"/>
            <a:ext cx="1752599" cy="329946"/>
          </a:xfrm>
          <a:prstGeom prst="rect">
            <a:avLst/>
          </a:prstGeom>
          <a:noFill/>
        </p:spPr>
        <p:txBody>
          <a:bodyPr wrap="square" lIns="0" rIns="0" tIns="0" bIns="0">
            <a:spAutoFit/>
          </a:bodyPr>
          <a:lstStyle/>
          <a:p>
            <a:pPr algn="l">
              <a:lnSpc>
                <a:spcPts val="2310"/>
              </a:lnSpc>
            </a:pPr>
            <a:r>
              <a:rPr sz="2200" b="1">
                <a:solidFill>
                  <a:srgbClr val="7C32C9"/>
                </a:solidFill>
                <a:latin typeface="Diodrum Arabic"/>
                <a:ea typeface="Diodrum Arabic"/>
                <a:cs typeface="Diodrum Arabic"/>
              </a:rPr>
              <a:t>300+</a:t>
            </a:r>
          </a:p>
        </p:txBody>
      </p:sp>
      <p:sp>
        <p:nvSpPr>
          <p:cNvPr id="22" name="TextBox 21"/>
          <p:cNvSpPr txBox="1"/>
          <p:nvPr/>
        </p:nvSpPr>
        <p:spPr>
          <a:xfrm>
            <a:off x="713232" y="3622802"/>
            <a:ext cx="1752599" cy="328041"/>
          </a:xfrm>
          <a:prstGeom prst="rect">
            <a:avLst/>
          </a:prstGeom>
          <a:noFill/>
        </p:spPr>
        <p:txBody>
          <a:bodyPr wrap="square" lIns="0" rIns="0" tIns="0" bIns="0">
            <a:spAutoFit/>
          </a:bodyPr>
          <a:lstStyle/>
          <a:p>
            <a:pPr algn="l">
              <a:lnSpc>
                <a:spcPts val="1147"/>
              </a:lnSpc>
            </a:pPr>
            <a:r>
              <a:rPr sz="850" b="0">
                <a:solidFill>
                  <a:srgbClr val="474956"/>
                </a:solidFill>
                <a:latin typeface="Diodrum Arabic"/>
                <a:ea typeface="Diodrum Arabic"/>
                <a:cs typeface="Diodrum Arabic"/>
              </a:rPr>
              <a:t>government entities within the study’s scope</a:t>
            </a:r>
          </a:p>
        </p:txBody>
      </p:sp>
      <p:sp>
        <p:nvSpPr>
          <p:cNvPr id="23" name="TextBox 22"/>
          <p:cNvSpPr txBox="1"/>
          <p:nvPr/>
        </p:nvSpPr>
        <p:spPr>
          <a:xfrm>
            <a:off x="713232" y="3969130"/>
            <a:ext cx="1752599" cy="164592"/>
          </a:xfrm>
          <a:prstGeom prst="rect">
            <a:avLst/>
          </a:prstGeom>
          <a:noFill/>
        </p:spPr>
        <p:txBody>
          <a:bodyPr wrap="square" lIns="0" rIns="0" tIns="0" bIns="0">
            <a:spAutoFit/>
          </a:bodyPr>
          <a:lstStyle/>
          <a:p>
            <a:pPr algn="l">
              <a:lnSpc>
                <a:spcPts val="875"/>
              </a:lnSpc>
            </a:pPr>
            <a:r>
              <a:rPr sz="700" b="0">
                <a:solidFill>
                  <a:srgbClr val="6E7077"/>
                </a:solidFill>
                <a:latin typeface="Diodrum Arabic"/>
                <a:ea typeface="Diodrum Arabic"/>
                <a:cs typeface="Diodrum Arabic"/>
              </a:rPr>
              <a:t>Commission [1]</a:t>
            </a:r>
          </a:p>
        </p:txBody>
      </p:sp>
      <p:sp>
        <p:nvSpPr>
          <p:cNvPr id="24" name="Rounded Rectangle 23"/>
          <p:cNvSpPr/>
          <p:nvPr/>
        </p:nvSpPr>
        <p:spPr>
          <a:xfrm>
            <a:off x="2758440" y="3096006"/>
            <a:ext cx="2045207" cy="1130553"/>
          </a:xfrm>
          <a:prstGeom prst="roundRect">
            <a:avLst>
              <a:gd name="adj" fmla="val 7279"/>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04744" y="3242310"/>
            <a:ext cx="1752599" cy="329946"/>
          </a:xfrm>
          <a:prstGeom prst="rect">
            <a:avLst/>
          </a:prstGeom>
          <a:noFill/>
        </p:spPr>
        <p:txBody>
          <a:bodyPr wrap="square" lIns="0" rIns="0" tIns="0" bIns="0">
            <a:spAutoFit/>
          </a:bodyPr>
          <a:lstStyle/>
          <a:p>
            <a:pPr algn="l">
              <a:lnSpc>
                <a:spcPts val="2310"/>
              </a:lnSpc>
            </a:pPr>
            <a:r>
              <a:rPr sz="2200" b="1">
                <a:solidFill>
                  <a:srgbClr val="00ABAF"/>
                </a:solidFill>
                <a:latin typeface="Diodrum Arabic"/>
                <a:ea typeface="Diodrum Arabic"/>
                <a:cs typeface="Diodrum Arabic"/>
              </a:rPr>
              <a:t>32</a:t>
            </a:r>
          </a:p>
        </p:txBody>
      </p:sp>
      <p:sp>
        <p:nvSpPr>
          <p:cNvPr id="26" name="TextBox 25"/>
          <p:cNvSpPr txBox="1"/>
          <p:nvPr/>
        </p:nvSpPr>
        <p:spPr>
          <a:xfrm>
            <a:off x="2904744" y="3622802"/>
            <a:ext cx="1752599" cy="328041"/>
          </a:xfrm>
          <a:prstGeom prst="rect">
            <a:avLst/>
          </a:prstGeom>
          <a:noFill/>
        </p:spPr>
        <p:txBody>
          <a:bodyPr wrap="square" lIns="0" rIns="0" tIns="0" bIns="0">
            <a:spAutoFit/>
          </a:bodyPr>
          <a:lstStyle/>
          <a:p>
            <a:pPr algn="l">
              <a:lnSpc>
                <a:spcPts val="1147"/>
              </a:lnSpc>
            </a:pPr>
            <a:r>
              <a:rPr sz="850" b="0">
                <a:solidFill>
                  <a:srgbClr val="474956"/>
                </a:solidFill>
                <a:latin typeface="Diodrum Arabic"/>
                <a:ea typeface="Diodrum Arabic"/>
                <a:cs typeface="Diodrum Arabic"/>
              </a:rPr>
              <a:t>documented programmes in the benchmark register</a:t>
            </a:r>
          </a:p>
        </p:txBody>
      </p:sp>
      <p:sp>
        <p:nvSpPr>
          <p:cNvPr id="27" name="Rounded Rectangle 26"/>
          <p:cNvSpPr/>
          <p:nvPr/>
        </p:nvSpPr>
        <p:spPr>
          <a:xfrm>
            <a:off x="4949952" y="3096006"/>
            <a:ext cx="2045207" cy="1130553"/>
          </a:xfrm>
          <a:prstGeom prst="roundRect">
            <a:avLst>
              <a:gd name="adj" fmla="val 7279"/>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6256" y="3242310"/>
            <a:ext cx="1752599" cy="329946"/>
          </a:xfrm>
          <a:prstGeom prst="rect">
            <a:avLst/>
          </a:prstGeom>
          <a:noFill/>
        </p:spPr>
        <p:txBody>
          <a:bodyPr wrap="square" lIns="0" rIns="0" tIns="0" bIns="0">
            <a:spAutoFit/>
          </a:bodyPr>
          <a:lstStyle/>
          <a:p>
            <a:pPr algn="l">
              <a:lnSpc>
                <a:spcPts val="2310"/>
              </a:lnSpc>
            </a:pPr>
            <a:r>
              <a:rPr sz="2200" b="1">
                <a:solidFill>
                  <a:srgbClr val="1CC182"/>
                </a:solidFill>
                <a:latin typeface="Diodrum Arabic"/>
                <a:ea typeface="Diodrum Arabic"/>
                <a:cs typeface="Diodrum Arabic"/>
              </a:rPr>
              <a:t>71</a:t>
            </a:r>
          </a:p>
        </p:txBody>
      </p:sp>
      <p:sp>
        <p:nvSpPr>
          <p:cNvPr id="29" name="TextBox 28"/>
          <p:cNvSpPr txBox="1"/>
          <p:nvPr/>
        </p:nvSpPr>
        <p:spPr>
          <a:xfrm>
            <a:off x="5096256" y="3622802"/>
            <a:ext cx="1752599" cy="328041"/>
          </a:xfrm>
          <a:prstGeom prst="rect">
            <a:avLst/>
          </a:prstGeom>
          <a:noFill/>
        </p:spPr>
        <p:txBody>
          <a:bodyPr wrap="square" lIns="0" rIns="0" tIns="0" bIns="0">
            <a:spAutoFit/>
          </a:bodyPr>
          <a:lstStyle/>
          <a:p>
            <a:pPr algn="l">
              <a:lnSpc>
                <a:spcPts val="1147"/>
              </a:lnSpc>
            </a:pPr>
            <a:r>
              <a:rPr sz="850" b="0">
                <a:solidFill>
                  <a:srgbClr val="474956"/>
                </a:solidFill>
                <a:latin typeface="Diodrum Arabic"/>
                <a:ea typeface="Diodrum Arabic"/>
                <a:cs typeface="Diodrum Arabic"/>
              </a:rPr>
              <a:t>numbered sources, each carrying an evidence tag</a:t>
            </a:r>
          </a:p>
        </p:txBody>
      </p:sp>
      <p:sp>
        <p:nvSpPr>
          <p:cNvPr id="30" name="Rounded Rectangle 29"/>
          <p:cNvSpPr/>
          <p:nvPr/>
        </p:nvSpPr>
        <p:spPr>
          <a:xfrm>
            <a:off x="566928" y="4446016"/>
            <a:ext cx="6428231" cy="907732"/>
          </a:xfrm>
          <a:prstGeom prst="roundRect">
            <a:avLst>
              <a:gd name="adj" fmla="val 9066"/>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610608"/>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THE STANDING PHRASE</a:t>
            </a:r>
          </a:p>
        </p:txBody>
      </p:sp>
      <p:sp>
        <p:nvSpPr>
          <p:cNvPr id="32" name="TextBox 31"/>
          <p:cNvSpPr txBox="1"/>
          <p:nvPr/>
        </p:nvSpPr>
        <p:spPr>
          <a:xfrm>
            <a:off x="731520" y="4820158"/>
            <a:ext cx="6099047" cy="361187"/>
          </a:xfrm>
          <a:prstGeom prst="rect">
            <a:avLst/>
          </a:prstGeom>
          <a:noFill/>
        </p:spPr>
        <p:txBody>
          <a:bodyPr wrap="square" lIns="0" rIns="0" tIns="0" bIns="0">
            <a:spAutoFit/>
          </a:bodyPr>
          <a:lstStyle/>
          <a:p>
            <a:pPr algn="just">
              <a:lnSpc>
                <a:spcPts val="1278"/>
              </a:lnSpc>
            </a:pPr>
            <a:r>
              <a:rPr sz="900" b="0">
                <a:solidFill>
                  <a:srgbClr val="474956"/>
                </a:solidFill>
                <a:latin typeface="Diodrum Arabic"/>
                <a:ea typeface="Diodrum Arabic"/>
                <a:cs typeface="Diodrum Arabic"/>
              </a:rPr>
              <a:t>Where no published information is available on a given programme, the study uses the phrase “the review did not identify a publicly documented dedicated programme” — without presuming that none exists.</a:t>
            </a:r>
          </a:p>
        </p:txBody>
      </p:sp>
      <p:sp>
        <p:nvSpPr>
          <p:cNvPr id="33" name="Rectangle 32"/>
          <p:cNvSpPr/>
          <p:nvPr/>
        </p:nvSpPr>
        <p:spPr>
          <a:xfrm>
            <a:off x="566928" y="5536628"/>
            <a:ext cx="45720" cy="405384"/>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 y="5545772"/>
            <a:ext cx="6199631" cy="387095"/>
          </a:xfrm>
          <a:prstGeom prst="rect">
            <a:avLst/>
          </a:prstGeom>
          <a:noFill/>
        </p:spPr>
        <p:txBody>
          <a:bodyPr wrap="square" lIns="0" rIns="0" tIns="0" bIns="0">
            <a:spAutoFit/>
          </a:bodyPr>
          <a:lstStyle/>
          <a:p>
            <a:pPr algn="l">
              <a:lnSpc>
                <a:spcPts val="1380"/>
              </a:lnSpc>
            </a:pPr>
            <a:r>
              <a:rPr sz="1000" b="0">
                <a:solidFill>
                  <a:srgbClr val="232046"/>
                </a:solidFill>
                <a:latin typeface="Diodrum Arabic SemiBold"/>
                <a:ea typeface="Diodrum Arabic SemiBold"/>
                <a:cs typeface="Diodrum Arabic SemiBold"/>
              </a:rPr>
              <a:t>Because the value of a study of this kind is measured by the strength of its evidence, the next page sets out the evidence classification used throughout all sections.</a:t>
            </a:r>
          </a:p>
        </p:txBody>
      </p:sp>
      <p:sp>
        <p:nvSpPr>
          <p:cNvPr id="35" name="Rectangle 34"/>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37" name="TextBox 36"/>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01 · 1.3  METHODOLOGY AND EVIDENCE CLASSIFICATION</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Eight evidence codes, declared once</a:t>
            </a:r>
          </a:p>
        </p:txBody>
      </p:sp>
      <p:sp>
        <p:nvSpPr>
          <p:cNvPr id="4" name="TextBox 3"/>
          <p:cNvSpPr txBox="1"/>
          <p:nvPr/>
        </p:nvSpPr>
        <p:spPr>
          <a:xfrm>
            <a:off x="566928" y="1111758"/>
            <a:ext cx="6428231" cy="374395"/>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Every material piece of information carries a numbered source marker leading to the references register — entity, title, full link, and review date. Each source carries a code describing the nature and strength of its evidence.</a:t>
            </a:r>
          </a:p>
        </p:txBody>
      </p:sp>
      <p:sp>
        <p:nvSpPr>
          <p:cNvPr id="5" name="Rectangle 4"/>
          <p:cNvSpPr/>
          <p:nvPr/>
        </p:nvSpPr>
        <p:spPr>
          <a:xfrm>
            <a:off x="566928" y="154101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23898"/>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76656" y="1833626"/>
            <a:ext cx="274320" cy="219456"/>
          </a:xfrm>
          <a:prstGeom prst="roundRect">
            <a:avLst>
              <a:gd name="adj" fmla="val 25000"/>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S</a:t>
            </a:r>
          </a:p>
        </p:txBody>
      </p:sp>
      <p:sp>
        <p:nvSpPr>
          <p:cNvPr id="8" name="TextBox 7"/>
          <p:cNvSpPr txBox="1"/>
          <p:nvPr/>
        </p:nvSpPr>
        <p:spPr>
          <a:xfrm>
            <a:off x="676656" y="2144522"/>
            <a:ext cx="1291589" cy="182880"/>
          </a:xfrm>
          <a:prstGeom prst="rect">
            <a:avLst/>
          </a:prstGeom>
          <a:noFill/>
        </p:spPr>
        <p:txBody>
          <a:bodyPr wrap="square" lIns="0" rIns="0" tIns="0" bIns="0">
            <a:spAutoFit/>
          </a:bodyPr>
          <a:lstStyle/>
          <a:p>
            <a:pPr algn="l">
              <a:lnSpc>
                <a:spcPts val="1152"/>
              </a:lnSpc>
            </a:pPr>
            <a:r>
              <a:rPr sz="900" b="0">
                <a:solidFill>
                  <a:srgbClr val="232046"/>
                </a:solidFill>
                <a:latin typeface="Diodrum Arabic SemiBold"/>
                <a:ea typeface="Diodrum Arabic SemiBold"/>
                <a:cs typeface="Diodrum Arabic SemiBold"/>
              </a:rPr>
              <a:t>Statistics or survey</a:t>
            </a:r>
          </a:p>
        </p:txBody>
      </p:sp>
      <p:sp>
        <p:nvSpPr>
          <p:cNvPr id="9" name="TextBox 8"/>
          <p:cNvSpPr txBox="1"/>
          <p:nvPr/>
        </p:nvSpPr>
        <p:spPr>
          <a:xfrm>
            <a:off x="676656" y="2327402"/>
            <a:ext cx="1291589" cy="288036"/>
          </a:xfrm>
          <a:prstGeom prst="rect">
            <a:avLst/>
          </a:prstGeom>
          <a:noFill/>
        </p:spPr>
        <p:txBody>
          <a:bodyPr wrap="square" lIns="0" rIns="0" tIns="0" bIns="0">
            <a:spAutoFit/>
          </a:bodyPr>
          <a:lstStyle/>
          <a:p>
            <a:pPr algn="l">
              <a:lnSpc>
                <a:spcPts val="990"/>
              </a:lnSpc>
            </a:pPr>
            <a:r>
              <a:rPr sz="750" b="0">
                <a:solidFill>
                  <a:srgbClr val="6E7077"/>
                </a:solidFill>
                <a:latin typeface="Diodrum Arabic"/>
                <a:ea typeface="Diodrum Arabic"/>
                <a:cs typeface="Diodrum Arabic"/>
              </a:rPr>
              <a:t>Used within the limits of the sample and methodology.</a:t>
            </a:r>
          </a:p>
        </p:txBody>
      </p:sp>
      <p:sp>
        <p:nvSpPr>
          <p:cNvPr id="10" name="Rounded Rectangle 9"/>
          <p:cNvSpPr/>
          <p:nvPr/>
        </p:nvSpPr>
        <p:spPr>
          <a:xfrm>
            <a:off x="2205990" y="1723898"/>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315718" y="1833626"/>
            <a:ext cx="274320" cy="219456"/>
          </a:xfrm>
          <a:prstGeom prst="roundRect">
            <a:avLst>
              <a:gd name="adj" fmla="val 25000"/>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E</a:t>
            </a:r>
          </a:p>
        </p:txBody>
      </p:sp>
      <p:sp>
        <p:nvSpPr>
          <p:cNvPr id="12" name="TextBox 11"/>
          <p:cNvSpPr txBox="1"/>
          <p:nvPr/>
        </p:nvSpPr>
        <p:spPr>
          <a:xfrm>
            <a:off x="2315718" y="2144522"/>
            <a:ext cx="1291589" cy="182880"/>
          </a:xfrm>
          <a:prstGeom prst="rect">
            <a:avLst/>
          </a:prstGeom>
          <a:noFill/>
        </p:spPr>
        <p:txBody>
          <a:bodyPr wrap="square" lIns="0" rIns="0" tIns="0" bIns="0">
            <a:spAutoFit/>
          </a:bodyPr>
          <a:lstStyle/>
          <a:p>
            <a:pPr algn="l">
              <a:lnSpc>
                <a:spcPts val="1152"/>
              </a:lnSpc>
            </a:pPr>
            <a:r>
              <a:rPr sz="900" b="0">
                <a:solidFill>
                  <a:srgbClr val="232046"/>
                </a:solidFill>
                <a:latin typeface="Diodrum Arabic SemiBold"/>
                <a:ea typeface="Diodrum Arabic SemiBold"/>
                <a:cs typeface="Diodrum Arabic SemiBold"/>
              </a:rPr>
              <a:t>Independent evaluation</a:t>
            </a:r>
          </a:p>
        </p:txBody>
      </p:sp>
      <p:sp>
        <p:nvSpPr>
          <p:cNvPr id="13" name="TextBox 12"/>
          <p:cNvSpPr txBox="1"/>
          <p:nvPr/>
        </p:nvSpPr>
        <p:spPr>
          <a:xfrm>
            <a:off x="2315718" y="2327402"/>
            <a:ext cx="1291589" cy="288036"/>
          </a:xfrm>
          <a:prstGeom prst="rect">
            <a:avLst/>
          </a:prstGeom>
          <a:noFill/>
        </p:spPr>
        <p:txBody>
          <a:bodyPr wrap="square" lIns="0" rIns="0" tIns="0" bIns="0">
            <a:spAutoFit/>
          </a:bodyPr>
          <a:lstStyle/>
          <a:p>
            <a:pPr algn="l">
              <a:lnSpc>
                <a:spcPts val="990"/>
              </a:lnSpc>
            </a:pPr>
            <a:r>
              <a:rPr sz="750" b="0">
                <a:solidFill>
                  <a:srgbClr val="6E7077"/>
                </a:solidFill>
                <a:latin typeface="Diodrum Arabic"/>
                <a:ea typeface="Diodrum Arabic"/>
                <a:cs typeface="Diodrum Arabic"/>
              </a:rPr>
              <a:t>The strongest available evidence of effectiveness.</a:t>
            </a:r>
          </a:p>
        </p:txBody>
      </p:sp>
      <p:sp>
        <p:nvSpPr>
          <p:cNvPr id="14" name="Rounded Rectangle 13"/>
          <p:cNvSpPr/>
          <p:nvPr/>
        </p:nvSpPr>
        <p:spPr>
          <a:xfrm>
            <a:off x="3845052" y="1723898"/>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954780" y="1833626"/>
            <a:ext cx="274320" cy="219456"/>
          </a:xfrm>
          <a:prstGeom prst="roundRect">
            <a:avLst>
              <a:gd name="adj" fmla="val 25000"/>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P</a:t>
            </a:r>
          </a:p>
        </p:txBody>
      </p:sp>
      <p:sp>
        <p:nvSpPr>
          <p:cNvPr id="16" name="TextBox 15"/>
          <p:cNvSpPr txBox="1"/>
          <p:nvPr/>
        </p:nvSpPr>
        <p:spPr>
          <a:xfrm>
            <a:off x="3954780" y="2144522"/>
            <a:ext cx="1291589" cy="182880"/>
          </a:xfrm>
          <a:prstGeom prst="rect">
            <a:avLst/>
          </a:prstGeom>
          <a:noFill/>
        </p:spPr>
        <p:txBody>
          <a:bodyPr wrap="square" lIns="0" rIns="0" tIns="0" bIns="0">
            <a:spAutoFit/>
          </a:bodyPr>
          <a:lstStyle/>
          <a:p>
            <a:pPr algn="l">
              <a:lnSpc>
                <a:spcPts val="1152"/>
              </a:lnSpc>
            </a:pPr>
            <a:r>
              <a:rPr sz="900" b="0">
                <a:solidFill>
                  <a:srgbClr val="232046"/>
                </a:solidFill>
                <a:latin typeface="Diodrum Arabic SemiBold"/>
                <a:ea typeface="Diodrum Arabic SemiBold"/>
                <a:cs typeface="Diodrum Arabic SemiBold"/>
              </a:rPr>
              <a:t>Provider announcement</a:t>
            </a:r>
          </a:p>
        </p:txBody>
      </p:sp>
      <p:sp>
        <p:nvSpPr>
          <p:cNvPr id="17" name="TextBox 16"/>
          <p:cNvSpPr txBox="1"/>
          <p:nvPr/>
        </p:nvSpPr>
        <p:spPr>
          <a:xfrm>
            <a:off x="3954780" y="2327402"/>
            <a:ext cx="1291589" cy="288036"/>
          </a:xfrm>
          <a:prstGeom prst="rect">
            <a:avLst/>
          </a:prstGeom>
          <a:noFill/>
        </p:spPr>
        <p:txBody>
          <a:bodyPr wrap="square" lIns="0" rIns="0" tIns="0" bIns="0">
            <a:spAutoFit/>
          </a:bodyPr>
          <a:lstStyle/>
          <a:p>
            <a:pPr algn="l">
              <a:lnSpc>
                <a:spcPts val="990"/>
              </a:lnSpc>
            </a:pPr>
            <a:r>
              <a:rPr sz="750" b="0">
                <a:solidFill>
                  <a:srgbClr val="6E7077"/>
                </a:solidFill>
                <a:latin typeface="Diodrum Arabic"/>
                <a:ea typeface="Diodrum Arabic"/>
                <a:cs typeface="Diodrum Arabic"/>
              </a:rPr>
              <a:t>Establishes the announced design, not the results.</a:t>
            </a:r>
          </a:p>
        </p:txBody>
      </p:sp>
      <p:sp>
        <p:nvSpPr>
          <p:cNvPr id="18" name="Rounded Rectangle 17"/>
          <p:cNvSpPr/>
          <p:nvPr/>
        </p:nvSpPr>
        <p:spPr>
          <a:xfrm>
            <a:off x="5484114" y="1723898"/>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593842" y="1833626"/>
            <a:ext cx="274320" cy="219456"/>
          </a:xfrm>
          <a:prstGeom prst="roundRect">
            <a:avLst>
              <a:gd name="adj" fmla="val 25000"/>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R</a:t>
            </a:r>
          </a:p>
        </p:txBody>
      </p:sp>
      <p:sp>
        <p:nvSpPr>
          <p:cNvPr id="20" name="TextBox 19"/>
          <p:cNvSpPr txBox="1"/>
          <p:nvPr/>
        </p:nvSpPr>
        <p:spPr>
          <a:xfrm>
            <a:off x="5593842" y="2144522"/>
            <a:ext cx="1291589" cy="182880"/>
          </a:xfrm>
          <a:prstGeom prst="rect">
            <a:avLst/>
          </a:prstGeom>
          <a:noFill/>
        </p:spPr>
        <p:txBody>
          <a:bodyPr wrap="square" lIns="0" rIns="0" tIns="0" bIns="0">
            <a:spAutoFit/>
          </a:bodyPr>
          <a:lstStyle/>
          <a:p>
            <a:pPr algn="l">
              <a:lnSpc>
                <a:spcPts val="1152"/>
              </a:lnSpc>
            </a:pPr>
            <a:r>
              <a:rPr sz="900" b="0">
                <a:solidFill>
                  <a:srgbClr val="232046"/>
                </a:solidFill>
                <a:latin typeface="Diodrum Arabic SemiBold"/>
                <a:ea typeface="Diodrum Arabic SemiBold"/>
                <a:cs typeface="Diodrum Arabic SemiBold"/>
              </a:rPr>
              <a:t>Official record</a:t>
            </a:r>
          </a:p>
        </p:txBody>
      </p:sp>
      <p:sp>
        <p:nvSpPr>
          <p:cNvPr id="21" name="TextBox 20"/>
          <p:cNvSpPr txBox="1"/>
          <p:nvPr/>
        </p:nvSpPr>
        <p:spPr>
          <a:xfrm>
            <a:off x="5593842" y="2327402"/>
            <a:ext cx="1291589" cy="288036"/>
          </a:xfrm>
          <a:prstGeom prst="rect">
            <a:avLst/>
          </a:prstGeom>
          <a:noFill/>
        </p:spPr>
        <p:txBody>
          <a:bodyPr wrap="square" lIns="0" rIns="0" tIns="0" bIns="0">
            <a:spAutoFit/>
          </a:bodyPr>
          <a:lstStyle/>
          <a:p>
            <a:pPr algn="l">
              <a:lnSpc>
                <a:spcPts val="990"/>
              </a:lnSpc>
            </a:pPr>
            <a:r>
              <a:rPr sz="750" b="0">
                <a:solidFill>
                  <a:srgbClr val="6E7077"/>
                </a:solidFill>
                <a:latin typeface="Diodrum Arabic"/>
                <a:ea typeface="Diodrum Arabic"/>
                <a:cs typeface="Diodrum Arabic"/>
              </a:rPr>
              <a:t>Used for policies and official figures.</a:t>
            </a:r>
          </a:p>
        </p:txBody>
      </p:sp>
      <p:sp>
        <p:nvSpPr>
          <p:cNvPr id="22" name="Rounded Rectangle 21"/>
          <p:cNvSpPr/>
          <p:nvPr/>
        </p:nvSpPr>
        <p:spPr>
          <a:xfrm>
            <a:off x="566928" y="2816606"/>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76656" y="2926334"/>
            <a:ext cx="274320" cy="219456"/>
          </a:xfrm>
          <a:prstGeom prst="roundRect">
            <a:avLst>
              <a:gd name="adj" fmla="val 25000"/>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N</a:t>
            </a:r>
          </a:p>
        </p:txBody>
      </p:sp>
      <p:sp>
        <p:nvSpPr>
          <p:cNvPr id="24" name="TextBox 23"/>
          <p:cNvSpPr txBox="1"/>
          <p:nvPr/>
        </p:nvSpPr>
        <p:spPr>
          <a:xfrm>
            <a:off x="676656" y="3237230"/>
            <a:ext cx="1291589" cy="182880"/>
          </a:xfrm>
          <a:prstGeom prst="rect">
            <a:avLst/>
          </a:prstGeom>
          <a:noFill/>
        </p:spPr>
        <p:txBody>
          <a:bodyPr wrap="square" lIns="0" rIns="0" tIns="0" bIns="0">
            <a:spAutoFit/>
          </a:bodyPr>
          <a:lstStyle/>
          <a:p>
            <a:pPr algn="l">
              <a:lnSpc>
                <a:spcPts val="1152"/>
              </a:lnSpc>
            </a:pPr>
            <a:r>
              <a:rPr sz="900" b="0">
                <a:solidFill>
                  <a:srgbClr val="232046"/>
                </a:solidFill>
                <a:latin typeface="Diodrum Arabic SemiBold"/>
                <a:ea typeface="Diodrum Arabic SemiBold"/>
                <a:cs typeface="Diodrum Arabic SemiBold"/>
              </a:rPr>
              <a:t>Established press source</a:t>
            </a:r>
          </a:p>
        </p:txBody>
      </p:sp>
      <p:sp>
        <p:nvSpPr>
          <p:cNvPr id="25" name="TextBox 24"/>
          <p:cNvSpPr txBox="1"/>
          <p:nvPr/>
        </p:nvSpPr>
        <p:spPr>
          <a:xfrm>
            <a:off x="676656" y="3420110"/>
            <a:ext cx="1291589" cy="288036"/>
          </a:xfrm>
          <a:prstGeom prst="rect">
            <a:avLst/>
          </a:prstGeom>
          <a:noFill/>
        </p:spPr>
        <p:txBody>
          <a:bodyPr wrap="square" lIns="0" rIns="0" tIns="0" bIns="0">
            <a:spAutoFit/>
          </a:bodyPr>
          <a:lstStyle/>
          <a:p>
            <a:pPr algn="l">
              <a:lnSpc>
                <a:spcPts val="990"/>
              </a:lnSpc>
            </a:pPr>
            <a:r>
              <a:rPr sz="750" b="0">
                <a:solidFill>
                  <a:srgbClr val="6E7077"/>
                </a:solidFill>
                <a:latin typeface="Diodrum Arabic"/>
                <a:ea typeface="Diodrum Arabic"/>
                <a:cs typeface="Diodrum Arabic"/>
              </a:rPr>
              <a:t>Documents the event; read alongside other sources.</a:t>
            </a:r>
          </a:p>
        </p:txBody>
      </p:sp>
      <p:sp>
        <p:nvSpPr>
          <p:cNvPr id="26" name="Rounded Rectangle 25"/>
          <p:cNvSpPr/>
          <p:nvPr/>
        </p:nvSpPr>
        <p:spPr>
          <a:xfrm>
            <a:off x="2205990" y="2816606"/>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315718" y="2926334"/>
            <a:ext cx="274320" cy="219456"/>
          </a:xfrm>
          <a:prstGeom prst="roundRect">
            <a:avLst>
              <a:gd name="adj" fmla="val 25000"/>
            </a:avLst>
          </a:prstGeom>
          <a:solidFill>
            <a:srgbClr val="6E707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I</a:t>
            </a:r>
          </a:p>
        </p:txBody>
      </p:sp>
      <p:sp>
        <p:nvSpPr>
          <p:cNvPr id="28" name="TextBox 27"/>
          <p:cNvSpPr txBox="1"/>
          <p:nvPr/>
        </p:nvSpPr>
        <p:spPr>
          <a:xfrm>
            <a:off x="2315718" y="3237230"/>
            <a:ext cx="1291589" cy="182880"/>
          </a:xfrm>
          <a:prstGeom prst="rect">
            <a:avLst/>
          </a:prstGeom>
          <a:noFill/>
        </p:spPr>
        <p:txBody>
          <a:bodyPr wrap="square" lIns="0" rIns="0" tIns="0" bIns="0">
            <a:spAutoFit/>
          </a:bodyPr>
          <a:lstStyle/>
          <a:p>
            <a:pPr algn="l">
              <a:lnSpc>
                <a:spcPts val="1152"/>
              </a:lnSpc>
            </a:pPr>
            <a:r>
              <a:rPr sz="900" b="0">
                <a:solidFill>
                  <a:srgbClr val="232046"/>
                </a:solidFill>
                <a:latin typeface="Diodrum Arabic SemiBold"/>
                <a:ea typeface="Diodrum Arabic SemiBold"/>
                <a:cs typeface="Diodrum Arabic SemiBold"/>
              </a:rPr>
              <a:t>Sponsor input</a:t>
            </a:r>
          </a:p>
        </p:txBody>
      </p:sp>
      <p:sp>
        <p:nvSpPr>
          <p:cNvPr id="29" name="TextBox 28"/>
          <p:cNvSpPr txBox="1"/>
          <p:nvPr/>
        </p:nvSpPr>
        <p:spPr>
          <a:xfrm>
            <a:off x="2315718" y="3420110"/>
            <a:ext cx="1291589" cy="288036"/>
          </a:xfrm>
          <a:prstGeom prst="rect">
            <a:avLst/>
          </a:prstGeom>
          <a:noFill/>
        </p:spPr>
        <p:txBody>
          <a:bodyPr wrap="square" lIns="0" rIns="0" tIns="0" bIns="0">
            <a:spAutoFit/>
          </a:bodyPr>
          <a:lstStyle/>
          <a:p>
            <a:pPr algn="l">
              <a:lnSpc>
                <a:spcPts val="990"/>
              </a:lnSpc>
            </a:pPr>
            <a:r>
              <a:rPr sz="750" b="0">
                <a:solidFill>
                  <a:srgbClr val="6E7077"/>
                </a:solidFill>
                <a:latin typeface="Diodrum Arabic"/>
                <a:ea typeface="Diodrum Arabic"/>
                <a:cs typeface="Diodrum Arabic"/>
              </a:rPr>
              <a:t>Represents the internal context of the commission.</a:t>
            </a:r>
          </a:p>
        </p:txBody>
      </p:sp>
      <p:sp>
        <p:nvSpPr>
          <p:cNvPr id="30" name="Rounded Rectangle 29"/>
          <p:cNvSpPr/>
          <p:nvPr/>
        </p:nvSpPr>
        <p:spPr>
          <a:xfrm>
            <a:off x="3845052" y="2816606"/>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954780" y="2926334"/>
            <a:ext cx="274320" cy="219456"/>
          </a:xfrm>
          <a:prstGeom prst="roundRect">
            <a:avLst>
              <a:gd name="adj" fmla="val 25000"/>
            </a:avLst>
          </a:prstGeom>
          <a:solidFill>
            <a:srgbClr val="23204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J</a:t>
            </a:r>
          </a:p>
        </p:txBody>
      </p:sp>
      <p:sp>
        <p:nvSpPr>
          <p:cNvPr id="32" name="TextBox 31"/>
          <p:cNvSpPr txBox="1"/>
          <p:nvPr/>
        </p:nvSpPr>
        <p:spPr>
          <a:xfrm>
            <a:off x="3954780" y="3237230"/>
            <a:ext cx="1291589" cy="182880"/>
          </a:xfrm>
          <a:prstGeom prst="rect">
            <a:avLst/>
          </a:prstGeom>
          <a:noFill/>
        </p:spPr>
        <p:txBody>
          <a:bodyPr wrap="square" lIns="0" rIns="0" tIns="0" bIns="0">
            <a:spAutoFit/>
          </a:bodyPr>
          <a:lstStyle/>
          <a:p>
            <a:pPr algn="l">
              <a:lnSpc>
                <a:spcPts val="1152"/>
              </a:lnSpc>
            </a:pPr>
            <a:r>
              <a:rPr sz="900" b="0">
                <a:solidFill>
                  <a:srgbClr val="232046"/>
                </a:solidFill>
                <a:latin typeface="Diodrum Arabic SemiBold"/>
                <a:ea typeface="Diodrum Arabic SemiBold"/>
                <a:cs typeface="Diodrum Arabic SemiBold"/>
              </a:rPr>
              <a:t>Analytical judgement</a:t>
            </a:r>
          </a:p>
        </p:txBody>
      </p:sp>
      <p:sp>
        <p:nvSpPr>
          <p:cNvPr id="33" name="TextBox 32"/>
          <p:cNvSpPr txBox="1"/>
          <p:nvPr/>
        </p:nvSpPr>
        <p:spPr>
          <a:xfrm>
            <a:off x="3954780" y="3420110"/>
            <a:ext cx="1291589" cy="288036"/>
          </a:xfrm>
          <a:prstGeom prst="rect">
            <a:avLst/>
          </a:prstGeom>
          <a:noFill/>
        </p:spPr>
        <p:txBody>
          <a:bodyPr wrap="square" lIns="0" rIns="0" tIns="0" bIns="0">
            <a:spAutoFit/>
          </a:bodyPr>
          <a:lstStyle/>
          <a:p>
            <a:pPr algn="l">
              <a:lnSpc>
                <a:spcPts val="990"/>
              </a:lnSpc>
            </a:pPr>
            <a:r>
              <a:rPr sz="750" b="0">
                <a:solidFill>
                  <a:srgbClr val="6E7077"/>
                </a:solidFill>
                <a:latin typeface="Diodrum Arabic"/>
                <a:ea typeface="Diodrum Arabic"/>
                <a:cs typeface="Diodrum Arabic"/>
              </a:rPr>
              <a:t>Built by combining more than one piece of evidence.</a:t>
            </a:r>
          </a:p>
        </p:txBody>
      </p:sp>
      <p:sp>
        <p:nvSpPr>
          <p:cNvPr id="34" name="Rounded Rectangle 33"/>
          <p:cNvSpPr/>
          <p:nvPr/>
        </p:nvSpPr>
        <p:spPr>
          <a:xfrm>
            <a:off x="5484114" y="2816606"/>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593842" y="2926334"/>
            <a:ext cx="274320" cy="219456"/>
          </a:xfrm>
          <a:prstGeom prst="roundRect">
            <a:avLst>
              <a:gd name="adj" fmla="val 25000"/>
            </a:avLst>
          </a:prstGeom>
          <a:solidFill>
            <a:srgbClr val="C845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T</a:t>
            </a:r>
          </a:p>
        </p:txBody>
      </p:sp>
      <p:sp>
        <p:nvSpPr>
          <p:cNvPr id="36" name="TextBox 35"/>
          <p:cNvSpPr txBox="1"/>
          <p:nvPr/>
        </p:nvSpPr>
        <p:spPr>
          <a:xfrm>
            <a:off x="5593842" y="3237230"/>
            <a:ext cx="1291589" cy="182880"/>
          </a:xfrm>
          <a:prstGeom prst="rect">
            <a:avLst/>
          </a:prstGeom>
          <a:noFill/>
        </p:spPr>
        <p:txBody>
          <a:bodyPr wrap="square" lIns="0" rIns="0" tIns="0" bIns="0">
            <a:spAutoFit/>
          </a:bodyPr>
          <a:lstStyle/>
          <a:p>
            <a:pPr algn="l">
              <a:lnSpc>
                <a:spcPts val="1152"/>
              </a:lnSpc>
            </a:pPr>
            <a:r>
              <a:rPr sz="900" b="0">
                <a:solidFill>
                  <a:srgbClr val="232046"/>
                </a:solidFill>
                <a:latin typeface="Diodrum Arabic SemiBold"/>
                <a:ea typeface="Diodrum Arabic SemiBold"/>
                <a:cs typeface="Diodrum Arabic SemiBold"/>
              </a:rPr>
              <a:t>Indicative estimate</a:t>
            </a:r>
          </a:p>
        </p:txBody>
      </p:sp>
      <p:sp>
        <p:nvSpPr>
          <p:cNvPr id="37" name="TextBox 36"/>
          <p:cNvSpPr txBox="1"/>
          <p:nvPr/>
        </p:nvSpPr>
        <p:spPr>
          <a:xfrm>
            <a:off x="5593842" y="3420110"/>
            <a:ext cx="1291589" cy="164592"/>
          </a:xfrm>
          <a:prstGeom prst="rect">
            <a:avLst/>
          </a:prstGeom>
          <a:noFill/>
        </p:spPr>
        <p:txBody>
          <a:bodyPr wrap="square" lIns="0" rIns="0" tIns="0" bIns="0">
            <a:spAutoFit/>
          </a:bodyPr>
          <a:lstStyle/>
          <a:p>
            <a:pPr algn="l">
              <a:lnSpc>
                <a:spcPts val="990"/>
              </a:lnSpc>
            </a:pPr>
            <a:r>
              <a:rPr sz="750" b="0">
                <a:solidFill>
                  <a:srgbClr val="6E7077"/>
                </a:solidFill>
                <a:latin typeface="Diodrum Arabic"/>
                <a:ea typeface="Diodrum Arabic"/>
                <a:cs typeface="Diodrum Arabic"/>
              </a:rPr>
              <a:t>Built on stated assumptions.</a:t>
            </a:r>
          </a:p>
        </p:txBody>
      </p:sp>
      <p:sp>
        <p:nvSpPr>
          <p:cNvPr id="38" name="Rounded Rectangle 37"/>
          <p:cNvSpPr/>
          <p:nvPr/>
        </p:nvSpPr>
        <p:spPr>
          <a:xfrm>
            <a:off x="566928" y="4000754"/>
            <a:ext cx="6428231" cy="1070038"/>
          </a:xfrm>
          <a:prstGeom prst="roundRect">
            <a:avLst>
              <a:gd name="adj" fmla="val 769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4165346"/>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ONE DECLARATION, USED THROUGHOUT</a:t>
            </a:r>
          </a:p>
        </p:txBody>
      </p:sp>
      <p:sp>
        <p:nvSpPr>
          <p:cNvPr id="40" name="TextBox 39"/>
          <p:cNvSpPr txBox="1"/>
          <p:nvPr/>
        </p:nvSpPr>
        <p:spPr>
          <a:xfrm>
            <a:off x="731520" y="4374896"/>
            <a:ext cx="6099047" cy="523494"/>
          </a:xfrm>
          <a:prstGeom prst="rect">
            <a:avLst/>
          </a:prstGeom>
          <a:noFill/>
        </p:spPr>
        <p:txBody>
          <a:bodyPr wrap="square" lIns="0" rIns="0" tIns="0" bIns="0">
            <a:spAutoFit/>
          </a:bodyPr>
          <a:lstStyle/>
          <a:p>
            <a:pPr algn="just">
              <a:lnSpc>
                <a:spcPts val="1278"/>
              </a:lnSpc>
            </a:pPr>
            <a:r>
              <a:rPr sz="900" b="0">
                <a:solidFill>
                  <a:srgbClr val="474956"/>
                </a:solidFill>
                <a:latin typeface="Diodrum Arabic"/>
                <a:ea typeface="Diodrum Arabic"/>
                <a:cs typeface="Diodrum Arabic"/>
              </a:rPr>
              <a:t>These codes are presented once here and then used wherever needed without repeated explanation. Provider announcements (P) establish design, never impact; analytical judgements (J) and indicative estimates (T) are the study’s own and are marked as such.</a:t>
            </a:r>
          </a:p>
        </p:txBody>
      </p:sp>
      <p:sp>
        <p:nvSpPr>
          <p:cNvPr id="41" name="Rectangle 40"/>
          <p:cNvSpPr/>
          <p:nvPr/>
        </p:nvSpPr>
        <p:spPr>
          <a:xfrm>
            <a:off x="566928" y="5253672"/>
            <a:ext cx="45720" cy="405384"/>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262816"/>
            <a:ext cx="6199631" cy="387095"/>
          </a:xfrm>
          <a:prstGeom prst="rect">
            <a:avLst/>
          </a:prstGeom>
          <a:noFill/>
        </p:spPr>
        <p:txBody>
          <a:bodyPr wrap="square" lIns="0" rIns="0" tIns="0" bIns="0">
            <a:spAutoFit/>
          </a:bodyPr>
          <a:lstStyle/>
          <a:p>
            <a:pPr algn="l">
              <a:lnSpc>
                <a:spcPts val="1380"/>
              </a:lnSpc>
            </a:pPr>
            <a:r>
              <a:rPr sz="1000" b="0">
                <a:solidFill>
                  <a:srgbClr val="232046"/>
                </a:solidFill>
                <a:latin typeface="Diodrum Arabic SemiBold"/>
                <a:ea typeface="Diodrum Arabic SemiBold"/>
                <a:cs typeface="Diodrum Arabic SemiBold"/>
              </a:rPr>
              <a:t>With the scope and the evidence system fixed, the next two pages read the global demand indicators and the Kingdom’s position within them.</a:t>
            </a:r>
          </a:p>
        </p:txBody>
      </p:sp>
      <p:sp>
        <p:nvSpPr>
          <p:cNvPr id="43" name="Rectangle 42"/>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45" name="TextBox 44"/>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01 · 1.4  GLOBAL DEMAND INDICATORS</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Adoption is widening; high financial impact remains rare</a:t>
            </a:r>
          </a:p>
        </p:txBody>
      </p:sp>
      <p:sp>
        <p:nvSpPr>
          <p:cNvPr id="4" name="TextBox 3"/>
          <p:cNvSpPr txBox="1"/>
          <p:nvPr/>
        </p:nvSpPr>
        <p:spPr>
          <a:xfrm>
            <a:off x="566928" y="1401318"/>
            <a:ext cx="6428231" cy="374395"/>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The figures below are indicators of the need to develop leadership capability — not causal proof that leadership is the sole factor in the value gap.</a:t>
            </a:r>
          </a:p>
        </p:txBody>
      </p:sp>
      <p:sp>
        <p:nvSpPr>
          <p:cNvPr id="5" name="Rectangle 4"/>
          <p:cNvSpPr/>
          <p:nvPr/>
        </p:nvSpPr>
        <p:spPr>
          <a:xfrm>
            <a:off x="566928" y="183057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2013458"/>
            <a:ext cx="2045207" cy="1304226"/>
          </a:xfrm>
          <a:prstGeom prst="roundRect">
            <a:avLst>
              <a:gd name="adj" fmla="val 6309"/>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59762"/>
            <a:ext cx="1752599" cy="356616"/>
          </a:xfrm>
          <a:prstGeom prst="rect">
            <a:avLst/>
          </a:prstGeom>
          <a:noFill/>
        </p:spPr>
        <p:txBody>
          <a:bodyPr wrap="square" lIns="0" rIns="0" tIns="0" bIns="0">
            <a:spAutoFit/>
          </a:bodyPr>
          <a:lstStyle/>
          <a:p>
            <a:pPr algn="l">
              <a:lnSpc>
                <a:spcPts val="2520"/>
              </a:lnSpc>
            </a:pPr>
            <a:r>
              <a:rPr sz="2400" b="1">
                <a:solidFill>
                  <a:srgbClr val="7C32C9"/>
                </a:solidFill>
                <a:latin typeface="Diodrum Arabic"/>
                <a:ea typeface="Diodrum Arabic"/>
                <a:cs typeface="Diodrum Arabic"/>
              </a:rPr>
              <a:t>78% → 88%</a:t>
            </a:r>
          </a:p>
        </p:txBody>
      </p:sp>
      <p:sp>
        <p:nvSpPr>
          <p:cNvPr id="8" name="TextBox 7"/>
          <p:cNvSpPr txBox="1"/>
          <p:nvPr/>
        </p:nvSpPr>
        <p:spPr>
          <a:xfrm>
            <a:off x="713232" y="2568194"/>
            <a:ext cx="1752599" cy="328041"/>
          </a:xfrm>
          <a:prstGeom prst="rect">
            <a:avLst/>
          </a:prstGeom>
          <a:noFill/>
        </p:spPr>
        <p:txBody>
          <a:bodyPr wrap="square" lIns="0" rIns="0" tIns="0" bIns="0">
            <a:spAutoFit/>
          </a:bodyPr>
          <a:lstStyle/>
          <a:p>
            <a:pPr algn="l">
              <a:lnSpc>
                <a:spcPts val="1147"/>
              </a:lnSpc>
            </a:pPr>
            <a:r>
              <a:rPr sz="850" b="0">
                <a:solidFill>
                  <a:srgbClr val="474956"/>
                </a:solidFill>
                <a:latin typeface="Diodrum Arabic"/>
                <a:ea typeface="Diodrum Arabic"/>
                <a:cs typeface="Diodrum Arabic"/>
              </a:rPr>
              <a:t>organisations using AI, March to November 2025</a:t>
            </a:r>
          </a:p>
        </p:txBody>
      </p:sp>
      <p:sp>
        <p:nvSpPr>
          <p:cNvPr id="9" name="TextBox 8"/>
          <p:cNvSpPr txBox="1"/>
          <p:nvPr/>
        </p:nvSpPr>
        <p:spPr>
          <a:xfrm>
            <a:off x="713232" y="2914523"/>
            <a:ext cx="1752599" cy="164592"/>
          </a:xfrm>
          <a:prstGeom prst="rect">
            <a:avLst/>
          </a:prstGeom>
          <a:noFill/>
        </p:spPr>
        <p:txBody>
          <a:bodyPr wrap="square" lIns="0" rIns="0" tIns="0" bIns="0">
            <a:spAutoFit/>
          </a:bodyPr>
          <a:lstStyle/>
          <a:p>
            <a:pPr algn="l">
              <a:lnSpc>
                <a:spcPts val="875"/>
              </a:lnSpc>
            </a:pPr>
            <a:r>
              <a:rPr sz="700" b="0">
                <a:solidFill>
                  <a:srgbClr val="6E7077"/>
                </a:solidFill>
                <a:latin typeface="Diodrum Arabic"/>
                <a:ea typeface="Diodrum Arabic"/>
                <a:cs typeface="Diodrum Arabic"/>
              </a:rPr>
              <a:t>McKinsey surveys [2][3]</a:t>
            </a:r>
          </a:p>
        </p:txBody>
      </p:sp>
      <p:sp>
        <p:nvSpPr>
          <p:cNvPr id="10" name="Rounded Rectangle 9"/>
          <p:cNvSpPr/>
          <p:nvPr/>
        </p:nvSpPr>
        <p:spPr>
          <a:xfrm>
            <a:off x="2758440" y="2013458"/>
            <a:ext cx="2045207" cy="1304226"/>
          </a:xfrm>
          <a:prstGeom prst="roundRect">
            <a:avLst>
              <a:gd name="adj" fmla="val 6309"/>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04744" y="2159762"/>
            <a:ext cx="1752599" cy="356616"/>
          </a:xfrm>
          <a:prstGeom prst="rect">
            <a:avLst/>
          </a:prstGeom>
          <a:noFill/>
        </p:spPr>
        <p:txBody>
          <a:bodyPr wrap="square" lIns="0" rIns="0" tIns="0" bIns="0">
            <a:spAutoFit/>
          </a:bodyPr>
          <a:lstStyle/>
          <a:p>
            <a:pPr algn="l">
              <a:lnSpc>
                <a:spcPts val="2520"/>
              </a:lnSpc>
            </a:pPr>
            <a:r>
              <a:rPr sz="2400" b="1">
                <a:solidFill>
                  <a:srgbClr val="00ABAF"/>
                </a:solidFill>
                <a:latin typeface="Diodrum Arabic"/>
                <a:ea typeface="Diodrum Arabic"/>
                <a:cs typeface="Diodrum Arabic"/>
              </a:rPr>
              <a:t>≈ 6%</a:t>
            </a:r>
          </a:p>
        </p:txBody>
      </p:sp>
      <p:sp>
        <p:nvSpPr>
          <p:cNvPr id="12" name="TextBox 11"/>
          <p:cNvSpPr txBox="1"/>
          <p:nvPr/>
        </p:nvSpPr>
        <p:spPr>
          <a:xfrm>
            <a:off x="2904744" y="2568194"/>
            <a:ext cx="1752599" cy="473773"/>
          </a:xfrm>
          <a:prstGeom prst="rect">
            <a:avLst/>
          </a:prstGeom>
          <a:noFill/>
        </p:spPr>
        <p:txBody>
          <a:bodyPr wrap="square" lIns="0" rIns="0" tIns="0" bIns="0">
            <a:spAutoFit/>
          </a:bodyPr>
          <a:lstStyle/>
          <a:p>
            <a:pPr algn="l">
              <a:lnSpc>
                <a:spcPts val="1147"/>
              </a:lnSpc>
            </a:pPr>
            <a:r>
              <a:rPr sz="850" b="0">
                <a:solidFill>
                  <a:srgbClr val="474956"/>
                </a:solidFill>
                <a:latin typeface="Diodrum Arabic"/>
                <a:ea typeface="Diodrum Arabic"/>
                <a:cs typeface="Diodrum Arabic"/>
              </a:rPr>
              <a:t>“high performers” deriving more than 5% of operating earnings from AI</a:t>
            </a:r>
          </a:p>
        </p:txBody>
      </p:sp>
      <p:sp>
        <p:nvSpPr>
          <p:cNvPr id="13" name="TextBox 12"/>
          <p:cNvSpPr txBox="1"/>
          <p:nvPr/>
        </p:nvSpPr>
        <p:spPr>
          <a:xfrm>
            <a:off x="2904744" y="3060255"/>
            <a:ext cx="1752599" cy="164592"/>
          </a:xfrm>
          <a:prstGeom prst="rect">
            <a:avLst/>
          </a:prstGeom>
          <a:noFill/>
        </p:spPr>
        <p:txBody>
          <a:bodyPr wrap="square" lIns="0" rIns="0" tIns="0" bIns="0">
            <a:spAutoFit/>
          </a:bodyPr>
          <a:lstStyle/>
          <a:p>
            <a:pPr algn="l">
              <a:lnSpc>
                <a:spcPts val="875"/>
              </a:lnSpc>
            </a:pPr>
            <a:r>
              <a:rPr sz="700" b="0">
                <a:solidFill>
                  <a:srgbClr val="6E7077"/>
                </a:solidFill>
                <a:latin typeface="Diodrum Arabic"/>
                <a:ea typeface="Diodrum Arabic"/>
                <a:cs typeface="Diodrum Arabic"/>
              </a:rPr>
              <a:t>McKinsey [3]</a:t>
            </a:r>
          </a:p>
        </p:txBody>
      </p:sp>
      <p:sp>
        <p:nvSpPr>
          <p:cNvPr id="14" name="Rounded Rectangle 13"/>
          <p:cNvSpPr/>
          <p:nvPr/>
        </p:nvSpPr>
        <p:spPr>
          <a:xfrm>
            <a:off x="4949952" y="2013458"/>
            <a:ext cx="2045207" cy="1304226"/>
          </a:xfrm>
          <a:prstGeom prst="roundRect">
            <a:avLst>
              <a:gd name="adj" fmla="val 6309"/>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96256" y="2159762"/>
            <a:ext cx="1752599" cy="356616"/>
          </a:xfrm>
          <a:prstGeom prst="rect">
            <a:avLst/>
          </a:prstGeom>
          <a:noFill/>
        </p:spPr>
        <p:txBody>
          <a:bodyPr wrap="square" lIns="0" rIns="0" tIns="0" bIns="0">
            <a:spAutoFit/>
          </a:bodyPr>
          <a:lstStyle/>
          <a:p>
            <a:pPr algn="l">
              <a:lnSpc>
                <a:spcPts val="2520"/>
              </a:lnSpc>
            </a:pPr>
            <a:r>
              <a:rPr sz="2400" b="1">
                <a:solidFill>
                  <a:srgbClr val="1CC182"/>
                </a:solidFill>
                <a:latin typeface="Diodrum Arabic"/>
                <a:ea typeface="Diodrum Arabic"/>
                <a:cs typeface="Diodrum Arabic"/>
              </a:rPr>
              <a:t>32 / 36</a:t>
            </a:r>
          </a:p>
        </p:txBody>
      </p:sp>
      <p:sp>
        <p:nvSpPr>
          <p:cNvPr id="16" name="TextBox 15"/>
          <p:cNvSpPr txBox="1"/>
          <p:nvPr/>
        </p:nvSpPr>
        <p:spPr>
          <a:xfrm>
            <a:off x="5096256" y="2568194"/>
            <a:ext cx="1752599" cy="473773"/>
          </a:xfrm>
          <a:prstGeom prst="rect">
            <a:avLst/>
          </a:prstGeom>
          <a:noFill/>
        </p:spPr>
        <p:txBody>
          <a:bodyPr wrap="square" lIns="0" rIns="0" tIns="0" bIns="0">
            <a:spAutoFit/>
          </a:bodyPr>
          <a:lstStyle/>
          <a:p>
            <a:pPr algn="l">
              <a:lnSpc>
                <a:spcPts val="1147"/>
              </a:lnSpc>
            </a:pPr>
            <a:r>
              <a:rPr sz="850" b="0">
                <a:solidFill>
                  <a:srgbClr val="474956"/>
                </a:solidFill>
                <a:latin typeface="Diodrum Arabic"/>
                <a:ea typeface="Diodrum Arabic"/>
                <a:cs typeface="Diodrum Arabic"/>
              </a:rPr>
              <a:t>OECD countries announcing government AI training programmes</a:t>
            </a:r>
          </a:p>
        </p:txBody>
      </p:sp>
      <p:sp>
        <p:nvSpPr>
          <p:cNvPr id="17" name="TextBox 16"/>
          <p:cNvSpPr txBox="1"/>
          <p:nvPr/>
        </p:nvSpPr>
        <p:spPr>
          <a:xfrm>
            <a:off x="5096256" y="3060255"/>
            <a:ext cx="1752599" cy="164592"/>
          </a:xfrm>
          <a:prstGeom prst="rect">
            <a:avLst/>
          </a:prstGeom>
          <a:noFill/>
        </p:spPr>
        <p:txBody>
          <a:bodyPr wrap="square" lIns="0" rIns="0" tIns="0" bIns="0">
            <a:spAutoFit/>
          </a:bodyPr>
          <a:lstStyle/>
          <a:p>
            <a:pPr algn="l">
              <a:lnSpc>
                <a:spcPts val="875"/>
              </a:lnSpc>
            </a:pPr>
            <a:r>
              <a:rPr sz="700" b="0">
                <a:solidFill>
                  <a:srgbClr val="6E7077"/>
                </a:solidFill>
                <a:latin typeface="Diodrum Arabic"/>
                <a:ea typeface="Diodrum Arabic"/>
                <a:cs typeface="Diodrum Arabic"/>
              </a:rPr>
              <a:t>OECD [14]</a:t>
            </a:r>
          </a:p>
        </p:txBody>
      </p:sp>
      <p:sp>
        <p:nvSpPr>
          <p:cNvPr id="18" name="TextBox 17"/>
          <p:cNvSpPr txBox="1"/>
          <p:nvPr/>
        </p:nvSpPr>
        <p:spPr>
          <a:xfrm>
            <a:off x="566928" y="3500564"/>
            <a:ext cx="6428231" cy="721868"/>
          </a:xfrm>
          <a:prstGeom prst="rect">
            <a:avLst/>
          </a:prstGeom>
          <a:noFill/>
        </p:spPr>
        <p:txBody>
          <a:bodyPr wrap="square" lIns="0" rIns="0" tIns="0" bIns="0">
            <a:spAutoFit/>
          </a:bodyPr>
          <a:lstStyle/>
          <a:p>
            <a:pPr algn="just">
              <a:lnSpc>
                <a:spcPts val="1348"/>
              </a:lnSpc>
            </a:pPr>
            <a:r>
              <a:rPr sz="950" b="0">
                <a:solidFill>
                  <a:srgbClr val="474956"/>
                </a:solidFill>
                <a:latin typeface="Diodrum Arabic"/>
                <a:ea typeface="Diodrum Arabic"/>
                <a:cs typeface="Diodrum Arabic"/>
              </a:rPr>
              <a:t>Gartner surveys likewise show that a number of chief executives consider current leadership teams and operating models not yet at the level of readiness required for AI [4][5][6]. In the public sector, Deloitte and Accenture findings point to a gap between deploying tools and the readiness of leaders and the workforce to use them at institutional scale [7][8].</a:t>
            </a:r>
          </a:p>
        </p:txBody>
      </p:sp>
      <p:sp>
        <p:nvSpPr>
          <p:cNvPr id="19" name="Rounded Rectangle 18"/>
          <p:cNvSpPr/>
          <p:nvPr/>
        </p:nvSpPr>
        <p:spPr>
          <a:xfrm>
            <a:off x="566928" y="4313872"/>
            <a:ext cx="6428231" cy="1070038"/>
          </a:xfrm>
          <a:prstGeom prst="roundRect">
            <a:avLst>
              <a:gd name="adj" fmla="val 769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478464"/>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WHAT THE INDICATORS SUPPORT</a:t>
            </a:r>
          </a:p>
        </p:txBody>
      </p:sp>
      <p:sp>
        <p:nvSpPr>
          <p:cNvPr id="21" name="TextBox 20"/>
          <p:cNvSpPr txBox="1"/>
          <p:nvPr/>
        </p:nvSpPr>
        <p:spPr>
          <a:xfrm>
            <a:off x="731520" y="4688014"/>
            <a:ext cx="6099047" cy="523494"/>
          </a:xfrm>
          <a:prstGeom prst="rect">
            <a:avLst/>
          </a:prstGeom>
          <a:noFill/>
        </p:spPr>
        <p:txBody>
          <a:bodyPr wrap="square" lIns="0" rIns="0" tIns="0" bIns="0">
            <a:spAutoFit/>
          </a:bodyPr>
          <a:lstStyle/>
          <a:p>
            <a:pPr algn="just">
              <a:lnSpc>
                <a:spcPts val="1278"/>
              </a:lnSpc>
            </a:pPr>
            <a:r>
              <a:rPr sz="900" b="0">
                <a:solidFill>
                  <a:srgbClr val="474956"/>
                </a:solidFill>
                <a:latin typeface="Diodrum Arabic"/>
                <a:ea typeface="Diodrum Arabic"/>
                <a:cs typeface="Diodrum Arabic"/>
              </a:rPr>
              <a:t>Together, these indicators support the need to develop leaders’ capability in governance, prioritisation, and implementation follow-up. They are demand signals, read within the limits of each survey’s sample and methodology — not proof of causality.</a:t>
            </a:r>
          </a:p>
        </p:txBody>
      </p:sp>
      <p:sp>
        <p:nvSpPr>
          <p:cNvPr id="22" name="Rectangle 2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24" name="TextBox 23"/>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01 · 1.4  THE KINGDOM’S POSITION</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An advanced national environment — and the question it leaves open</a:t>
            </a:r>
          </a:p>
        </p:txBody>
      </p:sp>
      <p:sp>
        <p:nvSpPr>
          <p:cNvPr id="4" name="TextBox 3"/>
          <p:cNvSpPr txBox="1"/>
          <p:nvPr/>
        </p:nvSpPr>
        <p:spPr>
          <a:xfrm>
            <a:off x="566928" y="1401318"/>
            <a:ext cx="6428231" cy="374395"/>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The national indices place the Kingdom at the front of the region; they measure the environment, not the readiness of each leadership level.</a:t>
            </a:r>
          </a:p>
        </p:txBody>
      </p:sp>
      <p:sp>
        <p:nvSpPr>
          <p:cNvPr id="5" name="Rectangle 4"/>
          <p:cNvSpPr/>
          <p:nvPr/>
        </p:nvSpPr>
        <p:spPr>
          <a:xfrm>
            <a:off x="566928" y="183057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2013458"/>
            <a:ext cx="3140963" cy="1158494"/>
          </a:xfrm>
          <a:prstGeom prst="roundRect">
            <a:avLst>
              <a:gd name="adj" fmla="val 710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59762"/>
            <a:ext cx="2848356" cy="676656"/>
          </a:xfrm>
          <a:prstGeom prst="rect">
            <a:avLst/>
          </a:prstGeom>
          <a:noFill/>
        </p:spPr>
        <p:txBody>
          <a:bodyPr wrap="square" lIns="0" rIns="0" tIns="0" bIns="0">
            <a:spAutoFit/>
          </a:bodyPr>
          <a:lstStyle/>
          <a:p>
            <a:pPr algn="l">
              <a:lnSpc>
                <a:spcPts val="2520"/>
              </a:lnSpc>
            </a:pPr>
            <a:r>
              <a:rPr sz="2400" b="1">
                <a:solidFill>
                  <a:srgbClr val="7C32C9"/>
                </a:solidFill>
                <a:latin typeface="Diodrum Arabic"/>
                <a:ea typeface="Diodrum Arabic"/>
                <a:cs typeface="Diodrum Arabic"/>
              </a:rPr>
              <a:t>14th globally · 1st Arab</a:t>
            </a:r>
          </a:p>
        </p:txBody>
      </p:sp>
      <p:sp>
        <p:nvSpPr>
          <p:cNvPr id="8" name="TextBox 7"/>
          <p:cNvSpPr txBox="1"/>
          <p:nvPr/>
        </p:nvSpPr>
        <p:spPr>
          <a:xfrm>
            <a:off x="713232" y="2568194"/>
            <a:ext cx="2848356" cy="328041"/>
          </a:xfrm>
          <a:prstGeom prst="rect">
            <a:avLst/>
          </a:prstGeom>
          <a:noFill/>
        </p:spPr>
        <p:txBody>
          <a:bodyPr wrap="square" lIns="0" rIns="0" tIns="0" bIns="0">
            <a:spAutoFit/>
          </a:bodyPr>
          <a:lstStyle/>
          <a:p>
            <a:pPr algn="l">
              <a:lnSpc>
                <a:spcPts val="1147"/>
              </a:lnSpc>
            </a:pPr>
            <a:r>
              <a:rPr sz="850" b="0">
                <a:solidFill>
                  <a:srgbClr val="474956"/>
                </a:solidFill>
                <a:latin typeface="Diodrum Arabic"/>
                <a:ea typeface="Diodrum Arabic"/>
                <a:cs typeface="Diodrum Arabic"/>
              </a:rPr>
              <a:t>Global AI Index 2024 — topping the government-strategy pillar</a:t>
            </a:r>
          </a:p>
        </p:txBody>
      </p:sp>
      <p:sp>
        <p:nvSpPr>
          <p:cNvPr id="9" name="TextBox 8"/>
          <p:cNvSpPr txBox="1"/>
          <p:nvPr/>
        </p:nvSpPr>
        <p:spPr>
          <a:xfrm>
            <a:off x="713232" y="2914523"/>
            <a:ext cx="2848356" cy="164592"/>
          </a:xfrm>
          <a:prstGeom prst="rect">
            <a:avLst/>
          </a:prstGeom>
          <a:noFill/>
        </p:spPr>
        <p:txBody>
          <a:bodyPr wrap="square" lIns="0" rIns="0" tIns="0" bIns="0">
            <a:spAutoFit/>
          </a:bodyPr>
          <a:lstStyle/>
          <a:p>
            <a:pPr algn="l">
              <a:lnSpc>
                <a:spcPts val="875"/>
              </a:lnSpc>
            </a:pPr>
            <a:r>
              <a:rPr sz="700" b="0">
                <a:solidFill>
                  <a:srgbClr val="6E7077"/>
                </a:solidFill>
                <a:latin typeface="Diodrum Arabic"/>
                <a:ea typeface="Diodrum Arabic"/>
                <a:cs typeface="Diodrum Arabic"/>
              </a:rPr>
              <a:t>SPA / Tortoise [9]</a:t>
            </a:r>
          </a:p>
        </p:txBody>
      </p:sp>
      <p:sp>
        <p:nvSpPr>
          <p:cNvPr id="10" name="Rounded Rectangle 9"/>
          <p:cNvSpPr/>
          <p:nvPr/>
        </p:nvSpPr>
        <p:spPr>
          <a:xfrm>
            <a:off x="3854196" y="2013458"/>
            <a:ext cx="3140963" cy="1158494"/>
          </a:xfrm>
          <a:prstGeom prst="roundRect">
            <a:avLst>
              <a:gd name="adj" fmla="val 710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00500" y="2159762"/>
            <a:ext cx="2848356" cy="356616"/>
          </a:xfrm>
          <a:prstGeom prst="rect">
            <a:avLst/>
          </a:prstGeom>
          <a:noFill/>
        </p:spPr>
        <p:txBody>
          <a:bodyPr wrap="square" lIns="0" rIns="0" tIns="0" bIns="0">
            <a:spAutoFit/>
          </a:bodyPr>
          <a:lstStyle/>
          <a:p>
            <a:pPr algn="l">
              <a:lnSpc>
                <a:spcPts val="2520"/>
              </a:lnSpc>
            </a:pPr>
            <a:r>
              <a:rPr sz="2400" b="1">
                <a:solidFill>
                  <a:srgbClr val="00ABAF"/>
                </a:solidFill>
                <a:latin typeface="Diodrum Arabic"/>
                <a:ea typeface="Diodrum Arabic"/>
                <a:cs typeface="Diodrum Arabic"/>
              </a:rPr>
              <a:t>1st in MENA</a:t>
            </a:r>
          </a:p>
        </p:txBody>
      </p:sp>
      <p:sp>
        <p:nvSpPr>
          <p:cNvPr id="12" name="TextBox 11"/>
          <p:cNvSpPr txBox="1"/>
          <p:nvPr/>
        </p:nvSpPr>
        <p:spPr>
          <a:xfrm>
            <a:off x="4000500" y="2568194"/>
            <a:ext cx="2848356" cy="182308"/>
          </a:xfrm>
          <a:prstGeom prst="rect">
            <a:avLst/>
          </a:prstGeom>
          <a:noFill/>
        </p:spPr>
        <p:txBody>
          <a:bodyPr wrap="square" lIns="0" rIns="0" tIns="0" bIns="0">
            <a:spAutoFit/>
          </a:bodyPr>
          <a:lstStyle/>
          <a:p>
            <a:pPr algn="l">
              <a:lnSpc>
                <a:spcPts val="1147"/>
              </a:lnSpc>
            </a:pPr>
            <a:r>
              <a:rPr sz="850" b="0">
                <a:solidFill>
                  <a:srgbClr val="474956"/>
                </a:solidFill>
                <a:latin typeface="Diodrum Arabic"/>
                <a:ea typeface="Diodrum Arabic"/>
                <a:cs typeface="Diodrum Arabic"/>
              </a:rPr>
              <a:t>Oxford Insights Government AI Readiness Index 2025</a:t>
            </a:r>
          </a:p>
        </p:txBody>
      </p:sp>
      <p:sp>
        <p:nvSpPr>
          <p:cNvPr id="13" name="TextBox 12"/>
          <p:cNvSpPr txBox="1"/>
          <p:nvPr/>
        </p:nvSpPr>
        <p:spPr>
          <a:xfrm>
            <a:off x="4000500" y="2768790"/>
            <a:ext cx="2848356" cy="164592"/>
          </a:xfrm>
          <a:prstGeom prst="rect">
            <a:avLst/>
          </a:prstGeom>
          <a:noFill/>
        </p:spPr>
        <p:txBody>
          <a:bodyPr wrap="square" lIns="0" rIns="0" tIns="0" bIns="0">
            <a:spAutoFit/>
          </a:bodyPr>
          <a:lstStyle/>
          <a:p>
            <a:pPr algn="l">
              <a:lnSpc>
                <a:spcPts val="875"/>
              </a:lnSpc>
            </a:pPr>
            <a:r>
              <a:rPr sz="700" b="0">
                <a:solidFill>
                  <a:srgbClr val="6E7077"/>
                </a:solidFill>
                <a:latin typeface="Diodrum Arabic"/>
                <a:ea typeface="Diodrum Arabic"/>
                <a:cs typeface="Diodrum Arabic"/>
              </a:rPr>
              <a:t>SPA [10]</a:t>
            </a:r>
          </a:p>
        </p:txBody>
      </p:sp>
      <p:sp>
        <p:nvSpPr>
          <p:cNvPr id="14" name="TextBox 13"/>
          <p:cNvSpPr txBox="1"/>
          <p:nvPr/>
        </p:nvSpPr>
        <p:spPr>
          <a:xfrm>
            <a:off x="566928" y="3354832"/>
            <a:ext cx="6428231" cy="550545"/>
          </a:xfrm>
          <a:prstGeom prst="rect">
            <a:avLst/>
          </a:prstGeom>
          <a:noFill/>
        </p:spPr>
        <p:txBody>
          <a:bodyPr wrap="square" lIns="0" rIns="0" tIns="0" bIns="0">
            <a:spAutoFit/>
          </a:bodyPr>
          <a:lstStyle/>
          <a:p>
            <a:pPr algn="just">
              <a:lnSpc>
                <a:spcPts val="1348"/>
              </a:lnSpc>
            </a:pPr>
            <a:r>
              <a:rPr sz="950" b="0">
                <a:solidFill>
                  <a:srgbClr val="474956"/>
                </a:solidFill>
                <a:latin typeface="Diodrum Arabic"/>
                <a:ea typeface="Diodrum Arabic"/>
                <a:cs typeface="Diodrum Arabic"/>
              </a:rPr>
              <a:t>These indices measure the national environment — strategy, regulation, institutional infrastructure, and adoption. They do not directly measure the readiness of each leadership level to take AI-related decisions; the study therefore uses them as evidence of the strength of the national environment, not as a substitute for developing leadership capability.</a:t>
            </a:r>
          </a:p>
        </p:txBody>
      </p:sp>
      <p:sp>
        <p:nvSpPr>
          <p:cNvPr id="15" name="Rounded Rectangle 14"/>
          <p:cNvSpPr/>
          <p:nvPr/>
        </p:nvSpPr>
        <p:spPr>
          <a:xfrm>
            <a:off x="566928" y="3996817"/>
            <a:ext cx="6428231" cy="1070038"/>
          </a:xfrm>
          <a:prstGeom prst="roundRect">
            <a:avLst>
              <a:gd name="adj" fmla="val 769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61408"/>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A PRACTICAL SIGNAL FROM THE SPONSOR</a:t>
            </a:r>
          </a:p>
        </p:txBody>
      </p:sp>
      <p:sp>
        <p:nvSpPr>
          <p:cNvPr id="17" name="TextBox 16"/>
          <p:cNvSpPr txBox="1"/>
          <p:nvPr/>
        </p:nvSpPr>
        <p:spPr>
          <a:xfrm>
            <a:off x="731520" y="4370959"/>
            <a:ext cx="6099047" cy="523494"/>
          </a:xfrm>
          <a:prstGeom prst="rect">
            <a:avLst/>
          </a:prstGeom>
          <a:noFill/>
        </p:spPr>
        <p:txBody>
          <a:bodyPr wrap="square" lIns="0" rIns="0" tIns="0" bIns="0">
            <a:spAutoFit/>
          </a:bodyPr>
          <a:lstStyle/>
          <a:p>
            <a:pPr algn="just">
              <a:lnSpc>
                <a:spcPts val="1278"/>
              </a:lnSpc>
            </a:pPr>
            <a:r>
              <a:rPr sz="900" b="0">
                <a:solidFill>
                  <a:srgbClr val="474956"/>
                </a:solidFill>
                <a:latin typeface="Diodrum Arabic"/>
                <a:ea typeface="Diodrum Arabic"/>
                <a:cs typeface="Diodrum Arabic"/>
              </a:rPr>
              <a:t>The internal Gartner briefing held by the sponsoring entity recommends that senior leaders receive dedicated one-to-one training, reverse mentoring, and short on-demand units — rather than general staff training [11]. What the market actually offers in these formats is examined in Section 03.</a:t>
            </a:r>
          </a:p>
        </p:txBody>
      </p:sp>
      <p:sp>
        <p:nvSpPr>
          <p:cNvPr id="18" name="Rectangle 17"/>
          <p:cNvSpPr/>
          <p:nvPr/>
        </p:nvSpPr>
        <p:spPr>
          <a:xfrm>
            <a:off x="566928" y="5249735"/>
            <a:ext cx="45720" cy="405384"/>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5258879"/>
            <a:ext cx="6199631" cy="387095"/>
          </a:xfrm>
          <a:prstGeom prst="rect">
            <a:avLst/>
          </a:prstGeom>
          <a:noFill/>
        </p:spPr>
        <p:txBody>
          <a:bodyPr wrap="square" lIns="0" rIns="0" tIns="0" bIns="0">
            <a:spAutoFit/>
          </a:bodyPr>
          <a:lstStyle/>
          <a:p>
            <a:pPr algn="l">
              <a:lnSpc>
                <a:spcPts val="1380"/>
              </a:lnSpc>
            </a:pPr>
            <a:r>
              <a:rPr sz="1000" b="0">
                <a:solidFill>
                  <a:srgbClr val="232046"/>
                </a:solidFill>
                <a:latin typeface="Diodrum Arabic SemiBold"/>
                <a:ea typeface="Diodrum Arabic SemiBold"/>
                <a:cs typeface="Diodrum Arabic SemiBold"/>
              </a:rPr>
              <a:t>Before examining what the market offers, “senior leaders” must be defined precisely; programmes that treat leaders as a single bloc are no valid basis for comparison. That definition is Section 02.</a:t>
            </a:r>
          </a:p>
        </p:txBody>
      </p:sp>
      <p:sp>
        <p:nvSpPr>
          <p:cNvPr id="20" name="Rectangle 19"/>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22" name="TextBox 21"/>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2172461"/>
          </a:xfrm>
          <a:prstGeom prst="rect">
            <a:avLst/>
          </a:prstGeom>
          <a:gradFill rotWithShape="1">
            <a:gsLst>
              <a:gs pos="0">
                <a:srgbClr val="7C32C9"/>
              </a:gs>
              <a:gs pos="100000">
                <a:srgbClr val="2A206A"/>
              </a:gs>
            </a:gsLst>
            <a:lin scaled="0" ang="20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28231" cy="198628"/>
          </a:xfrm>
          <a:prstGeom prst="rect">
            <a:avLst/>
          </a:prstGeom>
          <a:noFill/>
        </p:spPr>
        <p:txBody>
          <a:bodyPr wrap="square" lIns="0" rIns="0" tIns="0" bIns="0">
            <a:spAutoFit/>
          </a:bodyPr>
          <a:lstStyle/>
          <a:p>
            <a:pPr algn="l">
              <a:lnSpc>
                <a:spcPts val="1276"/>
              </a:lnSpc>
            </a:pPr>
            <a:r>
              <a:rPr sz="1100" b="0" spc="160">
                <a:solidFill>
                  <a:srgbClr val="CEC6EC"/>
                </a:solidFill>
                <a:latin typeface="Diodrum Arabic SemiBold"/>
                <a:ea typeface="Diodrum Arabic SemiBold"/>
                <a:cs typeface="Diodrum Arabic SemiBold"/>
              </a:rPr>
              <a:t>SECTION 02</a:t>
            </a:r>
          </a:p>
        </p:txBody>
      </p:sp>
      <p:sp>
        <p:nvSpPr>
          <p:cNvPr id="4" name="TextBox 3"/>
          <p:cNvSpPr txBox="1"/>
          <p:nvPr/>
        </p:nvSpPr>
        <p:spPr>
          <a:xfrm>
            <a:off x="566928" y="694943"/>
            <a:ext cx="6428231" cy="695960"/>
          </a:xfrm>
          <a:prstGeom prst="rect">
            <a:avLst/>
          </a:prstGeom>
          <a:noFill/>
        </p:spPr>
        <p:txBody>
          <a:bodyPr wrap="square" lIns="0" rIns="0" tIns="0" bIns="0">
            <a:spAutoFit/>
          </a:bodyPr>
          <a:lstStyle/>
          <a:p>
            <a:pPr algn="l">
              <a:lnSpc>
                <a:spcPts val="2595"/>
              </a:lnSpc>
            </a:pPr>
            <a:r>
              <a:rPr sz="2200" b="1">
                <a:solidFill>
                  <a:srgbClr val="FFFFFF"/>
                </a:solidFill>
                <a:latin typeface="Diodrum Arabic"/>
                <a:ea typeface="Diodrum Arabic"/>
                <a:cs typeface="Diodrum Arabic"/>
              </a:rPr>
              <a:t>The Four Leadership Levels and Their Decision Responsibilities</a:t>
            </a:r>
          </a:p>
        </p:txBody>
      </p:sp>
      <p:sp>
        <p:nvSpPr>
          <p:cNvPr id="5" name="TextBox 4"/>
          <p:cNvSpPr txBox="1"/>
          <p:nvPr/>
        </p:nvSpPr>
        <p:spPr>
          <a:xfrm>
            <a:off x="566928" y="1445767"/>
            <a:ext cx="5513831" cy="379221"/>
          </a:xfrm>
          <a:prstGeom prst="rect">
            <a:avLst/>
          </a:prstGeom>
          <a:noFill/>
        </p:spPr>
        <p:txBody>
          <a:bodyPr wrap="square" lIns="0" rIns="0" tIns="0" bIns="0">
            <a:spAutoFit/>
          </a:bodyPr>
          <a:lstStyle/>
          <a:p>
            <a:pPr algn="l">
              <a:lnSpc>
                <a:spcPts val="1348"/>
              </a:lnSpc>
            </a:pPr>
            <a:r>
              <a:rPr sz="950" b="0">
                <a:solidFill>
                  <a:srgbClr val="DDDAF0"/>
                </a:solidFill>
                <a:latin typeface="Diodrum Arabic"/>
                <a:ea typeface="Diodrum Arabic"/>
                <a:cs typeface="Diodrum Arabic"/>
              </a:rPr>
              <a:t>The classification basis, then each level: its category, the nature of its decisions, the training protocol suited to it, and the applied output expected from it.</a:t>
            </a:r>
          </a:p>
        </p:txBody>
      </p:sp>
      <p:sp>
        <p:nvSpPr>
          <p:cNvPr id="6" name="Rectangle 5"/>
          <p:cNvSpPr/>
          <p:nvPr/>
        </p:nvSpPr>
        <p:spPr>
          <a:xfrm>
            <a:off x="566928" y="1953006"/>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2688" y="1953006"/>
            <a:ext cx="274320"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98448" y="1953006"/>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64208" y="1953006"/>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29968" y="1953006"/>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95728" y="1953006"/>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446781"/>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2.1  CLASSIFICATION BASIS</a:t>
            </a:r>
          </a:p>
        </p:txBody>
      </p:sp>
      <p:sp>
        <p:nvSpPr>
          <p:cNvPr id="13" name="TextBox 12"/>
          <p:cNvSpPr txBox="1"/>
          <p:nvPr/>
        </p:nvSpPr>
        <p:spPr>
          <a:xfrm>
            <a:off x="566928" y="2674619"/>
            <a:ext cx="6428231" cy="326135"/>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Decision scope classifies participants — job titles do not</a:t>
            </a:r>
          </a:p>
        </p:txBody>
      </p:sp>
      <p:sp>
        <p:nvSpPr>
          <p:cNvPr id="14" name="TextBox 13"/>
          <p:cNvSpPr txBox="1"/>
          <p:nvPr/>
        </p:nvSpPr>
        <p:spPr>
          <a:xfrm>
            <a:off x="566928" y="3055619"/>
            <a:ext cx="6428231" cy="893190"/>
          </a:xfrm>
          <a:prstGeom prst="rect">
            <a:avLst/>
          </a:prstGeom>
          <a:noFill/>
        </p:spPr>
        <p:txBody>
          <a:bodyPr wrap="square" lIns="0" rIns="0" tIns="0" bIns="0">
            <a:spAutoFit/>
          </a:bodyPr>
          <a:lstStyle/>
          <a:p>
            <a:pPr algn="just">
              <a:lnSpc>
                <a:spcPts val="1348"/>
              </a:lnSpc>
            </a:pPr>
            <a:r>
              <a:rPr sz="950" b="0">
                <a:solidFill>
                  <a:srgbClr val="474956"/>
                </a:solidFill>
                <a:latin typeface="Diodrum Arabic"/>
                <a:ea typeface="Diodrum Arabic"/>
                <a:cs typeface="Diodrum Arabic"/>
              </a:rPr>
              <a:t>Structures and job titles differ across the more than 300 government entities within the study’s scope, and titles alone do not uniformly reflect the level of decision or responsibility: two individuals may hold different titles yet take decisions comparable in level and scope [1]. The study therefore adopts four leadership levels according to three criteria, consistent with the OECD framework (2026) that distinguishes staff, leaders, and technical experts — but disaggregating the leader layer into four distinct decision tiers [12].</a:t>
            </a:r>
          </a:p>
        </p:txBody>
      </p:sp>
      <p:sp>
        <p:nvSpPr>
          <p:cNvPr id="15" name="Rounded Rectangle 14"/>
          <p:cNvSpPr/>
          <p:nvPr/>
        </p:nvSpPr>
        <p:spPr>
          <a:xfrm>
            <a:off x="566928" y="4040250"/>
            <a:ext cx="2045207" cy="1085087"/>
          </a:xfrm>
          <a:prstGeom prst="roundRect">
            <a:avLst>
              <a:gd name="adj" fmla="val 7584"/>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 y="4186554"/>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4305426"/>
            <a:ext cx="1752599" cy="199263"/>
          </a:xfrm>
          <a:prstGeom prst="rect">
            <a:avLst/>
          </a:prstGeom>
          <a:noFill/>
        </p:spPr>
        <p:txBody>
          <a:bodyPr wrap="square" lIns="0" rIns="0" tIns="0" bIns="0">
            <a:spAutoFit/>
          </a:bodyPr>
          <a:lstStyle/>
          <a:p>
            <a:pPr algn="l">
              <a:lnSpc>
                <a:spcPts val="1281"/>
              </a:lnSpc>
            </a:pPr>
            <a:r>
              <a:rPr sz="1050" b="0">
                <a:solidFill>
                  <a:srgbClr val="7C32C9"/>
                </a:solidFill>
                <a:latin typeface="Diodrum Arabic SemiBold"/>
                <a:ea typeface="Diodrum Arabic SemiBold"/>
                <a:cs typeface="Diodrum Arabic SemiBold"/>
              </a:rPr>
              <a:t>Scope of decision</a:t>
            </a:r>
          </a:p>
        </p:txBody>
      </p:sp>
      <p:sp>
        <p:nvSpPr>
          <p:cNvPr id="18" name="TextBox 17"/>
          <p:cNvSpPr txBox="1"/>
          <p:nvPr/>
        </p:nvSpPr>
        <p:spPr>
          <a:xfrm>
            <a:off x="713232" y="4532121"/>
            <a:ext cx="1752599" cy="483488"/>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The decision the leader personally bears, and its reach across the entity and beyond.</a:t>
            </a:r>
          </a:p>
        </p:txBody>
      </p:sp>
      <p:sp>
        <p:nvSpPr>
          <p:cNvPr id="19" name="Rounded Rectangle 18"/>
          <p:cNvSpPr/>
          <p:nvPr/>
        </p:nvSpPr>
        <p:spPr>
          <a:xfrm>
            <a:off x="2758440" y="4040250"/>
            <a:ext cx="2045207" cy="1085087"/>
          </a:xfrm>
          <a:prstGeom prst="roundRect">
            <a:avLst>
              <a:gd name="adj" fmla="val 7584"/>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4744" y="4186554"/>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04744" y="4305426"/>
            <a:ext cx="1752599" cy="199263"/>
          </a:xfrm>
          <a:prstGeom prst="rect">
            <a:avLst/>
          </a:prstGeom>
          <a:noFill/>
        </p:spPr>
        <p:txBody>
          <a:bodyPr wrap="square" lIns="0" rIns="0" tIns="0" bIns="0">
            <a:spAutoFit/>
          </a:bodyPr>
          <a:lstStyle/>
          <a:p>
            <a:pPr algn="l">
              <a:lnSpc>
                <a:spcPts val="1281"/>
              </a:lnSpc>
            </a:pPr>
            <a:r>
              <a:rPr sz="1050" b="0">
                <a:solidFill>
                  <a:srgbClr val="00ABAF"/>
                </a:solidFill>
                <a:latin typeface="Diodrum Arabic SemiBold"/>
                <a:ea typeface="Diodrum Arabic SemiBold"/>
                <a:cs typeface="Diodrum Arabic SemiBold"/>
              </a:rPr>
              <a:t>Authority and accountability</a:t>
            </a:r>
          </a:p>
        </p:txBody>
      </p:sp>
      <p:sp>
        <p:nvSpPr>
          <p:cNvPr id="22" name="TextBox 21"/>
          <p:cNvSpPr txBox="1"/>
          <p:nvPr/>
        </p:nvSpPr>
        <p:spPr>
          <a:xfrm>
            <a:off x="2904744" y="4532121"/>
            <a:ext cx="1752599" cy="33451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The level of authority exercised and the accountability attached to it.</a:t>
            </a:r>
          </a:p>
        </p:txBody>
      </p:sp>
      <p:sp>
        <p:nvSpPr>
          <p:cNvPr id="23" name="Rounded Rectangle 22"/>
          <p:cNvSpPr/>
          <p:nvPr/>
        </p:nvSpPr>
        <p:spPr>
          <a:xfrm>
            <a:off x="4949952" y="4040250"/>
            <a:ext cx="2045207" cy="1085087"/>
          </a:xfrm>
          <a:prstGeom prst="roundRect">
            <a:avLst>
              <a:gd name="adj" fmla="val 7584"/>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96256" y="4186554"/>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96256" y="4305426"/>
            <a:ext cx="1752599" cy="199263"/>
          </a:xfrm>
          <a:prstGeom prst="rect">
            <a:avLst/>
          </a:prstGeom>
          <a:noFill/>
        </p:spPr>
        <p:txBody>
          <a:bodyPr wrap="square" lIns="0" rIns="0" tIns="0" bIns="0">
            <a:spAutoFit/>
          </a:bodyPr>
          <a:lstStyle/>
          <a:p>
            <a:pPr algn="l">
              <a:lnSpc>
                <a:spcPts val="1281"/>
              </a:lnSpc>
            </a:pPr>
            <a:r>
              <a:rPr sz="1050" b="0">
                <a:solidFill>
                  <a:srgbClr val="1CC182"/>
                </a:solidFill>
                <a:latin typeface="Diodrum Arabic SemiBold"/>
                <a:ea typeface="Diodrum Arabic SemiBold"/>
                <a:cs typeface="Diodrum Arabic SemiBold"/>
              </a:rPr>
              <a:t>Training protocol</a:t>
            </a:r>
          </a:p>
        </p:txBody>
      </p:sp>
      <p:sp>
        <p:nvSpPr>
          <p:cNvPr id="26" name="TextBox 25"/>
          <p:cNvSpPr txBox="1"/>
          <p:nvPr/>
        </p:nvSpPr>
        <p:spPr>
          <a:xfrm>
            <a:off x="5096256" y="4532121"/>
            <a:ext cx="1752599" cy="33451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The delivery format the category’s protocol and privacy actually permit.</a:t>
            </a:r>
          </a:p>
        </p:txBody>
      </p:sp>
      <p:sp>
        <p:nvSpPr>
          <p:cNvPr id="27" name="Rounded Rectangle 26"/>
          <p:cNvSpPr/>
          <p:nvPr/>
        </p:nvSpPr>
        <p:spPr>
          <a:xfrm>
            <a:off x="566928" y="5308218"/>
            <a:ext cx="6428231" cy="1106614"/>
          </a:xfrm>
          <a:prstGeom prst="roundRect">
            <a:avLst>
              <a:gd name="adj" fmla="val 826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5491098"/>
            <a:ext cx="6062471" cy="191262"/>
          </a:xfrm>
          <a:prstGeom prst="rect">
            <a:avLst/>
          </a:prstGeom>
          <a:noFill/>
        </p:spPr>
        <p:txBody>
          <a:bodyPr wrap="square" lIns="0" rIns="0" tIns="0" bIns="0">
            <a:spAutoFit/>
          </a:bodyPr>
          <a:lstStyle/>
          <a:p>
            <a:pPr algn="l">
              <a:lnSpc>
                <a:spcPts val="1218"/>
              </a:lnSpc>
            </a:pPr>
            <a:r>
              <a:rPr sz="1050" b="0" spc="90">
                <a:solidFill>
                  <a:srgbClr val="D9F3EE"/>
                </a:solidFill>
                <a:latin typeface="Diodrum Arabic SemiBold"/>
                <a:ea typeface="Diodrum Arabic SemiBold"/>
                <a:cs typeface="Diodrum Arabic SemiBold"/>
              </a:rPr>
              <a:t>THE DESIGN RULE THAT GOVERNS THE WHOLE STUDY</a:t>
            </a:r>
          </a:p>
        </p:txBody>
      </p:sp>
      <p:sp>
        <p:nvSpPr>
          <p:cNvPr id="29" name="TextBox 28"/>
          <p:cNvSpPr txBox="1"/>
          <p:nvPr/>
        </p:nvSpPr>
        <p:spPr>
          <a:xfrm>
            <a:off x="749808" y="5691504"/>
            <a:ext cx="6062471" cy="523494"/>
          </a:xfrm>
          <a:prstGeom prst="rect">
            <a:avLst/>
          </a:prstGeom>
          <a:noFill/>
        </p:spPr>
        <p:txBody>
          <a:bodyPr wrap="square" lIns="0" rIns="0" tIns="0" bIns="0">
            <a:spAutoFit/>
          </a:bodyPr>
          <a:lstStyle/>
          <a:p>
            <a:pPr algn="just">
              <a:lnSpc>
                <a:spcPts val="1278"/>
              </a:lnSpc>
            </a:pPr>
            <a:r>
              <a:rPr sz="900" b="0">
                <a:solidFill>
                  <a:srgbClr val="FFFFFF"/>
                </a:solidFill>
                <a:latin typeface="Diodrum Arabic"/>
                <a:ea typeface="Diodrum Arabic"/>
                <a:cs typeface="Diodrum Arabic"/>
              </a:rPr>
              <a:t>The programme differs by decision type, not by adding or removing hours [13]. This is not one programme in four lengths; it is four leadership pathways — because the decision, the protocol, and the accountability differ from one category to the next.</a:t>
            </a:r>
          </a:p>
        </p:txBody>
      </p:sp>
      <p:sp>
        <p:nvSpPr>
          <p:cNvPr id="30" name="Rounded Rectangle 29"/>
          <p:cNvSpPr/>
          <p:nvPr/>
        </p:nvSpPr>
        <p:spPr>
          <a:xfrm>
            <a:off x="566928" y="6579425"/>
            <a:ext cx="1497329" cy="1362202"/>
          </a:xfrm>
          <a:prstGeom prst="roundRect">
            <a:avLst>
              <a:gd name="adj" fmla="val 604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3232" y="6725729"/>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6844601"/>
            <a:ext cx="1204721" cy="183769"/>
          </a:xfrm>
          <a:prstGeom prst="rect">
            <a:avLst/>
          </a:prstGeom>
          <a:noFill/>
        </p:spPr>
        <p:txBody>
          <a:bodyPr wrap="square" lIns="0" rIns="0" tIns="0" bIns="0">
            <a:spAutoFit/>
          </a:bodyPr>
          <a:lstStyle/>
          <a:p>
            <a:pPr algn="l">
              <a:lnSpc>
                <a:spcPts val="1159"/>
              </a:lnSpc>
            </a:pPr>
            <a:r>
              <a:rPr sz="950" b="0">
                <a:solidFill>
                  <a:srgbClr val="7C32C9"/>
                </a:solidFill>
                <a:latin typeface="Diodrum Arabic SemiBold"/>
                <a:ea typeface="Diodrum Arabic SemiBold"/>
                <a:cs typeface="Diodrum Arabic SemiBold"/>
              </a:rPr>
              <a:t>Level 1 — Ministers</a:t>
            </a:r>
          </a:p>
        </p:txBody>
      </p:sp>
      <p:sp>
        <p:nvSpPr>
          <p:cNvPr id="33" name="TextBox 32"/>
          <p:cNvSpPr txBox="1"/>
          <p:nvPr/>
        </p:nvSpPr>
        <p:spPr>
          <a:xfrm>
            <a:off x="713232" y="7055802"/>
            <a:ext cx="1204721" cy="33451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Direction and public accountability.</a:t>
            </a:r>
          </a:p>
        </p:txBody>
      </p:sp>
      <p:sp>
        <p:nvSpPr>
          <p:cNvPr id="34" name="Rounded Rectangle 33"/>
          <p:cNvSpPr/>
          <p:nvPr/>
        </p:nvSpPr>
        <p:spPr>
          <a:xfrm>
            <a:off x="2210561" y="6579425"/>
            <a:ext cx="1497329" cy="1362202"/>
          </a:xfrm>
          <a:prstGeom prst="roundRect">
            <a:avLst>
              <a:gd name="adj" fmla="val 604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356865" y="6725729"/>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56865" y="6844601"/>
            <a:ext cx="1204721" cy="625348"/>
          </a:xfrm>
          <a:prstGeom prst="rect">
            <a:avLst/>
          </a:prstGeom>
          <a:noFill/>
        </p:spPr>
        <p:txBody>
          <a:bodyPr wrap="square" lIns="0" rIns="0" tIns="0" bIns="0">
            <a:spAutoFit/>
          </a:bodyPr>
          <a:lstStyle/>
          <a:p>
            <a:pPr algn="l">
              <a:lnSpc>
                <a:spcPts val="1159"/>
              </a:lnSpc>
            </a:pPr>
            <a:r>
              <a:rPr sz="950" b="0">
                <a:solidFill>
                  <a:srgbClr val="2A206A"/>
                </a:solidFill>
                <a:latin typeface="Diodrum Arabic SemiBold"/>
                <a:ea typeface="Diodrum Arabic SemiBold"/>
                <a:cs typeface="Diodrum Arabic SemiBold"/>
              </a:rPr>
              <a:t>Level 2 — Vice Ministers and Excellency-Rank Leaders</a:t>
            </a:r>
          </a:p>
        </p:txBody>
      </p:sp>
      <p:sp>
        <p:nvSpPr>
          <p:cNvPr id="37" name="TextBox 36"/>
          <p:cNvSpPr txBox="1"/>
          <p:nvPr/>
        </p:nvSpPr>
        <p:spPr>
          <a:xfrm>
            <a:off x="2356865" y="7497381"/>
            <a:ext cx="1204721" cy="33451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Portfolio, governance, investment.</a:t>
            </a:r>
          </a:p>
        </p:txBody>
      </p:sp>
      <p:sp>
        <p:nvSpPr>
          <p:cNvPr id="38" name="Rounded Rectangle 37"/>
          <p:cNvSpPr/>
          <p:nvPr/>
        </p:nvSpPr>
        <p:spPr>
          <a:xfrm>
            <a:off x="3854195" y="6579425"/>
            <a:ext cx="1497329" cy="1362202"/>
          </a:xfrm>
          <a:prstGeom prst="roundRect">
            <a:avLst>
              <a:gd name="adj" fmla="val 604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000499" y="6725729"/>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00499" y="6844601"/>
            <a:ext cx="1204721" cy="478155"/>
          </a:xfrm>
          <a:prstGeom prst="rect">
            <a:avLst/>
          </a:prstGeom>
          <a:noFill/>
        </p:spPr>
        <p:txBody>
          <a:bodyPr wrap="square" lIns="0" rIns="0" tIns="0" bIns="0">
            <a:spAutoFit/>
          </a:bodyPr>
          <a:lstStyle/>
          <a:p>
            <a:pPr algn="l">
              <a:lnSpc>
                <a:spcPts val="1159"/>
              </a:lnSpc>
            </a:pPr>
            <a:r>
              <a:rPr sz="950" b="0">
                <a:solidFill>
                  <a:srgbClr val="00ABAF"/>
                </a:solidFill>
                <a:latin typeface="Diodrum Arabic SemiBold"/>
                <a:ea typeface="Diodrum Arabic SemiBold"/>
                <a:cs typeface="Diodrum Arabic SemiBold"/>
              </a:rPr>
              <a:t>Level 3 — Deputy Ministers and Deputy Governors</a:t>
            </a:r>
          </a:p>
        </p:txBody>
      </p:sp>
      <p:sp>
        <p:nvSpPr>
          <p:cNvPr id="41" name="TextBox 40"/>
          <p:cNvSpPr txBox="1"/>
          <p:nvPr/>
        </p:nvSpPr>
        <p:spPr>
          <a:xfrm>
            <a:off x="4000499" y="7350188"/>
            <a:ext cx="1204721" cy="33451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Readiness, data, contracting.</a:t>
            </a:r>
          </a:p>
        </p:txBody>
      </p:sp>
      <p:sp>
        <p:nvSpPr>
          <p:cNvPr id="42" name="Rounded Rectangle 41"/>
          <p:cNvSpPr/>
          <p:nvPr/>
        </p:nvSpPr>
        <p:spPr>
          <a:xfrm>
            <a:off x="5497829" y="6579425"/>
            <a:ext cx="1497329" cy="1362202"/>
          </a:xfrm>
          <a:prstGeom prst="roundRect">
            <a:avLst>
              <a:gd name="adj" fmla="val 604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44133" y="6725729"/>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44133" y="6844601"/>
            <a:ext cx="1204721" cy="330961"/>
          </a:xfrm>
          <a:prstGeom prst="rect">
            <a:avLst/>
          </a:prstGeom>
          <a:noFill/>
        </p:spPr>
        <p:txBody>
          <a:bodyPr wrap="square" lIns="0" rIns="0" tIns="0" bIns="0">
            <a:spAutoFit/>
          </a:bodyPr>
          <a:lstStyle/>
          <a:p>
            <a:pPr algn="l">
              <a:lnSpc>
                <a:spcPts val="1159"/>
              </a:lnSpc>
            </a:pPr>
            <a:r>
              <a:rPr sz="950" b="0">
                <a:solidFill>
                  <a:srgbClr val="1CC182"/>
                </a:solidFill>
                <a:latin typeface="Diodrum Arabic SemiBold"/>
                <a:ea typeface="Diodrum Arabic SemiBold"/>
                <a:cs typeface="Diodrum Arabic SemiBold"/>
              </a:rPr>
              <a:t>Level 4 — Assistant Deputy Ministers</a:t>
            </a:r>
          </a:p>
        </p:txBody>
      </p:sp>
      <p:sp>
        <p:nvSpPr>
          <p:cNvPr id="45" name="TextBox 44"/>
          <p:cNvSpPr txBox="1"/>
          <p:nvPr/>
        </p:nvSpPr>
        <p:spPr>
          <a:xfrm>
            <a:off x="5644133" y="7202995"/>
            <a:ext cx="1204721" cy="33451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Operations and compliance.</a:t>
            </a:r>
          </a:p>
        </p:txBody>
      </p:sp>
      <p:sp>
        <p:nvSpPr>
          <p:cNvPr id="46" name="Rectangle 45"/>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48" name="TextBox 47"/>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02 · 2.2  LEVEL 1</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Ministers: a category the conventional course format cannot serve</a:t>
            </a:r>
          </a:p>
        </p:txBody>
      </p:sp>
      <p:sp>
        <p:nvSpPr>
          <p:cNvPr id="4" name="TextBox 3"/>
          <p:cNvSpPr txBox="1"/>
          <p:nvPr/>
        </p:nvSpPr>
        <p:spPr>
          <a:xfrm>
            <a:off x="566928" y="1401318"/>
            <a:ext cx="6428231" cy="205486"/>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Target category: ministers holding portfolios, ministers of state, and cabinet-rank appointees.</a:t>
            </a:r>
          </a:p>
        </p:txBody>
      </p:sp>
      <p:sp>
        <p:nvSpPr>
          <p:cNvPr id="5" name="Rectangle 4"/>
          <p:cNvSpPr/>
          <p:nvPr/>
        </p:nvSpPr>
        <p:spPr>
          <a:xfrm>
            <a:off x="566928" y="166166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844548"/>
            <a:ext cx="6428231" cy="566928"/>
          </a:xfrm>
          <a:prstGeom prst="roundRect">
            <a:avLst>
              <a:gd name="adj" fmla="val 14516"/>
            </a:avLst>
          </a:prstGeom>
          <a:gradFill rotWithShape="1">
            <a:gsLst>
              <a:gs pos="0">
                <a:srgbClr val="7C32C9"/>
              </a:gs>
              <a:gs pos="100000">
                <a:srgbClr val="2A206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926844"/>
            <a:ext cx="4325111" cy="363982"/>
          </a:xfrm>
          <a:prstGeom prst="rect">
            <a:avLst/>
          </a:prstGeom>
          <a:noFill/>
        </p:spPr>
        <p:txBody>
          <a:bodyPr wrap="square" lIns="0" rIns="0" tIns="0" bIns="0">
            <a:spAutoFit/>
          </a:bodyPr>
          <a:lstStyle/>
          <a:p>
            <a:pPr algn="l">
              <a:lnSpc>
                <a:spcPts val="1044"/>
              </a:lnSpc>
            </a:pPr>
            <a:r>
              <a:rPr sz="900" b="0">
                <a:solidFill>
                  <a:srgbClr val="D9D7EA"/>
                </a:solidFill>
                <a:latin typeface="Diodrum Arabic SemiBold"/>
                <a:ea typeface="Diodrum Arabic SemiBold"/>
                <a:cs typeface="Diodrum Arabic SemiBold"/>
              </a:rPr>
              <a:t>LEVEL 1</a:t>
            </a:r>
          </a:p>
          <a:p>
            <a:pPr algn="l">
              <a:lnSpc>
                <a:spcPts val="1334"/>
              </a:lnSpc>
              <a:spcBef>
                <a:spcPts val="200"/>
              </a:spcBef>
            </a:pPr>
            <a:r>
              <a:rPr sz="1150" b="1">
                <a:solidFill>
                  <a:srgbClr val="FFFFFF"/>
                </a:solidFill>
                <a:latin typeface="Diodrum Arabic"/>
                <a:ea typeface="Diodrum Arabic"/>
                <a:cs typeface="Diodrum Arabic"/>
              </a:rPr>
              <a:t>Ministers</a:t>
            </a:r>
          </a:p>
        </p:txBody>
      </p:sp>
      <p:sp>
        <p:nvSpPr>
          <p:cNvPr id="8" name="Rounded Rectangle 7"/>
          <p:cNvSpPr/>
          <p:nvPr/>
        </p:nvSpPr>
        <p:spPr>
          <a:xfrm>
            <a:off x="5516365" y="1999996"/>
            <a:ext cx="1295914" cy="256032"/>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0">
                <a:solidFill>
                  <a:srgbClr val="7C32C9"/>
                </a:solidFill>
                <a:latin typeface="Diodrum Arabic SemiBold"/>
                <a:ea typeface="Diodrum Arabic SemiBold"/>
                <a:cs typeface="Diodrum Arabic SemiBold"/>
              </a:rPr>
              <a:t>Route: build locally</a:t>
            </a:r>
          </a:p>
        </p:txBody>
      </p:sp>
      <p:sp>
        <p:nvSpPr>
          <p:cNvPr id="9" name="TextBox 8"/>
          <p:cNvSpPr txBox="1"/>
          <p:nvPr/>
        </p:nvSpPr>
        <p:spPr>
          <a:xfrm>
            <a:off x="566928" y="2557780"/>
            <a:ext cx="6428231" cy="550545"/>
          </a:xfrm>
          <a:prstGeom prst="rect">
            <a:avLst/>
          </a:prstGeom>
          <a:noFill/>
        </p:spPr>
        <p:txBody>
          <a:bodyPr wrap="square" lIns="0" rIns="0" tIns="0" bIns="0">
            <a:spAutoFit/>
          </a:bodyPr>
          <a:lstStyle/>
          <a:p>
            <a:pPr algn="just">
              <a:lnSpc>
                <a:spcPts val="1348"/>
              </a:lnSpc>
            </a:pPr>
            <a:r>
              <a:rPr sz="950" b="0">
                <a:solidFill>
                  <a:srgbClr val="474956"/>
                </a:solidFill>
                <a:latin typeface="Diodrum Arabic"/>
                <a:ea typeface="Diodrum Arabic"/>
                <a:cs typeface="Diodrum Arabic"/>
              </a:rPr>
              <a:t>A distinct, exceptional leadership category: it bears responsibility for the general direction of the sector, participates in the highest government decisions, and is subject to an official and practical protocol different from every other level — which is why the conventional course format is fundamentally unsuited to it.</a:t>
            </a:r>
          </a:p>
        </p:txBody>
      </p:sp>
      <p:sp>
        <p:nvSpPr>
          <p:cNvPr id="10" name="TextBox 9"/>
          <p:cNvSpPr txBox="1"/>
          <p:nvPr/>
        </p:nvSpPr>
        <p:spPr>
          <a:xfrm>
            <a:off x="566928" y="3199765"/>
            <a:ext cx="3113532" cy="375411"/>
          </a:xfrm>
          <a:prstGeom prst="rect">
            <a:avLst/>
          </a:prstGeom>
          <a:noFill/>
        </p:spPr>
        <p:txBody>
          <a:bodyPr wrap="square" lIns="0" rIns="0" tIns="0" bIns="0">
            <a:spAutoFit/>
          </a:bodyPr>
          <a:lstStyle/>
          <a:p>
            <a:pPr algn="l">
              <a:lnSpc>
                <a:spcPts val="1334"/>
              </a:lnSpc>
            </a:pPr>
            <a:r>
              <a:rPr sz="1150" b="0" spc="70">
                <a:solidFill>
                  <a:srgbClr val="7C32C9"/>
                </a:solidFill>
                <a:latin typeface="Diodrum Arabic SemiBold"/>
                <a:ea typeface="Diodrum Arabic SemiBold"/>
                <a:cs typeface="Diodrum Arabic SemiBold"/>
              </a:rPr>
              <a:t>DECISION TYPE — DIRECTION, NOT EXECUTION</a:t>
            </a:r>
          </a:p>
        </p:txBody>
      </p:sp>
      <p:sp>
        <p:nvSpPr>
          <p:cNvPr id="11" name="TextBox 10"/>
          <p:cNvSpPr txBox="1"/>
          <p:nvPr/>
        </p:nvSpPr>
        <p:spPr>
          <a:xfrm>
            <a:off x="566928" y="3616325"/>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12" name="TextBox 11"/>
          <p:cNvSpPr txBox="1"/>
          <p:nvPr/>
        </p:nvSpPr>
        <p:spPr>
          <a:xfrm>
            <a:off x="740664" y="3620897"/>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Setting the strategic direction of the sector.</a:t>
            </a:r>
          </a:p>
        </p:txBody>
      </p:sp>
      <p:sp>
        <p:nvSpPr>
          <p:cNvPr id="13" name="TextBox 12"/>
          <p:cNvSpPr txBox="1"/>
          <p:nvPr/>
        </p:nvSpPr>
        <p:spPr>
          <a:xfrm>
            <a:off x="566928" y="3824351"/>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14" name="TextBox 13"/>
          <p:cNvSpPr txBox="1"/>
          <p:nvPr/>
        </p:nvSpPr>
        <p:spPr>
          <a:xfrm>
            <a:off x="740664" y="3828923"/>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Defining the acceptable level of risk.</a:t>
            </a:r>
          </a:p>
        </p:txBody>
      </p:sp>
      <p:sp>
        <p:nvSpPr>
          <p:cNvPr id="15" name="TextBox 14"/>
          <p:cNvSpPr txBox="1"/>
          <p:nvPr/>
        </p:nvSpPr>
        <p:spPr>
          <a:xfrm>
            <a:off x="566928" y="4032377"/>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16" name="TextBox 15"/>
          <p:cNvSpPr txBox="1"/>
          <p:nvPr/>
        </p:nvSpPr>
        <p:spPr>
          <a:xfrm>
            <a:off x="740664" y="4036949"/>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Approving major priorities.</a:t>
            </a:r>
          </a:p>
        </p:txBody>
      </p:sp>
      <p:sp>
        <p:nvSpPr>
          <p:cNvPr id="17" name="TextBox 16"/>
          <p:cNvSpPr txBox="1"/>
          <p:nvPr/>
        </p:nvSpPr>
        <p:spPr>
          <a:xfrm>
            <a:off x="566928" y="4240403"/>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18" name="TextBox 17"/>
          <p:cNvSpPr txBox="1"/>
          <p:nvPr/>
        </p:nvSpPr>
        <p:spPr>
          <a:xfrm>
            <a:off x="740664" y="4244975"/>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Taking decisions shared across entities.</a:t>
            </a:r>
          </a:p>
        </p:txBody>
      </p:sp>
      <p:sp>
        <p:nvSpPr>
          <p:cNvPr id="19" name="TextBox 18"/>
          <p:cNvSpPr txBox="1"/>
          <p:nvPr/>
        </p:nvSpPr>
        <p:spPr>
          <a:xfrm>
            <a:off x="566928" y="4448429"/>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20" name="TextBox 19"/>
          <p:cNvSpPr txBox="1"/>
          <p:nvPr/>
        </p:nvSpPr>
        <p:spPr>
          <a:xfrm>
            <a:off x="740664" y="4453001"/>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Considering major investments and transformations.</a:t>
            </a:r>
          </a:p>
        </p:txBody>
      </p:sp>
      <p:sp>
        <p:nvSpPr>
          <p:cNvPr id="21" name="TextBox 20"/>
          <p:cNvSpPr txBox="1"/>
          <p:nvPr/>
        </p:nvSpPr>
        <p:spPr>
          <a:xfrm>
            <a:off x="566928" y="4656455"/>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22" name="TextBox 21"/>
          <p:cNvSpPr txBox="1"/>
          <p:nvPr/>
        </p:nvSpPr>
        <p:spPr>
          <a:xfrm>
            <a:off x="740664" y="4661027"/>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Bearing public responsibility for outcomes.</a:t>
            </a:r>
          </a:p>
        </p:txBody>
      </p:sp>
      <p:sp>
        <p:nvSpPr>
          <p:cNvPr id="23" name="TextBox 22"/>
          <p:cNvSpPr txBox="1"/>
          <p:nvPr/>
        </p:nvSpPr>
        <p:spPr>
          <a:xfrm>
            <a:off x="3881628" y="3199765"/>
            <a:ext cx="3113532" cy="205994"/>
          </a:xfrm>
          <a:prstGeom prst="rect">
            <a:avLst/>
          </a:prstGeom>
          <a:noFill/>
        </p:spPr>
        <p:txBody>
          <a:bodyPr wrap="square" lIns="0" rIns="0" tIns="0" bIns="0">
            <a:spAutoFit/>
          </a:bodyPr>
          <a:lstStyle/>
          <a:p>
            <a:pPr algn="l">
              <a:lnSpc>
                <a:spcPts val="1334"/>
              </a:lnSpc>
            </a:pPr>
            <a:r>
              <a:rPr sz="1150" b="0" spc="70">
                <a:solidFill>
                  <a:srgbClr val="00ABAF"/>
                </a:solidFill>
                <a:latin typeface="Diodrum Arabic SemiBold"/>
                <a:ea typeface="Diodrum Arabic SemiBold"/>
                <a:cs typeface="Diodrum Arabic SemiBold"/>
              </a:rPr>
              <a:t>THE PROTOCOL THE CATEGORY REQUIRES</a:t>
            </a:r>
          </a:p>
        </p:txBody>
      </p:sp>
      <p:sp>
        <p:nvSpPr>
          <p:cNvPr id="24" name="TextBox 23"/>
          <p:cNvSpPr txBox="1"/>
          <p:nvPr/>
        </p:nvSpPr>
        <p:spPr>
          <a:xfrm>
            <a:off x="3881628" y="3446907"/>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5" name="TextBox 24"/>
          <p:cNvSpPr txBox="1"/>
          <p:nvPr/>
        </p:nvSpPr>
        <p:spPr>
          <a:xfrm>
            <a:off x="4055364" y="3451479"/>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Short, closed sessions.</a:t>
            </a:r>
          </a:p>
        </p:txBody>
      </p:sp>
      <p:sp>
        <p:nvSpPr>
          <p:cNvPr id="26" name="TextBox 25"/>
          <p:cNvSpPr txBox="1"/>
          <p:nvPr/>
        </p:nvSpPr>
        <p:spPr>
          <a:xfrm>
            <a:off x="3881628" y="3654933"/>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7" name="TextBox 26"/>
          <p:cNvSpPr txBox="1"/>
          <p:nvPr/>
        </p:nvSpPr>
        <p:spPr>
          <a:xfrm>
            <a:off x="4055364" y="3659505"/>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A very limited number of participants.</a:t>
            </a:r>
          </a:p>
        </p:txBody>
      </p:sp>
      <p:sp>
        <p:nvSpPr>
          <p:cNvPr id="28" name="TextBox 27"/>
          <p:cNvSpPr txBox="1"/>
          <p:nvPr/>
        </p:nvSpPr>
        <p:spPr>
          <a:xfrm>
            <a:off x="3881628" y="3862959"/>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9" name="TextBox 28"/>
          <p:cNvSpPr txBox="1"/>
          <p:nvPr/>
        </p:nvSpPr>
        <p:spPr>
          <a:xfrm>
            <a:off x="4055364" y="3867531"/>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Executive, non-technical content.</a:t>
            </a:r>
          </a:p>
        </p:txBody>
      </p:sp>
      <p:sp>
        <p:nvSpPr>
          <p:cNvPr id="30" name="TextBox 29"/>
          <p:cNvSpPr txBox="1"/>
          <p:nvPr/>
        </p:nvSpPr>
        <p:spPr>
          <a:xfrm>
            <a:off x="3881628" y="4070985"/>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1" name="TextBox 30"/>
          <p:cNvSpPr txBox="1"/>
          <p:nvPr/>
        </p:nvSpPr>
        <p:spPr>
          <a:xfrm>
            <a:off x="4055364" y="4075557"/>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Clear contractual confidentiality.</a:t>
            </a:r>
          </a:p>
        </p:txBody>
      </p:sp>
      <p:sp>
        <p:nvSpPr>
          <p:cNvPr id="32" name="TextBox 31"/>
          <p:cNvSpPr txBox="1"/>
          <p:nvPr/>
        </p:nvSpPr>
        <p:spPr>
          <a:xfrm>
            <a:off x="3881628" y="4279011"/>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3" name="TextBox 32"/>
          <p:cNvSpPr txBox="1"/>
          <p:nvPr/>
        </p:nvSpPr>
        <p:spPr>
          <a:xfrm>
            <a:off x="4055364" y="4283583"/>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Cases linked to real decisions.</a:t>
            </a:r>
          </a:p>
        </p:txBody>
      </p:sp>
      <p:sp>
        <p:nvSpPr>
          <p:cNvPr id="34" name="TextBox 33"/>
          <p:cNvSpPr txBox="1"/>
          <p:nvPr/>
        </p:nvSpPr>
        <p:spPr>
          <a:xfrm>
            <a:off x="3881628" y="4487037"/>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5" name="TextBox 34"/>
          <p:cNvSpPr txBox="1"/>
          <p:nvPr/>
        </p:nvSpPr>
        <p:spPr>
          <a:xfrm>
            <a:off x="4055364" y="4491609"/>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A final output: a memorandum or a decision position.</a:t>
            </a:r>
          </a:p>
        </p:txBody>
      </p:sp>
      <p:sp>
        <p:nvSpPr>
          <p:cNvPr id="36" name="Rounded Rectangle 35"/>
          <p:cNvSpPr/>
          <p:nvPr/>
        </p:nvSpPr>
        <p:spPr>
          <a:xfrm>
            <a:off x="566928" y="5042789"/>
            <a:ext cx="6428231" cy="907732"/>
          </a:xfrm>
          <a:prstGeom prst="roundRect">
            <a:avLst>
              <a:gd name="adj" fmla="val 9066"/>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207381"/>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APPLIED OUTPUT</a:t>
            </a:r>
          </a:p>
        </p:txBody>
      </p:sp>
      <p:sp>
        <p:nvSpPr>
          <p:cNvPr id="38" name="TextBox 37"/>
          <p:cNvSpPr txBox="1"/>
          <p:nvPr/>
        </p:nvSpPr>
        <p:spPr>
          <a:xfrm>
            <a:off x="731520" y="5416931"/>
            <a:ext cx="6099047" cy="361187"/>
          </a:xfrm>
          <a:prstGeom prst="rect">
            <a:avLst/>
          </a:prstGeom>
          <a:noFill/>
        </p:spPr>
        <p:txBody>
          <a:bodyPr wrap="square" lIns="0" rIns="0" tIns="0" bIns="0">
            <a:spAutoFit/>
          </a:bodyPr>
          <a:lstStyle/>
          <a:p>
            <a:pPr algn="just">
              <a:lnSpc>
                <a:spcPts val="1278"/>
              </a:lnSpc>
            </a:pPr>
            <a:r>
              <a:rPr sz="900" b="0">
                <a:solidFill>
                  <a:srgbClr val="474956"/>
                </a:solidFill>
                <a:latin typeface="Diodrum Arabic"/>
                <a:ea typeface="Diodrum Arabic"/>
                <a:cs typeface="Diodrum Arabic"/>
              </a:rPr>
              <a:t>A confidential decision memorandum on an actual file: the objective, the public value, the level of risk, the responsible entity, and the conditions for continuation or termination.</a:t>
            </a:r>
          </a:p>
        </p:txBody>
      </p:sp>
      <p:sp>
        <p:nvSpPr>
          <p:cNvPr id="39" name="Rounded Rectangle 38"/>
          <p:cNvSpPr/>
          <p:nvPr/>
        </p:nvSpPr>
        <p:spPr>
          <a:xfrm>
            <a:off x="566928" y="6115113"/>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8" y="6297993"/>
            <a:ext cx="6062471" cy="191262"/>
          </a:xfrm>
          <a:prstGeom prst="rect">
            <a:avLst/>
          </a:prstGeom>
          <a:noFill/>
        </p:spPr>
        <p:txBody>
          <a:bodyPr wrap="square" lIns="0" rIns="0" tIns="0" bIns="0">
            <a:spAutoFit/>
          </a:bodyPr>
          <a:lstStyle/>
          <a:p>
            <a:pPr algn="l">
              <a:lnSpc>
                <a:spcPts val="1218"/>
              </a:lnSpc>
            </a:pPr>
            <a:r>
              <a:rPr sz="1050" b="0" spc="90">
                <a:solidFill>
                  <a:srgbClr val="D9F3EE"/>
                </a:solidFill>
                <a:latin typeface="Diodrum Arabic SemiBold"/>
                <a:ea typeface="Diodrum Arabic SemiBold"/>
                <a:cs typeface="Diodrum Arabic SemiBold"/>
              </a:rPr>
              <a:t>THE BUILD-OR-BUY DECISION FOR THIS LEVEL</a:t>
            </a:r>
          </a:p>
        </p:txBody>
      </p:sp>
      <p:sp>
        <p:nvSpPr>
          <p:cNvPr id="41" name="TextBox 40"/>
          <p:cNvSpPr txBox="1"/>
          <p:nvPr/>
        </p:nvSpPr>
        <p:spPr>
          <a:xfrm>
            <a:off x="749808" y="6498399"/>
            <a:ext cx="6062471" cy="361187"/>
          </a:xfrm>
          <a:prstGeom prst="rect">
            <a:avLst/>
          </a:prstGeom>
          <a:noFill/>
        </p:spPr>
        <p:txBody>
          <a:bodyPr wrap="square" lIns="0" rIns="0" tIns="0" bIns="0">
            <a:spAutoFit/>
          </a:bodyPr>
          <a:lstStyle/>
          <a:p>
            <a:pPr algn="just">
              <a:lnSpc>
                <a:spcPts val="1278"/>
              </a:lnSpc>
            </a:pPr>
            <a:r>
              <a:rPr sz="900" b="0">
                <a:solidFill>
                  <a:srgbClr val="FFFFFF"/>
                </a:solidFill>
                <a:latin typeface="Diodrum Arabic"/>
                <a:ea typeface="Diodrum Arabic"/>
                <a:cs typeface="Diodrum Arabic"/>
              </a:rPr>
              <a:t>Build locally. No open programme addresses ministers as its primary category; documented coverage appears only in closed or sovereign formats — the full availability analysis is in Section 04 [31][28].</a:t>
            </a:r>
          </a:p>
        </p:txBody>
      </p:sp>
      <p:sp>
        <p:nvSpPr>
          <p:cNvPr id="42" name="Rectangle 4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44" name="TextBox 43"/>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02 · 2.3  LEVEL 2</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Vice Ministers and Excellency-rank leaders: a distinct tier that must not be merged downward</a:t>
            </a:r>
          </a:p>
        </p:txBody>
      </p:sp>
      <p:sp>
        <p:nvSpPr>
          <p:cNvPr id="4" name="TextBox 3"/>
          <p:cNvSpPr txBox="1"/>
          <p:nvPr/>
        </p:nvSpPr>
        <p:spPr>
          <a:xfrm>
            <a:off x="566928" y="1401318"/>
            <a:ext cx="6428231" cy="374395"/>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Target category: vice ministers; their equivalents among governors of authorities and government entities; assistant ministers; and other titles accredited as equivalent in authority and protocol.</a:t>
            </a:r>
          </a:p>
        </p:txBody>
      </p:sp>
      <p:sp>
        <p:nvSpPr>
          <p:cNvPr id="5" name="Rectangle 4"/>
          <p:cNvSpPr/>
          <p:nvPr/>
        </p:nvSpPr>
        <p:spPr>
          <a:xfrm>
            <a:off x="566928" y="183057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2013458"/>
            <a:ext cx="6428231" cy="566928"/>
          </a:xfrm>
          <a:prstGeom prst="roundRect">
            <a:avLst>
              <a:gd name="adj" fmla="val 14516"/>
            </a:avLst>
          </a:prstGeom>
          <a:gradFill rotWithShape="1">
            <a:gsLst>
              <a:gs pos="0">
                <a:srgbClr val="2A206A"/>
              </a:gs>
              <a:gs pos="100000">
                <a:srgbClr val="7C32C9"/>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095754"/>
            <a:ext cx="4325111" cy="363982"/>
          </a:xfrm>
          <a:prstGeom prst="rect">
            <a:avLst/>
          </a:prstGeom>
          <a:noFill/>
        </p:spPr>
        <p:txBody>
          <a:bodyPr wrap="square" lIns="0" rIns="0" tIns="0" bIns="0">
            <a:spAutoFit/>
          </a:bodyPr>
          <a:lstStyle/>
          <a:p>
            <a:pPr algn="l">
              <a:lnSpc>
                <a:spcPts val="1044"/>
              </a:lnSpc>
            </a:pPr>
            <a:r>
              <a:rPr sz="900" b="0">
                <a:solidFill>
                  <a:srgbClr val="D9D7EA"/>
                </a:solidFill>
                <a:latin typeface="Diodrum Arabic SemiBold"/>
                <a:ea typeface="Diodrum Arabic SemiBold"/>
                <a:cs typeface="Diodrum Arabic SemiBold"/>
              </a:rPr>
              <a:t>LEVEL 2</a:t>
            </a:r>
          </a:p>
          <a:p>
            <a:pPr algn="l">
              <a:lnSpc>
                <a:spcPts val="1334"/>
              </a:lnSpc>
              <a:spcBef>
                <a:spcPts val="200"/>
              </a:spcBef>
            </a:pPr>
            <a:r>
              <a:rPr sz="1150" b="1">
                <a:solidFill>
                  <a:srgbClr val="FFFFFF"/>
                </a:solidFill>
                <a:latin typeface="Diodrum Arabic"/>
                <a:ea typeface="Diodrum Arabic"/>
                <a:cs typeface="Diodrum Arabic"/>
              </a:rPr>
              <a:t>Vice Ministers and Excellency-Rank Leaders</a:t>
            </a:r>
          </a:p>
        </p:txBody>
      </p:sp>
      <p:sp>
        <p:nvSpPr>
          <p:cNvPr id="8" name="Rounded Rectangle 7"/>
          <p:cNvSpPr/>
          <p:nvPr/>
        </p:nvSpPr>
        <p:spPr>
          <a:xfrm>
            <a:off x="5568702" y="2168906"/>
            <a:ext cx="1243577" cy="256032"/>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0">
                <a:solidFill>
                  <a:srgbClr val="2A206A"/>
                </a:solidFill>
                <a:latin typeface="Diodrum Arabic SemiBold"/>
                <a:ea typeface="Diodrum Arabic SemiBold"/>
                <a:cs typeface="Diodrum Arabic SemiBold"/>
              </a:rPr>
              <a:t>Route: co-develop</a:t>
            </a:r>
          </a:p>
        </p:txBody>
      </p:sp>
      <p:sp>
        <p:nvSpPr>
          <p:cNvPr id="9" name="TextBox 8"/>
          <p:cNvSpPr txBox="1"/>
          <p:nvPr/>
        </p:nvSpPr>
        <p:spPr>
          <a:xfrm>
            <a:off x="566928" y="2726690"/>
            <a:ext cx="6428231" cy="721868"/>
          </a:xfrm>
          <a:prstGeom prst="rect">
            <a:avLst/>
          </a:prstGeom>
          <a:noFill/>
        </p:spPr>
        <p:txBody>
          <a:bodyPr wrap="square" lIns="0" rIns="0" tIns="0" bIns="0">
            <a:spAutoFit/>
          </a:bodyPr>
          <a:lstStyle/>
          <a:p>
            <a:pPr algn="just">
              <a:lnSpc>
                <a:spcPts val="1348"/>
              </a:lnSpc>
            </a:pPr>
            <a:r>
              <a:rPr sz="950" b="0">
                <a:solidFill>
                  <a:srgbClr val="474956"/>
                </a:solidFill>
                <a:latin typeface="Diodrum Arabic"/>
                <a:ea typeface="Diodrum Arabic"/>
                <a:cs typeface="Diodrum Arabic"/>
              </a:rPr>
              <a:t>A senior leadership category that sits below the ministerial level but must not be merged with deputy ministers or executive leaders: it differs in scope of authority, degree of accountability, handling of investment portfolios, direct engagement with the ministerial level, and the training protocol appropriate to it. Its essence is translating ministerial direction into funded, governed work.</a:t>
            </a:r>
          </a:p>
        </p:txBody>
      </p:sp>
      <p:sp>
        <p:nvSpPr>
          <p:cNvPr id="10" name="TextBox 9"/>
          <p:cNvSpPr txBox="1"/>
          <p:nvPr/>
        </p:nvSpPr>
        <p:spPr>
          <a:xfrm>
            <a:off x="566928" y="3539998"/>
            <a:ext cx="3113532" cy="375411"/>
          </a:xfrm>
          <a:prstGeom prst="rect">
            <a:avLst/>
          </a:prstGeom>
          <a:noFill/>
        </p:spPr>
        <p:txBody>
          <a:bodyPr wrap="square" lIns="0" rIns="0" tIns="0" bIns="0">
            <a:spAutoFit/>
          </a:bodyPr>
          <a:lstStyle/>
          <a:p>
            <a:pPr algn="l">
              <a:lnSpc>
                <a:spcPts val="1334"/>
              </a:lnSpc>
            </a:pPr>
            <a:r>
              <a:rPr sz="1150" b="0" spc="70">
                <a:solidFill>
                  <a:srgbClr val="2A206A"/>
                </a:solidFill>
                <a:latin typeface="Diodrum Arabic SemiBold"/>
                <a:ea typeface="Diodrum Arabic SemiBold"/>
                <a:cs typeface="Diodrum Arabic SemiBold"/>
              </a:rPr>
              <a:t>DECISION TYPE — PORTFOLIO AND GOVERNANCE</a:t>
            </a:r>
          </a:p>
        </p:txBody>
      </p:sp>
      <p:sp>
        <p:nvSpPr>
          <p:cNvPr id="11" name="TextBox 10"/>
          <p:cNvSpPr txBox="1"/>
          <p:nvPr/>
        </p:nvSpPr>
        <p:spPr>
          <a:xfrm>
            <a:off x="566928" y="3956558"/>
            <a:ext cx="91440" cy="183896"/>
          </a:xfrm>
          <a:prstGeom prst="rect">
            <a:avLst/>
          </a:prstGeom>
          <a:noFill/>
        </p:spPr>
        <p:txBody>
          <a:bodyPr wrap="square" lIns="0" rIns="0" tIns="0" bIns="0">
            <a:spAutoFit/>
          </a:bodyPr>
          <a:lstStyle/>
          <a:p>
            <a:pPr algn="ctr">
              <a:lnSpc>
                <a:spcPts val="1160"/>
              </a:lnSpc>
            </a:pPr>
            <a:r>
              <a:rPr sz="1000" b="0">
                <a:solidFill>
                  <a:srgbClr val="2A206A"/>
                </a:solidFill>
                <a:latin typeface="Diodrum Arabic SemiBold"/>
                <a:ea typeface="Diodrum Arabic SemiBold"/>
                <a:cs typeface="Diodrum Arabic SemiBold"/>
              </a:rPr>
              <a:t>•</a:t>
            </a:r>
          </a:p>
        </p:txBody>
      </p:sp>
      <p:sp>
        <p:nvSpPr>
          <p:cNvPr id="12" name="TextBox 11"/>
          <p:cNvSpPr txBox="1"/>
          <p:nvPr/>
        </p:nvSpPr>
        <p:spPr>
          <a:xfrm>
            <a:off x="740664" y="3961130"/>
            <a:ext cx="2939796" cy="352043"/>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Converting the minister’s direction into a portfolio of initiatives.</a:t>
            </a:r>
          </a:p>
        </p:txBody>
      </p:sp>
      <p:sp>
        <p:nvSpPr>
          <p:cNvPr id="13" name="TextBox 12"/>
          <p:cNvSpPr txBox="1"/>
          <p:nvPr/>
        </p:nvSpPr>
        <p:spPr>
          <a:xfrm>
            <a:off x="566928" y="4322318"/>
            <a:ext cx="91440" cy="183896"/>
          </a:xfrm>
          <a:prstGeom prst="rect">
            <a:avLst/>
          </a:prstGeom>
          <a:noFill/>
        </p:spPr>
        <p:txBody>
          <a:bodyPr wrap="square" lIns="0" rIns="0" tIns="0" bIns="0">
            <a:spAutoFit/>
          </a:bodyPr>
          <a:lstStyle/>
          <a:p>
            <a:pPr algn="ctr">
              <a:lnSpc>
                <a:spcPts val="1160"/>
              </a:lnSpc>
            </a:pPr>
            <a:r>
              <a:rPr sz="1000" b="0">
                <a:solidFill>
                  <a:srgbClr val="2A206A"/>
                </a:solidFill>
                <a:latin typeface="Diodrum Arabic SemiBold"/>
                <a:ea typeface="Diodrum Arabic SemiBold"/>
                <a:cs typeface="Diodrum Arabic SemiBold"/>
              </a:rPr>
              <a:t>•</a:t>
            </a:r>
          </a:p>
        </p:txBody>
      </p:sp>
      <p:sp>
        <p:nvSpPr>
          <p:cNvPr id="14" name="TextBox 13"/>
          <p:cNvSpPr txBox="1"/>
          <p:nvPr/>
        </p:nvSpPr>
        <p:spPr>
          <a:xfrm>
            <a:off x="740664" y="4326890"/>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Prioritising use cases, funding, and priorities.</a:t>
            </a:r>
          </a:p>
        </p:txBody>
      </p:sp>
      <p:sp>
        <p:nvSpPr>
          <p:cNvPr id="15" name="TextBox 14"/>
          <p:cNvSpPr txBox="1"/>
          <p:nvPr/>
        </p:nvSpPr>
        <p:spPr>
          <a:xfrm>
            <a:off x="566928" y="4530344"/>
            <a:ext cx="91440" cy="183896"/>
          </a:xfrm>
          <a:prstGeom prst="rect">
            <a:avLst/>
          </a:prstGeom>
          <a:noFill/>
        </p:spPr>
        <p:txBody>
          <a:bodyPr wrap="square" lIns="0" rIns="0" tIns="0" bIns="0">
            <a:spAutoFit/>
          </a:bodyPr>
          <a:lstStyle/>
          <a:p>
            <a:pPr algn="ctr">
              <a:lnSpc>
                <a:spcPts val="1160"/>
              </a:lnSpc>
            </a:pPr>
            <a:r>
              <a:rPr sz="1000" b="0">
                <a:solidFill>
                  <a:srgbClr val="2A206A"/>
                </a:solidFill>
                <a:latin typeface="Diodrum Arabic SemiBold"/>
                <a:ea typeface="Diodrum Arabic SemiBold"/>
                <a:cs typeface="Diodrum Arabic SemiBold"/>
              </a:rPr>
              <a:t>•</a:t>
            </a:r>
          </a:p>
        </p:txBody>
      </p:sp>
      <p:sp>
        <p:nvSpPr>
          <p:cNvPr id="16" name="TextBox 15"/>
          <p:cNvSpPr txBox="1"/>
          <p:nvPr/>
        </p:nvSpPr>
        <p:spPr>
          <a:xfrm>
            <a:off x="740664" y="4534916"/>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Approving the operating governance model.</a:t>
            </a:r>
          </a:p>
        </p:txBody>
      </p:sp>
      <p:sp>
        <p:nvSpPr>
          <p:cNvPr id="17" name="TextBox 16"/>
          <p:cNvSpPr txBox="1"/>
          <p:nvPr/>
        </p:nvSpPr>
        <p:spPr>
          <a:xfrm>
            <a:off x="566928" y="4738370"/>
            <a:ext cx="91440" cy="183896"/>
          </a:xfrm>
          <a:prstGeom prst="rect">
            <a:avLst/>
          </a:prstGeom>
          <a:noFill/>
        </p:spPr>
        <p:txBody>
          <a:bodyPr wrap="square" lIns="0" rIns="0" tIns="0" bIns="0">
            <a:spAutoFit/>
          </a:bodyPr>
          <a:lstStyle/>
          <a:p>
            <a:pPr algn="ctr">
              <a:lnSpc>
                <a:spcPts val="1160"/>
              </a:lnSpc>
            </a:pPr>
            <a:r>
              <a:rPr sz="1000" b="0">
                <a:solidFill>
                  <a:srgbClr val="2A206A"/>
                </a:solidFill>
                <a:latin typeface="Diodrum Arabic SemiBold"/>
                <a:ea typeface="Diodrum Arabic SemiBold"/>
                <a:cs typeface="Diodrum Arabic SemiBold"/>
              </a:rPr>
              <a:t>•</a:t>
            </a:r>
          </a:p>
        </p:txBody>
      </p:sp>
      <p:sp>
        <p:nvSpPr>
          <p:cNvPr id="18" name="TextBox 17"/>
          <p:cNvSpPr txBox="1"/>
          <p:nvPr/>
        </p:nvSpPr>
        <p:spPr>
          <a:xfrm>
            <a:off x="740664" y="4742942"/>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Monitoring investment performance.</a:t>
            </a:r>
          </a:p>
        </p:txBody>
      </p:sp>
      <p:sp>
        <p:nvSpPr>
          <p:cNvPr id="19" name="TextBox 18"/>
          <p:cNvSpPr txBox="1"/>
          <p:nvPr/>
        </p:nvSpPr>
        <p:spPr>
          <a:xfrm>
            <a:off x="566928" y="4946396"/>
            <a:ext cx="91440" cy="183896"/>
          </a:xfrm>
          <a:prstGeom prst="rect">
            <a:avLst/>
          </a:prstGeom>
          <a:noFill/>
        </p:spPr>
        <p:txBody>
          <a:bodyPr wrap="square" lIns="0" rIns="0" tIns="0" bIns="0">
            <a:spAutoFit/>
          </a:bodyPr>
          <a:lstStyle/>
          <a:p>
            <a:pPr algn="ctr">
              <a:lnSpc>
                <a:spcPts val="1160"/>
              </a:lnSpc>
            </a:pPr>
            <a:r>
              <a:rPr sz="1000" b="0">
                <a:solidFill>
                  <a:srgbClr val="2A206A"/>
                </a:solidFill>
                <a:latin typeface="Diodrum Arabic SemiBold"/>
                <a:ea typeface="Diodrum Arabic SemiBold"/>
                <a:cs typeface="Diodrum Arabic SemiBold"/>
              </a:rPr>
              <a:t>•</a:t>
            </a:r>
          </a:p>
        </p:txBody>
      </p:sp>
      <p:sp>
        <p:nvSpPr>
          <p:cNvPr id="20" name="TextBox 19"/>
          <p:cNvSpPr txBox="1"/>
          <p:nvPr/>
        </p:nvSpPr>
        <p:spPr>
          <a:xfrm>
            <a:off x="740664" y="4950968"/>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Taking continuation or termination decisions.</a:t>
            </a:r>
          </a:p>
        </p:txBody>
      </p:sp>
      <p:sp>
        <p:nvSpPr>
          <p:cNvPr id="21" name="TextBox 20"/>
          <p:cNvSpPr txBox="1"/>
          <p:nvPr/>
        </p:nvSpPr>
        <p:spPr>
          <a:xfrm>
            <a:off x="566928" y="5154422"/>
            <a:ext cx="91440" cy="183896"/>
          </a:xfrm>
          <a:prstGeom prst="rect">
            <a:avLst/>
          </a:prstGeom>
          <a:noFill/>
        </p:spPr>
        <p:txBody>
          <a:bodyPr wrap="square" lIns="0" rIns="0" tIns="0" bIns="0">
            <a:spAutoFit/>
          </a:bodyPr>
          <a:lstStyle/>
          <a:p>
            <a:pPr algn="ctr">
              <a:lnSpc>
                <a:spcPts val="1160"/>
              </a:lnSpc>
            </a:pPr>
            <a:r>
              <a:rPr sz="1000" b="0">
                <a:solidFill>
                  <a:srgbClr val="2A206A"/>
                </a:solidFill>
                <a:latin typeface="Diodrum Arabic SemiBold"/>
                <a:ea typeface="Diodrum Arabic SemiBold"/>
                <a:cs typeface="Diodrum Arabic SemiBold"/>
              </a:rPr>
              <a:t>•</a:t>
            </a:r>
          </a:p>
        </p:txBody>
      </p:sp>
      <p:sp>
        <p:nvSpPr>
          <p:cNvPr id="22" name="TextBox 21"/>
          <p:cNvSpPr txBox="1"/>
          <p:nvPr/>
        </p:nvSpPr>
        <p:spPr>
          <a:xfrm>
            <a:off x="740664" y="5158994"/>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Managing coordination across entities and sectors.</a:t>
            </a:r>
          </a:p>
        </p:txBody>
      </p:sp>
      <p:sp>
        <p:nvSpPr>
          <p:cNvPr id="23" name="TextBox 22"/>
          <p:cNvSpPr txBox="1"/>
          <p:nvPr/>
        </p:nvSpPr>
        <p:spPr>
          <a:xfrm>
            <a:off x="3881628" y="3539998"/>
            <a:ext cx="3113532" cy="205994"/>
          </a:xfrm>
          <a:prstGeom prst="rect">
            <a:avLst/>
          </a:prstGeom>
          <a:noFill/>
        </p:spPr>
        <p:txBody>
          <a:bodyPr wrap="square" lIns="0" rIns="0" tIns="0" bIns="0">
            <a:spAutoFit/>
          </a:bodyPr>
          <a:lstStyle/>
          <a:p>
            <a:pPr algn="l">
              <a:lnSpc>
                <a:spcPts val="1334"/>
              </a:lnSpc>
            </a:pPr>
            <a:r>
              <a:rPr sz="1150" b="0" spc="70">
                <a:solidFill>
                  <a:srgbClr val="00ABAF"/>
                </a:solidFill>
                <a:latin typeface="Diodrum Arabic SemiBold"/>
                <a:ea typeface="Diodrum Arabic SemiBold"/>
                <a:cs typeface="Diodrum Arabic SemiBold"/>
              </a:rPr>
              <a:t>THE PROTOCOL THE CATEGORY REQUIRES</a:t>
            </a:r>
          </a:p>
        </p:txBody>
      </p:sp>
      <p:sp>
        <p:nvSpPr>
          <p:cNvPr id="24" name="TextBox 23"/>
          <p:cNvSpPr txBox="1"/>
          <p:nvPr/>
        </p:nvSpPr>
        <p:spPr>
          <a:xfrm>
            <a:off x="3881628" y="3787140"/>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5" name="TextBox 24"/>
          <p:cNvSpPr txBox="1"/>
          <p:nvPr/>
        </p:nvSpPr>
        <p:spPr>
          <a:xfrm>
            <a:off x="4055364" y="3791712"/>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Small, selective cohorts.</a:t>
            </a:r>
          </a:p>
        </p:txBody>
      </p:sp>
      <p:sp>
        <p:nvSpPr>
          <p:cNvPr id="26" name="TextBox 25"/>
          <p:cNvSpPr txBox="1"/>
          <p:nvPr/>
        </p:nvSpPr>
        <p:spPr>
          <a:xfrm>
            <a:off x="3881628" y="3995166"/>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7" name="TextBox 26"/>
          <p:cNvSpPr txBox="1"/>
          <p:nvPr/>
        </p:nvSpPr>
        <p:spPr>
          <a:xfrm>
            <a:off x="4055364" y="3999738"/>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A high level of privacy.</a:t>
            </a:r>
          </a:p>
        </p:txBody>
      </p:sp>
      <p:sp>
        <p:nvSpPr>
          <p:cNvPr id="28" name="TextBox 27"/>
          <p:cNvSpPr txBox="1"/>
          <p:nvPr/>
        </p:nvSpPr>
        <p:spPr>
          <a:xfrm>
            <a:off x="3881628" y="4203192"/>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9" name="TextBox 28"/>
          <p:cNvSpPr txBox="1"/>
          <p:nvPr/>
        </p:nvSpPr>
        <p:spPr>
          <a:xfrm>
            <a:off x="4055364" y="4207764"/>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Saudi government cases.</a:t>
            </a:r>
          </a:p>
        </p:txBody>
      </p:sp>
      <p:sp>
        <p:nvSpPr>
          <p:cNvPr id="30" name="TextBox 29"/>
          <p:cNvSpPr txBox="1"/>
          <p:nvPr/>
        </p:nvSpPr>
        <p:spPr>
          <a:xfrm>
            <a:off x="3881628" y="4411218"/>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1" name="TextBox 30"/>
          <p:cNvSpPr txBox="1"/>
          <p:nvPr/>
        </p:nvSpPr>
        <p:spPr>
          <a:xfrm>
            <a:off x="4055364" y="4415790"/>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Peer learning among participants of the same level.</a:t>
            </a:r>
          </a:p>
        </p:txBody>
      </p:sp>
      <p:sp>
        <p:nvSpPr>
          <p:cNvPr id="32" name="TextBox 31"/>
          <p:cNvSpPr txBox="1"/>
          <p:nvPr/>
        </p:nvSpPr>
        <p:spPr>
          <a:xfrm>
            <a:off x="3881628" y="4619244"/>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3" name="TextBox 32"/>
          <p:cNvSpPr txBox="1"/>
          <p:nvPr/>
        </p:nvSpPr>
        <p:spPr>
          <a:xfrm>
            <a:off x="4055364" y="4623816"/>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An intensive programme or short executive residency.</a:t>
            </a:r>
          </a:p>
        </p:txBody>
      </p:sp>
      <p:sp>
        <p:nvSpPr>
          <p:cNvPr id="34" name="TextBox 33"/>
          <p:cNvSpPr txBox="1"/>
          <p:nvPr/>
        </p:nvSpPr>
        <p:spPr>
          <a:xfrm>
            <a:off x="3881628" y="4827270"/>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5" name="TextBox 34"/>
          <p:cNvSpPr txBox="1"/>
          <p:nvPr/>
        </p:nvSpPr>
        <p:spPr>
          <a:xfrm>
            <a:off x="4055364" y="4831842"/>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Applied follow-up after the programme.</a:t>
            </a:r>
          </a:p>
        </p:txBody>
      </p:sp>
      <p:sp>
        <p:nvSpPr>
          <p:cNvPr id="36" name="Rounded Rectangle 35"/>
          <p:cNvSpPr/>
          <p:nvPr/>
        </p:nvSpPr>
        <p:spPr>
          <a:xfrm>
            <a:off x="566928" y="5540756"/>
            <a:ext cx="6428231" cy="745426"/>
          </a:xfrm>
          <a:prstGeom prst="roundRect">
            <a:avLst>
              <a:gd name="adj" fmla="val 1104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705348"/>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APPLIED OUTPUT</a:t>
            </a:r>
          </a:p>
        </p:txBody>
      </p:sp>
      <p:sp>
        <p:nvSpPr>
          <p:cNvPr id="38" name="TextBox 37"/>
          <p:cNvSpPr txBox="1"/>
          <p:nvPr/>
        </p:nvSpPr>
        <p:spPr>
          <a:xfrm>
            <a:off x="731520" y="5914898"/>
            <a:ext cx="6099047" cy="198882"/>
          </a:xfrm>
          <a:prstGeom prst="rect">
            <a:avLst/>
          </a:prstGeom>
          <a:noFill/>
        </p:spPr>
        <p:txBody>
          <a:bodyPr wrap="square" lIns="0" rIns="0" tIns="0" bIns="0">
            <a:spAutoFit/>
          </a:bodyPr>
          <a:lstStyle/>
          <a:p>
            <a:pPr algn="l">
              <a:lnSpc>
                <a:spcPts val="1278"/>
              </a:lnSpc>
            </a:pPr>
            <a:r>
              <a:rPr sz="900" b="0">
                <a:solidFill>
                  <a:srgbClr val="474956"/>
                </a:solidFill>
                <a:latin typeface="Diodrum Arabic"/>
                <a:ea typeface="Diodrum Arabic"/>
                <a:cs typeface="Diodrum Arabic"/>
              </a:rPr>
              <a:t>A portfolio and governance package: prioritised use cases, owners, budgets, controls, and implementation phases.</a:t>
            </a:r>
          </a:p>
        </p:txBody>
      </p:sp>
      <p:sp>
        <p:nvSpPr>
          <p:cNvPr id="39" name="Rounded Rectangle 38"/>
          <p:cNvSpPr/>
          <p:nvPr/>
        </p:nvSpPr>
        <p:spPr>
          <a:xfrm>
            <a:off x="566928" y="6450774"/>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8" y="6633654"/>
            <a:ext cx="6062471" cy="191262"/>
          </a:xfrm>
          <a:prstGeom prst="rect">
            <a:avLst/>
          </a:prstGeom>
          <a:noFill/>
        </p:spPr>
        <p:txBody>
          <a:bodyPr wrap="square" lIns="0" rIns="0" tIns="0" bIns="0">
            <a:spAutoFit/>
          </a:bodyPr>
          <a:lstStyle/>
          <a:p>
            <a:pPr algn="l">
              <a:lnSpc>
                <a:spcPts val="1218"/>
              </a:lnSpc>
            </a:pPr>
            <a:r>
              <a:rPr sz="1050" b="0" spc="90">
                <a:solidFill>
                  <a:srgbClr val="D9F3EE"/>
                </a:solidFill>
                <a:latin typeface="Diodrum Arabic SemiBold"/>
                <a:ea typeface="Diodrum Arabic SemiBold"/>
                <a:cs typeface="Diodrum Arabic SemiBold"/>
              </a:rPr>
              <a:t>THE BUILD-OR-BUY DECISION FOR THIS LEVEL</a:t>
            </a:r>
          </a:p>
        </p:txBody>
      </p:sp>
      <p:sp>
        <p:nvSpPr>
          <p:cNvPr id="41" name="TextBox 40"/>
          <p:cNvSpPr txBox="1"/>
          <p:nvPr/>
        </p:nvSpPr>
        <p:spPr>
          <a:xfrm>
            <a:off x="749808" y="6834060"/>
            <a:ext cx="6062471" cy="361187"/>
          </a:xfrm>
          <a:prstGeom prst="rect">
            <a:avLst/>
          </a:prstGeom>
          <a:noFill/>
        </p:spPr>
        <p:txBody>
          <a:bodyPr wrap="square" lIns="0" rIns="0" tIns="0" bIns="0">
            <a:spAutoFit/>
          </a:bodyPr>
          <a:lstStyle/>
          <a:p>
            <a:pPr algn="just">
              <a:lnSpc>
                <a:spcPts val="1278"/>
              </a:lnSpc>
            </a:pPr>
            <a:r>
              <a:rPr sz="900" b="0">
                <a:solidFill>
                  <a:srgbClr val="FFFFFF"/>
                </a:solidFill>
                <a:latin typeface="Diodrum Arabic"/>
                <a:ea typeface="Diodrum Arabic"/>
                <a:cs typeface="Diodrum Arabic"/>
              </a:rPr>
              <a:t>Co-develop. Selective programmes accept this category but lack Saudi cases and local ownership of confidentiality and measurement — the fit is a trusted partner with a Saudi owner (Section 04) [32][35].</a:t>
            </a:r>
          </a:p>
        </p:txBody>
      </p:sp>
      <p:sp>
        <p:nvSpPr>
          <p:cNvPr id="42" name="Rectangle 4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44" name="TextBox 43"/>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02 · 2.4  LEVEL 3</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Deputy Ministers and Deputy Governors: the last principal review before commitments are made</a:t>
            </a:r>
          </a:p>
        </p:txBody>
      </p:sp>
      <p:sp>
        <p:nvSpPr>
          <p:cNvPr id="4" name="TextBox 3"/>
          <p:cNvSpPr txBox="1"/>
          <p:nvPr/>
        </p:nvSpPr>
        <p:spPr>
          <a:xfrm>
            <a:off x="566928" y="1401318"/>
            <a:ext cx="6428231" cy="205486"/>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Target category: deputy ministers, deputy governors, and titles equivalent in executive authority.</a:t>
            </a:r>
          </a:p>
        </p:txBody>
      </p:sp>
      <p:sp>
        <p:nvSpPr>
          <p:cNvPr id="5" name="Rectangle 4"/>
          <p:cNvSpPr/>
          <p:nvPr/>
        </p:nvSpPr>
        <p:spPr>
          <a:xfrm>
            <a:off x="566928" y="166166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844548"/>
            <a:ext cx="6428231" cy="566928"/>
          </a:xfrm>
          <a:prstGeom prst="roundRect">
            <a:avLst>
              <a:gd name="adj" fmla="val 14516"/>
            </a:avLst>
          </a:prstGeom>
          <a:gradFill rotWithShape="1">
            <a:gsLst>
              <a:gs pos="0">
                <a:srgbClr val="00ABAF"/>
              </a:gs>
              <a:gs pos="100000">
                <a:srgbClr val="2A206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926844"/>
            <a:ext cx="4325111" cy="363982"/>
          </a:xfrm>
          <a:prstGeom prst="rect">
            <a:avLst/>
          </a:prstGeom>
          <a:noFill/>
        </p:spPr>
        <p:txBody>
          <a:bodyPr wrap="square" lIns="0" rIns="0" tIns="0" bIns="0">
            <a:spAutoFit/>
          </a:bodyPr>
          <a:lstStyle/>
          <a:p>
            <a:pPr algn="l">
              <a:lnSpc>
                <a:spcPts val="1044"/>
              </a:lnSpc>
            </a:pPr>
            <a:r>
              <a:rPr sz="900" b="0">
                <a:solidFill>
                  <a:srgbClr val="D9D7EA"/>
                </a:solidFill>
                <a:latin typeface="Diodrum Arabic SemiBold"/>
                <a:ea typeface="Diodrum Arabic SemiBold"/>
                <a:cs typeface="Diodrum Arabic SemiBold"/>
              </a:rPr>
              <a:t>LEVEL 3</a:t>
            </a:r>
          </a:p>
          <a:p>
            <a:pPr algn="l">
              <a:lnSpc>
                <a:spcPts val="1334"/>
              </a:lnSpc>
              <a:spcBef>
                <a:spcPts val="200"/>
              </a:spcBef>
            </a:pPr>
            <a:r>
              <a:rPr sz="1150" b="1">
                <a:solidFill>
                  <a:srgbClr val="FFFFFF"/>
                </a:solidFill>
                <a:latin typeface="Diodrum Arabic"/>
                <a:ea typeface="Diodrum Arabic"/>
                <a:cs typeface="Diodrum Arabic"/>
              </a:rPr>
              <a:t>Deputy Ministers, Deputy Governors, and Equivalent Leaders</a:t>
            </a:r>
          </a:p>
        </p:txBody>
      </p:sp>
      <p:sp>
        <p:nvSpPr>
          <p:cNvPr id="8" name="Rounded Rectangle 7"/>
          <p:cNvSpPr/>
          <p:nvPr/>
        </p:nvSpPr>
        <p:spPr>
          <a:xfrm>
            <a:off x="5209481" y="1999996"/>
            <a:ext cx="1602798" cy="256032"/>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0">
                <a:solidFill>
                  <a:srgbClr val="00ABAF"/>
                </a:solidFill>
                <a:latin typeface="Diodrum Arabic SemiBold"/>
                <a:ea typeface="Diodrum Arabic SemiBold"/>
                <a:cs typeface="Diodrum Arabic SemiBold"/>
              </a:rPr>
              <a:t>Route: procure and adapt</a:t>
            </a:r>
          </a:p>
        </p:txBody>
      </p:sp>
      <p:sp>
        <p:nvSpPr>
          <p:cNvPr id="9" name="TextBox 8"/>
          <p:cNvSpPr txBox="1"/>
          <p:nvPr/>
        </p:nvSpPr>
        <p:spPr>
          <a:xfrm>
            <a:off x="566928" y="2557780"/>
            <a:ext cx="6428231" cy="550545"/>
          </a:xfrm>
          <a:prstGeom prst="rect">
            <a:avLst/>
          </a:prstGeom>
          <a:noFill/>
        </p:spPr>
        <p:txBody>
          <a:bodyPr wrap="square" lIns="0" rIns="0" tIns="0" bIns="0">
            <a:spAutoFit/>
          </a:bodyPr>
          <a:lstStyle/>
          <a:p>
            <a:pPr algn="just">
              <a:lnSpc>
                <a:spcPts val="1348"/>
              </a:lnSpc>
            </a:pPr>
            <a:r>
              <a:rPr sz="950" b="0">
                <a:solidFill>
                  <a:srgbClr val="474956"/>
                </a:solidFill>
                <a:latin typeface="Diodrum Arabic"/>
                <a:ea typeface="Diodrum Arabic"/>
                <a:cs typeface="Diodrum Arabic"/>
              </a:rPr>
              <a:t>This level translates the approved portfolio into readiness and execution decisions, and is the last principal level to review many initiatives before budget, time, and contracting commitments are made. Its training content is therefore closer to guided application than to general awareness.</a:t>
            </a:r>
          </a:p>
        </p:txBody>
      </p:sp>
      <p:sp>
        <p:nvSpPr>
          <p:cNvPr id="10" name="TextBox 9"/>
          <p:cNvSpPr txBox="1"/>
          <p:nvPr/>
        </p:nvSpPr>
        <p:spPr>
          <a:xfrm>
            <a:off x="566928" y="3199765"/>
            <a:ext cx="3113532" cy="375411"/>
          </a:xfrm>
          <a:prstGeom prst="rect">
            <a:avLst/>
          </a:prstGeom>
          <a:noFill/>
        </p:spPr>
        <p:txBody>
          <a:bodyPr wrap="square" lIns="0" rIns="0" tIns="0" bIns="0">
            <a:spAutoFit/>
          </a:bodyPr>
          <a:lstStyle/>
          <a:p>
            <a:pPr algn="l">
              <a:lnSpc>
                <a:spcPts val="1334"/>
              </a:lnSpc>
            </a:pPr>
            <a:r>
              <a:rPr sz="1150" b="0" spc="70">
                <a:solidFill>
                  <a:srgbClr val="00ABAF"/>
                </a:solidFill>
                <a:latin typeface="Diodrum Arabic SemiBold"/>
                <a:ea typeface="Diodrum Arabic SemiBold"/>
                <a:cs typeface="Diodrum Arabic SemiBold"/>
              </a:rPr>
              <a:t>DECISION TYPE — READINESS AND COMMITMENT</a:t>
            </a:r>
          </a:p>
        </p:txBody>
      </p:sp>
      <p:sp>
        <p:nvSpPr>
          <p:cNvPr id="11" name="TextBox 10"/>
          <p:cNvSpPr txBox="1"/>
          <p:nvPr/>
        </p:nvSpPr>
        <p:spPr>
          <a:xfrm>
            <a:off x="566928" y="3616325"/>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12" name="TextBox 11"/>
          <p:cNvSpPr txBox="1"/>
          <p:nvPr/>
        </p:nvSpPr>
        <p:spPr>
          <a:xfrm>
            <a:off x="740664" y="3620897"/>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Assessing the readiness of use cases.</a:t>
            </a:r>
          </a:p>
        </p:txBody>
      </p:sp>
      <p:sp>
        <p:nvSpPr>
          <p:cNvPr id="13" name="TextBox 12"/>
          <p:cNvSpPr txBox="1"/>
          <p:nvPr/>
        </p:nvSpPr>
        <p:spPr>
          <a:xfrm>
            <a:off x="566928" y="3824351"/>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14" name="TextBox 13"/>
          <p:cNvSpPr txBox="1"/>
          <p:nvPr/>
        </p:nvSpPr>
        <p:spPr>
          <a:xfrm>
            <a:off x="740664" y="3828923"/>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Taking decisions on data, access, and sharing.</a:t>
            </a:r>
          </a:p>
        </p:txBody>
      </p:sp>
      <p:sp>
        <p:nvSpPr>
          <p:cNvPr id="15" name="TextBox 14"/>
          <p:cNvSpPr txBox="1"/>
          <p:nvPr/>
        </p:nvSpPr>
        <p:spPr>
          <a:xfrm>
            <a:off x="566928" y="4032377"/>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16" name="TextBox 15"/>
          <p:cNvSpPr txBox="1"/>
          <p:nvPr/>
        </p:nvSpPr>
        <p:spPr>
          <a:xfrm>
            <a:off x="740664" y="4036949"/>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Reviewing contracting and procurement.</a:t>
            </a:r>
          </a:p>
        </p:txBody>
      </p:sp>
      <p:sp>
        <p:nvSpPr>
          <p:cNvPr id="17" name="TextBox 16"/>
          <p:cNvSpPr txBox="1"/>
          <p:nvPr/>
        </p:nvSpPr>
        <p:spPr>
          <a:xfrm>
            <a:off x="566928" y="4240403"/>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18" name="TextBox 17"/>
          <p:cNvSpPr txBox="1"/>
          <p:nvPr/>
        </p:nvSpPr>
        <p:spPr>
          <a:xfrm>
            <a:off x="740664" y="4244975"/>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Managing security and regulatory risks.</a:t>
            </a:r>
          </a:p>
        </p:txBody>
      </p:sp>
      <p:sp>
        <p:nvSpPr>
          <p:cNvPr id="19" name="TextBox 18"/>
          <p:cNvSpPr txBox="1"/>
          <p:nvPr/>
        </p:nvSpPr>
        <p:spPr>
          <a:xfrm>
            <a:off x="566928" y="4448429"/>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0" name="TextBox 19"/>
          <p:cNvSpPr txBox="1"/>
          <p:nvPr/>
        </p:nvSpPr>
        <p:spPr>
          <a:xfrm>
            <a:off x="740664" y="4453001"/>
            <a:ext cx="2939796" cy="352043"/>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Following up implementation and preparing the workforce.</a:t>
            </a:r>
          </a:p>
        </p:txBody>
      </p:sp>
      <p:sp>
        <p:nvSpPr>
          <p:cNvPr id="21" name="TextBox 20"/>
          <p:cNvSpPr txBox="1"/>
          <p:nvPr/>
        </p:nvSpPr>
        <p:spPr>
          <a:xfrm>
            <a:off x="566928" y="4814189"/>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2" name="TextBox 21"/>
          <p:cNvSpPr txBox="1"/>
          <p:nvPr/>
        </p:nvSpPr>
        <p:spPr>
          <a:xfrm>
            <a:off x="740664" y="4818761"/>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Ensuring clear performance indicators and owners exist.</a:t>
            </a:r>
          </a:p>
        </p:txBody>
      </p:sp>
      <p:sp>
        <p:nvSpPr>
          <p:cNvPr id="23" name="TextBox 22"/>
          <p:cNvSpPr txBox="1"/>
          <p:nvPr/>
        </p:nvSpPr>
        <p:spPr>
          <a:xfrm>
            <a:off x="3881628" y="3199765"/>
            <a:ext cx="3113532" cy="205994"/>
          </a:xfrm>
          <a:prstGeom prst="rect">
            <a:avLst/>
          </a:prstGeom>
          <a:noFill/>
        </p:spPr>
        <p:txBody>
          <a:bodyPr wrap="square" lIns="0" rIns="0" tIns="0" bIns="0">
            <a:spAutoFit/>
          </a:bodyPr>
          <a:lstStyle/>
          <a:p>
            <a:pPr algn="l">
              <a:lnSpc>
                <a:spcPts val="1334"/>
              </a:lnSpc>
            </a:pPr>
            <a:r>
              <a:rPr sz="1150" b="0" spc="70">
                <a:solidFill>
                  <a:srgbClr val="7C32C9"/>
                </a:solidFill>
                <a:latin typeface="Diodrum Arabic SemiBold"/>
                <a:ea typeface="Diodrum Arabic SemiBold"/>
                <a:cs typeface="Diodrum Arabic SemiBold"/>
              </a:rPr>
              <a:t>THE PROTOCOL THE CATEGORY REQUIRES</a:t>
            </a:r>
          </a:p>
        </p:txBody>
      </p:sp>
      <p:sp>
        <p:nvSpPr>
          <p:cNvPr id="24" name="TextBox 23"/>
          <p:cNvSpPr txBox="1"/>
          <p:nvPr/>
        </p:nvSpPr>
        <p:spPr>
          <a:xfrm>
            <a:off x="3881628" y="3446907"/>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25" name="TextBox 24"/>
          <p:cNvSpPr txBox="1"/>
          <p:nvPr/>
        </p:nvSpPr>
        <p:spPr>
          <a:xfrm>
            <a:off x="4055364" y="3451479"/>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Guided executive cohorts.</a:t>
            </a:r>
          </a:p>
        </p:txBody>
      </p:sp>
      <p:sp>
        <p:nvSpPr>
          <p:cNvPr id="26" name="TextBox 25"/>
          <p:cNvSpPr txBox="1"/>
          <p:nvPr/>
        </p:nvSpPr>
        <p:spPr>
          <a:xfrm>
            <a:off x="3881628" y="3654933"/>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27" name="TextBox 26"/>
          <p:cNvSpPr txBox="1"/>
          <p:nvPr/>
        </p:nvSpPr>
        <p:spPr>
          <a:xfrm>
            <a:off x="4055364" y="3659505"/>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A blended programme extending over several weeks.</a:t>
            </a:r>
          </a:p>
        </p:txBody>
      </p:sp>
      <p:sp>
        <p:nvSpPr>
          <p:cNvPr id="28" name="TextBox 27"/>
          <p:cNvSpPr txBox="1"/>
          <p:nvPr/>
        </p:nvSpPr>
        <p:spPr>
          <a:xfrm>
            <a:off x="3881628" y="3862959"/>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29" name="TextBox 28"/>
          <p:cNvSpPr txBox="1"/>
          <p:nvPr/>
        </p:nvSpPr>
        <p:spPr>
          <a:xfrm>
            <a:off x="4055364" y="3867531"/>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Application to a real work case.</a:t>
            </a:r>
          </a:p>
        </p:txBody>
      </p:sp>
      <p:sp>
        <p:nvSpPr>
          <p:cNvPr id="30" name="TextBox 29"/>
          <p:cNvSpPr txBox="1"/>
          <p:nvPr/>
        </p:nvSpPr>
        <p:spPr>
          <a:xfrm>
            <a:off x="3881628" y="4070985"/>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31" name="TextBox 30"/>
          <p:cNvSpPr txBox="1"/>
          <p:nvPr/>
        </p:nvSpPr>
        <p:spPr>
          <a:xfrm>
            <a:off x="4055364" y="4075557"/>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Practical training on procurement, data, and governance.</a:t>
            </a:r>
          </a:p>
        </p:txBody>
      </p:sp>
      <p:sp>
        <p:nvSpPr>
          <p:cNvPr id="32" name="TextBox 31"/>
          <p:cNvSpPr txBox="1"/>
          <p:nvPr/>
        </p:nvSpPr>
        <p:spPr>
          <a:xfrm>
            <a:off x="3881628" y="4279011"/>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33" name="TextBox 32"/>
          <p:cNvSpPr txBox="1"/>
          <p:nvPr/>
        </p:nvSpPr>
        <p:spPr>
          <a:xfrm>
            <a:off x="4055364" y="4283583"/>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Executive coaching or supervision of the applied project.</a:t>
            </a:r>
          </a:p>
        </p:txBody>
      </p:sp>
      <p:sp>
        <p:nvSpPr>
          <p:cNvPr id="34" name="Rounded Rectangle 33"/>
          <p:cNvSpPr/>
          <p:nvPr/>
        </p:nvSpPr>
        <p:spPr>
          <a:xfrm>
            <a:off x="566928" y="5200523"/>
            <a:ext cx="6428231" cy="907732"/>
          </a:xfrm>
          <a:prstGeom prst="roundRect">
            <a:avLst>
              <a:gd name="adj" fmla="val 9066"/>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365115"/>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APPLIED OUTPUT</a:t>
            </a:r>
          </a:p>
        </p:txBody>
      </p:sp>
      <p:sp>
        <p:nvSpPr>
          <p:cNvPr id="36" name="TextBox 35"/>
          <p:cNvSpPr txBox="1"/>
          <p:nvPr/>
        </p:nvSpPr>
        <p:spPr>
          <a:xfrm>
            <a:off x="731520" y="5574665"/>
            <a:ext cx="6099047" cy="361187"/>
          </a:xfrm>
          <a:prstGeom prst="rect">
            <a:avLst/>
          </a:prstGeom>
          <a:noFill/>
        </p:spPr>
        <p:txBody>
          <a:bodyPr wrap="square" lIns="0" rIns="0" tIns="0" bIns="0">
            <a:spAutoFit/>
          </a:bodyPr>
          <a:lstStyle/>
          <a:p>
            <a:pPr algn="l">
              <a:lnSpc>
                <a:spcPts val="1278"/>
              </a:lnSpc>
            </a:pPr>
            <a:r>
              <a:rPr sz="900" b="0">
                <a:solidFill>
                  <a:srgbClr val="474956"/>
                </a:solidFill>
                <a:latin typeface="Diodrum Arabic"/>
                <a:ea typeface="Diodrum Arabic"/>
                <a:cs typeface="Diodrum Arabic"/>
              </a:rPr>
              <a:t>An implementation charter linking the use case to data, controls, contracting, the owner, phases, and measurement indicators.</a:t>
            </a:r>
          </a:p>
        </p:txBody>
      </p:sp>
      <p:sp>
        <p:nvSpPr>
          <p:cNvPr id="37" name="Rounded Rectangle 36"/>
          <p:cNvSpPr/>
          <p:nvPr/>
        </p:nvSpPr>
        <p:spPr>
          <a:xfrm>
            <a:off x="566928" y="6272847"/>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6455727"/>
            <a:ext cx="6062471" cy="191262"/>
          </a:xfrm>
          <a:prstGeom prst="rect">
            <a:avLst/>
          </a:prstGeom>
          <a:noFill/>
        </p:spPr>
        <p:txBody>
          <a:bodyPr wrap="square" lIns="0" rIns="0" tIns="0" bIns="0">
            <a:spAutoFit/>
          </a:bodyPr>
          <a:lstStyle/>
          <a:p>
            <a:pPr algn="l">
              <a:lnSpc>
                <a:spcPts val="1218"/>
              </a:lnSpc>
            </a:pPr>
            <a:r>
              <a:rPr sz="1050" b="0" spc="90">
                <a:solidFill>
                  <a:srgbClr val="D9F3EE"/>
                </a:solidFill>
                <a:latin typeface="Diodrum Arabic SemiBold"/>
                <a:ea typeface="Diodrum Arabic SemiBold"/>
                <a:cs typeface="Diodrum Arabic SemiBold"/>
              </a:rPr>
              <a:t>THE BUILD-OR-BUY DECISION FOR THIS LEVEL</a:t>
            </a:r>
          </a:p>
        </p:txBody>
      </p:sp>
      <p:sp>
        <p:nvSpPr>
          <p:cNvPr id="39" name="TextBox 38"/>
          <p:cNvSpPr txBox="1"/>
          <p:nvPr/>
        </p:nvSpPr>
        <p:spPr>
          <a:xfrm>
            <a:off x="749808" y="6656133"/>
            <a:ext cx="6062471" cy="361187"/>
          </a:xfrm>
          <a:prstGeom prst="rect">
            <a:avLst/>
          </a:prstGeom>
          <a:noFill/>
        </p:spPr>
        <p:txBody>
          <a:bodyPr wrap="square" lIns="0" rIns="0" tIns="0" bIns="0">
            <a:spAutoFit/>
          </a:bodyPr>
          <a:lstStyle/>
          <a:p>
            <a:pPr algn="just">
              <a:lnSpc>
                <a:spcPts val="1278"/>
              </a:lnSpc>
            </a:pPr>
            <a:r>
              <a:rPr sz="900" b="0">
                <a:solidFill>
                  <a:srgbClr val="FFFFFF"/>
                </a:solidFill>
                <a:latin typeface="Diodrum Arabic"/>
                <a:ea typeface="Diodrum Arabic"/>
                <a:cs typeface="Diodrum Arabic"/>
              </a:rPr>
              <a:t>Procure and adapt. Documented applied programmes exist for this layer — buy models or seats to verify design quality, then adapt with Saudi cases and unified measurement (Section 04) [18][22].</a:t>
            </a:r>
          </a:p>
        </p:txBody>
      </p:sp>
      <p:sp>
        <p:nvSpPr>
          <p:cNvPr id="40" name="Rectangle 39"/>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42" name="TextBox 41"/>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02 · 2.5  LEVEL 4</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Assistant Deputy Ministers and executive leaders: converting controls into daily working procedures</a:t>
            </a:r>
          </a:p>
        </p:txBody>
      </p:sp>
      <p:sp>
        <p:nvSpPr>
          <p:cNvPr id="4" name="TextBox 3"/>
          <p:cNvSpPr txBox="1"/>
          <p:nvPr/>
        </p:nvSpPr>
        <p:spPr>
          <a:xfrm>
            <a:off x="566928" y="1401318"/>
            <a:ext cx="6428231" cy="374395"/>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Target category: assistant deputy ministers; chief executives in government entities according to entity size and scope of authority; executive directors; chief officers; and equivalent titles directly supervising execution and operations.</a:t>
            </a:r>
          </a:p>
        </p:txBody>
      </p:sp>
      <p:sp>
        <p:nvSpPr>
          <p:cNvPr id="5" name="Rectangle 4"/>
          <p:cNvSpPr/>
          <p:nvPr/>
        </p:nvSpPr>
        <p:spPr>
          <a:xfrm>
            <a:off x="566928" y="183057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2013458"/>
            <a:ext cx="6428231" cy="566928"/>
          </a:xfrm>
          <a:prstGeom prst="roundRect">
            <a:avLst>
              <a:gd name="adj" fmla="val 14516"/>
            </a:avLst>
          </a:prstGeom>
          <a:gradFill rotWithShape="1">
            <a:gsLst>
              <a:gs pos="0">
                <a:srgbClr val="1CC182"/>
              </a:gs>
              <a:gs pos="100000">
                <a:srgbClr val="2A206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095754"/>
            <a:ext cx="4325111" cy="363982"/>
          </a:xfrm>
          <a:prstGeom prst="rect">
            <a:avLst/>
          </a:prstGeom>
          <a:noFill/>
        </p:spPr>
        <p:txBody>
          <a:bodyPr wrap="square" lIns="0" rIns="0" tIns="0" bIns="0">
            <a:spAutoFit/>
          </a:bodyPr>
          <a:lstStyle/>
          <a:p>
            <a:pPr algn="l">
              <a:lnSpc>
                <a:spcPts val="1044"/>
              </a:lnSpc>
            </a:pPr>
            <a:r>
              <a:rPr sz="900" b="0">
                <a:solidFill>
                  <a:srgbClr val="D9D7EA"/>
                </a:solidFill>
                <a:latin typeface="Diodrum Arabic SemiBold"/>
                <a:ea typeface="Diodrum Arabic SemiBold"/>
                <a:cs typeface="Diodrum Arabic SemiBold"/>
              </a:rPr>
              <a:t>LEVEL 4</a:t>
            </a:r>
          </a:p>
          <a:p>
            <a:pPr algn="l">
              <a:lnSpc>
                <a:spcPts val="1334"/>
              </a:lnSpc>
              <a:spcBef>
                <a:spcPts val="200"/>
              </a:spcBef>
            </a:pPr>
            <a:r>
              <a:rPr sz="1150" b="1">
                <a:solidFill>
                  <a:srgbClr val="FFFFFF"/>
                </a:solidFill>
                <a:latin typeface="Diodrum Arabic"/>
                <a:ea typeface="Diodrum Arabic"/>
                <a:cs typeface="Diodrum Arabic"/>
              </a:rPr>
              <a:t>Assistant Deputy Ministers and Equivalent Executive Leaders</a:t>
            </a:r>
          </a:p>
        </p:txBody>
      </p:sp>
      <p:sp>
        <p:nvSpPr>
          <p:cNvPr id="8" name="Rounded Rectangle 7"/>
          <p:cNvSpPr/>
          <p:nvPr/>
        </p:nvSpPr>
        <p:spPr>
          <a:xfrm>
            <a:off x="4801866" y="2168906"/>
            <a:ext cx="2010413" cy="256032"/>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0">
                <a:solidFill>
                  <a:srgbClr val="1CC182"/>
                </a:solidFill>
                <a:latin typeface="Diodrum Arabic SemiBold"/>
                <a:ea typeface="Diodrum Arabic SemiBold"/>
                <a:cs typeface="Diodrum Arabic SemiBold"/>
              </a:rPr>
              <a:t>Route: license, localise, and scale</a:t>
            </a:r>
          </a:p>
        </p:txBody>
      </p:sp>
      <p:sp>
        <p:nvSpPr>
          <p:cNvPr id="9" name="TextBox 8"/>
          <p:cNvSpPr txBox="1"/>
          <p:nvPr/>
        </p:nvSpPr>
        <p:spPr>
          <a:xfrm>
            <a:off x="566928" y="2726690"/>
            <a:ext cx="6428231" cy="379221"/>
          </a:xfrm>
          <a:prstGeom prst="rect">
            <a:avLst/>
          </a:prstGeom>
          <a:noFill/>
        </p:spPr>
        <p:txBody>
          <a:bodyPr wrap="square" lIns="0" rIns="0" tIns="0" bIns="0">
            <a:spAutoFit/>
          </a:bodyPr>
          <a:lstStyle/>
          <a:p>
            <a:pPr algn="just">
              <a:lnSpc>
                <a:spcPts val="1348"/>
              </a:lnSpc>
            </a:pPr>
            <a:r>
              <a:rPr sz="950" b="0">
                <a:solidFill>
                  <a:srgbClr val="474956"/>
                </a:solidFill>
                <a:latin typeface="Diodrum Arabic"/>
                <a:ea typeface="Diodrum Arabic"/>
                <a:cs typeface="Diodrum Arabic"/>
              </a:rPr>
              <a:t>The level closest to operations and actual application. It differs from Level 3 in that its greater focus is converting policies and controls into daily work procedures — and monitoring teams’ compliance with them.</a:t>
            </a:r>
          </a:p>
        </p:txBody>
      </p:sp>
      <p:sp>
        <p:nvSpPr>
          <p:cNvPr id="10" name="TextBox 9"/>
          <p:cNvSpPr txBox="1"/>
          <p:nvPr/>
        </p:nvSpPr>
        <p:spPr>
          <a:xfrm>
            <a:off x="566928" y="3197352"/>
            <a:ext cx="3113532" cy="205994"/>
          </a:xfrm>
          <a:prstGeom prst="rect">
            <a:avLst/>
          </a:prstGeom>
          <a:noFill/>
        </p:spPr>
        <p:txBody>
          <a:bodyPr wrap="square" lIns="0" rIns="0" tIns="0" bIns="0">
            <a:spAutoFit/>
          </a:bodyPr>
          <a:lstStyle/>
          <a:p>
            <a:pPr algn="l">
              <a:lnSpc>
                <a:spcPts val="1334"/>
              </a:lnSpc>
            </a:pPr>
            <a:r>
              <a:rPr sz="1150" b="0" spc="70">
                <a:solidFill>
                  <a:srgbClr val="1CC182"/>
                </a:solidFill>
                <a:latin typeface="Diodrum Arabic SemiBold"/>
                <a:ea typeface="Diodrum Arabic SemiBold"/>
                <a:cs typeface="Diodrum Arabic SemiBold"/>
              </a:rPr>
              <a:t>DECISION TYPE — DAILY OPERATIONS</a:t>
            </a:r>
          </a:p>
        </p:txBody>
      </p:sp>
      <p:sp>
        <p:nvSpPr>
          <p:cNvPr id="11" name="TextBox 10"/>
          <p:cNvSpPr txBox="1"/>
          <p:nvPr/>
        </p:nvSpPr>
        <p:spPr>
          <a:xfrm>
            <a:off x="566928" y="3444494"/>
            <a:ext cx="91440" cy="183896"/>
          </a:xfrm>
          <a:prstGeom prst="rect">
            <a:avLst/>
          </a:prstGeom>
          <a:noFill/>
        </p:spPr>
        <p:txBody>
          <a:bodyPr wrap="square" lIns="0" rIns="0" tIns="0" bIns="0">
            <a:spAutoFit/>
          </a:bodyPr>
          <a:lstStyle/>
          <a:p>
            <a:pPr algn="ctr">
              <a:lnSpc>
                <a:spcPts val="1160"/>
              </a:lnSpc>
            </a:pPr>
            <a:r>
              <a:rPr sz="1000" b="0">
                <a:solidFill>
                  <a:srgbClr val="1CC182"/>
                </a:solidFill>
                <a:latin typeface="Diodrum Arabic SemiBold"/>
                <a:ea typeface="Diodrum Arabic SemiBold"/>
                <a:cs typeface="Diodrum Arabic SemiBold"/>
              </a:rPr>
              <a:t>•</a:t>
            </a:r>
          </a:p>
        </p:txBody>
      </p:sp>
      <p:sp>
        <p:nvSpPr>
          <p:cNvPr id="12" name="TextBox 11"/>
          <p:cNvSpPr txBox="1"/>
          <p:nvPr/>
        </p:nvSpPr>
        <p:spPr>
          <a:xfrm>
            <a:off x="740664" y="3449066"/>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Applying tools within workflows.</a:t>
            </a:r>
          </a:p>
        </p:txBody>
      </p:sp>
      <p:sp>
        <p:nvSpPr>
          <p:cNvPr id="13" name="TextBox 12"/>
          <p:cNvSpPr txBox="1"/>
          <p:nvPr/>
        </p:nvSpPr>
        <p:spPr>
          <a:xfrm>
            <a:off x="566928" y="3652520"/>
            <a:ext cx="91440" cy="183896"/>
          </a:xfrm>
          <a:prstGeom prst="rect">
            <a:avLst/>
          </a:prstGeom>
          <a:noFill/>
        </p:spPr>
        <p:txBody>
          <a:bodyPr wrap="square" lIns="0" rIns="0" tIns="0" bIns="0">
            <a:spAutoFit/>
          </a:bodyPr>
          <a:lstStyle/>
          <a:p>
            <a:pPr algn="ctr">
              <a:lnSpc>
                <a:spcPts val="1160"/>
              </a:lnSpc>
            </a:pPr>
            <a:r>
              <a:rPr sz="1000" b="0">
                <a:solidFill>
                  <a:srgbClr val="1CC182"/>
                </a:solidFill>
                <a:latin typeface="Diodrum Arabic SemiBold"/>
                <a:ea typeface="Diodrum Arabic SemiBold"/>
                <a:cs typeface="Diodrum Arabic SemiBold"/>
              </a:rPr>
              <a:t>•</a:t>
            </a:r>
          </a:p>
        </p:txBody>
      </p:sp>
      <p:sp>
        <p:nvSpPr>
          <p:cNvPr id="14" name="TextBox 13"/>
          <p:cNvSpPr txBox="1"/>
          <p:nvPr/>
        </p:nvSpPr>
        <p:spPr>
          <a:xfrm>
            <a:off x="740664" y="3657092"/>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Monitoring responsible use.</a:t>
            </a:r>
          </a:p>
        </p:txBody>
      </p:sp>
      <p:sp>
        <p:nvSpPr>
          <p:cNvPr id="15" name="TextBox 14"/>
          <p:cNvSpPr txBox="1"/>
          <p:nvPr/>
        </p:nvSpPr>
        <p:spPr>
          <a:xfrm>
            <a:off x="566928" y="3860546"/>
            <a:ext cx="91440" cy="183896"/>
          </a:xfrm>
          <a:prstGeom prst="rect">
            <a:avLst/>
          </a:prstGeom>
          <a:noFill/>
        </p:spPr>
        <p:txBody>
          <a:bodyPr wrap="square" lIns="0" rIns="0" tIns="0" bIns="0">
            <a:spAutoFit/>
          </a:bodyPr>
          <a:lstStyle/>
          <a:p>
            <a:pPr algn="ctr">
              <a:lnSpc>
                <a:spcPts val="1160"/>
              </a:lnSpc>
            </a:pPr>
            <a:r>
              <a:rPr sz="1000" b="0">
                <a:solidFill>
                  <a:srgbClr val="1CC182"/>
                </a:solidFill>
                <a:latin typeface="Diodrum Arabic SemiBold"/>
                <a:ea typeface="Diodrum Arabic SemiBold"/>
                <a:cs typeface="Diodrum Arabic SemiBold"/>
              </a:rPr>
              <a:t>•</a:t>
            </a:r>
          </a:p>
        </p:txBody>
      </p:sp>
      <p:sp>
        <p:nvSpPr>
          <p:cNvPr id="16" name="TextBox 15"/>
          <p:cNvSpPr txBox="1"/>
          <p:nvPr/>
        </p:nvSpPr>
        <p:spPr>
          <a:xfrm>
            <a:off x="740664" y="3865118"/>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Converting controls into operating procedures.</a:t>
            </a:r>
          </a:p>
        </p:txBody>
      </p:sp>
      <p:sp>
        <p:nvSpPr>
          <p:cNvPr id="17" name="TextBox 16"/>
          <p:cNvSpPr txBox="1"/>
          <p:nvPr/>
        </p:nvSpPr>
        <p:spPr>
          <a:xfrm>
            <a:off x="566928" y="4068572"/>
            <a:ext cx="91440" cy="183896"/>
          </a:xfrm>
          <a:prstGeom prst="rect">
            <a:avLst/>
          </a:prstGeom>
          <a:noFill/>
        </p:spPr>
        <p:txBody>
          <a:bodyPr wrap="square" lIns="0" rIns="0" tIns="0" bIns="0">
            <a:spAutoFit/>
          </a:bodyPr>
          <a:lstStyle/>
          <a:p>
            <a:pPr algn="ctr">
              <a:lnSpc>
                <a:spcPts val="1160"/>
              </a:lnSpc>
            </a:pPr>
            <a:r>
              <a:rPr sz="1000" b="0">
                <a:solidFill>
                  <a:srgbClr val="1CC182"/>
                </a:solidFill>
                <a:latin typeface="Diodrum Arabic SemiBold"/>
                <a:ea typeface="Diodrum Arabic SemiBold"/>
                <a:cs typeface="Diodrum Arabic SemiBold"/>
              </a:rPr>
              <a:t>•</a:t>
            </a:r>
          </a:p>
        </p:txBody>
      </p:sp>
      <p:sp>
        <p:nvSpPr>
          <p:cNvPr id="18" name="TextBox 17"/>
          <p:cNvSpPr txBox="1"/>
          <p:nvPr/>
        </p:nvSpPr>
        <p:spPr>
          <a:xfrm>
            <a:off x="740664" y="4073144"/>
            <a:ext cx="2939796" cy="352043"/>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Preparing teams and monitoring performance and deviations.</a:t>
            </a:r>
          </a:p>
        </p:txBody>
      </p:sp>
      <p:sp>
        <p:nvSpPr>
          <p:cNvPr id="19" name="TextBox 18"/>
          <p:cNvSpPr txBox="1"/>
          <p:nvPr/>
        </p:nvSpPr>
        <p:spPr>
          <a:xfrm>
            <a:off x="566928" y="4434332"/>
            <a:ext cx="91440" cy="183896"/>
          </a:xfrm>
          <a:prstGeom prst="rect">
            <a:avLst/>
          </a:prstGeom>
          <a:noFill/>
        </p:spPr>
        <p:txBody>
          <a:bodyPr wrap="square" lIns="0" rIns="0" tIns="0" bIns="0">
            <a:spAutoFit/>
          </a:bodyPr>
          <a:lstStyle/>
          <a:p>
            <a:pPr algn="ctr">
              <a:lnSpc>
                <a:spcPts val="1160"/>
              </a:lnSpc>
            </a:pPr>
            <a:r>
              <a:rPr sz="1000" b="0">
                <a:solidFill>
                  <a:srgbClr val="1CC182"/>
                </a:solidFill>
                <a:latin typeface="Diodrum Arabic SemiBold"/>
                <a:ea typeface="Diodrum Arabic SemiBold"/>
                <a:cs typeface="Diodrum Arabic SemiBold"/>
              </a:rPr>
              <a:t>•</a:t>
            </a:r>
          </a:p>
        </p:txBody>
      </p:sp>
      <p:sp>
        <p:nvSpPr>
          <p:cNvPr id="20" name="TextBox 19"/>
          <p:cNvSpPr txBox="1"/>
          <p:nvPr/>
        </p:nvSpPr>
        <p:spPr>
          <a:xfrm>
            <a:off x="740664" y="4438904"/>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Escalating risks and unexpected cases.</a:t>
            </a:r>
          </a:p>
        </p:txBody>
      </p:sp>
      <p:sp>
        <p:nvSpPr>
          <p:cNvPr id="21" name="TextBox 20"/>
          <p:cNvSpPr txBox="1"/>
          <p:nvPr/>
        </p:nvSpPr>
        <p:spPr>
          <a:xfrm>
            <a:off x="566928" y="4642358"/>
            <a:ext cx="91440" cy="183896"/>
          </a:xfrm>
          <a:prstGeom prst="rect">
            <a:avLst/>
          </a:prstGeom>
          <a:noFill/>
        </p:spPr>
        <p:txBody>
          <a:bodyPr wrap="square" lIns="0" rIns="0" tIns="0" bIns="0">
            <a:spAutoFit/>
          </a:bodyPr>
          <a:lstStyle/>
          <a:p>
            <a:pPr algn="ctr">
              <a:lnSpc>
                <a:spcPts val="1160"/>
              </a:lnSpc>
            </a:pPr>
            <a:r>
              <a:rPr sz="1000" b="0">
                <a:solidFill>
                  <a:srgbClr val="1CC182"/>
                </a:solidFill>
                <a:latin typeface="Diodrum Arabic SemiBold"/>
                <a:ea typeface="Diodrum Arabic SemiBold"/>
                <a:cs typeface="Diodrum Arabic SemiBold"/>
              </a:rPr>
              <a:t>•</a:t>
            </a:r>
          </a:p>
        </p:txBody>
      </p:sp>
      <p:sp>
        <p:nvSpPr>
          <p:cNvPr id="22" name="TextBox 21"/>
          <p:cNvSpPr txBox="1"/>
          <p:nvPr/>
        </p:nvSpPr>
        <p:spPr>
          <a:xfrm>
            <a:off x="740664" y="4646930"/>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Documenting compliance.</a:t>
            </a:r>
          </a:p>
        </p:txBody>
      </p:sp>
      <p:sp>
        <p:nvSpPr>
          <p:cNvPr id="23" name="TextBox 22"/>
          <p:cNvSpPr txBox="1"/>
          <p:nvPr/>
        </p:nvSpPr>
        <p:spPr>
          <a:xfrm>
            <a:off x="3881628" y="3197352"/>
            <a:ext cx="3113532" cy="205994"/>
          </a:xfrm>
          <a:prstGeom prst="rect">
            <a:avLst/>
          </a:prstGeom>
          <a:noFill/>
        </p:spPr>
        <p:txBody>
          <a:bodyPr wrap="square" lIns="0" rIns="0" tIns="0" bIns="0">
            <a:spAutoFit/>
          </a:bodyPr>
          <a:lstStyle/>
          <a:p>
            <a:pPr algn="l">
              <a:lnSpc>
                <a:spcPts val="1334"/>
              </a:lnSpc>
            </a:pPr>
            <a:r>
              <a:rPr sz="1150" b="0" spc="70">
                <a:solidFill>
                  <a:srgbClr val="00ABAF"/>
                </a:solidFill>
                <a:latin typeface="Diodrum Arabic SemiBold"/>
                <a:ea typeface="Diodrum Arabic SemiBold"/>
                <a:cs typeface="Diodrum Arabic SemiBold"/>
              </a:rPr>
              <a:t>THE PROTOCOL THE CATEGORY REQUIRES</a:t>
            </a:r>
          </a:p>
        </p:txBody>
      </p:sp>
      <p:sp>
        <p:nvSpPr>
          <p:cNvPr id="24" name="TextBox 23"/>
          <p:cNvSpPr txBox="1"/>
          <p:nvPr/>
        </p:nvSpPr>
        <p:spPr>
          <a:xfrm>
            <a:off x="3881628" y="3444494"/>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5" name="TextBox 24"/>
          <p:cNvSpPr txBox="1"/>
          <p:nvPr/>
        </p:nvSpPr>
        <p:spPr>
          <a:xfrm>
            <a:off x="4055364" y="3449066"/>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Direct applied content.</a:t>
            </a:r>
          </a:p>
        </p:txBody>
      </p:sp>
      <p:sp>
        <p:nvSpPr>
          <p:cNvPr id="26" name="TextBox 25"/>
          <p:cNvSpPr txBox="1"/>
          <p:nvPr/>
        </p:nvSpPr>
        <p:spPr>
          <a:xfrm>
            <a:off x="3881628" y="3652520"/>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7" name="TextBox 26"/>
          <p:cNvSpPr txBox="1"/>
          <p:nvPr/>
        </p:nvSpPr>
        <p:spPr>
          <a:xfrm>
            <a:off x="4055364" y="3657092"/>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Guided blended or digital learning.</a:t>
            </a:r>
          </a:p>
        </p:txBody>
      </p:sp>
      <p:sp>
        <p:nvSpPr>
          <p:cNvPr id="28" name="TextBox 27"/>
          <p:cNvSpPr txBox="1"/>
          <p:nvPr/>
        </p:nvSpPr>
        <p:spPr>
          <a:xfrm>
            <a:off x="3881628" y="3860546"/>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9" name="TextBox 28"/>
          <p:cNvSpPr txBox="1"/>
          <p:nvPr/>
        </p:nvSpPr>
        <p:spPr>
          <a:xfrm>
            <a:off x="4055364" y="3865118"/>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Cases linked to daily operations.</a:t>
            </a:r>
          </a:p>
        </p:txBody>
      </p:sp>
      <p:sp>
        <p:nvSpPr>
          <p:cNvPr id="30" name="TextBox 29"/>
          <p:cNvSpPr txBox="1"/>
          <p:nvPr/>
        </p:nvSpPr>
        <p:spPr>
          <a:xfrm>
            <a:off x="3881628" y="4068572"/>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1" name="TextBox 30"/>
          <p:cNvSpPr txBox="1"/>
          <p:nvPr/>
        </p:nvSpPr>
        <p:spPr>
          <a:xfrm>
            <a:off x="4055364" y="4073144"/>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Ready-to-use tools and checklists.</a:t>
            </a:r>
          </a:p>
        </p:txBody>
      </p:sp>
      <p:sp>
        <p:nvSpPr>
          <p:cNvPr id="32" name="TextBox 31"/>
          <p:cNvSpPr txBox="1"/>
          <p:nvPr/>
        </p:nvSpPr>
        <p:spPr>
          <a:xfrm>
            <a:off x="3881628" y="4276598"/>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3" name="TextBox 32"/>
          <p:cNvSpPr txBox="1"/>
          <p:nvPr/>
        </p:nvSpPr>
        <p:spPr>
          <a:xfrm>
            <a:off x="4055364" y="4281170"/>
            <a:ext cx="2939796" cy="194310"/>
          </a:xfrm>
          <a:prstGeom prst="rect">
            <a:avLst/>
          </a:prstGeom>
          <a:noFill/>
        </p:spPr>
        <p:txBody>
          <a:bodyPr wrap="square" lIns="0" rIns="0" tIns="0" bIns="0">
            <a:spAutoFit/>
          </a:bodyPr>
          <a:lstStyle/>
          <a:p>
            <a:pPr algn="l">
              <a:lnSpc>
                <a:spcPts val="1241"/>
              </a:lnSpc>
            </a:pPr>
            <a:r>
              <a:rPr sz="900" b="0">
                <a:solidFill>
                  <a:srgbClr val="474956"/>
                </a:solidFill>
                <a:latin typeface="Diodrum Arabic"/>
                <a:ea typeface="Diodrum Arabic"/>
                <a:cs typeface="Diodrum Arabic"/>
              </a:rPr>
              <a:t>Follow-up of application and compliance indicators.</a:t>
            </a:r>
          </a:p>
        </p:txBody>
      </p:sp>
      <p:sp>
        <p:nvSpPr>
          <p:cNvPr id="34" name="Rounded Rectangle 33"/>
          <p:cNvSpPr/>
          <p:nvPr/>
        </p:nvSpPr>
        <p:spPr>
          <a:xfrm>
            <a:off x="566928" y="5028692"/>
            <a:ext cx="6428231" cy="907732"/>
          </a:xfrm>
          <a:prstGeom prst="roundRect">
            <a:avLst>
              <a:gd name="adj" fmla="val 9066"/>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193284"/>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APPLIED OUTPUT</a:t>
            </a:r>
          </a:p>
        </p:txBody>
      </p:sp>
      <p:sp>
        <p:nvSpPr>
          <p:cNvPr id="36" name="TextBox 35"/>
          <p:cNvSpPr txBox="1"/>
          <p:nvPr/>
        </p:nvSpPr>
        <p:spPr>
          <a:xfrm>
            <a:off x="731520" y="5402834"/>
            <a:ext cx="6099047" cy="361187"/>
          </a:xfrm>
          <a:prstGeom prst="rect">
            <a:avLst/>
          </a:prstGeom>
          <a:noFill/>
        </p:spPr>
        <p:txBody>
          <a:bodyPr wrap="square" lIns="0" rIns="0" tIns="0" bIns="0">
            <a:spAutoFit/>
          </a:bodyPr>
          <a:lstStyle/>
          <a:p>
            <a:pPr algn="l">
              <a:lnSpc>
                <a:spcPts val="1278"/>
              </a:lnSpc>
            </a:pPr>
            <a:r>
              <a:rPr sz="900" b="0">
                <a:solidFill>
                  <a:srgbClr val="474956"/>
                </a:solidFill>
                <a:latin typeface="Diodrum Arabic"/>
                <a:ea typeface="Diodrum Arabic"/>
                <a:cs typeface="Diodrum Arabic"/>
              </a:rPr>
              <a:t>An application plan at sector or department level, linked to an operational log of compliance with controls and risk escalation.</a:t>
            </a:r>
          </a:p>
        </p:txBody>
      </p:sp>
      <p:sp>
        <p:nvSpPr>
          <p:cNvPr id="37" name="Rounded Rectangle 36"/>
          <p:cNvSpPr/>
          <p:nvPr/>
        </p:nvSpPr>
        <p:spPr>
          <a:xfrm>
            <a:off x="566928" y="6101016"/>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6283896"/>
            <a:ext cx="6062471" cy="191262"/>
          </a:xfrm>
          <a:prstGeom prst="rect">
            <a:avLst/>
          </a:prstGeom>
          <a:noFill/>
        </p:spPr>
        <p:txBody>
          <a:bodyPr wrap="square" lIns="0" rIns="0" tIns="0" bIns="0">
            <a:spAutoFit/>
          </a:bodyPr>
          <a:lstStyle/>
          <a:p>
            <a:pPr algn="l">
              <a:lnSpc>
                <a:spcPts val="1218"/>
              </a:lnSpc>
            </a:pPr>
            <a:r>
              <a:rPr sz="1050" b="0" spc="90">
                <a:solidFill>
                  <a:srgbClr val="D9F3EE"/>
                </a:solidFill>
                <a:latin typeface="Diodrum Arabic SemiBold"/>
                <a:ea typeface="Diodrum Arabic SemiBold"/>
                <a:cs typeface="Diodrum Arabic SemiBold"/>
              </a:rPr>
              <a:t>THE BUILD-OR-BUY DECISION FOR THIS LEVEL</a:t>
            </a:r>
          </a:p>
        </p:txBody>
      </p:sp>
      <p:sp>
        <p:nvSpPr>
          <p:cNvPr id="39" name="TextBox 38"/>
          <p:cNvSpPr txBox="1"/>
          <p:nvPr/>
        </p:nvSpPr>
        <p:spPr>
          <a:xfrm>
            <a:off x="749808" y="6484302"/>
            <a:ext cx="6062471" cy="361187"/>
          </a:xfrm>
          <a:prstGeom prst="rect">
            <a:avLst/>
          </a:prstGeom>
          <a:noFill/>
        </p:spPr>
        <p:txBody>
          <a:bodyPr wrap="square" lIns="0" rIns="0" tIns="0" bIns="0">
            <a:spAutoFit/>
          </a:bodyPr>
          <a:lstStyle/>
          <a:p>
            <a:pPr algn="just">
              <a:lnSpc>
                <a:spcPts val="1278"/>
              </a:lnSpc>
            </a:pPr>
            <a:r>
              <a:rPr sz="900" b="0">
                <a:solidFill>
                  <a:srgbClr val="FFFFFF"/>
                </a:solidFill>
                <a:latin typeface="Diodrum Arabic"/>
                <a:ea typeface="Diodrum Arabic"/>
                <a:cs typeface="Diodrum Arabic"/>
              </a:rPr>
              <a:t>License, localise, and scale. Content is abundant; the work is selection, localisation, and linking completion to performance indicators via the Qudratak platform (Section 04) [48][52].</a:t>
            </a:r>
          </a:p>
        </p:txBody>
      </p:sp>
      <p:sp>
        <p:nvSpPr>
          <p:cNvPr id="40" name="Rectangle 39"/>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42" name="TextBox 41"/>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02 · 2.6  SUMMARY OF LEVELS AND OUTPUTS</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Four categories, four decisions, four applied outputs</a:t>
            </a:r>
          </a:p>
        </p:txBody>
      </p:sp>
      <p:sp>
        <p:nvSpPr>
          <p:cNvPr id="4" name="TextBox 3"/>
          <p:cNvSpPr txBox="1"/>
          <p:nvPr/>
        </p:nvSpPr>
        <p:spPr>
          <a:xfrm>
            <a:off x="566928" y="1111758"/>
            <a:ext cx="6428231" cy="205486"/>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The colours introduced here identify each level in every table and figure that follows.</a:t>
            </a:r>
          </a:p>
        </p:txBody>
      </p:sp>
      <p:sp>
        <p:nvSpPr>
          <p:cNvPr id="5" name="Rectangle 4"/>
          <p:cNvSpPr/>
          <p:nvPr/>
        </p:nvSpPr>
        <p:spPr>
          <a:xfrm>
            <a:off x="566928" y="137210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554988"/>
          <a:ext cx="6428230" cy="1998979"/>
        </p:xfrm>
        <a:graphic>
          <a:graphicData uri="http://schemas.openxmlformats.org/drawingml/2006/table">
            <a:tbl>
              <a:tblPr firstRow="1" bandRow="0"/>
              <a:tblGrid>
                <a:gridCol w="642823"/>
                <a:gridCol w="1092799"/>
                <a:gridCol w="1928469"/>
                <a:gridCol w="1478493"/>
                <a:gridCol w="1285646"/>
              </a:tblGrid>
              <a:tr h="261619">
                <a:tc>
                  <a:txBody>
                    <a:bodyPr wrap="square"/>
                    <a:lstStyle/>
                    <a:p>
                      <a:pPr algn="l">
                        <a:lnSpc>
                          <a:spcPts val="1088"/>
                        </a:lnSpc>
                      </a:pPr>
                      <a:r>
                        <a:rPr sz="850" b="0">
                          <a:solidFill>
                            <a:srgbClr val="FFFFFF"/>
                          </a:solidFill>
                          <a:latin typeface="Diodrum Arabic SemiBold"/>
                          <a:ea typeface="Diodrum Arabic SemiBold"/>
                          <a:cs typeface="Diodrum Arabic SemiBold"/>
                        </a:rPr>
                        <a:t>Level</a:t>
                      </a:r>
                    </a:p>
                  </a:txBody>
                  <a:tcPr marL="64008" marR="64008" marT="41148" marB="41148" anchor="ctr">
                    <a:solidFill>
                      <a:srgbClr val="241A5E"/>
                    </a:solidFill>
                  </a:tcPr>
                </a:tc>
                <a:tc>
                  <a:txBody>
                    <a:bodyPr wrap="square"/>
                    <a:lstStyle/>
                    <a:p>
                      <a:pPr algn="l">
                        <a:lnSpc>
                          <a:spcPts val="1088"/>
                        </a:lnSpc>
                      </a:pPr>
                      <a:r>
                        <a:rPr sz="850" b="0">
                          <a:solidFill>
                            <a:srgbClr val="FFFFFF"/>
                          </a:solidFill>
                          <a:latin typeface="Diodrum Arabic SemiBold"/>
                          <a:ea typeface="Diodrum Arabic SemiBold"/>
                          <a:cs typeface="Diodrum Arabic SemiBold"/>
                        </a:rPr>
                        <a:t>Core category</a:t>
                      </a:r>
                    </a:p>
                  </a:txBody>
                  <a:tcPr marL="64008" marR="64008" marT="41148" marB="41148" anchor="ctr">
                    <a:solidFill>
                      <a:srgbClr val="241A5E"/>
                    </a:solidFill>
                  </a:tcPr>
                </a:tc>
                <a:tc>
                  <a:txBody>
                    <a:bodyPr wrap="square"/>
                    <a:lstStyle/>
                    <a:p>
                      <a:pPr algn="l">
                        <a:lnSpc>
                          <a:spcPts val="1088"/>
                        </a:lnSpc>
                      </a:pPr>
                      <a:r>
                        <a:rPr sz="850" b="0">
                          <a:solidFill>
                            <a:srgbClr val="FFFFFF"/>
                          </a:solidFill>
                          <a:latin typeface="Diodrum Arabic SemiBold"/>
                          <a:ea typeface="Diodrum Arabic SemiBold"/>
                          <a:cs typeface="Diodrum Arabic SemiBold"/>
                        </a:rPr>
                        <a:t>Equivalent titles</a:t>
                      </a:r>
                    </a:p>
                  </a:txBody>
                  <a:tcPr marL="64008" marR="64008" marT="41148" marB="41148" anchor="ctr">
                    <a:solidFill>
                      <a:srgbClr val="241A5E"/>
                    </a:solidFill>
                  </a:tcPr>
                </a:tc>
                <a:tc>
                  <a:txBody>
                    <a:bodyPr wrap="square"/>
                    <a:lstStyle/>
                    <a:p>
                      <a:pPr algn="l">
                        <a:lnSpc>
                          <a:spcPts val="1088"/>
                        </a:lnSpc>
                      </a:pPr>
                      <a:r>
                        <a:rPr sz="850" b="0">
                          <a:solidFill>
                            <a:srgbClr val="FFFFFF"/>
                          </a:solidFill>
                          <a:latin typeface="Diodrum Arabic SemiBold"/>
                          <a:ea typeface="Diodrum Arabic SemiBold"/>
                          <a:cs typeface="Diodrum Arabic SemiBold"/>
                        </a:rPr>
                        <a:t>Principal decision</a:t>
                      </a:r>
                    </a:p>
                  </a:txBody>
                  <a:tcPr marL="64008" marR="64008" marT="41148" marB="41148" anchor="ctr">
                    <a:solidFill>
                      <a:srgbClr val="241A5E"/>
                    </a:solidFill>
                  </a:tcPr>
                </a:tc>
                <a:tc>
                  <a:txBody>
                    <a:bodyPr wrap="square"/>
                    <a:lstStyle/>
                    <a:p>
                      <a:pPr algn="l">
                        <a:lnSpc>
                          <a:spcPts val="1088"/>
                        </a:lnSpc>
                      </a:pPr>
                      <a:r>
                        <a:rPr sz="850" b="0">
                          <a:solidFill>
                            <a:srgbClr val="FFFFFF"/>
                          </a:solidFill>
                          <a:latin typeface="Diodrum Arabic SemiBold"/>
                          <a:ea typeface="Diodrum Arabic SemiBold"/>
                          <a:cs typeface="Diodrum Arabic SemiBold"/>
                        </a:rPr>
                        <a:t>Applied output</a:t>
                      </a:r>
                    </a:p>
                  </a:txBody>
                  <a:tcPr marL="64008" marR="64008" marT="41148" marB="41148" anchor="ctr">
                    <a:solidFill>
                      <a:srgbClr val="241A5E"/>
                    </a:solidFill>
                  </a:tcPr>
                </a:tc>
              </a:tr>
              <a:tr h="399796">
                <a:tc>
                  <a:txBody>
                    <a:bodyPr wrap="square"/>
                    <a:lstStyle/>
                    <a:p>
                      <a:pPr algn="ctr">
                        <a:lnSpc>
                          <a:spcPts val="1088"/>
                        </a:lnSpc>
                      </a:pPr>
                      <a:r>
                        <a:rPr sz="850" b="1">
                          <a:solidFill>
                            <a:srgbClr val="232046"/>
                          </a:solidFill>
                          <a:latin typeface="Diodrum Arabic"/>
                          <a:ea typeface="Diodrum Arabic"/>
                          <a:cs typeface="Diodrum Arabic"/>
                        </a:rPr>
                        <a:t>1</a:t>
                      </a:r>
                    </a:p>
                  </a:txBody>
                  <a:tcPr marL="64008" marR="64008" marT="41148" marB="41148" anchor="ctr">
                    <a:solidFill>
                      <a:srgbClr val="ECE0F8"/>
                    </a:solidFill>
                  </a:tcPr>
                </a:tc>
                <a:tc>
                  <a:txBody>
                    <a:bodyPr wrap="square"/>
                    <a:lstStyle/>
                    <a:p>
                      <a:pPr algn="l">
                        <a:lnSpc>
                          <a:spcPts val="1088"/>
                        </a:lnSpc>
                      </a:pPr>
                      <a:r>
                        <a:rPr sz="850" b="0">
                          <a:solidFill>
                            <a:srgbClr val="232046"/>
                          </a:solidFill>
                          <a:latin typeface="Diodrum Arabic SemiBold"/>
                          <a:ea typeface="Diodrum Arabic SemiBold"/>
                          <a:cs typeface="Diodrum Arabic SemiBold"/>
                        </a:rPr>
                        <a:t>Minister</a:t>
                      </a:r>
                    </a:p>
                  </a:txBody>
                  <a:tcPr marL="64008" marR="64008" marT="41148" marB="41148" anchor="ctr">
                    <a:solidFill>
                      <a:srgbClr val="FFFFFF"/>
                    </a:solidFill>
                  </a:tcPr>
                </a:tc>
                <a:tc>
                  <a:txBody>
                    <a:bodyPr wrap="square"/>
                    <a:lstStyle/>
                    <a:p>
                      <a:pPr algn="l">
                        <a:lnSpc>
                          <a:spcPts val="1088"/>
                        </a:lnSpc>
                      </a:pPr>
                      <a:r>
                        <a:rPr sz="850" b="0">
                          <a:solidFill>
                            <a:srgbClr val="474956"/>
                          </a:solidFill>
                          <a:latin typeface="Diodrum Arabic"/>
                          <a:ea typeface="Diodrum Arabic"/>
                          <a:cs typeface="Diodrum Arabic"/>
                        </a:rPr>
                        <a:t>Minister of state, and cabinet-rank appointees</a:t>
                      </a:r>
                    </a:p>
                  </a:txBody>
                  <a:tcPr marL="64008" marR="64008" marT="41148" marB="41148" anchor="ctr">
                    <a:solidFill>
                      <a:srgbClr val="FFFFFF"/>
                    </a:solidFill>
                  </a:tcPr>
                </a:tc>
                <a:tc>
                  <a:txBody>
                    <a:bodyPr wrap="square"/>
                    <a:lstStyle/>
                    <a:p>
                      <a:pPr algn="l">
                        <a:lnSpc>
                          <a:spcPts val="1088"/>
                        </a:lnSpc>
                      </a:pPr>
                      <a:r>
                        <a:rPr sz="850" b="0">
                          <a:solidFill>
                            <a:srgbClr val="474956"/>
                          </a:solidFill>
                          <a:latin typeface="Diodrum Arabic"/>
                          <a:ea typeface="Diodrum Arabic"/>
                          <a:cs typeface="Diodrum Arabic"/>
                        </a:rPr>
                        <a:t>Strategic direction and public accountability</a:t>
                      </a:r>
                    </a:p>
                  </a:txBody>
                  <a:tcPr marL="64008" marR="64008" marT="41148" marB="41148" anchor="ctr">
                    <a:solidFill>
                      <a:srgbClr val="FFFFFF"/>
                    </a:solidFill>
                  </a:tcPr>
                </a:tc>
                <a:tc>
                  <a:txBody>
                    <a:bodyPr wrap="square"/>
                    <a:lstStyle/>
                    <a:p>
                      <a:pPr algn="l">
                        <a:lnSpc>
                          <a:spcPts val="1088"/>
                        </a:lnSpc>
                      </a:pPr>
                      <a:r>
                        <a:rPr sz="850" b="0">
                          <a:solidFill>
                            <a:srgbClr val="474956"/>
                          </a:solidFill>
                          <a:latin typeface="Diodrum Arabic"/>
                          <a:ea typeface="Diodrum Arabic"/>
                          <a:cs typeface="Diodrum Arabic"/>
                        </a:rPr>
                        <a:t>Confidential decision memorandum</a:t>
                      </a:r>
                    </a:p>
                  </a:txBody>
                  <a:tcPr marL="64008" marR="64008" marT="41148" marB="41148" anchor="ctr">
                    <a:solidFill>
                      <a:srgbClr val="FFFFFF"/>
                    </a:solidFill>
                  </a:tcPr>
                </a:tc>
              </a:tr>
              <a:tr h="399796">
                <a:tc>
                  <a:txBody>
                    <a:bodyPr wrap="square"/>
                    <a:lstStyle/>
                    <a:p>
                      <a:pPr algn="ctr">
                        <a:lnSpc>
                          <a:spcPts val="1088"/>
                        </a:lnSpc>
                      </a:pPr>
                      <a:r>
                        <a:rPr sz="850" b="1">
                          <a:solidFill>
                            <a:srgbClr val="232046"/>
                          </a:solidFill>
                          <a:latin typeface="Diodrum Arabic"/>
                          <a:ea typeface="Diodrum Arabic"/>
                          <a:cs typeface="Diodrum Arabic"/>
                        </a:rPr>
                        <a:t>2</a:t>
                      </a:r>
                    </a:p>
                  </a:txBody>
                  <a:tcPr marL="64008" marR="64008" marT="41148" marB="41148" anchor="ctr">
                    <a:solidFill>
                      <a:srgbClr val="E2E0F0"/>
                    </a:solidFill>
                  </a:tcPr>
                </a:tc>
                <a:tc>
                  <a:txBody>
                    <a:bodyPr wrap="square"/>
                    <a:lstStyle/>
                    <a:p>
                      <a:pPr algn="l">
                        <a:lnSpc>
                          <a:spcPts val="1088"/>
                        </a:lnSpc>
                      </a:pPr>
                      <a:r>
                        <a:rPr sz="850" b="0">
                          <a:solidFill>
                            <a:srgbClr val="232046"/>
                          </a:solidFill>
                          <a:latin typeface="Diodrum Arabic SemiBold"/>
                          <a:ea typeface="Diodrum Arabic SemiBold"/>
                          <a:cs typeface="Diodrum Arabic SemiBold"/>
                        </a:rPr>
                        <a:t>Vice minister</a:t>
                      </a:r>
                    </a:p>
                  </a:txBody>
                  <a:tcPr marL="64008" marR="64008" marT="41148" marB="41148" anchor="ctr">
                    <a:solidFill>
                      <a:srgbClr val="F4F4F9"/>
                    </a:solidFill>
                  </a:tcPr>
                </a:tc>
                <a:tc>
                  <a:txBody>
                    <a:bodyPr wrap="square"/>
                    <a:lstStyle/>
                    <a:p>
                      <a:pPr algn="l">
                        <a:lnSpc>
                          <a:spcPts val="1088"/>
                        </a:lnSpc>
                      </a:pPr>
                      <a:r>
                        <a:rPr sz="850" b="0">
                          <a:solidFill>
                            <a:srgbClr val="474956"/>
                          </a:solidFill>
                          <a:latin typeface="Diodrum Arabic"/>
                          <a:ea typeface="Diodrum Arabic"/>
                          <a:cs typeface="Diodrum Arabic"/>
                        </a:rPr>
                        <a:t>Governor, assistant minister, and equivalent Excellency-rank titles</a:t>
                      </a:r>
                    </a:p>
                  </a:txBody>
                  <a:tcPr marL="64008" marR="64008" marT="41148" marB="41148" anchor="ctr">
                    <a:solidFill>
                      <a:srgbClr val="F4F4F9"/>
                    </a:solidFill>
                  </a:tcPr>
                </a:tc>
                <a:tc>
                  <a:txBody>
                    <a:bodyPr wrap="square"/>
                    <a:lstStyle/>
                    <a:p>
                      <a:pPr algn="l">
                        <a:lnSpc>
                          <a:spcPts val="1088"/>
                        </a:lnSpc>
                      </a:pPr>
                      <a:r>
                        <a:rPr sz="850" b="0">
                          <a:solidFill>
                            <a:srgbClr val="474956"/>
                          </a:solidFill>
                          <a:latin typeface="Diodrum Arabic"/>
                          <a:ea typeface="Diodrum Arabic"/>
                          <a:cs typeface="Diodrum Arabic"/>
                        </a:rPr>
                        <a:t>Portfolio, governance, and investment</a:t>
                      </a:r>
                    </a:p>
                  </a:txBody>
                  <a:tcPr marL="64008" marR="64008" marT="41148" marB="41148" anchor="ctr">
                    <a:solidFill>
                      <a:srgbClr val="F4F4F9"/>
                    </a:solidFill>
                  </a:tcPr>
                </a:tc>
                <a:tc>
                  <a:txBody>
                    <a:bodyPr wrap="square"/>
                    <a:lstStyle/>
                    <a:p>
                      <a:pPr algn="l">
                        <a:lnSpc>
                          <a:spcPts val="1088"/>
                        </a:lnSpc>
                      </a:pPr>
                      <a:r>
                        <a:rPr sz="850" b="0">
                          <a:solidFill>
                            <a:srgbClr val="474956"/>
                          </a:solidFill>
                          <a:latin typeface="Diodrum Arabic"/>
                          <a:ea typeface="Diodrum Arabic"/>
                          <a:cs typeface="Diodrum Arabic"/>
                        </a:rPr>
                        <a:t>Portfolio and governance package</a:t>
                      </a:r>
                    </a:p>
                  </a:txBody>
                  <a:tcPr marL="64008" marR="64008" marT="41148" marB="41148" anchor="ctr">
                    <a:solidFill>
                      <a:srgbClr val="F4F4F9"/>
                    </a:solidFill>
                  </a:tcPr>
                </a:tc>
              </a:tr>
              <a:tr h="399796">
                <a:tc>
                  <a:txBody>
                    <a:bodyPr wrap="square"/>
                    <a:lstStyle/>
                    <a:p>
                      <a:pPr algn="ctr">
                        <a:lnSpc>
                          <a:spcPts val="1088"/>
                        </a:lnSpc>
                      </a:pPr>
                      <a:r>
                        <a:rPr sz="850" b="1">
                          <a:solidFill>
                            <a:srgbClr val="232046"/>
                          </a:solidFill>
                          <a:latin typeface="Diodrum Arabic"/>
                          <a:ea typeface="Diodrum Arabic"/>
                          <a:cs typeface="Diodrum Arabic"/>
                        </a:rPr>
                        <a:t>3</a:t>
                      </a:r>
                    </a:p>
                  </a:txBody>
                  <a:tcPr marL="64008" marR="64008" marT="41148" marB="41148" anchor="ctr">
                    <a:solidFill>
                      <a:srgbClr val="D9F1F2"/>
                    </a:solidFill>
                  </a:tcPr>
                </a:tc>
                <a:tc>
                  <a:txBody>
                    <a:bodyPr wrap="square"/>
                    <a:lstStyle/>
                    <a:p>
                      <a:pPr algn="l">
                        <a:lnSpc>
                          <a:spcPts val="1088"/>
                        </a:lnSpc>
                      </a:pPr>
                      <a:r>
                        <a:rPr sz="850" b="0">
                          <a:solidFill>
                            <a:srgbClr val="232046"/>
                          </a:solidFill>
                          <a:latin typeface="Diodrum Arabic SemiBold"/>
                          <a:ea typeface="Diodrum Arabic SemiBold"/>
                          <a:cs typeface="Diodrum Arabic SemiBold"/>
                        </a:rPr>
                        <a:t>Deputy minister</a:t>
                      </a:r>
                    </a:p>
                  </a:txBody>
                  <a:tcPr marL="64008" marR="64008" marT="41148" marB="41148" anchor="ctr">
                    <a:solidFill>
                      <a:srgbClr val="FFFFFF"/>
                    </a:solidFill>
                  </a:tcPr>
                </a:tc>
                <a:tc>
                  <a:txBody>
                    <a:bodyPr wrap="square"/>
                    <a:lstStyle/>
                    <a:p>
                      <a:pPr algn="l">
                        <a:lnSpc>
                          <a:spcPts val="1088"/>
                        </a:lnSpc>
                      </a:pPr>
                      <a:r>
                        <a:rPr sz="850" b="0">
                          <a:solidFill>
                            <a:srgbClr val="474956"/>
                          </a:solidFill>
                          <a:latin typeface="Diodrum Arabic"/>
                          <a:ea typeface="Diodrum Arabic"/>
                          <a:cs typeface="Diodrum Arabic"/>
                        </a:rPr>
                        <a:t>Deputy governor, and equivalent executive titles</a:t>
                      </a:r>
                    </a:p>
                  </a:txBody>
                  <a:tcPr marL="64008" marR="64008" marT="41148" marB="41148" anchor="ctr">
                    <a:solidFill>
                      <a:srgbClr val="FFFFFF"/>
                    </a:solidFill>
                  </a:tcPr>
                </a:tc>
                <a:tc>
                  <a:txBody>
                    <a:bodyPr wrap="square"/>
                    <a:lstStyle/>
                    <a:p>
                      <a:pPr algn="l">
                        <a:lnSpc>
                          <a:spcPts val="1088"/>
                        </a:lnSpc>
                      </a:pPr>
                      <a:r>
                        <a:rPr sz="850" b="0">
                          <a:solidFill>
                            <a:srgbClr val="474956"/>
                          </a:solidFill>
                          <a:latin typeface="Diodrum Arabic"/>
                          <a:ea typeface="Diodrum Arabic"/>
                          <a:cs typeface="Diodrum Arabic"/>
                        </a:rPr>
                        <a:t>Readiness, data, contracting, and execution</a:t>
                      </a:r>
                    </a:p>
                  </a:txBody>
                  <a:tcPr marL="64008" marR="64008" marT="41148" marB="41148" anchor="ctr">
                    <a:solidFill>
                      <a:srgbClr val="FFFFFF"/>
                    </a:solidFill>
                  </a:tcPr>
                </a:tc>
                <a:tc>
                  <a:txBody>
                    <a:bodyPr wrap="square"/>
                    <a:lstStyle/>
                    <a:p>
                      <a:pPr algn="l">
                        <a:lnSpc>
                          <a:spcPts val="1088"/>
                        </a:lnSpc>
                      </a:pPr>
                      <a:r>
                        <a:rPr sz="850" b="0">
                          <a:solidFill>
                            <a:srgbClr val="474956"/>
                          </a:solidFill>
                          <a:latin typeface="Diodrum Arabic"/>
                          <a:ea typeface="Diodrum Arabic"/>
                          <a:cs typeface="Diodrum Arabic"/>
                        </a:rPr>
                        <a:t>Implementation charter</a:t>
                      </a:r>
                    </a:p>
                  </a:txBody>
                  <a:tcPr marL="64008" marR="64008" marT="41148" marB="41148" anchor="ctr">
                    <a:solidFill>
                      <a:srgbClr val="FFFFFF"/>
                    </a:solidFill>
                  </a:tcPr>
                </a:tc>
              </a:tr>
              <a:tr h="537972">
                <a:tc>
                  <a:txBody>
                    <a:bodyPr wrap="square"/>
                    <a:lstStyle/>
                    <a:p>
                      <a:pPr algn="ctr">
                        <a:lnSpc>
                          <a:spcPts val="1088"/>
                        </a:lnSpc>
                      </a:pPr>
                      <a:r>
                        <a:rPr sz="850" b="1">
                          <a:solidFill>
                            <a:srgbClr val="232046"/>
                          </a:solidFill>
                          <a:latin typeface="Diodrum Arabic"/>
                          <a:ea typeface="Diodrum Arabic"/>
                          <a:cs typeface="Diodrum Arabic"/>
                        </a:rPr>
                        <a:t>4</a:t>
                      </a:r>
                    </a:p>
                  </a:txBody>
                  <a:tcPr marL="64008" marR="64008" marT="41148" marB="41148" anchor="ctr">
                    <a:solidFill>
                      <a:srgbClr val="DDF5EA"/>
                    </a:solidFill>
                  </a:tcPr>
                </a:tc>
                <a:tc>
                  <a:txBody>
                    <a:bodyPr wrap="square"/>
                    <a:lstStyle/>
                    <a:p>
                      <a:pPr algn="l">
                        <a:lnSpc>
                          <a:spcPts val="1088"/>
                        </a:lnSpc>
                      </a:pPr>
                      <a:r>
                        <a:rPr sz="850" b="0">
                          <a:solidFill>
                            <a:srgbClr val="232046"/>
                          </a:solidFill>
                          <a:latin typeface="Diodrum Arabic SemiBold"/>
                          <a:ea typeface="Diodrum Arabic SemiBold"/>
                          <a:cs typeface="Diodrum Arabic SemiBold"/>
                        </a:rPr>
                        <a:t>Assistant deputy minister</a:t>
                      </a:r>
                    </a:p>
                  </a:txBody>
                  <a:tcPr marL="64008" marR="64008" marT="41148" marB="41148" anchor="ctr">
                    <a:solidFill>
                      <a:srgbClr val="F4F4F9"/>
                    </a:solidFill>
                  </a:tcPr>
                </a:tc>
                <a:tc>
                  <a:txBody>
                    <a:bodyPr wrap="square"/>
                    <a:lstStyle/>
                    <a:p>
                      <a:pPr algn="l">
                        <a:lnSpc>
                          <a:spcPts val="1088"/>
                        </a:lnSpc>
                      </a:pPr>
                      <a:r>
                        <a:rPr sz="850" b="0">
                          <a:solidFill>
                            <a:srgbClr val="474956"/>
                          </a:solidFill>
                          <a:latin typeface="Diodrum Arabic"/>
                          <a:ea typeface="Diodrum Arabic"/>
                          <a:cs typeface="Diodrum Arabic"/>
                        </a:rPr>
                        <a:t>Chief executive, executive director, chief officer — by entity size and role authority</a:t>
                      </a:r>
                    </a:p>
                  </a:txBody>
                  <a:tcPr marL="64008" marR="64008" marT="41148" marB="41148" anchor="ctr">
                    <a:solidFill>
                      <a:srgbClr val="F4F4F9"/>
                    </a:solidFill>
                  </a:tcPr>
                </a:tc>
                <a:tc>
                  <a:txBody>
                    <a:bodyPr wrap="square"/>
                    <a:lstStyle/>
                    <a:p>
                      <a:pPr algn="l">
                        <a:lnSpc>
                          <a:spcPts val="1088"/>
                        </a:lnSpc>
                      </a:pPr>
                      <a:r>
                        <a:rPr sz="850" b="0">
                          <a:solidFill>
                            <a:srgbClr val="474956"/>
                          </a:solidFill>
                          <a:latin typeface="Diodrum Arabic"/>
                          <a:ea typeface="Diodrum Arabic"/>
                          <a:cs typeface="Diodrum Arabic"/>
                        </a:rPr>
                        <a:t>Operational application and compliance</a:t>
                      </a:r>
                    </a:p>
                  </a:txBody>
                  <a:tcPr marL="64008" marR="64008" marT="41148" marB="41148" anchor="ctr">
                    <a:solidFill>
                      <a:srgbClr val="F4F4F9"/>
                    </a:solidFill>
                  </a:tcPr>
                </a:tc>
                <a:tc>
                  <a:txBody>
                    <a:bodyPr wrap="square"/>
                    <a:lstStyle/>
                    <a:p>
                      <a:pPr algn="l">
                        <a:lnSpc>
                          <a:spcPts val="1088"/>
                        </a:lnSpc>
                      </a:pPr>
                      <a:r>
                        <a:rPr sz="850" b="0">
                          <a:solidFill>
                            <a:srgbClr val="474956"/>
                          </a:solidFill>
                          <a:latin typeface="Diodrum Arabic"/>
                          <a:ea typeface="Diodrum Arabic"/>
                          <a:cs typeface="Diodrum Arabic"/>
                        </a:rPr>
                        <a:t>Application plan and compliance log</a:t>
                      </a:r>
                    </a:p>
                  </a:txBody>
                  <a:tcPr marL="64008" marR="64008" marT="41148" marB="41148" anchor="ctr">
                    <a:solidFill>
                      <a:srgbClr val="F4F4F9"/>
                    </a:solidFill>
                  </a:tcPr>
                </a:tc>
              </a:tr>
            </a:tbl>
          </a:graphicData>
        </a:graphic>
      </p:graphicFrame>
      <p:sp>
        <p:nvSpPr>
          <p:cNvPr id="7" name="Rounded Rectangle 6"/>
          <p:cNvSpPr/>
          <p:nvPr/>
        </p:nvSpPr>
        <p:spPr>
          <a:xfrm>
            <a:off x="566928" y="3700272"/>
            <a:ext cx="6428231" cy="1070038"/>
          </a:xfrm>
          <a:prstGeom prst="roundRect">
            <a:avLst>
              <a:gd name="adj" fmla="val 769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864864"/>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THE RULE THAT TRAVELS WITH THE TABLE</a:t>
            </a:r>
          </a:p>
        </p:txBody>
      </p:sp>
      <p:sp>
        <p:nvSpPr>
          <p:cNvPr id="9" name="TextBox 8"/>
          <p:cNvSpPr txBox="1"/>
          <p:nvPr/>
        </p:nvSpPr>
        <p:spPr>
          <a:xfrm>
            <a:off x="731520" y="4074414"/>
            <a:ext cx="6099047" cy="523494"/>
          </a:xfrm>
          <a:prstGeom prst="rect">
            <a:avLst/>
          </a:prstGeom>
          <a:noFill/>
        </p:spPr>
        <p:txBody>
          <a:bodyPr wrap="square" lIns="0" rIns="0" tIns="0" bIns="0">
            <a:spAutoFit/>
          </a:bodyPr>
          <a:lstStyle/>
          <a:p>
            <a:pPr algn="just">
              <a:lnSpc>
                <a:spcPts val="1278"/>
              </a:lnSpc>
            </a:pPr>
            <a:r>
              <a:rPr sz="900" b="0">
                <a:solidFill>
                  <a:srgbClr val="474956"/>
                </a:solidFill>
                <a:latin typeface="Diodrum Arabic"/>
                <a:ea typeface="Diodrum Arabic"/>
                <a:cs typeface="Diodrum Arabic"/>
              </a:rPr>
              <a:t>Equivalent titles are indicative. Participant classification is determined by scope of authority, decision type, level of accountability, and leadership protocol — not job title alone. This rule pre-empts objections arising from differences in structures between entities and makes the classification applicable to any entity, whatever its hierarchy.</a:t>
            </a:r>
          </a:p>
        </p:txBody>
      </p:sp>
      <p:sp>
        <p:nvSpPr>
          <p:cNvPr id="10" name="Rectangle 9"/>
          <p:cNvSpPr/>
          <p:nvPr/>
        </p:nvSpPr>
        <p:spPr>
          <a:xfrm>
            <a:off x="566928" y="4953190"/>
            <a:ext cx="45720" cy="405384"/>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4962334"/>
            <a:ext cx="6199631" cy="387095"/>
          </a:xfrm>
          <a:prstGeom prst="rect">
            <a:avLst/>
          </a:prstGeom>
          <a:noFill/>
        </p:spPr>
        <p:txBody>
          <a:bodyPr wrap="square" lIns="0" rIns="0" tIns="0" bIns="0">
            <a:spAutoFit/>
          </a:bodyPr>
          <a:lstStyle/>
          <a:p>
            <a:pPr algn="l">
              <a:lnSpc>
                <a:spcPts val="1380"/>
              </a:lnSpc>
            </a:pPr>
            <a:r>
              <a:rPr sz="1000" b="0">
                <a:solidFill>
                  <a:srgbClr val="232046"/>
                </a:solidFill>
                <a:latin typeface="Diodrum Arabic SemiBold"/>
                <a:ea typeface="Diodrum Arabic SemiBold"/>
                <a:cs typeface="Diodrum Arabic SemiBold"/>
              </a:rPr>
              <a:t>With the four categories and their decision responsibilities defined, the question becomes: what does the global and local market actually offer each of them? Section 03 answers with the benchmark.</a:t>
            </a:r>
          </a:p>
        </p:txBody>
      </p:sp>
      <p:sp>
        <p:nvSpPr>
          <p:cNvPr id="12" name="Rectangle 1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14" name="TextBox 13"/>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842769"/>
          </a:xfrm>
          <a:prstGeom prst="rect">
            <a:avLst/>
          </a:prstGeom>
          <a:gradFill rotWithShape="1">
            <a:gsLst>
              <a:gs pos="0">
                <a:srgbClr val="7C32C9"/>
              </a:gs>
              <a:gs pos="100000">
                <a:srgbClr val="2A206A"/>
              </a:gs>
            </a:gsLst>
            <a:lin scaled="0" ang="20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28231" cy="198628"/>
          </a:xfrm>
          <a:prstGeom prst="rect">
            <a:avLst/>
          </a:prstGeom>
          <a:noFill/>
        </p:spPr>
        <p:txBody>
          <a:bodyPr wrap="square" lIns="0" rIns="0" tIns="0" bIns="0">
            <a:spAutoFit/>
          </a:bodyPr>
          <a:lstStyle/>
          <a:p>
            <a:pPr algn="l">
              <a:lnSpc>
                <a:spcPts val="1276"/>
              </a:lnSpc>
            </a:pPr>
            <a:r>
              <a:rPr sz="1100" b="0" spc="160">
                <a:solidFill>
                  <a:srgbClr val="CEC6EC"/>
                </a:solidFill>
                <a:latin typeface="Diodrum Arabic SemiBold"/>
                <a:ea typeface="Diodrum Arabic SemiBold"/>
                <a:cs typeface="Diodrum Arabic SemiBold"/>
              </a:rPr>
              <a:t>SECTION 03</a:t>
            </a:r>
          </a:p>
        </p:txBody>
      </p:sp>
      <p:sp>
        <p:nvSpPr>
          <p:cNvPr id="4" name="TextBox 3"/>
          <p:cNvSpPr txBox="1"/>
          <p:nvPr/>
        </p:nvSpPr>
        <p:spPr>
          <a:xfrm>
            <a:off x="566928" y="694943"/>
            <a:ext cx="6428231" cy="366267"/>
          </a:xfrm>
          <a:prstGeom prst="rect">
            <a:avLst/>
          </a:prstGeom>
          <a:noFill/>
        </p:spPr>
        <p:txBody>
          <a:bodyPr wrap="square" lIns="0" rIns="0" tIns="0" bIns="0">
            <a:spAutoFit/>
          </a:bodyPr>
          <a:lstStyle/>
          <a:p>
            <a:pPr algn="l">
              <a:lnSpc>
                <a:spcPts val="2595"/>
              </a:lnSpc>
            </a:pPr>
            <a:r>
              <a:rPr sz="2200" b="1">
                <a:solidFill>
                  <a:srgbClr val="FFFFFF"/>
                </a:solidFill>
                <a:latin typeface="Diodrum Arabic"/>
                <a:ea typeface="Diodrum Arabic"/>
                <a:cs typeface="Diodrum Arabic"/>
              </a:rPr>
              <a:t>Benchmarking Findings</a:t>
            </a:r>
          </a:p>
        </p:txBody>
      </p:sp>
      <p:sp>
        <p:nvSpPr>
          <p:cNvPr id="5" name="TextBox 4"/>
          <p:cNvSpPr txBox="1"/>
          <p:nvPr/>
        </p:nvSpPr>
        <p:spPr>
          <a:xfrm>
            <a:off x="566928" y="1116075"/>
            <a:ext cx="5513831" cy="379221"/>
          </a:xfrm>
          <a:prstGeom prst="rect">
            <a:avLst/>
          </a:prstGeom>
          <a:noFill/>
        </p:spPr>
        <p:txBody>
          <a:bodyPr wrap="square" lIns="0" rIns="0" tIns="0" bIns="0">
            <a:spAutoFit/>
          </a:bodyPr>
          <a:lstStyle/>
          <a:p>
            <a:pPr algn="l">
              <a:lnSpc>
                <a:spcPts val="1348"/>
              </a:lnSpc>
            </a:pPr>
            <a:r>
              <a:rPr sz="950" b="0">
                <a:solidFill>
                  <a:srgbClr val="DDDAF0"/>
                </a:solidFill>
                <a:latin typeface="Diodrum Arabic"/>
                <a:ea typeface="Diodrum Arabic"/>
                <a:cs typeface="Diodrum Arabic"/>
              </a:rPr>
              <a:t>The types of international programmes, the register and its prices, country experiences, the Kingdom’s own capabilities, and what has matured versus what remains a gap.</a:t>
            </a:r>
          </a:p>
        </p:txBody>
      </p:sp>
      <p:sp>
        <p:nvSpPr>
          <p:cNvPr id="6" name="Rectangle 5"/>
          <p:cNvSpPr/>
          <p:nvPr/>
        </p:nvSpPr>
        <p:spPr>
          <a:xfrm>
            <a:off x="566928"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2688"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98448" y="1623313"/>
            <a:ext cx="274320"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64208"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29968"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95728"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117089"/>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3.1  TYPES OF INTERNATIONAL PROGRAMMES</a:t>
            </a:r>
          </a:p>
        </p:txBody>
      </p:sp>
      <p:sp>
        <p:nvSpPr>
          <p:cNvPr id="13" name="TextBox 12"/>
          <p:cNvSpPr txBox="1"/>
          <p:nvPr/>
        </p:nvSpPr>
        <p:spPr>
          <a:xfrm>
            <a:off x="566928" y="2344927"/>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Three market categories — conflating them is the root of procurement errors</a:t>
            </a:r>
          </a:p>
        </p:txBody>
      </p:sp>
      <p:sp>
        <p:nvSpPr>
          <p:cNvPr id="14" name="TextBox 13"/>
          <p:cNvSpPr txBox="1"/>
          <p:nvPr/>
        </p:nvSpPr>
        <p:spPr>
          <a:xfrm>
            <a:off x="566928" y="3015487"/>
            <a:ext cx="6428231" cy="721868"/>
          </a:xfrm>
          <a:prstGeom prst="rect">
            <a:avLst/>
          </a:prstGeom>
          <a:noFill/>
        </p:spPr>
        <p:txBody>
          <a:bodyPr wrap="square" lIns="0" rIns="0" tIns="0" bIns="0">
            <a:spAutoFit/>
          </a:bodyPr>
          <a:lstStyle/>
          <a:p>
            <a:pPr algn="just">
              <a:lnSpc>
                <a:spcPts val="1348"/>
              </a:lnSpc>
            </a:pPr>
            <a:r>
              <a:rPr sz="950" b="0">
                <a:solidFill>
                  <a:srgbClr val="474956"/>
                </a:solidFill>
                <a:latin typeface="Diodrum Arabic"/>
                <a:ea typeface="Diodrum Arabic"/>
                <a:cs typeface="Diodrum Arabic"/>
              </a:rPr>
              <a:t>The comparison rests on a register of 32 documented programmes whose provider pages, announced audiences, and published prices were reviewed as of 21 August 2026 — in a context where 32 of 36 OECD countries announce government AI training programmes [14]. The sample divides into three categories that differ in ownership, pricing logic, and purchasability.</a:t>
            </a:r>
          </a:p>
        </p:txBody>
      </p:sp>
      <p:sp>
        <p:nvSpPr>
          <p:cNvPr id="15" name="Rounded Rectangle 14"/>
          <p:cNvSpPr/>
          <p:nvPr/>
        </p:nvSpPr>
        <p:spPr>
          <a:xfrm>
            <a:off x="566928" y="3828795"/>
            <a:ext cx="2045207" cy="2763774"/>
          </a:xfrm>
          <a:prstGeom prst="roundRect">
            <a:avLst>
              <a:gd name="adj" fmla="val 402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 y="3975099"/>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4093971"/>
            <a:ext cx="1752599" cy="361950"/>
          </a:xfrm>
          <a:prstGeom prst="rect">
            <a:avLst/>
          </a:prstGeom>
          <a:noFill/>
        </p:spPr>
        <p:txBody>
          <a:bodyPr wrap="square" lIns="0" rIns="0" tIns="0" bIns="0">
            <a:spAutoFit/>
          </a:bodyPr>
          <a:lstStyle/>
          <a:p>
            <a:pPr algn="l">
              <a:lnSpc>
                <a:spcPts val="1281"/>
              </a:lnSpc>
            </a:pPr>
            <a:r>
              <a:rPr sz="1050" b="0">
                <a:solidFill>
                  <a:srgbClr val="7C32C9"/>
                </a:solidFill>
                <a:latin typeface="Diodrum Arabic SemiBold"/>
                <a:ea typeface="Diodrum Arabic SemiBold"/>
                <a:cs typeface="Diodrum Arabic SemiBold"/>
              </a:rPr>
              <a:t>1 · Prominent commercial programmes</a:t>
            </a:r>
          </a:p>
        </p:txBody>
      </p:sp>
      <p:sp>
        <p:nvSpPr>
          <p:cNvPr id="18" name="TextBox 17"/>
          <p:cNvSpPr txBox="1"/>
          <p:nvPr/>
        </p:nvSpPr>
        <p:spPr>
          <a:xfrm>
            <a:off x="713232" y="4483353"/>
            <a:ext cx="1752599" cy="1578864"/>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Major business schools, mixed-sector executive audiences, US$12,000–28,000 a seat: Kellogg US$28,000 [15]; MIT xPRO US$25,000–28,000 by pricing cycle [16]; Cambridge Judge £20,000 (≈ SAR 101,993) [17]. The participant buys the university name and a largely corporate peer network; the price reflects academic brand, faculty, and network — not government fit.</a:t>
            </a:r>
          </a:p>
        </p:txBody>
      </p:sp>
      <p:sp>
        <p:nvSpPr>
          <p:cNvPr id="19" name="Rounded Rectangle 18"/>
          <p:cNvSpPr/>
          <p:nvPr/>
        </p:nvSpPr>
        <p:spPr>
          <a:xfrm>
            <a:off x="2758440" y="3828795"/>
            <a:ext cx="2045207" cy="2763774"/>
          </a:xfrm>
          <a:prstGeom prst="roundRect">
            <a:avLst>
              <a:gd name="adj" fmla="val 402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4744" y="3975099"/>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04744" y="4093971"/>
            <a:ext cx="1752599" cy="361950"/>
          </a:xfrm>
          <a:prstGeom prst="rect">
            <a:avLst/>
          </a:prstGeom>
          <a:noFill/>
        </p:spPr>
        <p:txBody>
          <a:bodyPr wrap="square" lIns="0" rIns="0" tIns="0" bIns="0">
            <a:spAutoFit/>
          </a:bodyPr>
          <a:lstStyle/>
          <a:p>
            <a:pPr algn="l">
              <a:lnSpc>
                <a:spcPts val="1281"/>
              </a:lnSpc>
            </a:pPr>
            <a:r>
              <a:rPr sz="1050" b="0">
                <a:solidFill>
                  <a:srgbClr val="00ABAF"/>
                </a:solidFill>
                <a:latin typeface="Diodrum Arabic SemiBold"/>
                <a:ea typeface="Diodrum Arabic SemiBold"/>
                <a:cs typeface="Diodrum Arabic SemiBold"/>
              </a:rPr>
              <a:t>2 · Dedicated government programmes</a:t>
            </a:r>
          </a:p>
        </p:txBody>
      </p:sp>
      <p:sp>
        <p:nvSpPr>
          <p:cNvPr id="22" name="TextBox 21"/>
          <p:cNvSpPr txBox="1"/>
          <p:nvPr/>
        </p:nvSpPr>
        <p:spPr>
          <a:xfrm>
            <a:off x="2904744" y="4483353"/>
            <a:ext cx="1752599" cy="1999487"/>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Written for government employees by name, and systematically cheaper: free (US Partnership for Public Service [18]; GSA series [19]); a few hundred euros (Ireland’s IPA masterclass, €480 ≈ SAR 2,101 [20]); a few thousand dollars (Darden US$4,700 [21]; Johns Hopkins US$2,450 at review date [22]); capped by the Lee Kuan Yew School at S$6,800 [23]. Pricing is mission-driven — Google.org granted US$10m [24] and US$5m [25] — but several of the most relevant programmes are restricted by nationality or employer.</a:t>
            </a:r>
          </a:p>
        </p:txBody>
      </p:sp>
      <p:sp>
        <p:nvSpPr>
          <p:cNvPr id="23" name="Rounded Rectangle 22"/>
          <p:cNvSpPr/>
          <p:nvPr/>
        </p:nvSpPr>
        <p:spPr>
          <a:xfrm>
            <a:off x="4949952" y="3828795"/>
            <a:ext cx="2045207" cy="2763774"/>
          </a:xfrm>
          <a:prstGeom prst="roundRect">
            <a:avLst>
              <a:gd name="adj" fmla="val 402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96256" y="3975099"/>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96256" y="4093971"/>
            <a:ext cx="1752599" cy="361950"/>
          </a:xfrm>
          <a:prstGeom prst="rect">
            <a:avLst/>
          </a:prstGeom>
          <a:noFill/>
        </p:spPr>
        <p:txBody>
          <a:bodyPr wrap="square" lIns="0" rIns="0" tIns="0" bIns="0">
            <a:spAutoFit/>
          </a:bodyPr>
          <a:lstStyle/>
          <a:p>
            <a:pPr algn="l">
              <a:lnSpc>
                <a:spcPts val="1281"/>
              </a:lnSpc>
            </a:pPr>
            <a:r>
              <a:rPr sz="1050" b="0">
                <a:solidFill>
                  <a:srgbClr val="2A206A"/>
                </a:solidFill>
                <a:latin typeface="Diodrum Arabic SemiBold"/>
                <a:ea typeface="Diodrum Arabic SemiBold"/>
                <a:cs typeface="Diodrum Arabic SemiBold"/>
              </a:rPr>
              <a:t>3 · Closed sovereign programmes</a:t>
            </a:r>
          </a:p>
        </p:txBody>
      </p:sp>
      <p:sp>
        <p:nvSpPr>
          <p:cNvPr id="26" name="TextBox 25"/>
          <p:cNvSpPr txBox="1"/>
          <p:nvPr/>
        </p:nvSpPr>
        <p:spPr>
          <a:xfrm>
            <a:off x="5096256" y="4483353"/>
            <a:ext cx="1752599" cy="1438656"/>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Built by states for themselves and never sold: the UAE’s approved target of 80,000 federal employees — an announced target, not a completion figure [26][27][28]; Singapore’s announced institute for 150,000+ [29]; the UK’s Digital Excellence Programme for the Senior Civil Service [30]; Ghana’s closed ministerial bootcamp with UNDP [31].</a:t>
            </a:r>
          </a:p>
        </p:txBody>
      </p:sp>
      <p:sp>
        <p:nvSpPr>
          <p:cNvPr id="27" name="Rounded Rectangle 26"/>
          <p:cNvSpPr/>
          <p:nvPr/>
        </p:nvSpPr>
        <p:spPr>
          <a:xfrm>
            <a:off x="566928" y="6775449"/>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6958329"/>
            <a:ext cx="6062471" cy="191262"/>
          </a:xfrm>
          <a:prstGeom prst="rect">
            <a:avLst/>
          </a:prstGeom>
          <a:noFill/>
        </p:spPr>
        <p:txBody>
          <a:bodyPr wrap="square" lIns="0" rIns="0" tIns="0" bIns="0">
            <a:spAutoFit/>
          </a:bodyPr>
          <a:lstStyle/>
          <a:p>
            <a:pPr algn="l">
              <a:lnSpc>
                <a:spcPts val="1218"/>
              </a:lnSpc>
            </a:pPr>
            <a:r>
              <a:rPr sz="1050" b="0" spc="90">
                <a:solidFill>
                  <a:srgbClr val="D9F3EE"/>
                </a:solidFill>
                <a:latin typeface="Diodrum Arabic SemiBold"/>
                <a:ea typeface="Diodrum Arabic SemiBold"/>
                <a:cs typeface="Diodrum Arabic SemiBold"/>
              </a:rPr>
              <a:t>THE MEANING OF THE THIRD CATEGORY</a:t>
            </a:r>
          </a:p>
        </p:txBody>
      </p:sp>
      <p:sp>
        <p:nvSpPr>
          <p:cNvPr id="29" name="TextBox 28"/>
          <p:cNvSpPr txBox="1"/>
          <p:nvPr/>
        </p:nvSpPr>
        <p:spPr>
          <a:xfrm>
            <a:off x="749808" y="7158735"/>
            <a:ext cx="6062471" cy="361187"/>
          </a:xfrm>
          <a:prstGeom prst="rect">
            <a:avLst/>
          </a:prstGeom>
          <a:noFill/>
        </p:spPr>
        <p:txBody>
          <a:bodyPr wrap="square" lIns="0" rIns="0" tIns="0" bIns="0">
            <a:spAutoFit/>
          </a:bodyPr>
          <a:lstStyle/>
          <a:p>
            <a:pPr algn="just">
              <a:lnSpc>
                <a:spcPts val="1278"/>
              </a:lnSpc>
            </a:pPr>
            <a:r>
              <a:rPr sz="900" b="0">
                <a:solidFill>
                  <a:srgbClr val="FFFFFF"/>
                </a:solidFill>
                <a:latin typeface="Diodrum Arabic"/>
                <a:ea typeface="Diodrum Arabic"/>
                <a:cs typeface="Diodrum Arabic"/>
              </a:rPr>
              <a:t>What reaches a minister’s office is a sovereign decision to build — not an educational product picked off a commercial shelf. A programme’s existence in the market is one thing; a Saudi leader’s ability to enrol in it is another.</a:t>
            </a:r>
          </a:p>
        </p:txBody>
      </p:sp>
      <p:sp>
        <p:nvSpPr>
          <p:cNvPr id="30" name="Rectangle 29"/>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32" name="TextBox 31"/>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03 · 3.2  LEADING PROGRAMMES AND PRICES — 1 OF 2</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The open market: what a seat costs, and who it is announced for</a:t>
            </a:r>
          </a:p>
        </p:txBody>
      </p:sp>
      <p:sp>
        <p:nvSpPr>
          <p:cNvPr id="4" name="TextBox 3"/>
          <p:cNvSpPr txBox="1"/>
          <p:nvPr/>
        </p:nvSpPr>
        <p:spPr>
          <a:xfrm>
            <a:off x="566928" y="1401318"/>
            <a:ext cx="6428231" cy="205486"/>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Announced audiences as stated on provider pages; prices in the original currency with the approximate riyal equivalent.</a:t>
            </a:r>
          </a:p>
        </p:txBody>
      </p:sp>
      <p:sp>
        <p:nvSpPr>
          <p:cNvPr id="5" name="Rectangle 4"/>
          <p:cNvSpPr/>
          <p:nvPr/>
        </p:nvSpPr>
        <p:spPr>
          <a:xfrm>
            <a:off x="566928" y="166166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844548"/>
          <a:ext cx="6428229" cy="3310636"/>
        </p:xfrm>
        <a:graphic>
          <a:graphicData uri="http://schemas.openxmlformats.org/drawingml/2006/table">
            <a:tbl>
              <a:tblPr firstRow="1" bandRow="0"/>
              <a:tblGrid>
                <a:gridCol w="1542775"/>
                <a:gridCol w="1542775"/>
                <a:gridCol w="1092799"/>
                <a:gridCol w="1092799"/>
                <a:gridCol w="835670"/>
                <a:gridCol w="321411"/>
              </a:tblGrid>
              <a:tr h="253492">
                <a:tc>
                  <a:txBody>
                    <a:bodyPr wrap="square"/>
                    <a:lstStyle/>
                    <a:p>
                      <a:pPr algn="l">
                        <a:lnSpc>
                          <a:spcPts val="1024"/>
                        </a:lnSpc>
                      </a:pPr>
                      <a:r>
                        <a:rPr sz="800" b="0">
                          <a:solidFill>
                            <a:srgbClr val="FFFFFF"/>
                          </a:solidFill>
                          <a:latin typeface="Diodrum Arabic SemiBold"/>
                          <a:ea typeface="Diodrum Arabic SemiBold"/>
                          <a:cs typeface="Diodrum Arabic SemiBold"/>
                        </a:rPr>
                        <a:t>Programme — provider</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Announced audience</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Duration and format</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Price (≈ SAR)</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Access</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Src</a:t>
                      </a:r>
                    </a:p>
                  </a:txBody>
                  <a:tcPr marL="64008" marR="64008" marT="41148" marB="41148" anchor="ctr">
                    <a:solidFill>
                      <a:srgbClr val="241A5E"/>
                    </a:solidFill>
                  </a:tcPr>
                </a:tc>
              </a:tr>
              <a:tr h="611124">
                <a:tc>
                  <a:txBody>
                    <a:bodyPr wrap="square"/>
                    <a:lstStyle/>
                    <a:p>
                      <a:pPr algn="l">
                        <a:lnSpc>
                          <a:spcPts val="960"/>
                        </a:lnSpc>
                      </a:pPr>
                      <a:r>
                        <a:rPr sz="750" b="0">
                          <a:solidFill>
                            <a:srgbClr val="232046"/>
                          </a:solidFill>
                          <a:latin typeface="Diodrum Arabic SemiBold"/>
                          <a:ea typeface="Diodrum Arabic SemiBold"/>
                          <a:cs typeface="Diodrum Arabic SemiBold"/>
                        </a:rPr>
                        <a:t>AI and Digital Transformation for Public Policy Leaders — Lee Kuan Yew School (NUS)</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Mid- and senior-level government officials responsible for digital transformation or AI strategy</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4 in-person days (10–13 Nov 2026; scheduled, not yet delivered)</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S$6,800 + tax (≈ 20,050; early bird S$5,440 until 30 Sep 2026)</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Open</a:t>
                      </a:r>
                    </a:p>
                  </a:txBody>
                  <a:tcPr marL="64008" marR="64008" marT="41148" marB="41148" anchor="ctr">
                    <a:solidFill>
                      <a:srgbClr val="FFFFFF"/>
                    </a:solidFill>
                  </a:tcPr>
                </a:tc>
                <a:tc>
                  <a:txBody>
                    <a:bodyPr wrap="square"/>
                    <a:lstStyle/>
                    <a:p>
                      <a:pPr algn="ctr">
                        <a:lnSpc>
                          <a:spcPts val="896"/>
                        </a:lnSpc>
                      </a:pPr>
                      <a:r>
                        <a:rPr sz="700" b="0">
                          <a:solidFill>
                            <a:srgbClr val="00ABAF"/>
                          </a:solidFill>
                          <a:latin typeface="Diodrum Arabic"/>
                          <a:ea typeface="Diodrum Arabic"/>
                          <a:cs typeface="Diodrum Arabic"/>
                        </a:rPr>
                        <a:t>[23]</a:t>
                      </a:r>
                    </a:p>
                  </a:txBody>
                  <a:tcPr marL="64008" marR="64008" marT="41148" marB="41148" anchor="ctr">
                    <a:solidFill>
                      <a:srgbClr val="FFFFFF"/>
                    </a:solidFill>
                  </a:tcPr>
                </a:tc>
              </a:tr>
              <a:tr h="489204">
                <a:tc>
                  <a:txBody>
                    <a:bodyPr wrap="square"/>
                    <a:lstStyle/>
                    <a:p>
                      <a:pPr algn="l">
                        <a:lnSpc>
                          <a:spcPts val="960"/>
                        </a:lnSpc>
                      </a:pPr>
                      <a:r>
                        <a:rPr sz="750" b="0">
                          <a:solidFill>
                            <a:srgbClr val="232046"/>
                          </a:solidFill>
                          <a:latin typeface="Diodrum Arabic SemiBold"/>
                          <a:ea typeface="Diodrum Arabic SemiBold"/>
                          <a:cs typeface="Diodrum Arabic SemiBold"/>
                        </a:rPr>
                        <a:t>Global AI Leadership Program (GAILP) — MBZUAI</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Senior government officials, global executives, C-suite leaders</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5 days, Abu Dhabi</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AED 45,000 incl. tax (≈ 45,950)</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Selective / by invitation</a:t>
                      </a:r>
                    </a:p>
                  </a:txBody>
                  <a:tcPr marL="64008" marR="64008" marT="41148" marB="41148" anchor="ctr">
                    <a:solidFill>
                      <a:srgbClr val="F4F4F9"/>
                    </a:solidFill>
                  </a:tcPr>
                </a:tc>
                <a:tc>
                  <a:txBody>
                    <a:bodyPr wrap="square"/>
                    <a:lstStyle/>
                    <a:p>
                      <a:pPr algn="ctr">
                        <a:lnSpc>
                          <a:spcPts val="896"/>
                        </a:lnSpc>
                      </a:pPr>
                      <a:r>
                        <a:rPr sz="700" b="0">
                          <a:solidFill>
                            <a:srgbClr val="00ABAF"/>
                          </a:solidFill>
                          <a:latin typeface="Diodrum Arabic"/>
                          <a:ea typeface="Diodrum Arabic"/>
                          <a:cs typeface="Diodrum Arabic"/>
                        </a:rPr>
                        <a:t>[32] [33]</a:t>
                      </a:r>
                    </a:p>
                  </a:txBody>
                  <a:tcPr marL="64008" marR="64008" marT="41148" marB="41148" anchor="ctr">
                    <a:solidFill>
                      <a:srgbClr val="F4F4F9"/>
                    </a:solidFill>
                  </a:tcPr>
                </a:tc>
              </a:tr>
              <a:tr h="367284">
                <a:tc>
                  <a:txBody>
                    <a:bodyPr wrap="square"/>
                    <a:lstStyle/>
                    <a:p>
                      <a:pPr algn="l">
                        <a:lnSpc>
                          <a:spcPts val="960"/>
                        </a:lnSpc>
                      </a:pPr>
                      <a:r>
                        <a:rPr sz="750" b="0">
                          <a:solidFill>
                            <a:srgbClr val="232046"/>
                          </a:solidFill>
                          <a:latin typeface="Diodrum Arabic SemiBold"/>
                          <a:ea typeface="Diodrum Arabic SemiBold"/>
                          <a:cs typeface="Diodrum Arabic SemiBold"/>
                        </a:rPr>
                        <a:t>MBZUAI Executive Program (MEP) — MBZUAI</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Senior executives and high-ranking officials in the UAE</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16 weeks</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AED 35,000 (≈ 35,739)</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UAE-oriented</a:t>
                      </a:r>
                    </a:p>
                  </a:txBody>
                  <a:tcPr marL="64008" marR="64008" marT="41148" marB="41148" anchor="ctr">
                    <a:solidFill>
                      <a:srgbClr val="FFFFFF"/>
                    </a:solidFill>
                  </a:tcPr>
                </a:tc>
                <a:tc>
                  <a:txBody>
                    <a:bodyPr wrap="square"/>
                    <a:lstStyle/>
                    <a:p>
                      <a:pPr algn="ctr">
                        <a:lnSpc>
                          <a:spcPts val="896"/>
                        </a:lnSpc>
                      </a:pPr>
                      <a:r>
                        <a:rPr sz="700" b="0">
                          <a:solidFill>
                            <a:srgbClr val="00ABAF"/>
                          </a:solidFill>
                          <a:latin typeface="Diodrum Arabic"/>
                          <a:ea typeface="Diodrum Arabic"/>
                          <a:cs typeface="Diodrum Arabic"/>
                        </a:rPr>
                        <a:t>[34]</a:t>
                      </a:r>
                    </a:p>
                  </a:txBody>
                  <a:tcPr marL="64008" marR="64008" marT="41148" marB="41148" anchor="ctr">
                    <a:solidFill>
                      <a:srgbClr val="FFFFFF"/>
                    </a:solidFill>
                  </a:tcPr>
                </a:tc>
              </a:tr>
              <a:tr h="611124">
                <a:tc>
                  <a:txBody>
                    <a:bodyPr wrap="square"/>
                    <a:lstStyle/>
                    <a:p>
                      <a:pPr algn="l">
                        <a:lnSpc>
                          <a:spcPts val="960"/>
                        </a:lnSpc>
                      </a:pPr>
                      <a:r>
                        <a:rPr sz="750" b="0">
                          <a:solidFill>
                            <a:srgbClr val="232046"/>
                          </a:solidFill>
                          <a:latin typeface="Diodrum Arabic SemiBold"/>
                          <a:ea typeface="Diodrum Arabic SemiBold"/>
                          <a:cs typeface="Diodrum Arabic SemiBold"/>
                        </a:rPr>
                        <a:t>Leading AI through Co-Creation — Blavatnik School, Oxford</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Senior leaders and practitioners responsible for AI strategy, governance, development, or implementation</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6 days (29 Nov–4 Dec 2026; first cohort scheduled, not yet delivered)</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£10,250 (≈ 52,271)</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Open, selective admission</a:t>
                      </a:r>
                    </a:p>
                  </a:txBody>
                  <a:tcPr marL="64008" marR="64008" marT="41148" marB="41148" anchor="ctr">
                    <a:solidFill>
                      <a:srgbClr val="F4F4F9"/>
                    </a:solidFill>
                  </a:tcPr>
                </a:tc>
                <a:tc>
                  <a:txBody>
                    <a:bodyPr wrap="square"/>
                    <a:lstStyle/>
                    <a:p>
                      <a:pPr algn="ctr">
                        <a:lnSpc>
                          <a:spcPts val="896"/>
                        </a:lnSpc>
                      </a:pPr>
                      <a:r>
                        <a:rPr sz="700" b="0">
                          <a:solidFill>
                            <a:srgbClr val="00ABAF"/>
                          </a:solidFill>
                          <a:latin typeface="Diodrum Arabic"/>
                          <a:ea typeface="Diodrum Arabic"/>
                          <a:cs typeface="Diodrum Arabic"/>
                        </a:rPr>
                        <a:t>[35]</a:t>
                      </a:r>
                    </a:p>
                  </a:txBody>
                  <a:tcPr marL="64008" marR="64008" marT="41148" marB="41148" anchor="ctr">
                    <a:solidFill>
                      <a:srgbClr val="F4F4F9"/>
                    </a:solidFill>
                  </a:tcPr>
                </a:tc>
              </a:tr>
              <a:tr h="489204">
                <a:tc>
                  <a:txBody>
                    <a:bodyPr wrap="square"/>
                    <a:lstStyle/>
                    <a:p>
                      <a:pPr algn="l">
                        <a:lnSpc>
                          <a:spcPts val="960"/>
                        </a:lnSpc>
                      </a:pPr>
                      <a:r>
                        <a:rPr sz="750" b="0">
                          <a:solidFill>
                            <a:srgbClr val="232046"/>
                          </a:solidFill>
                          <a:latin typeface="Diodrum Arabic SemiBold"/>
                          <a:ea typeface="Diodrum Arabic SemiBold"/>
                          <a:cs typeface="Diodrum Arabic SemiBold"/>
                        </a:rPr>
                        <a:t>Leading in Artificial Intelligence — Harvard Kennedy School</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Mixed audience incl. senior government and military leaders and elected officials</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One in-person week</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US$11,700 incl. accommodation and most meals (≈ 43,875)</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Open</a:t>
                      </a:r>
                    </a:p>
                  </a:txBody>
                  <a:tcPr marL="64008" marR="64008" marT="41148" marB="41148" anchor="ctr">
                    <a:solidFill>
                      <a:srgbClr val="FFFFFF"/>
                    </a:solidFill>
                  </a:tcPr>
                </a:tc>
                <a:tc>
                  <a:txBody>
                    <a:bodyPr wrap="square"/>
                    <a:lstStyle/>
                    <a:p>
                      <a:pPr algn="ctr">
                        <a:lnSpc>
                          <a:spcPts val="896"/>
                        </a:lnSpc>
                      </a:pPr>
                      <a:r>
                        <a:rPr sz="700" b="0">
                          <a:solidFill>
                            <a:srgbClr val="00ABAF"/>
                          </a:solidFill>
                          <a:latin typeface="Diodrum Arabic"/>
                          <a:ea typeface="Diodrum Arabic"/>
                          <a:cs typeface="Diodrum Arabic"/>
                        </a:rPr>
                        <a:t>[36]</a:t>
                      </a:r>
                    </a:p>
                  </a:txBody>
                  <a:tcPr marL="64008" marR="64008" marT="41148" marB="41148" anchor="ctr">
                    <a:solidFill>
                      <a:srgbClr val="FFFFFF"/>
                    </a:solidFill>
                  </a:tcPr>
                </a:tc>
              </a:tr>
              <a:tr h="489204">
                <a:tc>
                  <a:txBody>
                    <a:bodyPr wrap="square"/>
                    <a:lstStyle/>
                    <a:p>
                      <a:pPr algn="l">
                        <a:lnSpc>
                          <a:spcPts val="960"/>
                        </a:lnSpc>
                      </a:pPr>
                      <a:r>
                        <a:rPr sz="750" b="0">
                          <a:solidFill>
                            <a:srgbClr val="232046"/>
                          </a:solidFill>
                          <a:latin typeface="Diodrum Arabic SemiBold"/>
                          <a:ea typeface="Diodrum Arabic SemiBold"/>
                          <a:cs typeface="Diodrum Arabic SemiBold"/>
                        </a:rPr>
                        <a:t>AI Essentials for Government Leaders — Darden, University of Virginia</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Government-sector leaders and related industries</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2.5 days, Washington DC area</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US$4,700 (≈ 17,625; 20% government and military discount)</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Open</a:t>
                      </a:r>
                    </a:p>
                  </a:txBody>
                  <a:tcPr marL="64008" marR="64008" marT="41148" marB="41148" anchor="ctr">
                    <a:solidFill>
                      <a:srgbClr val="F4F4F9"/>
                    </a:solidFill>
                  </a:tcPr>
                </a:tc>
                <a:tc>
                  <a:txBody>
                    <a:bodyPr wrap="square"/>
                    <a:lstStyle/>
                    <a:p>
                      <a:pPr algn="ctr">
                        <a:lnSpc>
                          <a:spcPts val="896"/>
                        </a:lnSpc>
                      </a:pPr>
                      <a:r>
                        <a:rPr sz="700" b="0">
                          <a:solidFill>
                            <a:srgbClr val="00ABAF"/>
                          </a:solidFill>
                          <a:latin typeface="Diodrum Arabic"/>
                          <a:ea typeface="Diodrum Arabic"/>
                          <a:cs typeface="Diodrum Arabic"/>
                        </a:rPr>
                        <a:t>[21]</a:t>
                      </a:r>
                    </a:p>
                  </a:txBody>
                  <a:tcPr marL="64008" marR="64008" marT="41148" marB="41148" anchor="ctr">
                    <a:solidFill>
                      <a:srgbClr val="F4F4F9"/>
                    </a:solidFill>
                  </a:tcPr>
                </a:tc>
              </a:tr>
            </a:tbl>
          </a:graphicData>
        </a:graphic>
      </p:graphicFrame>
      <p:sp>
        <p:nvSpPr>
          <p:cNvPr id="7" name="TextBox 6"/>
          <p:cNvSpPr txBox="1"/>
          <p:nvPr/>
        </p:nvSpPr>
        <p:spPr>
          <a:xfrm>
            <a:off x="566928" y="5301488"/>
            <a:ext cx="6428231" cy="321056"/>
          </a:xfrm>
          <a:prstGeom prst="rect">
            <a:avLst/>
          </a:prstGeom>
          <a:noFill/>
        </p:spPr>
        <p:txBody>
          <a:bodyPr wrap="square" lIns="0" rIns="0" tIns="0" bIns="0">
            <a:spAutoFit/>
          </a:bodyPr>
          <a:lstStyle/>
          <a:p>
            <a:pPr algn="l">
              <a:lnSpc>
                <a:spcPts val="1120"/>
              </a:lnSpc>
            </a:pPr>
            <a:r>
              <a:rPr sz="800" b="0">
                <a:solidFill>
                  <a:srgbClr val="6E7077"/>
                </a:solidFill>
                <a:latin typeface="Diodrum Arabic"/>
                <a:ea typeface="Diodrum Arabic"/>
                <a:cs typeface="Diodrum Arabic"/>
              </a:rPr>
              <a:t>Published prices are individual seat prices in open, mixed-sector cohorts; they do not represent offers for closed cohorts. A customised programme is priced as a project, not as seats, and universities publish no price cards for it [39].</a:t>
            </a:r>
          </a:p>
        </p:txBody>
      </p:sp>
      <p:sp>
        <p:nvSpPr>
          <p:cNvPr id="8" name="Rectangle 7"/>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10" name="TextBox 9"/>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03 · 3.2  LEADING PROGRAMMES AND PRICES — 2 OF 2</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The government-dedicated layer: cheaper, and mostly restricted</a:t>
            </a:r>
          </a:p>
        </p:txBody>
      </p:sp>
      <p:sp>
        <p:nvSpPr>
          <p:cNvPr id="4" name="TextBox 3"/>
          <p:cNvSpPr txBox="1"/>
          <p:nvPr/>
        </p:nvSpPr>
        <p:spPr>
          <a:xfrm>
            <a:off x="566928" y="1401318"/>
            <a:ext cx="6428231" cy="374395"/>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The rows below include the designs most relevant to the public context — and the access restrictions that come with them.</a:t>
            </a:r>
          </a:p>
        </p:txBody>
      </p:sp>
      <p:sp>
        <p:nvSpPr>
          <p:cNvPr id="5" name="Rectangle 4"/>
          <p:cNvSpPr/>
          <p:nvPr/>
        </p:nvSpPr>
        <p:spPr>
          <a:xfrm>
            <a:off x="566928" y="183057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2013458"/>
          <a:ext cx="6428229" cy="3798316"/>
        </p:xfrm>
        <a:graphic>
          <a:graphicData uri="http://schemas.openxmlformats.org/drawingml/2006/table">
            <a:tbl>
              <a:tblPr firstRow="1" bandRow="0"/>
              <a:tblGrid>
                <a:gridCol w="1542775"/>
                <a:gridCol w="1542775"/>
                <a:gridCol w="1092799"/>
                <a:gridCol w="1092799"/>
                <a:gridCol w="835670"/>
                <a:gridCol w="321411"/>
              </a:tblGrid>
              <a:tr h="253492">
                <a:tc>
                  <a:txBody>
                    <a:bodyPr wrap="square"/>
                    <a:lstStyle/>
                    <a:p>
                      <a:pPr algn="l">
                        <a:lnSpc>
                          <a:spcPts val="1024"/>
                        </a:lnSpc>
                      </a:pPr>
                      <a:r>
                        <a:rPr sz="800" b="0">
                          <a:solidFill>
                            <a:srgbClr val="FFFFFF"/>
                          </a:solidFill>
                          <a:latin typeface="Diodrum Arabic SemiBold"/>
                          <a:ea typeface="Diodrum Arabic SemiBold"/>
                          <a:cs typeface="Diodrum Arabic SemiBold"/>
                        </a:rPr>
                        <a:t>Programme — provider</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Announced audience</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Duration and format</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Price (≈ SAR)</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Access</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Src</a:t>
                      </a:r>
                    </a:p>
                  </a:txBody>
                  <a:tcPr marL="64008" marR="64008" marT="41148" marB="41148" anchor="ctr">
                    <a:solidFill>
                      <a:srgbClr val="241A5E"/>
                    </a:solidFill>
                  </a:tcPr>
                </a:tc>
              </a:tr>
              <a:tr h="611124">
                <a:tc>
                  <a:txBody>
                    <a:bodyPr wrap="square"/>
                    <a:lstStyle/>
                    <a:p>
                      <a:pPr algn="l">
                        <a:lnSpc>
                          <a:spcPts val="960"/>
                        </a:lnSpc>
                      </a:pPr>
                      <a:r>
                        <a:rPr sz="750" b="0">
                          <a:solidFill>
                            <a:srgbClr val="232046"/>
                          </a:solidFill>
                          <a:latin typeface="Diodrum Arabic SemiBold"/>
                          <a:ea typeface="Diodrum Arabic SemiBold"/>
                          <a:cs typeface="Diodrum Arabic SemiBold"/>
                        </a:rPr>
                        <a:t>AI Policy Fellowship — Imperial College London</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Senior civil servants deepening their understanding of AI’s role in the public sector</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9 months; individual research project within the fellow’s entity</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£1,500 (≈ 7,649)</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De facto restricted (listed cohorts are British)</a:t>
                      </a:r>
                    </a:p>
                  </a:txBody>
                  <a:tcPr marL="64008" marR="64008" marT="41148" marB="41148" anchor="ctr">
                    <a:solidFill>
                      <a:srgbClr val="FFFFFF"/>
                    </a:solidFill>
                  </a:tcPr>
                </a:tc>
                <a:tc>
                  <a:txBody>
                    <a:bodyPr wrap="square"/>
                    <a:lstStyle/>
                    <a:p>
                      <a:pPr algn="ctr">
                        <a:lnSpc>
                          <a:spcPts val="896"/>
                        </a:lnSpc>
                      </a:pPr>
                      <a:r>
                        <a:rPr sz="700" b="0">
                          <a:solidFill>
                            <a:srgbClr val="00ABAF"/>
                          </a:solidFill>
                          <a:latin typeface="Diodrum Arabic"/>
                          <a:ea typeface="Diodrum Arabic"/>
                          <a:cs typeface="Diodrum Arabic"/>
                        </a:rPr>
                        <a:t>[37] [38]</a:t>
                      </a:r>
                    </a:p>
                  </a:txBody>
                  <a:tcPr marL="64008" marR="64008" marT="41148" marB="41148" anchor="ctr">
                    <a:solidFill>
                      <a:srgbClr val="FFFFFF"/>
                    </a:solidFill>
                  </a:tcPr>
                </a:tc>
              </a:tr>
              <a:tr h="611124">
                <a:tc>
                  <a:txBody>
                    <a:bodyPr wrap="square"/>
                    <a:lstStyle/>
                    <a:p>
                      <a:pPr algn="l">
                        <a:lnSpc>
                          <a:spcPts val="960"/>
                        </a:lnSpc>
                      </a:pPr>
                      <a:r>
                        <a:rPr sz="750" b="0">
                          <a:solidFill>
                            <a:srgbClr val="232046"/>
                          </a:solidFill>
                          <a:latin typeface="Diodrum Arabic SemiBold"/>
                          <a:ea typeface="Diodrum Arabic SemiBold"/>
                          <a:cs typeface="Diodrum Arabic SemiBold"/>
                        </a:rPr>
                        <a:t>AI Government Leadership Program — Partnership for Public Service</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Federal GS-15 employees; Senior Executive Service members and equivalents</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6 half-day sessions over 4 months, virtual</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Free</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Restricted (US federal government only)</a:t>
                      </a:r>
                    </a:p>
                  </a:txBody>
                  <a:tcPr marL="64008" marR="64008" marT="41148" marB="41148" anchor="ctr">
                    <a:solidFill>
                      <a:srgbClr val="F4F4F9"/>
                    </a:solidFill>
                  </a:tcPr>
                </a:tc>
                <a:tc>
                  <a:txBody>
                    <a:bodyPr wrap="square"/>
                    <a:lstStyle/>
                    <a:p>
                      <a:pPr algn="ctr">
                        <a:lnSpc>
                          <a:spcPts val="896"/>
                        </a:lnSpc>
                      </a:pPr>
                      <a:r>
                        <a:rPr sz="700" b="0">
                          <a:solidFill>
                            <a:srgbClr val="00ABAF"/>
                          </a:solidFill>
                          <a:latin typeface="Diodrum Arabic"/>
                          <a:ea typeface="Diodrum Arabic"/>
                          <a:cs typeface="Diodrum Arabic"/>
                        </a:rPr>
                        <a:t>[18]</a:t>
                      </a:r>
                    </a:p>
                  </a:txBody>
                  <a:tcPr marL="64008" marR="64008" marT="41148" marB="41148" anchor="ctr">
                    <a:solidFill>
                      <a:srgbClr val="F4F4F9"/>
                    </a:solidFill>
                  </a:tcPr>
                </a:tc>
              </a:tr>
              <a:tr h="611124">
                <a:tc>
                  <a:txBody>
                    <a:bodyPr wrap="square"/>
                    <a:lstStyle/>
                    <a:p>
                      <a:pPr algn="l">
                        <a:lnSpc>
                          <a:spcPts val="960"/>
                        </a:lnSpc>
                      </a:pPr>
                      <a:r>
                        <a:rPr sz="750" b="0">
                          <a:solidFill>
                            <a:srgbClr val="232046"/>
                          </a:solidFill>
                          <a:latin typeface="Diodrum Arabic SemiBold"/>
                          <a:ea typeface="Diodrum Arabic SemiBold"/>
                          <a:cs typeface="Diodrum Arabic SemiBold"/>
                        </a:rPr>
                        <a:t>AI for Senior Federal Government Leaders — Johns Hopkins University</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GS-14/15 leaders and O-5/O-6 ranks</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10 weeks, blended remote</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US$2,450 at review date (≈ 9,188) *</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Restricted (US federal and defence framework)</a:t>
                      </a:r>
                    </a:p>
                  </a:txBody>
                  <a:tcPr marL="64008" marR="64008" marT="41148" marB="41148" anchor="ctr">
                    <a:solidFill>
                      <a:srgbClr val="FFFFFF"/>
                    </a:solidFill>
                  </a:tcPr>
                </a:tc>
                <a:tc>
                  <a:txBody>
                    <a:bodyPr wrap="square"/>
                    <a:lstStyle/>
                    <a:p>
                      <a:pPr algn="ctr">
                        <a:lnSpc>
                          <a:spcPts val="896"/>
                        </a:lnSpc>
                      </a:pPr>
                      <a:r>
                        <a:rPr sz="700" b="0">
                          <a:solidFill>
                            <a:srgbClr val="00ABAF"/>
                          </a:solidFill>
                          <a:latin typeface="Diodrum Arabic"/>
                          <a:ea typeface="Diodrum Arabic"/>
                          <a:cs typeface="Diodrum Arabic"/>
                        </a:rPr>
                        <a:t>[22]</a:t>
                      </a:r>
                    </a:p>
                  </a:txBody>
                  <a:tcPr marL="64008" marR="64008" marT="41148" marB="41148" anchor="ctr">
                    <a:solidFill>
                      <a:srgbClr val="FFFFFF"/>
                    </a:solidFill>
                  </a:tcPr>
                </a:tc>
              </a:tr>
              <a:tr h="611124">
                <a:tc>
                  <a:txBody>
                    <a:bodyPr wrap="square"/>
                    <a:lstStyle/>
                    <a:p>
                      <a:pPr algn="l">
                        <a:lnSpc>
                          <a:spcPts val="960"/>
                        </a:lnSpc>
                      </a:pPr>
                      <a:r>
                        <a:rPr sz="750" b="0">
                          <a:solidFill>
                            <a:srgbClr val="232046"/>
                          </a:solidFill>
                          <a:latin typeface="Diodrum Arabic SemiBold"/>
                          <a:ea typeface="Diodrum Arabic SemiBold"/>
                          <a:cs typeface="Diodrum Arabic SemiBold"/>
                        </a:rPr>
                        <a:t>AI Training Series — US General Services Administration (GSA)</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Government employees with a .GOV or .MIL email; includes a leadership and policy track with Princeton</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21 online sessions across three tracks</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Free</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Restricted</a:t>
                      </a:r>
                    </a:p>
                  </a:txBody>
                  <a:tcPr marL="64008" marR="64008" marT="41148" marB="41148" anchor="ctr">
                    <a:solidFill>
                      <a:srgbClr val="F4F4F9"/>
                    </a:solidFill>
                  </a:tcPr>
                </a:tc>
                <a:tc>
                  <a:txBody>
                    <a:bodyPr wrap="square"/>
                    <a:lstStyle/>
                    <a:p>
                      <a:pPr algn="ctr">
                        <a:lnSpc>
                          <a:spcPts val="896"/>
                        </a:lnSpc>
                      </a:pPr>
                      <a:r>
                        <a:rPr sz="700" b="0">
                          <a:solidFill>
                            <a:srgbClr val="00ABAF"/>
                          </a:solidFill>
                          <a:latin typeface="Diodrum Arabic"/>
                          <a:ea typeface="Diodrum Arabic"/>
                          <a:cs typeface="Diodrum Arabic"/>
                        </a:rPr>
                        <a:t>[19]</a:t>
                      </a:r>
                    </a:p>
                  </a:txBody>
                  <a:tcPr marL="64008" marR="64008" marT="41148" marB="41148" anchor="ctr">
                    <a:solidFill>
                      <a:srgbClr val="F4F4F9"/>
                    </a:solidFill>
                  </a:tcPr>
                </a:tc>
              </a:tr>
              <a:tr h="611124">
                <a:tc>
                  <a:txBody>
                    <a:bodyPr wrap="square"/>
                    <a:lstStyle/>
                    <a:p>
                      <a:pPr algn="l">
                        <a:lnSpc>
                          <a:spcPts val="960"/>
                        </a:lnSpc>
                      </a:pPr>
                      <a:r>
                        <a:rPr sz="750" b="0">
                          <a:solidFill>
                            <a:srgbClr val="232046"/>
                          </a:solidFill>
                          <a:latin typeface="Diodrum Arabic SemiBold"/>
                          <a:ea typeface="Diodrum Arabic SemiBold"/>
                          <a:cs typeface="Diodrum Arabic SemiBold"/>
                        </a:rPr>
                        <a:t>AI Masterclass for Senior Public Service Leaders — Institute of Public Administration (Ireland)</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Senior public service leaders at board level</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One day, Dublin</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€480 (≈ 2,101)</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Open to the public service within an Irish framework</a:t>
                      </a:r>
                    </a:p>
                  </a:txBody>
                  <a:tcPr marL="64008" marR="64008" marT="41148" marB="41148" anchor="ctr">
                    <a:solidFill>
                      <a:srgbClr val="FFFFFF"/>
                    </a:solidFill>
                  </a:tcPr>
                </a:tc>
                <a:tc>
                  <a:txBody>
                    <a:bodyPr wrap="square"/>
                    <a:lstStyle/>
                    <a:p>
                      <a:pPr algn="ctr">
                        <a:lnSpc>
                          <a:spcPts val="896"/>
                        </a:lnSpc>
                      </a:pPr>
                      <a:r>
                        <a:rPr sz="700" b="0">
                          <a:solidFill>
                            <a:srgbClr val="00ABAF"/>
                          </a:solidFill>
                          <a:latin typeface="Diodrum Arabic"/>
                          <a:ea typeface="Diodrum Arabic"/>
                          <a:cs typeface="Diodrum Arabic"/>
                        </a:rPr>
                        <a:t>[20]</a:t>
                      </a:r>
                    </a:p>
                  </a:txBody>
                  <a:tcPr marL="64008" marR="64008" marT="41148" marB="41148" anchor="ctr">
                    <a:solidFill>
                      <a:srgbClr val="FFFFFF"/>
                    </a:solidFill>
                  </a:tcPr>
                </a:tc>
              </a:tr>
              <a:tr h="489204">
                <a:tc>
                  <a:txBody>
                    <a:bodyPr wrap="square"/>
                    <a:lstStyle/>
                    <a:p>
                      <a:pPr algn="l">
                        <a:lnSpc>
                          <a:spcPts val="960"/>
                        </a:lnSpc>
                      </a:pPr>
                      <a:r>
                        <a:rPr sz="750" b="0">
                          <a:solidFill>
                            <a:srgbClr val="232046"/>
                          </a:solidFill>
                          <a:latin typeface="Diodrum Arabic SemiBold"/>
                          <a:ea typeface="Diodrum Arabic SemiBold"/>
                          <a:cs typeface="Diodrum Arabic SemiBold"/>
                        </a:rPr>
                        <a:t>Cambridge AI Leadership Programme — Judge Business School</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Senior leaders navigating digital disruption</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4 months blended (two residencies + distance learning)</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£20,000 (≈ 101,993)</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Open</a:t>
                      </a:r>
                    </a:p>
                  </a:txBody>
                  <a:tcPr marL="64008" marR="64008" marT="41148" marB="41148" anchor="ctr">
                    <a:solidFill>
                      <a:srgbClr val="F4F4F9"/>
                    </a:solidFill>
                  </a:tcPr>
                </a:tc>
                <a:tc>
                  <a:txBody>
                    <a:bodyPr wrap="square"/>
                    <a:lstStyle/>
                    <a:p>
                      <a:pPr algn="ctr">
                        <a:lnSpc>
                          <a:spcPts val="896"/>
                        </a:lnSpc>
                      </a:pPr>
                      <a:r>
                        <a:rPr sz="700" b="0">
                          <a:solidFill>
                            <a:srgbClr val="00ABAF"/>
                          </a:solidFill>
                          <a:latin typeface="Diodrum Arabic"/>
                          <a:ea typeface="Diodrum Arabic"/>
                          <a:cs typeface="Diodrum Arabic"/>
                        </a:rPr>
                        <a:t>[17]</a:t>
                      </a:r>
                    </a:p>
                  </a:txBody>
                  <a:tcPr marL="64008" marR="64008" marT="41148" marB="41148" anchor="ctr">
                    <a:solidFill>
                      <a:srgbClr val="F4F4F9"/>
                    </a:solidFill>
                  </a:tcPr>
                </a:tc>
              </a:tr>
            </a:tbl>
          </a:graphicData>
        </a:graphic>
      </p:graphicFrame>
      <p:sp>
        <p:nvSpPr>
          <p:cNvPr id="7" name="TextBox 6"/>
          <p:cNvSpPr txBox="1"/>
          <p:nvPr/>
        </p:nvSpPr>
        <p:spPr>
          <a:xfrm>
            <a:off x="566928" y="5958078"/>
            <a:ext cx="6428231" cy="463296"/>
          </a:xfrm>
          <a:prstGeom prst="rect">
            <a:avLst/>
          </a:prstGeom>
          <a:noFill/>
        </p:spPr>
        <p:txBody>
          <a:bodyPr wrap="square" lIns="0" rIns="0" tIns="0" bIns="0">
            <a:spAutoFit/>
          </a:bodyPr>
          <a:lstStyle/>
          <a:p>
            <a:pPr algn="l">
              <a:lnSpc>
                <a:spcPts val="1120"/>
              </a:lnSpc>
            </a:pPr>
            <a:r>
              <a:rPr sz="800" b="0">
                <a:solidFill>
                  <a:srgbClr val="6E7077"/>
                </a:solidFill>
                <a:latin typeface="Diodrum Arabic"/>
                <a:ea typeface="Diodrum Arabic"/>
                <a:cs typeface="Diodrum Arabic"/>
              </a:rPr>
              <a:t>(*) The Johns Hopkins page previously listed a shorter 4-week version at a lower price; the price should be reconfirmed before any enrolment [22]. The Lee Kuan Yew School and Blavatnik programmes are scheduled, not yet delivered, as of the review date; Blavatnik’s first cohort begins on 29 November 2026 [35].</a:t>
            </a:r>
          </a:p>
        </p:txBody>
      </p:sp>
      <p:sp>
        <p:nvSpPr>
          <p:cNvPr id="8" name="Rectangle 7"/>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10" name="TextBox 9"/>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03 · 3.2  READING THE REGISTER</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No documented open programme names ministers as its primary audience</a:t>
            </a:r>
          </a:p>
        </p:txBody>
      </p:sp>
      <p:sp>
        <p:nvSpPr>
          <p:cNvPr id="4" name="TextBox 3"/>
          <p:cNvSpPr txBox="1"/>
          <p:nvPr/>
        </p:nvSpPr>
        <p:spPr>
          <a:xfrm>
            <a:off x="566928" y="1401318"/>
            <a:ext cx="6428231" cy="205486"/>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Three observations carry the rest of the study.</a:t>
            </a:r>
          </a:p>
        </p:txBody>
      </p:sp>
      <p:sp>
        <p:nvSpPr>
          <p:cNvPr id="5" name="Rectangle 4"/>
          <p:cNvSpPr/>
          <p:nvPr/>
        </p:nvSpPr>
        <p:spPr>
          <a:xfrm>
            <a:off x="566928" y="166166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826260"/>
            <a:ext cx="457200" cy="287019"/>
          </a:xfrm>
          <a:prstGeom prst="rect">
            <a:avLst/>
          </a:prstGeom>
          <a:noFill/>
        </p:spPr>
        <p:txBody>
          <a:bodyPr wrap="square" lIns="0" rIns="0" tIns="0" bIns="0">
            <a:spAutoFit/>
          </a:bodyPr>
          <a:lstStyle/>
          <a:p>
            <a:pPr algn="l">
              <a:lnSpc>
                <a:spcPts val="1972"/>
              </a:lnSpc>
            </a:pPr>
            <a:r>
              <a:rPr sz="1700" b="1">
                <a:solidFill>
                  <a:srgbClr val="7C32C9"/>
                </a:solidFill>
                <a:latin typeface="Diodrum Arabic"/>
                <a:ea typeface="Diodrum Arabic"/>
                <a:cs typeface="Diodrum Arabic"/>
              </a:rPr>
              <a:t>1</a:t>
            </a:r>
          </a:p>
        </p:txBody>
      </p:sp>
      <p:sp>
        <p:nvSpPr>
          <p:cNvPr id="7" name="TextBox 6"/>
          <p:cNvSpPr txBox="1"/>
          <p:nvPr/>
        </p:nvSpPr>
        <p:spPr>
          <a:xfrm>
            <a:off x="1115568" y="1844548"/>
            <a:ext cx="5879592" cy="201930"/>
          </a:xfrm>
          <a:prstGeom prst="rect">
            <a:avLst/>
          </a:prstGeom>
          <a:noFill/>
        </p:spPr>
        <p:txBody>
          <a:bodyPr wrap="square" lIns="0" rIns="0" tIns="0" bIns="0">
            <a:spAutoFit/>
          </a:bodyPr>
          <a:lstStyle/>
          <a:p>
            <a:pPr algn="l">
              <a:lnSpc>
                <a:spcPts val="1302"/>
              </a:lnSpc>
            </a:pPr>
            <a:r>
              <a:rPr sz="1050" b="0">
                <a:solidFill>
                  <a:srgbClr val="7C32C9"/>
                </a:solidFill>
                <a:latin typeface="Diodrum Arabic SemiBold"/>
                <a:ea typeface="Diodrum Arabic SemiBold"/>
                <a:cs typeface="Diodrum Arabic SemiBold"/>
              </a:rPr>
              <a:t>Options thin out as the leadership level rises</a:t>
            </a:r>
          </a:p>
        </p:txBody>
      </p:sp>
      <p:sp>
        <p:nvSpPr>
          <p:cNvPr id="8" name="TextBox 7"/>
          <p:cNvSpPr txBox="1"/>
          <p:nvPr/>
        </p:nvSpPr>
        <p:spPr>
          <a:xfrm>
            <a:off x="1115568" y="2055621"/>
            <a:ext cx="5879592" cy="676656"/>
          </a:xfrm>
          <a:prstGeom prst="rect">
            <a:avLst/>
          </a:prstGeom>
          <a:noFill/>
        </p:spPr>
        <p:txBody>
          <a:bodyPr wrap="square" lIns="0" rIns="0" tIns="0" bIns="0">
            <a:spAutoFit/>
          </a:bodyPr>
          <a:lstStyle/>
          <a:p>
            <a:pPr algn="just">
              <a:lnSpc>
                <a:spcPts val="1260"/>
              </a:lnSpc>
            </a:pPr>
            <a:r>
              <a:rPr sz="900" b="0">
                <a:solidFill>
                  <a:srgbClr val="474956"/>
                </a:solidFill>
                <a:latin typeface="Diodrum Arabic"/>
                <a:ea typeface="Diodrum Arabic"/>
                <a:cs typeface="Diodrum Arabic"/>
              </a:rPr>
              <a:t>Open programmes serve Levels 3 and 4 to a greater degree. The programmes that reached ministers and Excellency-rank leaders did so mostly through closed or selective formats or government partnerships; the announced ceiling stops at “senior leaders”, and what actually reached ministers came in closed sovereign formats [31][26].</a:t>
            </a:r>
          </a:p>
        </p:txBody>
      </p:sp>
      <p:sp>
        <p:nvSpPr>
          <p:cNvPr id="9" name="Rectangle 8"/>
          <p:cNvSpPr/>
          <p:nvPr/>
        </p:nvSpPr>
        <p:spPr>
          <a:xfrm>
            <a:off x="566928" y="275971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869438"/>
            <a:ext cx="457200" cy="287019"/>
          </a:xfrm>
          <a:prstGeom prst="rect">
            <a:avLst/>
          </a:prstGeom>
          <a:noFill/>
        </p:spPr>
        <p:txBody>
          <a:bodyPr wrap="square" lIns="0" rIns="0" tIns="0" bIns="0">
            <a:spAutoFit/>
          </a:bodyPr>
          <a:lstStyle/>
          <a:p>
            <a:pPr algn="l">
              <a:lnSpc>
                <a:spcPts val="1972"/>
              </a:lnSpc>
            </a:pPr>
            <a:r>
              <a:rPr sz="1700" b="1">
                <a:solidFill>
                  <a:srgbClr val="00ABAF"/>
                </a:solidFill>
                <a:latin typeface="Diodrum Arabic"/>
                <a:ea typeface="Diodrum Arabic"/>
                <a:cs typeface="Diodrum Arabic"/>
              </a:rPr>
              <a:t>2</a:t>
            </a:r>
          </a:p>
        </p:txBody>
      </p:sp>
      <p:sp>
        <p:nvSpPr>
          <p:cNvPr id="11" name="TextBox 10"/>
          <p:cNvSpPr txBox="1"/>
          <p:nvPr/>
        </p:nvSpPr>
        <p:spPr>
          <a:xfrm>
            <a:off x="1115568" y="2887726"/>
            <a:ext cx="5879592" cy="201930"/>
          </a:xfrm>
          <a:prstGeom prst="rect">
            <a:avLst/>
          </a:prstGeom>
          <a:noFill/>
        </p:spPr>
        <p:txBody>
          <a:bodyPr wrap="square" lIns="0" rIns="0" tIns="0" bIns="0">
            <a:spAutoFit/>
          </a:bodyPr>
          <a:lstStyle/>
          <a:p>
            <a:pPr algn="l">
              <a:lnSpc>
                <a:spcPts val="1302"/>
              </a:lnSpc>
            </a:pPr>
            <a:r>
              <a:rPr sz="1050" b="0">
                <a:solidFill>
                  <a:srgbClr val="00ABAF"/>
                </a:solidFill>
                <a:latin typeface="Diodrum Arabic SemiBold"/>
                <a:ea typeface="Diodrum Arabic SemiBold"/>
                <a:cs typeface="Diodrum Arabic SemiBold"/>
              </a:rPr>
              <a:t>Fit and access pull apart</a:t>
            </a:r>
          </a:p>
        </p:txBody>
      </p:sp>
      <p:sp>
        <p:nvSpPr>
          <p:cNvPr id="12" name="TextBox 11"/>
          <p:cNvSpPr txBox="1"/>
          <p:nvPr/>
        </p:nvSpPr>
        <p:spPr>
          <a:xfrm>
            <a:off x="1115568" y="3098800"/>
            <a:ext cx="5879592" cy="516635"/>
          </a:xfrm>
          <a:prstGeom prst="rect">
            <a:avLst/>
          </a:prstGeom>
          <a:noFill/>
        </p:spPr>
        <p:txBody>
          <a:bodyPr wrap="square" lIns="0" rIns="0" tIns="0" bIns="0">
            <a:spAutoFit/>
          </a:bodyPr>
          <a:lstStyle/>
          <a:p>
            <a:pPr algn="just">
              <a:lnSpc>
                <a:spcPts val="1260"/>
              </a:lnSpc>
            </a:pPr>
            <a:r>
              <a:rPr sz="900" b="0">
                <a:solidFill>
                  <a:srgbClr val="474956"/>
                </a:solidFill>
                <a:latin typeface="Diodrum Arabic"/>
                <a:ea typeface="Diodrum Arabic"/>
                <a:cs typeface="Diodrum Arabic"/>
              </a:rPr>
              <a:t>The designs most suitable for Levels 2 and 3 — Partnership, Imperial, Johns Hopkins, GSA — are restricted by nationality or employer. Open to Saudi leaders remain the Lee Kuan Yew School, Darden, Blavatnik (selectively), and MBZUAI’s selective regional programme.</a:t>
            </a:r>
          </a:p>
        </p:txBody>
      </p:sp>
      <p:sp>
        <p:nvSpPr>
          <p:cNvPr id="13" name="Rectangle 12"/>
          <p:cNvSpPr/>
          <p:nvPr/>
        </p:nvSpPr>
        <p:spPr>
          <a:xfrm>
            <a:off x="566928" y="3642868"/>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752596"/>
            <a:ext cx="457200" cy="287019"/>
          </a:xfrm>
          <a:prstGeom prst="rect">
            <a:avLst/>
          </a:prstGeom>
          <a:noFill/>
        </p:spPr>
        <p:txBody>
          <a:bodyPr wrap="square" lIns="0" rIns="0" tIns="0" bIns="0">
            <a:spAutoFit/>
          </a:bodyPr>
          <a:lstStyle/>
          <a:p>
            <a:pPr algn="l">
              <a:lnSpc>
                <a:spcPts val="1972"/>
              </a:lnSpc>
            </a:pPr>
            <a:r>
              <a:rPr sz="1700" b="1">
                <a:solidFill>
                  <a:srgbClr val="1CC182"/>
                </a:solidFill>
                <a:latin typeface="Diodrum Arabic"/>
                <a:ea typeface="Diodrum Arabic"/>
                <a:cs typeface="Diodrum Arabic"/>
              </a:rPr>
              <a:t>3</a:t>
            </a:r>
          </a:p>
        </p:txBody>
      </p:sp>
      <p:sp>
        <p:nvSpPr>
          <p:cNvPr id="15" name="TextBox 14"/>
          <p:cNvSpPr txBox="1"/>
          <p:nvPr/>
        </p:nvSpPr>
        <p:spPr>
          <a:xfrm>
            <a:off x="1115568" y="3770884"/>
            <a:ext cx="5879592" cy="201930"/>
          </a:xfrm>
          <a:prstGeom prst="rect">
            <a:avLst/>
          </a:prstGeom>
          <a:noFill/>
        </p:spPr>
        <p:txBody>
          <a:bodyPr wrap="square" lIns="0" rIns="0" tIns="0" bIns="0">
            <a:spAutoFit/>
          </a:bodyPr>
          <a:lstStyle/>
          <a:p>
            <a:pPr algn="l">
              <a:lnSpc>
                <a:spcPts val="1302"/>
              </a:lnSpc>
            </a:pPr>
            <a:r>
              <a:rPr sz="1050" b="0">
                <a:solidFill>
                  <a:srgbClr val="1CC182"/>
                </a:solidFill>
                <a:latin typeface="Diodrum Arabic SemiBold"/>
                <a:ea typeface="Diodrum Arabic SemiBold"/>
                <a:cs typeface="Diodrum Arabic SemiBold"/>
              </a:rPr>
              <a:t>Price does not correlate with fit</a:t>
            </a:r>
          </a:p>
        </p:txBody>
      </p:sp>
      <p:sp>
        <p:nvSpPr>
          <p:cNvPr id="16" name="TextBox 15"/>
          <p:cNvSpPr txBox="1"/>
          <p:nvPr/>
        </p:nvSpPr>
        <p:spPr>
          <a:xfrm>
            <a:off x="1115568" y="3981957"/>
            <a:ext cx="5879592" cy="356615"/>
          </a:xfrm>
          <a:prstGeom prst="rect">
            <a:avLst/>
          </a:prstGeom>
          <a:noFill/>
        </p:spPr>
        <p:txBody>
          <a:bodyPr wrap="square" lIns="0" rIns="0" tIns="0" bIns="0">
            <a:spAutoFit/>
          </a:bodyPr>
          <a:lstStyle/>
          <a:p>
            <a:pPr algn="just">
              <a:lnSpc>
                <a:spcPts val="1260"/>
              </a:lnSpc>
            </a:pPr>
            <a:r>
              <a:rPr sz="900" b="0">
                <a:solidFill>
                  <a:srgbClr val="474956"/>
                </a:solidFill>
                <a:latin typeface="Diodrum Arabic"/>
                <a:ea typeface="Diodrum Arabic"/>
                <a:cs typeface="Diodrum Arabic"/>
              </a:rPr>
              <a:t>The most expensive row in the register is purely corporate (Cambridge), while the cheapest paid row (Imperial) is the deepest in application. Price signals academic brand — not governmental quality.</a:t>
            </a:r>
          </a:p>
        </p:txBody>
      </p:sp>
      <p:sp>
        <p:nvSpPr>
          <p:cNvPr id="17" name="Rectangle 16"/>
          <p:cNvSpPr/>
          <p:nvPr/>
        </p:nvSpPr>
        <p:spPr>
          <a:xfrm>
            <a:off x="566928" y="4457445"/>
            <a:ext cx="45720" cy="405384"/>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4466590"/>
            <a:ext cx="6199631" cy="387095"/>
          </a:xfrm>
          <a:prstGeom prst="rect">
            <a:avLst/>
          </a:prstGeom>
          <a:noFill/>
        </p:spPr>
        <p:txBody>
          <a:bodyPr wrap="square" lIns="0" rIns="0" tIns="0" bIns="0">
            <a:spAutoFit/>
          </a:bodyPr>
          <a:lstStyle/>
          <a:p>
            <a:pPr algn="l">
              <a:lnSpc>
                <a:spcPts val="1380"/>
              </a:lnSpc>
            </a:pPr>
            <a:r>
              <a:rPr sz="1000" b="0">
                <a:solidFill>
                  <a:srgbClr val="232046"/>
                </a:solidFill>
                <a:latin typeface="Diodrum Arabic SemiBold"/>
                <a:ea typeface="Diodrum Arabic SemiBold"/>
                <a:cs typeface="Diodrum Arabic SemiBold"/>
              </a:rPr>
              <a:t>If this is what the market sells, what did governments do when they decided to train their leaders rather than wait for it? The national experiences follow.</a:t>
            </a:r>
          </a:p>
        </p:txBody>
      </p:sp>
      <p:sp>
        <p:nvSpPr>
          <p:cNvPr id="19" name="Rectangle 18"/>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21" name="TextBox 20"/>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03 · 3.3  INTERNATIONAL GOVERNMENT EXPERIENCES</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Ten experiences: from legislative mandate to sovereign assignment</a:t>
            </a:r>
          </a:p>
        </p:txBody>
      </p:sp>
      <p:sp>
        <p:nvSpPr>
          <p:cNvPr id="4" name="TextBox 3"/>
          <p:cNvSpPr txBox="1"/>
          <p:nvPr/>
        </p:nvSpPr>
        <p:spPr>
          <a:xfrm>
            <a:off x="566928" y="1401318"/>
            <a:ext cx="6428231" cy="374395"/>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During 2025–2026, government-leader AI training moved in more than ten countries from intentions to organised policies: operating programmes, trained cohorts, issued mandates, and one control-group pilot evaluation.</a:t>
            </a:r>
          </a:p>
        </p:txBody>
      </p:sp>
      <p:sp>
        <p:nvSpPr>
          <p:cNvPr id="5" name="Rectangle 4"/>
          <p:cNvSpPr/>
          <p:nvPr/>
        </p:nvSpPr>
        <p:spPr>
          <a:xfrm>
            <a:off x="566928" y="183057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2013458"/>
          <a:ext cx="6428229" cy="4779772"/>
        </p:xfrm>
        <a:graphic>
          <a:graphicData uri="http://schemas.openxmlformats.org/drawingml/2006/table">
            <a:tbl>
              <a:tblPr firstRow="1" bandRow="0"/>
              <a:tblGrid>
                <a:gridCol w="707105"/>
                <a:gridCol w="1542775"/>
                <a:gridCol w="1285646"/>
                <a:gridCol w="1414211"/>
                <a:gridCol w="1157081"/>
                <a:gridCol w="321411"/>
              </a:tblGrid>
              <a:tr h="253492">
                <a:tc>
                  <a:txBody>
                    <a:bodyPr wrap="square"/>
                    <a:lstStyle/>
                    <a:p>
                      <a:pPr algn="l">
                        <a:lnSpc>
                          <a:spcPts val="1024"/>
                        </a:lnSpc>
                      </a:pPr>
                      <a:r>
                        <a:rPr sz="800" b="0">
                          <a:solidFill>
                            <a:srgbClr val="FFFFFF"/>
                          </a:solidFill>
                          <a:latin typeface="Diodrum Arabic SemiBold"/>
                          <a:ea typeface="Diodrum Arabic SemiBold"/>
                          <a:cs typeface="Diodrum Arabic SemiBold"/>
                        </a:rPr>
                        <a:t>Country</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Model</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Target level</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Mechanism</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Scale and status</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Src</a:t>
                      </a:r>
                    </a:p>
                  </a:txBody>
                  <a:tcPr marL="64008" marR="64008" marT="41148" marB="41148" anchor="ctr">
                    <a:solidFill>
                      <a:srgbClr val="241A5E"/>
                    </a:solidFill>
                  </a:tcPr>
                </a:tc>
              </a:tr>
              <a:tr h="489204">
                <a:tc>
                  <a:txBody>
                    <a:bodyPr wrap="square"/>
                    <a:lstStyle/>
                    <a:p>
                      <a:pPr algn="l">
                        <a:lnSpc>
                          <a:spcPts val="960"/>
                        </a:lnSpc>
                      </a:pPr>
                      <a:r>
                        <a:rPr sz="750" b="0">
                          <a:solidFill>
                            <a:srgbClr val="232046"/>
                          </a:solidFill>
                          <a:latin typeface="Diodrum Arabic SemiBold"/>
                          <a:ea typeface="Diodrum Arabic SemiBold"/>
                          <a:cs typeface="Diodrum Arabic SemiBold"/>
                        </a:rPr>
                        <a:t>Ghana</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Three-day residential ministerial bootcamp</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The full Cabinet (Level 1)</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Sovereign invitation; performance indicators per ministry</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Entire government across five ministerial clusters</a:t>
                      </a:r>
                    </a:p>
                  </a:txBody>
                  <a:tcPr marL="64008" marR="64008" marT="41148" marB="41148" anchor="ctr">
                    <a:solidFill>
                      <a:srgbClr val="FFFFFF"/>
                    </a:solidFill>
                  </a:tcPr>
                </a:tc>
                <a:tc>
                  <a:txBody>
                    <a:bodyPr wrap="square"/>
                    <a:lstStyle/>
                    <a:p>
                      <a:pPr algn="ctr">
                        <a:lnSpc>
                          <a:spcPts val="896"/>
                        </a:lnSpc>
                      </a:pPr>
                      <a:r>
                        <a:rPr sz="700" b="0">
                          <a:solidFill>
                            <a:srgbClr val="00ABAF"/>
                          </a:solidFill>
                          <a:latin typeface="Diodrum Arabic"/>
                          <a:ea typeface="Diodrum Arabic"/>
                          <a:cs typeface="Diodrum Arabic"/>
                        </a:rPr>
                        <a:t>[31]</a:t>
                      </a:r>
                    </a:p>
                  </a:txBody>
                  <a:tcPr marL="64008" marR="64008" marT="41148" marB="41148" anchor="ctr">
                    <a:solidFill>
                      <a:srgbClr val="FFFFFF"/>
                    </a:solidFill>
                  </a:tcPr>
                </a:tc>
              </a:tr>
              <a:tr h="611124">
                <a:tc>
                  <a:txBody>
                    <a:bodyPr wrap="square"/>
                    <a:lstStyle/>
                    <a:p>
                      <a:pPr algn="l">
                        <a:lnSpc>
                          <a:spcPts val="960"/>
                        </a:lnSpc>
                      </a:pPr>
                      <a:r>
                        <a:rPr sz="750" b="0">
                          <a:solidFill>
                            <a:srgbClr val="232046"/>
                          </a:solidFill>
                          <a:latin typeface="Diodrum Arabic SemiBold"/>
                          <a:ea typeface="Diodrum Arabic SemiBold"/>
                          <a:cs typeface="Diodrum Arabic SemiBold"/>
                        </a:rPr>
                        <a:t>UAE</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National programme, five tracks, “Jahiz” platform</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Ministers to new recruits (Levels 1–4)</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Mandatory course on Jahiz linked to an announced service target</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Target of 80,000 federal employees (a target, not an achievement)</a:t>
                      </a:r>
                    </a:p>
                  </a:txBody>
                  <a:tcPr marL="64008" marR="64008" marT="41148" marB="41148" anchor="ctr">
                    <a:solidFill>
                      <a:srgbClr val="F4F4F9"/>
                    </a:solidFill>
                  </a:tcPr>
                </a:tc>
                <a:tc>
                  <a:txBody>
                    <a:bodyPr wrap="square"/>
                    <a:lstStyle/>
                    <a:p>
                      <a:pPr algn="ctr">
                        <a:lnSpc>
                          <a:spcPts val="896"/>
                        </a:lnSpc>
                      </a:pPr>
                      <a:r>
                        <a:rPr sz="700" b="0">
                          <a:solidFill>
                            <a:srgbClr val="00ABAF"/>
                          </a:solidFill>
                          <a:latin typeface="Diodrum Arabic"/>
                          <a:ea typeface="Diodrum Arabic"/>
                          <a:cs typeface="Diodrum Arabic"/>
                        </a:rPr>
                        <a:t>[26] [27]</a:t>
                      </a:r>
                    </a:p>
                  </a:txBody>
                  <a:tcPr marL="64008" marR="64008" marT="41148" marB="41148" anchor="ctr">
                    <a:solidFill>
                      <a:srgbClr val="F4F4F9"/>
                    </a:solidFill>
                  </a:tcPr>
                </a:tc>
              </a:tr>
              <a:tr h="611124">
                <a:tc>
                  <a:txBody>
                    <a:bodyPr wrap="square"/>
                    <a:lstStyle/>
                    <a:p>
                      <a:pPr algn="l">
                        <a:lnSpc>
                          <a:spcPts val="960"/>
                        </a:lnSpc>
                      </a:pPr>
                      <a:r>
                        <a:rPr sz="750" b="0">
                          <a:solidFill>
                            <a:srgbClr val="232046"/>
                          </a:solidFill>
                          <a:latin typeface="Diodrum Arabic SemiBold"/>
                          <a:ea typeface="Diodrum Arabic SemiBold"/>
                          <a:cs typeface="Diodrum Arabic SemiBold"/>
                        </a:rPr>
                        <a:t>UK</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Digital Excellence Programme; “One Big Thing”</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Senior Civil Service (≈7,000) and general staff</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Voluntary (departments purchase licences)</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≈2,500 licences by Sep 2024; inconclusive independent pilot evaluation</a:t>
                      </a:r>
                    </a:p>
                  </a:txBody>
                  <a:tcPr marL="64008" marR="64008" marT="41148" marB="41148" anchor="ctr">
                    <a:solidFill>
                      <a:srgbClr val="FFFFFF"/>
                    </a:solidFill>
                  </a:tcPr>
                </a:tc>
                <a:tc>
                  <a:txBody>
                    <a:bodyPr wrap="square"/>
                    <a:lstStyle/>
                    <a:p>
                      <a:pPr algn="ctr">
                        <a:lnSpc>
                          <a:spcPts val="896"/>
                        </a:lnSpc>
                      </a:pPr>
                      <a:r>
                        <a:rPr sz="700" b="0">
                          <a:solidFill>
                            <a:srgbClr val="00ABAF"/>
                          </a:solidFill>
                          <a:latin typeface="Diodrum Arabic"/>
                          <a:ea typeface="Diodrum Arabic"/>
                          <a:cs typeface="Diodrum Arabic"/>
                        </a:rPr>
                        <a:t>[30] [40]</a:t>
                      </a:r>
                    </a:p>
                  </a:txBody>
                  <a:tcPr marL="64008" marR="64008" marT="41148" marB="41148" anchor="ctr">
                    <a:solidFill>
                      <a:srgbClr val="FFFFFF"/>
                    </a:solidFill>
                  </a:tcPr>
                </a:tc>
              </a:tr>
              <a:tr h="489204">
                <a:tc>
                  <a:txBody>
                    <a:bodyPr wrap="square"/>
                    <a:lstStyle/>
                    <a:p>
                      <a:pPr algn="l">
                        <a:lnSpc>
                          <a:spcPts val="960"/>
                        </a:lnSpc>
                      </a:pPr>
                      <a:r>
                        <a:rPr sz="750" b="0">
                          <a:solidFill>
                            <a:srgbClr val="232046"/>
                          </a:solidFill>
                          <a:latin typeface="Diodrum Arabic SemiBold"/>
                          <a:ea typeface="Diodrum Arabic SemiBold"/>
                          <a:cs typeface="Diodrum Arabic SemiBold"/>
                        </a:rPr>
                        <a:t>India</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National iGOT platform linked to annual appraisal</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Central employees and civil-service officers</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Mandatory; recorded in annual appraisal from AY 2025–26</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218 courses; 73M+ enrolments</a:t>
                      </a:r>
                    </a:p>
                  </a:txBody>
                  <a:tcPr marL="64008" marR="64008" marT="41148" marB="41148" anchor="ctr">
                    <a:solidFill>
                      <a:srgbClr val="F4F4F9"/>
                    </a:solidFill>
                  </a:tcPr>
                </a:tc>
                <a:tc>
                  <a:txBody>
                    <a:bodyPr wrap="square"/>
                    <a:lstStyle/>
                    <a:p>
                      <a:pPr algn="ctr">
                        <a:lnSpc>
                          <a:spcPts val="896"/>
                        </a:lnSpc>
                      </a:pPr>
                      <a:r>
                        <a:rPr sz="700" b="0">
                          <a:solidFill>
                            <a:srgbClr val="00ABAF"/>
                          </a:solidFill>
                          <a:latin typeface="Diodrum Arabic"/>
                          <a:ea typeface="Diodrum Arabic"/>
                          <a:cs typeface="Diodrum Arabic"/>
                        </a:rPr>
                        <a:t>[41]</a:t>
                      </a:r>
                    </a:p>
                  </a:txBody>
                  <a:tcPr marL="64008" marR="64008" marT="41148" marB="41148" anchor="ctr">
                    <a:solidFill>
                      <a:srgbClr val="F4F4F9"/>
                    </a:solidFill>
                  </a:tcPr>
                </a:tc>
              </a:tr>
              <a:tr h="367284">
                <a:tc>
                  <a:txBody>
                    <a:bodyPr wrap="square"/>
                    <a:lstStyle/>
                    <a:p>
                      <a:pPr algn="l">
                        <a:lnSpc>
                          <a:spcPts val="960"/>
                        </a:lnSpc>
                      </a:pPr>
                      <a:r>
                        <a:rPr sz="750" b="0">
                          <a:solidFill>
                            <a:srgbClr val="232046"/>
                          </a:solidFill>
                          <a:latin typeface="Diodrum Arabic SemiBold"/>
                          <a:ea typeface="Diodrum Arabic SemiBold"/>
                          <a:cs typeface="Diodrum Arabic SemiBold"/>
                        </a:rPr>
                        <a:t>Kazakhstan</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“500 AI Officers” corps</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Vice ministers and deputy governors (Level 2)</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Presidential assignment</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First cohort of 100, en route to 500</a:t>
                      </a:r>
                    </a:p>
                  </a:txBody>
                  <a:tcPr marL="64008" marR="64008" marT="41148" marB="41148" anchor="ctr">
                    <a:solidFill>
                      <a:srgbClr val="FFFFFF"/>
                    </a:solidFill>
                  </a:tcPr>
                </a:tc>
                <a:tc>
                  <a:txBody>
                    <a:bodyPr wrap="square"/>
                    <a:lstStyle/>
                    <a:p>
                      <a:pPr algn="ctr">
                        <a:lnSpc>
                          <a:spcPts val="896"/>
                        </a:lnSpc>
                      </a:pPr>
                      <a:r>
                        <a:rPr sz="700" b="0">
                          <a:solidFill>
                            <a:srgbClr val="00ABAF"/>
                          </a:solidFill>
                          <a:latin typeface="Diodrum Arabic"/>
                          <a:ea typeface="Diodrum Arabic"/>
                          <a:cs typeface="Diodrum Arabic"/>
                        </a:rPr>
                        <a:t>[42]</a:t>
                      </a:r>
                    </a:p>
                  </a:txBody>
                  <a:tcPr marL="64008" marR="64008" marT="41148" marB="41148" anchor="ctr">
                    <a:solidFill>
                      <a:srgbClr val="FFFFFF"/>
                    </a:solidFill>
                  </a:tcPr>
                </a:tc>
              </a:tr>
              <a:tr h="367284">
                <a:tc>
                  <a:txBody>
                    <a:bodyPr wrap="square"/>
                    <a:lstStyle/>
                    <a:p>
                      <a:pPr algn="l">
                        <a:lnSpc>
                          <a:spcPts val="960"/>
                        </a:lnSpc>
                      </a:pPr>
                      <a:r>
                        <a:rPr sz="750" b="0">
                          <a:solidFill>
                            <a:srgbClr val="232046"/>
                          </a:solidFill>
                          <a:latin typeface="Diodrum Arabic SemiBold"/>
                          <a:ea typeface="Diodrum Arabic SemiBold"/>
                          <a:cs typeface="Diodrum Arabic SemiBold"/>
                        </a:rPr>
                        <a:t>Egypt</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Arabic-language “AI for Government Entity Leaders”</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Senior entity leaders (Levels 2–3)</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Pre/post assessment and capstone projects</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Not announced</a:t>
                      </a:r>
                    </a:p>
                  </a:txBody>
                  <a:tcPr marL="64008" marR="64008" marT="41148" marB="41148" anchor="ctr">
                    <a:solidFill>
                      <a:srgbClr val="F4F4F9"/>
                    </a:solidFill>
                  </a:tcPr>
                </a:tc>
                <a:tc>
                  <a:txBody>
                    <a:bodyPr wrap="square"/>
                    <a:lstStyle/>
                    <a:p>
                      <a:pPr algn="ctr">
                        <a:lnSpc>
                          <a:spcPts val="896"/>
                        </a:lnSpc>
                      </a:pPr>
                      <a:r>
                        <a:rPr sz="700" b="0">
                          <a:solidFill>
                            <a:srgbClr val="00ABAF"/>
                          </a:solidFill>
                          <a:latin typeface="Diodrum Arabic"/>
                          <a:ea typeface="Diodrum Arabic"/>
                          <a:cs typeface="Diodrum Arabic"/>
                        </a:rPr>
                        <a:t>[43]</a:t>
                      </a:r>
                    </a:p>
                  </a:txBody>
                  <a:tcPr marL="64008" marR="64008" marT="41148" marB="41148" anchor="ctr">
                    <a:solidFill>
                      <a:srgbClr val="F4F4F9"/>
                    </a:solidFill>
                  </a:tcPr>
                </a:tc>
              </a:tr>
              <a:tr h="367284">
                <a:tc>
                  <a:txBody>
                    <a:bodyPr wrap="square"/>
                    <a:lstStyle/>
                    <a:p>
                      <a:pPr algn="l">
                        <a:lnSpc>
                          <a:spcPts val="960"/>
                        </a:lnSpc>
                      </a:pPr>
                      <a:r>
                        <a:rPr sz="750" b="0">
                          <a:solidFill>
                            <a:srgbClr val="232046"/>
                          </a:solidFill>
                          <a:latin typeface="Diodrum Arabic SemiBold"/>
                          <a:ea typeface="Diodrum Arabic SemiBold"/>
                          <a:cs typeface="Diodrum Arabic SemiBold"/>
                        </a:rPr>
                        <a:t>Singapore</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Digital Government Institute</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150,000+ employees and senior leaders</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Mandatory foundation units (at launch)</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Announced March 2026; not yet started</a:t>
                      </a:r>
                    </a:p>
                  </a:txBody>
                  <a:tcPr marL="64008" marR="64008" marT="41148" marB="41148" anchor="ctr">
                    <a:solidFill>
                      <a:srgbClr val="FFFFFF"/>
                    </a:solidFill>
                  </a:tcPr>
                </a:tc>
                <a:tc>
                  <a:txBody>
                    <a:bodyPr wrap="square"/>
                    <a:lstStyle/>
                    <a:p>
                      <a:pPr algn="ctr">
                        <a:lnSpc>
                          <a:spcPts val="896"/>
                        </a:lnSpc>
                      </a:pPr>
                      <a:r>
                        <a:rPr sz="700" b="0">
                          <a:solidFill>
                            <a:srgbClr val="00ABAF"/>
                          </a:solidFill>
                          <a:latin typeface="Diodrum Arabic"/>
                          <a:ea typeface="Diodrum Arabic"/>
                          <a:cs typeface="Diodrum Arabic"/>
                        </a:rPr>
                        <a:t>[29]</a:t>
                      </a:r>
                    </a:p>
                  </a:txBody>
                  <a:tcPr marL="64008" marR="64008" marT="41148" marB="41148" anchor="ctr">
                    <a:solidFill>
                      <a:srgbClr val="FFFFFF"/>
                    </a:solidFill>
                  </a:tcPr>
                </a:tc>
              </a:tr>
              <a:tr h="367284">
                <a:tc>
                  <a:txBody>
                    <a:bodyPr wrap="square"/>
                    <a:lstStyle/>
                    <a:p>
                      <a:pPr algn="l">
                        <a:lnSpc>
                          <a:spcPts val="960"/>
                        </a:lnSpc>
                      </a:pPr>
                      <a:r>
                        <a:rPr sz="750" b="0">
                          <a:solidFill>
                            <a:srgbClr val="232046"/>
                          </a:solidFill>
                          <a:latin typeface="Diodrum Arabic SemiBold"/>
                          <a:ea typeface="Diodrum Arabic SemiBold"/>
                          <a:cs typeface="Diodrum Arabic SemiBold"/>
                        </a:rPr>
                        <a:t>Australia</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Mandatory module, AI officers, senior-leaders track</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185,000 employees and senior leaders</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Mandatory deadlines (first: 15 June 2026)</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185,000 employees</a:t>
                      </a:r>
                    </a:p>
                  </a:txBody>
                  <a:tcPr marL="64008" marR="64008" marT="41148" marB="41148" anchor="ctr">
                    <a:solidFill>
                      <a:srgbClr val="F4F4F9"/>
                    </a:solidFill>
                  </a:tcPr>
                </a:tc>
                <a:tc>
                  <a:txBody>
                    <a:bodyPr wrap="square"/>
                    <a:lstStyle/>
                    <a:p>
                      <a:pPr algn="ctr">
                        <a:lnSpc>
                          <a:spcPts val="896"/>
                        </a:lnSpc>
                      </a:pPr>
                      <a:r>
                        <a:rPr sz="700" b="0">
                          <a:solidFill>
                            <a:srgbClr val="00ABAF"/>
                          </a:solidFill>
                          <a:latin typeface="Diodrum Arabic"/>
                          <a:ea typeface="Diodrum Arabic"/>
                          <a:cs typeface="Diodrum Arabic"/>
                        </a:rPr>
                        <a:t>[44]</a:t>
                      </a:r>
                    </a:p>
                  </a:txBody>
                  <a:tcPr marL="64008" marR="64008" marT="41148" marB="41148" anchor="ctr">
                    <a:solidFill>
                      <a:srgbClr val="F4F4F9"/>
                    </a:solidFill>
                  </a:tcPr>
                </a:tc>
              </a:tr>
              <a:tr h="367284">
                <a:tc>
                  <a:txBody>
                    <a:bodyPr wrap="square"/>
                    <a:lstStyle/>
                    <a:p>
                      <a:pPr algn="l">
                        <a:lnSpc>
                          <a:spcPts val="960"/>
                        </a:lnSpc>
                      </a:pPr>
                      <a:r>
                        <a:rPr sz="750" b="0">
                          <a:solidFill>
                            <a:srgbClr val="232046"/>
                          </a:solidFill>
                          <a:latin typeface="Diodrum Arabic SemiBold"/>
                          <a:ea typeface="Diodrum Arabic SemiBold"/>
                          <a:cs typeface="Diodrum Arabic SemiBold"/>
                        </a:rPr>
                        <a:t>France</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Pix platform for the civil service</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State employees generally</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Large-scale assessment and training via the platform</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Ambition of 100,000 during 2025</a:t>
                      </a:r>
                    </a:p>
                  </a:txBody>
                  <a:tcPr marL="64008" marR="64008" marT="41148" marB="41148" anchor="ctr">
                    <a:solidFill>
                      <a:srgbClr val="FFFFFF"/>
                    </a:solidFill>
                  </a:tcPr>
                </a:tc>
                <a:tc>
                  <a:txBody>
                    <a:bodyPr wrap="square"/>
                    <a:lstStyle/>
                    <a:p>
                      <a:pPr algn="ctr">
                        <a:lnSpc>
                          <a:spcPts val="896"/>
                        </a:lnSpc>
                      </a:pPr>
                      <a:r>
                        <a:rPr sz="700" b="0">
                          <a:solidFill>
                            <a:srgbClr val="00ABAF"/>
                          </a:solidFill>
                          <a:latin typeface="Diodrum Arabic"/>
                          <a:ea typeface="Diodrum Arabic"/>
                          <a:cs typeface="Diodrum Arabic"/>
                        </a:rPr>
                        <a:t>[45]</a:t>
                      </a:r>
                    </a:p>
                  </a:txBody>
                  <a:tcPr marL="64008" marR="64008" marT="41148" marB="41148" anchor="ctr">
                    <a:solidFill>
                      <a:srgbClr val="FFFFFF"/>
                    </a:solidFill>
                  </a:tcPr>
                </a:tc>
              </a:tr>
              <a:tr h="489204">
                <a:tc>
                  <a:txBody>
                    <a:bodyPr wrap="square"/>
                    <a:lstStyle/>
                    <a:p>
                      <a:pPr algn="l">
                        <a:lnSpc>
                          <a:spcPts val="960"/>
                        </a:lnSpc>
                      </a:pPr>
                      <a:r>
                        <a:rPr sz="750" b="0">
                          <a:solidFill>
                            <a:srgbClr val="232046"/>
                          </a:solidFill>
                          <a:latin typeface="Diodrum Arabic SemiBold"/>
                          <a:ea typeface="Diodrum Arabic SemiBold"/>
                          <a:cs typeface="Diodrum Arabic SemiBold"/>
                        </a:rPr>
                        <a:t>EU</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Article 4 of the AI Act</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All deployers and operators, incl. public bodies</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Regulatory mandate in force since 2 Feb 2025</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All member states</a:t>
                      </a:r>
                    </a:p>
                  </a:txBody>
                  <a:tcPr marL="64008" marR="64008" marT="41148" marB="41148" anchor="ctr">
                    <a:solidFill>
                      <a:srgbClr val="F4F4F9"/>
                    </a:solidFill>
                  </a:tcPr>
                </a:tc>
                <a:tc>
                  <a:txBody>
                    <a:bodyPr wrap="square"/>
                    <a:lstStyle/>
                    <a:p>
                      <a:pPr algn="ctr">
                        <a:lnSpc>
                          <a:spcPts val="896"/>
                        </a:lnSpc>
                      </a:pPr>
                      <a:r>
                        <a:rPr sz="700" b="0">
                          <a:solidFill>
                            <a:srgbClr val="00ABAF"/>
                          </a:solidFill>
                          <a:latin typeface="Diodrum Arabic"/>
                          <a:ea typeface="Diodrum Arabic"/>
                          <a:cs typeface="Diodrum Arabic"/>
                        </a:rPr>
                        <a:t>[46]</a:t>
                      </a:r>
                    </a:p>
                  </a:txBody>
                  <a:tcPr marL="64008" marR="64008" marT="41148" marB="41148" anchor="ctr">
                    <a:solidFill>
                      <a:srgbClr val="F4F4F9"/>
                    </a:solidFill>
                  </a:tcPr>
                </a:tc>
              </a:tr>
            </a:tbl>
          </a:graphicData>
        </a:graphic>
      </p:graphicFrame>
      <p:sp>
        <p:nvSpPr>
          <p:cNvPr id="7" name="TextBox 6"/>
          <p:cNvSpPr txBox="1"/>
          <p:nvPr/>
        </p:nvSpPr>
        <p:spPr>
          <a:xfrm>
            <a:off x="566928" y="6939534"/>
            <a:ext cx="6428231" cy="463296"/>
          </a:xfrm>
          <a:prstGeom prst="rect">
            <a:avLst/>
          </a:prstGeom>
          <a:noFill/>
        </p:spPr>
        <p:txBody>
          <a:bodyPr wrap="square" lIns="0" rIns="0" tIns="0" bIns="0">
            <a:spAutoFit/>
          </a:bodyPr>
          <a:lstStyle/>
          <a:p>
            <a:pPr algn="l">
              <a:lnSpc>
                <a:spcPts val="1120"/>
              </a:lnSpc>
            </a:pPr>
            <a:r>
              <a:rPr sz="800" b="0">
                <a:solidFill>
                  <a:srgbClr val="6E7077"/>
                </a:solidFill>
                <a:latin typeface="Diodrum Arabic"/>
                <a:ea typeface="Diodrum Arabic"/>
                <a:cs typeface="Diodrum Arabic"/>
              </a:rPr>
              <a:t>Two structural observations: every experience that crossed the Level 1–2 threshold came in a closed sovereign format, not a purchased product; and impact evidence is weak throughout, rising to an independent evaluation only in the UK pilot — described by its evaluator as inconclusive.</a:t>
            </a:r>
          </a:p>
        </p:txBody>
      </p:sp>
      <p:sp>
        <p:nvSpPr>
          <p:cNvPr id="8" name="Rectangle 7"/>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10" name="TextBox 9"/>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03 · 3.3  THE FORMATS THAT REACHED THE TOP</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Ghana, the UAE, and the United Kingdom</a:t>
            </a:r>
          </a:p>
        </p:txBody>
      </p:sp>
      <p:sp>
        <p:nvSpPr>
          <p:cNvPr id="4" name="TextBox 3"/>
          <p:cNvSpPr txBox="1"/>
          <p:nvPr/>
        </p:nvSpPr>
        <p:spPr>
          <a:xfrm>
            <a:off x="566928" y="1111758"/>
            <a:ext cx="6428231" cy="374395"/>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The clearest closed ministerial case, the region’s cascading national model, and the strongest evaluation evidence in the study.</a:t>
            </a:r>
          </a:p>
        </p:txBody>
      </p:sp>
      <p:sp>
        <p:nvSpPr>
          <p:cNvPr id="5" name="Rectangle 4"/>
          <p:cNvSpPr/>
          <p:nvPr/>
        </p:nvSpPr>
        <p:spPr>
          <a:xfrm>
            <a:off x="566928" y="154101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23898"/>
            <a:ext cx="6428231" cy="1234058"/>
          </a:xfrm>
          <a:prstGeom prst="roundRect">
            <a:avLst>
              <a:gd name="adj" fmla="val 6668"/>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870202"/>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989073"/>
            <a:ext cx="6135623" cy="199263"/>
          </a:xfrm>
          <a:prstGeom prst="rect">
            <a:avLst/>
          </a:prstGeom>
          <a:noFill/>
        </p:spPr>
        <p:txBody>
          <a:bodyPr wrap="square" lIns="0" rIns="0" tIns="0" bIns="0">
            <a:spAutoFit/>
          </a:bodyPr>
          <a:lstStyle/>
          <a:p>
            <a:pPr algn="l">
              <a:lnSpc>
                <a:spcPts val="1281"/>
              </a:lnSpc>
            </a:pPr>
            <a:r>
              <a:rPr sz="1050" b="0">
                <a:solidFill>
                  <a:srgbClr val="1CC182"/>
                </a:solidFill>
                <a:latin typeface="Diodrum Arabic SemiBold"/>
                <a:ea typeface="Diodrum Arabic SemiBold"/>
                <a:cs typeface="Diodrum Arabic SemiBold"/>
              </a:rPr>
              <a:t>Ghana — a closed ministerial format  ·  DELIVERED</a:t>
            </a:r>
          </a:p>
        </p:txBody>
      </p:sp>
      <p:sp>
        <p:nvSpPr>
          <p:cNvPr id="9" name="TextBox 8"/>
          <p:cNvSpPr txBox="1"/>
          <p:nvPr/>
        </p:nvSpPr>
        <p:spPr>
          <a:xfrm>
            <a:off x="713232" y="2215768"/>
            <a:ext cx="6135623" cy="632460"/>
          </a:xfrm>
          <a:prstGeom prst="rect">
            <a:avLst/>
          </a:prstGeom>
          <a:noFill/>
        </p:spPr>
        <p:txBody>
          <a:bodyPr wrap="square" lIns="0" rIns="0" tIns="0" bIns="0">
            <a:spAutoFit/>
          </a:bodyPr>
          <a:lstStyle/>
          <a:p>
            <a:pPr algn="just">
              <a:lnSpc>
                <a:spcPts val="1172"/>
              </a:lnSpc>
            </a:pPr>
            <a:r>
              <a:rPr sz="850" b="0">
                <a:solidFill>
                  <a:srgbClr val="474956"/>
                </a:solidFill>
                <a:latin typeface="Diodrum Arabic"/>
                <a:ea typeface="Diodrum Arabic"/>
                <a:cs typeface="Diodrum Arabic"/>
              </a:rPr>
              <a:t>A three-day residential programme, 25–27 July 2025, bringing together the ministers of all five ministerial clusters with a designated focal point from each ministry — completion conditional on use outputs and performance indicators for each ministry [31]. Its significance for the Kingdom: a minister is trained when the performance indicator bears their name, not when general courses are made available.</a:t>
            </a:r>
          </a:p>
        </p:txBody>
      </p:sp>
      <p:sp>
        <p:nvSpPr>
          <p:cNvPr id="10" name="Rounded Rectangle 9"/>
          <p:cNvSpPr/>
          <p:nvPr/>
        </p:nvSpPr>
        <p:spPr>
          <a:xfrm>
            <a:off x="566928" y="3104261"/>
            <a:ext cx="6428231" cy="1532001"/>
          </a:xfrm>
          <a:prstGeom prst="roundRect">
            <a:avLst>
              <a:gd name="adj" fmla="val 537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3250565"/>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369437"/>
            <a:ext cx="6135623" cy="199263"/>
          </a:xfrm>
          <a:prstGeom prst="rect">
            <a:avLst/>
          </a:prstGeom>
          <a:noFill/>
        </p:spPr>
        <p:txBody>
          <a:bodyPr wrap="square" lIns="0" rIns="0" tIns="0" bIns="0">
            <a:spAutoFit/>
          </a:bodyPr>
          <a:lstStyle/>
          <a:p>
            <a:pPr algn="l">
              <a:lnSpc>
                <a:spcPts val="1281"/>
              </a:lnSpc>
            </a:pPr>
            <a:r>
              <a:rPr sz="1050" b="0">
                <a:solidFill>
                  <a:srgbClr val="2A206A"/>
                </a:solidFill>
                <a:latin typeface="Diodrum Arabic SemiBold"/>
                <a:ea typeface="Diodrum Arabic SemiBold"/>
                <a:cs typeface="Diodrum Arabic SemiBold"/>
              </a:rPr>
              <a:t>UAE — a multi-track national model  ·  ANNOUNCED TARGET</a:t>
            </a:r>
          </a:p>
        </p:txBody>
      </p:sp>
      <p:sp>
        <p:nvSpPr>
          <p:cNvPr id="13" name="TextBox 12"/>
          <p:cNvSpPr txBox="1"/>
          <p:nvPr/>
        </p:nvSpPr>
        <p:spPr>
          <a:xfrm>
            <a:off x="713232" y="3596131"/>
            <a:ext cx="6135623" cy="930401"/>
          </a:xfrm>
          <a:prstGeom prst="rect">
            <a:avLst/>
          </a:prstGeom>
          <a:noFill/>
        </p:spPr>
        <p:txBody>
          <a:bodyPr wrap="square" lIns="0" rIns="0" tIns="0" bIns="0">
            <a:spAutoFit/>
          </a:bodyPr>
          <a:lstStyle/>
          <a:p>
            <a:pPr algn="just">
              <a:lnSpc>
                <a:spcPts val="1172"/>
              </a:lnSpc>
            </a:pPr>
            <a:r>
              <a:rPr sz="850" b="0">
                <a:solidFill>
                  <a:srgbClr val="474956"/>
                </a:solidFill>
                <a:latin typeface="Diodrum Arabic"/>
                <a:ea typeface="Diodrum Arabic"/>
                <a:cs typeface="Diodrum Arabic"/>
              </a:rPr>
              <a:t>A cascading delegation architecture: Cabinet approval on 18 May 2026 of a training target of 80,000 federal employees — a target, not a completion figure — across five tracks led by ministers [26]; a knowledge partnership with MBZUAI on 21 May 2026 [27]; a forum on 20 May 2026 with more than 400 ministers and federal officials chaired by the head of government [28]; an executive programme for chief AI officers after the role was created by Cabinet decision [47]; and a mandatory course for all federal employees via “Jahiz” [48]. Most notable: training linked to an announced operational target, and the leadership role created before its occupant is trained.</a:t>
            </a:r>
          </a:p>
        </p:txBody>
      </p:sp>
      <p:sp>
        <p:nvSpPr>
          <p:cNvPr id="14" name="Rounded Rectangle 13"/>
          <p:cNvSpPr/>
          <p:nvPr/>
        </p:nvSpPr>
        <p:spPr>
          <a:xfrm>
            <a:off x="566928" y="4782566"/>
            <a:ext cx="6428231" cy="1383030"/>
          </a:xfrm>
          <a:prstGeom prst="roundRect">
            <a:avLst>
              <a:gd name="adj" fmla="val 595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4928870"/>
            <a:ext cx="347472" cy="45720"/>
          </a:xfrm>
          <a:prstGeom prst="rect">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047742"/>
            <a:ext cx="6135623" cy="199263"/>
          </a:xfrm>
          <a:prstGeom prst="rect">
            <a:avLst/>
          </a:prstGeom>
          <a:noFill/>
        </p:spPr>
        <p:txBody>
          <a:bodyPr wrap="square" lIns="0" rIns="0" tIns="0" bIns="0">
            <a:spAutoFit/>
          </a:bodyPr>
          <a:lstStyle/>
          <a:p>
            <a:pPr algn="l">
              <a:lnSpc>
                <a:spcPts val="1281"/>
              </a:lnSpc>
            </a:pPr>
            <a:r>
              <a:rPr sz="1050" b="0">
                <a:solidFill>
                  <a:srgbClr val="2D9CDB"/>
                </a:solidFill>
                <a:latin typeface="Diodrum Arabic SemiBold"/>
                <a:ea typeface="Diodrum Arabic SemiBold"/>
                <a:cs typeface="Diodrum Arabic SemiBold"/>
              </a:rPr>
              <a:t>United Kingdom — a senior-leaders programme with a pilot evaluation  ·  INDEPENDENT EVALUATION</a:t>
            </a:r>
          </a:p>
        </p:txBody>
      </p:sp>
      <p:sp>
        <p:nvSpPr>
          <p:cNvPr id="17" name="TextBox 16"/>
          <p:cNvSpPr txBox="1"/>
          <p:nvPr/>
        </p:nvSpPr>
        <p:spPr>
          <a:xfrm>
            <a:off x="713232" y="5274437"/>
            <a:ext cx="6135623" cy="781430"/>
          </a:xfrm>
          <a:prstGeom prst="rect">
            <a:avLst/>
          </a:prstGeom>
          <a:noFill/>
        </p:spPr>
        <p:txBody>
          <a:bodyPr wrap="square" lIns="0" rIns="0" tIns="0" bIns="0">
            <a:spAutoFit/>
          </a:bodyPr>
          <a:lstStyle/>
          <a:p>
            <a:pPr algn="just">
              <a:lnSpc>
                <a:spcPts val="1172"/>
              </a:lnSpc>
            </a:pPr>
            <a:r>
              <a:rPr sz="850" b="0">
                <a:solidFill>
                  <a:srgbClr val="474956"/>
                </a:solidFill>
                <a:latin typeface="Diodrum Arabic"/>
                <a:ea typeface="Diodrum Arabic"/>
                <a:cs typeface="Diodrum Arabic"/>
              </a:rPr>
              <a:t>The Digital Excellence Programme targets the Senior Civil Service; purchased licences reached about 2,500 of about 7,000 by September 2024 [30]. The Cabinet Office commissioned the first control-group pilot evaluation of a training course in the history of the civil service: “promising evidence” of improved self-reported behaviour, described by its evaluator as inconclusive [40]. The “One Big Thing” campaign reached 212,000 employees, with a senior-leaders track in the “AI for All” edition [49]. The clearest voluntary model — and the strongest evaluation evidence in the study, inconclusive though it remains.</a:t>
            </a:r>
          </a:p>
        </p:txBody>
      </p:sp>
      <p:sp>
        <p:nvSpPr>
          <p:cNvPr id="18" name="Rectangle 17"/>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20" name="TextBox 19"/>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03 · 3.3  LINKAGE AND MANDATE PATTERNS</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India, Kazakhstan, Egypt, Singapore — and the escalation of linkage</a:t>
            </a:r>
          </a:p>
        </p:txBody>
      </p:sp>
      <p:sp>
        <p:nvSpPr>
          <p:cNvPr id="4" name="Rounded Rectangle 3"/>
          <p:cNvSpPr/>
          <p:nvPr/>
        </p:nvSpPr>
        <p:spPr>
          <a:xfrm>
            <a:off x="566928" y="1401318"/>
            <a:ext cx="3140963" cy="1479423"/>
          </a:xfrm>
          <a:prstGeom prst="roundRect">
            <a:avLst>
              <a:gd name="adj" fmla="val 5562"/>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 y="1547622"/>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666494"/>
            <a:ext cx="2848356" cy="199263"/>
          </a:xfrm>
          <a:prstGeom prst="rect">
            <a:avLst/>
          </a:prstGeom>
          <a:noFill/>
        </p:spPr>
        <p:txBody>
          <a:bodyPr wrap="square" lIns="0" rIns="0" tIns="0" bIns="0">
            <a:spAutoFit/>
          </a:bodyPr>
          <a:lstStyle/>
          <a:p>
            <a:pPr algn="l">
              <a:lnSpc>
                <a:spcPts val="1281"/>
              </a:lnSpc>
            </a:pPr>
            <a:r>
              <a:rPr sz="1050" b="0">
                <a:solidFill>
                  <a:srgbClr val="00ABAF"/>
                </a:solidFill>
                <a:latin typeface="Diodrum Arabic SemiBold"/>
                <a:ea typeface="Diodrum Arabic SemiBold"/>
                <a:cs typeface="Diodrum Arabic SemiBold"/>
              </a:rPr>
              <a:t>India — learning tied to appraisal</a:t>
            </a:r>
          </a:p>
        </p:txBody>
      </p:sp>
      <p:sp>
        <p:nvSpPr>
          <p:cNvPr id="7" name="TextBox 6"/>
          <p:cNvSpPr txBox="1"/>
          <p:nvPr/>
        </p:nvSpPr>
        <p:spPr>
          <a:xfrm>
            <a:off x="713232" y="1893189"/>
            <a:ext cx="2848356" cy="877824"/>
          </a:xfrm>
          <a:prstGeom prst="rect">
            <a:avLst/>
          </a:prstGeom>
          <a:noFill/>
        </p:spPr>
        <p:txBody>
          <a:bodyPr wrap="square" lIns="0" rIns="0" tIns="0" bIns="0">
            <a:spAutoFit/>
          </a:bodyPr>
          <a:lstStyle/>
          <a:p>
            <a:pPr algn="just">
              <a:lnSpc>
                <a:spcPts val="1104"/>
              </a:lnSpc>
            </a:pPr>
            <a:r>
              <a:rPr sz="800" b="0">
                <a:solidFill>
                  <a:srgbClr val="474956"/>
                </a:solidFill>
                <a:latin typeface="Diodrum Arabic"/>
                <a:ea typeface="Diodrum Arabic"/>
                <a:cs typeface="Diodrum Arabic"/>
              </a:rPr>
              <a:t>From assessment year 2025–26, completing iGOT courses is mandatory for central employees and civil-service officers and is recorded verbatim in annual appraisal reports (APAR), per written answers before the Lok Sabha, August 2026 [41]. 218 courses, 73M+ enrolments — but enrolment volume is not evidence of capability without a published impact evaluation.</a:t>
            </a:r>
          </a:p>
        </p:txBody>
      </p:sp>
      <p:sp>
        <p:nvSpPr>
          <p:cNvPr id="8" name="Rounded Rectangle 7"/>
          <p:cNvSpPr/>
          <p:nvPr/>
        </p:nvSpPr>
        <p:spPr>
          <a:xfrm>
            <a:off x="3854196" y="1401318"/>
            <a:ext cx="3140963" cy="1479423"/>
          </a:xfrm>
          <a:prstGeom prst="roundRect">
            <a:avLst>
              <a:gd name="adj" fmla="val 5562"/>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000500" y="154762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00500" y="1666494"/>
            <a:ext cx="2848356" cy="199263"/>
          </a:xfrm>
          <a:prstGeom prst="rect">
            <a:avLst/>
          </a:prstGeom>
          <a:noFill/>
        </p:spPr>
        <p:txBody>
          <a:bodyPr wrap="square" lIns="0" rIns="0" tIns="0" bIns="0">
            <a:spAutoFit/>
          </a:bodyPr>
          <a:lstStyle/>
          <a:p>
            <a:pPr algn="l">
              <a:lnSpc>
                <a:spcPts val="1281"/>
              </a:lnSpc>
            </a:pPr>
            <a:r>
              <a:rPr sz="1050" b="0">
                <a:solidFill>
                  <a:srgbClr val="7C32C9"/>
                </a:solidFill>
                <a:latin typeface="Diodrum Arabic SemiBold"/>
                <a:ea typeface="Diodrum Arabic SemiBold"/>
                <a:cs typeface="Diodrum Arabic SemiBold"/>
              </a:rPr>
              <a:t>Kazakhstan — targeting Level 2</a:t>
            </a:r>
          </a:p>
        </p:txBody>
      </p:sp>
      <p:sp>
        <p:nvSpPr>
          <p:cNvPr id="11" name="TextBox 10"/>
          <p:cNvSpPr txBox="1"/>
          <p:nvPr/>
        </p:nvSpPr>
        <p:spPr>
          <a:xfrm>
            <a:off x="4000500" y="1893189"/>
            <a:ext cx="2848356" cy="877824"/>
          </a:xfrm>
          <a:prstGeom prst="rect">
            <a:avLst/>
          </a:prstGeom>
          <a:noFill/>
        </p:spPr>
        <p:txBody>
          <a:bodyPr wrap="square" lIns="0" rIns="0" tIns="0" bIns="0">
            <a:spAutoFit/>
          </a:bodyPr>
          <a:lstStyle/>
          <a:p>
            <a:pPr algn="just">
              <a:lnSpc>
                <a:spcPts val="1104"/>
              </a:lnSpc>
            </a:pPr>
            <a:r>
              <a:rPr sz="800" b="0">
                <a:solidFill>
                  <a:srgbClr val="474956"/>
                </a:solidFill>
                <a:latin typeface="Diodrum Arabic"/>
                <a:ea typeface="Diodrum Arabic"/>
                <a:cs typeface="Diodrum Arabic"/>
              </a:rPr>
              <a:t>“AI Governance 500”, launched January 2026 through the Academy of Public Administration under the Presidency: a first cohort of 100 drawn from vice ministers and deputy governors, en route to a designated corps of 500 “AI officers” [42] — the closest structural counterpart to a named, accountable Saudi corps.</a:t>
            </a:r>
          </a:p>
        </p:txBody>
      </p:sp>
      <p:sp>
        <p:nvSpPr>
          <p:cNvPr id="12" name="Rounded Rectangle 11"/>
          <p:cNvSpPr/>
          <p:nvPr/>
        </p:nvSpPr>
        <p:spPr>
          <a:xfrm>
            <a:off x="566928" y="3027045"/>
            <a:ext cx="3140963" cy="1479423"/>
          </a:xfrm>
          <a:prstGeom prst="roundRect">
            <a:avLst>
              <a:gd name="adj" fmla="val 5562"/>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3173349"/>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292221"/>
            <a:ext cx="2848356" cy="199263"/>
          </a:xfrm>
          <a:prstGeom prst="rect">
            <a:avLst/>
          </a:prstGeom>
          <a:noFill/>
        </p:spPr>
        <p:txBody>
          <a:bodyPr wrap="square" lIns="0" rIns="0" tIns="0" bIns="0">
            <a:spAutoFit/>
          </a:bodyPr>
          <a:lstStyle/>
          <a:p>
            <a:pPr algn="l">
              <a:lnSpc>
                <a:spcPts val="1281"/>
              </a:lnSpc>
            </a:pPr>
            <a:r>
              <a:rPr sz="1050" b="0">
                <a:solidFill>
                  <a:srgbClr val="1CC182"/>
                </a:solidFill>
                <a:latin typeface="Diodrum Arabic SemiBold"/>
                <a:ea typeface="Diodrum Arabic SemiBold"/>
                <a:cs typeface="Diodrum Arabic SemiBold"/>
              </a:rPr>
              <a:t>Egypt — an Arabic-language programme</a:t>
            </a:r>
          </a:p>
        </p:txBody>
      </p:sp>
      <p:sp>
        <p:nvSpPr>
          <p:cNvPr id="15" name="TextBox 14"/>
          <p:cNvSpPr txBox="1"/>
          <p:nvPr/>
        </p:nvSpPr>
        <p:spPr>
          <a:xfrm>
            <a:off x="713232" y="3518916"/>
            <a:ext cx="2848356" cy="737616"/>
          </a:xfrm>
          <a:prstGeom prst="rect">
            <a:avLst/>
          </a:prstGeom>
          <a:noFill/>
        </p:spPr>
        <p:txBody>
          <a:bodyPr wrap="square" lIns="0" rIns="0" tIns="0" bIns="0">
            <a:spAutoFit/>
          </a:bodyPr>
          <a:lstStyle/>
          <a:p>
            <a:pPr algn="just">
              <a:lnSpc>
                <a:spcPts val="1104"/>
              </a:lnSpc>
            </a:pPr>
            <a:r>
              <a:rPr sz="800" b="0">
                <a:solidFill>
                  <a:srgbClr val="474956"/>
                </a:solidFill>
                <a:latin typeface="Diodrum Arabic"/>
                <a:ea typeface="Diodrum Arabic"/>
                <a:cs typeface="Diodrum Arabic"/>
              </a:rPr>
              <a:t>Launched June 2026 for senior leaders of government entities, in partnership between the Ministry of Communications and the National Training Academy, with pre- and post-assessment and capstone projects [43] — the closest comparison culturally and linguistically to the Saudi case.</a:t>
            </a:r>
          </a:p>
        </p:txBody>
      </p:sp>
      <p:sp>
        <p:nvSpPr>
          <p:cNvPr id="16" name="Rounded Rectangle 15"/>
          <p:cNvSpPr/>
          <p:nvPr/>
        </p:nvSpPr>
        <p:spPr>
          <a:xfrm>
            <a:off x="3854196" y="3027045"/>
            <a:ext cx="3140963" cy="1479423"/>
          </a:xfrm>
          <a:prstGeom prst="roundRect">
            <a:avLst>
              <a:gd name="adj" fmla="val 5562"/>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00500" y="3173349"/>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00500" y="3292221"/>
            <a:ext cx="2848356" cy="199263"/>
          </a:xfrm>
          <a:prstGeom prst="rect">
            <a:avLst/>
          </a:prstGeom>
          <a:noFill/>
        </p:spPr>
        <p:txBody>
          <a:bodyPr wrap="square" lIns="0" rIns="0" tIns="0" bIns="0">
            <a:spAutoFit/>
          </a:bodyPr>
          <a:lstStyle/>
          <a:p>
            <a:pPr algn="l">
              <a:lnSpc>
                <a:spcPts val="1281"/>
              </a:lnSpc>
            </a:pPr>
            <a:r>
              <a:rPr sz="1050" b="0">
                <a:solidFill>
                  <a:srgbClr val="2A206A"/>
                </a:solidFill>
                <a:latin typeface="Diodrum Arabic SemiBold"/>
                <a:ea typeface="Diodrum Arabic SemiBold"/>
                <a:cs typeface="Diodrum Arabic SemiBold"/>
              </a:rPr>
              <a:t>Singapore — announced, not yet started</a:t>
            </a:r>
          </a:p>
        </p:txBody>
      </p:sp>
      <p:sp>
        <p:nvSpPr>
          <p:cNvPr id="19" name="TextBox 18"/>
          <p:cNvSpPr txBox="1"/>
          <p:nvPr/>
        </p:nvSpPr>
        <p:spPr>
          <a:xfrm>
            <a:off x="4000500" y="3518916"/>
            <a:ext cx="2848356" cy="877824"/>
          </a:xfrm>
          <a:prstGeom prst="rect">
            <a:avLst/>
          </a:prstGeom>
          <a:noFill/>
        </p:spPr>
        <p:txBody>
          <a:bodyPr wrap="square" lIns="0" rIns="0" tIns="0" bIns="0">
            <a:spAutoFit/>
          </a:bodyPr>
          <a:lstStyle/>
          <a:p>
            <a:pPr algn="just">
              <a:lnSpc>
                <a:spcPts val="1104"/>
              </a:lnSpc>
            </a:pPr>
            <a:r>
              <a:rPr sz="800" b="0">
                <a:solidFill>
                  <a:srgbClr val="474956"/>
                </a:solidFill>
                <a:latin typeface="Diodrum Arabic"/>
                <a:ea typeface="Diodrum Arabic"/>
                <a:cs typeface="Diodrum Arabic"/>
              </a:rPr>
              <a:t>The Digital Government Institute, announced 2 March 2026, is to train more than 150,000 employees through mandatory foundation units, jointly owned by the Ministry of Digital Development and Information and the Civil Service College [29]. As of the review date it has not begun operations and cannot be cited as a working model.</a:t>
            </a:r>
          </a:p>
        </p:txBody>
      </p:sp>
      <p:sp>
        <p:nvSpPr>
          <p:cNvPr id="20" name="Rounded Rectangle 19"/>
          <p:cNvSpPr/>
          <p:nvPr/>
        </p:nvSpPr>
        <p:spPr>
          <a:xfrm>
            <a:off x="566928" y="4689348"/>
            <a:ext cx="6428231" cy="1232344"/>
          </a:xfrm>
          <a:prstGeom prst="roundRect">
            <a:avLst>
              <a:gd name="adj" fmla="val 6678"/>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853939"/>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SCALE AND MANDATE — AUSTRALIA, FRANCE, THE EU, RWANDA</a:t>
            </a:r>
          </a:p>
        </p:txBody>
      </p:sp>
      <p:sp>
        <p:nvSpPr>
          <p:cNvPr id="22" name="TextBox 21"/>
          <p:cNvSpPr txBox="1"/>
          <p:nvPr/>
        </p:nvSpPr>
        <p:spPr>
          <a:xfrm>
            <a:off x="731520" y="5063490"/>
            <a:ext cx="6099047" cy="685800"/>
          </a:xfrm>
          <a:prstGeom prst="rect">
            <a:avLst/>
          </a:prstGeom>
          <a:noFill/>
        </p:spPr>
        <p:txBody>
          <a:bodyPr wrap="square" lIns="0" rIns="0" tIns="0" bIns="0">
            <a:spAutoFit/>
          </a:bodyPr>
          <a:lstStyle/>
          <a:p>
            <a:pPr algn="just">
              <a:lnSpc>
                <a:spcPts val="1278"/>
              </a:lnSpc>
            </a:pPr>
            <a:r>
              <a:rPr sz="900" b="0">
                <a:solidFill>
                  <a:srgbClr val="474956"/>
                </a:solidFill>
                <a:latin typeface="Diodrum Arabic"/>
                <a:ea typeface="Diodrum Arabic"/>
                <a:cs typeface="Diodrum Arabic"/>
              </a:rPr>
              <a:t>Australia combined a mandatory module for 185,000 employees, chief AI officers in every entity, and a senior-leaders track, first deadline 15 June 2026 [44]. France launched Pix for the civil service with an ambition of 100,000 employees during 2025 [45]. The EU’s AI Act Article 4 has made AI literacy a legal obligation on deployers and operators, including public bodies, since 2 February 2025 [46]. Rwanda issued a general mandate for civil servants in January 2026 [50].</a:t>
            </a:r>
          </a:p>
        </p:txBody>
      </p:sp>
      <p:sp>
        <p:nvSpPr>
          <p:cNvPr id="23" name="TextBox 22"/>
          <p:cNvSpPr txBox="1"/>
          <p:nvPr/>
        </p:nvSpPr>
        <p:spPr>
          <a:xfrm>
            <a:off x="566928" y="6086284"/>
            <a:ext cx="6428231" cy="523494"/>
          </a:xfrm>
          <a:prstGeom prst="rect">
            <a:avLst/>
          </a:prstGeom>
          <a:noFill/>
        </p:spPr>
        <p:txBody>
          <a:bodyPr wrap="square" lIns="0" rIns="0" tIns="0" bIns="0">
            <a:spAutoFit/>
          </a:bodyPr>
          <a:lstStyle/>
          <a:p>
            <a:pPr algn="just">
              <a:lnSpc>
                <a:spcPts val="1278"/>
              </a:lnSpc>
            </a:pPr>
            <a:r>
              <a:rPr sz="900" b="0">
                <a:solidFill>
                  <a:srgbClr val="474956"/>
                </a:solidFill>
                <a:latin typeface="Diodrum Arabic"/>
                <a:ea typeface="Diodrum Arabic"/>
                <a:cs typeface="Diodrum Arabic"/>
              </a:rPr>
              <a:t>The linkage instruments escalate — from binding legislation (EU), to recording in job appraisal (India), to direct political assignment (Kazakhstan and the UAE) — and accountability roles preceded training in the UAE, Australia, and Kazakhstan. None of these countries has published evidence of impact on decision quality or institutional performance [51].</a:t>
            </a:r>
          </a:p>
        </p:txBody>
      </p:sp>
      <p:sp>
        <p:nvSpPr>
          <p:cNvPr id="24" name="Rectangle 23"/>
          <p:cNvSpPr/>
          <p:nvPr/>
        </p:nvSpPr>
        <p:spPr>
          <a:xfrm>
            <a:off x="566928" y="6719506"/>
            <a:ext cx="45720" cy="405384"/>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6728650"/>
            <a:ext cx="6199631" cy="387095"/>
          </a:xfrm>
          <a:prstGeom prst="rect">
            <a:avLst/>
          </a:prstGeom>
          <a:noFill/>
        </p:spPr>
        <p:txBody>
          <a:bodyPr wrap="square" lIns="0" rIns="0" tIns="0" bIns="0">
            <a:spAutoFit/>
          </a:bodyPr>
          <a:lstStyle/>
          <a:p>
            <a:pPr algn="l">
              <a:lnSpc>
                <a:spcPts val="1380"/>
              </a:lnSpc>
            </a:pPr>
            <a:r>
              <a:rPr sz="1000" b="0">
                <a:solidFill>
                  <a:srgbClr val="232046"/>
                </a:solidFill>
                <a:latin typeface="Diodrum Arabic SemiBold"/>
                <a:ea typeface="Diodrum Arabic SemiBold"/>
                <a:cs typeface="Diodrum Arabic SemiBold"/>
              </a:rPr>
              <a:t>After this picture of the world, a fair comparison requires asking: what capabilities does the Kingdom actually possess today?</a:t>
            </a:r>
          </a:p>
        </p:txBody>
      </p:sp>
      <p:sp>
        <p:nvSpPr>
          <p:cNvPr id="26" name="Rectangle 25"/>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28" name="TextBox 27"/>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03 · 3.4  CAPABILITIES WITHIN THE KINGDOM</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Real components — not yet assembled into one graded programme</a:t>
            </a:r>
          </a:p>
        </p:txBody>
      </p:sp>
      <p:sp>
        <p:nvSpPr>
          <p:cNvPr id="4" name="Rounded Rectangle 3"/>
          <p:cNvSpPr/>
          <p:nvPr/>
        </p:nvSpPr>
        <p:spPr>
          <a:xfrm>
            <a:off x="566928" y="1401318"/>
            <a:ext cx="3140963" cy="1642109"/>
          </a:xfrm>
          <a:prstGeom prst="roundRect">
            <a:avLst>
              <a:gd name="adj" fmla="val 501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 y="1547622"/>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666494"/>
            <a:ext cx="2848356" cy="199263"/>
          </a:xfrm>
          <a:prstGeom prst="rect">
            <a:avLst/>
          </a:prstGeom>
          <a:noFill/>
        </p:spPr>
        <p:txBody>
          <a:bodyPr wrap="square" lIns="0" rIns="0" tIns="0" bIns="0">
            <a:spAutoFit/>
          </a:bodyPr>
          <a:lstStyle/>
          <a:p>
            <a:pPr algn="l">
              <a:lnSpc>
                <a:spcPts val="1281"/>
              </a:lnSpc>
            </a:pPr>
            <a:r>
              <a:rPr sz="1050" b="0">
                <a:solidFill>
                  <a:srgbClr val="00ABAF"/>
                </a:solidFill>
                <a:latin typeface="Diodrum Arabic SemiBold"/>
                <a:ea typeface="Diodrum Arabic SemiBold"/>
                <a:cs typeface="Diodrum Arabic SemiBold"/>
              </a:rPr>
              <a:t>SDAIA — capability proven by numbers</a:t>
            </a:r>
          </a:p>
        </p:txBody>
      </p:sp>
      <p:sp>
        <p:nvSpPr>
          <p:cNvPr id="7" name="TextBox 6"/>
          <p:cNvSpPr txBox="1"/>
          <p:nvPr/>
        </p:nvSpPr>
        <p:spPr>
          <a:xfrm>
            <a:off x="713232" y="1893189"/>
            <a:ext cx="2848356" cy="737616"/>
          </a:xfrm>
          <a:prstGeom prst="rect">
            <a:avLst/>
          </a:prstGeom>
          <a:noFill/>
        </p:spPr>
        <p:txBody>
          <a:bodyPr wrap="square" lIns="0" rIns="0" tIns="0" bIns="0">
            <a:spAutoFit/>
          </a:bodyPr>
          <a:lstStyle/>
          <a:p>
            <a:pPr algn="just">
              <a:lnSpc>
                <a:spcPts val="1104"/>
              </a:lnSpc>
            </a:pPr>
            <a:r>
              <a:rPr sz="800" b="0">
                <a:solidFill>
                  <a:srgbClr val="474956"/>
                </a:solidFill>
                <a:latin typeface="Diodrum Arabic"/>
                <a:ea typeface="Diodrum Arabic"/>
                <a:cs typeface="Diodrum Arabic"/>
              </a:rPr>
              <a:t>More than 278 government leaders trained in data and AI by June 2026, up from about 80 at end-2024, within a beneficiary base exceeding 1,563,983 [52][53]. The published information does not show distribution across the four levels, nor curricula and measurement detail.</a:t>
            </a:r>
          </a:p>
        </p:txBody>
      </p:sp>
      <p:sp>
        <p:nvSpPr>
          <p:cNvPr id="8" name="Rounded Rectangle 7"/>
          <p:cNvSpPr/>
          <p:nvPr/>
        </p:nvSpPr>
        <p:spPr>
          <a:xfrm>
            <a:off x="3854196" y="1401318"/>
            <a:ext cx="3140963" cy="1642109"/>
          </a:xfrm>
          <a:prstGeom prst="roundRect">
            <a:avLst>
              <a:gd name="adj" fmla="val 501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000500" y="154762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00500" y="1666494"/>
            <a:ext cx="2848356" cy="361950"/>
          </a:xfrm>
          <a:prstGeom prst="rect">
            <a:avLst/>
          </a:prstGeom>
          <a:noFill/>
        </p:spPr>
        <p:txBody>
          <a:bodyPr wrap="square" lIns="0" rIns="0" tIns="0" bIns="0">
            <a:spAutoFit/>
          </a:bodyPr>
          <a:lstStyle/>
          <a:p>
            <a:pPr algn="l">
              <a:lnSpc>
                <a:spcPts val="1281"/>
              </a:lnSpc>
            </a:pPr>
            <a:r>
              <a:rPr sz="1050" b="0">
                <a:solidFill>
                  <a:srgbClr val="7C32C9"/>
                </a:solidFill>
                <a:latin typeface="Diodrum Arabic SemiBold"/>
                <a:ea typeface="Diodrum Arabic SemiBold"/>
                <a:cs typeface="Diodrum Arabic SemiBold"/>
              </a:rPr>
              <a:t>Qudratak — a suitable base, needing specialised content</a:t>
            </a:r>
          </a:p>
        </p:txBody>
      </p:sp>
      <p:sp>
        <p:nvSpPr>
          <p:cNvPr id="11" name="TextBox 10"/>
          <p:cNvSpPr txBox="1"/>
          <p:nvPr/>
        </p:nvSpPr>
        <p:spPr>
          <a:xfrm>
            <a:off x="4000500" y="2055876"/>
            <a:ext cx="2848356" cy="877824"/>
          </a:xfrm>
          <a:prstGeom prst="rect">
            <a:avLst/>
          </a:prstGeom>
          <a:noFill/>
        </p:spPr>
        <p:txBody>
          <a:bodyPr wrap="square" lIns="0" rIns="0" tIns="0" bIns="0">
            <a:spAutoFit/>
          </a:bodyPr>
          <a:lstStyle/>
          <a:p>
            <a:pPr algn="just">
              <a:lnSpc>
                <a:spcPts val="1104"/>
              </a:lnSpc>
            </a:pPr>
            <a:r>
              <a:rPr sz="800" b="0">
                <a:solidFill>
                  <a:srgbClr val="474956"/>
                </a:solidFill>
                <a:latin typeface="Diodrum Arabic"/>
                <a:ea typeface="Diodrum Arabic"/>
                <a:cs typeface="Diodrum Arabic"/>
              </a:rPr>
              <a:t>A digital-leadership track with seven specialisations and documented academic partnerships with Harvard, Berkeley, Imperial, and Columbia [54]. The track as documented addresses digital leadership — not AI decisions specifically; needed: AI-decision content, Saudi cases, unified measurement.</a:t>
            </a:r>
          </a:p>
        </p:txBody>
      </p:sp>
      <p:sp>
        <p:nvSpPr>
          <p:cNvPr id="12" name="Rounded Rectangle 11"/>
          <p:cNvSpPr/>
          <p:nvPr/>
        </p:nvSpPr>
        <p:spPr>
          <a:xfrm>
            <a:off x="566928" y="3189732"/>
            <a:ext cx="3140963" cy="1782317"/>
          </a:xfrm>
          <a:prstGeom prst="roundRect">
            <a:avLst>
              <a:gd name="adj" fmla="val 461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3336036"/>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454908"/>
            <a:ext cx="2848356" cy="199263"/>
          </a:xfrm>
          <a:prstGeom prst="rect">
            <a:avLst/>
          </a:prstGeom>
          <a:noFill/>
        </p:spPr>
        <p:txBody>
          <a:bodyPr wrap="square" lIns="0" rIns="0" tIns="0" bIns="0">
            <a:spAutoFit/>
          </a:bodyPr>
          <a:lstStyle/>
          <a:p>
            <a:pPr algn="l">
              <a:lnSpc>
                <a:spcPts val="1281"/>
              </a:lnSpc>
            </a:pPr>
            <a:r>
              <a:rPr sz="1050" b="0">
                <a:solidFill>
                  <a:srgbClr val="2A206A"/>
                </a:solidFill>
                <a:latin typeface="Diodrum Arabic SemiBold"/>
                <a:ea typeface="Diodrum Arabic SemiBold"/>
                <a:cs typeface="Diodrum Arabic SemiBold"/>
              </a:rPr>
              <a:t>Stanford participation — proven demand</a:t>
            </a:r>
          </a:p>
        </p:txBody>
      </p:sp>
      <p:sp>
        <p:nvSpPr>
          <p:cNvPr id="15" name="TextBox 14"/>
          <p:cNvSpPr txBox="1"/>
          <p:nvPr/>
        </p:nvSpPr>
        <p:spPr>
          <a:xfrm>
            <a:off x="713232" y="3681603"/>
            <a:ext cx="2848356" cy="877824"/>
          </a:xfrm>
          <a:prstGeom prst="rect">
            <a:avLst/>
          </a:prstGeom>
          <a:noFill/>
        </p:spPr>
        <p:txBody>
          <a:bodyPr wrap="square" lIns="0" rIns="0" tIns="0" bIns="0">
            <a:spAutoFit/>
          </a:bodyPr>
          <a:lstStyle/>
          <a:p>
            <a:pPr algn="just">
              <a:lnSpc>
                <a:spcPts val="1104"/>
              </a:lnSpc>
            </a:pPr>
            <a:r>
              <a:rPr sz="800" b="0">
                <a:solidFill>
                  <a:srgbClr val="474956"/>
                </a:solidFill>
                <a:latin typeface="Diodrum Arabic"/>
                <a:ea typeface="Diodrum Arabic"/>
                <a:cs typeface="Diodrum Arabic"/>
              </a:rPr>
              <a:t>In November 2025 a Saudi delegation including ministers and senior officials joined an AI leadership programme at Stanford, organised with Accenture and AI Inspire [55]. Evidence of real, paid demand — and of the need for a local option, since the external format controls neither cases, nor confidentiality, nor measurement.</a:t>
            </a:r>
          </a:p>
        </p:txBody>
      </p:sp>
      <p:sp>
        <p:nvSpPr>
          <p:cNvPr id="16" name="Rounded Rectangle 15"/>
          <p:cNvSpPr/>
          <p:nvPr/>
        </p:nvSpPr>
        <p:spPr>
          <a:xfrm>
            <a:off x="3854196" y="3189732"/>
            <a:ext cx="3140963" cy="1782317"/>
          </a:xfrm>
          <a:prstGeom prst="roundRect">
            <a:avLst>
              <a:gd name="adj" fmla="val 461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00500" y="3336036"/>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00500" y="3454908"/>
            <a:ext cx="2848356" cy="361950"/>
          </a:xfrm>
          <a:prstGeom prst="rect">
            <a:avLst/>
          </a:prstGeom>
          <a:noFill/>
        </p:spPr>
        <p:txBody>
          <a:bodyPr wrap="square" lIns="0" rIns="0" tIns="0" bIns="0">
            <a:spAutoFit/>
          </a:bodyPr>
          <a:lstStyle/>
          <a:p>
            <a:pPr algn="l">
              <a:lnSpc>
                <a:spcPts val="1281"/>
              </a:lnSpc>
            </a:pPr>
            <a:r>
              <a:rPr sz="1050" b="0">
                <a:solidFill>
                  <a:srgbClr val="1CC182"/>
                </a:solidFill>
                <a:latin typeface="Diodrum Arabic SemiBold"/>
                <a:ea typeface="Diodrum Arabic SemiBold"/>
                <a:cs typeface="Diodrum Arabic SemiBold"/>
              </a:rPr>
              <a:t>Local commercial programmes — recurring demand, no gradation</a:t>
            </a:r>
          </a:p>
        </p:txBody>
      </p:sp>
      <p:sp>
        <p:nvSpPr>
          <p:cNvPr id="19" name="TextBox 18"/>
          <p:cNvSpPr txBox="1"/>
          <p:nvPr/>
        </p:nvSpPr>
        <p:spPr>
          <a:xfrm>
            <a:off x="4000500" y="3844290"/>
            <a:ext cx="2848356" cy="1018032"/>
          </a:xfrm>
          <a:prstGeom prst="rect">
            <a:avLst/>
          </a:prstGeom>
          <a:noFill/>
        </p:spPr>
        <p:txBody>
          <a:bodyPr wrap="square" lIns="0" rIns="0" tIns="0" bIns="0">
            <a:spAutoFit/>
          </a:bodyPr>
          <a:lstStyle/>
          <a:p>
            <a:pPr algn="just">
              <a:lnSpc>
                <a:spcPts val="1104"/>
              </a:lnSpc>
            </a:pPr>
            <a:r>
              <a:rPr sz="800" b="0">
                <a:solidFill>
                  <a:srgbClr val="474956"/>
                </a:solidFill>
                <a:latin typeface="Diodrum Arabic"/>
                <a:ea typeface="Diodrum Arabic"/>
                <a:cs typeface="Diodrum Arabic"/>
              </a:rPr>
              <a:t>“AI for Leaders and Decision-Makers”, owned and delivered by Renad Al Majd, ran three times (May 2025, Oct 2025, Apr 2026); King Saud University hosted the April 2026 edition as venue only [56][57]. Named attendance at executive-director and general-supervisor level — the equivalent of Levels 3–4 — with no published evidence of ministers or assistant ministers [56].</a:t>
            </a:r>
          </a:p>
        </p:txBody>
      </p:sp>
      <p:sp>
        <p:nvSpPr>
          <p:cNvPr id="20" name="TextBox 19"/>
          <p:cNvSpPr txBox="1"/>
          <p:nvPr/>
        </p:nvSpPr>
        <p:spPr>
          <a:xfrm>
            <a:off x="566928" y="5154930"/>
            <a:ext cx="6428231" cy="463296"/>
          </a:xfrm>
          <a:prstGeom prst="rect">
            <a:avLst/>
          </a:prstGeom>
          <a:noFill/>
        </p:spPr>
        <p:txBody>
          <a:bodyPr wrap="square" lIns="0" rIns="0" tIns="0" bIns="0">
            <a:spAutoFit/>
          </a:bodyPr>
          <a:lstStyle/>
          <a:p>
            <a:pPr algn="l">
              <a:lnSpc>
                <a:spcPts val="1120"/>
              </a:lnSpc>
            </a:pPr>
            <a:r>
              <a:rPr sz="800" b="0">
                <a:solidFill>
                  <a:srgbClr val="6E7077"/>
                </a:solidFill>
                <a:latin typeface="Diodrum Arabic"/>
                <a:ea typeface="Diodrum Arabic"/>
                <a:cs typeface="Diodrum Arabic"/>
              </a:rPr>
              <a:t>The Institute of Public Administration also holds an established leaders academy and widely deployed development tracks [58]; the review did not identify a publicly documented dedicated AI leadership programme at the Institute or at the major Saudi universities — an absence in the record as of the review date, not proof of non-existence.</a:t>
            </a:r>
          </a:p>
        </p:txBody>
      </p:sp>
      <p:pic>
        <p:nvPicPr>
          <p:cNvPr id="21" name="Picture 20" descr="rayan-city.png"/>
          <p:cNvPicPr>
            <a:picLocks noChangeAspect="1"/>
          </p:cNvPicPr>
          <p:nvPr/>
        </p:nvPicPr>
        <p:blipFill>
          <a:blip r:embed="rId2"/>
          <a:stretch>
            <a:fillRect/>
          </a:stretch>
        </p:blipFill>
        <p:spPr>
          <a:xfrm>
            <a:off x="566928" y="5691378"/>
            <a:ext cx="6428231" cy="960120"/>
          </a:xfrm>
          <a:prstGeom prst="rect">
            <a:avLst/>
          </a:prstGeom>
        </p:spPr>
      </p:pic>
      <p:sp>
        <p:nvSpPr>
          <p:cNvPr id="22" name="Rectangle 21"/>
          <p:cNvSpPr/>
          <p:nvPr/>
        </p:nvSpPr>
        <p:spPr>
          <a:xfrm>
            <a:off x="566928" y="6806946"/>
            <a:ext cx="45720" cy="580644"/>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6816090"/>
            <a:ext cx="6199631" cy="562356"/>
          </a:xfrm>
          <a:prstGeom prst="rect">
            <a:avLst/>
          </a:prstGeom>
          <a:noFill/>
        </p:spPr>
        <p:txBody>
          <a:bodyPr wrap="square" lIns="0" rIns="0" tIns="0" bIns="0">
            <a:spAutoFit/>
          </a:bodyPr>
          <a:lstStyle/>
          <a:p>
            <a:pPr algn="l">
              <a:lnSpc>
                <a:spcPts val="1380"/>
              </a:lnSpc>
            </a:pPr>
            <a:r>
              <a:rPr sz="1000" b="0">
                <a:solidFill>
                  <a:srgbClr val="232046"/>
                </a:solidFill>
                <a:latin typeface="Diodrum Arabic SemiBold"/>
                <a:ea typeface="Diodrum Arabic SemiBold"/>
                <a:cs typeface="Diodrum Arabic SemiBold"/>
              </a:rPr>
              <a:t>The local gap is narrower than “nothing”: a quantitative training base, a platform with partnerships, proven senior demand, and recurring commercial demand. What is missing is organisation into one programme with one owner and one specification.</a:t>
            </a:r>
          </a:p>
        </p:txBody>
      </p:sp>
      <p:sp>
        <p:nvSpPr>
          <p:cNvPr id="24" name="Rectangle 23"/>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26" name="TextBox 25"/>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03 · 3.5  WHAT HAS MATURED AND WHAT REMAINS A GAP</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Content has matured; gradation, confidentiality, and measurement have not</a:t>
            </a:r>
          </a:p>
        </p:txBody>
      </p:sp>
      <p:sp>
        <p:nvSpPr>
          <p:cNvPr id="4" name="TextBox 3"/>
          <p:cNvSpPr txBox="1"/>
          <p:nvPr/>
        </p:nvSpPr>
        <p:spPr>
          <a:xfrm>
            <a:off x="566928" y="1401318"/>
            <a:ext cx="6428231" cy="374395"/>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Three lists, according to what the published evidence establishes as of the review date — a work map, not a value judgement.</a:t>
            </a:r>
          </a:p>
        </p:txBody>
      </p:sp>
      <p:sp>
        <p:nvSpPr>
          <p:cNvPr id="5" name="Rectangle 4"/>
          <p:cNvSpPr/>
          <p:nvPr/>
        </p:nvSpPr>
        <p:spPr>
          <a:xfrm>
            <a:off x="566928" y="183057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013458"/>
            <a:ext cx="2048804" cy="316484"/>
          </a:xfrm>
          <a:prstGeom prst="rect">
            <a:avLst/>
          </a:prstGeom>
          <a:noFill/>
        </p:spPr>
        <p:txBody>
          <a:bodyPr wrap="square" lIns="0" rIns="0" tIns="0" bIns="0">
            <a:spAutoFit/>
          </a:bodyPr>
          <a:lstStyle/>
          <a:p>
            <a:pPr algn="l">
              <a:lnSpc>
                <a:spcPts val="1102"/>
              </a:lnSpc>
            </a:pPr>
            <a:r>
              <a:rPr sz="950" b="0" spc="70">
                <a:solidFill>
                  <a:srgbClr val="00ABAF"/>
                </a:solidFill>
                <a:latin typeface="Diodrum Arabic SemiBold"/>
                <a:ea typeface="Diodrum Arabic SemiBold"/>
                <a:cs typeface="Diodrum Arabic SemiBold"/>
              </a:rPr>
              <a:t>MATURED — REPEATED EVIDENCE</a:t>
            </a:r>
          </a:p>
        </p:txBody>
      </p:sp>
      <p:sp>
        <p:nvSpPr>
          <p:cNvPr id="7" name="TextBox 6"/>
          <p:cNvSpPr txBox="1"/>
          <p:nvPr/>
        </p:nvSpPr>
        <p:spPr>
          <a:xfrm>
            <a:off x="566928" y="2371090"/>
            <a:ext cx="91440" cy="169164"/>
          </a:xfrm>
          <a:prstGeom prst="rect">
            <a:avLst/>
          </a:prstGeom>
          <a:noFill/>
        </p:spPr>
        <p:txBody>
          <a:bodyPr wrap="square" lIns="0" rIns="0" tIns="0" bIns="0">
            <a:spAutoFit/>
          </a:bodyPr>
          <a:lstStyle/>
          <a:p>
            <a:pPr algn="ctr">
              <a:lnSpc>
                <a:spcPts val="1044"/>
              </a:lnSpc>
            </a:pPr>
            <a:r>
              <a:rPr sz="900" b="0">
                <a:solidFill>
                  <a:srgbClr val="00ABAF"/>
                </a:solidFill>
                <a:latin typeface="Diodrum Arabic SemiBold"/>
                <a:ea typeface="Diodrum Arabic SemiBold"/>
                <a:cs typeface="Diodrum Arabic SemiBold"/>
              </a:rPr>
              <a:t>•</a:t>
            </a:r>
          </a:p>
        </p:txBody>
      </p:sp>
      <p:sp>
        <p:nvSpPr>
          <p:cNvPr id="8" name="TextBox 7"/>
          <p:cNvSpPr txBox="1"/>
          <p:nvPr/>
        </p:nvSpPr>
        <p:spPr>
          <a:xfrm>
            <a:off x="740664" y="2375662"/>
            <a:ext cx="1875068" cy="457199"/>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Foundational content for non-specialists: mature curricula at Harvard Kennedy and Blavatnik [36][35].</a:t>
            </a:r>
          </a:p>
        </p:txBody>
      </p:sp>
      <p:sp>
        <p:nvSpPr>
          <p:cNvPr id="9" name="TextBox 8"/>
          <p:cNvSpPr txBox="1"/>
          <p:nvPr/>
        </p:nvSpPr>
        <p:spPr>
          <a:xfrm>
            <a:off x="566928" y="2842006"/>
            <a:ext cx="91440" cy="169164"/>
          </a:xfrm>
          <a:prstGeom prst="rect">
            <a:avLst/>
          </a:prstGeom>
          <a:noFill/>
        </p:spPr>
        <p:txBody>
          <a:bodyPr wrap="square" lIns="0" rIns="0" tIns="0" bIns="0">
            <a:spAutoFit/>
          </a:bodyPr>
          <a:lstStyle/>
          <a:p>
            <a:pPr algn="ctr">
              <a:lnSpc>
                <a:spcPts val="1044"/>
              </a:lnSpc>
            </a:pPr>
            <a:r>
              <a:rPr sz="900" b="0">
                <a:solidFill>
                  <a:srgbClr val="00ABAF"/>
                </a:solidFill>
                <a:latin typeface="Diodrum Arabic SemiBold"/>
                <a:ea typeface="Diodrum Arabic SemiBold"/>
                <a:cs typeface="Diodrum Arabic SemiBold"/>
              </a:rPr>
              <a:t>•</a:t>
            </a:r>
          </a:p>
        </p:txBody>
      </p:sp>
      <p:sp>
        <p:nvSpPr>
          <p:cNvPr id="10" name="TextBox 9"/>
          <p:cNvSpPr txBox="1"/>
          <p:nvPr/>
        </p:nvSpPr>
        <p:spPr>
          <a:xfrm>
            <a:off x="740664" y="2846578"/>
            <a:ext cx="1875068" cy="457199"/>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Governance and responsible use as a common pillar of serious programmes [22][35].</a:t>
            </a:r>
          </a:p>
        </p:txBody>
      </p:sp>
      <p:sp>
        <p:nvSpPr>
          <p:cNvPr id="11" name="TextBox 10"/>
          <p:cNvSpPr txBox="1"/>
          <p:nvPr/>
        </p:nvSpPr>
        <p:spPr>
          <a:xfrm>
            <a:off x="566928" y="3312922"/>
            <a:ext cx="91440" cy="169164"/>
          </a:xfrm>
          <a:prstGeom prst="rect">
            <a:avLst/>
          </a:prstGeom>
          <a:noFill/>
        </p:spPr>
        <p:txBody>
          <a:bodyPr wrap="square" lIns="0" rIns="0" tIns="0" bIns="0">
            <a:spAutoFit/>
          </a:bodyPr>
          <a:lstStyle/>
          <a:p>
            <a:pPr algn="ctr">
              <a:lnSpc>
                <a:spcPts val="1044"/>
              </a:lnSpc>
            </a:pPr>
            <a:r>
              <a:rPr sz="900" b="0">
                <a:solidFill>
                  <a:srgbClr val="00ABAF"/>
                </a:solidFill>
                <a:latin typeface="Diodrum Arabic SemiBold"/>
                <a:ea typeface="Diodrum Arabic SemiBold"/>
                <a:cs typeface="Diodrum Arabic SemiBold"/>
              </a:rPr>
              <a:t>•</a:t>
            </a:r>
          </a:p>
        </p:txBody>
      </p:sp>
      <p:sp>
        <p:nvSpPr>
          <p:cNvPr id="12" name="TextBox 11"/>
          <p:cNvSpPr txBox="1"/>
          <p:nvPr/>
        </p:nvSpPr>
        <p:spPr>
          <a:xfrm>
            <a:off x="740664" y="3317494"/>
            <a:ext cx="1875068" cy="316991"/>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Government cases and scenarios — LKY School; Harvard’s “AI in Action” [23][59].</a:t>
            </a:r>
          </a:p>
        </p:txBody>
      </p:sp>
      <p:sp>
        <p:nvSpPr>
          <p:cNvPr id="13" name="TextBox 12"/>
          <p:cNvSpPr txBox="1"/>
          <p:nvPr/>
        </p:nvSpPr>
        <p:spPr>
          <a:xfrm>
            <a:off x="566928" y="3643630"/>
            <a:ext cx="91440" cy="169164"/>
          </a:xfrm>
          <a:prstGeom prst="rect">
            <a:avLst/>
          </a:prstGeom>
          <a:noFill/>
        </p:spPr>
        <p:txBody>
          <a:bodyPr wrap="square" lIns="0" rIns="0" tIns="0" bIns="0">
            <a:spAutoFit/>
          </a:bodyPr>
          <a:lstStyle/>
          <a:p>
            <a:pPr algn="ctr">
              <a:lnSpc>
                <a:spcPts val="1044"/>
              </a:lnSpc>
            </a:pPr>
            <a:r>
              <a:rPr sz="900" b="0">
                <a:solidFill>
                  <a:srgbClr val="00ABAF"/>
                </a:solidFill>
                <a:latin typeface="Diodrum Arabic SemiBold"/>
                <a:ea typeface="Diodrum Arabic SemiBold"/>
                <a:cs typeface="Diodrum Arabic SemiBold"/>
              </a:rPr>
              <a:t>•</a:t>
            </a:r>
          </a:p>
        </p:txBody>
      </p:sp>
      <p:sp>
        <p:nvSpPr>
          <p:cNvPr id="14" name="TextBox 13"/>
          <p:cNvSpPr txBox="1"/>
          <p:nvPr/>
        </p:nvSpPr>
        <p:spPr>
          <a:xfrm>
            <a:off x="740664" y="3648202"/>
            <a:ext cx="1875068" cy="457199"/>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Peer-learning formats: Imperial’s cohort spans 16 entities; Partnership’s are cross-agency [38][18].</a:t>
            </a:r>
          </a:p>
        </p:txBody>
      </p:sp>
      <p:sp>
        <p:nvSpPr>
          <p:cNvPr id="15" name="TextBox 14"/>
          <p:cNvSpPr txBox="1"/>
          <p:nvPr/>
        </p:nvSpPr>
        <p:spPr>
          <a:xfrm>
            <a:off x="566928" y="4114546"/>
            <a:ext cx="91440" cy="169164"/>
          </a:xfrm>
          <a:prstGeom prst="rect">
            <a:avLst/>
          </a:prstGeom>
          <a:noFill/>
        </p:spPr>
        <p:txBody>
          <a:bodyPr wrap="square" lIns="0" rIns="0" tIns="0" bIns="0">
            <a:spAutoFit/>
          </a:bodyPr>
          <a:lstStyle/>
          <a:p>
            <a:pPr algn="ctr">
              <a:lnSpc>
                <a:spcPts val="1044"/>
              </a:lnSpc>
            </a:pPr>
            <a:r>
              <a:rPr sz="900" b="0">
                <a:solidFill>
                  <a:srgbClr val="00ABAF"/>
                </a:solidFill>
                <a:latin typeface="Diodrum Arabic SemiBold"/>
                <a:ea typeface="Diodrum Arabic SemiBold"/>
                <a:cs typeface="Diodrum Arabic SemiBold"/>
              </a:rPr>
              <a:t>•</a:t>
            </a:r>
          </a:p>
        </p:txBody>
      </p:sp>
      <p:sp>
        <p:nvSpPr>
          <p:cNvPr id="16" name="TextBox 15"/>
          <p:cNvSpPr txBox="1"/>
          <p:nvPr/>
        </p:nvSpPr>
        <p:spPr>
          <a:xfrm>
            <a:off x="740664" y="4119118"/>
            <a:ext cx="1875068" cy="457199"/>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Digital programmes for executive levels, from the GSA’s free series to national platforms [19][41].</a:t>
            </a:r>
          </a:p>
        </p:txBody>
      </p:sp>
      <p:sp>
        <p:nvSpPr>
          <p:cNvPr id="17" name="TextBox 16"/>
          <p:cNvSpPr txBox="1"/>
          <p:nvPr/>
        </p:nvSpPr>
        <p:spPr>
          <a:xfrm>
            <a:off x="2816900" y="2013458"/>
            <a:ext cx="2169322" cy="316484"/>
          </a:xfrm>
          <a:prstGeom prst="rect">
            <a:avLst/>
          </a:prstGeom>
          <a:noFill/>
        </p:spPr>
        <p:txBody>
          <a:bodyPr wrap="square" lIns="0" rIns="0" tIns="0" bIns="0">
            <a:spAutoFit/>
          </a:bodyPr>
          <a:lstStyle/>
          <a:p>
            <a:pPr algn="l">
              <a:lnSpc>
                <a:spcPts val="1102"/>
              </a:lnSpc>
            </a:pPr>
            <a:r>
              <a:rPr sz="950" b="0" spc="70">
                <a:solidFill>
                  <a:srgbClr val="7C32C9"/>
                </a:solidFill>
                <a:latin typeface="Diodrum Arabic SemiBold"/>
                <a:ea typeface="Diodrum Arabic SemiBold"/>
                <a:cs typeface="Diodrum Arabic SemiBold"/>
              </a:rPr>
              <a:t>SCATTERED — FEW PLACES, INCOMPLETE FORM</a:t>
            </a:r>
          </a:p>
        </p:txBody>
      </p:sp>
      <p:sp>
        <p:nvSpPr>
          <p:cNvPr id="18" name="TextBox 17"/>
          <p:cNvSpPr txBox="1"/>
          <p:nvPr/>
        </p:nvSpPr>
        <p:spPr>
          <a:xfrm>
            <a:off x="2816900" y="2371090"/>
            <a:ext cx="91440" cy="169164"/>
          </a:xfrm>
          <a:prstGeom prst="rect">
            <a:avLst/>
          </a:prstGeom>
          <a:noFill/>
        </p:spPr>
        <p:txBody>
          <a:bodyPr wrap="square" lIns="0" rIns="0" tIns="0" bIns="0">
            <a:spAutoFit/>
          </a:bodyPr>
          <a:lstStyle/>
          <a:p>
            <a:pPr algn="ctr">
              <a:lnSpc>
                <a:spcPts val="1044"/>
              </a:lnSpc>
            </a:pPr>
            <a:r>
              <a:rPr sz="900" b="0">
                <a:solidFill>
                  <a:srgbClr val="7C32C9"/>
                </a:solidFill>
                <a:latin typeface="Diodrum Arabic SemiBold"/>
                <a:ea typeface="Diodrum Arabic SemiBold"/>
                <a:cs typeface="Diodrum Arabic SemiBold"/>
              </a:rPr>
              <a:t>•</a:t>
            </a:r>
          </a:p>
        </p:txBody>
      </p:sp>
      <p:sp>
        <p:nvSpPr>
          <p:cNvPr id="19" name="TextBox 18"/>
          <p:cNvSpPr txBox="1"/>
          <p:nvPr/>
        </p:nvSpPr>
        <p:spPr>
          <a:xfrm>
            <a:off x="2990636" y="2375662"/>
            <a:ext cx="1995586" cy="597408"/>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Gradation across four levels: the UAE’s five categories and Singapore’s leadership components are announcements, not operations [26][29].</a:t>
            </a:r>
          </a:p>
        </p:txBody>
      </p:sp>
      <p:sp>
        <p:nvSpPr>
          <p:cNvPr id="20" name="TextBox 19"/>
          <p:cNvSpPr txBox="1"/>
          <p:nvPr/>
        </p:nvSpPr>
        <p:spPr>
          <a:xfrm>
            <a:off x="2816900" y="2982214"/>
            <a:ext cx="91440" cy="169164"/>
          </a:xfrm>
          <a:prstGeom prst="rect">
            <a:avLst/>
          </a:prstGeom>
          <a:noFill/>
        </p:spPr>
        <p:txBody>
          <a:bodyPr wrap="square" lIns="0" rIns="0" tIns="0" bIns="0">
            <a:spAutoFit/>
          </a:bodyPr>
          <a:lstStyle/>
          <a:p>
            <a:pPr algn="ctr">
              <a:lnSpc>
                <a:spcPts val="1044"/>
              </a:lnSpc>
            </a:pPr>
            <a:r>
              <a:rPr sz="900" b="0">
                <a:solidFill>
                  <a:srgbClr val="7C32C9"/>
                </a:solidFill>
                <a:latin typeface="Diodrum Arabic SemiBold"/>
                <a:ea typeface="Diodrum Arabic SemiBold"/>
                <a:cs typeface="Diodrum Arabic SemiBold"/>
              </a:rPr>
              <a:t>•</a:t>
            </a:r>
          </a:p>
        </p:txBody>
      </p:sp>
      <p:sp>
        <p:nvSpPr>
          <p:cNvPr id="21" name="TextBox 20"/>
          <p:cNvSpPr txBox="1"/>
          <p:nvPr/>
        </p:nvSpPr>
        <p:spPr>
          <a:xfrm>
            <a:off x="2990636" y="2986786"/>
            <a:ext cx="1995586" cy="457199"/>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A dedicated protocol for Ministers and Excellency-rank leaders — absent outside closed sovereign formats [31].</a:t>
            </a:r>
          </a:p>
        </p:txBody>
      </p:sp>
      <p:sp>
        <p:nvSpPr>
          <p:cNvPr id="22" name="TextBox 21"/>
          <p:cNvSpPr txBox="1"/>
          <p:nvPr/>
        </p:nvSpPr>
        <p:spPr>
          <a:xfrm>
            <a:off x="2816900" y="3453130"/>
            <a:ext cx="91440" cy="169164"/>
          </a:xfrm>
          <a:prstGeom prst="rect">
            <a:avLst/>
          </a:prstGeom>
          <a:noFill/>
        </p:spPr>
        <p:txBody>
          <a:bodyPr wrap="square" lIns="0" rIns="0" tIns="0" bIns="0">
            <a:spAutoFit/>
          </a:bodyPr>
          <a:lstStyle/>
          <a:p>
            <a:pPr algn="ctr">
              <a:lnSpc>
                <a:spcPts val="1044"/>
              </a:lnSpc>
            </a:pPr>
            <a:r>
              <a:rPr sz="900" b="0">
                <a:solidFill>
                  <a:srgbClr val="7C32C9"/>
                </a:solidFill>
                <a:latin typeface="Diodrum Arabic SemiBold"/>
                <a:ea typeface="Diodrum Arabic SemiBold"/>
                <a:cs typeface="Diodrum Arabic SemiBold"/>
              </a:rPr>
              <a:t>•</a:t>
            </a:r>
          </a:p>
        </p:txBody>
      </p:sp>
      <p:sp>
        <p:nvSpPr>
          <p:cNvPr id="23" name="TextBox 22"/>
          <p:cNvSpPr txBox="1"/>
          <p:nvPr/>
        </p:nvSpPr>
        <p:spPr>
          <a:xfrm>
            <a:off x="2990636" y="3457702"/>
            <a:ext cx="1995586" cy="316991"/>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Saudi government cases: no provider announces accredited ones.</a:t>
            </a:r>
          </a:p>
        </p:txBody>
      </p:sp>
      <p:sp>
        <p:nvSpPr>
          <p:cNvPr id="24" name="TextBox 23"/>
          <p:cNvSpPr txBox="1"/>
          <p:nvPr/>
        </p:nvSpPr>
        <p:spPr>
          <a:xfrm>
            <a:off x="2816900" y="3783838"/>
            <a:ext cx="91440" cy="169164"/>
          </a:xfrm>
          <a:prstGeom prst="rect">
            <a:avLst/>
          </a:prstGeom>
          <a:noFill/>
        </p:spPr>
        <p:txBody>
          <a:bodyPr wrap="square" lIns="0" rIns="0" tIns="0" bIns="0">
            <a:spAutoFit/>
          </a:bodyPr>
          <a:lstStyle/>
          <a:p>
            <a:pPr algn="ctr">
              <a:lnSpc>
                <a:spcPts val="1044"/>
              </a:lnSpc>
            </a:pPr>
            <a:r>
              <a:rPr sz="900" b="0">
                <a:solidFill>
                  <a:srgbClr val="7C32C9"/>
                </a:solidFill>
                <a:latin typeface="Diodrum Arabic SemiBold"/>
                <a:ea typeface="Diodrum Arabic SemiBold"/>
                <a:cs typeface="Diodrum Arabic SemiBold"/>
              </a:rPr>
              <a:t>•</a:t>
            </a:r>
          </a:p>
        </p:txBody>
      </p:sp>
      <p:sp>
        <p:nvSpPr>
          <p:cNvPr id="25" name="TextBox 24"/>
          <p:cNvSpPr txBox="1"/>
          <p:nvPr/>
        </p:nvSpPr>
        <p:spPr>
          <a:xfrm>
            <a:off x="2990636" y="3788410"/>
            <a:ext cx="1995586" cy="457199"/>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Contractual confidentiality: open programmes publish no confidentiality framework.</a:t>
            </a:r>
          </a:p>
        </p:txBody>
      </p:sp>
      <p:sp>
        <p:nvSpPr>
          <p:cNvPr id="26" name="TextBox 25"/>
          <p:cNvSpPr txBox="1"/>
          <p:nvPr/>
        </p:nvSpPr>
        <p:spPr>
          <a:xfrm>
            <a:off x="2816900" y="4254754"/>
            <a:ext cx="91440" cy="169164"/>
          </a:xfrm>
          <a:prstGeom prst="rect">
            <a:avLst/>
          </a:prstGeom>
          <a:noFill/>
        </p:spPr>
        <p:txBody>
          <a:bodyPr wrap="square" lIns="0" rIns="0" tIns="0" bIns="0">
            <a:spAutoFit/>
          </a:bodyPr>
          <a:lstStyle/>
          <a:p>
            <a:pPr algn="ctr">
              <a:lnSpc>
                <a:spcPts val="1044"/>
              </a:lnSpc>
            </a:pPr>
            <a:r>
              <a:rPr sz="900" b="0">
                <a:solidFill>
                  <a:srgbClr val="7C32C9"/>
                </a:solidFill>
                <a:latin typeface="Diodrum Arabic SemiBold"/>
                <a:ea typeface="Diodrum Arabic SemiBold"/>
                <a:cs typeface="Diodrum Arabic SemiBold"/>
              </a:rPr>
              <a:t>•</a:t>
            </a:r>
          </a:p>
        </p:txBody>
      </p:sp>
      <p:sp>
        <p:nvSpPr>
          <p:cNvPr id="27" name="TextBox 26"/>
          <p:cNvSpPr txBox="1"/>
          <p:nvPr/>
        </p:nvSpPr>
        <p:spPr>
          <a:xfrm>
            <a:off x="2990636" y="4259326"/>
            <a:ext cx="1995586" cy="457199"/>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Post-programme follow-up: little beyond individual coaching (Partnership) and the “5 days + 90 days” model (MBRSG) [18][60].</a:t>
            </a:r>
          </a:p>
        </p:txBody>
      </p:sp>
      <p:sp>
        <p:nvSpPr>
          <p:cNvPr id="28" name="TextBox 27"/>
          <p:cNvSpPr txBox="1"/>
          <p:nvPr/>
        </p:nvSpPr>
        <p:spPr>
          <a:xfrm>
            <a:off x="2816900" y="4725670"/>
            <a:ext cx="91440" cy="169164"/>
          </a:xfrm>
          <a:prstGeom prst="rect">
            <a:avLst/>
          </a:prstGeom>
          <a:noFill/>
        </p:spPr>
        <p:txBody>
          <a:bodyPr wrap="square" lIns="0" rIns="0" tIns="0" bIns="0">
            <a:spAutoFit/>
          </a:bodyPr>
          <a:lstStyle/>
          <a:p>
            <a:pPr algn="ctr">
              <a:lnSpc>
                <a:spcPts val="1044"/>
              </a:lnSpc>
            </a:pPr>
            <a:r>
              <a:rPr sz="900" b="0">
                <a:solidFill>
                  <a:srgbClr val="7C32C9"/>
                </a:solidFill>
                <a:latin typeface="Diodrum Arabic SemiBold"/>
                <a:ea typeface="Diodrum Arabic SemiBold"/>
                <a:cs typeface="Diodrum Arabic SemiBold"/>
              </a:rPr>
              <a:t>•</a:t>
            </a:r>
          </a:p>
        </p:txBody>
      </p:sp>
      <p:sp>
        <p:nvSpPr>
          <p:cNvPr id="29" name="TextBox 28"/>
          <p:cNvSpPr txBox="1"/>
          <p:nvPr/>
        </p:nvSpPr>
        <p:spPr>
          <a:xfrm>
            <a:off x="2990636" y="4730242"/>
            <a:ext cx="1995586" cy="457199"/>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Measurement linked to decisions: the sole exception is the UK control-group pilot, described as inconclusive [40].</a:t>
            </a:r>
          </a:p>
        </p:txBody>
      </p:sp>
      <p:sp>
        <p:nvSpPr>
          <p:cNvPr id="30" name="TextBox 29"/>
          <p:cNvSpPr txBox="1"/>
          <p:nvPr/>
        </p:nvSpPr>
        <p:spPr>
          <a:xfrm>
            <a:off x="5187391" y="2013458"/>
            <a:ext cx="1807768" cy="316484"/>
          </a:xfrm>
          <a:prstGeom prst="rect">
            <a:avLst/>
          </a:prstGeom>
          <a:noFill/>
        </p:spPr>
        <p:txBody>
          <a:bodyPr wrap="square" lIns="0" rIns="0" tIns="0" bIns="0">
            <a:spAutoFit/>
          </a:bodyPr>
          <a:lstStyle/>
          <a:p>
            <a:pPr algn="l">
              <a:lnSpc>
                <a:spcPts val="1102"/>
              </a:lnSpc>
            </a:pPr>
            <a:r>
              <a:rPr sz="950" b="0" spc="70">
                <a:solidFill>
                  <a:srgbClr val="2A206A"/>
                </a:solidFill>
                <a:latin typeface="Diodrum Arabic SemiBold"/>
                <a:ea typeface="Diodrum Arabic SemiBold"/>
                <a:cs typeface="Diodrum Arabic SemiBold"/>
              </a:rPr>
              <a:t>NOT ESTABLISHED BY PUBLISHED EVIDENCE</a:t>
            </a:r>
          </a:p>
        </p:txBody>
      </p:sp>
      <p:sp>
        <p:nvSpPr>
          <p:cNvPr id="31" name="TextBox 30"/>
          <p:cNvSpPr txBox="1"/>
          <p:nvPr/>
        </p:nvSpPr>
        <p:spPr>
          <a:xfrm>
            <a:off x="5187391" y="2371090"/>
            <a:ext cx="91440" cy="169164"/>
          </a:xfrm>
          <a:prstGeom prst="rect">
            <a:avLst/>
          </a:prstGeom>
          <a:noFill/>
        </p:spPr>
        <p:txBody>
          <a:bodyPr wrap="square" lIns="0" rIns="0" tIns="0" bIns="0">
            <a:spAutoFit/>
          </a:bodyPr>
          <a:lstStyle/>
          <a:p>
            <a:pPr algn="ctr">
              <a:lnSpc>
                <a:spcPts val="1044"/>
              </a:lnSpc>
            </a:pPr>
            <a:r>
              <a:rPr sz="900" b="0">
                <a:solidFill>
                  <a:srgbClr val="2A206A"/>
                </a:solidFill>
                <a:latin typeface="Diodrum Arabic SemiBold"/>
                <a:ea typeface="Diodrum Arabic SemiBold"/>
                <a:cs typeface="Diodrum Arabic SemiBold"/>
              </a:rPr>
              <a:t>•</a:t>
            </a:r>
          </a:p>
        </p:txBody>
      </p:sp>
      <p:sp>
        <p:nvSpPr>
          <p:cNvPr id="32" name="TextBox 31"/>
          <p:cNvSpPr txBox="1"/>
          <p:nvPr/>
        </p:nvSpPr>
        <p:spPr>
          <a:xfrm>
            <a:off x="5361127" y="2375662"/>
            <a:ext cx="1634032" cy="316991"/>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The impact of programmes on the quality of government decisions.</a:t>
            </a:r>
          </a:p>
        </p:txBody>
      </p:sp>
      <p:sp>
        <p:nvSpPr>
          <p:cNvPr id="33" name="TextBox 32"/>
          <p:cNvSpPr txBox="1"/>
          <p:nvPr/>
        </p:nvSpPr>
        <p:spPr>
          <a:xfrm>
            <a:off x="5187391" y="2701798"/>
            <a:ext cx="91440" cy="169164"/>
          </a:xfrm>
          <a:prstGeom prst="rect">
            <a:avLst/>
          </a:prstGeom>
          <a:noFill/>
        </p:spPr>
        <p:txBody>
          <a:bodyPr wrap="square" lIns="0" rIns="0" tIns="0" bIns="0">
            <a:spAutoFit/>
          </a:bodyPr>
          <a:lstStyle/>
          <a:p>
            <a:pPr algn="ctr">
              <a:lnSpc>
                <a:spcPts val="1044"/>
              </a:lnSpc>
            </a:pPr>
            <a:r>
              <a:rPr sz="900" b="0">
                <a:solidFill>
                  <a:srgbClr val="2A206A"/>
                </a:solidFill>
                <a:latin typeface="Diodrum Arabic SemiBold"/>
                <a:ea typeface="Diodrum Arabic SemiBold"/>
                <a:cs typeface="Diodrum Arabic SemiBold"/>
              </a:rPr>
              <a:t>•</a:t>
            </a:r>
          </a:p>
        </p:txBody>
      </p:sp>
      <p:sp>
        <p:nvSpPr>
          <p:cNvPr id="34" name="TextBox 33"/>
          <p:cNvSpPr txBox="1"/>
          <p:nvPr/>
        </p:nvSpPr>
        <p:spPr>
          <a:xfrm>
            <a:off x="5361127" y="2706370"/>
            <a:ext cx="1634032" cy="316991"/>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Their impact on institutional performance or service quality.</a:t>
            </a:r>
          </a:p>
        </p:txBody>
      </p:sp>
      <p:sp>
        <p:nvSpPr>
          <p:cNvPr id="35" name="TextBox 34"/>
          <p:cNvSpPr txBox="1"/>
          <p:nvPr/>
        </p:nvSpPr>
        <p:spPr>
          <a:xfrm>
            <a:off x="5187391" y="3032506"/>
            <a:ext cx="91440" cy="169164"/>
          </a:xfrm>
          <a:prstGeom prst="rect">
            <a:avLst/>
          </a:prstGeom>
          <a:noFill/>
        </p:spPr>
        <p:txBody>
          <a:bodyPr wrap="square" lIns="0" rIns="0" tIns="0" bIns="0">
            <a:spAutoFit/>
          </a:bodyPr>
          <a:lstStyle/>
          <a:p>
            <a:pPr algn="ctr">
              <a:lnSpc>
                <a:spcPts val="1044"/>
              </a:lnSpc>
            </a:pPr>
            <a:r>
              <a:rPr sz="900" b="0">
                <a:solidFill>
                  <a:srgbClr val="2A206A"/>
                </a:solidFill>
                <a:latin typeface="Diodrum Arabic SemiBold"/>
                <a:ea typeface="Diodrum Arabic SemiBold"/>
                <a:cs typeface="Diodrum Arabic SemiBold"/>
              </a:rPr>
              <a:t>•</a:t>
            </a:r>
          </a:p>
        </p:txBody>
      </p:sp>
      <p:sp>
        <p:nvSpPr>
          <p:cNvPr id="36" name="TextBox 35"/>
          <p:cNvSpPr txBox="1"/>
          <p:nvPr/>
        </p:nvSpPr>
        <p:spPr>
          <a:xfrm>
            <a:off x="5361127" y="3037078"/>
            <a:ext cx="1634032" cy="316991"/>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The effectiveness of a single model for all four levels [51].</a:t>
            </a:r>
          </a:p>
        </p:txBody>
      </p:sp>
      <p:sp>
        <p:nvSpPr>
          <p:cNvPr id="37" name="Rounded Rectangle 36"/>
          <p:cNvSpPr/>
          <p:nvPr/>
        </p:nvSpPr>
        <p:spPr>
          <a:xfrm>
            <a:off x="566928" y="5374893"/>
            <a:ext cx="6428231" cy="1431226"/>
          </a:xfrm>
          <a:prstGeom prst="roundRect">
            <a:avLst>
              <a:gd name="adj" fmla="val 6388"/>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5557773"/>
            <a:ext cx="6062471" cy="191262"/>
          </a:xfrm>
          <a:prstGeom prst="rect">
            <a:avLst/>
          </a:prstGeom>
          <a:noFill/>
        </p:spPr>
        <p:txBody>
          <a:bodyPr wrap="square" lIns="0" rIns="0" tIns="0" bIns="0">
            <a:spAutoFit/>
          </a:bodyPr>
          <a:lstStyle/>
          <a:p>
            <a:pPr algn="l">
              <a:lnSpc>
                <a:spcPts val="1218"/>
              </a:lnSpc>
            </a:pPr>
            <a:r>
              <a:rPr sz="1050" b="0" spc="90">
                <a:solidFill>
                  <a:srgbClr val="D9F3EE"/>
                </a:solidFill>
                <a:latin typeface="Diodrum Arabic SemiBold"/>
                <a:ea typeface="Diodrum Arabic SemiBold"/>
                <a:cs typeface="Diodrum Arabic SemiBold"/>
              </a:rPr>
              <a:t>THE STRATEGIC OPENING</a:t>
            </a:r>
          </a:p>
        </p:txBody>
      </p:sp>
      <p:sp>
        <p:nvSpPr>
          <p:cNvPr id="39" name="TextBox 38"/>
          <p:cNvSpPr txBox="1"/>
          <p:nvPr/>
        </p:nvSpPr>
        <p:spPr>
          <a:xfrm>
            <a:off x="749808" y="5758179"/>
            <a:ext cx="6062471" cy="848106"/>
          </a:xfrm>
          <a:prstGeom prst="rect">
            <a:avLst/>
          </a:prstGeom>
          <a:noFill/>
        </p:spPr>
        <p:txBody>
          <a:bodyPr wrap="square" lIns="0" rIns="0" tIns="0" bIns="0">
            <a:spAutoFit/>
          </a:bodyPr>
          <a:lstStyle/>
          <a:p>
            <a:pPr algn="just">
              <a:lnSpc>
                <a:spcPts val="1278"/>
              </a:lnSpc>
            </a:pPr>
            <a:r>
              <a:rPr sz="900" b="0">
                <a:solidFill>
                  <a:srgbClr val="FFFFFF"/>
                </a:solidFill>
                <a:latin typeface="Diodrum Arabic"/>
                <a:ea typeface="Diodrum Arabic"/>
                <a:cs typeface="Diodrum Arabic"/>
              </a:rPr>
              <a:t>Content is no longer the problem — mature curricula are ready to buy. The design attributes the Kingdom needs (level gradation, the summit protocol, Saudi cases, confidentiality, follow-up, measurement) exist only as scattered elements no announced product has assembled. Most consequential: no one in the entire register holds a leadership programme of proven impact backed by independent evidence — whoever builds measurement from the first cohort gets ahead of the whole market [51].</a:t>
            </a:r>
          </a:p>
        </p:txBody>
      </p:sp>
      <p:sp>
        <p:nvSpPr>
          <p:cNvPr id="40" name="Rectangle 39"/>
          <p:cNvSpPr/>
          <p:nvPr/>
        </p:nvSpPr>
        <p:spPr>
          <a:xfrm>
            <a:off x="566928" y="6989000"/>
            <a:ext cx="45720" cy="405384"/>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8096" y="6998144"/>
            <a:ext cx="6199631" cy="387095"/>
          </a:xfrm>
          <a:prstGeom prst="rect">
            <a:avLst/>
          </a:prstGeom>
          <a:noFill/>
        </p:spPr>
        <p:txBody>
          <a:bodyPr wrap="square" lIns="0" rIns="0" tIns="0" bIns="0">
            <a:spAutoFit/>
          </a:bodyPr>
          <a:lstStyle/>
          <a:p>
            <a:pPr algn="l">
              <a:lnSpc>
                <a:spcPts val="1380"/>
              </a:lnSpc>
            </a:pPr>
            <a:r>
              <a:rPr sz="1000" b="0">
                <a:solidFill>
                  <a:srgbClr val="232046"/>
                </a:solidFill>
                <a:latin typeface="Diodrum Arabic SemiBold"/>
                <a:ea typeface="Diodrum Arabic SemiBold"/>
                <a:cs typeface="Diodrum Arabic SemiBold"/>
              </a:rPr>
              <a:t>What can be bought from this market, and what needs to be built, for each of the four levels? Section 04 answers.</a:t>
            </a:r>
          </a:p>
        </p:txBody>
      </p:sp>
      <p:sp>
        <p:nvSpPr>
          <p:cNvPr id="42" name="Rectangle 4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44" name="TextBox 43"/>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842769"/>
          </a:xfrm>
          <a:prstGeom prst="rect">
            <a:avLst/>
          </a:prstGeom>
          <a:gradFill rotWithShape="1">
            <a:gsLst>
              <a:gs pos="0">
                <a:srgbClr val="7C32C9"/>
              </a:gs>
              <a:gs pos="100000">
                <a:srgbClr val="2A206A"/>
              </a:gs>
            </a:gsLst>
            <a:lin scaled="0" ang="20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28231" cy="198628"/>
          </a:xfrm>
          <a:prstGeom prst="rect">
            <a:avLst/>
          </a:prstGeom>
          <a:noFill/>
        </p:spPr>
        <p:txBody>
          <a:bodyPr wrap="square" lIns="0" rIns="0" tIns="0" bIns="0">
            <a:spAutoFit/>
          </a:bodyPr>
          <a:lstStyle/>
          <a:p>
            <a:pPr algn="l">
              <a:lnSpc>
                <a:spcPts val="1276"/>
              </a:lnSpc>
            </a:pPr>
            <a:r>
              <a:rPr sz="1100" b="0" spc="160">
                <a:solidFill>
                  <a:srgbClr val="CEC6EC"/>
                </a:solidFill>
                <a:latin typeface="Diodrum Arabic SemiBold"/>
                <a:ea typeface="Diodrum Arabic SemiBold"/>
                <a:cs typeface="Diodrum Arabic SemiBold"/>
              </a:rPr>
              <a:t>SECTION 04</a:t>
            </a:r>
          </a:p>
        </p:txBody>
      </p:sp>
      <p:sp>
        <p:nvSpPr>
          <p:cNvPr id="4" name="TextBox 3"/>
          <p:cNvSpPr txBox="1"/>
          <p:nvPr/>
        </p:nvSpPr>
        <p:spPr>
          <a:xfrm>
            <a:off x="566928" y="694943"/>
            <a:ext cx="6428231" cy="366267"/>
          </a:xfrm>
          <a:prstGeom prst="rect">
            <a:avLst/>
          </a:prstGeom>
          <a:noFill/>
        </p:spPr>
        <p:txBody>
          <a:bodyPr wrap="square" lIns="0" rIns="0" tIns="0" bIns="0">
            <a:spAutoFit/>
          </a:bodyPr>
          <a:lstStyle/>
          <a:p>
            <a:pPr algn="l">
              <a:lnSpc>
                <a:spcPts val="2595"/>
              </a:lnSpc>
            </a:pPr>
            <a:r>
              <a:rPr sz="2200" b="1">
                <a:solidFill>
                  <a:srgbClr val="FFFFFF"/>
                </a:solidFill>
                <a:latin typeface="Diodrum Arabic"/>
                <a:ea typeface="Diodrum Arabic"/>
                <a:cs typeface="Diodrum Arabic"/>
              </a:rPr>
              <a:t>Availability by Leadership Level</a:t>
            </a:r>
          </a:p>
        </p:txBody>
      </p:sp>
      <p:sp>
        <p:nvSpPr>
          <p:cNvPr id="5" name="TextBox 4"/>
          <p:cNvSpPr txBox="1"/>
          <p:nvPr/>
        </p:nvSpPr>
        <p:spPr>
          <a:xfrm>
            <a:off x="566928" y="1116075"/>
            <a:ext cx="5513831" cy="379221"/>
          </a:xfrm>
          <a:prstGeom prst="rect">
            <a:avLst/>
          </a:prstGeom>
          <a:noFill/>
        </p:spPr>
        <p:txBody>
          <a:bodyPr wrap="square" lIns="0" rIns="0" tIns="0" bIns="0">
            <a:spAutoFit/>
          </a:bodyPr>
          <a:lstStyle/>
          <a:p>
            <a:pPr algn="l">
              <a:lnSpc>
                <a:spcPts val="1348"/>
              </a:lnSpc>
            </a:pPr>
            <a:r>
              <a:rPr sz="950" b="0">
                <a:solidFill>
                  <a:srgbClr val="DDDAF0"/>
                </a:solidFill>
                <a:latin typeface="Diodrum Arabic"/>
                <a:ea typeface="Diodrum Arabic"/>
                <a:cs typeface="Diodrum Arabic"/>
              </a:rPr>
              <a:t>What can actually be bought for each level, and what needs to be built — within the limits of what is published and documented up to 21 August 2026.</a:t>
            </a:r>
          </a:p>
        </p:txBody>
      </p:sp>
      <p:sp>
        <p:nvSpPr>
          <p:cNvPr id="6" name="Rectangle 5"/>
          <p:cNvSpPr/>
          <p:nvPr/>
        </p:nvSpPr>
        <p:spPr>
          <a:xfrm>
            <a:off x="566928"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2688"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98448"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64208" y="1623313"/>
            <a:ext cx="274320"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29968"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95728"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117089"/>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4.1 – 4.2  THE TOP TWO LEVELS</a:t>
            </a:r>
          </a:p>
        </p:txBody>
      </p:sp>
      <p:sp>
        <p:nvSpPr>
          <p:cNvPr id="13" name="TextBox 12"/>
          <p:cNvSpPr txBox="1"/>
          <p:nvPr/>
        </p:nvSpPr>
        <p:spPr>
          <a:xfrm>
            <a:off x="566928" y="2344927"/>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Build for Ministers; co-develop for Vice Ministers and Excellency-rank leaders</a:t>
            </a:r>
          </a:p>
        </p:txBody>
      </p:sp>
      <p:sp>
        <p:nvSpPr>
          <p:cNvPr id="14" name="Rounded Rectangle 13"/>
          <p:cNvSpPr/>
          <p:nvPr/>
        </p:nvSpPr>
        <p:spPr>
          <a:xfrm>
            <a:off x="566928" y="3015487"/>
            <a:ext cx="6428231" cy="1532001"/>
          </a:xfrm>
          <a:prstGeom prst="roundRect">
            <a:avLst>
              <a:gd name="adj" fmla="val 537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3161791"/>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280663"/>
            <a:ext cx="6135623" cy="199263"/>
          </a:xfrm>
          <a:prstGeom prst="rect">
            <a:avLst/>
          </a:prstGeom>
          <a:noFill/>
        </p:spPr>
        <p:txBody>
          <a:bodyPr wrap="square" lIns="0" rIns="0" tIns="0" bIns="0">
            <a:spAutoFit/>
          </a:bodyPr>
          <a:lstStyle/>
          <a:p>
            <a:pPr algn="l">
              <a:lnSpc>
                <a:spcPts val="1281"/>
              </a:lnSpc>
            </a:pPr>
            <a:r>
              <a:rPr sz="1050" b="0">
                <a:solidFill>
                  <a:srgbClr val="7C32C9"/>
                </a:solidFill>
                <a:latin typeface="Diodrum Arabic SemiBold"/>
                <a:ea typeface="Diodrum Arabic SemiBold"/>
                <a:cs typeface="Diodrum Arabic SemiBold"/>
              </a:rPr>
              <a:t>Level 1 — Ministers   ·   Verdict: build a locally owned Saudi format</a:t>
            </a:r>
          </a:p>
        </p:txBody>
      </p:sp>
      <p:sp>
        <p:nvSpPr>
          <p:cNvPr id="17" name="TextBox 16"/>
          <p:cNvSpPr txBox="1"/>
          <p:nvPr/>
        </p:nvSpPr>
        <p:spPr>
          <a:xfrm>
            <a:off x="713232" y="3507358"/>
            <a:ext cx="6135623" cy="930401"/>
          </a:xfrm>
          <a:prstGeom prst="rect">
            <a:avLst/>
          </a:prstGeom>
          <a:noFill/>
        </p:spPr>
        <p:txBody>
          <a:bodyPr wrap="square" lIns="0" rIns="0" tIns="0" bIns="0">
            <a:spAutoFit/>
          </a:bodyPr>
          <a:lstStyle/>
          <a:p>
            <a:pPr algn="just">
              <a:lnSpc>
                <a:spcPts val="1172"/>
              </a:lnSpc>
            </a:pPr>
            <a:r>
              <a:rPr sz="850" b="0">
                <a:solidFill>
                  <a:srgbClr val="474956"/>
                </a:solidFill>
                <a:latin typeface="Diodrum Arabic"/>
                <a:ea typeface="Diodrum Arabic"/>
                <a:cs typeface="Diodrum Arabic"/>
              </a:rPr>
              <a:t>The review did not identify an open programme designed for ministers as the primary category. Documented ministerial coverage appears in closed, governmental, or specially arranged formats: Ghana’s closed residential bootcamp with UNDP [31]; the UAE’s closed national forum reviewing flagship AI projects [28]; and the Kingdom’s own delegation, including ministers, to Stanford in November 2025 [55]. The absence has a structural explanation: the category’s protocol — confidential deliberations, very small numbers, content tied to live decisions — is incompatible with an open-course format anyone can pay to enter. This level is a build decision, not a longer search of provider catalogues.</a:t>
            </a:r>
          </a:p>
        </p:txBody>
      </p:sp>
      <p:sp>
        <p:nvSpPr>
          <p:cNvPr id="18" name="Rounded Rectangle 17"/>
          <p:cNvSpPr/>
          <p:nvPr/>
        </p:nvSpPr>
        <p:spPr>
          <a:xfrm>
            <a:off x="566928" y="4693792"/>
            <a:ext cx="6428231" cy="1532001"/>
          </a:xfrm>
          <a:prstGeom prst="roundRect">
            <a:avLst>
              <a:gd name="adj" fmla="val 537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4840096"/>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958968"/>
            <a:ext cx="6135623" cy="199263"/>
          </a:xfrm>
          <a:prstGeom prst="rect">
            <a:avLst/>
          </a:prstGeom>
          <a:noFill/>
        </p:spPr>
        <p:txBody>
          <a:bodyPr wrap="square" lIns="0" rIns="0" tIns="0" bIns="0">
            <a:spAutoFit/>
          </a:bodyPr>
          <a:lstStyle/>
          <a:p>
            <a:pPr algn="l">
              <a:lnSpc>
                <a:spcPts val="1281"/>
              </a:lnSpc>
            </a:pPr>
            <a:r>
              <a:rPr sz="1050" b="0">
                <a:solidFill>
                  <a:srgbClr val="2A206A"/>
                </a:solidFill>
                <a:latin typeface="Diodrum Arabic SemiBold"/>
                <a:ea typeface="Diodrum Arabic SemiBold"/>
                <a:cs typeface="Diodrum Arabic SemiBold"/>
              </a:rPr>
              <a:t>Level 2 — Vice Ministers and Excellency-Rank Leaders   ·   Verdict: co-develop with a trusted partner</a:t>
            </a:r>
          </a:p>
        </p:txBody>
      </p:sp>
      <p:sp>
        <p:nvSpPr>
          <p:cNvPr id="21" name="TextBox 20"/>
          <p:cNvSpPr txBox="1"/>
          <p:nvPr/>
        </p:nvSpPr>
        <p:spPr>
          <a:xfrm>
            <a:off x="713232" y="5185663"/>
            <a:ext cx="6135623" cy="930401"/>
          </a:xfrm>
          <a:prstGeom prst="rect">
            <a:avLst/>
          </a:prstGeom>
          <a:noFill/>
        </p:spPr>
        <p:txBody>
          <a:bodyPr wrap="square" lIns="0" rIns="0" tIns="0" bIns="0">
            <a:spAutoFit/>
          </a:bodyPr>
          <a:lstStyle/>
          <a:p>
            <a:pPr algn="just">
              <a:lnSpc>
                <a:spcPts val="1172"/>
              </a:lnSpc>
            </a:pPr>
            <a:r>
              <a:rPr sz="850" b="0">
                <a:solidFill>
                  <a:srgbClr val="474956"/>
                </a:solidFill>
                <a:latin typeface="Diodrum Arabic"/>
                <a:ea typeface="Diodrum Arabic"/>
                <a:cs typeface="Diodrum Arabic"/>
              </a:rPr>
              <a:t>Selective programmes accept senior government leaders — certain MBZUAI programmes [32] and Oxford’s Blavatnik programme [35] — but they are not designed exclusively for vice ministers, governors, and assistant ministers, and do not necessarily include Saudi cases or a local protocol for confidentiality and measurement. GAILP and the MBZUAI Executive Program (MEP) [34] offer a high-level selective residency, yet their cases and contractual controls remain the provider’s property, designed for a broader regional audience. Real but incomplete value — the fit is co-development: a trusted international or regional partner, and a Saudi owner controlling cases, confidentiality, and measurement.</a:t>
            </a:r>
          </a:p>
        </p:txBody>
      </p:sp>
      <p:sp>
        <p:nvSpPr>
          <p:cNvPr id="22" name="Rectangle 2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24" name="TextBox 23"/>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04 · 4.3 – 4.4  THE EXECUTION LEVELS</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Procure and adapt for Level 3; license and scale for Level 4</a:t>
            </a:r>
          </a:p>
        </p:txBody>
      </p:sp>
      <p:sp>
        <p:nvSpPr>
          <p:cNvPr id="4" name="Rounded Rectangle 3"/>
          <p:cNvSpPr/>
          <p:nvPr/>
        </p:nvSpPr>
        <p:spPr>
          <a:xfrm>
            <a:off x="566928" y="1401318"/>
            <a:ext cx="6428231" cy="1383030"/>
          </a:xfrm>
          <a:prstGeom prst="roundRect">
            <a:avLst>
              <a:gd name="adj" fmla="val 595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 y="1547622"/>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666494"/>
            <a:ext cx="6135623" cy="199263"/>
          </a:xfrm>
          <a:prstGeom prst="rect">
            <a:avLst/>
          </a:prstGeom>
          <a:noFill/>
        </p:spPr>
        <p:txBody>
          <a:bodyPr wrap="square" lIns="0" rIns="0" tIns="0" bIns="0">
            <a:spAutoFit/>
          </a:bodyPr>
          <a:lstStyle/>
          <a:p>
            <a:pPr algn="l">
              <a:lnSpc>
                <a:spcPts val="1281"/>
              </a:lnSpc>
            </a:pPr>
            <a:r>
              <a:rPr sz="1050" b="0">
                <a:solidFill>
                  <a:srgbClr val="00ABAF"/>
                </a:solidFill>
                <a:latin typeface="Diodrum Arabic SemiBold"/>
                <a:ea typeface="Diodrum Arabic SemiBold"/>
                <a:cs typeface="Diodrum Arabic SemiBold"/>
              </a:rPr>
              <a:t>Level 3 — Deputy Ministers and Deputy Governors   ·   Verdict: verify, procure, adapt</a:t>
            </a:r>
          </a:p>
        </p:txBody>
      </p:sp>
      <p:sp>
        <p:nvSpPr>
          <p:cNvPr id="7" name="TextBox 6"/>
          <p:cNvSpPr txBox="1"/>
          <p:nvPr/>
        </p:nvSpPr>
        <p:spPr>
          <a:xfrm>
            <a:off x="713232" y="1893189"/>
            <a:ext cx="6135623" cy="781430"/>
          </a:xfrm>
          <a:prstGeom prst="rect">
            <a:avLst/>
          </a:prstGeom>
          <a:noFill/>
        </p:spPr>
        <p:txBody>
          <a:bodyPr wrap="square" lIns="0" rIns="0" tIns="0" bIns="0">
            <a:spAutoFit/>
          </a:bodyPr>
          <a:lstStyle/>
          <a:p>
            <a:pPr algn="just">
              <a:lnSpc>
                <a:spcPts val="1172"/>
              </a:lnSpc>
            </a:pPr>
            <a:r>
              <a:rPr sz="850" b="0">
                <a:solidFill>
                  <a:srgbClr val="474956"/>
                </a:solidFill>
                <a:latin typeface="Diodrum Arabic"/>
                <a:ea typeface="Diodrum Arabic"/>
                <a:cs typeface="Diodrum Arabic"/>
              </a:rPr>
              <a:t>A larger set of applied government programmes serves this level, especially in the US and UK. The AI Government Leadership Program offers free cohorts of 25–30 government leaders with an application roadmap per participant [18]; Johns Hopkins offers a blended ten-week programme for senior federal leaders [22]; Egypt launched a national Arabic-language initiative for entity leaders [43]. This layer changes the nature of the Saudi decision: from a costly, lengthy build to verify-and-adapt — buy models or seats to verify design quality and fit, then adapt for local delivery with Saudi cases and a unified measurement framework.</a:t>
            </a:r>
          </a:p>
        </p:txBody>
      </p:sp>
      <p:sp>
        <p:nvSpPr>
          <p:cNvPr id="8" name="Rounded Rectangle 7"/>
          <p:cNvSpPr/>
          <p:nvPr/>
        </p:nvSpPr>
        <p:spPr>
          <a:xfrm>
            <a:off x="566928" y="2930652"/>
            <a:ext cx="6428231" cy="1694688"/>
          </a:xfrm>
          <a:prstGeom prst="roundRect">
            <a:avLst>
              <a:gd name="adj" fmla="val 4856"/>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 y="3076956"/>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195828"/>
            <a:ext cx="6135623" cy="361950"/>
          </a:xfrm>
          <a:prstGeom prst="rect">
            <a:avLst/>
          </a:prstGeom>
          <a:noFill/>
        </p:spPr>
        <p:txBody>
          <a:bodyPr wrap="square" lIns="0" rIns="0" tIns="0" bIns="0">
            <a:spAutoFit/>
          </a:bodyPr>
          <a:lstStyle/>
          <a:p>
            <a:pPr algn="l">
              <a:lnSpc>
                <a:spcPts val="1281"/>
              </a:lnSpc>
            </a:pPr>
            <a:r>
              <a:rPr sz="1050" b="0">
                <a:solidFill>
                  <a:srgbClr val="1CC182"/>
                </a:solidFill>
                <a:latin typeface="Diodrum Arabic SemiBold"/>
                <a:ea typeface="Diodrum Arabic SemiBold"/>
                <a:cs typeface="Diodrum Arabic SemiBold"/>
              </a:rPr>
              <a:t>Level 4 — Assistant Deputy Ministers and Equivalent Executive Leaders   ·   Verdict: license, localise, scale</a:t>
            </a:r>
          </a:p>
        </p:txBody>
      </p:sp>
      <p:sp>
        <p:nvSpPr>
          <p:cNvPr id="11" name="TextBox 10"/>
          <p:cNvSpPr txBox="1"/>
          <p:nvPr/>
        </p:nvSpPr>
        <p:spPr>
          <a:xfrm>
            <a:off x="713232" y="3585210"/>
            <a:ext cx="6135623" cy="930401"/>
          </a:xfrm>
          <a:prstGeom prst="rect">
            <a:avLst/>
          </a:prstGeom>
          <a:noFill/>
        </p:spPr>
        <p:txBody>
          <a:bodyPr wrap="square" lIns="0" rIns="0" tIns="0" bIns="0">
            <a:spAutoFit/>
          </a:bodyPr>
          <a:lstStyle/>
          <a:p>
            <a:pPr algn="just">
              <a:lnSpc>
                <a:spcPts val="1172"/>
              </a:lnSpc>
            </a:pPr>
            <a:r>
              <a:rPr sz="850" b="0">
                <a:solidFill>
                  <a:srgbClr val="474956"/>
                </a:solidFill>
                <a:latin typeface="Diodrum Arabic"/>
                <a:ea typeface="Diodrum Arabic"/>
                <a:cs typeface="Diodrum Arabic"/>
              </a:rPr>
              <a:t>Broad content and digital and blended programmes are available: major business schools’ online courses [61]; the free, licensable baseline from Apolitical — which the UAE made mandatory for all federal employees [48]; and SDAIA’s accumulated national content [52]. The challenge is not a shortage of content but selecting the right content and linking it to application, compliance, and performance measurement; abundant material unlinked to job appraisal produces learning hours, not changed practice. Qudratak’s contribution here is organisational first: select, license, localise, and link completion to performance indicators.</a:t>
            </a:r>
          </a:p>
        </p:txBody>
      </p:sp>
      <p:sp>
        <p:nvSpPr>
          <p:cNvPr id="12" name="Rectangle 1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14" name="TextBox 13"/>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04 · 4.5  OVERALL AVAILABILITY SUMMARY</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The ease of buying a ready-made programme falls as the level rises</a:t>
            </a:r>
          </a:p>
        </p:txBody>
      </p:sp>
      <p:sp>
        <p:nvSpPr>
          <p:cNvPr id="4" name="TextBox 3"/>
          <p:cNvSpPr txBox="1"/>
          <p:nvPr/>
        </p:nvSpPr>
        <p:spPr>
          <a:xfrm>
            <a:off x="566928" y="1401318"/>
            <a:ext cx="6428231" cy="205486"/>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Levels 1 and 2 require building and customisation; Levels 3 and 4 can be procured, adapted, and licensed.</a:t>
            </a:r>
          </a:p>
        </p:txBody>
      </p:sp>
      <p:sp>
        <p:nvSpPr>
          <p:cNvPr id="5" name="Rectangle 4"/>
          <p:cNvSpPr/>
          <p:nvPr/>
        </p:nvSpPr>
        <p:spPr>
          <a:xfrm>
            <a:off x="566928" y="166166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844548"/>
          <a:ext cx="6428230" cy="3315716"/>
        </p:xfrm>
        <a:graphic>
          <a:graphicData uri="http://schemas.openxmlformats.org/drawingml/2006/table">
            <a:tbl>
              <a:tblPr firstRow="1" bandRow="0"/>
              <a:tblGrid>
                <a:gridCol w="899952"/>
                <a:gridCol w="1092799"/>
                <a:gridCol w="1671340"/>
                <a:gridCol w="835670"/>
                <a:gridCol w="899952"/>
                <a:gridCol w="1028517"/>
              </a:tblGrid>
              <a:tr h="383540">
                <a:tc>
                  <a:txBody>
                    <a:bodyPr wrap="square"/>
                    <a:lstStyle/>
                    <a:p>
                      <a:pPr algn="l">
                        <a:lnSpc>
                          <a:spcPts val="1024"/>
                        </a:lnSpc>
                      </a:pPr>
                      <a:r>
                        <a:rPr sz="800" b="0">
                          <a:solidFill>
                            <a:srgbClr val="FFFFFF"/>
                          </a:solidFill>
                          <a:latin typeface="Diodrum Arabic SemiBold"/>
                          <a:ea typeface="Diodrum Arabic SemiBold"/>
                          <a:cs typeface="Diodrum Arabic SemiBold"/>
                        </a:rPr>
                        <a:t>Level</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Dedicated programme?</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Best documented examples</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Duration</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Delivery</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Price</a:t>
                      </a:r>
                    </a:p>
                  </a:txBody>
                  <a:tcPr marL="64008" marR="64008" marT="41148" marB="41148" anchor="ctr">
                    <a:solidFill>
                      <a:srgbClr val="241A5E"/>
                    </a:solidFill>
                  </a:tcPr>
                </a:tc>
              </a:tr>
              <a:tr h="611124">
                <a:tc>
                  <a:txBody>
                    <a:bodyPr wrap="square"/>
                    <a:lstStyle/>
                    <a:p>
                      <a:pPr algn="l">
                        <a:lnSpc>
                          <a:spcPts val="960"/>
                        </a:lnSpc>
                      </a:pPr>
                      <a:r>
                        <a:rPr sz="750" b="0">
                          <a:solidFill>
                            <a:srgbClr val="232046"/>
                          </a:solidFill>
                          <a:latin typeface="Diodrum Arabic SemiBold"/>
                          <a:ea typeface="Diodrum Arabic SemiBold"/>
                          <a:cs typeface="Diodrum Arabic SemiBold"/>
                        </a:rPr>
                        <a:t>1 — Ministers</a:t>
                      </a:r>
                    </a:p>
                  </a:txBody>
                  <a:tcPr marL="64008" marR="64008" marT="41148" marB="41148" anchor="ctr">
                    <a:solidFill>
                      <a:srgbClr val="ECE0F8"/>
                    </a:solidFill>
                  </a:tcPr>
                </a:tc>
                <a:tc>
                  <a:txBody>
                    <a:bodyPr wrap="square"/>
                    <a:lstStyle/>
                    <a:p>
                      <a:pPr algn="l">
                        <a:lnSpc>
                          <a:spcPts val="960"/>
                        </a:lnSpc>
                      </a:pPr>
                      <a:r>
                        <a:rPr sz="750" b="0">
                          <a:solidFill>
                            <a:srgbClr val="474956"/>
                          </a:solidFill>
                          <a:latin typeface="Diodrum Arabic"/>
                          <a:ea typeface="Diodrum Arabic"/>
                          <a:cs typeface="Diodrum Arabic"/>
                        </a:rPr>
                        <a:t>Not in the open market; closed or sovereign coverage only</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Ghana ministerial bootcamp [31]; UAE national forum [28]; SDAIA delegation at Stanford [55]</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Short sessions to a 3-day residency</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Closed, sovereign, or special arrangement</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Not announced; not openly purchasable</a:t>
                      </a:r>
                    </a:p>
                  </a:txBody>
                  <a:tcPr marL="64008" marR="64008" marT="41148" marB="41148" anchor="ctr">
                    <a:solidFill>
                      <a:srgbClr val="FFFFFF"/>
                    </a:solidFill>
                  </a:tcPr>
                </a:tc>
              </a:tr>
              <a:tr h="854964">
                <a:tc>
                  <a:txBody>
                    <a:bodyPr wrap="square"/>
                    <a:lstStyle/>
                    <a:p>
                      <a:pPr algn="l">
                        <a:lnSpc>
                          <a:spcPts val="960"/>
                        </a:lnSpc>
                      </a:pPr>
                      <a:r>
                        <a:rPr sz="750" b="0">
                          <a:solidFill>
                            <a:srgbClr val="232046"/>
                          </a:solidFill>
                          <a:latin typeface="Diodrum Arabic SemiBold"/>
                          <a:ea typeface="Diodrum Arabic SemiBold"/>
                          <a:cs typeface="Diodrum Arabic SemiBold"/>
                        </a:rPr>
                        <a:t>2 — Vice Ministers and Excellency-rank</a:t>
                      </a:r>
                    </a:p>
                  </a:txBody>
                  <a:tcPr marL="64008" marR="64008" marT="41148" marB="41148" anchor="ctr">
                    <a:solidFill>
                      <a:srgbClr val="E2E0F0"/>
                    </a:solidFill>
                  </a:tcPr>
                </a:tc>
                <a:tc>
                  <a:txBody>
                    <a:bodyPr wrap="square"/>
                    <a:lstStyle/>
                    <a:p>
                      <a:pPr algn="l">
                        <a:lnSpc>
                          <a:spcPts val="960"/>
                        </a:lnSpc>
                      </a:pPr>
                      <a:r>
                        <a:rPr sz="750" b="0">
                          <a:solidFill>
                            <a:srgbClr val="474956"/>
                          </a:solidFill>
                          <a:latin typeface="Diodrum Arabic"/>
                          <a:ea typeface="Diodrum Arabic"/>
                          <a:cs typeface="Diodrum Arabic"/>
                        </a:rPr>
                        <a:t>Limited evidence via selective programmes not exclusive to this category</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GAILP (MBZUAI) [32]; Leading AI through Co-Creation (Blavatnik) [35]; MEP [34]</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5–6 days residential; 16 weeks (MEP)</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Open selective residency, or internally restricted</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AED 45,000 ≈ SAR 45,950 (GAILP); £10,250 ≈ SAR 52,271 (Blavatnik); AED 35,000 ≈ SAR 35,739 (MEP)</a:t>
                      </a:r>
                    </a:p>
                  </a:txBody>
                  <a:tcPr marL="64008" marR="64008" marT="41148" marB="41148" anchor="ctr">
                    <a:solidFill>
                      <a:srgbClr val="F4F4F9"/>
                    </a:solidFill>
                  </a:tcPr>
                </a:tc>
              </a:tr>
              <a:tr h="854964">
                <a:tc>
                  <a:txBody>
                    <a:bodyPr wrap="square"/>
                    <a:lstStyle/>
                    <a:p>
                      <a:pPr algn="l">
                        <a:lnSpc>
                          <a:spcPts val="960"/>
                        </a:lnSpc>
                      </a:pPr>
                      <a:r>
                        <a:rPr sz="750" b="0">
                          <a:solidFill>
                            <a:srgbClr val="232046"/>
                          </a:solidFill>
                          <a:latin typeface="Diodrum Arabic SemiBold"/>
                          <a:ea typeface="Diodrum Arabic SemiBold"/>
                          <a:cs typeface="Diodrum Arabic SemiBold"/>
                        </a:rPr>
                        <a:t>3 — Deputy Ministers and Deputy Governors</a:t>
                      </a:r>
                    </a:p>
                  </a:txBody>
                  <a:tcPr marL="64008" marR="64008" marT="41148" marB="41148" anchor="ctr">
                    <a:solidFill>
                      <a:srgbClr val="D9F1F2"/>
                    </a:solidFill>
                  </a:tcPr>
                </a:tc>
                <a:tc>
                  <a:txBody>
                    <a:bodyPr wrap="square"/>
                    <a:lstStyle/>
                    <a:p>
                      <a:pPr algn="l">
                        <a:lnSpc>
                          <a:spcPts val="960"/>
                        </a:lnSpc>
                      </a:pPr>
                      <a:r>
                        <a:rPr sz="750" b="0">
                          <a:solidFill>
                            <a:srgbClr val="474956"/>
                          </a:solidFill>
                          <a:latin typeface="Diodrum Arabic"/>
                          <a:ea typeface="Diodrum Arabic"/>
                          <a:cs typeface="Diodrum Arabic"/>
                        </a:rPr>
                        <a:t>Yes — the broadest dedicated layer in the market</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Free AI GLP, cohorts of 25–30 [18]; Johns Hopkins federal programme [22]; Egypt’s Arabic initiative [43]</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4–10 blended weeks, up to several months</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Guided blended cohorts, employer-restricted or open</a:t>
                      </a:r>
                    </a:p>
                  </a:txBody>
                  <a:tcPr marL="64008" marR="64008" marT="41148" marB="41148" anchor="ctr">
                    <a:solidFill>
                      <a:srgbClr val="FFFFFF"/>
                    </a:solidFill>
                  </a:tcPr>
                </a:tc>
                <a:tc>
                  <a:txBody>
                    <a:bodyPr wrap="square"/>
                    <a:lstStyle/>
                    <a:p>
                      <a:pPr algn="l">
                        <a:lnSpc>
                          <a:spcPts val="960"/>
                        </a:lnSpc>
                      </a:pPr>
                      <a:r>
                        <a:rPr sz="750" b="0">
                          <a:solidFill>
                            <a:srgbClr val="474956"/>
                          </a:solidFill>
                          <a:latin typeface="Diodrum Arabic"/>
                          <a:ea typeface="Diodrum Arabic"/>
                          <a:cs typeface="Diodrum Arabic"/>
                        </a:rPr>
                        <a:t>Free to US$2,450 ≈ SAR 9,188 (Johns Hopkins, to be reconfirmed); major open programmes far higher</a:t>
                      </a:r>
                    </a:p>
                  </a:txBody>
                  <a:tcPr marL="64008" marR="64008" marT="41148" marB="41148" anchor="ctr">
                    <a:solidFill>
                      <a:srgbClr val="FFFFFF"/>
                    </a:solidFill>
                  </a:tcPr>
                </a:tc>
              </a:tr>
              <a:tr h="611124">
                <a:tc>
                  <a:txBody>
                    <a:bodyPr wrap="square"/>
                    <a:lstStyle/>
                    <a:p>
                      <a:pPr algn="l">
                        <a:lnSpc>
                          <a:spcPts val="960"/>
                        </a:lnSpc>
                      </a:pPr>
                      <a:r>
                        <a:rPr sz="750" b="0">
                          <a:solidFill>
                            <a:srgbClr val="232046"/>
                          </a:solidFill>
                          <a:latin typeface="Diodrum Arabic SemiBold"/>
                          <a:ea typeface="Diodrum Arabic SemiBold"/>
                          <a:cs typeface="Diodrum Arabic SemiBold"/>
                        </a:rPr>
                        <a:t>4 — Assistant Deputy Ministers and executive leaders</a:t>
                      </a:r>
                    </a:p>
                  </a:txBody>
                  <a:tcPr marL="64008" marR="64008" marT="41148" marB="41148" anchor="ctr">
                    <a:solidFill>
                      <a:srgbClr val="DDF5EA"/>
                    </a:solidFill>
                  </a:tcPr>
                </a:tc>
                <a:tc>
                  <a:txBody>
                    <a:bodyPr wrap="square"/>
                    <a:lstStyle/>
                    <a:p>
                      <a:pPr algn="l">
                        <a:lnSpc>
                          <a:spcPts val="960"/>
                        </a:lnSpc>
                      </a:pPr>
                      <a:r>
                        <a:rPr sz="750" b="0">
                          <a:solidFill>
                            <a:srgbClr val="474956"/>
                          </a:solidFill>
                          <a:latin typeface="Diodrum Arabic"/>
                          <a:ea typeface="Diodrum Arabic"/>
                          <a:cs typeface="Diodrum Arabic"/>
                        </a:rPr>
                        <a:t>Yes — broad content in multiple formats</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Oxford Saïd online courses [61]; Apolitical licensable baseline [48]; national platforms and SDAIA content [52]</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Short units to 6-week online courses</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Self-paced or guided online</a:t>
                      </a:r>
                    </a:p>
                  </a:txBody>
                  <a:tcPr marL="64008" marR="64008" marT="41148" marB="41148" anchor="ctr">
                    <a:solidFill>
                      <a:srgbClr val="F4F4F9"/>
                    </a:solidFill>
                  </a:tcPr>
                </a:tc>
                <a:tc>
                  <a:txBody>
                    <a:bodyPr wrap="square"/>
                    <a:lstStyle/>
                    <a:p>
                      <a:pPr algn="l">
                        <a:lnSpc>
                          <a:spcPts val="960"/>
                        </a:lnSpc>
                      </a:pPr>
                      <a:r>
                        <a:rPr sz="750" b="0">
                          <a:solidFill>
                            <a:srgbClr val="474956"/>
                          </a:solidFill>
                          <a:latin typeface="Diodrum Arabic"/>
                          <a:ea typeface="Diodrum Arabic"/>
                          <a:cs typeface="Diodrum Arabic"/>
                        </a:rPr>
                        <a:t>From zero to £2,450 ≈ SAR 12,494</a:t>
                      </a:r>
                    </a:p>
                  </a:txBody>
                  <a:tcPr marL="64008" marR="64008" marT="41148" marB="41148" anchor="ctr">
                    <a:solidFill>
                      <a:srgbClr val="F4F4F9"/>
                    </a:solidFill>
                  </a:tcPr>
                </a:tc>
              </a:tr>
            </a:tbl>
          </a:graphicData>
        </a:graphic>
      </p:graphicFrame>
      <p:sp>
        <p:nvSpPr>
          <p:cNvPr id="7" name="Rounded Rectangle 6"/>
          <p:cNvSpPr/>
          <p:nvPr/>
        </p:nvSpPr>
        <p:spPr>
          <a:xfrm>
            <a:off x="566928" y="5306568"/>
            <a:ext cx="6428231" cy="1394650"/>
          </a:xfrm>
          <a:prstGeom prst="roundRect">
            <a:avLst>
              <a:gd name="adj" fmla="val 590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471160"/>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A STRUCTURAL PATTERN, NOT A MARKET COINCIDENCE</a:t>
            </a:r>
          </a:p>
        </p:txBody>
      </p:sp>
      <p:sp>
        <p:nvSpPr>
          <p:cNvPr id="9" name="TextBox 8"/>
          <p:cNvSpPr txBox="1"/>
          <p:nvPr/>
        </p:nvSpPr>
        <p:spPr>
          <a:xfrm>
            <a:off x="731520" y="5680710"/>
            <a:ext cx="6099047" cy="848106"/>
          </a:xfrm>
          <a:prstGeom prst="rect">
            <a:avLst/>
          </a:prstGeom>
          <a:noFill/>
        </p:spPr>
        <p:txBody>
          <a:bodyPr wrap="square" lIns="0" rIns="0" tIns="0" bIns="0">
            <a:spAutoFit/>
          </a:bodyPr>
          <a:lstStyle/>
          <a:p>
            <a:pPr algn="just">
              <a:lnSpc>
                <a:spcPts val="1278"/>
              </a:lnSpc>
            </a:pPr>
            <a:r>
              <a:rPr sz="900" b="0">
                <a:solidFill>
                  <a:srgbClr val="474956"/>
                </a:solidFill>
                <a:latin typeface="Diodrum Arabic"/>
                <a:ea typeface="Diodrum Arabic"/>
                <a:cs typeface="Diodrum Arabic"/>
              </a:rPr>
              <a:t>The titles “vice minister”, “governor”, and “assistant minister” appear explicitly in no documented programme’s announced audience; actual coverage arrives through functional equivalents — permanent secretaries in the UK programme [30], deputy ministers in the UAE executive programme [34], GS-15 and SES grades in the US programmes [18]. The gap at Levels 1–2 is therefore presentational more than cognitive — session confidentiality, small cohorts, trusted government cases, decision relevance — since suitable content exists in the market and can be obtained [62].</a:t>
            </a:r>
          </a:p>
        </p:txBody>
      </p:sp>
      <p:sp>
        <p:nvSpPr>
          <p:cNvPr id="10" name="Rectangle 9"/>
          <p:cNvSpPr/>
          <p:nvPr/>
        </p:nvSpPr>
        <p:spPr>
          <a:xfrm>
            <a:off x="566928" y="6884098"/>
            <a:ext cx="45720" cy="230123"/>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6893242"/>
            <a:ext cx="6199631" cy="211836"/>
          </a:xfrm>
          <a:prstGeom prst="rect">
            <a:avLst/>
          </a:prstGeom>
          <a:noFill/>
        </p:spPr>
        <p:txBody>
          <a:bodyPr wrap="square" lIns="0" rIns="0" tIns="0" bIns="0">
            <a:spAutoFit/>
          </a:bodyPr>
          <a:lstStyle/>
          <a:p>
            <a:pPr algn="l">
              <a:lnSpc>
                <a:spcPts val="1380"/>
              </a:lnSpc>
            </a:pPr>
            <a:r>
              <a:rPr sz="1000" b="0">
                <a:solidFill>
                  <a:srgbClr val="232046"/>
                </a:solidFill>
                <a:latin typeface="Diodrum Arabic SemiBold"/>
                <a:ea typeface="Diodrum Arabic SemiBold"/>
                <a:cs typeface="Diodrum Arabic SemiBold"/>
              </a:rPr>
              <a:t>On this conclusion, Section 05 builds the proposed model for the Kingdom.</a:t>
            </a:r>
          </a:p>
        </p:txBody>
      </p:sp>
      <p:sp>
        <p:nvSpPr>
          <p:cNvPr id="12" name="Rectangle 1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14" name="TextBox 13"/>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842769"/>
          </a:xfrm>
          <a:prstGeom prst="rect">
            <a:avLst/>
          </a:prstGeom>
          <a:gradFill rotWithShape="1">
            <a:gsLst>
              <a:gs pos="0">
                <a:srgbClr val="7C32C9"/>
              </a:gs>
              <a:gs pos="100000">
                <a:srgbClr val="2A206A"/>
              </a:gs>
            </a:gsLst>
            <a:lin scaled="0" ang="20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28231" cy="198628"/>
          </a:xfrm>
          <a:prstGeom prst="rect">
            <a:avLst/>
          </a:prstGeom>
          <a:noFill/>
        </p:spPr>
        <p:txBody>
          <a:bodyPr wrap="square" lIns="0" rIns="0" tIns="0" bIns="0">
            <a:spAutoFit/>
          </a:bodyPr>
          <a:lstStyle/>
          <a:p>
            <a:pPr algn="l">
              <a:lnSpc>
                <a:spcPts val="1276"/>
              </a:lnSpc>
            </a:pPr>
            <a:r>
              <a:rPr sz="1100" b="0" spc="160">
                <a:solidFill>
                  <a:srgbClr val="CEC6EC"/>
                </a:solidFill>
                <a:latin typeface="Diodrum Arabic SemiBold"/>
                <a:ea typeface="Diodrum Arabic SemiBold"/>
                <a:cs typeface="Diodrum Arabic SemiBold"/>
              </a:rPr>
              <a:t>SECTION 05</a:t>
            </a:r>
          </a:p>
        </p:txBody>
      </p:sp>
      <p:sp>
        <p:nvSpPr>
          <p:cNvPr id="4" name="TextBox 3"/>
          <p:cNvSpPr txBox="1"/>
          <p:nvPr/>
        </p:nvSpPr>
        <p:spPr>
          <a:xfrm>
            <a:off x="566928" y="694943"/>
            <a:ext cx="6428231" cy="366267"/>
          </a:xfrm>
          <a:prstGeom prst="rect">
            <a:avLst/>
          </a:prstGeom>
          <a:noFill/>
        </p:spPr>
        <p:txBody>
          <a:bodyPr wrap="square" lIns="0" rIns="0" tIns="0" bIns="0">
            <a:spAutoFit/>
          </a:bodyPr>
          <a:lstStyle/>
          <a:p>
            <a:pPr algn="l">
              <a:lnSpc>
                <a:spcPts val="2595"/>
              </a:lnSpc>
            </a:pPr>
            <a:r>
              <a:rPr sz="2200" b="1">
                <a:solidFill>
                  <a:srgbClr val="FFFFFF"/>
                </a:solidFill>
                <a:latin typeface="Diodrum Arabic"/>
                <a:ea typeface="Diodrum Arabic"/>
                <a:cs typeface="Diodrum Arabic"/>
              </a:rPr>
              <a:t>The Proposed Model for the Kingdom</a:t>
            </a:r>
          </a:p>
        </p:txBody>
      </p:sp>
      <p:sp>
        <p:nvSpPr>
          <p:cNvPr id="5" name="TextBox 4"/>
          <p:cNvSpPr txBox="1"/>
          <p:nvPr/>
        </p:nvSpPr>
        <p:spPr>
          <a:xfrm>
            <a:off x="566928" y="1116075"/>
            <a:ext cx="5513831" cy="379221"/>
          </a:xfrm>
          <a:prstGeom prst="rect">
            <a:avLst/>
          </a:prstGeom>
          <a:noFill/>
        </p:spPr>
        <p:txBody>
          <a:bodyPr wrap="square" lIns="0" rIns="0" tIns="0" bIns="0">
            <a:spAutoFit/>
          </a:bodyPr>
          <a:lstStyle/>
          <a:p>
            <a:pPr algn="l">
              <a:lnSpc>
                <a:spcPts val="1348"/>
              </a:lnSpc>
            </a:pPr>
            <a:r>
              <a:rPr sz="950" b="0">
                <a:solidFill>
                  <a:srgbClr val="DDDAF0"/>
                </a:solidFill>
                <a:latin typeface="Diodrum Arabic"/>
                <a:ea typeface="Diodrum Arabic"/>
                <a:cs typeface="Diodrum Arabic"/>
              </a:rPr>
              <a:t>Four interlinked pathways — not one programme in four lengths — sharing one knowledge core, Saudi cases, unified measurement, and national ownership [63].</a:t>
            </a:r>
          </a:p>
        </p:txBody>
      </p:sp>
      <p:sp>
        <p:nvSpPr>
          <p:cNvPr id="6" name="Rectangle 5"/>
          <p:cNvSpPr/>
          <p:nvPr/>
        </p:nvSpPr>
        <p:spPr>
          <a:xfrm>
            <a:off x="566928"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2688"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98448"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64208"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29968" y="1623313"/>
            <a:ext cx="274320"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95728"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117089"/>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5.1  THE FOUR PATHWAYS</a:t>
            </a:r>
          </a:p>
        </p:txBody>
      </p:sp>
      <p:sp>
        <p:nvSpPr>
          <p:cNvPr id="13" name="TextBox 12"/>
          <p:cNvSpPr txBox="1"/>
          <p:nvPr/>
        </p:nvSpPr>
        <p:spPr>
          <a:xfrm>
            <a:off x="566928" y="2344927"/>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Each route follows what the availability map established</a:t>
            </a:r>
          </a:p>
        </p:txBody>
      </p:sp>
      <p:sp>
        <p:nvSpPr>
          <p:cNvPr id="14" name="Rounded Rectangle 13"/>
          <p:cNvSpPr/>
          <p:nvPr/>
        </p:nvSpPr>
        <p:spPr>
          <a:xfrm>
            <a:off x="566928" y="3015487"/>
            <a:ext cx="1497329" cy="1689988"/>
          </a:xfrm>
          <a:prstGeom prst="roundRect">
            <a:avLst>
              <a:gd name="adj" fmla="val 5496"/>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3161791"/>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280663"/>
            <a:ext cx="1204721" cy="330961"/>
          </a:xfrm>
          <a:prstGeom prst="rect">
            <a:avLst/>
          </a:prstGeom>
          <a:noFill/>
        </p:spPr>
        <p:txBody>
          <a:bodyPr wrap="square" lIns="0" rIns="0" tIns="0" bIns="0">
            <a:spAutoFit/>
          </a:bodyPr>
          <a:lstStyle/>
          <a:p>
            <a:pPr algn="l">
              <a:lnSpc>
                <a:spcPts val="1159"/>
              </a:lnSpc>
            </a:pPr>
            <a:r>
              <a:rPr sz="950" b="0">
                <a:solidFill>
                  <a:srgbClr val="7C32C9"/>
                </a:solidFill>
                <a:latin typeface="Diodrum Arabic SemiBold"/>
                <a:ea typeface="Diodrum Arabic SemiBold"/>
                <a:cs typeface="Diodrum Arabic SemiBold"/>
              </a:rPr>
              <a:t>Ministers — build locally</a:t>
            </a:r>
          </a:p>
        </p:txBody>
      </p:sp>
      <p:sp>
        <p:nvSpPr>
          <p:cNvPr id="17" name="TextBox 16"/>
          <p:cNvSpPr txBox="1"/>
          <p:nvPr/>
        </p:nvSpPr>
        <p:spPr>
          <a:xfrm>
            <a:off x="713232" y="3639057"/>
            <a:ext cx="1204721" cy="956690"/>
          </a:xfrm>
          <a:prstGeom prst="rect">
            <a:avLst/>
          </a:prstGeom>
          <a:noFill/>
        </p:spPr>
        <p:txBody>
          <a:bodyPr wrap="square" lIns="0" rIns="0" tIns="0" bIns="0">
            <a:spAutoFit/>
          </a:bodyPr>
          <a:lstStyle/>
          <a:p>
            <a:pPr algn="l">
              <a:lnSpc>
                <a:spcPts val="1035"/>
              </a:lnSpc>
            </a:pPr>
            <a:r>
              <a:rPr sz="750" b="0">
                <a:solidFill>
                  <a:srgbClr val="474956"/>
                </a:solidFill>
                <a:latin typeface="Diodrum Arabic"/>
                <a:ea typeface="Diodrum Arabic"/>
                <a:cs typeface="Diodrum Arabic"/>
              </a:rPr>
              <a:t>A closed Saudi format: short decision sessions, limited numbers, high confidentiality, a signed output. Proposed cohort: no more than 12 participants [63].</a:t>
            </a:r>
          </a:p>
        </p:txBody>
      </p:sp>
      <p:sp>
        <p:nvSpPr>
          <p:cNvPr id="18" name="Rounded Rectangle 17"/>
          <p:cNvSpPr/>
          <p:nvPr/>
        </p:nvSpPr>
        <p:spPr>
          <a:xfrm>
            <a:off x="2210561" y="3015487"/>
            <a:ext cx="1497329" cy="1689988"/>
          </a:xfrm>
          <a:prstGeom prst="roundRect">
            <a:avLst>
              <a:gd name="adj" fmla="val 5496"/>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356865" y="3161791"/>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56865" y="3280663"/>
            <a:ext cx="1204721" cy="478155"/>
          </a:xfrm>
          <a:prstGeom prst="rect">
            <a:avLst/>
          </a:prstGeom>
          <a:noFill/>
        </p:spPr>
        <p:txBody>
          <a:bodyPr wrap="square" lIns="0" rIns="0" tIns="0" bIns="0">
            <a:spAutoFit/>
          </a:bodyPr>
          <a:lstStyle/>
          <a:p>
            <a:pPr algn="l">
              <a:lnSpc>
                <a:spcPts val="1159"/>
              </a:lnSpc>
            </a:pPr>
            <a:r>
              <a:rPr sz="950" b="0">
                <a:solidFill>
                  <a:srgbClr val="2A206A"/>
                </a:solidFill>
                <a:latin typeface="Diodrum Arabic SemiBold"/>
                <a:ea typeface="Diodrum Arabic SemiBold"/>
                <a:cs typeface="Diodrum Arabic SemiBold"/>
              </a:rPr>
              <a:t>Vice Ministers and Excellency-rank — co-develop</a:t>
            </a:r>
          </a:p>
        </p:txBody>
      </p:sp>
      <p:sp>
        <p:nvSpPr>
          <p:cNvPr id="21" name="TextBox 20"/>
          <p:cNvSpPr txBox="1"/>
          <p:nvPr/>
        </p:nvSpPr>
        <p:spPr>
          <a:xfrm>
            <a:off x="2356865" y="3786250"/>
            <a:ext cx="1204721" cy="562356"/>
          </a:xfrm>
          <a:prstGeom prst="rect">
            <a:avLst/>
          </a:prstGeom>
          <a:noFill/>
        </p:spPr>
        <p:txBody>
          <a:bodyPr wrap="square" lIns="0" rIns="0" tIns="0" bIns="0">
            <a:spAutoFit/>
          </a:bodyPr>
          <a:lstStyle/>
          <a:p>
            <a:pPr algn="l">
              <a:lnSpc>
                <a:spcPts val="1035"/>
              </a:lnSpc>
            </a:pPr>
            <a:r>
              <a:rPr sz="750" b="0">
                <a:solidFill>
                  <a:srgbClr val="474956"/>
                </a:solidFill>
                <a:latin typeface="Diodrum Arabic"/>
                <a:ea typeface="Diodrum Arabic"/>
                <a:cs typeface="Diodrum Arabic"/>
              </a:rPr>
              <a:t>A selective programme with an international or regional partner — and Saudi cases under Saudi ownership.</a:t>
            </a:r>
          </a:p>
        </p:txBody>
      </p:sp>
      <p:sp>
        <p:nvSpPr>
          <p:cNvPr id="22" name="Rounded Rectangle 21"/>
          <p:cNvSpPr/>
          <p:nvPr/>
        </p:nvSpPr>
        <p:spPr>
          <a:xfrm>
            <a:off x="3854195" y="3015487"/>
            <a:ext cx="1497329" cy="1689988"/>
          </a:xfrm>
          <a:prstGeom prst="roundRect">
            <a:avLst>
              <a:gd name="adj" fmla="val 5496"/>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00499" y="3161791"/>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00499" y="3280663"/>
            <a:ext cx="1204721" cy="330961"/>
          </a:xfrm>
          <a:prstGeom prst="rect">
            <a:avLst/>
          </a:prstGeom>
          <a:noFill/>
        </p:spPr>
        <p:txBody>
          <a:bodyPr wrap="square" lIns="0" rIns="0" tIns="0" bIns="0">
            <a:spAutoFit/>
          </a:bodyPr>
          <a:lstStyle/>
          <a:p>
            <a:pPr algn="l">
              <a:lnSpc>
                <a:spcPts val="1159"/>
              </a:lnSpc>
            </a:pPr>
            <a:r>
              <a:rPr sz="950" b="0">
                <a:solidFill>
                  <a:srgbClr val="00ABAF"/>
                </a:solidFill>
                <a:latin typeface="Diodrum Arabic SemiBold"/>
                <a:ea typeface="Diodrum Arabic SemiBold"/>
                <a:cs typeface="Diodrum Arabic SemiBold"/>
              </a:rPr>
              <a:t>Deputy Ministers — procure and adapt</a:t>
            </a:r>
          </a:p>
        </p:txBody>
      </p:sp>
      <p:sp>
        <p:nvSpPr>
          <p:cNvPr id="25" name="TextBox 24"/>
          <p:cNvSpPr txBox="1"/>
          <p:nvPr/>
        </p:nvSpPr>
        <p:spPr>
          <a:xfrm>
            <a:off x="4000499" y="3639057"/>
            <a:ext cx="1204721" cy="430910"/>
          </a:xfrm>
          <a:prstGeom prst="rect">
            <a:avLst/>
          </a:prstGeom>
          <a:noFill/>
        </p:spPr>
        <p:txBody>
          <a:bodyPr wrap="square" lIns="0" rIns="0" tIns="0" bIns="0">
            <a:spAutoFit/>
          </a:bodyPr>
          <a:lstStyle/>
          <a:p>
            <a:pPr algn="l">
              <a:lnSpc>
                <a:spcPts val="1035"/>
              </a:lnSpc>
            </a:pPr>
            <a:r>
              <a:rPr sz="750" b="0">
                <a:solidFill>
                  <a:srgbClr val="474956"/>
                </a:solidFill>
                <a:latin typeface="Diodrum Arabic"/>
                <a:ea typeface="Diodrum Arabic"/>
                <a:cs typeface="Diodrum Arabic"/>
              </a:rPr>
              <a:t>Draw on existing documented programmes, then deliver local cohorts.</a:t>
            </a:r>
          </a:p>
        </p:txBody>
      </p:sp>
      <p:sp>
        <p:nvSpPr>
          <p:cNvPr id="26" name="Rounded Rectangle 25"/>
          <p:cNvSpPr/>
          <p:nvPr/>
        </p:nvSpPr>
        <p:spPr>
          <a:xfrm>
            <a:off x="5497829" y="3015487"/>
            <a:ext cx="1497329" cy="1689988"/>
          </a:xfrm>
          <a:prstGeom prst="roundRect">
            <a:avLst>
              <a:gd name="adj" fmla="val 5496"/>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44133" y="3161791"/>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44133" y="3280663"/>
            <a:ext cx="1204721" cy="478155"/>
          </a:xfrm>
          <a:prstGeom prst="rect">
            <a:avLst/>
          </a:prstGeom>
          <a:noFill/>
        </p:spPr>
        <p:txBody>
          <a:bodyPr wrap="square" lIns="0" rIns="0" tIns="0" bIns="0">
            <a:spAutoFit/>
          </a:bodyPr>
          <a:lstStyle/>
          <a:p>
            <a:pPr algn="l">
              <a:lnSpc>
                <a:spcPts val="1159"/>
              </a:lnSpc>
            </a:pPr>
            <a:r>
              <a:rPr sz="950" b="0">
                <a:solidFill>
                  <a:srgbClr val="1CC182"/>
                </a:solidFill>
                <a:latin typeface="Diodrum Arabic SemiBold"/>
                <a:ea typeface="Diodrum Arabic SemiBold"/>
                <a:cs typeface="Diodrum Arabic SemiBold"/>
              </a:rPr>
              <a:t>Assistant Deputy Ministers — license and scale</a:t>
            </a:r>
          </a:p>
        </p:txBody>
      </p:sp>
      <p:sp>
        <p:nvSpPr>
          <p:cNvPr id="29" name="TextBox 28"/>
          <p:cNvSpPr txBox="1"/>
          <p:nvPr/>
        </p:nvSpPr>
        <p:spPr>
          <a:xfrm>
            <a:off x="5644133" y="3786250"/>
            <a:ext cx="1204721" cy="299465"/>
          </a:xfrm>
          <a:prstGeom prst="rect">
            <a:avLst/>
          </a:prstGeom>
          <a:noFill/>
        </p:spPr>
        <p:txBody>
          <a:bodyPr wrap="square" lIns="0" rIns="0" tIns="0" bIns="0">
            <a:spAutoFit/>
          </a:bodyPr>
          <a:lstStyle/>
          <a:p>
            <a:pPr algn="l">
              <a:lnSpc>
                <a:spcPts val="1035"/>
              </a:lnSpc>
            </a:pPr>
            <a:r>
              <a:rPr sz="750" b="0">
                <a:solidFill>
                  <a:srgbClr val="474956"/>
                </a:solidFill>
                <a:latin typeface="Diodrum Arabic"/>
                <a:ea typeface="Diodrum Arabic"/>
                <a:cs typeface="Diodrum Arabic"/>
              </a:rPr>
              <a:t>Digital and blended content via the Qudratak platform.</a:t>
            </a:r>
          </a:p>
        </p:txBody>
      </p:sp>
      <p:sp>
        <p:nvSpPr>
          <p:cNvPr id="30" name="Rounded Rectangle 29"/>
          <p:cNvSpPr/>
          <p:nvPr/>
        </p:nvSpPr>
        <p:spPr>
          <a:xfrm>
            <a:off x="566928" y="4888356"/>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5071237"/>
            <a:ext cx="6062471" cy="191262"/>
          </a:xfrm>
          <a:prstGeom prst="rect">
            <a:avLst/>
          </a:prstGeom>
          <a:noFill/>
        </p:spPr>
        <p:txBody>
          <a:bodyPr wrap="square" lIns="0" rIns="0" tIns="0" bIns="0">
            <a:spAutoFit/>
          </a:bodyPr>
          <a:lstStyle/>
          <a:p>
            <a:pPr algn="l">
              <a:lnSpc>
                <a:spcPts val="1218"/>
              </a:lnSpc>
            </a:pPr>
            <a:r>
              <a:rPr sz="1050" b="0" spc="90">
                <a:solidFill>
                  <a:srgbClr val="D9F3EE"/>
                </a:solidFill>
                <a:latin typeface="Diodrum Arabic SemiBold"/>
                <a:ea typeface="Diodrum Arabic SemiBold"/>
                <a:cs typeface="Diodrum Arabic SemiBold"/>
              </a:rPr>
              <a:t>THE SHARED FOUNDATION — OWNED ONCE, USED BY ALL FOUR ROUTES</a:t>
            </a:r>
          </a:p>
        </p:txBody>
      </p:sp>
      <p:sp>
        <p:nvSpPr>
          <p:cNvPr id="32" name="TextBox 31"/>
          <p:cNvSpPr txBox="1"/>
          <p:nvPr/>
        </p:nvSpPr>
        <p:spPr>
          <a:xfrm>
            <a:off x="749808" y="5271642"/>
            <a:ext cx="6062471" cy="361187"/>
          </a:xfrm>
          <a:prstGeom prst="rect">
            <a:avLst/>
          </a:prstGeom>
          <a:noFill/>
        </p:spPr>
        <p:txBody>
          <a:bodyPr wrap="square" lIns="0" rIns="0" tIns="0" bIns="0">
            <a:spAutoFit/>
          </a:bodyPr>
          <a:lstStyle/>
          <a:p>
            <a:pPr algn="just">
              <a:lnSpc>
                <a:spcPts val="1278"/>
              </a:lnSpc>
            </a:pPr>
            <a:r>
              <a:rPr sz="900" b="0">
                <a:solidFill>
                  <a:srgbClr val="FFFFFF"/>
                </a:solidFill>
                <a:latin typeface="Diodrum Arabic"/>
                <a:ea typeface="Diodrum Arabic"/>
                <a:cs typeface="Diodrum Arabic"/>
              </a:rPr>
              <a:t>One knowledge core · a Saudi case library · one measurement framework · one confidentiality and governance protocol · national ownership of data and the operating model.</a:t>
            </a:r>
          </a:p>
        </p:txBody>
      </p:sp>
      <p:sp>
        <p:nvSpPr>
          <p:cNvPr id="33" name="TextBox 32"/>
          <p:cNvSpPr txBox="1"/>
          <p:nvPr/>
        </p:nvSpPr>
        <p:spPr>
          <a:xfrm>
            <a:off x="566928" y="5997257"/>
            <a:ext cx="6428231" cy="523494"/>
          </a:xfrm>
          <a:prstGeom prst="rect">
            <a:avLst/>
          </a:prstGeom>
          <a:noFill/>
        </p:spPr>
        <p:txBody>
          <a:bodyPr wrap="square" lIns="0" rIns="0" tIns="0" bIns="0">
            <a:spAutoFit/>
          </a:bodyPr>
          <a:lstStyle/>
          <a:p>
            <a:pPr algn="just">
              <a:lnSpc>
                <a:spcPts val="1278"/>
              </a:lnSpc>
            </a:pPr>
            <a:r>
              <a:rPr sz="900" b="0">
                <a:solidFill>
                  <a:srgbClr val="474956"/>
                </a:solidFill>
                <a:latin typeface="Diodrum Arabic"/>
                <a:ea typeface="Diodrum Arabic"/>
                <a:cs typeface="Diodrum Arabic"/>
              </a:rPr>
              <a:t>Build where the market offers no enrolable format; co-develop where selective programmes exist but lack local ownership; procure and adapt where documented models are available; license and scale where content is broad and digital. The ministerial cohort’s size makes that pathway’s economics fundamentally different from the Level 3 and 4 cohorts [63].</a:t>
            </a:r>
          </a:p>
        </p:txBody>
      </p:sp>
      <p:sp>
        <p:nvSpPr>
          <p:cNvPr id="34" name="Rectangle 33"/>
          <p:cNvSpPr/>
          <p:nvPr/>
        </p:nvSpPr>
        <p:spPr>
          <a:xfrm>
            <a:off x="566928" y="6630479"/>
            <a:ext cx="45720" cy="230123"/>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6639623"/>
            <a:ext cx="6199631" cy="211836"/>
          </a:xfrm>
          <a:prstGeom prst="rect">
            <a:avLst/>
          </a:prstGeom>
          <a:noFill/>
        </p:spPr>
        <p:txBody>
          <a:bodyPr wrap="square" lIns="0" rIns="0" tIns="0" bIns="0">
            <a:spAutoFit/>
          </a:bodyPr>
          <a:lstStyle/>
          <a:p>
            <a:pPr algn="l">
              <a:lnSpc>
                <a:spcPts val="1380"/>
              </a:lnSpc>
            </a:pPr>
            <a:r>
              <a:rPr sz="1000" b="0">
                <a:solidFill>
                  <a:srgbClr val="232046"/>
                </a:solidFill>
                <a:latin typeface="Diodrum Arabic SemiBold"/>
                <a:ea typeface="Diodrum Arabic SemiBold"/>
                <a:cs typeface="Diodrum Arabic SemiBold"/>
              </a:rPr>
              <a:t>Despite their differences, the four pathways share a single knowledge core — the subject of the next page.</a:t>
            </a:r>
          </a:p>
        </p:txBody>
      </p:sp>
      <p:sp>
        <p:nvSpPr>
          <p:cNvPr id="36" name="Rectangle 35"/>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38" name="TextBox 37"/>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05 · 5.2  THE COMMON CORE AND SPECIALISED CONTENT</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Seven shared components; four decision-specific branches</a:t>
            </a:r>
          </a:p>
        </p:txBody>
      </p:sp>
      <p:sp>
        <p:nvSpPr>
          <p:cNvPr id="4" name="TextBox 3"/>
          <p:cNvSpPr txBox="1"/>
          <p:nvPr/>
        </p:nvSpPr>
        <p:spPr>
          <a:xfrm>
            <a:off x="566928" y="1401318"/>
            <a:ext cx="6428231" cy="374395"/>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A single core prevents duplicate spending on content development and ensures one vocabulary spoken by the minister and the assistant deputy minister when they handle the same file [63].</a:t>
            </a:r>
          </a:p>
        </p:txBody>
      </p:sp>
      <p:sp>
        <p:nvSpPr>
          <p:cNvPr id="5" name="Rectangle 4"/>
          <p:cNvSpPr/>
          <p:nvPr/>
        </p:nvSpPr>
        <p:spPr>
          <a:xfrm>
            <a:off x="566928" y="183057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2013458"/>
            <a:ext cx="1497329" cy="607187"/>
          </a:xfrm>
          <a:prstGeom prst="roundRect">
            <a:avLst>
              <a:gd name="adj" fmla="val 1355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215976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278634"/>
            <a:ext cx="1204721" cy="168275"/>
          </a:xfrm>
          <a:prstGeom prst="rect">
            <a:avLst/>
          </a:prstGeom>
          <a:noFill/>
        </p:spPr>
        <p:txBody>
          <a:bodyPr wrap="square" lIns="0" rIns="0" tIns="0" bIns="0">
            <a:spAutoFit/>
          </a:bodyPr>
          <a:lstStyle/>
          <a:p>
            <a:pPr algn="l">
              <a:lnSpc>
                <a:spcPts val="1037"/>
              </a:lnSpc>
            </a:pPr>
            <a:r>
              <a:rPr sz="850" b="0">
                <a:solidFill>
                  <a:srgbClr val="7C32C9"/>
                </a:solidFill>
                <a:latin typeface="Diodrum Arabic SemiBold"/>
                <a:ea typeface="Diodrum Arabic SemiBold"/>
                <a:cs typeface="Diodrum Arabic SemiBold"/>
              </a:rPr>
              <a:t>AI capabilities and limits</a:t>
            </a:r>
          </a:p>
        </p:txBody>
      </p:sp>
      <p:sp>
        <p:nvSpPr>
          <p:cNvPr id="9" name="Rounded Rectangle 8"/>
          <p:cNvSpPr/>
          <p:nvPr/>
        </p:nvSpPr>
        <p:spPr>
          <a:xfrm>
            <a:off x="2210561" y="2013458"/>
            <a:ext cx="1497329" cy="607187"/>
          </a:xfrm>
          <a:prstGeom prst="roundRect">
            <a:avLst>
              <a:gd name="adj" fmla="val 1355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56865" y="2159762"/>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56865" y="2278634"/>
            <a:ext cx="1204721" cy="168275"/>
          </a:xfrm>
          <a:prstGeom prst="rect">
            <a:avLst/>
          </a:prstGeom>
          <a:noFill/>
        </p:spPr>
        <p:txBody>
          <a:bodyPr wrap="square" lIns="0" rIns="0" tIns="0" bIns="0">
            <a:spAutoFit/>
          </a:bodyPr>
          <a:lstStyle/>
          <a:p>
            <a:pPr algn="l">
              <a:lnSpc>
                <a:spcPts val="1037"/>
              </a:lnSpc>
            </a:pPr>
            <a:r>
              <a:rPr sz="850" b="0">
                <a:solidFill>
                  <a:srgbClr val="00ABAF"/>
                </a:solidFill>
                <a:latin typeface="Diodrum Arabic SemiBold"/>
                <a:ea typeface="Diodrum Arabic SemiBold"/>
                <a:cs typeface="Diodrum Arabic SemiBold"/>
              </a:rPr>
              <a:t>Governance</a:t>
            </a:r>
          </a:p>
        </p:txBody>
      </p:sp>
      <p:sp>
        <p:nvSpPr>
          <p:cNvPr id="12" name="Rounded Rectangle 11"/>
          <p:cNvSpPr/>
          <p:nvPr/>
        </p:nvSpPr>
        <p:spPr>
          <a:xfrm>
            <a:off x="3854195" y="2013458"/>
            <a:ext cx="1497329" cy="607187"/>
          </a:xfrm>
          <a:prstGeom prst="roundRect">
            <a:avLst>
              <a:gd name="adj" fmla="val 1355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00499" y="2159762"/>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00499" y="2278634"/>
            <a:ext cx="1204721" cy="168275"/>
          </a:xfrm>
          <a:prstGeom prst="rect">
            <a:avLst/>
          </a:prstGeom>
          <a:noFill/>
        </p:spPr>
        <p:txBody>
          <a:bodyPr wrap="square" lIns="0" rIns="0" tIns="0" bIns="0">
            <a:spAutoFit/>
          </a:bodyPr>
          <a:lstStyle/>
          <a:p>
            <a:pPr algn="l">
              <a:lnSpc>
                <a:spcPts val="1037"/>
              </a:lnSpc>
            </a:pPr>
            <a:r>
              <a:rPr sz="850" b="0">
                <a:solidFill>
                  <a:srgbClr val="1CC182"/>
                </a:solidFill>
                <a:latin typeface="Diodrum Arabic SemiBold"/>
                <a:ea typeface="Diodrum Arabic SemiBold"/>
                <a:cs typeface="Diodrum Arabic SemiBold"/>
              </a:rPr>
              <a:t>Risks</a:t>
            </a:r>
          </a:p>
        </p:txBody>
      </p:sp>
      <p:sp>
        <p:nvSpPr>
          <p:cNvPr id="15" name="Rounded Rectangle 14"/>
          <p:cNvSpPr/>
          <p:nvPr/>
        </p:nvSpPr>
        <p:spPr>
          <a:xfrm>
            <a:off x="5497829" y="2013458"/>
            <a:ext cx="1497329" cy="607187"/>
          </a:xfrm>
          <a:prstGeom prst="roundRect">
            <a:avLst>
              <a:gd name="adj" fmla="val 1355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44133" y="2159762"/>
            <a:ext cx="347472" cy="45720"/>
          </a:xfrm>
          <a:prstGeom prst="rect">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44133" y="2278634"/>
            <a:ext cx="1204721" cy="168275"/>
          </a:xfrm>
          <a:prstGeom prst="rect">
            <a:avLst/>
          </a:prstGeom>
          <a:noFill/>
        </p:spPr>
        <p:txBody>
          <a:bodyPr wrap="square" lIns="0" rIns="0" tIns="0" bIns="0">
            <a:spAutoFit/>
          </a:bodyPr>
          <a:lstStyle/>
          <a:p>
            <a:pPr algn="l">
              <a:lnSpc>
                <a:spcPts val="1037"/>
              </a:lnSpc>
            </a:pPr>
            <a:r>
              <a:rPr sz="850" b="0">
                <a:solidFill>
                  <a:srgbClr val="2D9CDB"/>
                </a:solidFill>
                <a:latin typeface="Diodrum Arabic SemiBold"/>
                <a:ea typeface="Diodrum Arabic SemiBold"/>
                <a:cs typeface="Diodrum Arabic SemiBold"/>
              </a:rPr>
              <a:t>Responsible use</a:t>
            </a:r>
          </a:p>
        </p:txBody>
      </p:sp>
      <p:sp>
        <p:nvSpPr>
          <p:cNvPr id="18" name="Rounded Rectangle 17"/>
          <p:cNvSpPr/>
          <p:nvPr/>
        </p:nvSpPr>
        <p:spPr>
          <a:xfrm>
            <a:off x="566928" y="2766949"/>
            <a:ext cx="1497329" cy="738886"/>
          </a:xfrm>
          <a:prstGeom prst="roundRect">
            <a:avLst>
              <a:gd name="adj" fmla="val 111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2913253"/>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3032125"/>
            <a:ext cx="1204721" cy="168275"/>
          </a:xfrm>
          <a:prstGeom prst="rect">
            <a:avLst/>
          </a:prstGeom>
          <a:noFill/>
        </p:spPr>
        <p:txBody>
          <a:bodyPr wrap="square" lIns="0" rIns="0" tIns="0" bIns="0">
            <a:spAutoFit/>
          </a:bodyPr>
          <a:lstStyle/>
          <a:p>
            <a:pPr algn="l">
              <a:lnSpc>
                <a:spcPts val="1037"/>
              </a:lnSpc>
            </a:pPr>
            <a:r>
              <a:rPr sz="850" b="0">
                <a:solidFill>
                  <a:srgbClr val="7C32C9"/>
                </a:solidFill>
                <a:latin typeface="Diodrum Arabic SemiBold"/>
                <a:ea typeface="Diodrum Arabic SemiBold"/>
                <a:cs typeface="Diodrum Arabic SemiBold"/>
              </a:rPr>
              <a:t>Economic aspects</a:t>
            </a:r>
          </a:p>
        </p:txBody>
      </p:sp>
      <p:sp>
        <p:nvSpPr>
          <p:cNvPr id="21" name="Rounded Rectangle 20"/>
          <p:cNvSpPr/>
          <p:nvPr/>
        </p:nvSpPr>
        <p:spPr>
          <a:xfrm>
            <a:off x="2210561" y="2766949"/>
            <a:ext cx="1497329" cy="738886"/>
          </a:xfrm>
          <a:prstGeom prst="roundRect">
            <a:avLst>
              <a:gd name="adj" fmla="val 111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356865" y="2913253"/>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56865" y="3032125"/>
            <a:ext cx="1204721" cy="168275"/>
          </a:xfrm>
          <a:prstGeom prst="rect">
            <a:avLst/>
          </a:prstGeom>
          <a:noFill/>
        </p:spPr>
        <p:txBody>
          <a:bodyPr wrap="square" lIns="0" rIns="0" tIns="0" bIns="0">
            <a:spAutoFit/>
          </a:bodyPr>
          <a:lstStyle/>
          <a:p>
            <a:pPr algn="l">
              <a:lnSpc>
                <a:spcPts val="1037"/>
              </a:lnSpc>
            </a:pPr>
            <a:r>
              <a:rPr sz="850" b="0">
                <a:solidFill>
                  <a:srgbClr val="00ABAF"/>
                </a:solidFill>
                <a:latin typeface="Diodrum Arabic SemiBold"/>
                <a:ea typeface="Diodrum Arabic SemiBold"/>
                <a:cs typeface="Diodrum Arabic SemiBold"/>
              </a:rPr>
              <a:t>Public value</a:t>
            </a:r>
          </a:p>
        </p:txBody>
      </p:sp>
      <p:sp>
        <p:nvSpPr>
          <p:cNvPr id="24" name="Rounded Rectangle 23"/>
          <p:cNvSpPr/>
          <p:nvPr/>
        </p:nvSpPr>
        <p:spPr>
          <a:xfrm>
            <a:off x="3854195" y="2766949"/>
            <a:ext cx="1497329" cy="738886"/>
          </a:xfrm>
          <a:prstGeom prst="roundRect">
            <a:avLst>
              <a:gd name="adj" fmla="val 111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000499" y="2913253"/>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00499" y="3032125"/>
            <a:ext cx="1204721" cy="168275"/>
          </a:xfrm>
          <a:prstGeom prst="rect">
            <a:avLst/>
          </a:prstGeom>
          <a:noFill/>
        </p:spPr>
        <p:txBody>
          <a:bodyPr wrap="square" lIns="0" rIns="0" tIns="0" bIns="0">
            <a:spAutoFit/>
          </a:bodyPr>
          <a:lstStyle/>
          <a:p>
            <a:pPr algn="l">
              <a:lnSpc>
                <a:spcPts val="1037"/>
              </a:lnSpc>
            </a:pPr>
            <a:r>
              <a:rPr sz="850" b="0">
                <a:solidFill>
                  <a:srgbClr val="1CC182"/>
                </a:solidFill>
                <a:latin typeface="Diodrum Arabic SemiBold"/>
                <a:ea typeface="Diodrum Arabic SemiBold"/>
                <a:cs typeface="Diodrum Arabic SemiBold"/>
              </a:rPr>
              <a:t>Accountability</a:t>
            </a:r>
          </a:p>
        </p:txBody>
      </p:sp>
      <p:sp>
        <p:nvSpPr>
          <p:cNvPr id="27" name="Rounded Rectangle 26"/>
          <p:cNvSpPr/>
          <p:nvPr/>
        </p:nvSpPr>
        <p:spPr>
          <a:xfrm>
            <a:off x="5497829" y="2766949"/>
            <a:ext cx="1497329" cy="738886"/>
          </a:xfrm>
          <a:prstGeom prst="roundRect">
            <a:avLst>
              <a:gd name="adj" fmla="val 111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44133" y="2913253"/>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44133" y="3032125"/>
            <a:ext cx="1204721" cy="299973"/>
          </a:xfrm>
          <a:prstGeom prst="rect">
            <a:avLst/>
          </a:prstGeom>
          <a:noFill/>
        </p:spPr>
        <p:txBody>
          <a:bodyPr wrap="square" lIns="0" rIns="0" tIns="0" bIns="0">
            <a:spAutoFit/>
          </a:bodyPr>
          <a:lstStyle/>
          <a:p>
            <a:pPr algn="l">
              <a:lnSpc>
                <a:spcPts val="1037"/>
              </a:lnSpc>
            </a:pPr>
            <a:r>
              <a:rPr sz="850" b="0">
                <a:solidFill>
                  <a:srgbClr val="2A206A"/>
                </a:solidFill>
                <a:latin typeface="Diodrum Arabic SemiBold"/>
                <a:ea typeface="Diodrum Arabic SemiBold"/>
                <a:cs typeface="Diodrum Arabic SemiBold"/>
              </a:rPr>
              <a:t>One vocabulary across levels</a:t>
            </a:r>
          </a:p>
        </p:txBody>
      </p:sp>
      <p:sp>
        <p:nvSpPr>
          <p:cNvPr id="30" name="TextBox 29"/>
          <p:cNvSpPr txBox="1"/>
          <p:nvPr/>
        </p:nvSpPr>
        <p:spPr>
          <a:xfrm>
            <a:off x="566928" y="3688715"/>
            <a:ext cx="6428231" cy="205994"/>
          </a:xfrm>
          <a:prstGeom prst="rect">
            <a:avLst/>
          </a:prstGeom>
          <a:noFill/>
        </p:spPr>
        <p:txBody>
          <a:bodyPr wrap="square" lIns="0" rIns="0" tIns="0" bIns="0">
            <a:spAutoFit/>
          </a:bodyPr>
          <a:lstStyle/>
          <a:p>
            <a:pPr algn="l">
              <a:lnSpc>
                <a:spcPts val="1334"/>
              </a:lnSpc>
            </a:pPr>
            <a:r>
              <a:rPr sz="1150" b="0" spc="70">
                <a:solidFill>
                  <a:srgbClr val="7C32C9"/>
                </a:solidFill>
                <a:latin typeface="Diodrum Arabic SemiBold"/>
                <a:ea typeface="Diodrum Arabic SemiBold"/>
                <a:cs typeface="Diodrum Arabic SemiBold"/>
              </a:rPr>
              <a:t>HOW CONTENT BRANCHES BY LEVEL</a:t>
            </a:r>
          </a:p>
        </p:txBody>
      </p:sp>
      <p:sp>
        <p:nvSpPr>
          <p:cNvPr id="31" name="Rounded Rectangle 30"/>
          <p:cNvSpPr/>
          <p:nvPr/>
        </p:nvSpPr>
        <p:spPr>
          <a:xfrm>
            <a:off x="566928" y="3940429"/>
            <a:ext cx="3140963" cy="936117"/>
          </a:xfrm>
          <a:prstGeom prst="roundRect">
            <a:avLst>
              <a:gd name="adj" fmla="val 879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3232" y="4086733"/>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4205605"/>
            <a:ext cx="2848356" cy="199263"/>
          </a:xfrm>
          <a:prstGeom prst="rect">
            <a:avLst/>
          </a:prstGeom>
          <a:noFill/>
        </p:spPr>
        <p:txBody>
          <a:bodyPr wrap="square" lIns="0" rIns="0" tIns="0" bIns="0">
            <a:spAutoFit/>
          </a:bodyPr>
          <a:lstStyle/>
          <a:p>
            <a:pPr algn="l">
              <a:lnSpc>
                <a:spcPts val="1281"/>
              </a:lnSpc>
            </a:pPr>
            <a:r>
              <a:rPr sz="1050" b="0">
                <a:solidFill>
                  <a:srgbClr val="7C32C9"/>
                </a:solidFill>
                <a:latin typeface="Diodrum Arabic SemiBold"/>
                <a:ea typeface="Diodrum Arabic SemiBold"/>
                <a:cs typeface="Diodrum Arabic SemiBold"/>
              </a:rPr>
              <a:t>Ministers’ pathway</a:t>
            </a:r>
          </a:p>
        </p:txBody>
      </p:sp>
      <p:sp>
        <p:nvSpPr>
          <p:cNvPr id="34" name="TextBox 33"/>
          <p:cNvSpPr txBox="1"/>
          <p:nvPr/>
        </p:nvSpPr>
        <p:spPr>
          <a:xfrm>
            <a:off x="713232" y="4432300"/>
            <a:ext cx="2848356" cy="33451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Setting strategic direction; defining the acceptable level of risk; drafting the decision memorandum.</a:t>
            </a:r>
          </a:p>
        </p:txBody>
      </p:sp>
      <p:sp>
        <p:nvSpPr>
          <p:cNvPr id="35" name="Rounded Rectangle 34"/>
          <p:cNvSpPr/>
          <p:nvPr/>
        </p:nvSpPr>
        <p:spPr>
          <a:xfrm>
            <a:off x="3854196" y="3940429"/>
            <a:ext cx="3140963" cy="936117"/>
          </a:xfrm>
          <a:prstGeom prst="roundRect">
            <a:avLst>
              <a:gd name="adj" fmla="val 879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000500" y="4086733"/>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00500" y="4205605"/>
            <a:ext cx="2848356" cy="199263"/>
          </a:xfrm>
          <a:prstGeom prst="rect">
            <a:avLst/>
          </a:prstGeom>
          <a:noFill/>
        </p:spPr>
        <p:txBody>
          <a:bodyPr wrap="square" lIns="0" rIns="0" tIns="0" bIns="0">
            <a:spAutoFit/>
          </a:bodyPr>
          <a:lstStyle/>
          <a:p>
            <a:pPr algn="l">
              <a:lnSpc>
                <a:spcPts val="1281"/>
              </a:lnSpc>
            </a:pPr>
            <a:r>
              <a:rPr sz="1050" b="0">
                <a:solidFill>
                  <a:srgbClr val="2A206A"/>
                </a:solidFill>
                <a:latin typeface="Diodrum Arabic SemiBold"/>
                <a:ea typeface="Diodrum Arabic SemiBold"/>
                <a:cs typeface="Diodrum Arabic SemiBold"/>
              </a:rPr>
              <a:t>Vice Ministers and Excellency-rank pathway</a:t>
            </a:r>
          </a:p>
        </p:txBody>
      </p:sp>
      <p:sp>
        <p:nvSpPr>
          <p:cNvPr id="38" name="TextBox 37"/>
          <p:cNvSpPr txBox="1"/>
          <p:nvPr/>
        </p:nvSpPr>
        <p:spPr>
          <a:xfrm>
            <a:off x="4000500" y="4432300"/>
            <a:ext cx="2848356" cy="33451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Portfolio management; prioritising use cases; approving the governance model.</a:t>
            </a:r>
          </a:p>
        </p:txBody>
      </p:sp>
      <p:sp>
        <p:nvSpPr>
          <p:cNvPr id="39" name="Rounded Rectangle 38"/>
          <p:cNvSpPr/>
          <p:nvPr/>
        </p:nvSpPr>
        <p:spPr>
          <a:xfrm>
            <a:off x="566928" y="5022850"/>
            <a:ext cx="3140963" cy="936117"/>
          </a:xfrm>
          <a:prstGeom prst="roundRect">
            <a:avLst>
              <a:gd name="adj" fmla="val 879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13232" y="5169154"/>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 y="5288026"/>
            <a:ext cx="2848356" cy="199263"/>
          </a:xfrm>
          <a:prstGeom prst="rect">
            <a:avLst/>
          </a:prstGeom>
          <a:noFill/>
        </p:spPr>
        <p:txBody>
          <a:bodyPr wrap="square" lIns="0" rIns="0" tIns="0" bIns="0">
            <a:spAutoFit/>
          </a:bodyPr>
          <a:lstStyle/>
          <a:p>
            <a:pPr algn="l">
              <a:lnSpc>
                <a:spcPts val="1281"/>
              </a:lnSpc>
            </a:pPr>
            <a:r>
              <a:rPr sz="1050" b="0">
                <a:solidFill>
                  <a:srgbClr val="00ABAF"/>
                </a:solidFill>
                <a:latin typeface="Diodrum Arabic SemiBold"/>
                <a:ea typeface="Diodrum Arabic SemiBold"/>
                <a:cs typeface="Diodrum Arabic SemiBold"/>
              </a:rPr>
              <a:t>Deputy Ministers’ pathway</a:t>
            </a:r>
          </a:p>
        </p:txBody>
      </p:sp>
      <p:sp>
        <p:nvSpPr>
          <p:cNvPr id="42" name="TextBox 41"/>
          <p:cNvSpPr txBox="1"/>
          <p:nvPr/>
        </p:nvSpPr>
        <p:spPr>
          <a:xfrm>
            <a:off x="713232" y="5514721"/>
            <a:ext cx="2848356" cy="33451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Readiness assessment; data and contracting decisions; preparing the implementation charter.</a:t>
            </a:r>
          </a:p>
        </p:txBody>
      </p:sp>
      <p:sp>
        <p:nvSpPr>
          <p:cNvPr id="43" name="Rounded Rectangle 42"/>
          <p:cNvSpPr/>
          <p:nvPr/>
        </p:nvSpPr>
        <p:spPr>
          <a:xfrm>
            <a:off x="3854196" y="5022850"/>
            <a:ext cx="3140963" cy="936117"/>
          </a:xfrm>
          <a:prstGeom prst="roundRect">
            <a:avLst>
              <a:gd name="adj" fmla="val 879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000500" y="5169154"/>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00500" y="5288026"/>
            <a:ext cx="2848356" cy="199263"/>
          </a:xfrm>
          <a:prstGeom prst="rect">
            <a:avLst/>
          </a:prstGeom>
          <a:noFill/>
        </p:spPr>
        <p:txBody>
          <a:bodyPr wrap="square" lIns="0" rIns="0" tIns="0" bIns="0">
            <a:spAutoFit/>
          </a:bodyPr>
          <a:lstStyle/>
          <a:p>
            <a:pPr algn="l">
              <a:lnSpc>
                <a:spcPts val="1281"/>
              </a:lnSpc>
            </a:pPr>
            <a:r>
              <a:rPr sz="1050" b="0">
                <a:solidFill>
                  <a:srgbClr val="1CC182"/>
                </a:solidFill>
                <a:latin typeface="Diodrum Arabic SemiBold"/>
                <a:ea typeface="Diodrum Arabic SemiBold"/>
                <a:cs typeface="Diodrum Arabic SemiBold"/>
              </a:rPr>
              <a:t>Assistant Deputy Ministers’ pathway</a:t>
            </a:r>
          </a:p>
        </p:txBody>
      </p:sp>
      <p:sp>
        <p:nvSpPr>
          <p:cNvPr id="46" name="TextBox 45"/>
          <p:cNvSpPr txBox="1"/>
          <p:nvPr/>
        </p:nvSpPr>
        <p:spPr>
          <a:xfrm>
            <a:off x="4000500" y="5514721"/>
            <a:ext cx="2848356" cy="33451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Converting controls into operating procedures; checklists; the compliance log.</a:t>
            </a:r>
          </a:p>
        </p:txBody>
      </p:sp>
      <p:sp>
        <p:nvSpPr>
          <p:cNvPr id="47" name="Rounded Rectangle 46"/>
          <p:cNvSpPr/>
          <p:nvPr/>
        </p:nvSpPr>
        <p:spPr>
          <a:xfrm>
            <a:off x="566928" y="6141847"/>
            <a:ext cx="6428231" cy="745426"/>
          </a:xfrm>
          <a:prstGeom prst="roundRect">
            <a:avLst>
              <a:gd name="adj" fmla="val 1104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6306438"/>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THE RULE, RESTATED ONCE</a:t>
            </a:r>
          </a:p>
        </p:txBody>
      </p:sp>
      <p:sp>
        <p:nvSpPr>
          <p:cNvPr id="49" name="TextBox 48"/>
          <p:cNvSpPr txBox="1"/>
          <p:nvPr/>
        </p:nvSpPr>
        <p:spPr>
          <a:xfrm>
            <a:off x="731520" y="6515989"/>
            <a:ext cx="6099047" cy="198882"/>
          </a:xfrm>
          <a:prstGeom prst="rect">
            <a:avLst/>
          </a:prstGeom>
          <a:noFill/>
        </p:spPr>
        <p:txBody>
          <a:bodyPr wrap="square" lIns="0" rIns="0" tIns="0" bIns="0">
            <a:spAutoFit/>
          </a:bodyPr>
          <a:lstStyle/>
          <a:p>
            <a:pPr algn="l">
              <a:lnSpc>
                <a:spcPts val="1278"/>
              </a:lnSpc>
            </a:pPr>
            <a:r>
              <a:rPr sz="900" b="0">
                <a:solidFill>
                  <a:srgbClr val="474956"/>
                </a:solidFill>
                <a:latin typeface="Diodrum Arabic"/>
                <a:ea typeface="Diodrum Arabic"/>
                <a:cs typeface="Diodrum Arabic"/>
              </a:rPr>
              <a:t>The programme differs by decision type — not by adding or removing hours.</a:t>
            </a:r>
          </a:p>
        </p:txBody>
      </p:sp>
      <p:sp>
        <p:nvSpPr>
          <p:cNvPr id="50" name="Rectangle 49"/>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52" name="TextBox 51"/>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05 · 5.3 – 5.4  SAUDI CASES · DELIVERY AND PARTNERS</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Hired expertise is separated from owned capability</a:t>
            </a:r>
          </a:p>
        </p:txBody>
      </p:sp>
      <p:sp>
        <p:nvSpPr>
          <p:cNvPr id="4" name="TextBox 3"/>
          <p:cNvSpPr txBox="1"/>
          <p:nvPr/>
        </p:nvSpPr>
        <p:spPr>
          <a:xfrm>
            <a:off x="566928" y="1111758"/>
            <a:ext cx="3113532" cy="331215"/>
          </a:xfrm>
          <a:prstGeom prst="rect">
            <a:avLst/>
          </a:prstGeom>
          <a:noFill/>
        </p:spPr>
        <p:txBody>
          <a:bodyPr wrap="square" lIns="0" rIns="0" tIns="0" bIns="0">
            <a:spAutoFit/>
          </a:bodyPr>
          <a:lstStyle/>
          <a:p>
            <a:pPr algn="l">
              <a:lnSpc>
                <a:spcPts val="1160"/>
              </a:lnSpc>
            </a:pPr>
            <a:r>
              <a:rPr sz="1000" b="0" spc="70">
                <a:solidFill>
                  <a:srgbClr val="7C32C9"/>
                </a:solidFill>
                <a:latin typeface="Diodrum Arabic SemiBold"/>
                <a:ea typeface="Diodrum Arabic SemiBold"/>
                <a:cs typeface="Diodrum Arabic SemiBold"/>
              </a:rPr>
              <a:t>SAUDI CASES — THE LAYER THE MARKET DOES NOT SELL</a:t>
            </a:r>
          </a:p>
        </p:txBody>
      </p:sp>
      <p:sp>
        <p:nvSpPr>
          <p:cNvPr id="5" name="TextBox 4"/>
          <p:cNvSpPr txBox="1"/>
          <p:nvPr/>
        </p:nvSpPr>
        <p:spPr>
          <a:xfrm>
            <a:off x="566928" y="1488694"/>
            <a:ext cx="3113532" cy="1262888"/>
          </a:xfrm>
          <a:prstGeom prst="rect">
            <a:avLst/>
          </a:prstGeom>
          <a:noFill/>
        </p:spPr>
        <p:txBody>
          <a:bodyPr wrap="square" lIns="0" rIns="0" tIns="0" bIns="0">
            <a:spAutoFit/>
          </a:bodyPr>
          <a:lstStyle/>
          <a:p>
            <a:pPr algn="just">
              <a:lnSpc>
                <a:spcPts val="1207"/>
              </a:lnSpc>
            </a:pPr>
            <a:r>
              <a:rPr sz="850" b="0">
                <a:solidFill>
                  <a:srgbClr val="474956"/>
                </a:solidFill>
                <a:latin typeface="Diodrum Arabic"/>
                <a:ea typeface="Diodrum Arabic"/>
                <a:cs typeface="Diodrum Arabic"/>
              </a:rPr>
              <a:t>A library of cases linked to actual government decisions is developed after the owning entities’ approval and the handling of confidentiality requirements. The cases remain a locally owned knowledge asset, developable with each cohort. In the market reviewed, no provider was identified announcing accredited Saudi government cases [62] — starting early is what transforms the programme from borrowed content into a national capability whose value accumulates.</a:t>
            </a:r>
          </a:p>
        </p:txBody>
      </p:sp>
      <p:sp>
        <p:nvSpPr>
          <p:cNvPr id="6" name="TextBox 5"/>
          <p:cNvSpPr txBox="1"/>
          <p:nvPr/>
        </p:nvSpPr>
        <p:spPr>
          <a:xfrm>
            <a:off x="3881628" y="1111758"/>
            <a:ext cx="3113532" cy="183896"/>
          </a:xfrm>
          <a:prstGeom prst="rect">
            <a:avLst/>
          </a:prstGeom>
          <a:noFill/>
        </p:spPr>
        <p:txBody>
          <a:bodyPr wrap="square" lIns="0" rIns="0" tIns="0" bIns="0">
            <a:spAutoFit/>
          </a:bodyPr>
          <a:lstStyle/>
          <a:p>
            <a:pPr algn="l">
              <a:lnSpc>
                <a:spcPts val="1160"/>
              </a:lnSpc>
            </a:pPr>
            <a:r>
              <a:rPr sz="1000" b="0" spc="70">
                <a:solidFill>
                  <a:srgbClr val="00ABAF"/>
                </a:solidFill>
                <a:latin typeface="Diodrum Arabic SemiBold"/>
                <a:ea typeface="Diodrum Arabic SemiBold"/>
                <a:cs typeface="Diodrum Arabic SemiBold"/>
              </a:rPr>
              <a:t>DELIVERY AND PARTNERS — WHO DOES WHAT</a:t>
            </a:r>
          </a:p>
        </p:txBody>
      </p:sp>
      <p:sp>
        <p:nvSpPr>
          <p:cNvPr id="7" name="TextBox 6"/>
          <p:cNvSpPr txBox="1"/>
          <p:nvPr/>
        </p:nvSpPr>
        <p:spPr>
          <a:xfrm>
            <a:off x="3881628" y="1341374"/>
            <a:ext cx="3113532" cy="1416177"/>
          </a:xfrm>
          <a:prstGeom prst="rect">
            <a:avLst/>
          </a:prstGeom>
          <a:noFill/>
        </p:spPr>
        <p:txBody>
          <a:bodyPr wrap="square" lIns="0" rIns="0" tIns="0" bIns="0">
            <a:spAutoFit/>
          </a:bodyPr>
          <a:lstStyle/>
          <a:p>
            <a:pPr algn="just">
              <a:lnSpc>
                <a:spcPts val="1207"/>
              </a:lnSpc>
            </a:pPr>
            <a:r>
              <a:rPr sz="850" b="0">
                <a:solidFill>
                  <a:srgbClr val="474956"/>
                </a:solidFill>
                <a:latin typeface="Diodrum Arabic"/>
                <a:ea typeface="Diodrum Arabic"/>
                <a:cs typeface="Diodrum Arabic"/>
              </a:rPr>
              <a:t>The international partner provides methodology, expertise, and faculty. The Qudratak programme leads operations and the relationship with government entities, and retains ownership of the data, cases, and measurement framework as stipulated in the contracts. A close pattern is documented at Singapore’s announced Digital Government Institute, combining government funding and academic partnership in one entity [29]. Even in pathways where seats are bought or content licensed, this separation remains constant.</a:t>
            </a:r>
          </a:p>
        </p:txBody>
      </p:sp>
      <p:sp>
        <p:nvSpPr>
          <p:cNvPr id="8" name="Rounded Rectangle 7"/>
          <p:cNvSpPr/>
          <p:nvPr/>
        </p:nvSpPr>
        <p:spPr>
          <a:xfrm>
            <a:off x="566928" y="2967863"/>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150743"/>
            <a:ext cx="6062471" cy="191262"/>
          </a:xfrm>
          <a:prstGeom prst="rect">
            <a:avLst/>
          </a:prstGeom>
          <a:noFill/>
        </p:spPr>
        <p:txBody>
          <a:bodyPr wrap="square" lIns="0" rIns="0" tIns="0" bIns="0">
            <a:spAutoFit/>
          </a:bodyPr>
          <a:lstStyle/>
          <a:p>
            <a:pPr algn="l">
              <a:lnSpc>
                <a:spcPts val="1218"/>
              </a:lnSpc>
            </a:pPr>
            <a:r>
              <a:rPr sz="1050" b="0" spc="90">
                <a:solidFill>
                  <a:srgbClr val="D9F3EE"/>
                </a:solidFill>
                <a:latin typeface="Diodrum Arabic SemiBold"/>
                <a:ea typeface="Diodrum Arabic SemiBold"/>
                <a:cs typeface="Diodrum Arabic SemiBold"/>
              </a:rPr>
              <a:t>WHY THIS DIVISION MATTERS</a:t>
            </a:r>
          </a:p>
        </p:txBody>
      </p:sp>
      <p:sp>
        <p:nvSpPr>
          <p:cNvPr id="10" name="TextBox 9"/>
          <p:cNvSpPr txBox="1"/>
          <p:nvPr/>
        </p:nvSpPr>
        <p:spPr>
          <a:xfrm>
            <a:off x="749808" y="3351149"/>
            <a:ext cx="6062471" cy="361187"/>
          </a:xfrm>
          <a:prstGeom prst="rect">
            <a:avLst/>
          </a:prstGeom>
          <a:noFill/>
        </p:spPr>
        <p:txBody>
          <a:bodyPr wrap="square" lIns="0" rIns="0" tIns="0" bIns="0">
            <a:spAutoFit/>
          </a:bodyPr>
          <a:lstStyle/>
          <a:p>
            <a:pPr algn="just">
              <a:lnSpc>
                <a:spcPts val="1278"/>
              </a:lnSpc>
            </a:pPr>
            <a:r>
              <a:rPr sz="900" b="0">
                <a:solidFill>
                  <a:srgbClr val="FFFFFF"/>
                </a:solidFill>
                <a:latin typeface="Diodrum Arabic"/>
                <a:ea typeface="Diodrum Arabic"/>
                <a:cs typeface="Diodrum Arabic"/>
              </a:rPr>
              <a:t>It separates expertise that is hired from capability that is owned. What is hired accelerates launch but does not accumulate with the owner; what is owned accumulates with every cohort and cannot be bought ready-made [70].</a:t>
            </a:r>
          </a:p>
        </p:txBody>
      </p:sp>
      <p:sp>
        <p:nvSpPr>
          <p:cNvPr id="11" name="Rectangle 10"/>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13" name="TextBox 12"/>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05 · 5.5  MEASUREMENT, GOVERNANCE, AND CONFIDENTIALITY</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Measurement starts before the programme; governance separates six elements</a:t>
            </a:r>
          </a:p>
        </p:txBody>
      </p:sp>
      <p:sp>
        <p:nvSpPr>
          <p:cNvPr id="4" name="TextBox 3"/>
          <p:cNvSpPr txBox="1"/>
          <p:nvPr/>
        </p:nvSpPr>
        <p:spPr>
          <a:xfrm>
            <a:off x="566928" y="1401318"/>
            <a:ext cx="3238073" cy="183896"/>
          </a:xfrm>
          <a:prstGeom prst="rect">
            <a:avLst/>
          </a:prstGeom>
          <a:noFill/>
        </p:spPr>
        <p:txBody>
          <a:bodyPr wrap="square" lIns="0" rIns="0" tIns="0" bIns="0">
            <a:spAutoFit/>
          </a:bodyPr>
          <a:lstStyle/>
          <a:p>
            <a:pPr algn="l">
              <a:lnSpc>
                <a:spcPts val="1160"/>
              </a:lnSpc>
            </a:pPr>
            <a:r>
              <a:rPr sz="1000" b="0" spc="70">
                <a:solidFill>
                  <a:srgbClr val="00ABAF"/>
                </a:solidFill>
                <a:latin typeface="Diodrum Arabic SemiBold"/>
                <a:ea typeface="Diodrum Arabic SemiBold"/>
                <a:cs typeface="Diodrum Arabic SemiBold"/>
              </a:rPr>
              <a:t>SIX GRADUATED MEASUREMENT STEPS [63]</a:t>
            </a:r>
          </a:p>
        </p:txBody>
      </p:sp>
      <p:sp>
        <p:nvSpPr>
          <p:cNvPr id="5" name="Rounded Rectangle 4"/>
          <p:cNvSpPr/>
          <p:nvPr/>
        </p:nvSpPr>
        <p:spPr>
          <a:xfrm>
            <a:off x="566928" y="1630934"/>
            <a:ext cx="3238073" cy="274320"/>
          </a:xfrm>
          <a:prstGeom prst="roundRect">
            <a:avLst>
              <a:gd name="adj" fmla="val 23333"/>
            </a:avLst>
          </a:prstGeom>
          <a:solidFill>
            <a:srgbClr val="D6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681226"/>
            <a:ext cx="228600" cy="198628"/>
          </a:xfrm>
          <a:prstGeom prst="rect">
            <a:avLst/>
          </a:prstGeom>
          <a:noFill/>
        </p:spPr>
        <p:txBody>
          <a:bodyPr wrap="square" lIns="0" rIns="0" tIns="0" bIns="0">
            <a:spAutoFit/>
          </a:bodyPr>
          <a:lstStyle/>
          <a:p>
            <a:pPr algn="ctr">
              <a:lnSpc>
                <a:spcPts val="1276"/>
              </a:lnSpc>
            </a:pPr>
            <a:r>
              <a:rPr sz="1100" b="1">
                <a:solidFill>
                  <a:srgbClr val="2A206A"/>
                </a:solidFill>
                <a:latin typeface="Diodrum Arabic"/>
                <a:ea typeface="Diodrum Arabic"/>
                <a:cs typeface="Diodrum Arabic"/>
              </a:rPr>
              <a:t>1</a:t>
            </a:r>
          </a:p>
        </p:txBody>
      </p:sp>
      <p:sp>
        <p:nvSpPr>
          <p:cNvPr id="7" name="TextBox 6"/>
          <p:cNvSpPr txBox="1"/>
          <p:nvPr/>
        </p:nvSpPr>
        <p:spPr>
          <a:xfrm>
            <a:off x="969264" y="1690370"/>
            <a:ext cx="2707721" cy="185166"/>
          </a:xfrm>
          <a:prstGeom prst="rect">
            <a:avLst/>
          </a:prstGeom>
          <a:noFill/>
        </p:spPr>
        <p:txBody>
          <a:bodyPr wrap="square" lIns="0" rIns="0" tIns="0" bIns="0">
            <a:spAutoFit/>
          </a:bodyPr>
          <a:lstStyle/>
          <a:p>
            <a:pPr algn="l">
              <a:lnSpc>
                <a:spcPts val="1170"/>
              </a:lnSpc>
            </a:pPr>
            <a:r>
              <a:rPr sz="900" b="0">
                <a:solidFill>
                  <a:srgbClr val="232046"/>
                </a:solidFill>
                <a:latin typeface="Diodrum Arabic Medium"/>
                <a:ea typeface="Diodrum Arabic Medium"/>
                <a:cs typeface="Diodrum Arabic Medium"/>
              </a:rPr>
              <a:t>Foundational understanding</a:t>
            </a:r>
          </a:p>
        </p:txBody>
      </p:sp>
      <p:sp>
        <p:nvSpPr>
          <p:cNvPr id="8" name="Rounded Rectangle 7"/>
          <p:cNvSpPr/>
          <p:nvPr/>
        </p:nvSpPr>
        <p:spPr>
          <a:xfrm>
            <a:off x="731520" y="1955546"/>
            <a:ext cx="3073481" cy="274320"/>
          </a:xfrm>
          <a:prstGeom prst="roundRect">
            <a:avLst>
              <a:gd name="adj" fmla="val 23333"/>
            </a:avLst>
          </a:prstGeom>
          <a:solidFill>
            <a:srgbClr val="B2E5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05838"/>
            <a:ext cx="228600" cy="198628"/>
          </a:xfrm>
          <a:prstGeom prst="rect">
            <a:avLst/>
          </a:prstGeom>
          <a:noFill/>
        </p:spPr>
        <p:txBody>
          <a:bodyPr wrap="square" lIns="0" rIns="0" tIns="0" bIns="0">
            <a:spAutoFit/>
          </a:bodyPr>
          <a:lstStyle/>
          <a:p>
            <a:pPr algn="ctr">
              <a:lnSpc>
                <a:spcPts val="1276"/>
              </a:lnSpc>
            </a:pPr>
            <a:r>
              <a:rPr sz="1100" b="1">
                <a:solidFill>
                  <a:srgbClr val="2A206A"/>
                </a:solidFill>
                <a:latin typeface="Diodrum Arabic"/>
                <a:ea typeface="Diodrum Arabic"/>
                <a:cs typeface="Diodrum Arabic"/>
              </a:rPr>
              <a:t>2</a:t>
            </a:r>
          </a:p>
        </p:txBody>
      </p:sp>
      <p:sp>
        <p:nvSpPr>
          <p:cNvPr id="10" name="TextBox 9"/>
          <p:cNvSpPr txBox="1"/>
          <p:nvPr/>
        </p:nvSpPr>
        <p:spPr>
          <a:xfrm>
            <a:off x="1133856" y="2014982"/>
            <a:ext cx="2543129" cy="185166"/>
          </a:xfrm>
          <a:prstGeom prst="rect">
            <a:avLst/>
          </a:prstGeom>
          <a:noFill/>
        </p:spPr>
        <p:txBody>
          <a:bodyPr wrap="square" lIns="0" rIns="0" tIns="0" bIns="0">
            <a:spAutoFit/>
          </a:bodyPr>
          <a:lstStyle/>
          <a:p>
            <a:pPr algn="l">
              <a:lnSpc>
                <a:spcPts val="1170"/>
              </a:lnSpc>
            </a:pPr>
            <a:r>
              <a:rPr sz="900" b="0">
                <a:solidFill>
                  <a:srgbClr val="232046"/>
                </a:solidFill>
                <a:latin typeface="Diodrum Arabic Medium"/>
                <a:ea typeface="Diodrum Arabic Medium"/>
                <a:cs typeface="Diodrum Arabic Medium"/>
              </a:rPr>
              <a:t>Quality of judgement on scenarios</a:t>
            </a:r>
          </a:p>
        </p:txBody>
      </p:sp>
      <p:sp>
        <p:nvSpPr>
          <p:cNvPr id="11" name="Rounded Rectangle 10"/>
          <p:cNvSpPr/>
          <p:nvPr/>
        </p:nvSpPr>
        <p:spPr>
          <a:xfrm>
            <a:off x="896112" y="2280158"/>
            <a:ext cx="2908889" cy="274320"/>
          </a:xfrm>
          <a:prstGeom prst="roundRect">
            <a:avLst>
              <a:gd name="adj" fmla="val 23333"/>
            </a:avLst>
          </a:prstGeom>
          <a:solidFill>
            <a:srgbClr val="8EDA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330450"/>
            <a:ext cx="228600" cy="198628"/>
          </a:xfrm>
          <a:prstGeom prst="rect">
            <a:avLst/>
          </a:prstGeom>
          <a:noFill/>
        </p:spPr>
        <p:txBody>
          <a:bodyPr wrap="square" lIns="0" rIns="0" tIns="0" bIns="0">
            <a:spAutoFit/>
          </a:bodyPr>
          <a:lstStyle/>
          <a:p>
            <a:pPr algn="ctr">
              <a:lnSpc>
                <a:spcPts val="1276"/>
              </a:lnSpc>
            </a:pPr>
            <a:r>
              <a:rPr sz="1100" b="1">
                <a:solidFill>
                  <a:srgbClr val="2A206A"/>
                </a:solidFill>
                <a:latin typeface="Diodrum Arabic"/>
                <a:ea typeface="Diodrum Arabic"/>
                <a:cs typeface="Diodrum Arabic"/>
              </a:rPr>
              <a:t>3</a:t>
            </a:r>
          </a:p>
        </p:txBody>
      </p:sp>
      <p:sp>
        <p:nvSpPr>
          <p:cNvPr id="13" name="TextBox 12"/>
          <p:cNvSpPr txBox="1"/>
          <p:nvPr/>
        </p:nvSpPr>
        <p:spPr>
          <a:xfrm>
            <a:off x="1298448" y="2339594"/>
            <a:ext cx="2378537" cy="185166"/>
          </a:xfrm>
          <a:prstGeom prst="rect">
            <a:avLst/>
          </a:prstGeom>
          <a:noFill/>
        </p:spPr>
        <p:txBody>
          <a:bodyPr wrap="square" lIns="0" rIns="0" tIns="0" bIns="0">
            <a:spAutoFit/>
          </a:bodyPr>
          <a:lstStyle/>
          <a:p>
            <a:pPr algn="l">
              <a:lnSpc>
                <a:spcPts val="1170"/>
              </a:lnSpc>
            </a:pPr>
            <a:r>
              <a:rPr sz="900" b="0">
                <a:solidFill>
                  <a:srgbClr val="232046"/>
                </a:solidFill>
                <a:latin typeface="Diodrum Arabic Medium"/>
                <a:ea typeface="Diodrum Arabic Medium"/>
                <a:cs typeface="Diodrum Arabic Medium"/>
              </a:rPr>
              <a:t>Quality of the applied output</a:t>
            </a:r>
          </a:p>
        </p:txBody>
      </p:sp>
      <p:sp>
        <p:nvSpPr>
          <p:cNvPr id="14" name="Rounded Rectangle 13"/>
          <p:cNvSpPr/>
          <p:nvPr/>
        </p:nvSpPr>
        <p:spPr>
          <a:xfrm>
            <a:off x="1060704" y="2604770"/>
            <a:ext cx="2744297" cy="416052"/>
          </a:xfrm>
          <a:prstGeom prst="roundRect">
            <a:avLst>
              <a:gd name="adj" fmla="val 15384"/>
            </a:avLst>
          </a:prstGeom>
          <a:solidFill>
            <a:srgbClr val="6BCE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655062"/>
            <a:ext cx="228600" cy="198628"/>
          </a:xfrm>
          <a:prstGeom prst="rect">
            <a:avLst/>
          </a:prstGeom>
          <a:noFill/>
        </p:spPr>
        <p:txBody>
          <a:bodyPr wrap="square" lIns="0" rIns="0" tIns="0" bIns="0">
            <a:spAutoFit/>
          </a:bodyPr>
          <a:lstStyle/>
          <a:p>
            <a:pPr algn="ctr">
              <a:lnSpc>
                <a:spcPts val="1276"/>
              </a:lnSpc>
            </a:pPr>
            <a:r>
              <a:rPr sz="1100" b="1">
                <a:solidFill>
                  <a:srgbClr val="2A206A"/>
                </a:solidFill>
                <a:latin typeface="Diodrum Arabic"/>
                <a:ea typeface="Diodrum Arabic"/>
                <a:cs typeface="Diodrum Arabic"/>
              </a:rPr>
              <a:t>4</a:t>
            </a:r>
          </a:p>
        </p:txBody>
      </p:sp>
      <p:sp>
        <p:nvSpPr>
          <p:cNvPr id="16" name="TextBox 15"/>
          <p:cNvSpPr txBox="1"/>
          <p:nvPr/>
        </p:nvSpPr>
        <p:spPr>
          <a:xfrm>
            <a:off x="1463040" y="2664206"/>
            <a:ext cx="2213945" cy="333756"/>
          </a:xfrm>
          <a:prstGeom prst="rect">
            <a:avLst/>
          </a:prstGeom>
          <a:noFill/>
        </p:spPr>
        <p:txBody>
          <a:bodyPr wrap="square" lIns="0" rIns="0" tIns="0" bIns="0">
            <a:spAutoFit/>
          </a:bodyPr>
          <a:lstStyle/>
          <a:p>
            <a:pPr algn="l">
              <a:lnSpc>
                <a:spcPts val="1170"/>
              </a:lnSpc>
            </a:pPr>
            <a:r>
              <a:rPr sz="900" b="0">
                <a:solidFill>
                  <a:srgbClr val="232046"/>
                </a:solidFill>
                <a:latin typeface="Diodrum Arabic Medium"/>
                <a:ea typeface="Diodrum Arabic Medium"/>
                <a:cs typeface="Diodrum Arabic Medium"/>
              </a:rPr>
              <a:t>Application of the output after the programme</a:t>
            </a:r>
          </a:p>
        </p:txBody>
      </p:sp>
      <p:sp>
        <p:nvSpPr>
          <p:cNvPr id="17" name="Rounded Rectangle 16"/>
          <p:cNvSpPr/>
          <p:nvPr/>
        </p:nvSpPr>
        <p:spPr>
          <a:xfrm>
            <a:off x="1225295" y="3071114"/>
            <a:ext cx="2579705" cy="274320"/>
          </a:xfrm>
          <a:prstGeom prst="roundRect">
            <a:avLst>
              <a:gd name="adj" fmla="val 23333"/>
            </a:avLst>
          </a:prstGeom>
          <a:solidFill>
            <a:srgbClr val="47C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53312" y="3121406"/>
            <a:ext cx="228600" cy="198628"/>
          </a:xfrm>
          <a:prstGeom prst="rect">
            <a:avLst/>
          </a:prstGeom>
          <a:noFill/>
        </p:spPr>
        <p:txBody>
          <a:bodyPr wrap="square" lIns="0" rIns="0" tIns="0" bIns="0">
            <a:spAutoFit/>
          </a:bodyPr>
          <a:lstStyle/>
          <a:p>
            <a:pPr algn="ctr">
              <a:lnSpc>
                <a:spcPts val="1276"/>
              </a:lnSpc>
            </a:pPr>
            <a:r>
              <a:rPr sz="1100" b="1">
                <a:solidFill>
                  <a:srgbClr val="2A206A"/>
                </a:solidFill>
                <a:latin typeface="Diodrum Arabic"/>
                <a:ea typeface="Diodrum Arabic"/>
                <a:cs typeface="Diodrum Arabic"/>
              </a:rPr>
              <a:t>5</a:t>
            </a:r>
          </a:p>
        </p:txBody>
      </p:sp>
      <p:sp>
        <p:nvSpPr>
          <p:cNvPr id="19" name="TextBox 18"/>
          <p:cNvSpPr txBox="1"/>
          <p:nvPr/>
        </p:nvSpPr>
        <p:spPr>
          <a:xfrm>
            <a:off x="1627632" y="3130550"/>
            <a:ext cx="2049353" cy="185166"/>
          </a:xfrm>
          <a:prstGeom prst="rect">
            <a:avLst/>
          </a:prstGeom>
          <a:noFill/>
        </p:spPr>
        <p:txBody>
          <a:bodyPr wrap="square" lIns="0" rIns="0" tIns="0" bIns="0">
            <a:spAutoFit/>
          </a:bodyPr>
          <a:lstStyle/>
          <a:p>
            <a:pPr algn="l">
              <a:lnSpc>
                <a:spcPts val="1170"/>
              </a:lnSpc>
            </a:pPr>
            <a:r>
              <a:rPr sz="900" b="0">
                <a:solidFill>
                  <a:srgbClr val="232046"/>
                </a:solidFill>
                <a:latin typeface="Diodrum Arabic Medium"/>
                <a:ea typeface="Diodrum Arabic Medium"/>
                <a:cs typeface="Diodrum Arabic Medium"/>
              </a:rPr>
              <a:t>Impact on the entity’s decisions</a:t>
            </a:r>
          </a:p>
        </p:txBody>
      </p:sp>
      <p:sp>
        <p:nvSpPr>
          <p:cNvPr id="20" name="Rounded Rectangle 19"/>
          <p:cNvSpPr/>
          <p:nvPr/>
        </p:nvSpPr>
        <p:spPr>
          <a:xfrm>
            <a:off x="1389888" y="3395726"/>
            <a:ext cx="2415113" cy="416052"/>
          </a:xfrm>
          <a:prstGeom prst="roundRect">
            <a:avLst>
              <a:gd name="adj" fmla="val 15384"/>
            </a:avLst>
          </a:prstGeom>
          <a:solidFill>
            <a:srgbClr val="23B6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17904" y="3446018"/>
            <a:ext cx="228600" cy="198628"/>
          </a:xfrm>
          <a:prstGeom prst="rect">
            <a:avLst/>
          </a:prstGeom>
          <a:noFill/>
        </p:spPr>
        <p:txBody>
          <a:bodyPr wrap="square" lIns="0" rIns="0" tIns="0" bIns="0">
            <a:spAutoFit/>
          </a:bodyPr>
          <a:lstStyle/>
          <a:p>
            <a:pPr algn="ctr">
              <a:lnSpc>
                <a:spcPts val="1276"/>
              </a:lnSpc>
            </a:pPr>
            <a:r>
              <a:rPr sz="1100" b="1">
                <a:solidFill>
                  <a:srgbClr val="2A206A"/>
                </a:solidFill>
                <a:latin typeface="Diodrum Arabic"/>
                <a:ea typeface="Diodrum Arabic"/>
                <a:cs typeface="Diodrum Arabic"/>
              </a:rPr>
              <a:t>6</a:t>
            </a:r>
          </a:p>
        </p:txBody>
      </p:sp>
      <p:sp>
        <p:nvSpPr>
          <p:cNvPr id="22" name="TextBox 21"/>
          <p:cNvSpPr txBox="1"/>
          <p:nvPr/>
        </p:nvSpPr>
        <p:spPr>
          <a:xfrm>
            <a:off x="1792224" y="3455162"/>
            <a:ext cx="1884761" cy="333756"/>
          </a:xfrm>
          <a:prstGeom prst="rect">
            <a:avLst/>
          </a:prstGeom>
          <a:noFill/>
        </p:spPr>
        <p:txBody>
          <a:bodyPr wrap="square" lIns="0" rIns="0" tIns="0" bIns="0">
            <a:spAutoFit/>
          </a:bodyPr>
          <a:lstStyle/>
          <a:p>
            <a:pPr algn="l">
              <a:lnSpc>
                <a:spcPts val="1170"/>
              </a:lnSpc>
            </a:pPr>
            <a:r>
              <a:rPr sz="900" b="0">
                <a:solidFill>
                  <a:srgbClr val="232046"/>
                </a:solidFill>
                <a:latin typeface="Diodrum Arabic Medium"/>
                <a:ea typeface="Diodrum Arabic Medium"/>
                <a:cs typeface="Diodrum Arabic Medium"/>
              </a:rPr>
              <a:t>Institutional or service impact, when data allow</a:t>
            </a:r>
          </a:p>
        </p:txBody>
      </p:sp>
      <p:sp>
        <p:nvSpPr>
          <p:cNvPr id="23" name="TextBox 22"/>
          <p:cNvSpPr txBox="1"/>
          <p:nvPr/>
        </p:nvSpPr>
        <p:spPr>
          <a:xfrm>
            <a:off x="4006169" y="1401318"/>
            <a:ext cx="2988990" cy="331215"/>
          </a:xfrm>
          <a:prstGeom prst="rect">
            <a:avLst/>
          </a:prstGeom>
          <a:noFill/>
        </p:spPr>
        <p:txBody>
          <a:bodyPr wrap="square" lIns="0" rIns="0" tIns="0" bIns="0">
            <a:spAutoFit/>
          </a:bodyPr>
          <a:lstStyle/>
          <a:p>
            <a:pPr algn="l">
              <a:lnSpc>
                <a:spcPts val="1160"/>
              </a:lnSpc>
            </a:pPr>
            <a:r>
              <a:rPr sz="1000" b="0" spc="70">
                <a:solidFill>
                  <a:srgbClr val="7C32C9"/>
                </a:solidFill>
                <a:latin typeface="Diodrum Arabic SemiBold"/>
                <a:ea typeface="Diodrum Arabic SemiBold"/>
                <a:cs typeface="Diodrum Arabic SemiBold"/>
              </a:rPr>
              <a:t>SIX GOVERNANCE ELEMENTS, USUALLY CONFLATED</a:t>
            </a:r>
          </a:p>
        </p:txBody>
      </p:sp>
      <p:sp>
        <p:nvSpPr>
          <p:cNvPr id="24" name="TextBox 23"/>
          <p:cNvSpPr txBox="1"/>
          <p:nvPr/>
        </p:nvSpPr>
        <p:spPr>
          <a:xfrm>
            <a:off x="4006169" y="1773682"/>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25" name="TextBox 24"/>
          <p:cNvSpPr txBox="1"/>
          <p:nvPr/>
        </p:nvSpPr>
        <p:spPr>
          <a:xfrm>
            <a:off x="4179905" y="1778254"/>
            <a:ext cx="2815254"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Contractual confidentiality.</a:t>
            </a:r>
          </a:p>
        </p:txBody>
      </p:sp>
      <p:sp>
        <p:nvSpPr>
          <p:cNvPr id="26" name="TextBox 25"/>
          <p:cNvSpPr txBox="1"/>
          <p:nvPr/>
        </p:nvSpPr>
        <p:spPr>
          <a:xfrm>
            <a:off x="4006169" y="1972945"/>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27" name="TextBox 26"/>
          <p:cNvSpPr txBox="1"/>
          <p:nvPr/>
        </p:nvSpPr>
        <p:spPr>
          <a:xfrm>
            <a:off x="4179905" y="1977517"/>
            <a:ext cx="2815254"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Data ownership.</a:t>
            </a:r>
          </a:p>
        </p:txBody>
      </p:sp>
      <p:sp>
        <p:nvSpPr>
          <p:cNvPr id="28" name="TextBox 27"/>
          <p:cNvSpPr txBox="1"/>
          <p:nvPr/>
        </p:nvSpPr>
        <p:spPr>
          <a:xfrm>
            <a:off x="4006169" y="2172208"/>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29" name="TextBox 28"/>
          <p:cNvSpPr txBox="1"/>
          <p:nvPr/>
        </p:nvSpPr>
        <p:spPr>
          <a:xfrm>
            <a:off x="4179905" y="2176780"/>
            <a:ext cx="2815254"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The Chatham House Rule.</a:t>
            </a:r>
          </a:p>
        </p:txBody>
      </p:sp>
      <p:sp>
        <p:nvSpPr>
          <p:cNvPr id="30" name="TextBox 29"/>
          <p:cNvSpPr txBox="1"/>
          <p:nvPr/>
        </p:nvSpPr>
        <p:spPr>
          <a:xfrm>
            <a:off x="4006169" y="2371471"/>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31" name="TextBox 30"/>
          <p:cNvSpPr txBox="1"/>
          <p:nvPr/>
        </p:nvSpPr>
        <p:spPr>
          <a:xfrm>
            <a:off x="4179905" y="2376043"/>
            <a:ext cx="2815254"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The use of participants’ names.</a:t>
            </a:r>
          </a:p>
        </p:txBody>
      </p:sp>
      <p:sp>
        <p:nvSpPr>
          <p:cNvPr id="32" name="TextBox 31"/>
          <p:cNvSpPr txBox="1"/>
          <p:nvPr/>
        </p:nvSpPr>
        <p:spPr>
          <a:xfrm>
            <a:off x="4006169" y="2570734"/>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33" name="TextBox 32"/>
          <p:cNvSpPr txBox="1"/>
          <p:nvPr/>
        </p:nvSpPr>
        <p:spPr>
          <a:xfrm>
            <a:off x="4179905" y="2575305"/>
            <a:ext cx="2815254"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The retention of cases and documents.</a:t>
            </a:r>
          </a:p>
        </p:txBody>
      </p:sp>
      <p:sp>
        <p:nvSpPr>
          <p:cNvPr id="34" name="TextBox 33"/>
          <p:cNvSpPr txBox="1"/>
          <p:nvPr/>
        </p:nvSpPr>
        <p:spPr>
          <a:xfrm>
            <a:off x="4006169" y="2769996"/>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35" name="TextBox 34"/>
          <p:cNvSpPr txBox="1"/>
          <p:nvPr/>
        </p:nvSpPr>
        <p:spPr>
          <a:xfrm>
            <a:off x="4179905" y="2774568"/>
            <a:ext cx="2815254"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Access privileges.</a:t>
            </a:r>
          </a:p>
        </p:txBody>
      </p:sp>
      <p:sp>
        <p:nvSpPr>
          <p:cNvPr id="36" name="Rounded Rectangle 35"/>
          <p:cNvSpPr/>
          <p:nvPr/>
        </p:nvSpPr>
        <p:spPr>
          <a:xfrm>
            <a:off x="4006169" y="3046983"/>
            <a:ext cx="2988990" cy="1602105"/>
          </a:xfrm>
          <a:prstGeom prst="roundRect">
            <a:avLst>
              <a:gd name="adj" fmla="val 5136"/>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70761" y="3211575"/>
            <a:ext cx="2659806" cy="345947"/>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WHY THE RULE ALONE IS NOT ENOUGH</a:t>
            </a:r>
          </a:p>
        </p:txBody>
      </p:sp>
      <p:sp>
        <p:nvSpPr>
          <p:cNvPr id="38" name="TextBox 37"/>
          <p:cNvSpPr txBox="1"/>
          <p:nvPr/>
        </p:nvSpPr>
        <p:spPr>
          <a:xfrm>
            <a:off x="4170761" y="3575812"/>
            <a:ext cx="2659806" cy="902207"/>
          </a:xfrm>
          <a:prstGeom prst="rect">
            <a:avLst/>
          </a:prstGeom>
          <a:noFill/>
        </p:spPr>
        <p:txBody>
          <a:bodyPr wrap="square" lIns="0" rIns="0" tIns="0" bIns="0">
            <a:spAutoFit/>
          </a:bodyPr>
          <a:lstStyle/>
          <a:p>
            <a:pPr algn="just">
              <a:lnSpc>
                <a:spcPts val="1136"/>
              </a:lnSpc>
            </a:pPr>
            <a:r>
              <a:rPr sz="800" b="0">
                <a:solidFill>
                  <a:srgbClr val="474956"/>
                </a:solidFill>
                <a:latin typeface="Diodrum Arabic"/>
                <a:ea typeface="Diodrum Arabic"/>
                <a:cs typeface="Diodrum Arabic"/>
              </a:rPr>
              <a:t>The Chatham House Rule governs what may be recounted about a session; it governs neither data ownership, nor case retention, nor marketing using participants’ names. These mechanisms are documented clause by clause in contracts and procured independently of content, as bodies specialised in senior-leadership protocols do [64].</a:t>
            </a:r>
          </a:p>
        </p:txBody>
      </p:sp>
      <p:sp>
        <p:nvSpPr>
          <p:cNvPr id="39" name="Rounded Rectangle 38"/>
          <p:cNvSpPr/>
          <p:nvPr/>
        </p:nvSpPr>
        <p:spPr>
          <a:xfrm>
            <a:off x="566928" y="4895976"/>
            <a:ext cx="6428231" cy="1232344"/>
          </a:xfrm>
          <a:prstGeom prst="roundRect">
            <a:avLst>
              <a:gd name="adj" fmla="val 6678"/>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060568"/>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THE EVALUATION CONTEXT</a:t>
            </a:r>
          </a:p>
        </p:txBody>
      </p:sp>
      <p:sp>
        <p:nvSpPr>
          <p:cNvPr id="41" name="TextBox 40"/>
          <p:cNvSpPr txBox="1"/>
          <p:nvPr/>
        </p:nvSpPr>
        <p:spPr>
          <a:xfrm>
            <a:off x="731520" y="5270118"/>
            <a:ext cx="6099047" cy="685800"/>
          </a:xfrm>
          <a:prstGeom prst="rect">
            <a:avLst/>
          </a:prstGeom>
          <a:noFill/>
        </p:spPr>
        <p:txBody>
          <a:bodyPr wrap="square" lIns="0" rIns="0" tIns="0" bIns="0">
            <a:spAutoFit/>
          </a:bodyPr>
          <a:lstStyle/>
          <a:p>
            <a:pPr algn="just">
              <a:lnSpc>
                <a:spcPts val="1278"/>
              </a:lnSpc>
            </a:pPr>
            <a:r>
              <a:rPr sz="900" b="0">
                <a:solidFill>
                  <a:srgbClr val="474956"/>
                </a:solidFill>
                <a:latin typeface="Diodrum Arabic"/>
                <a:ea typeface="Diodrum Arabic"/>
                <a:cs typeface="Diodrum Arabic"/>
              </a:rPr>
              <a:t>As of the review date, the study identified a limited number of published evaluations of programmes of this kind — most notably the UK Cabinet Office’s independent evaluation of the Digital Excellence Programme, described by its evaluators as inconclusive [40]. By building measurement from the first cohort, the proposed programme adds a more rigorous evaluation to that thin global record.</a:t>
            </a:r>
          </a:p>
        </p:txBody>
      </p:sp>
      <p:sp>
        <p:nvSpPr>
          <p:cNvPr id="42" name="Rectangle 4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44" name="TextBox 43"/>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05 · 5.6  INDICATIVE COST</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An indicative envelope — not a quotation</a:t>
            </a:r>
          </a:p>
        </p:txBody>
      </p:sp>
      <p:sp>
        <p:nvSpPr>
          <p:cNvPr id="4" name="TextBox 3"/>
          <p:cNvSpPr txBox="1"/>
          <p:nvPr/>
        </p:nvSpPr>
        <p:spPr>
          <a:xfrm>
            <a:off x="566928" y="1111758"/>
            <a:ext cx="6428231" cy="374395"/>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Executive-education institutions price customised programmes as projects at full economic cost; their economics require a minimum cohort of roughly 10–15 participants [39].</a:t>
            </a:r>
          </a:p>
        </p:txBody>
      </p:sp>
      <p:sp>
        <p:nvSpPr>
          <p:cNvPr id="5" name="Rectangle 4"/>
          <p:cNvSpPr/>
          <p:nvPr/>
        </p:nvSpPr>
        <p:spPr>
          <a:xfrm>
            <a:off x="566928" y="154101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23898"/>
            <a:ext cx="3140963" cy="1116584"/>
          </a:xfrm>
          <a:prstGeom prst="roundRect">
            <a:avLst>
              <a:gd name="adj" fmla="val 737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870202"/>
            <a:ext cx="2848356" cy="316611"/>
          </a:xfrm>
          <a:prstGeom prst="rect">
            <a:avLst/>
          </a:prstGeom>
          <a:noFill/>
        </p:spPr>
        <p:txBody>
          <a:bodyPr wrap="square" lIns="0" rIns="0" tIns="0" bIns="0">
            <a:spAutoFit/>
          </a:bodyPr>
          <a:lstStyle/>
          <a:p>
            <a:pPr algn="l">
              <a:lnSpc>
                <a:spcPts val="2205"/>
              </a:lnSpc>
            </a:pPr>
            <a:r>
              <a:rPr sz="2100" b="1">
                <a:solidFill>
                  <a:srgbClr val="7C32C9"/>
                </a:solidFill>
                <a:latin typeface="Diodrum Arabic"/>
                <a:ea typeface="Diodrum Arabic"/>
                <a:cs typeface="Diodrum Arabic"/>
              </a:rPr>
              <a:t>SAR 45,000 – 94,000</a:t>
            </a:r>
          </a:p>
        </p:txBody>
      </p:sp>
      <p:sp>
        <p:nvSpPr>
          <p:cNvPr id="8" name="TextBox 7"/>
          <p:cNvSpPr txBox="1"/>
          <p:nvPr/>
        </p:nvSpPr>
        <p:spPr>
          <a:xfrm>
            <a:off x="713232" y="2236724"/>
            <a:ext cx="2848356" cy="328041"/>
          </a:xfrm>
          <a:prstGeom prst="rect">
            <a:avLst/>
          </a:prstGeom>
          <a:noFill/>
        </p:spPr>
        <p:txBody>
          <a:bodyPr wrap="square" lIns="0" rIns="0" tIns="0" bIns="0">
            <a:spAutoFit/>
          </a:bodyPr>
          <a:lstStyle/>
          <a:p>
            <a:pPr algn="l">
              <a:lnSpc>
                <a:spcPts val="1147"/>
              </a:lnSpc>
            </a:pPr>
            <a:r>
              <a:rPr sz="850" b="0">
                <a:solidFill>
                  <a:srgbClr val="474956"/>
                </a:solidFill>
                <a:latin typeface="Diodrum Arabic"/>
                <a:ea typeface="Diodrum Arabic"/>
                <a:cs typeface="Diodrum Arabic"/>
              </a:rPr>
              <a:t>per participant — indicative estimate for a 30-participant cohort at Level 2 or 3</a:t>
            </a:r>
          </a:p>
        </p:txBody>
      </p:sp>
      <p:sp>
        <p:nvSpPr>
          <p:cNvPr id="9" name="TextBox 8"/>
          <p:cNvSpPr txBox="1"/>
          <p:nvPr/>
        </p:nvSpPr>
        <p:spPr>
          <a:xfrm>
            <a:off x="713232" y="2583053"/>
            <a:ext cx="2848356" cy="164592"/>
          </a:xfrm>
          <a:prstGeom prst="rect">
            <a:avLst/>
          </a:prstGeom>
          <a:noFill/>
        </p:spPr>
        <p:txBody>
          <a:bodyPr wrap="square" lIns="0" rIns="0" tIns="0" bIns="0">
            <a:spAutoFit/>
          </a:bodyPr>
          <a:lstStyle/>
          <a:p>
            <a:pPr algn="l">
              <a:lnSpc>
                <a:spcPts val="875"/>
              </a:lnSpc>
            </a:pPr>
            <a:r>
              <a:rPr sz="700" b="0">
                <a:solidFill>
                  <a:srgbClr val="6E7077"/>
                </a:solidFill>
                <a:latin typeface="Diodrum Arabic"/>
                <a:ea typeface="Diodrum Arabic"/>
                <a:cs typeface="Diodrum Arabic"/>
              </a:rPr>
              <a:t>Study estimate [65]</a:t>
            </a:r>
          </a:p>
        </p:txBody>
      </p:sp>
      <p:sp>
        <p:nvSpPr>
          <p:cNvPr id="10" name="Rounded Rectangle 9"/>
          <p:cNvSpPr/>
          <p:nvPr/>
        </p:nvSpPr>
        <p:spPr>
          <a:xfrm>
            <a:off x="3854196" y="1723898"/>
            <a:ext cx="3140963" cy="1116584"/>
          </a:xfrm>
          <a:prstGeom prst="roundRect">
            <a:avLst>
              <a:gd name="adj" fmla="val 737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00500" y="1870202"/>
            <a:ext cx="2848356" cy="316611"/>
          </a:xfrm>
          <a:prstGeom prst="rect">
            <a:avLst/>
          </a:prstGeom>
          <a:noFill/>
        </p:spPr>
        <p:txBody>
          <a:bodyPr wrap="square" lIns="0" rIns="0" tIns="0" bIns="0">
            <a:spAutoFit/>
          </a:bodyPr>
          <a:lstStyle/>
          <a:p>
            <a:pPr algn="l">
              <a:lnSpc>
                <a:spcPts val="2205"/>
              </a:lnSpc>
            </a:pPr>
            <a:r>
              <a:rPr sz="2100" b="1">
                <a:solidFill>
                  <a:srgbClr val="00ABAF"/>
                </a:solidFill>
                <a:latin typeface="Diodrum Arabic"/>
                <a:ea typeface="Diodrum Arabic"/>
                <a:cs typeface="Diodrum Arabic"/>
              </a:rPr>
              <a:t>SAR 1.35 – 2.8 million</a:t>
            </a:r>
          </a:p>
        </p:txBody>
      </p:sp>
      <p:sp>
        <p:nvSpPr>
          <p:cNvPr id="12" name="TextBox 11"/>
          <p:cNvSpPr txBox="1"/>
          <p:nvPr/>
        </p:nvSpPr>
        <p:spPr>
          <a:xfrm>
            <a:off x="4000500" y="2236724"/>
            <a:ext cx="2848356" cy="182308"/>
          </a:xfrm>
          <a:prstGeom prst="rect">
            <a:avLst/>
          </a:prstGeom>
          <a:noFill/>
        </p:spPr>
        <p:txBody>
          <a:bodyPr wrap="square" lIns="0" rIns="0" tIns="0" bIns="0">
            <a:spAutoFit/>
          </a:bodyPr>
          <a:lstStyle/>
          <a:p>
            <a:pPr algn="l">
              <a:lnSpc>
                <a:spcPts val="1147"/>
              </a:lnSpc>
            </a:pPr>
            <a:r>
              <a:rPr sz="850" b="0">
                <a:solidFill>
                  <a:srgbClr val="474956"/>
                </a:solidFill>
                <a:latin typeface="Diodrum Arabic"/>
                <a:ea typeface="Diodrum Arabic"/>
                <a:cs typeface="Diodrum Arabic"/>
              </a:rPr>
              <a:t>total per 30-participant cohort</a:t>
            </a:r>
          </a:p>
        </p:txBody>
      </p:sp>
      <p:sp>
        <p:nvSpPr>
          <p:cNvPr id="13" name="TextBox 12"/>
          <p:cNvSpPr txBox="1"/>
          <p:nvPr/>
        </p:nvSpPr>
        <p:spPr>
          <a:xfrm>
            <a:off x="4000500" y="2437320"/>
            <a:ext cx="2848356" cy="164592"/>
          </a:xfrm>
          <a:prstGeom prst="rect">
            <a:avLst/>
          </a:prstGeom>
          <a:noFill/>
        </p:spPr>
        <p:txBody>
          <a:bodyPr wrap="square" lIns="0" rIns="0" tIns="0" bIns="0">
            <a:spAutoFit/>
          </a:bodyPr>
          <a:lstStyle/>
          <a:p>
            <a:pPr algn="l">
              <a:lnSpc>
                <a:spcPts val="875"/>
              </a:lnSpc>
            </a:pPr>
            <a:r>
              <a:rPr sz="700" b="0">
                <a:solidFill>
                  <a:srgbClr val="6E7077"/>
                </a:solidFill>
                <a:latin typeface="Diodrum Arabic"/>
                <a:ea typeface="Diodrum Arabic"/>
                <a:cs typeface="Diodrum Arabic"/>
              </a:rPr>
              <a:t>Study estimate [65]</a:t>
            </a:r>
          </a:p>
        </p:txBody>
      </p:sp>
      <p:sp>
        <p:nvSpPr>
          <p:cNvPr id="14" name="Rounded Rectangle 13"/>
          <p:cNvSpPr/>
          <p:nvPr/>
        </p:nvSpPr>
        <p:spPr>
          <a:xfrm>
            <a:off x="566928" y="3023362"/>
            <a:ext cx="6428231" cy="1070038"/>
          </a:xfrm>
          <a:prstGeom prst="roundRect">
            <a:avLst>
              <a:gd name="adj" fmla="val 769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187954"/>
            <a:ext cx="6099047" cy="191262"/>
          </a:xfrm>
          <a:prstGeom prst="rect">
            <a:avLst/>
          </a:prstGeom>
          <a:noFill/>
        </p:spPr>
        <p:txBody>
          <a:bodyPr wrap="square" lIns="0" rIns="0" tIns="0" bIns="0">
            <a:spAutoFit/>
          </a:bodyPr>
          <a:lstStyle/>
          <a:p>
            <a:pPr algn="l">
              <a:lnSpc>
                <a:spcPts val="1218"/>
              </a:lnSpc>
            </a:pPr>
            <a:r>
              <a:rPr sz="1050" b="0" spc="80">
                <a:solidFill>
                  <a:srgbClr val="7C32C9"/>
                </a:solidFill>
                <a:latin typeface="Diodrum Arabic SemiBold"/>
                <a:ea typeface="Diodrum Arabic SemiBold"/>
                <a:cs typeface="Diodrum Arabic SemiBold"/>
              </a:rPr>
              <a:t>HOW TO READ THESE FIGURES</a:t>
            </a:r>
          </a:p>
        </p:txBody>
      </p:sp>
      <p:sp>
        <p:nvSpPr>
          <p:cNvPr id="16" name="TextBox 15"/>
          <p:cNvSpPr txBox="1"/>
          <p:nvPr/>
        </p:nvSpPr>
        <p:spPr>
          <a:xfrm>
            <a:off x="731520" y="3397504"/>
            <a:ext cx="6099047" cy="523494"/>
          </a:xfrm>
          <a:prstGeom prst="rect">
            <a:avLst/>
          </a:prstGeom>
          <a:noFill/>
        </p:spPr>
        <p:txBody>
          <a:bodyPr wrap="square" lIns="0" rIns="0" tIns="0" bIns="0">
            <a:spAutoFit/>
          </a:bodyPr>
          <a:lstStyle/>
          <a:p>
            <a:pPr algn="just">
              <a:lnSpc>
                <a:spcPts val="1278"/>
              </a:lnSpc>
            </a:pPr>
            <a:r>
              <a:rPr sz="900" b="0">
                <a:solidFill>
                  <a:srgbClr val="474956"/>
                </a:solidFill>
                <a:latin typeface="Diodrum Arabic"/>
                <a:ea typeface="Diodrum Arabic"/>
                <a:cs typeface="Diodrum Arabic"/>
              </a:rPr>
              <a:t>Indicative estimates, not contractual offers [65]. The estimate does not apply directly to the ministerial pathway — small cohort, high customisation and confidentiality — nor to Level 4, which relies more heavily on licensing and digital scaling.</a:t>
            </a:r>
          </a:p>
        </p:txBody>
      </p:sp>
      <p:graphicFrame>
        <p:nvGraphicFramePr>
          <p:cNvPr id="17" name="Table 16"/>
          <p:cNvGraphicFramePr>
            <a:graphicFrameLocks noGrp="1"/>
          </p:cNvGraphicFramePr>
          <p:nvPr/>
        </p:nvGraphicFramePr>
        <p:xfrm>
          <a:off x="566928" y="4257992"/>
          <a:ext cx="6428231" cy="2918460"/>
        </p:xfrm>
        <a:graphic>
          <a:graphicData uri="http://schemas.openxmlformats.org/drawingml/2006/table">
            <a:tbl>
              <a:tblPr firstRow="1" bandRow="0"/>
              <a:tblGrid>
                <a:gridCol w="3985503"/>
                <a:gridCol w="2442728"/>
              </a:tblGrid>
              <a:tr h="253492">
                <a:tc>
                  <a:txBody>
                    <a:bodyPr wrap="square"/>
                    <a:lstStyle/>
                    <a:p>
                      <a:pPr algn="l">
                        <a:lnSpc>
                          <a:spcPts val="1024"/>
                        </a:lnSpc>
                      </a:pPr>
                      <a:r>
                        <a:rPr sz="800" b="0">
                          <a:solidFill>
                            <a:srgbClr val="FFFFFF"/>
                          </a:solidFill>
                          <a:latin typeface="Diodrum Arabic SemiBold"/>
                          <a:ea typeface="Diodrum Arabic SemiBold"/>
                          <a:cs typeface="Diodrum Arabic SemiBold"/>
                        </a:rPr>
                        <a:t>Cost component</a:t>
                      </a:r>
                    </a:p>
                  </a:txBody>
                  <a:tcPr marL="64008" marR="64008" marT="41148" marB="41148" anchor="ctr">
                    <a:solidFill>
                      <a:srgbClr val="241A5E"/>
                    </a:solidFill>
                  </a:tcPr>
                </a:tc>
                <a:tc>
                  <a:txBody>
                    <a:bodyPr wrap="square"/>
                    <a:lstStyle/>
                    <a:p>
                      <a:pPr algn="l">
                        <a:lnSpc>
                          <a:spcPts val="1024"/>
                        </a:lnSpc>
                      </a:pPr>
                      <a:r>
                        <a:rPr sz="800" b="0">
                          <a:solidFill>
                            <a:srgbClr val="FFFFFF"/>
                          </a:solidFill>
                          <a:latin typeface="Diodrum Arabic SemiBold"/>
                          <a:ea typeface="Diodrum Arabic SemiBold"/>
                          <a:cs typeface="Diodrum Arabic SemiBold"/>
                        </a:rPr>
                        <a:t>Indicative share of cohort cost</a:t>
                      </a:r>
                    </a:p>
                  </a:txBody>
                  <a:tcPr marL="64008" marR="64008" marT="41148" marB="41148" anchor="ctr">
                    <a:solidFill>
                      <a:srgbClr val="241A5E"/>
                    </a:solidFill>
                  </a:tcPr>
                </a:tc>
              </a:tr>
              <a:tr h="253492">
                <a:tc>
                  <a:txBody>
                    <a:bodyPr wrap="square"/>
                    <a:lstStyle/>
                    <a:p>
                      <a:pPr algn="l">
                        <a:lnSpc>
                          <a:spcPts val="1024"/>
                        </a:lnSpc>
                      </a:pPr>
                      <a:r>
                        <a:rPr sz="800" b="0">
                          <a:solidFill>
                            <a:srgbClr val="232046"/>
                          </a:solidFill>
                          <a:latin typeface="Diodrum Arabic SemiBold"/>
                          <a:ea typeface="Diodrum Arabic SemiBold"/>
                          <a:cs typeface="Diodrum Arabic SemiBold"/>
                        </a:rPr>
                        <a:t>Content design, needs analysis, and Saudi adaptation</a:t>
                      </a:r>
                    </a:p>
                  </a:txBody>
                  <a:tcPr marL="64008" marR="64008" marT="41148" marB="41148" anchor="ctr">
                    <a:solidFill>
                      <a:srgbClr val="FFFFFF"/>
                    </a:solidFill>
                  </a:tcPr>
                </a:tc>
                <a:tc>
                  <a:txBody>
                    <a:bodyPr wrap="square"/>
                    <a:lstStyle/>
                    <a:p>
                      <a:pPr algn="l">
                        <a:lnSpc>
                          <a:spcPts val="1024"/>
                        </a:lnSpc>
                      </a:pPr>
                      <a:r>
                        <a:rPr sz="800" b="0">
                          <a:solidFill>
                            <a:srgbClr val="474956"/>
                          </a:solidFill>
                          <a:latin typeface="Diodrum Arabic"/>
                          <a:ea typeface="Diodrum Arabic"/>
                          <a:cs typeface="Diodrum Arabic"/>
                        </a:rPr>
                        <a:t>12–18%</a:t>
                      </a:r>
                    </a:p>
                  </a:txBody>
                  <a:tcPr marL="64008" marR="64008" marT="41148" marB="41148" anchor="ctr">
                    <a:solidFill>
                      <a:srgbClr val="FFFFFF"/>
                    </a:solidFill>
                  </a:tcPr>
                </a:tc>
              </a:tr>
              <a:tr h="253492">
                <a:tc>
                  <a:txBody>
                    <a:bodyPr wrap="square"/>
                    <a:lstStyle/>
                    <a:p>
                      <a:pPr algn="l">
                        <a:lnSpc>
                          <a:spcPts val="1024"/>
                        </a:lnSpc>
                      </a:pPr>
                      <a:r>
                        <a:rPr sz="800" b="0">
                          <a:solidFill>
                            <a:srgbClr val="232046"/>
                          </a:solidFill>
                          <a:latin typeface="Diodrum Arabic SemiBold"/>
                          <a:ea typeface="Diodrum Arabic SemiBold"/>
                          <a:cs typeface="Diodrum Arabic SemiBold"/>
                        </a:rPr>
                        <a:t>Faculty (academics and practitioners, ≈10 teaching days)</a:t>
                      </a:r>
                    </a:p>
                  </a:txBody>
                  <a:tcPr marL="64008" marR="64008" marT="41148" marB="41148" anchor="ctr">
                    <a:solidFill>
                      <a:srgbClr val="F4F4F9"/>
                    </a:solidFill>
                  </a:tcPr>
                </a:tc>
                <a:tc>
                  <a:txBody>
                    <a:bodyPr wrap="square"/>
                    <a:lstStyle/>
                    <a:p>
                      <a:pPr algn="l">
                        <a:lnSpc>
                          <a:spcPts val="1024"/>
                        </a:lnSpc>
                      </a:pPr>
                      <a:r>
                        <a:rPr sz="800" b="0">
                          <a:solidFill>
                            <a:srgbClr val="474956"/>
                          </a:solidFill>
                          <a:latin typeface="Diodrum Arabic"/>
                          <a:ea typeface="Diodrum Arabic"/>
                          <a:cs typeface="Diodrum Arabic"/>
                        </a:rPr>
                        <a:t>25–35%</a:t>
                      </a:r>
                    </a:p>
                  </a:txBody>
                  <a:tcPr marL="64008" marR="64008" marT="41148" marB="41148" anchor="ctr">
                    <a:solidFill>
                      <a:srgbClr val="F4F4F9"/>
                    </a:solidFill>
                  </a:tcPr>
                </a:tc>
              </a:tr>
              <a:tr h="253492">
                <a:tc>
                  <a:txBody>
                    <a:bodyPr wrap="square"/>
                    <a:lstStyle/>
                    <a:p>
                      <a:pPr algn="l">
                        <a:lnSpc>
                          <a:spcPts val="1024"/>
                        </a:lnSpc>
                      </a:pPr>
                      <a:r>
                        <a:rPr sz="800" b="0">
                          <a:solidFill>
                            <a:srgbClr val="232046"/>
                          </a:solidFill>
                          <a:latin typeface="Diodrum Arabic SemiBold"/>
                          <a:ea typeface="Diodrum Arabic SemiBold"/>
                          <a:cs typeface="Diodrum Arabic SemiBold"/>
                        </a:rPr>
                        <a:t>Saudi case development (local cases and simulations)</a:t>
                      </a:r>
                    </a:p>
                  </a:txBody>
                  <a:tcPr marL="64008" marR="64008" marT="41148" marB="41148" anchor="ctr">
                    <a:solidFill>
                      <a:srgbClr val="FFFFFF"/>
                    </a:solidFill>
                  </a:tcPr>
                </a:tc>
                <a:tc>
                  <a:txBody>
                    <a:bodyPr wrap="square"/>
                    <a:lstStyle/>
                    <a:p>
                      <a:pPr algn="l">
                        <a:lnSpc>
                          <a:spcPts val="1024"/>
                        </a:lnSpc>
                      </a:pPr>
                      <a:r>
                        <a:rPr sz="800" b="0">
                          <a:solidFill>
                            <a:srgbClr val="474956"/>
                          </a:solidFill>
                          <a:latin typeface="Diodrum Arabic"/>
                          <a:ea typeface="Diodrum Arabic"/>
                          <a:cs typeface="Diodrum Arabic"/>
                        </a:rPr>
                        <a:t>8–12%</a:t>
                      </a:r>
                    </a:p>
                  </a:txBody>
                  <a:tcPr marL="64008" marR="64008" marT="41148" marB="41148" anchor="ctr">
                    <a:solidFill>
                      <a:srgbClr val="FFFFFF"/>
                    </a:solidFill>
                  </a:tcPr>
                </a:tc>
              </a:tr>
              <a:tr h="383540">
                <a:tc>
                  <a:txBody>
                    <a:bodyPr wrap="square"/>
                    <a:lstStyle/>
                    <a:p>
                      <a:pPr algn="l">
                        <a:lnSpc>
                          <a:spcPts val="1024"/>
                        </a:lnSpc>
                      </a:pPr>
                      <a:r>
                        <a:rPr sz="800" b="0">
                          <a:solidFill>
                            <a:srgbClr val="232046"/>
                          </a:solidFill>
                          <a:latin typeface="Diodrum Arabic SemiBold"/>
                          <a:ea typeface="Diodrum Arabic SemiBold"/>
                          <a:cs typeface="Diodrum Arabic SemiBold"/>
                        </a:rPr>
                        <a:t>Arabic localisation (content, translation, faculty preparation, materials, platform)</a:t>
                      </a:r>
                    </a:p>
                  </a:txBody>
                  <a:tcPr marL="64008" marR="64008" marT="41148" marB="41148" anchor="ctr">
                    <a:solidFill>
                      <a:srgbClr val="F4F4F9"/>
                    </a:solidFill>
                  </a:tcPr>
                </a:tc>
                <a:tc>
                  <a:txBody>
                    <a:bodyPr wrap="square"/>
                    <a:lstStyle/>
                    <a:p>
                      <a:pPr algn="l">
                        <a:lnSpc>
                          <a:spcPts val="1024"/>
                        </a:lnSpc>
                      </a:pPr>
                      <a:r>
                        <a:rPr sz="800" b="0">
                          <a:solidFill>
                            <a:srgbClr val="474956"/>
                          </a:solidFill>
                          <a:latin typeface="Diodrum Arabic"/>
                          <a:ea typeface="Diodrum Arabic"/>
                          <a:cs typeface="Diodrum Arabic"/>
                        </a:rPr>
                        <a:t>A separate line, estimated at pathway design — not merged into technology</a:t>
                      </a:r>
                    </a:p>
                  </a:txBody>
                  <a:tcPr marL="64008" marR="64008" marT="41148" marB="41148" anchor="ctr">
                    <a:solidFill>
                      <a:srgbClr val="F4F4F9"/>
                    </a:solidFill>
                  </a:tcPr>
                </a:tc>
              </a:tr>
              <a:tr h="253492">
                <a:tc>
                  <a:txBody>
                    <a:bodyPr wrap="square"/>
                    <a:lstStyle/>
                    <a:p>
                      <a:pPr algn="l">
                        <a:lnSpc>
                          <a:spcPts val="1024"/>
                        </a:lnSpc>
                      </a:pPr>
                      <a:r>
                        <a:rPr sz="800" b="0">
                          <a:solidFill>
                            <a:srgbClr val="232046"/>
                          </a:solidFill>
                          <a:latin typeface="Diodrum Arabic SemiBold"/>
                          <a:ea typeface="Diodrum Arabic SemiBold"/>
                          <a:cs typeface="Diodrum Arabic SemiBold"/>
                        </a:rPr>
                        <a:t>Programme management and operations</a:t>
                      </a:r>
                    </a:p>
                  </a:txBody>
                  <a:tcPr marL="64008" marR="64008" marT="41148" marB="41148" anchor="ctr">
                    <a:solidFill>
                      <a:srgbClr val="FFFFFF"/>
                    </a:solidFill>
                  </a:tcPr>
                </a:tc>
                <a:tc>
                  <a:txBody>
                    <a:bodyPr wrap="square"/>
                    <a:lstStyle/>
                    <a:p>
                      <a:pPr algn="l">
                        <a:lnSpc>
                          <a:spcPts val="1024"/>
                        </a:lnSpc>
                      </a:pPr>
                      <a:r>
                        <a:rPr sz="800" b="0">
                          <a:solidFill>
                            <a:srgbClr val="474956"/>
                          </a:solidFill>
                          <a:latin typeface="Diodrum Arabic"/>
                          <a:ea typeface="Diodrum Arabic"/>
                          <a:cs typeface="Diodrum Arabic"/>
                        </a:rPr>
                        <a:t>10–15%</a:t>
                      </a:r>
                    </a:p>
                  </a:txBody>
                  <a:tcPr marL="64008" marR="64008" marT="41148" marB="41148" anchor="ctr">
                    <a:solidFill>
                      <a:srgbClr val="FFFFFF"/>
                    </a:solidFill>
                  </a:tcPr>
                </a:tc>
              </a:tr>
              <a:tr h="253492">
                <a:tc>
                  <a:txBody>
                    <a:bodyPr wrap="square"/>
                    <a:lstStyle/>
                    <a:p>
                      <a:pPr algn="l">
                        <a:lnSpc>
                          <a:spcPts val="1024"/>
                        </a:lnSpc>
                      </a:pPr>
                      <a:r>
                        <a:rPr sz="800" b="0">
                          <a:solidFill>
                            <a:srgbClr val="232046"/>
                          </a:solidFill>
                          <a:latin typeface="Diodrum Arabic SemiBold"/>
                          <a:ea typeface="Diodrum Arabic SemiBold"/>
                          <a:cs typeface="Diodrum Arabic SemiBold"/>
                        </a:rPr>
                        <a:t>Executive coaching and application-project supervision</a:t>
                      </a:r>
                    </a:p>
                  </a:txBody>
                  <a:tcPr marL="64008" marR="64008" marT="41148" marB="41148" anchor="ctr">
                    <a:solidFill>
                      <a:srgbClr val="F4F4F9"/>
                    </a:solidFill>
                  </a:tcPr>
                </a:tc>
                <a:tc>
                  <a:txBody>
                    <a:bodyPr wrap="square"/>
                    <a:lstStyle/>
                    <a:p>
                      <a:pPr algn="l">
                        <a:lnSpc>
                          <a:spcPts val="1024"/>
                        </a:lnSpc>
                      </a:pPr>
                      <a:r>
                        <a:rPr sz="800" b="0">
                          <a:solidFill>
                            <a:srgbClr val="474956"/>
                          </a:solidFill>
                          <a:latin typeface="Diodrum Arabic"/>
                          <a:ea typeface="Diodrum Arabic"/>
                          <a:cs typeface="Diodrum Arabic"/>
                        </a:rPr>
                        <a:t>8–12%</a:t>
                      </a:r>
                    </a:p>
                  </a:txBody>
                  <a:tcPr marL="64008" marR="64008" marT="41148" marB="41148" anchor="ctr">
                    <a:solidFill>
                      <a:srgbClr val="F4F4F9"/>
                    </a:solidFill>
                  </a:tcPr>
                </a:tc>
              </a:tr>
              <a:tr h="253492">
                <a:tc>
                  <a:txBody>
                    <a:bodyPr wrap="square"/>
                    <a:lstStyle/>
                    <a:p>
                      <a:pPr algn="l">
                        <a:lnSpc>
                          <a:spcPts val="1024"/>
                        </a:lnSpc>
                      </a:pPr>
                      <a:r>
                        <a:rPr sz="800" b="0">
                          <a:solidFill>
                            <a:srgbClr val="232046"/>
                          </a:solidFill>
                          <a:latin typeface="Diodrum Arabic SemiBold"/>
                          <a:ea typeface="Diodrum Arabic SemiBold"/>
                          <a:cs typeface="Diodrum Arabic SemiBold"/>
                        </a:rPr>
                        <a:t>Venue, accommodation, and hospitality</a:t>
                      </a:r>
                    </a:p>
                  </a:txBody>
                  <a:tcPr marL="64008" marR="64008" marT="41148" marB="41148" anchor="ctr">
                    <a:solidFill>
                      <a:srgbClr val="FFFFFF"/>
                    </a:solidFill>
                  </a:tcPr>
                </a:tc>
                <a:tc>
                  <a:txBody>
                    <a:bodyPr wrap="square"/>
                    <a:lstStyle/>
                    <a:p>
                      <a:pPr algn="l">
                        <a:lnSpc>
                          <a:spcPts val="1024"/>
                        </a:lnSpc>
                      </a:pPr>
                      <a:r>
                        <a:rPr sz="800" b="0">
                          <a:solidFill>
                            <a:srgbClr val="474956"/>
                          </a:solidFill>
                          <a:latin typeface="Diodrum Arabic"/>
                          <a:ea typeface="Diodrum Arabic"/>
                          <a:cs typeface="Diodrum Arabic"/>
                        </a:rPr>
                        <a:t>8–12%</a:t>
                      </a:r>
                    </a:p>
                  </a:txBody>
                  <a:tcPr marL="64008" marR="64008" marT="41148" marB="41148" anchor="ctr">
                    <a:solidFill>
                      <a:srgbClr val="FFFFFF"/>
                    </a:solidFill>
                  </a:tcPr>
                </a:tc>
              </a:tr>
              <a:tr h="253492">
                <a:tc>
                  <a:txBody>
                    <a:bodyPr wrap="square"/>
                    <a:lstStyle/>
                    <a:p>
                      <a:pPr algn="l">
                        <a:lnSpc>
                          <a:spcPts val="1024"/>
                        </a:lnSpc>
                      </a:pPr>
                      <a:r>
                        <a:rPr sz="800" b="0">
                          <a:solidFill>
                            <a:srgbClr val="232046"/>
                          </a:solidFill>
                          <a:latin typeface="Diodrum Arabic SemiBold"/>
                          <a:ea typeface="Diodrum Arabic SemiBold"/>
                          <a:cs typeface="Diodrum Arabic SemiBold"/>
                        </a:rPr>
                        <a:t>Technology, learning platform, and delivery</a:t>
                      </a:r>
                    </a:p>
                  </a:txBody>
                  <a:tcPr marL="64008" marR="64008" marT="41148" marB="41148" anchor="ctr">
                    <a:solidFill>
                      <a:srgbClr val="F4F4F9"/>
                    </a:solidFill>
                  </a:tcPr>
                </a:tc>
                <a:tc>
                  <a:txBody>
                    <a:bodyPr wrap="square"/>
                    <a:lstStyle/>
                    <a:p>
                      <a:pPr algn="l">
                        <a:lnSpc>
                          <a:spcPts val="1024"/>
                        </a:lnSpc>
                      </a:pPr>
                      <a:r>
                        <a:rPr sz="800" b="0">
                          <a:solidFill>
                            <a:srgbClr val="474956"/>
                          </a:solidFill>
                          <a:latin typeface="Diodrum Arabic"/>
                          <a:ea typeface="Diodrum Arabic"/>
                          <a:cs typeface="Diodrum Arabic"/>
                        </a:rPr>
                        <a:t>5–8%</a:t>
                      </a:r>
                    </a:p>
                  </a:txBody>
                  <a:tcPr marL="64008" marR="64008" marT="41148" marB="41148" anchor="ctr">
                    <a:solidFill>
                      <a:srgbClr val="F4F4F9"/>
                    </a:solidFill>
                  </a:tcPr>
                </a:tc>
              </a:tr>
              <a:tr h="253492">
                <a:tc>
                  <a:txBody>
                    <a:bodyPr wrap="square"/>
                    <a:lstStyle/>
                    <a:p>
                      <a:pPr algn="l">
                        <a:lnSpc>
                          <a:spcPts val="1024"/>
                        </a:lnSpc>
                      </a:pPr>
                      <a:r>
                        <a:rPr sz="800" b="0">
                          <a:solidFill>
                            <a:srgbClr val="232046"/>
                          </a:solidFill>
                          <a:latin typeface="Diodrum Arabic SemiBold"/>
                          <a:ea typeface="Diodrum Arabic SemiBold"/>
                          <a:cs typeface="Diodrum Arabic SemiBold"/>
                        </a:rPr>
                        <a:t>Evaluation and impact measurement (baseline and dashboards)</a:t>
                      </a:r>
                    </a:p>
                  </a:txBody>
                  <a:tcPr marL="64008" marR="64008" marT="41148" marB="41148" anchor="ctr">
                    <a:solidFill>
                      <a:srgbClr val="FFFFFF"/>
                    </a:solidFill>
                  </a:tcPr>
                </a:tc>
                <a:tc>
                  <a:txBody>
                    <a:bodyPr wrap="square"/>
                    <a:lstStyle/>
                    <a:p>
                      <a:pPr algn="l">
                        <a:lnSpc>
                          <a:spcPts val="1024"/>
                        </a:lnSpc>
                      </a:pPr>
                      <a:r>
                        <a:rPr sz="800" b="0">
                          <a:solidFill>
                            <a:srgbClr val="474956"/>
                          </a:solidFill>
                          <a:latin typeface="Diodrum Arabic"/>
                          <a:ea typeface="Diodrum Arabic"/>
                          <a:cs typeface="Diodrum Arabic"/>
                        </a:rPr>
                        <a:t>4–7%</a:t>
                      </a:r>
                    </a:p>
                  </a:txBody>
                  <a:tcPr marL="64008" marR="64008" marT="41148" marB="41148" anchor="ctr">
                    <a:solidFill>
                      <a:srgbClr val="FFFFFF"/>
                    </a:solidFill>
                  </a:tcPr>
                </a:tc>
              </a:tr>
              <a:tr h="253492">
                <a:tc>
                  <a:txBody>
                    <a:bodyPr wrap="square"/>
                    <a:lstStyle/>
                    <a:p>
                      <a:pPr algn="l">
                        <a:lnSpc>
                          <a:spcPts val="1024"/>
                        </a:lnSpc>
                      </a:pPr>
                      <a:r>
                        <a:rPr sz="800" b="0">
                          <a:solidFill>
                            <a:srgbClr val="232046"/>
                          </a:solidFill>
                          <a:latin typeface="Diodrum Arabic SemiBold"/>
                          <a:ea typeface="Diodrum Arabic SemiBold"/>
                          <a:cs typeface="Diodrum Arabic SemiBold"/>
                        </a:rPr>
                        <a:t>Annual refresh and alumni community</a:t>
                      </a:r>
                    </a:p>
                  </a:txBody>
                  <a:tcPr marL="64008" marR="64008" marT="41148" marB="41148" anchor="ctr">
                    <a:solidFill>
                      <a:srgbClr val="F4F4F9"/>
                    </a:solidFill>
                  </a:tcPr>
                </a:tc>
                <a:tc>
                  <a:txBody>
                    <a:bodyPr wrap="square"/>
                    <a:lstStyle/>
                    <a:p>
                      <a:pPr algn="l">
                        <a:lnSpc>
                          <a:spcPts val="1024"/>
                        </a:lnSpc>
                      </a:pPr>
                      <a:r>
                        <a:rPr sz="800" b="0">
                          <a:solidFill>
                            <a:srgbClr val="474956"/>
                          </a:solidFill>
                          <a:latin typeface="Diodrum Arabic"/>
                          <a:ea typeface="Diodrum Arabic"/>
                          <a:cs typeface="Diodrum Arabic"/>
                        </a:rPr>
                        <a:t>5–8%, from year two</a:t>
                      </a:r>
                    </a:p>
                  </a:txBody>
                  <a:tcPr marL="64008" marR="64008" marT="41148" marB="41148" anchor="ctr">
                    <a:solidFill>
                      <a:srgbClr val="F4F4F9"/>
                    </a:solidFill>
                  </a:tcPr>
                </a:tc>
              </a:tr>
            </a:tbl>
          </a:graphicData>
        </a:graphic>
      </p:graphicFrame>
      <p:sp>
        <p:nvSpPr>
          <p:cNvPr id="18" name="TextBox 17"/>
          <p:cNvSpPr txBox="1"/>
          <p:nvPr/>
        </p:nvSpPr>
        <p:spPr>
          <a:xfrm>
            <a:off x="566928" y="7322756"/>
            <a:ext cx="6428231" cy="321056"/>
          </a:xfrm>
          <a:prstGeom prst="rect">
            <a:avLst/>
          </a:prstGeom>
          <a:noFill/>
        </p:spPr>
        <p:txBody>
          <a:bodyPr wrap="square" lIns="0" rIns="0" tIns="0" bIns="0">
            <a:spAutoFit/>
          </a:bodyPr>
          <a:lstStyle/>
          <a:p>
            <a:pPr algn="l">
              <a:lnSpc>
                <a:spcPts val="1120"/>
              </a:lnSpc>
            </a:pPr>
            <a:r>
              <a:rPr sz="800" b="0">
                <a:solidFill>
                  <a:srgbClr val="6E7077"/>
                </a:solidFill>
                <a:latin typeface="Diodrum Arabic"/>
                <a:ea typeface="Diodrum Arabic"/>
                <a:cs typeface="Diodrum Arabic"/>
              </a:rPr>
              <a:t>The percentages are planning ranges by pathway format — not a single budget summing its upper bounds. A governance-and-confidentiality line of 2–4% is added for packaging the ministerial cohort [65].</a:t>
            </a:r>
          </a:p>
        </p:txBody>
      </p:sp>
      <p:sp>
        <p:nvSpPr>
          <p:cNvPr id="19" name="Rectangle 18"/>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21" name="TextBox 20"/>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05 · 5.6 – 5.7  READING THE COST · OWNERSHIP</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“Who teaches” is the most expensive decision; the accumulating assets are the cheapest</a:t>
            </a:r>
          </a:p>
        </p:txBody>
      </p:sp>
      <p:sp>
        <p:nvSpPr>
          <p:cNvPr id="4" name="TextBox 3"/>
          <p:cNvSpPr txBox="1"/>
          <p:nvPr/>
        </p:nvSpPr>
        <p:spPr>
          <a:xfrm>
            <a:off x="566928" y="1383030"/>
            <a:ext cx="457200" cy="287019"/>
          </a:xfrm>
          <a:prstGeom prst="rect">
            <a:avLst/>
          </a:prstGeom>
          <a:noFill/>
        </p:spPr>
        <p:txBody>
          <a:bodyPr wrap="square" lIns="0" rIns="0" tIns="0" bIns="0">
            <a:spAutoFit/>
          </a:bodyPr>
          <a:lstStyle/>
          <a:p>
            <a:pPr algn="l">
              <a:lnSpc>
                <a:spcPts val="1972"/>
              </a:lnSpc>
            </a:pPr>
            <a:r>
              <a:rPr sz="1700" b="1">
                <a:solidFill>
                  <a:srgbClr val="7C32C9"/>
                </a:solidFill>
                <a:latin typeface="Diodrum Arabic"/>
                <a:ea typeface="Diodrum Arabic"/>
                <a:cs typeface="Diodrum Arabic"/>
              </a:rPr>
              <a:t>1</a:t>
            </a:r>
          </a:p>
        </p:txBody>
      </p:sp>
      <p:sp>
        <p:nvSpPr>
          <p:cNvPr id="5" name="TextBox 4"/>
          <p:cNvSpPr txBox="1"/>
          <p:nvPr/>
        </p:nvSpPr>
        <p:spPr>
          <a:xfrm>
            <a:off x="1115568" y="1401318"/>
            <a:ext cx="5879592" cy="194056"/>
          </a:xfrm>
          <a:prstGeom prst="rect">
            <a:avLst/>
          </a:prstGeom>
          <a:noFill/>
        </p:spPr>
        <p:txBody>
          <a:bodyPr wrap="square" lIns="0" rIns="0" tIns="0" bIns="0">
            <a:spAutoFit/>
          </a:bodyPr>
          <a:lstStyle/>
          <a:p>
            <a:pPr algn="l">
              <a:lnSpc>
                <a:spcPts val="1240"/>
              </a:lnSpc>
            </a:pPr>
            <a:r>
              <a:rPr sz="1000" b="0">
                <a:solidFill>
                  <a:srgbClr val="7C32C9"/>
                </a:solidFill>
                <a:latin typeface="Diodrum Arabic SemiBold"/>
                <a:ea typeface="Diodrum Arabic SemiBold"/>
                <a:cs typeface="Diodrum Arabic SemiBold"/>
              </a:rPr>
              <a:t>Faculty absorbs a quarter to a third</a:t>
            </a:r>
          </a:p>
        </p:txBody>
      </p:sp>
      <p:sp>
        <p:nvSpPr>
          <p:cNvPr id="6" name="TextBox 5"/>
          <p:cNvSpPr txBox="1"/>
          <p:nvPr/>
        </p:nvSpPr>
        <p:spPr>
          <a:xfrm>
            <a:off x="1115568" y="1604518"/>
            <a:ext cx="5879592" cy="676656"/>
          </a:xfrm>
          <a:prstGeom prst="rect">
            <a:avLst/>
          </a:prstGeom>
          <a:noFill/>
        </p:spPr>
        <p:txBody>
          <a:bodyPr wrap="square" lIns="0" rIns="0" tIns="0" bIns="0">
            <a:spAutoFit/>
          </a:bodyPr>
          <a:lstStyle/>
          <a:p>
            <a:pPr algn="just">
              <a:lnSpc>
                <a:spcPts val="1260"/>
              </a:lnSpc>
            </a:pPr>
            <a:r>
              <a:rPr sz="900" b="0">
                <a:solidFill>
                  <a:srgbClr val="474956"/>
                </a:solidFill>
                <a:latin typeface="Diodrum Arabic"/>
                <a:ea typeface="Diodrum Arabic"/>
                <a:cs typeface="Diodrum Arabic"/>
              </a:rPr>
              <a:t>That makes “who teaches” the most expensive design decision — and the first to be negotiated. The overall estimate is consistent with published custom engagements (under US$100,000 to US$2 million [66]) and with major university platforms (US$2,000–50,000 per participant [67]); it can fall 40–55% with a more virtual design, on IMD’s documented in-person-versus-virtual differential [68].</a:t>
            </a:r>
          </a:p>
        </p:txBody>
      </p:sp>
      <p:sp>
        <p:nvSpPr>
          <p:cNvPr id="7" name="Rectangle 6"/>
          <p:cNvSpPr/>
          <p:nvPr/>
        </p:nvSpPr>
        <p:spPr>
          <a:xfrm>
            <a:off x="566928" y="2308606"/>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418334"/>
            <a:ext cx="457200" cy="287019"/>
          </a:xfrm>
          <a:prstGeom prst="rect">
            <a:avLst/>
          </a:prstGeom>
          <a:noFill/>
        </p:spPr>
        <p:txBody>
          <a:bodyPr wrap="square" lIns="0" rIns="0" tIns="0" bIns="0">
            <a:spAutoFit/>
          </a:bodyPr>
          <a:lstStyle/>
          <a:p>
            <a:pPr algn="l">
              <a:lnSpc>
                <a:spcPts val="1972"/>
              </a:lnSpc>
            </a:pPr>
            <a:r>
              <a:rPr sz="1700" b="1">
                <a:solidFill>
                  <a:srgbClr val="00ABAF"/>
                </a:solidFill>
                <a:latin typeface="Diodrum Arabic"/>
                <a:ea typeface="Diodrum Arabic"/>
                <a:cs typeface="Diodrum Arabic"/>
              </a:rPr>
              <a:t>2</a:t>
            </a:r>
          </a:p>
        </p:txBody>
      </p:sp>
      <p:sp>
        <p:nvSpPr>
          <p:cNvPr id="9" name="TextBox 8"/>
          <p:cNvSpPr txBox="1"/>
          <p:nvPr/>
        </p:nvSpPr>
        <p:spPr>
          <a:xfrm>
            <a:off x="1115568" y="2436622"/>
            <a:ext cx="5879592" cy="194056"/>
          </a:xfrm>
          <a:prstGeom prst="rect">
            <a:avLst/>
          </a:prstGeom>
          <a:noFill/>
        </p:spPr>
        <p:txBody>
          <a:bodyPr wrap="square" lIns="0" rIns="0" tIns="0" bIns="0">
            <a:spAutoFit/>
          </a:bodyPr>
          <a:lstStyle/>
          <a:p>
            <a:pPr algn="l">
              <a:lnSpc>
                <a:spcPts val="1240"/>
              </a:lnSpc>
            </a:pPr>
            <a:r>
              <a:rPr sz="1000" b="0">
                <a:solidFill>
                  <a:srgbClr val="00ABAF"/>
                </a:solidFill>
                <a:latin typeface="Diodrum Arabic SemiBold"/>
                <a:ea typeface="Diodrum Arabic SemiBold"/>
                <a:cs typeface="Diodrum Arabic SemiBold"/>
              </a:rPr>
              <a:t>The two assets that accumulate locally are among the cheapest lines</a:t>
            </a:r>
          </a:p>
        </p:txBody>
      </p:sp>
      <p:sp>
        <p:nvSpPr>
          <p:cNvPr id="10" name="TextBox 9"/>
          <p:cNvSpPr txBox="1"/>
          <p:nvPr/>
        </p:nvSpPr>
        <p:spPr>
          <a:xfrm>
            <a:off x="1115568" y="2639822"/>
            <a:ext cx="5879592" cy="836676"/>
          </a:xfrm>
          <a:prstGeom prst="rect">
            <a:avLst/>
          </a:prstGeom>
          <a:noFill/>
        </p:spPr>
        <p:txBody>
          <a:bodyPr wrap="square" lIns="0" rIns="0" tIns="0" bIns="0">
            <a:spAutoFit/>
          </a:bodyPr>
          <a:lstStyle/>
          <a:p>
            <a:pPr algn="just">
              <a:lnSpc>
                <a:spcPts val="1260"/>
              </a:lnSpc>
            </a:pPr>
            <a:r>
              <a:rPr sz="900" b="0">
                <a:solidFill>
                  <a:srgbClr val="474956"/>
                </a:solidFill>
                <a:latin typeface="Diodrum Arabic"/>
                <a:ea typeface="Diodrum Arabic"/>
                <a:cs typeface="Diodrum Arabic"/>
              </a:rPr>
              <a:t>Saudi cases and evaluation. Open-purchase seats offer a reference before any custom build: four LKY School seats — three paid, the fourth free under the School’s offer — cost S$20,400 (≈ SAR 60,000) before tax [23][69]; a Darden seat at the government rate is US$3,760 (≈ SAR 14,100) [21]. The accounting caution: open-seat fees are not multiplied by cohort size — the custom cohort carries its full design on its first cohort, while the open seat lacks customisation and local cases [69].</a:t>
            </a:r>
          </a:p>
        </p:txBody>
      </p:sp>
      <p:sp>
        <p:nvSpPr>
          <p:cNvPr id="11" name="TextBox 10"/>
          <p:cNvSpPr txBox="1"/>
          <p:nvPr/>
        </p:nvSpPr>
        <p:spPr>
          <a:xfrm>
            <a:off x="566928" y="3577082"/>
            <a:ext cx="3113532" cy="205994"/>
          </a:xfrm>
          <a:prstGeom prst="rect">
            <a:avLst/>
          </a:prstGeom>
          <a:noFill/>
        </p:spPr>
        <p:txBody>
          <a:bodyPr wrap="square" lIns="0" rIns="0" tIns="0" bIns="0">
            <a:spAutoFit/>
          </a:bodyPr>
          <a:lstStyle/>
          <a:p>
            <a:pPr algn="l">
              <a:lnSpc>
                <a:spcPts val="1334"/>
              </a:lnSpc>
            </a:pPr>
            <a:r>
              <a:rPr sz="1150" b="0" spc="70">
                <a:solidFill>
                  <a:srgbClr val="00ABAF"/>
                </a:solidFill>
                <a:latin typeface="Diodrum Arabic SemiBold"/>
                <a:ea typeface="Diodrum Arabic SemiBold"/>
                <a:cs typeface="Diodrum Arabic SemiBold"/>
              </a:rPr>
              <a:t>SOURCED INTERNATIONALLY</a:t>
            </a:r>
          </a:p>
        </p:txBody>
      </p:sp>
      <p:sp>
        <p:nvSpPr>
          <p:cNvPr id="12" name="TextBox 11"/>
          <p:cNvSpPr txBox="1"/>
          <p:nvPr/>
        </p:nvSpPr>
        <p:spPr>
          <a:xfrm>
            <a:off x="566928" y="3824224"/>
            <a:ext cx="91440" cy="176530"/>
          </a:xfrm>
          <a:prstGeom prst="rect">
            <a:avLst/>
          </a:prstGeom>
          <a:noFill/>
        </p:spPr>
        <p:txBody>
          <a:bodyPr wrap="square" lIns="0" rIns="0" tIns="0" bIns="0">
            <a:spAutoFit/>
          </a:bodyPr>
          <a:lstStyle/>
          <a:p>
            <a:pPr algn="ctr">
              <a:lnSpc>
                <a:spcPts val="1102"/>
              </a:lnSpc>
            </a:pPr>
            <a:r>
              <a:rPr sz="950" b="0">
                <a:solidFill>
                  <a:srgbClr val="00ABAF"/>
                </a:solidFill>
                <a:latin typeface="Diodrum Arabic SemiBold"/>
                <a:ea typeface="Diodrum Arabic SemiBold"/>
                <a:cs typeface="Diodrum Arabic SemiBold"/>
              </a:rPr>
              <a:t>•</a:t>
            </a:r>
          </a:p>
        </p:txBody>
      </p:sp>
      <p:sp>
        <p:nvSpPr>
          <p:cNvPr id="13" name="TextBox 12"/>
          <p:cNvSpPr txBox="1"/>
          <p:nvPr/>
        </p:nvSpPr>
        <p:spPr>
          <a:xfrm>
            <a:off x="740664" y="3828796"/>
            <a:ext cx="2939796"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Methodology.</a:t>
            </a:r>
          </a:p>
        </p:txBody>
      </p:sp>
      <p:sp>
        <p:nvSpPr>
          <p:cNvPr id="14" name="TextBox 13"/>
          <p:cNvSpPr txBox="1"/>
          <p:nvPr/>
        </p:nvSpPr>
        <p:spPr>
          <a:xfrm>
            <a:off x="566928" y="4023487"/>
            <a:ext cx="91440" cy="176530"/>
          </a:xfrm>
          <a:prstGeom prst="rect">
            <a:avLst/>
          </a:prstGeom>
          <a:noFill/>
        </p:spPr>
        <p:txBody>
          <a:bodyPr wrap="square" lIns="0" rIns="0" tIns="0" bIns="0">
            <a:spAutoFit/>
          </a:bodyPr>
          <a:lstStyle/>
          <a:p>
            <a:pPr algn="ctr">
              <a:lnSpc>
                <a:spcPts val="1102"/>
              </a:lnSpc>
            </a:pPr>
            <a:r>
              <a:rPr sz="950" b="0">
                <a:solidFill>
                  <a:srgbClr val="00ABAF"/>
                </a:solidFill>
                <a:latin typeface="Diodrum Arabic SemiBold"/>
                <a:ea typeface="Diodrum Arabic SemiBold"/>
                <a:cs typeface="Diodrum Arabic SemiBold"/>
              </a:rPr>
              <a:t>•</a:t>
            </a:r>
          </a:p>
        </p:txBody>
      </p:sp>
      <p:sp>
        <p:nvSpPr>
          <p:cNvPr id="15" name="TextBox 14"/>
          <p:cNvSpPr txBox="1"/>
          <p:nvPr/>
        </p:nvSpPr>
        <p:spPr>
          <a:xfrm>
            <a:off x="740664" y="4028059"/>
            <a:ext cx="2939796"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Faculty.</a:t>
            </a:r>
          </a:p>
        </p:txBody>
      </p:sp>
      <p:sp>
        <p:nvSpPr>
          <p:cNvPr id="16" name="TextBox 15"/>
          <p:cNvSpPr txBox="1"/>
          <p:nvPr/>
        </p:nvSpPr>
        <p:spPr>
          <a:xfrm>
            <a:off x="566928" y="4222750"/>
            <a:ext cx="91440" cy="176530"/>
          </a:xfrm>
          <a:prstGeom prst="rect">
            <a:avLst/>
          </a:prstGeom>
          <a:noFill/>
        </p:spPr>
        <p:txBody>
          <a:bodyPr wrap="square" lIns="0" rIns="0" tIns="0" bIns="0">
            <a:spAutoFit/>
          </a:bodyPr>
          <a:lstStyle/>
          <a:p>
            <a:pPr algn="ctr">
              <a:lnSpc>
                <a:spcPts val="1102"/>
              </a:lnSpc>
            </a:pPr>
            <a:r>
              <a:rPr sz="950" b="0">
                <a:solidFill>
                  <a:srgbClr val="00ABAF"/>
                </a:solidFill>
                <a:latin typeface="Diodrum Arabic SemiBold"/>
                <a:ea typeface="Diodrum Arabic SemiBold"/>
                <a:cs typeface="Diodrum Arabic SemiBold"/>
              </a:rPr>
              <a:t>•</a:t>
            </a:r>
          </a:p>
        </p:txBody>
      </p:sp>
      <p:sp>
        <p:nvSpPr>
          <p:cNvPr id="17" name="TextBox 16"/>
          <p:cNvSpPr txBox="1"/>
          <p:nvPr/>
        </p:nvSpPr>
        <p:spPr>
          <a:xfrm>
            <a:off x="740664" y="4227322"/>
            <a:ext cx="2939796"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Comparative expertise.</a:t>
            </a:r>
          </a:p>
        </p:txBody>
      </p:sp>
      <p:sp>
        <p:nvSpPr>
          <p:cNvPr id="18" name="TextBox 17"/>
          <p:cNvSpPr txBox="1"/>
          <p:nvPr/>
        </p:nvSpPr>
        <p:spPr>
          <a:xfrm>
            <a:off x="566928" y="4422013"/>
            <a:ext cx="91440" cy="176530"/>
          </a:xfrm>
          <a:prstGeom prst="rect">
            <a:avLst/>
          </a:prstGeom>
          <a:noFill/>
        </p:spPr>
        <p:txBody>
          <a:bodyPr wrap="square" lIns="0" rIns="0" tIns="0" bIns="0">
            <a:spAutoFit/>
          </a:bodyPr>
          <a:lstStyle/>
          <a:p>
            <a:pPr algn="ctr">
              <a:lnSpc>
                <a:spcPts val="1102"/>
              </a:lnSpc>
            </a:pPr>
            <a:r>
              <a:rPr sz="950" b="0">
                <a:solidFill>
                  <a:srgbClr val="00ABAF"/>
                </a:solidFill>
                <a:latin typeface="Diodrum Arabic SemiBold"/>
                <a:ea typeface="Diodrum Arabic SemiBold"/>
                <a:cs typeface="Diodrum Arabic SemiBold"/>
              </a:rPr>
              <a:t>•</a:t>
            </a:r>
          </a:p>
        </p:txBody>
      </p:sp>
      <p:sp>
        <p:nvSpPr>
          <p:cNvPr id="19" name="TextBox 18"/>
          <p:cNvSpPr txBox="1"/>
          <p:nvPr/>
        </p:nvSpPr>
        <p:spPr>
          <a:xfrm>
            <a:off x="740664" y="4426585"/>
            <a:ext cx="2939796"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Certifications.</a:t>
            </a:r>
          </a:p>
        </p:txBody>
      </p:sp>
      <p:sp>
        <p:nvSpPr>
          <p:cNvPr id="20" name="TextBox 19"/>
          <p:cNvSpPr txBox="1"/>
          <p:nvPr/>
        </p:nvSpPr>
        <p:spPr>
          <a:xfrm>
            <a:off x="566928" y="4621276"/>
            <a:ext cx="91440" cy="176530"/>
          </a:xfrm>
          <a:prstGeom prst="rect">
            <a:avLst/>
          </a:prstGeom>
          <a:noFill/>
        </p:spPr>
        <p:txBody>
          <a:bodyPr wrap="square" lIns="0" rIns="0" tIns="0" bIns="0">
            <a:spAutoFit/>
          </a:bodyPr>
          <a:lstStyle/>
          <a:p>
            <a:pPr algn="ctr">
              <a:lnSpc>
                <a:spcPts val="1102"/>
              </a:lnSpc>
            </a:pPr>
            <a:r>
              <a:rPr sz="950" b="0">
                <a:solidFill>
                  <a:srgbClr val="00ABAF"/>
                </a:solidFill>
                <a:latin typeface="Diodrum Arabic SemiBold"/>
                <a:ea typeface="Diodrum Arabic SemiBold"/>
                <a:cs typeface="Diodrum Arabic SemiBold"/>
              </a:rPr>
              <a:t>•</a:t>
            </a:r>
          </a:p>
        </p:txBody>
      </p:sp>
      <p:sp>
        <p:nvSpPr>
          <p:cNvPr id="21" name="TextBox 20"/>
          <p:cNvSpPr txBox="1"/>
          <p:nvPr/>
        </p:nvSpPr>
        <p:spPr>
          <a:xfrm>
            <a:off x="740664" y="4625847"/>
            <a:ext cx="2939796"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The academic brand, when needed.</a:t>
            </a:r>
          </a:p>
        </p:txBody>
      </p:sp>
      <p:sp>
        <p:nvSpPr>
          <p:cNvPr id="22" name="TextBox 21"/>
          <p:cNvSpPr txBox="1"/>
          <p:nvPr/>
        </p:nvSpPr>
        <p:spPr>
          <a:xfrm>
            <a:off x="3881628" y="3577082"/>
            <a:ext cx="3113532" cy="205994"/>
          </a:xfrm>
          <a:prstGeom prst="rect">
            <a:avLst/>
          </a:prstGeom>
          <a:noFill/>
        </p:spPr>
        <p:txBody>
          <a:bodyPr wrap="square" lIns="0" rIns="0" tIns="0" bIns="0">
            <a:spAutoFit/>
          </a:bodyPr>
          <a:lstStyle/>
          <a:p>
            <a:pPr algn="l">
              <a:lnSpc>
                <a:spcPts val="1334"/>
              </a:lnSpc>
            </a:pPr>
            <a:r>
              <a:rPr sz="1150" b="0" spc="70">
                <a:solidFill>
                  <a:srgbClr val="7C32C9"/>
                </a:solidFill>
                <a:latin typeface="Diodrum Arabic SemiBold"/>
                <a:ea typeface="Diodrum Arabic SemiBold"/>
                <a:cs typeface="Diodrum Arabic SemiBold"/>
              </a:rPr>
              <a:t>RETAINED UNDER LOCAL OWNERSHIP</a:t>
            </a:r>
          </a:p>
        </p:txBody>
      </p:sp>
      <p:sp>
        <p:nvSpPr>
          <p:cNvPr id="23" name="TextBox 22"/>
          <p:cNvSpPr txBox="1"/>
          <p:nvPr/>
        </p:nvSpPr>
        <p:spPr>
          <a:xfrm>
            <a:off x="3881628" y="3824224"/>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24" name="TextBox 23"/>
          <p:cNvSpPr txBox="1"/>
          <p:nvPr/>
        </p:nvSpPr>
        <p:spPr>
          <a:xfrm>
            <a:off x="4055364" y="3828796"/>
            <a:ext cx="2939796"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Saudi cases.</a:t>
            </a:r>
          </a:p>
        </p:txBody>
      </p:sp>
      <p:sp>
        <p:nvSpPr>
          <p:cNvPr id="25" name="TextBox 24"/>
          <p:cNvSpPr txBox="1"/>
          <p:nvPr/>
        </p:nvSpPr>
        <p:spPr>
          <a:xfrm>
            <a:off x="3881628" y="4023487"/>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26" name="TextBox 25"/>
          <p:cNvSpPr txBox="1"/>
          <p:nvPr/>
        </p:nvSpPr>
        <p:spPr>
          <a:xfrm>
            <a:off x="4055364" y="4028059"/>
            <a:ext cx="2939796"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The four-level framework.</a:t>
            </a:r>
          </a:p>
        </p:txBody>
      </p:sp>
      <p:sp>
        <p:nvSpPr>
          <p:cNvPr id="27" name="TextBox 26"/>
          <p:cNvSpPr txBox="1"/>
          <p:nvPr/>
        </p:nvSpPr>
        <p:spPr>
          <a:xfrm>
            <a:off x="3881628" y="4222750"/>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28" name="TextBox 27"/>
          <p:cNvSpPr txBox="1"/>
          <p:nvPr/>
        </p:nvSpPr>
        <p:spPr>
          <a:xfrm>
            <a:off x="4055364" y="4227322"/>
            <a:ext cx="2939796"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Participant data.</a:t>
            </a:r>
          </a:p>
        </p:txBody>
      </p:sp>
      <p:sp>
        <p:nvSpPr>
          <p:cNvPr id="29" name="TextBox 28"/>
          <p:cNvSpPr txBox="1"/>
          <p:nvPr/>
        </p:nvSpPr>
        <p:spPr>
          <a:xfrm>
            <a:off x="3881628" y="4422013"/>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30" name="TextBox 29"/>
          <p:cNvSpPr txBox="1"/>
          <p:nvPr/>
        </p:nvSpPr>
        <p:spPr>
          <a:xfrm>
            <a:off x="4055364" y="4426585"/>
            <a:ext cx="2939796"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Measurement results.</a:t>
            </a:r>
          </a:p>
        </p:txBody>
      </p:sp>
      <p:sp>
        <p:nvSpPr>
          <p:cNvPr id="31" name="TextBox 30"/>
          <p:cNvSpPr txBox="1"/>
          <p:nvPr/>
        </p:nvSpPr>
        <p:spPr>
          <a:xfrm>
            <a:off x="3881628" y="4621276"/>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32" name="TextBox 31"/>
          <p:cNvSpPr txBox="1"/>
          <p:nvPr/>
        </p:nvSpPr>
        <p:spPr>
          <a:xfrm>
            <a:off x="4055364" y="4625847"/>
            <a:ext cx="2939796"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The operating model and local materials.</a:t>
            </a:r>
          </a:p>
        </p:txBody>
      </p:sp>
      <p:sp>
        <p:nvSpPr>
          <p:cNvPr id="33" name="TextBox 32"/>
          <p:cNvSpPr txBox="1"/>
          <p:nvPr/>
        </p:nvSpPr>
        <p:spPr>
          <a:xfrm>
            <a:off x="3881628" y="4820538"/>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34" name="TextBox 33"/>
          <p:cNvSpPr txBox="1"/>
          <p:nvPr/>
        </p:nvSpPr>
        <p:spPr>
          <a:xfrm>
            <a:off x="4055364" y="4825110"/>
            <a:ext cx="2939796" cy="185547"/>
          </a:xfrm>
          <a:prstGeom prst="rect">
            <a:avLst/>
          </a:prstGeom>
          <a:noFill/>
        </p:spPr>
        <p:txBody>
          <a:bodyPr wrap="square" lIns="0" rIns="0" tIns="0" bIns="0">
            <a:spAutoFit/>
          </a:bodyPr>
          <a:lstStyle/>
          <a:p>
            <a:pPr algn="l">
              <a:lnSpc>
                <a:spcPts val="1172"/>
              </a:lnSpc>
            </a:pPr>
            <a:r>
              <a:rPr sz="850" b="0">
                <a:solidFill>
                  <a:srgbClr val="474956"/>
                </a:solidFill>
                <a:latin typeface="Diodrum Arabic"/>
                <a:ea typeface="Diodrum Arabic"/>
                <a:cs typeface="Diodrum Arabic"/>
              </a:rPr>
              <a:t>The relationship with government entities.</a:t>
            </a:r>
          </a:p>
        </p:txBody>
      </p:sp>
      <p:sp>
        <p:nvSpPr>
          <p:cNvPr id="35" name="TextBox 34"/>
          <p:cNvSpPr txBox="1"/>
          <p:nvPr/>
        </p:nvSpPr>
        <p:spPr>
          <a:xfrm>
            <a:off x="566928" y="5143245"/>
            <a:ext cx="6428231" cy="463296"/>
          </a:xfrm>
          <a:prstGeom prst="rect">
            <a:avLst/>
          </a:prstGeom>
          <a:noFill/>
        </p:spPr>
        <p:txBody>
          <a:bodyPr wrap="square" lIns="0" rIns="0" tIns="0" bIns="0">
            <a:spAutoFit/>
          </a:bodyPr>
          <a:lstStyle/>
          <a:p>
            <a:pPr algn="l">
              <a:lnSpc>
                <a:spcPts val="1120"/>
              </a:lnSpc>
            </a:pPr>
            <a:r>
              <a:rPr sz="800" b="0">
                <a:solidFill>
                  <a:srgbClr val="6E7077"/>
                </a:solidFill>
                <a:latin typeface="Diodrum Arabic"/>
                <a:ea typeface="Diodrum Arabic"/>
                <a:cs typeface="Diodrum Arabic"/>
              </a:rPr>
              <a:t>What is in the first list accelerates launch but does not accumulate with the owner; what is in the second accumulates with every cohort and cannot be bought ready-made [70]. Kazakhstan’s reminder: Stanford and OpenAI Academy professors trained its senior executives — launch speed that limits local accumulation unless coupled with systematic transfer of knowledge and ownership [71].</a:t>
            </a:r>
          </a:p>
        </p:txBody>
      </p:sp>
      <p:sp>
        <p:nvSpPr>
          <p:cNvPr id="36" name="Rectangle 35"/>
          <p:cNvSpPr/>
          <p:nvPr/>
        </p:nvSpPr>
        <p:spPr>
          <a:xfrm>
            <a:off x="566928" y="5697981"/>
            <a:ext cx="45720" cy="405384"/>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5707126"/>
            <a:ext cx="6199631" cy="387095"/>
          </a:xfrm>
          <a:prstGeom prst="rect">
            <a:avLst/>
          </a:prstGeom>
          <a:noFill/>
        </p:spPr>
        <p:txBody>
          <a:bodyPr wrap="square" lIns="0" rIns="0" tIns="0" bIns="0">
            <a:spAutoFit/>
          </a:bodyPr>
          <a:lstStyle/>
          <a:p>
            <a:pPr algn="l">
              <a:lnSpc>
                <a:spcPts val="1380"/>
              </a:lnSpc>
            </a:pPr>
            <a:r>
              <a:rPr sz="1000" b="0">
                <a:solidFill>
                  <a:srgbClr val="232046"/>
                </a:solidFill>
                <a:latin typeface="Diodrum Arabic SemiBold"/>
                <a:ea typeface="Diodrum Arabic SemiBold"/>
                <a:cs typeface="Diodrum Arabic SemiBold"/>
              </a:rPr>
              <a:t>The model is complete — pathways, content, partners, measurement, cost, ownership. What remains is its translation into recommendations for the Qudratak programme.</a:t>
            </a:r>
          </a:p>
        </p:txBody>
      </p:sp>
      <p:sp>
        <p:nvSpPr>
          <p:cNvPr id="38" name="Rectangle 37"/>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40" name="TextBox 39"/>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671446"/>
          </a:xfrm>
          <a:prstGeom prst="rect">
            <a:avLst/>
          </a:prstGeom>
          <a:gradFill rotWithShape="1">
            <a:gsLst>
              <a:gs pos="0">
                <a:srgbClr val="7C32C9"/>
              </a:gs>
              <a:gs pos="100000">
                <a:srgbClr val="2A206A"/>
              </a:gs>
            </a:gsLst>
            <a:lin scaled="0" ang="20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28231" cy="198628"/>
          </a:xfrm>
          <a:prstGeom prst="rect">
            <a:avLst/>
          </a:prstGeom>
          <a:noFill/>
        </p:spPr>
        <p:txBody>
          <a:bodyPr wrap="square" lIns="0" rIns="0" tIns="0" bIns="0">
            <a:spAutoFit/>
          </a:bodyPr>
          <a:lstStyle/>
          <a:p>
            <a:pPr algn="l">
              <a:lnSpc>
                <a:spcPts val="1276"/>
              </a:lnSpc>
            </a:pPr>
            <a:r>
              <a:rPr sz="1100" b="0" spc="160">
                <a:solidFill>
                  <a:srgbClr val="CEC6EC"/>
                </a:solidFill>
                <a:latin typeface="Diodrum Arabic SemiBold"/>
                <a:ea typeface="Diodrum Arabic SemiBold"/>
                <a:cs typeface="Diodrum Arabic SemiBold"/>
              </a:rPr>
              <a:t>SECTION 06</a:t>
            </a:r>
          </a:p>
        </p:txBody>
      </p:sp>
      <p:sp>
        <p:nvSpPr>
          <p:cNvPr id="4" name="TextBox 3"/>
          <p:cNvSpPr txBox="1"/>
          <p:nvPr/>
        </p:nvSpPr>
        <p:spPr>
          <a:xfrm>
            <a:off x="566928" y="694943"/>
            <a:ext cx="6428231" cy="366267"/>
          </a:xfrm>
          <a:prstGeom prst="rect">
            <a:avLst/>
          </a:prstGeom>
          <a:noFill/>
        </p:spPr>
        <p:txBody>
          <a:bodyPr wrap="square" lIns="0" rIns="0" tIns="0" bIns="0">
            <a:spAutoFit/>
          </a:bodyPr>
          <a:lstStyle/>
          <a:p>
            <a:pPr algn="l">
              <a:lnSpc>
                <a:spcPts val="2595"/>
              </a:lnSpc>
            </a:pPr>
            <a:r>
              <a:rPr sz="2200" b="1">
                <a:solidFill>
                  <a:srgbClr val="FFFFFF"/>
                </a:solidFill>
                <a:latin typeface="Diodrum Arabic"/>
                <a:ea typeface="Diodrum Arabic"/>
                <a:cs typeface="Diodrum Arabic"/>
              </a:rPr>
              <a:t>Recommendations for the Qudratak Programme</a:t>
            </a:r>
          </a:p>
        </p:txBody>
      </p:sp>
      <p:sp>
        <p:nvSpPr>
          <p:cNvPr id="5" name="TextBox 4"/>
          <p:cNvSpPr txBox="1"/>
          <p:nvPr/>
        </p:nvSpPr>
        <p:spPr>
          <a:xfrm>
            <a:off x="566928" y="1116075"/>
            <a:ext cx="5513831" cy="207899"/>
          </a:xfrm>
          <a:prstGeom prst="rect">
            <a:avLst/>
          </a:prstGeom>
          <a:noFill/>
        </p:spPr>
        <p:txBody>
          <a:bodyPr wrap="square" lIns="0" rIns="0" tIns="0" bIns="0">
            <a:spAutoFit/>
          </a:bodyPr>
          <a:lstStyle/>
          <a:p>
            <a:pPr algn="l">
              <a:lnSpc>
                <a:spcPts val="1348"/>
              </a:lnSpc>
            </a:pPr>
            <a:r>
              <a:rPr sz="950" b="0">
                <a:solidFill>
                  <a:srgbClr val="DDDAF0"/>
                </a:solidFill>
                <a:latin typeface="Diodrum Arabic"/>
                <a:ea typeface="Diodrum Arabic"/>
                <a:cs typeface="Diodrum Arabic"/>
              </a:rPr>
              <a:t>Five evidence-based findings, eight interlinked recommendations, and the steps that follow.</a:t>
            </a:r>
          </a:p>
        </p:txBody>
      </p:sp>
      <p:sp>
        <p:nvSpPr>
          <p:cNvPr id="6" name="Rectangle 5"/>
          <p:cNvSpPr/>
          <p:nvPr/>
        </p:nvSpPr>
        <p:spPr>
          <a:xfrm>
            <a:off x="566928" y="1451990"/>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2688" y="1451990"/>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98448" y="1451990"/>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64208" y="1451990"/>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29968" y="1451990"/>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395728" y="1451990"/>
            <a:ext cx="274320"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1945766"/>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6.1  KEY FINDINGS</a:t>
            </a:r>
          </a:p>
        </p:txBody>
      </p:sp>
      <p:sp>
        <p:nvSpPr>
          <p:cNvPr id="13" name="TextBox 12"/>
          <p:cNvSpPr txBox="1"/>
          <p:nvPr/>
        </p:nvSpPr>
        <p:spPr>
          <a:xfrm>
            <a:off x="566928" y="2155316"/>
            <a:ext cx="457200" cy="287019"/>
          </a:xfrm>
          <a:prstGeom prst="rect">
            <a:avLst/>
          </a:prstGeom>
          <a:noFill/>
        </p:spPr>
        <p:txBody>
          <a:bodyPr wrap="square" lIns="0" rIns="0" tIns="0" bIns="0">
            <a:spAutoFit/>
          </a:bodyPr>
          <a:lstStyle/>
          <a:p>
            <a:pPr algn="l">
              <a:lnSpc>
                <a:spcPts val="1972"/>
              </a:lnSpc>
            </a:pPr>
            <a:r>
              <a:rPr sz="1700" b="1">
                <a:solidFill>
                  <a:srgbClr val="7C32C9"/>
                </a:solidFill>
                <a:latin typeface="Diodrum Arabic"/>
                <a:ea typeface="Diodrum Arabic"/>
                <a:cs typeface="Diodrum Arabic"/>
              </a:rPr>
              <a:t>1</a:t>
            </a:r>
          </a:p>
        </p:txBody>
      </p:sp>
      <p:sp>
        <p:nvSpPr>
          <p:cNvPr id="14" name="TextBox 13"/>
          <p:cNvSpPr txBox="1"/>
          <p:nvPr/>
        </p:nvSpPr>
        <p:spPr>
          <a:xfrm>
            <a:off x="1115568" y="2173604"/>
            <a:ext cx="5879592" cy="201930"/>
          </a:xfrm>
          <a:prstGeom prst="rect">
            <a:avLst/>
          </a:prstGeom>
          <a:noFill/>
        </p:spPr>
        <p:txBody>
          <a:bodyPr wrap="square" lIns="0" rIns="0" tIns="0" bIns="0">
            <a:spAutoFit/>
          </a:bodyPr>
          <a:lstStyle/>
          <a:p>
            <a:pPr algn="l">
              <a:lnSpc>
                <a:spcPts val="1302"/>
              </a:lnSpc>
            </a:pPr>
            <a:r>
              <a:rPr sz="1050" b="0">
                <a:solidFill>
                  <a:srgbClr val="7C32C9"/>
                </a:solidFill>
                <a:latin typeface="Diodrum Arabic SemiBold"/>
                <a:ea typeface="Diodrum Arabic SemiBold"/>
                <a:cs typeface="Diodrum Arabic SemiBold"/>
              </a:rPr>
              <a:t>Availability is inversely graded with leadership level</a:t>
            </a:r>
          </a:p>
        </p:txBody>
      </p:sp>
      <p:sp>
        <p:nvSpPr>
          <p:cNvPr id="15" name="TextBox 14"/>
          <p:cNvSpPr txBox="1"/>
          <p:nvPr/>
        </p:nvSpPr>
        <p:spPr>
          <a:xfrm>
            <a:off x="1115568" y="2384678"/>
            <a:ext cx="5879592" cy="489965"/>
          </a:xfrm>
          <a:prstGeom prst="rect">
            <a:avLst/>
          </a:prstGeom>
          <a:noFill/>
        </p:spPr>
        <p:txBody>
          <a:bodyPr wrap="square" lIns="0" rIns="0" tIns="0" bIns="0">
            <a:spAutoFit/>
          </a:bodyPr>
          <a:lstStyle/>
          <a:p>
            <a:pPr algn="just">
              <a:lnSpc>
                <a:spcPts val="1189"/>
              </a:lnSpc>
            </a:pPr>
            <a:r>
              <a:rPr sz="850" b="0">
                <a:solidFill>
                  <a:srgbClr val="474956"/>
                </a:solidFill>
                <a:latin typeface="Diodrum Arabic"/>
                <a:ea typeface="Diodrum Arabic"/>
                <a:cs typeface="Diodrum Arabic"/>
              </a:rPr>
              <a:t>The higher the level, the fewer the openly enrolable programmes — until dedicated supply disappears entirely at the ministerial level in the market reviewed (Section 04). Build and customisation effort concentrates at Levels 1–2; Levels 3–4 are managed through purchase, adaptation, and licensing.</a:t>
            </a:r>
          </a:p>
        </p:txBody>
      </p:sp>
      <p:sp>
        <p:nvSpPr>
          <p:cNvPr id="16" name="Rectangle 15"/>
          <p:cNvSpPr/>
          <p:nvPr/>
        </p:nvSpPr>
        <p:spPr>
          <a:xfrm>
            <a:off x="566928" y="2902076"/>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011804"/>
            <a:ext cx="457200" cy="287019"/>
          </a:xfrm>
          <a:prstGeom prst="rect">
            <a:avLst/>
          </a:prstGeom>
          <a:noFill/>
        </p:spPr>
        <p:txBody>
          <a:bodyPr wrap="square" lIns="0" rIns="0" tIns="0" bIns="0">
            <a:spAutoFit/>
          </a:bodyPr>
          <a:lstStyle/>
          <a:p>
            <a:pPr algn="l">
              <a:lnSpc>
                <a:spcPts val="1972"/>
              </a:lnSpc>
            </a:pPr>
            <a:r>
              <a:rPr sz="1700" b="1">
                <a:solidFill>
                  <a:srgbClr val="00ABAF"/>
                </a:solidFill>
                <a:latin typeface="Diodrum Arabic"/>
                <a:ea typeface="Diodrum Arabic"/>
                <a:cs typeface="Diodrum Arabic"/>
              </a:rPr>
              <a:t>2</a:t>
            </a:r>
          </a:p>
        </p:txBody>
      </p:sp>
      <p:sp>
        <p:nvSpPr>
          <p:cNvPr id="18" name="TextBox 17"/>
          <p:cNvSpPr txBox="1"/>
          <p:nvPr/>
        </p:nvSpPr>
        <p:spPr>
          <a:xfrm>
            <a:off x="1115568" y="3030092"/>
            <a:ext cx="5879592" cy="201930"/>
          </a:xfrm>
          <a:prstGeom prst="rect">
            <a:avLst/>
          </a:prstGeom>
          <a:noFill/>
        </p:spPr>
        <p:txBody>
          <a:bodyPr wrap="square" lIns="0" rIns="0" tIns="0" bIns="0">
            <a:spAutoFit/>
          </a:bodyPr>
          <a:lstStyle/>
          <a:p>
            <a:pPr algn="l">
              <a:lnSpc>
                <a:spcPts val="1302"/>
              </a:lnSpc>
            </a:pPr>
            <a:r>
              <a:rPr sz="1050" b="0">
                <a:solidFill>
                  <a:srgbClr val="00ABAF"/>
                </a:solidFill>
                <a:latin typeface="Diodrum Arabic SemiBold"/>
                <a:ea typeface="Diodrum Arabic SemiBold"/>
                <a:cs typeface="Diodrum Arabic SemiBold"/>
              </a:rPr>
              <a:t>Published evaluations of this type of programme are limited globally</a:t>
            </a:r>
          </a:p>
        </p:txBody>
      </p:sp>
      <p:sp>
        <p:nvSpPr>
          <p:cNvPr id="19" name="TextBox 18"/>
          <p:cNvSpPr txBox="1"/>
          <p:nvPr/>
        </p:nvSpPr>
        <p:spPr>
          <a:xfrm>
            <a:off x="1115568" y="3241166"/>
            <a:ext cx="5879592" cy="489965"/>
          </a:xfrm>
          <a:prstGeom prst="rect">
            <a:avLst/>
          </a:prstGeom>
          <a:noFill/>
        </p:spPr>
        <p:txBody>
          <a:bodyPr wrap="square" lIns="0" rIns="0" tIns="0" bIns="0">
            <a:spAutoFit/>
          </a:bodyPr>
          <a:lstStyle/>
          <a:p>
            <a:pPr algn="just">
              <a:lnSpc>
                <a:spcPts val="1189"/>
              </a:lnSpc>
            </a:pPr>
            <a:r>
              <a:rPr sz="850" b="0">
                <a:solidFill>
                  <a:srgbClr val="474956"/>
                </a:solidFill>
                <a:latin typeface="Diodrum Arabic"/>
                <a:ea typeface="Diodrum Arabic"/>
                <a:cs typeface="Diodrum Arabic"/>
              </a:rPr>
              <a:t>The most prominent identified: a single independent control-group evaluation of the UK programme, described by its evaluators as inconclusive [40]. Rigorous measurement from the first cohort gives the Saudi programme a knowledge contribution beyond its local boundaries.</a:t>
            </a:r>
          </a:p>
        </p:txBody>
      </p:sp>
      <p:sp>
        <p:nvSpPr>
          <p:cNvPr id="20" name="Rectangle 19"/>
          <p:cNvSpPr/>
          <p:nvPr/>
        </p:nvSpPr>
        <p:spPr>
          <a:xfrm>
            <a:off x="566928" y="3758564"/>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868292"/>
            <a:ext cx="457200" cy="287019"/>
          </a:xfrm>
          <a:prstGeom prst="rect">
            <a:avLst/>
          </a:prstGeom>
          <a:noFill/>
        </p:spPr>
        <p:txBody>
          <a:bodyPr wrap="square" lIns="0" rIns="0" tIns="0" bIns="0">
            <a:spAutoFit/>
          </a:bodyPr>
          <a:lstStyle/>
          <a:p>
            <a:pPr algn="l">
              <a:lnSpc>
                <a:spcPts val="1972"/>
              </a:lnSpc>
            </a:pPr>
            <a:r>
              <a:rPr sz="1700" b="1">
                <a:solidFill>
                  <a:srgbClr val="1CC182"/>
                </a:solidFill>
                <a:latin typeface="Diodrum Arabic"/>
                <a:ea typeface="Diodrum Arabic"/>
                <a:cs typeface="Diodrum Arabic"/>
              </a:rPr>
              <a:t>3</a:t>
            </a:r>
          </a:p>
        </p:txBody>
      </p:sp>
      <p:sp>
        <p:nvSpPr>
          <p:cNvPr id="22" name="TextBox 21"/>
          <p:cNvSpPr txBox="1"/>
          <p:nvPr/>
        </p:nvSpPr>
        <p:spPr>
          <a:xfrm>
            <a:off x="1115568" y="3886580"/>
            <a:ext cx="5879592" cy="201930"/>
          </a:xfrm>
          <a:prstGeom prst="rect">
            <a:avLst/>
          </a:prstGeom>
          <a:noFill/>
        </p:spPr>
        <p:txBody>
          <a:bodyPr wrap="square" lIns="0" rIns="0" tIns="0" bIns="0">
            <a:spAutoFit/>
          </a:bodyPr>
          <a:lstStyle/>
          <a:p>
            <a:pPr algn="l">
              <a:lnSpc>
                <a:spcPts val="1302"/>
              </a:lnSpc>
            </a:pPr>
            <a:r>
              <a:rPr sz="1050" b="0">
                <a:solidFill>
                  <a:srgbClr val="1CC182"/>
                </a:solidFill>
                <a:latin typeface="Diodrum Arabic SemiBold"/>
                <a:ea typeface="Diodrum Arabic SemiBold"/>
                <a:cs typeface="Diodrum Arabic SemiBold"/>
              </a:rPr>
              <a:t>Senior-leadership demand exists within the Kingdom and is documented</a:t>
            </a:r>
          </a:p>
        </p:txBody>
      </p:sp>
      <p:sp>
        <p:nvSpPr>
          <p:cNvPr id="23" name="TextBox 22"/>
          <p:cNvSpPr txBox="1"/>
          <p:nvPr/>
        </p:nvSpPr>
        <p:spPr>
          <a:xfrm>
            <a:off x="1115568" y="4097654"/>
            <a:ext cx="5879592" cy="489965"/>
          </a:xfrm>
          <a:prstGeom prst="rect">
            <a:avLst/>
          </a:prstGeom>
          <a:noFill/>
        </p:spPr>
        <p:txBody>
          <a:bodyPr wrap="square" lIns="0" rIns="0" tIns="0" bIns="0">
            <a:spAutoFit/>
          </a:bodyPr>
          <a:lstStyle/>
          <a:p>
            <a:pPr algn="just">
              <a:lnSpc>
                <a:spcPts val="1189"/>
              </a:lnSpc>
            </a:pPr>
            <a:r>
              <a:rPr sz="850" b="0">
                <a:solidFill>
                  <a:srgbClr val="474956"/>
                </a:solidFill>
                <a:latin typeface="Diodrum Arabic"/>
                <a:ea typeface="Diodrum Arabic"/>
                <a:cs typeface="Diodrum Arabic"/>
              </a:rPr>
              <a:t>A delegation including ministers and senior officials joined the Stanford programme in November 2025 — evidence of real, paid demand [55]; hence the importance of a local option honouring the Saudi context, language, confidentiality, and measurement.</a:t>
            </a:r>
          </a:p>
        </p:txBody>
      </p:sp>
      <p:sp>
        <p:nvSpPr>
          <p:cNvPr id="24" name="Rectangle 23"/>
          <p:cNvSpPr/>
          <p:nvPr/>
        </p:nvSpPr>
        <p:spPr>
          <a:xfrm>
            <a:off x="566928" y="4615052"/>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4724780"/>
            <a:ext cx="457200" cy="287019"/>
          </a:xfrm>
          <a:prstGeom prst="rect">
            <a:avLst/>
          </a:prstGeom>
          <a:noFill/>
        </p:spPr>
        <p:txBody>
          <a:bodyPr wrap="square" lIns="0" rIns="0" tIns="0" bIns="0">
            <a:spAutoFit/>
          </a:bodyPr>
          <a:lstStyle/>
          <a:p>
            <a:pPr algn="l">
              <a:lnSpc>
                <a:spcPts val="1972"/>
              </a:lnSpc>
            </a:pPr>
            <a:r>
              <a:rPr sz="1700" b="1">
                <a:solidFill>
                  <a:srgbClr val="2D9CDB"/>
                </a:solidFill>
                <a:latin typeface="Diodrum Arabic"/>
                <a:ea typeface="Diodrum Arabic"/>
                <a:cs typeface="Diodrum Arabic"/>
              </a:rPr>
              <a:t>4</a:t>
            </a:r>
          </a:p>
        </p:txBody>
      </p:sp>
      <p:sp>
        <p:nvSpPr>
          <p:cNvPr id="26" name="TextBox 25"/>
          <p:cNvSpPr txBox="1"/>
          <p:nvPr/>
        </p:nvSpPr>
        <p:spPr>
          <a:xfrm>
            <a:off x="1115568" y="4743068"/>
            <a:ext cx="5879592" cy="201930"/>
          </a:xfrm>
          <a:prstGeom prst="rect">
            <a:avLst/>
          </a:prstGeom>
          <a:noFill/>
        </p:spPr>
        <p:txBody>
          <a:bodyPr wrap="square" lIns="0" rIns="0" tIns="0" bIns="0">
            <a:spAutoFit/>
          </a:bodyPr>
          <a:lstStyle/>
          <a:p>
            <a:pPr algn="l">
              <a:lnSpc>
                <a:spcPts val="1302"/>
              </a:lnSpc>
            </a:pPr>
            <a:r>
              <a:rPr sz="1050" b="0">
                <a:solidFill>
                  <a:srgbClr val="2D9CDB"/>
                </a:solidFill>
                <a:latin typeface="Diodrum Arabic SemiBold"/>
                <a:ea typeface="Diodrum Arabic SemiBold"/>
                <a:cs typeface="Diodrum Arabic SemiBold"/>
              </a:rPr>
              <a:t>Existing national capabilities are broader than zero</a:t>
            </a:r>
          </a:p>
        </p:txBody>
      </p:sp>
      <p:sp>
        <p:nvSpPr>
          <p:cNvPr id="27" name="TextBox 26"/>
          <p:cNvSpPr txBox="1"/>
          <p:nvPr/>
        </p:nvSpPr>
        <p:spPr>
          <a:xfrm>
            <a:off x="1115568" y="4954142"/>
            <a:ext cx="5879592" cy="489965"/>
          </a:xfrm>
          <a:prstGeom prst="rect">
            <a:avLst/>
          </a:prstGeom>
          <a:noFill/>
        </p:spPr>
        <p:txBody>
          <a:bodyPr wrap="square" lIns="0" rIns="0" tIns="0" bIns="0">
            <a:spAutoFit/>
          </a:bodyPr>
          <a:lstStyle/>
          <a:p>
            <a:pPr algn="just">
              <a:lnSpc>
                <a:spcPts val="1189"/>
              </a:lnSpc>
            </a:pPr>
            <a:r>
              <a:rPr sz="850" b="0">
                <a:solidFill>
                  <a:srgbClr val="474956"/>
                </a:solidFill>
                <a:latin typeface="Diodrum Arabic"/>
                <a:ea typeface="Diodrum Arabic"/>
                <a:cs typeface="Diodrum Arabic"/>
              </a:rPr>
              <a:t>SDAIA: more than 278 government leaders trained by June 2026 [52]; Qudratak: a national platform and documented academic partnerships since October 2021 [54]. What is needed is a layer of organisation, ownership, and measurement on top — not a separate foundation.</a:t>
            </a:r>
          </a:p>
        </p:txBody>
      </p:sp>
      <p:sp>
        <p:nvSpPr>
          <p:cNvPr id="28" name="Rectangle 27"/>
          <p:cNvSpPr/>
          <p:nvPr/>
        </p:nvSpPr>
        <p:spPr>
          <a:xfrm>
            <a:off x="566928" y="54715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5581268"/>
            <a:ext cx="457200" cy="287019"/>
          </a:xfrm>
          <a:prstGeom prst="rect">
            <a:avLst/>
          </a:prstGeom>
          <a:noFill/>
        </p:spPr>
        <p:txBody>
          <a:bodyPr wrap="square" lIns="0" rIns="0" tIns="0" bIns="0">
            <a:spAutoFit/>
          </a:bodyPr>
          <a:lstStyle/>
          <a:p>
            <a:pPr algn="l">
              <a:lnSpc>
                <a:spcPts val="1972"/>
              </a:lnSpc>
            </a:pPr>
            <a:r>
              <a:rPr sz="1700" b="1">
                <a:solidFill>
                  <a:srgbClr val="2A206A"/>
                </a:solidFill>
                <a:latin typeface="Diodrum Arabic"/>
                <a:ea typeface="Diodrum Arabic"/>
                <a:cs typeface="Diodrum Arabic"/>
              </a:rPr>
              <a:t>5</a:t>
            </a:r>
          </a:p>
        </p:txBody>
      </p:sp>
      <p:sp>
        <p:nvSpPr>
          <p:cNvPr id="30" name="TextBox 29"/>
          <p:cNvSpPr txBox="1"/>
          <p:nvPr/>
        </p:nvSpPr>
        <p:spPr>
          <a:xfrm>
            <a:off x="1115568" y="5599556"/>
            <a:ext cx="5879592" cy="201930"/>
          </a:xfrm>
          <a:prstGeom prst="rect">
            <a:avLst/>
          </a:prstGeom>
          <a:noFill/>
        </p:spPr>
        <p:txBody>
          <a:bodyPr wrap="square" lIns="0" rIns="0" tIns="0" bIns="0">
            <a:spAutoFit/>
          </a:bodyPr>
          <a:lstStyle/>
          <a:p>
            <a:pPr algn="l">
              <a:lnSpc>
                <a:spcPts val="1302"/>
              </a:lnSpc>
            </a:pPr>
            <a:r>
              <a:rPr sz="1050" b="0">
                <a:solidFill>
                  <a:srgbClr val="2A206A"/>
                </a:solidFill>
                <a:latin typeface="Diodrum Arabic SemiBold"/>
                <a:ea typeface="Diodrum Arabic SemiBold"/>
                <a:cs typeface="Diodrum Arabic SemiBold"/>
              </a:rPr>
              <a:t>Linking training to assignment or appraisal expands coverage</a:t>
            </a:r>
          </a:p>
        </p:txBody>
      </p:sp>
      <p:sp>
        <p:nvSpPr>
          <p:cNvPr id="31" name="TextBox 30"/>
          <p:cNvSpPr txBox="1"/>
          <p:nvPr/>
        </p:nvSpPr>
        <p:spPr>
          <a:xfrm>
            <a:off x="1115568" y="5810630"/>
            <a:ext cx="5879592" cy="489965"/>
          </a:xfrm>
          <a:prstGeom prst="rect">
            <a:avLst/>
          </a:prstGeom>
          <a:noFill/>
        </p:spPr>
        <p:txBody>
          <a:bodyPr wrap="square" lIns="0" rIns="0" tIns="0" bIns="0">
            <a:spAutoFit/>
          </a:bodyPr>
          <a:lstStyle/>
          <a:p>
            <a:pPr algn="just">
              <a:lnSpc>
                <a:spcPts val="1189"/>
              </a:lnSpc>
            </a:pPr>
            <a:r>
              <a:rPr sz="850" b="0">
                <a:solidFill>
                  <a:srgbClr val="474956"/>
                </a:solidFill>
                <a:latin typeface="Diodrum Arabic"/>
                <a:ea typeface="Diodrum Arabic"/>
                <a:cs typeface="Diodrum Arabic"/>
              </a:rPr>
              <a:t>The UK’s voluntary programme reached about 2,500 of about 7,000 targeted by September 2024 [30]; India achieved broad coverage by linking training to annual appraisal [41]. Read with due regard for context, the implication is that institutional linkage is an early design decision, not a later addition.</a:t>
            </a:r>
          </a:p>
        </p:txBody>
      </p:sp>
      <p:sp>
        <p:nvSpPr>
          <p:cNvPr id="32" name="Rectangle 3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34" name="TextBox 33"/>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06 · 6.2  THE FINAL RECOMMENDATION</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Eight interlinked recommendations to the Qudratak programme</a:t>
            </a:r>
          </a:p>
        </p:txBody>
      </p:sp>
      <p:sp>
        <p:nvSpPr>
          <p:cNvPr id="4" name="Rounded Rectangle 3"/>
          <p:cNvSpPr/>
          <p:nvPr/>
        </p:nvSpPr>
        <p:spPr>
          <a:xfrm>
            <a:off x="566928" y="1401318"/>
            <a:ext cx="3140963" cy="1199007"/>
          </a:xfrm>
          <a:prstGeom prst="roundRect">
            <a:avLst>
              <a:gd name="adj" fmla="val 686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 y="154762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666494"/>
            <a:ext cx="2848356" cy="199263"/>
          </a:xfrm>
          <a:prstGeom prst="rect">
            <a:avLst/>
          </a:prstGeom>
          <a:noFill/>
        </p:spPr>
        <p:txBody>
          <a:bodyPr wrap="square" lIns="0" rIns="0" tIns="0" bIns="0">
            <a:spAutoFit/>
          </a:bodyPr>
          <a:lstStyle/>
          <a:p>
            <a:pPr algn="l">
              <a:lnSpc>
                <a:spcPts val="1281"/>
              </a:lnSpc>
            </a:pPr>
            <a:r>
              <a:rPr sz="1050" b="0">
                <a:solidFill>
                  <a:srgbClr val="7C32C9"/>
                </a:solidFill>
                <a:latin typeface="Diodrum Arabic SemiBold"/>
                <a:ea typeface="Diodrum Arabic SemiBold"/>
                <a:cs typeface="Diodrum Arabic SemiBold"/>
              </a:rPr>
              <a:t>1 · Adopt the four-level classification</a:t>
            </a:r>
          </a:p>
        </p:txBody>
      </p:sp>
      <p:sp>
        <p:nvSpPr>
          <p:cNvPr id="7" name="TextBox 6"/>
          <p:cNvSpPr txBox="1"/>
          <p:nvPr/>
        </p:nvSpPr>
        <p:spPr>
          <a:xfrm>
            <a:off x="713232" y="1893189"/>
            <a:ext cx="2848356" cy="597408"/>
          </a:xfrm>
          <a:prstGeom prst="rect">
            <a:avLst/>
          </a:prstGeom>
          <a:noFill/>
        </p:spPr>
        <p:txBody>
          <a:bodyPr wrap="square" lIns="0" rIns="0" tIns="0" bIns="0">
            <a:spAutoFit/>
          </a:bodyPr>
          <a:lstStyle/>
          <a:p>
            <a:pPr algn="just">
              <a:lnSpc>
                <a:spcPts val="1104"/>
              </a:lnSpc>
            </a:pPr>
            <a:r>
              <a:rPr sz="800" b="0">
                <a:solidFill>
                  <a:srgbClr val="474956"/>
                </a:solidFill>
                <a:latin typeface="Diodrum Arabic"/>
                <a:ea typeface="Diodrum Arabic"/>
                <a:cs typeface="Diodrum Arabic"/>
              </a:rPr>
              <a:t>Four levels by decision scope and leadership protocol, admitting equivalent titles because entity structures differ; classification by scope of authority and decision type — not job title alone.</a:t>
            </a:r>
          </a:p>
        </p:txBody>
      </p:sp>
      <p:sp>
        <p:nvSpPr>
          <p:cNvPr id="8" name="Rounded Rectangle 7"/>
          <p:cNvSpPr/>
          <p:nvPr/>
        </p:nvSpPr>
        <p:spPr>
          <a:xfrm>
            <a:off x="3854196" y="1401318"/>
            <a:ext cx="3140963" cy="1199007"/>
          </a:xfrm>
          <a:prstGeom prst="roundRect">
            <a:avLst>
              <a:gd name="adj" fmla="val 686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000500" y="154762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00500" y="1666494"/>
            <a:ext cx="2848356" cy="199263"/>
          </a:xfrm>
          <a:prstGeom prst="rect">
            <a:avLst/>
          </a:prstGeom>
          <a:noFill/>
        </p:spPr>
        <p:txBody>
          <a:bodyPr wrap="square" lIns="0" rIns="0" tIns="0" bIns="0">
            <a:spAutoFit/>
          </a:bodyPr>
          <a:lstStyle/>
          <a:p>
            <a:pPr algn="l">
              <a:lnSpc>
                <a:spcPts val="1281"/>
              </a:lnSpc>
            </a:pPr>
            <a:r>
              <a:rPr sz="1050" b="0">
                <a:solidFill>
                  <a:srgbClr val="7C32C9"/>
                </a:solidFill>
                <a:latin typeface="Diodrum Arabic SemiBold"/>
                <a:ea typeface="Diodrum Arabic SemiBold"/>
                <a:cs typeface="Diodrum Arabic SemiBold"/>
              </a:rPr>
              <a:t>2 · Build a dedicated pathway for ministers</a:t>
            </a:r>
          </a:p>
        </p:txBody>
      </p:sp>
      <p:sp>
        <p:nvSpPr>
          <p:cNvPr id="11" name="TextBox 10"/>
          <p:cNvSpPr txBox="1"/>
          <p:nvPr/>
        </p:nvSpPr>
        <p:spPr>
          <a:xfrm>
            <a:off x="4000500" y="1893189"/>
            <a:ext cx="2848356" cy="457199"/>
          </a:xfrm>
          <a:prstGeom prst="rect">
            <a:avLst/>
          </a:prstGeom>
          <a:noFill/>
        </p:spPr>
        <p:txBody>
          <a:bodyPr wrap="square" lIns="0" rIns="0" tIns="0" bIns="0">
            <a:spAutoFit/>
          </a:bodyPr>
          <a:lstStyle/>
          <a:p>
            <a:pPr algn="just">
              <a:lnSpc>
                <a:spcPts val="1104"/>
              </a:lnSpc>
            </a:pPr>
            <a:r>
              <a:rPr sz="800" b="0">
                <a:solidFill>
                  <a:srgbClr val="474956"/>
                </a:solidFill>
                <a:latin typeface="Diodrum Arabic"/>
                <a:ea typeface="Diodrum Arabic"/>
                <a:cs typeface="Diodrum Arabic"/>
              </a:rPr>
              <a:t>Neither open programmes nor conventional courses fit: short, closed sessions built on actual decisions, a cohort of no more than 12, a signed output per session [63].</a:t>
            </a:r>
          </a:p>
        </p:txBody>
      </p:sp>
      <p:sp>
        <p:nvSpPr>
          <p:cNvPr id="12" name="Rounded Rectangle 11"/>
          <p:cNvSpPr/>
          <p:nvPr/>
        </p:nvSpPr>
        <p:spPr>
          <a:xfrm>
            <a:off x="566928" y="2746629"/>
            <a:ext cx="3140963" cy="1361693"/>
          </a:xfrm>
          <a:prstGeom prst="roundRect">
            <a:avLst>
              <a:gd name="adj" fmla="val 604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892933"/>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011805"/>
            <a:ext cx="2848356" cy="361950"/>
          </a:xfrm>
          <a:prstGeom prst="rect">
            <a:avLst/>
          </a:prstGeom>
          <a:noFill/>
        </p:spPr>
        <p:txBody>
          <a:bodyPr wrap="square" lIns="0" rIns="0" tIns="0" bIns="0">
            <a:spAutoFit/>
          </a:bodyPr>
          <a:lstStyle/>
          <a:p>
            <a:pPr algn="l">
              <a:lnSpc>
                <a:spcPts val="1281"/>
              </a:lnSpc>
            </a:pPr>
            <a:r>
              <a:rPr sz="1050" b="0">
                <a:solidFill>
                  <a:srgbClr val="2A206A"/>
                </a:solidFill>
                <a:latin typeface="Diodrum Arabic SemiBold"/>
                <a:ea typeface="Diodrum Arabic SemiBold"/>
                <a:cs typeface="Diodrum Arabic SemiBold"/>
              </a:rPr>
              <a:t>3 · Designate a protocol for Vice Ministers and Excellency-rank leaders</a:t>
            </a:r>
          </a:p>
        </p:txBody>
      </p:sp>
      <p:sp>
        <p:nvSpPr>
          <p:cNvPr id="15" name="TextBox 14"/>
          <p:cNvSpPr txBox="1"/>
          <p:nvPr/>
        </p:nvSpPr>
        <p:spPr>
          <a:xfrm>
            <a:off x="713232" y="3401187"/>
            <a:ext cx="2848356" cy="597408"/>
          </a:xfrm>
          <a:prstGeom prst="rect">
            <a:avLst/>
          </a:prstGeom>
          <a:noFill/>
        </p:spPr>
        <p:txBody>
          <a:bodyPr wrap="square" lIns="0" rIns="0" tIns="0" bIns="0">
            <a:spAutoFit/>
          </a:bodyPr>
          <a:lstStyle/>
          <a:p>
            <a:pPr algn="just">
              <a:lnSpc>
                <a:spcPts val="1104"/>
              </a:lnSpc>
            </a:pPr>
            <a:r>
              <a:rPr sz="800" b="0">
                <a:solidFill>
                  <a:srgbClr val="474956"/>
                </a:solidFill>
                <a:latin typeface="Diodrum Arabic"/>
                <a:ea typeface="Diodrum Arabic"/>
                <a:cs typeface="Diodrum Arabic"/>
              </a:rPr>
              <a:t>Vice ministers, governors, and assistant ministers are a distinct category between the minister and the deputy minister: selective cohorts, high privacy, content on portfolios, governance, and investment.</a:t>
            </a:r>
          </a:p>
        </p:txBody>
      </p:sp>
      <p:sp>
        <p:nvSpPr>
          <p:cNvPr id="16" name="Rounded Rectangle 15"/>
          <p:cNvSpPr/>
          <p:nvPr/>
        </p:nvSpPr>
        <p:spPr>
          <a:xfrm>
            <a:off x="3854196" y="2746629"/>
            <a:ext cx="3140963" cy="1361693"/>
          </a:xfrm>
          <a:prstGeom prst="roundRect">
            <a:avLst>
              <a:gd name="adj" fmla="val 604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00500" y="2892933"/>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00500" y="3011805"/>
            <a:ext cx="2848356" cy="199263"/>
          </a:xfrm>
          <a:prstGeom prst="rect">
            <a:avLst/>
          </a:prstGeom>
          <a:noFill/>
        </p:spPr>
        <p:txBody>
          <a:bodyPr wrap="square" lIns="0" rIns="0" tIns="0" bIns="0">
            <a:spAutoFit/>
          </a:bodyPr>
          <a:lstStyle/>
          <a:p>
            <a:pPr algn="l">
              <a:lnSpc>
                <a:spcPts val="1281"/>
              </a:lnSpc>
            </a:pPr>
            <a:r>
              <a:rPr sz="1050" b="0">
                <a:solidFill>
                  <a:srgbClr val="00ABAF"/>
                </a:solidFill>
                <a:latin typeface="Diodrum Arabic SemiBold"/>
                <a:ea typeface="Diodrum Arabic SemiBold"/>
                <a:cs typeface="Diodrum Arabic SemiBold"/>
              </a:rPr>
              <a:t>4 · Draw on the market for Levels 3 and 4</a:t>
            </a:r>
          </a:p>
        </p:txBody>
      </p:sp>
      <p:sp>
        <p:nvSpPr>
          <p:cNvPr id="19" name="TextBox 18"/>
          <p:cNvSpPr txBox="1"/>
          <p:nvPr/>
        </p:nvSpPr>
        <p:spPr>
          <a:xfrm>
            <a:off x="4000500" y="3238500"/>
            <a:ext cx="2848356" cy="457199"/>
          </a:xfrm>
          <a:prstGeom prst="rect">
            <a:avLst/>
          </a:prstGeom>
          <a:noFill/>
        </p:spPr>
        <p:txBody>
          <a:bodyPr wrap="square" lIns="0" rIns="0" tIns="0" bIns="0">
            <a:spAutoFit/>
          </a:bodyPr>
          <a:lstStyle/>
          <a:p>
            <a:pPr algn="just">
              <a:lnSpc>
                <a:spcPts val="1104"/>
              </a:lnSpc>
            </a:pPr>
            <a:r>
              <a:rPr sz="800" b="0">
                <a:solidFill>
                  <a:srgbClr val="474956"/>
                </a:solidFill>
                <a:latin typeface="Diodrum Arabic"/>
                <a:ea typeface="Diodrum Arabic"/>
                <a:cs typeface="Diodrum Arabic"/>
              </a:rPr>
              <a:t>Purchase existing models or content, then adapt to the Saudi government context — rather than building all content from scratch.</a:t>
            </a:r>
          </a:p>
        </p:txBody>
      </p:sp>
      <p:sp>
        <p:nvSpPr>
          <p:cNvPr id="20" name="Rounded Rectangle 19"/>
          <p:cNvSpPr/>
          <p:nvPr/>
        </p:nvSpPr>
        <p:spPr>
          <a:xfrm>
            <a:off x="566928" y="4254626"/>
            <a:ext cx="3140963" cy="1058799"/>
          </a:xfrm>
          <a:prstGeom prst="roundRect">
            <a:avLst>
              <a:gd name="adj" fmla="val 7772"/>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 y="4400931"/>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4519803"/>
            <a:ext cx="2848356" cy="199263"/>
          </a:xfrm>
          <a:prstGeom prst="rect">
            <a:avLst/>
          </a:prstGeom>
          <a:noFill/>
        </p:spPr>
        <p:txBody>
          <a:bodyPr wrap="square" lIns="0" rIns="0" tIns="0" bIns="0">
            <a:spAutoFit/>
          </a:bodyPr>
          <a:lstStyle/>
          <a:p>
            <a:pPr algn="l">
              <a:lnSpc>
                <a:spcPts val="1281"/>
              </a:lnSpc>
            </a:pPr>
            <a:r>
              <a:rPr sz="1050" b="0">
                <a:solidFill>
                  <a:srgbClr val="1CC182"/>
                </a:solidFill>
                <a:latin typeface="Diodrum Arabic SemiBold"/>
                <a:ea typeface="Diodrum Arabic SemiBold"/>
                <a:cs typeface="Diodrum Arabic SemiBold"/>
              </a:rPr>
              <a:t>5 · Build Saudi cases early</a:t>
            </a:r>
          </a:p>
        </p:txBody>
      </p:sp>
      <p:sp>
        <p:nvSpPr>
          <p:cNvPr id="23" name="TextBox 22"/>
          <p:cNvSpPr txBox="1"/>
          <p:nvPr/>
        </p:nvSpPr>
        <p:spPr>
          <a:xfrm>
            <a:off x="713232" y="4746498"/>
            <a:ext cx="2848356" cy="457199"/>
          </a:xfrm>
          <a:prstGeom prst="rect">
            <a:avLst/>
          </a:prstGeom>
          <a:noFill/>
        </p:spPr>
        <p:txBody>
          <a:bodyPr wrap="square" lIns="0" rIns="0" tIns="0" bIns="0">
            <a:spAutoFit/>
          </a:bodyPr>
          <a:lstStyle/>
          <a:p>
            <a:pPr algn="just">
              <a:lnSpc>
                <a:spcPts val="1104"/>
              </a:lnSpc>
            </a:pPr>
            <a:r>
              <a:rPr sz="800" b="0">
                <a:solidFill>
                  <a:srgbClr val="474956"/>
                </a:solidFill>
                <a:latin typeface="Diodrum Arabic"/>
                <a:ea typeface="Diodrum Arabic"/>
                <a:cs typeface="Diodrum Arabic"/>
              </a:rPr>
              <a:t>Local cases are the most important element of programme fit; they must not be left to a later stage or to the international provider alone.</a:t>
            </a:r>
          </a:p>
        </p:txBody>
      </p:sp>
      <p:sp>
        <p:nvSpPr>
          <p:cNvPr id="24" name="Rounded Rectangle 23"/>
          <p:cNvSpPr/>
          <p:nvPr/>
        </p:nvSpPr>
        <p:spPr>
          <a:xfrm>
            <a:off x="3854196" y="4254626"/>
            <a:ext cx="3140963" cy="1058799"/>
          </a:xfrm>
          <a:prstGeom prst="roundRect">
            <a:avLst>
              <a:gd name="adj" fmla="val 7772"/>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000500" y="4400931"/>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00500" y="4519803"/>
            <a:ext cx="2848356" cy="199263"/>
          </a:xfrm>
          <a:prstGeom prst="rect">
            <a:avLst/>
          </a:prstGeom>
          <a:noFill/>
        </p:spPr>
        <p:txBody>
          <a:bodyPr wrap="square" lIns="0" rIns="0" tIns="0" bIns="0">
            <a:spAutoFit/>
          </a:bodyPr>
          <a:lstStyle/>
          <a:p>
            <a:pPr algn="l">
              <a:lnSpc>
                <a:spcPts val="1281"/>
              </a:lnSpc>
            </a:pPr>
            <a:r>
              <a:rPr sz="1050" b="0">
                <a:solidFill>
                  <a:srgbClr val="1CC182"/>
                </a:solidFill>
                <a:latin typeface="Diodrum Arabic SemiBold"/>
                <a:ea typeface="Diodrum Arabic SemiBold"/>
                <a:cs typeface="Diodrum Arabic SemiBold"/>
              </a:rPr>
              <a:t>6 · Build measurement from the first cohort</a:t>
            </a:r>
          </a:p>
        </p:txBody>
      </p:sp>
      <p:sp>
        <p:nvSpPr>
          <p:cNvPr id="27" name="TextBox 26"/>
          <p:cNvSpPr txBox="1"/>
          <p:nvPr/>
        </p:nvSpPr>
        <p:spPr>
          <a:xfrm>
            <a:off x="4000500" y="4746498"/>
            <a:ext cx="2848356" cy="316991"/>
          </a:xfrm>
          <a:prstGeom prst="rect">
            <a:avLst/>
          </a:prstGeom>
          <a:noFill/>
        </p:spPr>
        <p:txBody>
          <a:bodyPr wrap="square" lIns="0" rIns="0" tIns="0" bIns="0">
            <a:spAutoFit/>
          </a:bodyPr>
          <a:lstStyle/>
          <a:p>
            <a:pPr algn="l">
              <a:lnSpc>
                <a:spcPts val="1104"/>
              </a:lnSpc>
            </a:pPr>
            <a:r>
              <a:rPr sz="800" b="0">
                <a:solidFill>
                  <a:srgbClr val="474956"/>
                </a:solidFill>
                <a:latin typeface="Diodrum Arabic"/>
                <a:ea typeface="Diodrum Arabic"/>
                <a:cs typeface="Diodrum Arabic"/>
              </a:rPr>
              <a:t>Measurement tied to decisions and applied outputs — not confined to participant satisfaction or hours completed.</a:t>
            </a:r>
          </a:p>
        </p:txBody>
      </p:sp>
      <p:sp>
        <p:nvSpPr>
          <p:cNvPr id="28" name="Rounded Rectangle 27"/>
          <p:cNvSpPr/>
          <p:nvPr/>
        </p:nvSpPr>
        <p:spPr>
          <a:xfrm>
            <a:off x="566928" y="5459730"/>
            <a:ext cx="3140963" cy="1221486"/>
          </a:xfrm>
          <a:prstGeom prst="roundRect">
            <a:avLst>
              <a:gd name="adj" fmla="val 67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13232" y="5606034"/>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5724906"/>
            <a:ext cx="2848356" cy="199263"/>
          </a:xfrm>
          <a:prstGeom prst="rect">
            <a:avLst/>
          </a:prstGeom>
          <a:noFill/>
        </p:spPr>
        <p:txBody>
          <a:bodyPr wrap="square" lIns="0" rIns="0" tIns="0" bIns="0">
            <a:spAutoFit/>
          </a:bodyPr>
          <a:lstStyle/>
          <a:p>
            <a:pPr algn="l">
              <a:lnSpc>
                <a:spcPts val="1281"/>
              </a:lnSpc>
            </a:pPr>
            <a:r>
              <a:rPr sz="1050" b="0">
                <a:solidFill>
                  <a:srgbClr val="00ABAF"/>
                </a:solidFill>
                <a:latin typeface="Diodrum Arabic SemiBold"/>
                <a:ea typeface="Diodrum Arabic SemiBold"/>
                <a:cs typeface="Diodrum Arabic SemiBold"/>
              </a:rPr>
              <a:t>7 · Draw on existing national capabilities</a:t>
            </a:r>
          </a:p>
        </p:txBody>
      </p:sp>
      <p:sp>
        <p:nvSpPr>
          <p:cNvPr id="31" name="TextBox 30"/>
          <p:cNvSpPr txBox="1"/>
          <p:nvPr/>
        </p:nvSpPr>
        <p:spPr>
          <a:xfrm>
            <a:off x="713232" y="5951601"/>
            <a:ext cx="2848356" cy="457199"/>
          </a:xfrm>
          <a:prstGeom prst="rect">
            <a:avLst/>
          </a:prstGeom>
          <a:noFill/>
        </p:spPr>
        <p:txBody>
          <a:bodyPr wrap="square" lIns="0" rIns="0" tIns="0" bIns="0">
            <a:spAutoFit/>
          </a:bodyPr>
          <a:lstStyle/>
          <a:p>
            <a:pPr algn="just">
              <a:lnSpc>
                <a:spcPts val="1104"/>
              </a:lnSpc>
            </a:pPr>
            <a:r>
              <a:rPr sz="800" b="0">
                <a:solidFill>
                  <a:srgbClr val="474956"/>
                </a:solidFill>
                <a:latin typeface="Diodrum Arabic"/>
                <a:ea typeface="Diodrum Arabic"/>
                <a:cs typeface="Diodrum Arabic"/>
              </a:rPr>
              <a:t>Build on SDAIA’s programmes, the Qudratak platform, current academic partnerships, and proven leadership demand — not a separate system from zero [52][54].</a:t>
            </a:r>
          </a:p>
        </p:txBody>
      </p:sp>
      <p:sp>
        <p:nvSpPr>
          <p:cNvPr id="32" name="Rounded Rectangle 31"/>
          <p:cNvSpPr/>
          <p:nvPr/>
        </p:nvSpPr>
        <p:spPr>
          <a:xfrm>
            <a:off x="3854196" y="5459730"/>
            <a:ext cx="3140963" cy="1221486"/>
          </a:xfrm>
          <a:prstGeom prst="roundRect">
            <a:avLst>
              <a:gd name="adj" fmla="val 67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000500" y="5606034"/>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00500" y="5724906"/>
            <a:ext cx="2848356" cy="361950"/>
          </a:xfrm>
          <a:prstGeom prst="rect">
            <a:avLst/>
          </a:prstGeom>
          <a:noFill/>
        </p:spPr>
        <p:txBody>
          <a:bodyPr wrap="square" lIns="0" rIns="0" tIns="0" bIns="0">
            <a:spAutoFit/>
          </a:bodyPr>
          <a:lstStyle/>
          <a:p>
            <a:pPr algn="l">
              <a:lnSpc>
                <a:spcPts val="1281"/>
              </a:lnSpc>
            </a:pPr>
            <a:r>
              <a:rPr sz="1050" b="0">
                <a:solidFill>
                  <a:srgbClr val="2A206A"/>
                </a:solidFill>
                <a:latin typeface="Diodrum Arabic SemiBold"/>
                <a:ea typeface="Diodrum Arabic SemiBold"/>
                <a:cs typeface="Diodrum Arabic SemiBold"/>
              </a:rPr>
              <a:t>8 · Retain national ownership of the accumulating elements</a:t>
            </a:r>
          </a:p>
        </p:txBody>
      </p:sp>
      <p:sp>
        <p:nvSpPr>
          <p:cNvPr id="35" name="TextBox 34"/>
          <p:cNvSpPr txBox="1"/>
          <p:nvPr/>
        </p:nvSpPr>
        <p:spPr>
          <a:xfrm>
            <a:off x="4000500" y="6114288"/>
            <a:ext cx="2848356" cy="457199"/>
          </a:xfrm>
          <a:prstGeom prst="rect">
            <a:avLst/>
          </a:prstGeom>
          <a:noFill/>
        </p:spPr>
        <p:txBody>
          <a:bodyPr wrap="square" lIns="0" rIns="0" tIns="0" bIns="0">
            <a:spAutoFit/>
          </a:bodyPr>
          <a:lstStyle/>
          <a:p>
            <a:pPr algn="just">
              <a:lnSpc>
                <a:spcPts val="1104"/>
              </a:lnSpc>
            </a:pPr>
            <a:r>
              <a:rPr sz="800" b="0">
                <a:solidFill>
                  <a:srgbClr val="474956"/>
                </a:solidFill>
                <a:latin typeface="Diodrum Arabic"/>
                <a:ea typeface="Diodrum Arabic"/>
                <a:cs typeface="Diodrum Arabic"/>
              </a:rPr>
              <a:t>Draw on international expertise while cases, data, measurement, and the operating model remain under Saudi ownership in accordance with the contracts [70].</a:t>
            </a:r>
          </a:p>
        </p:txBody>
      </p:sp>
      <p:sp>
        <p:nvSpPr>
          <p:cNvPr id="36" name="Rectangle 35"/>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38" name="TextBox 37"/>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SECTION 06 · 6.3  NEXT STEPS</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What starts first — and how the model corrects itself</a:t>
            </a:r>
          </a:p>
        </p:txBody>
      </p:sp>
      <p:sp>
        <p:nvSpPr>
          <p:cNvPr id="4" name="Rounded Rectangle 3"/>
          <p:cNvSpPr/>
          <p:nvPr/>
        </p:nvSpPr>
        <p:spPr>
          <a:xfrm>
            <a:off x="566928" y="1111758"/>
            <a:ext cx="3140963" cy="1383030"/>
          </a:xfrm>
          <a:prstGeom prst="roundRect">
            <a:avLst>
              <a:gd name="adj" fmla="val 595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 y="125806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376934"/>
            <a:ext cx="2848356" cy="199263"/>
          </a:xfrm>
          <a:prstGeom prst="rect">
            <a:avLst/>
          </a:prstGeom>
          <a:noFill/>
        </p:spPr>
        <p:txBody>
          <a:bodyPr wrap="square" lIns="0" rIns="0" tIns="0" bIns="0">
            <a:spAutoFit/>
          </a:bodyPr>
          <a:lstStyle/>
          <a:p>
            <a:pPr algn="l">
              <a:lnSpc>
                <a:spcPts val="1281"/>
              </a:lnSpc>
            </a:pPr>
            <a:r>
              <a:rPr sz="1050" b="0">
                <a:solidFill>
                  <a:srgbClr val="7C32C9"/>
                </a:solidFill>
                <a:latin typeface="Diodrum Arabic SemiBold"/>
                <a:ea typeface="Diodrum Arabic SemiBold"/>
                <a:cs typeface="Diodrum Arabic SemiBold"/>
              </a:rPr>
              <a:t>What the study recommends</a:t>
            </a:r>
          </a:p>
        </p:txBody>
      </p:sp>
      <p:sp>
        <p:nvSpPr>
          <p:cNvPr id="7" name="TextBox 6"/>
          <p:cNvSpPr txBox="1"/>
          <p:nvPr/>
        </p:nvSpPr>
        <p:spPr>
          <a:xfrm>
            <a:off x="713232" y="1603629"/>
            <a:ext cx="2848356" cy="781430"/>
          </a:xfrm>
          <a:prstGeom prst="rect">
            <a:avLst/>
          </a:prstGeom>
          <a:noFill/>
        </p:spPr>
        <p:txBody>
          <a:bodyPr wrap="square" lIns="0" rIns="0" tIns="0" bIns="0">
            <a:spAutoFit/>
          </a:bodyPr>
          <a:lstStyle/>
          <a:p>
            <a:pPr algn="just">
              <a:lnSpc>
                <a:spcPts val="1172"/>
              </a:lnSpc>
            </a:pPr>
            <a:r>
              <a:rPr sz="850" b="0">
                <a:solidFill>
                  <a:srgbClr val="474956"/>
                </a:solidFill>
                <a:latin typeface="Diodrum Arabic"/>
                <a:ea typeface="Diodrum Arabic"/>
                <a:cs typeface="Diodrum Arabic"/>
              </a:rPr>
              <a:t>Four interlinked pathways under the leadership of the Qudratak programme — differing in protocol, content, and output by level; sharing one knowledge core, Saudi cases, a unified measurement framework, and national ownership of data and the operating model.</a:t>
            </a:r>
          </a:p>
        </p:txBody>
      </p:sp>
      <p:sp>
        <p:nvSpPr>
          <p:cNvPr id="8" name="Rounded Rectangle 7"/>
          <p:cNvSpPr/>
          <p:nvPr/>
        </p:nvSpPr>
        <p:spPr>
          <a:xfrm>
            <a:off x="3854196" y="1111758"/>
            <a:ext cx="3140963" cy="1383030"/>
          </a:xfrm>
          <a:prstGeom prst="roundRect">
            <a:avLst>
              <a:gd name="adj" fmla="val 595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000500" y="1258062"/>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00500" y="1376934"/>
            <a:ext cx="2848356" cy="199263"/>
          </a:xfrm>
          <a:prstGeom prst="rect">
            <a:avLst/>
          </a:prstGeom>
          <a:noFill/>
        </p:spPr>
        <p:txBody>
          <a:bodyPr wrap="square" lIns="0" rIns="0" tIns="0" bIns="0">
            <a:spAutoFit/>
          </a:bodyPr>
          <a:lstStyle/>
          <a:p>
            <a:pPr algn="l">
              <a:lnSpc>
                <a:spcPts val="1281"/>
              </a:lnSpc>
            </a:pPr>
            <a:r>
              <a:rPr sz="1050" b="0">
                <a:solidFill>
                  <a:srgbClr val="00ABAF"/>
                </a:solidFill>
                <a:latin typeface="Diodrum Arabic SemiBold"/>
                <a:ea typeface="Diodrum Arabic SemiBold"/>
                <a:cs typeface="Diodrum Arabic SemiBold"/>
              </a:rPr>
              <a:t>What starts first</a:t>
            </a:r>
          </a:p>
        </p:txBody>
      </p:sp>
      <p:sp>
        <p:nvSpPr>
          <p:cNvPr id="11" name="TextBox 10"/>
          <p:cNvSpPr txBox="1"/>
          <p:nvPr/>
        </p:nvSpPr>
        <p:spPr>
          <a:xfrm>
            <a:off x="4000500" y="1603629"/>
            <a:ext cx="2848356" cy="483488"/>
          </a:xfrm>
          <a:prstGeom prst="rect">
            <a:avLst/>
          </a:prstGeom>
          <a:noFill/>
        </p:spPr>
        <p:txBody>
          <a:bodyPr wrap="square" lIns="0" rIns="0" tIns="0" bIns="0">
            <a:spAutoFit/>
          </a:bodyPr>
          <a:lstStyle/>
          <a:p>
            <a:pPr algn="just">
              <a:lnSpc>
                <a:spcPts val="1172"/>
              </a:lnSpc>
            </a:pPr>
            <a:r>
              <a:rPr sz="850" b="0">
                <a:solidFill>
                  <a:srgbClr val="474956"/>
                </a:solidFill>
                <a:latin typeface="Diodrum Arabic"/>
                <a:ea typeface="Diodrum Arabic"/>
                <a:cs typeface="Diodrum Arabic"/>
              </a:rPr>
              <a:t>Adopt the four-level classification as the reference for registration and design; build the case library and the measurement framework before launching the first cohort.</a:t>
            </a:r>
          </a:p>
        </p:txBody>
      </p:sp>
      <p:sp>
        <p:nvSpPr>
          <p:cNvPr id="12" name="Rounded Rectangle 11"/>
          <p:cNvSpPr/>
          <p:nvPr/>
        </p:nvSpPr>
        <p:spPr>
          <a:xfrm>
            <a:off x="566928" y="2641092"/>
            <a:ext cx="3140963" cy="1085087"/>
          </a:xfrm>
          <a:prstGeom prst="roundRect">
            <a:avLst>
              <a:gd name="adj" fmla="val 7584"/>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787396"/>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906268"/>
            <a:ext cx="2848356" cy="199263"/>
          </a:xfrm>
          <a:prstGeom prst="rect">
            <a:avLst/>
          </a:prstGeom>
          <a:noFill/>
        </p:spPr>
        <p:txBody>
          <a:bodyPr wrap="square" lIns="0" rIns="0" tIns="0" bIns="0">
            <a:spAutoFit/>
          </a:bodyPr>
          <a:lstStyle/>
          <a:p>
            <a:pPr algn="l">
              <a:lnSpc>
                <a:spcPts val="1281"/>
              </a:lnSpc>
            </a:pPr>
            <a:r>
              <a:rPr sz="1050" b="0">
                <a:solidFill>
                  <a:srgbClr val="1CC182"/>
                </a:solidFill>
                <a:latin typeface="Diodrum Arabic SemiBold"/>
                <a:ea typeface="Diodrum Arabic SemiBold"/>
                <a:cs typeface="Diodrum Arabic SemiBold"/>
              </a:rPr>
              <a:t>What stays locally owned</a:t>
            </a:r>
          </a:p>
        </p:txBody>
      </p:sp>
      <p:sp>
        <p:nvSpPr>
          <p:cNvPr id="15" name="TextBox 14"/>
          <p:cNvSpPr txBox="1"/>
          <p:nvPr/>
        </p:nvSpPr>
        <p:spPr>
          <a:xfrm>
            <a:off x="713232" y="3132962"/>
            <a:ext cx="2848356" cy="483488"/>
          </a:xfrm>
          <a:prstGeom prst="rect">
            <a:avLst/>
          </a:prstGeom>
          <a:noFill/>
        </p:spPr>
        <p:txBody>
          <a:bodyPr wrap="square" lIns="0" rIns="0" tIns="0" bIns="0">
            <a:spAutoFit/>
          </a:bodyPr>
          <a:lstStyle/>
          <a:p>
            <a:pPr algn="just">
              <a:lnSpc>
                <a:spcPts val="1172"/>
              </a:lnSpc>
            </a:pPr>
            <a:r>
              <a:rPr sz="850" b="0">
                <a:solidFill>
                  <a:srgbClr val="474956"/>
                </a:solidFill>
                <a:latin typeface="Diodrum Arabic"/>
                <a:ea typeface="Diodrum Arabic"/>
                <a:cs typeface="Diodrum Arabic"/>
              </a:rPr>
              <a:t>Saudi cases, participant data, measurement results, the operating model, local materials, and the relationship with government entities — under the contracts.</a:t>
            </a:r>
          </a:p>
        </p:txBody>
      </p:sp>
      <p:sp>
        <p:nvSpPr>
          <p:cNvPr id="16" name="Rounded Rectangle 15"/>
          <p:cNvSpPr/>
          <p:nvPr/>
        </p:nvSpPr>
        <p:spPr>
          <a:xfrm>
            <a:off x="3854196" y="2641092"/>
            <a:ext cx="3140963" cy="1085087"/>
          </a:xfrm>
          <a:prstGeom prst="roundRect">
            <a:avLst>
              <a:gd name="adj" fmla="val 7584"/>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00500" y="2787396"/>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00500" y="2906268"/>
            <a:ext cx="2848356" cy="199263"/>
          </a:xfrm>
          <a:prstGeom prst="rect">
            <a:avLst/>
          </a:prstGeom>
          <a:noFill/>
        </p:spPr>
        <p:txBody>
          <a:bodyPr wrap="square" lIns="0" rIns="0" tIns="0" bIns="0">
            <a:spAutoFit/>
          </a:bodyPr>
          <a:lstStyle/>
          <a:p>
            <a:pPr algn="l">
              <a:lnSpc>
                <a:spcPts val="1281"/>
              </a:lnSpc>
            </a:pPr>
            <a:r>
              <a:rPr sz="1050" b="0">
                <a:solidFill>
                  <a:srgbClr val="2A206A"/>
                </a:solidFill>
                <a:latin typeface="Diodrum Arabic SemiBold"/>
                <a:ea typeface="Diodrum Arabic SemiBold"/>
                <a:cs typeface="Diodrum Arabic SemiBold"/>
              </a:rPr>
              <a:t>How the model is reviewed</a:t>
            </a:r>
          </a:p>
        </p:txBody>
      </p:sp>
      <p:sp>
        <p:nvSpPr>
          <p:cNvPr id="19" name="TextBox 18"/>
          <p:cNvSpPr txBox="1"/>
          <p:nvPr/>
        </p:nvSpPr>
        <p:spPr>
          <a:xfrm>
            <a:off x="4000500" y="3132962"/>
            <a:ext cx="2848356" cy="483488"/>
          </a:xfrm>
          <a:prstGeom prst="rect">
            <a:avLst/>
          </a:prstGeom>
          <a:noFill/>
        </p:spPr>
        <p:txBody>
          <a:bodyPr wrap="square" lIns="0" rIns="0" tIns="0" bIns="0">
            <a:spAutoFit/>
          </a:bodyPr>
          <a:lstStyle/>
          <a:p>
            <a:pPr algn="just">
              <a:lnSpc>
                <a:spcPts val="1172"/>
              </a:lnSpc>
            </a:pPr>
            <a:r>
              <a:rPr sz="850" b="0">
                <a:solidFill>
                  <a:srgbClr val="474956"/>
                </a:solidFill>
                <a:latin typeface="Diodrum Arabic"/>
                <a:ea typeface="Diodrum Arabic"/>
                <a:cs typeface="Diodrum Arabic"/>
              </a:rPr>
              <a:t>Purchase, partnership, and licensing decisions for each level are revisited in light of the evidence that accumulates with each cohort.</a:t>
            </a:r>
          </a:p>
        </p:txBody>
      </p:sp>
      <p:sp>
        <p:nvSpPr>
          <p:cNvPr id="20" name="Rounded Rectangle 19"/>
          <p:cNvSpPr/>
          <p:nvPr/>
        </p:nvSpPr>
        <p:spPr>
          <a:xfrm>
            <a:off x="566928" y="3982211"/>
            <a:ext cx="6428231" cy="1106614"/>
          </a:xfrm>
          <a:prstGeom prst="roundRect">
            <a:avLst>
              <a:gd name="adj" fmla="val 826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165091"/>
            <a:ext cx="6062471" cy="191262"/>
          </a:xfrm>
          <a:prstGeom prst="rect">
            <a:avLst/>
          </a:prstGeom>
          <a:noFill/>
        </p:spPr>
        <p:txBody>
          <a:bodyPr wrap="square" lIns="0" rIns="0" tIns="0" bIns="0">
            <a:spAutoFit/>
          </a:bodyPr>
          <a:lstStyle/>
          <a:p>
            <a:pPr algn="l">
              <a:lnSpc>
                <a:spcPts val="1218"/>
              </a:lnSpc>
            </a:pPr>
            <a:r>
              <a:rPr sz="1050" b="0" spc="90">
                <a:solidFill>
                  <a:srgbClr val="D9F3EE"/>
                </a:solidFill>
                <a:latin typeface="Diodrum Arabic SemiBold"/>
                <a:ea typeface="Diodrum Arabic SemiBold"/>
                <a:cs typeface="Diodrum Arabic SemiBold"/>
              </a:rPr>
              <a:t>THE CLOSING COMMITMENT</a:t>
            </a:r>
          </a:p>
        </p:txBody>
      </p:sp>
      <p:sp>
        <p:nvSpPr>
          <p:cNvPr id="22" name="TextBox 21"/>
          <p:cNvSpPr txBox="1"/>
          <p:nvPr/>
        </p:nvSpPr>
        <p:spPr>
          <a:xfrm>
            <a:off x="749808" y="4365497"/>
            <a:ext cx="6062471" cy="523494"/>
          </a:xfrm>
          <a:prstGeom prst="rect">
            <a:avLst/>
          </a:prstGeom>
          <a:noFill/>
        </p:spPr>
        <p:txBody>
          <a:bodyPr wrap="square" lIns="0" rIns="0" tIns="0" bIns="0">
            <a:spAutoFit/>
          </a:bodyPr>
          <a:lstStyle/>
          <a:p>
            <a:pPr algn="just">
              <a:lnSpc>
                <a:spcPts val="1278"/>
              </a:lnSpc>
            </a:pPr>
            <a:r>
              <a:rPr sz="900" b="0">
                <a:solidFill>
                  <a:srgbClr val="FFFFFF"/>
                </a:solidFill>
                <a:latin typeface="Diodrum Arabic"/>
                <a:ea typeface="Diodrum Arabic"/>
                <a:cs typeface="Diodrum Arabic"/>
              </a:rPr>
              <a:t>The value of this model remains contingent on continuous verification: it is a proposal built on published evidence as of the review date, and it is strengthened or amended by the measurement data recorded by the first cohorts — the data with which its design began.</a:t>
            </a:r>
          </a:p>
        </p:txBody>
      </p:sp>
      <p:sp>
        <p:nvSpPr>
          <p:cNvPr id="23" name="Rectangle 22"/>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25" name="TextBox 24"/>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REFERENCES</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l">
              <a:lnSpc>
                <a:spcPts val="2279"/>
              </a:lnSpc>
            </a:pPr>
            <a:r>
              <a:rPr sz="2000" b="1">
                <a:solidFill>
                  <a:srgbClr val="232046"/>
                </a:solidFill>
                <a:latin typeface="Diodrum Arabic"/>
                <a:ea typeface="Diodrum Arabic"/>
                <a:cs typeface="Diodrum Arabic"/>
              </a:rPr>
              <a:t>Section sources [1] – [71]</a:t>
            </a:r>
          </a:p>
        </p:txBody>
      </p:sp>
      <p:sp>
        <p:nvSpPr>
          <p:cNvPr id="4" name="TextBox 3"/>
          <p:cNvSpPr txBox="1"/>
          <p:nvPr/>
        </p:nvSpPr>
        <p:spPr>
          <a:xfrm>
            <a:off x="566928" y="1111758"/>
            <a:ext cx="6428231" cy="543306"/>
          </a:xfrm>
          <a:prstGeom prst="rect">
            <a:avLst/>
          </a:prstGeom>
          <a:noFill/>
        </p:spPr>
        <p:txBody>
          <a:bodyPr wrap="square" lIns="0" rIns="0" tIns="0" bIns="0">
            <a:spAutoFit/>
          </a:bodyPr>
          <a:lstStyle/>
          <a:p>
            <a:pPr algn="l">
              <a:lnSpc>
                <a:spcPts val="1330"/>
              </a:lnSpc>
            </a:pPr>
            <a:r>
              <a:rPr sz="950" b="0">
                <a:solidFill>
                  <a:srgbClr val="6E7077"/>
                </a:solidFill>
                <a:latin typeface="Diodrum Arabic"/>
                <a:ea typeface="Diodrum Arabic"/>
                <a:cs typeface="Diodrum Arabic"/>
              </a:rPr>
              <a:t>Numbered, evidence-tagged sources; links preserved as published in the source files, checked 21 August 2026. Tags: S statistics/survey · E independent evaluation · P provider announcement · R official record · N established press · I sponsor input · J analytical judgement · T indicative estimate.</a:t>
            </a:r>
          </a:p>
        </p:txBody>
      </p:sp>
      <p:sp>
        <p:nvSpPr>
          <p:cNvPr id="5" name="Rectangle 4"/>
          <p:cNvSpPr/>
          <p:nvPr/>
        </p:nvSpPr>
        <p:spPr>
          <a:xfrm>
            <a:off x="566928" y="170992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901951"/>
            <a:ext cx="310896" cy="173736"/>
          </a:xfrm>
          <a:prstGeom prst="roundRect">
            <a:avLst>
              <a:gd name="adj" fmla="val 26315"/>
            </a:avLst>
          </a:prstGeom>
          <a:solidFill>
            <a:srgbClr val="6E707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I</a:t>
            </a:r>
          </a:p>
        </p:txBody>
      </p:sp>
      <p:sp>
        <p:nvSpPr>
          <p:cNvPr id="7" name="TextBox 6"/>
          <p:cNvSpPr txBox="1"/>
          <p:nvPr/>
        </p:nvSpPr>
        <p:spPr>
          <a:xfrm>
            <a:off x="969264" y="1892807"/>
            <a:ext cx="6025896" cy="43281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[1] </a:t>
            </a:r>
            <a:r>
              <a:rPr sz="800" b="0">
                <a:solidFill>
                  <a:srgbClr val="474956"/>
                </a:solidFill>
                <a:latin typeface="Diodrum Arabic"/>
                <a:ea typeface="Diodrum Arabic"/>
                <a:cs typeface="Diodrum Arabic"/>
              </a:rPr>
              <a:t>لجنة الذكاء الاصطناعي (مسار التدريب) — طلب إجراء دراسة مقارنة معيارية حول تدريب القيادات الحكومية العليا على الذكاء الاصطناعي، موجّه إلى برنامج «قدراتك» في هيئة الحكومة الرقمية — مصدر داخلي غير منشور (لا رابط عام) — دون تاريخ نشر — فُحص بتاريخ 2026-08-21 — [I إدخال الجهة الطالبة].</a:t>
            </a:r>
          </a:p>
        </p:txBody>
      </p:sp>
      <p:sp>
        <p:nvSpPr>
          <p:cNvPr id="8" name="Rounded Rectangle 7"/>
          <p:cNvSpPr/>
          <p:nvPr/>
        </p:nvSpPr>
        <p:spPr>
          <a:xfrm>
            <a:off x="566928" y="2380487"/>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9" name="TextBox 8"/>
          <p:cNvSpPr txBox="1"/>
          <p:nvPr/>
        </p:nvSpPr>
        <p:spPr>
          <a:xfrm>
            <a:off x="969264" y="2371344"/>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[2] </a:t>
            </a:r>
            <a:r>
              <a:rPr sz="800" b="0">
                <a:solidFill>
                  <a:srgbClr val="474956"/>
                </a:solidFill>
                <a:latin typeface="Diodrum Arabic"/>
                <a:ea typeface="Diodrum Arabic"/>
                <a:cs typeface="Diodrum Arabic"/>
              </a:rPr>
              <a:t>«ماكنزي»/«كوانتم بلاك» — «The state of AI: How organizations are rewiring to capture value» — — 2025-03-12 — فُحص بتاريخ 2026-08-21 — [S إحصاء/مسح].</a:t>
            </a:r>
          </a:p>
        </p:txBody>
      </p:sp>
      <p:sp>
        <p:nvSpPr>
          <p:cNvPr id="10" name="TextBox 9"/>
          <p:cNvSpPr txBox="1"/>
          <p:nvPr/>
        </p:nvSpPr>
        <p:spPr>
          <a:xfrm>
            <a:off x="969264" y="2649220"/>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2"/>
              </a:rPr>
              <a:t>https://www.mckinsey.com/capabilities/quantumblack/our-insights/the-state-of-ai-how-organizations-are-rewiring-to-capture-value</a:t>
            </a:r>
          </a:p>
        </p:txBody>
      </p:sp>
      <p:sp>
        <p:nvSpPr>
          <p:cNvPr id="11" name="Rounded Rectangle 10"/>
          <p:cNvSpPr/>
          <p:nvPr/>
        </p:nvSpPr>
        <p:spPr>
          <a:xfrm>
            <a:off x="566928" y="2853690"/>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12" name="TextBox 11"/>
          <p:cNvSpPr txBox="1"/>
          <p:nvPr/>
        </p:nvSpPr>
        <p:spPr>
          <a:xfrm>
            <a:off x="969264" y="2844546"/>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[3] </a:t>
            </a:r>
            <a:r>
              <a:rPr sz="800" b="0">
                <a:solidFill>
                  <a:srgbClr val="474956"/>
                </a:solidFill>
                <a:latin typeface="Diodrum Arabic"/>
                <a:ea typeface="Diodrum Arabic"/>
                <a:cs typeface="Diodrum Arabic"/>
              </a:rPr>
              <a:t>«ماكنزي»/«كوانتم بلاك» — «The state of AI in 2025: Agents, innovation, and transformation» — — 2025-11-05 — فُحص بتاريخ 2026-08-21 — [S إحصاء/مسح].</a:t>
            </a:r>
          </a:p>
        </p:txBody>
      </p:sp>
      <p:sp>
        <p:nvSpPr>
          <p:cNvPr id="13" name="TextBox 12"/>
          <p:cNvSpPr txBox="1"/>
          <p:nvPr/>
        </p:nvSpPr>
        <p:spPr>
          <a:xfrm>
            <a:off x="969264" y="3122422"/>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3"/>
              </a:rPr>
              <a:t>https://www.mckinsey.com/capabilities/quantumblack/our-insights/the-state-of-ai</a:t>
            </a:r>
          </a:p>
        </p:txBody>
      </p:sp>
      <p:sp>
        <p:nvSpPr>
          <p:cNvPr id="14" name="Rounded Rectangle 13"/>
          <p:cNvSpPr/>
          <p:nvPr/>
        </p:nvSpPr>
        <p:spPr>
          <a:xfrm>
            <a:off x="566928" y="3326892"/>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15" name="TextBox 14"/>
          <p:cNvSpPr txBox="1"/>
          <p:nvPr/>
        </p:nvSpPr>
        <p:spPr>
          <a:xfrm>
            <a:off x="969264" y="3317748"/>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[4] </a:t>
            </a:r>
            <a:r>
              <a:rPr sz="800" b="0">
                <a:solidFill>
                  <a:srgbClr val="474956"/>
                </a:solidFill>
                <a:latin typeface="Diodrum Arabic"/>
                <a:ea typeface="Diodrum Arabic"/>
                <a:cs typeface="Diodrum Arabic"/>
              </a:rPr>
              <a:t>«غارتنر» (غرفة الأخبار) — «Gartner Survey Reveals That CEOs Believe Their Executive Teams Lack AI Savviness» — — 2025-05-06 — فُحص بتاريخ 2026-08-21 — [S إحصاء/مسح].</a:t>
            </a:r>
          </a:p>
        </p:txBody>
      </p:sp>
      <p:sp>
        <p:nvSpPr>
          <p:cNvPr id="16" name="TextBox 15"/>
          <p:cNvSpPr txBox="1"/>
          <p:nvPr/>
        </p:nvSpPr>
        <p:spPr>
          <a:xfrm>
            <a:off x="969264" y="3595624"/>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4"/>
              </a:rPr>
              <a:t>https://www.gartner.com/en/newsroom/press-releases/2025-05-06-gartner-survey-reveals-that-ceos-believe-their-executive-teams-lack-ai-savviness</a:t>
            </a:r>
          </a:p>
        </p:txBody>
      </p:sp>
      <p:sp>
        <p:nvSpPr>
          <p:cNvPr id="17" name="Rounded Rectangle 16"/>
          <p:cNvSpPr/>
          <p:nvPr/>
        </p:nvSpPr>
        <p:spPr>
          <a:xfrm>
            <a:off x="566928" y="3800094"/>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18" name="TextBox 17"/>
          <p:cNvSpPr txBox="1"/>
          <p:nvPr/>
        </p:nvSpPr>
        <p:spPr>
          <a:xfrm>
            <a:off x="969264" y="3790950"/>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[5] </a:t>
            </a:r>
            <a:r>
              <a:rPr sz="800" b="0">
                <a:solidFill>
                  <a:srgbClr val="474956"/>
                </a:solidFill>
                <a:latin typeface="Diodrum Arabic"/>
                <a:ea typeface="Diodrum Arabic"/>
                <a:cs typeface="Diodrum Arabic"/>
              </a:rPr>
              <a:t>«غارتنر» — «How CEOs Are Navigating 2025's Perfect Storm of Uncertainty» — — 2025-08-06 — فُحص بتاريخ 2026-08-21 — [S إحصاء/مسح].</a:t>
            </a:r>
          </a:p>
        </p:txBody>
      </p:sp>
      <p:sp>
        <p:nvSpPr>
          <p:cNvPr id="19" name="TextBox 18"/>
          <p:cNvSpPr txBox="1"/>
          <p:nvPr/>
        </p:nvSpPr>
        <p:spPr>
          <a:xfrm>
            <a:off x="969264" y="4068826"/>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5"/>
              </a:rPr>
              <a:t>https://www.gartner.com/en/articles/2025-ceo-challenges</a:t>
            </a:r>
          </a:p>
        </p:txBody>
      </p:sp>
      <p:sp>
        <p:nvSpPr>
          <p:cNvPr id="20" name="Rounded Rectangle 19"/>
          <p:cNvSpPr/>
          <p:nvPr/>
        </p:nvSpPr>
        <p:spPr>
          <a:xfrm>
            <a:off x="566928" y="4273296"/>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21" name="TextBox 20"/>
          <p:cNvSpPr txBox="1"/>
          <p:nvPr/>
        </p:nvSpPr>
        <p:spPr>
          <a:xfrm>
            <a:off x="969264" y="4264152"/>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[6] </a:t>
            </a:r>
            <a:r>
              <a:rPr sz="800" b="0">
                <a:solidFill>
                  <a:srgbClr val="474956"/>
                </a:solidFill>
                <a:latin typeface="Diodrum Arabic"/>
                <a:ea typeface="Diodrum Arabic"/>
                <a:cs typeface="Diodrum Arabic"/>
              </a:rPr>
              <a:t>«غارتنر» (غرفة الأخبار) — «Gartner Survey Reveals 80% of CEOs Say AI Will Force Operational Capability Overhauls» — — 2026-04-23 — فُحص بتاريخ 2026-08-21 — [S إحصاء/مسح].</a:t>
            </a:r>
          </a:p>
        </p:txBody>
      </p:sp>
      <p:sp>
        <p:nvSpPr>
          <p:cNvPr id="22" name="TextBox 21"/>
          <p:cNvSpPr txBox="1"/>
          <p:nvPr/>
        </p:nvSpPr>
        <p:spPr>
          <a:xfrm>
            <a:off x="969264" y="4542028"/>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6"/>
              </a:rPr>
              <a:t>https://www.gartner.com/en/newsroom/press-releases/2026-04-23-gartner-survey-reveals-80-percent-of-ceos-say-artificial-intelligence-will-force-operational-capability-overhauls</a:t>
            </a:r>
          </a:p>
        </p:txBody>
      </p:sp>
      <p:sp>
        <p:nvSpPr>
          <p:cNvPr id="23" name="Rounded Rectangle 22"/>
          <p:cNvSpPr/>
          <p:nvPr/>
        </p:nvSpPr>
        <p:spPr>
          <a:xfrm>
            <a:off x="566928" y="4746498"/>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24" name="TextBox 23"/>
          <p:cNvSpPr txBox="1"/>
          <p:nvPr/>
        </p:nvSpPr>
        <p:spPr>
          <a:xfrm>
            <a:off x="969264" y="4737354"/>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[7] </a:t>
            </a:r>
            <a:r>
              <a:rPr sz="800" b="0">
                <a:solidFill>
                  <a:srgbClr val="474956"/>
                </a:solidFill>
                <a:latin typeface="Diodrum Arabic"/>
                <a:ea typeface="Diodrum Arabic"/>
                <a:cs typeface="Diodrum Arabic"/>
              </a:rPr>
              <a:t>«ديلويت إنسايتس» — «Scaling gen AI in US state and local governments» — — 2025-05-16 — فُحص بتاريخ 2026-08-21 — [S إحصاء/مسح].</a:t>
            </a:r>
          </a:p>
        </p:txBody>
      </p:sp>
      <p:sp>
        <p:nvSpPr>
          <p:cNvPr id="25" name="TextBox 24"/>
          <p:cNvSpPr txBox="1"/>
          <p:nvPr/>
        </p:nvSpPr>
        <p:spPr>
          <a:xfrm>
            <a:off x="969264" y="5015230"/>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7"/>
              </a:rPr>
              <a:t>https://www.deloitte.com/us/en/insights/industry/public-sector/use-of-ai-in-government.html</a:t>
            </a:r>
          </a:p>
        </p:txBody>
      </p:sp>
      <p:sp>
        <p:nvSpPr>
          <p:cNvPr id="26" name="Rounded Rectangle 25"/>
          <p:cNvSpPr/>
          <p:nvPr/>
        </p:nvSpPr>
        <p:spPr>
          <a:xfrm>
            <a:off x="566928" y="5219700"/>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27" name="TextBox 26"/>
          <p:cNvSpPr txBox="1"/>
          <p:nvPr/>
        </p:nvSpPr>
        <p:spPr>
          <a:xfrm>
            <a:off x="969264" y="5210556"/>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[8] </a:t>
            </a:r>
            <a:r>
              <a:rPr sz="800" b="0">
                <a:solidFill>
                  <a:srgbClr val="474956"/>
                </a:solidFill>
                <a:latin typeface="Diodrum Arabic"/>
                <a:ea typeface="Diodrum Arabic"/>
                <a:cs typeface="Diodrum Arabic"/>
              </a:rPr>
              <a:t>«أكسنتشر» — تقرير «Reimagining Public Services in the Age of AI» — (وملخصه لدى «Global Government Forum»:) — 2026-02-12 — فُحص بتاريخ 2026-08-21 — [S إحصاء/مسح].</a:t>
            </a:r>
          </a:p>
        </p:txBody>
      </p:sp>
      <p:sp>
        <p:nvSpPr>
          <p:cNvPr id="28" name="TextBox 27"/>
          <p:cNvSpPr txBox="1"/>
          <p:nvPr/>
        </p:nvSpPr>
        <p:spPr>
          <a:xfrm>
            <a:off x="969264" y="5488432"/>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8"/>
              </a:rPr>
              <a:t>https://www.accenture.com/sg-en/insights/public-service/experience-new-lens</a:t>
            </a:r>
          </a:p>
        </p:txBody>
      </p:sp>
      <p:sp>
        <p:nvSpPr>
          <p:cNvPr id="29" name="Rounded Rectangle 28"/>
          <p:cNvSpPr/>
          <p:nvPr/>
        </p:nvSpPr>
        <p:spPr>
          <a:xfrm>
            <a:off x="566928" y="5692902"/>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0" name="TextBox 29"/>
          <p:cNvSpPr txBox="1"/>
          <p:nvPr/>
        </p:nvSpPr>
        <p:spPr>
          <a:xfrm>
            <a:off x="969264" y="5683758"/>
            <a:ext cx="6025896" cy="43281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[9] </a:t>
            </a:r>
            <a:r>
              <a:rPr sz="800" b="0">
                <a:solidFill>
                  <a:srgbClr val="474956"/>
                </a:solidFill>
                <a:latin typeface="Diodrum Arabic"/>
                <a:ea typeface="Diodrum Arabic"/>
                <a:cs typeface="Diodrum Arabic"/>
              </a:rPr>
              <a:t>وكالة الأنباء السعودية (واس) / مؤشر «تورتوس» العالمي للذكاء الاصطناعي 2024 — «Saudi Arabia Surges to 14th Position in Global AI Index, 1st in Arab World» (الخبر N2174231) — وصفحة المؤشر — 2024-09-19 — فُحص بتاريخ 2026-08-21 — [R سجل مؤسسي رسمي] / [N تغطية صحفية معتبرة].</a:t>
            </a:r>
          </a:p>
        </p:txBody>
      </p:sp>
      <p:sp>
        <p:nvSpPr>
          <p:cNvPr id="31" name="TextBox 30"/>
          <p:cNvSpPr txBox="1"/>
          <p:nvPr/>
        </p:nvSpPr>
        <p:spPr>
          <a:xfrm>
            <a:off x="969264" y="6093714"/>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9"/>
              </a:rPr>
              <a:t>https://www.spa.gov.sa/en/N2174231</a:t>
            </a:r>
          </a:p>
        </p:txBody>
      </p:sp>
      <p:sp>
        <p:nvSpPr>
          <p:cNvPr id="32" name="Rounded Rectangle 31"/>
          <p:cNvSpPr/>
          <p:nvPr/>
        </p:nvSpPr>
        <p:spPr>
          <a:xfrm>
            <a:off x="566928" y="6298184"/>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3" name="TextBox 32"/>
          <p:cNvSpPr txBox="1"/>
          <p:nvPr/>
        </p:nvSpPr>
        <p:spPr>
          <a:xfrm>
            <a:off x="969264" y="6289040"/>
            <a:ext cx="6025896" cy="43281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[10] </a:t>
            </a:r>
            <a:r>
              <a:rPr sz="800" b="0">
                <a:solidFill>
                  <a:srgbClr val="474956"/>
                </a:solidFill>
                <a:latin typeface="Diodrum Arabic"/>
                <a:ea typeface="Diodrum Arabic"/>
                <a:cs typeface="Diodrum Arabic"/>
              </a:rPr>
              <a:t>وكالة الأنباء السعودية (واس) / مؤشر «أكسفورد إنسايتس» لجاهزية الحكومات للذكاء الاصطناعي 2025 — «Saudi Arabia Tops MENA in Oxford Insights Government AI Readiness Index 2025» (الخبر N2472986) — — 2025-12-21 — فُحص بتاريخ 2026-08-21 — [R سجل مؤسسي رسمي] / [N تغطية صحفية معتبرة].</a:t>
            </a:r>
          </a:p>
        </p:txBody>
      </p:sp>
      <p:sp>
        <p:nvSpPr>
          <p:cNvPr id="34" name="TextBox 33"/>
          <p:cNvSpPr txBox="1"/>
          <p:nvPr/>
        </p:nvSpPr>
        <p:spPr>
          <a:xfrm>
            <a:off x="969264" y="6698996"/>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0"/>
              </a:rPr>
              <a:t>https://www.spa.gov.sa/en/N2472986</a:t>
            </a:r>
          </a:p>
        </p:txBody>
      </p:sp>
      <p:sp>
        <p:nvSpPr>
          <p:cNvPr id="35" name="Rounded Rectangle 34"/>
          <p:cNvSpPr/>
          <p:nvPr/>
        </p:nvSpPr>
        <p:spPr>
          <a:xfrm>
            <a:off x="566928" y="6903466"/>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36" name="TextBox 35"/>
          <p:cNvSpPr txBox="1"/>
          <p:nvPr/>
        </p:nvSpPr>
        <p:spPr>
          <a:xfrm>
            <a:off x="969264" y="6894322"/>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[11] </a:t>
            </a:r>
            <a:r>
              <a:rPr sz="800" b="0">
                <a:solidFill>
                  <a:srgbClr val="474956"/>
                </a:solidFill>
                <a:latin typeface="Diodrum Arabic"/>
                <a:ea typeface="Diodrum Arabic"/>
                <a:cs typeface="Diodrum Arabic"/>
              </a:rPr>
              <a:t>«غارتنر» — ملف مرفق لدى الجهة الطالبة حول تصميم برنامج إلمام القيادات العليا بالذكاء الاصطناعي (إفادة داخلية غير منشورة، لا رابط عام) — دون تاريخ نشر معلن — فُحص بتاريخ 2026-08-21 — [P إعلان مزوّد/جهة].</a:t>
            </a:r>
          </a:p>
        </p:txBody>
      </p:sp>
      <p:sp>
        <p:nvSpPr>
          <p:cNvPr id="37" name="Rounded Rectangle 36"/>
          <p:cNvSpPr/>
          <p:nvPr/>
        </p:nvSpPr>
        <p:spPr>
          <a:xfrm>
            <a:off x="566928" y="7249922"/>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8" name="TextBox 37"/>
          <p:cNvSpPr txBox="1"/>
          <p:nvPr/>
        </p:nvSpPr>
        <p:spPr>
          <a:xfrm>
            <a:off x="969264" y="7240778"/>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[12] </a:t>
            </a:r>
            <a:r>
              <a:rPr sz="800" b="0">
                <a:solidFill>
                  <a:srgbClr val="474956"/>
                </a:solidFill>
                <a:latin typeface="Diodrum Arabic"/>
                <a:ea typeface="Diodrum Arabic"/>
                <a:cs typeface="Diodrum Arabic"/>
              </a:rPr>
              <a:t>منظمة التعاون الاقتصادي والتنمية (OECD) — Building an AI-Ready Public Workforce — — 2026 — فُحص بتاريخ 2026-08-21 — [R سجل مؤسسي رسمي].</a:t>
            </a:r>
          </a:p>
        </p:txBody>
      </p:sp>
      <p:sp>
        <p:nvSpPr>
          <p:cNvPr id="39" name="TextBox 38"/>
          <p:cNvSpPr txBox="1"/>
          <p:nvPr/>
        </p:nvSpPr>
        <p:spPr>
          <a:xfrm>
            <a:off x="969264" y="7518654"/>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1"/>
              </a:rPr>
              <a:t>https://www.oecd.org/en/publications/building-an-ai-ready-public-workforce_b89244c7-en/full-report.html</a:t>
            </a:r>
          </a:p>
        </p:txBody>
      </p:sp>
      <p:sp>
        <p:nvSpPr>
          <p:cNvPr id="40" name="Rounded Rectangle 39"/>
          <p:cNvSpPr/>
          <p:nvPr/>
        </p:nvSpPr>
        <p:spPr>
          <a:xfrm>
            <a:off x="566928" y="7723124"/>
            <a:ext cx="310896" cy="173736"/>
          </a:xfrm>
          <a:prstGeom prst="roundRect">
            <a:avLst>
              <a:gd name="adj" fmla="val 26315"/>
            </a:avLst>
          </a:prstGeom>
          <a:solidFill>
            <a:srgbClr val="23204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J</a:t>
            </a:r>
          </a:p>
        </p:txBody>
      </p:sp>
      <p:sp>
        <p:nvSpPr>
          <p:cNvPr id="41" name="TextBox 40"/>
          <p:cNvSpPr txBox="1"/>
          <p:nvPr/>
        </p:nvSpPr>
        <p:spPr>
          <a:xfrm>
            <a:off x="969264" y="7713980"/>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[13] </a:t>
            </a:r>
            <a:r>
              <a:rPr sz="800" b="0">
                <a:solidFill>
                  <a:srgbClr val="474956"/>
                </a:solidFill>
                <a:latin typeface="Diodrum Arabic"/>
                <a:ea typeface="Diodrum Arabic"/>
                <a:cs typeface="Diodrum Arabic"/>
              </a:rPr>
              <a:t>حكم تحليلي للدراسة — تدرج المسارات الأربعة بتدرج الأقدمية ونوع القرار، وقاعدة التصميم «يختلف البرنامج بحسب نوع القرار لا طوله» — لا ينطبق رابط خارجي — فُحص بتاريخ 2026-08-21 — [J حكم تحليلي].</a:t>
            </a:r>
          </a:p>
        </p:txBody>
      </p:sp>
      <p:sp>
        <p:nvSpPr>
          <p:cNvPr id="42" name="Rounded Rectangle 41"/>
          <p:cNvSpPr/>
          <p:nvPr/>
        </p:nvSpPr>
        <p:spPr>
          <a:xfrm>
            <a:off x="566928" y="8069580"/>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43" name="TextBox 42"/>
          <p:cNvSpPr txBox="1"/>
          <p:nvPr/>
        </p:nvSpPr>
        <p:spPr>
          <a:xfrm>
            <a:off x="969264" y="8060436"/>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[14] </a:t>
            </a:r>
            <a:r>
              <a:rPr sz="800" b="0">
                <a:solidFill>
                  <a:srgbClr val="474956"/>
                </a:solidFill>
                <a:latin typeface="Diodrum Arabic"/>
                <a:ea typeface="Diodrum Arabic"/>
                <a:cs typeface="Diodrum Arabic"/>
              </a:rPr>
              <a:t>منظمة التعاون الاقتصادي والتنمية (OECD) — Digital Government Outlook 2026: Adopting and Governing AI in Government — — 2026-06 — فُحص بتاريخ 2026-08-21 — [S إحصاء/مسح].</a:t>
            </a:r>
          </a:p>
        </p:txBody>
      </p:sp>
      <p:sp>
        <p:nvSpPr>
          <p:cNvPr id="44" name="TextBox 43"/>
          <p:cNvSpPr txBox="1"/>
          <p:nvPr/>
        </p:nvSpPr>
        <p:spPr>
          <a:xfrm>
            <a:off x="969264" y="8338312"/>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2"/>
              </a:rPr>
              <a:t>https://www.oecd.org/en/publications/2026/06/digital-government-outlook_4585678e/full-report/adopting-and-governing-ai-in-government_7ef312a9.html</a:t>
            </a:r>
          </a:p>
        </p:txBody>
      </p:sp>
      <p:sp>
        <p:nvSpPr>
          <p:cNvPr id="45" name="Rounded Rectangle 44"/>
          <p:cNvSpPr/>
          <p:nvPr/>
        </p:nvSpPr>
        <p:spPr>
          <a:xfrm>
            <a:off x="566928" y="8542782"/>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46" name="TextBox 45"/>
          <p:cNvSpPr txBox="1"/>
          <p:nvPr/>
        </p:nvSpPr>
        <p:spPr>
          <a:xfrm>
            <a:off x="969264" y="8533638"/>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[15] </a:t>
            </a:r>
            <a:r>
              <a:rPr sz="800" b="0">
                <a:solidFill>
                  <a:srgbClr val="474956"/>
                </a:solidFill>
                <a:latin typeface="Diodrum Arabic"/>
                <a:ea typeface="Diodrum Arabic"/>
                <a:cs typeface="Diodrum Arabic"/>
              </a:rPr>
              <a:t>كلية كيلوغ للإدارة (جامعة نورثويسترن) — Senior Management Program in AI and Digital Transformation — — فُحص بتاريخ 2026-08-21 — [P إعلان مزوّد/جهة].</a:t>
            </a:r>
          </a:p>
        </p:txBody>
      </p:sp>
      <p:sp>
        <p:nvSpPr>
          <p:cNvPr id="47" name="TextBox 46"/>
          <p:cNvSpPr txBox="1"/>
          <p:nvPr/>
        </p:nvSpPr>
        <p:spPr>
          <a:xfrm>
            <a:off x="969264" y="8811514"/>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3"/>
              </a:rPr>
              <a:t>https://online.em.kellogg.northwestern.edu/c-suite-program-in-digital-transformation-and-ai</a:t>
            </a:r>
          </a:p>
        </p:txBody>
      </p:sp>
      <p:sp>
        <p:nvSpPr>
          <p:cNvPr id="48" name="Rounded Rectangle 47"/>
          <p:cNvSpPr/>
          <p:nvPr/>
        </p:nvSpPr>
        <p:spPr>
          <a:xfrm>
            <a:off x="566928" y="9015984"/>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49" name="TextBox 48"/>
          <p:cNvSpPr txBox="1"/>
          <p:nvPr/>
        </p:nvSpPr>
        <p:spPr>
          <a:xfrm>
            <a:off x="969264" y="9006840"/>
            <a:ext cx="6025896" cy="16865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[16] </a:t>
            </a:r>
            <a:r>
              <a:rPr sz="800" b="0">
                <a:solidFill>
                  <a:srgbClr val="474956"/>
                </a:solidFill>
                <a:latin typeface="Diodrum Arabic"/>
                <a:ea typeface="Diodrum Arabic"/>
                <a:cs typeface="Diodrum Arabic"/>
              </a:rPr>
              <a:t>MIT xPRO — AI for Senior Executives Program — و — فُحص بتاريخ 2026-08-21 — [P إعلان مزوّد/جهة].</a:t>
            </a:r>
          </a:p>
        </p:txBody>
      </p:sp>
      <p:sp>
        <p:nvSpPr>
          <p:cNvPr id="50" name="TextBox 49"/>
          <p:cNvSpPr txBox="1"/>
          <p:nvPr/>
        </p:nvSpPr>
        <p:spPr>
          <a:xfrm>
            <a:off x="969264" y="9152636"/>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4"/>
              </a:rPr>
              <a:t>https://executive-ed.xpro.mit.edu/ai-for-senior-executives-program</a:t>
            </a:r>
          </a:p>
        </p:txBody>
      </p:sp>
      <p:sp>
        <p:nvSpPr>
          <p:cNvPr id="51" name="Rounded Rectangle 50"/>
          <p:cNvSpPr/>
          <p:nvPr/>
        </p:nvSpPr>
        <p:spPr>
          <a:xfrm>
            <a:off x="566928" y="9357105"/>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2" name="TextBox 51"/>
          <p:cNvSpPr txBox="1"/>
          <p:nvPr/>
        </p:nvSpPr>
        <p:spPr>
          <a:xfrm>
            <a:off x="969264" y="9347961"/>
            <a:ext cx="6025896" cy="16865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[17] </a:t>
            </a:r>
            <a:r>
              <a:rPr sz="800" b="0">
                <a:solidFill>
                  <a:srgbClr val="474956"/>
                </a:solidFill>
                <a:latin typeface="Diodrum Arabic"/>
                <a:ea typeface="Diodrum Arabic"/>
                <a:cs typeface="Diodrum Arabic"/>
              </a:rPr>
              <a:t>كلية كامبريدج جادج للأعمال — Cambridge AI Leadership Programme — — فُحص بتاريخ 2026-08-21 — [P إعلان مزوّد/جهة].</a:t>
            </a:r>
          </a:p>
        </p:txBody>
      </p:sp>
      <p:sp>
        <p:nvSpPr>
          <p:cNvPr id="53" name="TextBox 52"/>
          <p:cNvSpPr txBox="1"/>
          <p:nvPr/>
        </p:nvSpPr>
        <p:spPr>
          <a:xfrm>
            <a:off x="969264" y="9493757"/>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5"/>
              </a:rPr>
              <a:t>https://www.jbs.cam.ac.uk/executive-education/artificial-intelligence-ai/cambridge-ai-leadership-programme/</a:t>
            </a:r>
          </a:p>
        </p:txBody>
      </p:sp>
      <p:sp>
        <p:nvSpPr>
          <p:cNvPr id="54" name="Rectangle 53"/>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56" name="TextBox 55"/>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REFERENCES — CONTINUED</a:t>
            </a:r>
          </a:p>
        </p:txBody>
      </p:sp>
      <p:sp>
        <p:nvSpPr>
          <p:cNvPr id="3" name="TextBox 2"/>
          <p:cNvSpPr txBox="1"/>
          <p:nvPr/>
        </p:nvSpPr>
        <p:spPr>
          <a:xfrm>
            <a:off x="566928" y="730758"/>
            <a:ext cx="6428231" cy="253745"/>
          </a:xfrm>
          <a:prstGeom prst="rect">
            <a:avLst/>
          </a:prstGeom>
          <a:noFill/>
        </p:spPr>
        <p:txBody>
          <a:bodyPr wrap="square" lIns="0" rIns="0" tIns="0" bIns="0">
            <a:spAutoFit/>
          </a:bodyPr>
          <a:lstStyle/>
          <a:p>
            <a:pPr algn="l">
              <a:lnSpc>
                <a:spcPts val="1709"/>
              </a:lnSpc>
            </a:pPr>
            <a:r>
              <a:rPr sz="1500" b="1">
                <a:solidFill>
                  <a:srgbClr val="232046"/>
                </a:solidFill>
                <a:latin typeface="Diodrum Arabic"/>
                <a:ea typeface="Diodrum Arabic"/>
                <a:cs typeface="Diodrum Arabic"/>
              </a:rPr>
              <a:t>Section sources [1] – [71]</a:t>
            </a:r>
          </a:p>
        </p:txBody>
      </p:sp>
      <p:sp>
        <p:nvSpPr>
          <p:cNvPr id="4" name="Rounded Rectangle 3"/>
          <p:cNvSpPr/>
          <p:nvPr/>
        </p:nvSpPr>
        <p:spPr>
          <a:xfrm>
            <a:off x="566928" y="1094232"/>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 name="TextBox 4"/>
          <p:cNvSpPr txBox="1"/>
          <p:nvPr/>
        </p:nvSpPr>
        <p:spPr>
          <a:xfrm>
            <a:off x="969264" y="1085088"/>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[18] </a:t>
            </a:r>
            <a:r>
              <a:rPr sz="800" b="0">
                <a:solidFill>
                  <a:srgbClr val="474956"/>
                </a:solidFill>
                <a:latin typeface="Diodrum Arabic"/>
                <a:ea typeface="Diodrum Arabic"/>
                <a:cs typeface="Diodrum Arabic"/>
              </a:rPr>
              <a:t>بارتنرشيب فور بابليك سيرفس / مركز الذكاء الاصطناعي للحكومة — AI Government Leadership Program — — فُحص بتاريخ 2026-08-21 — [P إعلان مزوّد/جهة].</a:t>
            </a:r>
          </a:p>
        </p:txBody>
      </p:sp>
      <p:sp>
        <p:nvSpPr>
          <p:cNvPr id="6" name="TextBox 5"/>
          <p:cNvSpPr txBox="1"/>
          <p:nvPr/>
        </p:nvSpPr>
        <p:spPr>
          <a:xfrm>
            <a:off x="969264" y="1362964"/>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2"/>
              </a:rPr>
              <a:t>https://aicenterforgovernment.org/ai-government-leadership-program/</a:t>
            </a:r>
          </a:p>
        </p:txBody>
      </p:sp>
      <p:sp>
        <p:nvSpPr>
          <p:cNvPr id="7" name="Rounded Rectangle 6"/>
          <p:cNvSpPr/>
          <p:nvPr/>
        </p:nvSpPr>
        <p:spPr>
          <a:xfrm>
            <a:off x="566928" y="1567434"/>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8" name="TextBox 7"/>
          <p:cNvSpPr txBox="1"/>
          <p:nvPr/>
        </p:nvSpPr>
        <p:spPr>
          <a:xfrm>
            <a:off x="969264" y="1558290"/>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[19] </a:t>
            </a:r>
            <a:r>
              <a:rPr sz="800" b="0">
                <a:solidFill>
                  <a:srgbClr val="474956"/>
                </a:solidFill>
                <a:latin typeface="Diodrum Arabic"/>
                <a:ea typeface="Diodrum Arabic"/>
                <a:cs typeface="Diodrum Arabic"/>
              </a:rPr>
              <a:t>إدارة الخدمات العامة الأمريكية (GSA) — Empowering Responsible AI: The AI Training Series for Government Employees — وتفاصيل المسارات: — 2024-09-23 — فُحص بتاريخ 2026-08-21 — [R سجل مؤسسي رسمي].</a:t>
            </a:r>
          </a:p>
        </p:txBody>
      </p:sp>
      <p:sp>
        <p:nvSpPr>
          <p:cNvPr id="9" name="TextBox 8"/>
          <p:cNvSpPr txBox="1"/>
          <p:nvPr/>
        </p:nvSpPr>
        <p:spPr>
          <a:xfrm>
            <a:off x="969264" y="1836166"/>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3"/>
              </a:rPr>
              <a:t>https://www.gsa.gov/blog/2024/09/23/empowering-responsible-ai-the-ai-training-series-for-government-employees</a:t>
            </a:r>
          </a:p>
        </p:txBody>
      </p:sp>
      <p:sp>
        <p:nvSpPr>
          <p:cNvPr id="10" name="Rounded Rectangle 9"/>
          <p:cNvSpPr/>
          <p:nvPr/>
        </p:nvSpPr>
        <p:spPr>
          <a:xfrm>
            <a:off x="566928" y="2040635"/>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11" name="TextBox 10"/>
          <p:cNvSpPr txBox="1"/>
          <p:nvPr/>
        </p:nvSpPr>
        <p:spPr>
          <a:xfrm>
            <a:off x="969264" y="2031492"/>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[20] </a:t>
            </a:r>
            <a:r>
              <a:rPr sz="800" b="0">
                <a:solidFill>
                  <a:srgbClr val="474956"/>
                </a:solidFill>
                <a:latin typeface="Diodrum Arabic"/>
                <a:ea typeface="Diodrum Arabic"/>
                <a:cs typeface="Diodrum Arabic"/>
              </a:rPr>
              <a:t>معهد الإدارة العامة (أيرلندا) — Artificial Intelligence Masterclass for Senior Public Service Leaders — — فُحص بتاريخ 2026-08-21 — [P إعلان مزوّد/جهة].</a:t>
            </a:r>
          </a:p>
        </p:txBody>
      </p:sp>
      <p:sp>
        <p:nvSpPr>
          <p:cNvPr id="12" name="TextBox 11"/>
          <p:cNvSpPr txBox="1"/>
          <p:nvPr/>
        </p:nvSpPr>
        <p:spPr>
          <a:xfrm>
            <a:off x="969264" y="2309368"/>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4"/>
              </a:rPr>
              <a:t>https://www.ipa.ie/courses/all-courses/artificial-intelligence-masterclass/</a:t>
            </a:r>
          </a:p>
        </p:txBody>
      </p:sp>
      <p:sp>
        <p:nvSpPr>
          <p:cNvPr id="13" name="Rounded Rectangle 12"/>
          <p:cNvSpPr/>
          <p:nvPr/>
        </p:nvSpPr>
        <p:spPr>
          <a:xfrm>
            <a:off x="566928" y="2513838"/>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14" name="TextBox 13"/>
          <p:cNvSpPr txBox="1"/>
          <p:nvPr/>
        </p:nvSpPr>
        <p:spPr>
          <a:xfrm>
            <a:off x="969264" y="2504694"/>
            <a:ext cx="6025896" cy="16865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[21] </a:t>
            </a:r>
            <a:r>
              <a:rPr sz="800" b="0">
                <a:solidFill>
                  <a:srgbClr val="474956"/>
                </a:solidFill>
                <a:latin typeface="Diodrum Arabic"/>
                <a:ea typeface="Diodrum Arabic"/>
                <a:cs typeface="Diodrum Arabic"/>
              </a:rPr>
              <a:t>كلية دارن للأعمال، جامعة فرجينيا — AI Essentials for Government Leaders — — فُحص بتاريخ 2026-08-21 — [P إعلان مزوّد/جهة].</a:t>
            </a:r>
          </a:p>
        </p:txBody>
      </p:sp>
      <p:sp>
        <p:nvSpPr>
          <p:cNvPr id="15" name="TextBox 14"/>
          <p:cNvSpPr txBox="1"/>
          <p:nvPr/>
        </p:nvSpPr>
        <p:spPr>
          <a:xfrm>
            <a:off x="969264" y="2650490"/>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5"/>
              </a:rPr>
              <a:t>https://www.darden.virginia.edu/executive-education/ai-essentials-government-leaders</a:t>
            </a:r>
          </a:p>
        </p:txBody>
      </p:sp>
      <p:sp>
        <p:nvSpPr>
          <p:cNvPr id="16" name="Rounded Rectangle 15"/>
          <p:cNvSpPr/>
          <p:nvPr/>
        </p:nvSpPr>
        <p:spPr>
          <a:xfrm>
            <a:off x="566928" y="2854960"/>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17" name="TextBox 16"/>
          <p:cNvSpPr txBox="1"/>
          <p:nvPr/>
        </p:nvSpPr>
        <p:spPr>
          <a:xfrm>
            <a:off x="969264" y="2845816"/>
            <a:ext cx="6025896" cy="43281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[22] </a:t>
            </a:r>
            <a:r>
              <a:rPr sz="800" b="0">
                <a:solidFill>
                  <a:srgbClr val="474956"/>
                </a:solidFill>
                <a:latin typeface="Diodrum Arabic"/>
                <a:ea typeface="Diodrum Arabic"/>
                <a:cs typeface="Diodrum Arabic"/>
              </a:rPr>
              <a:t>جامعة جونز هوبكنز، التعليم التنفيذي والمهني للهندسة — AI for Federal Government Senior Leaders — 10 أسابيع؛ السعر المعروض بتاريخ الفحص US$2,450 (سبق أن عرضت الصفحة نسخة أقصر من 4 أسابيع بسعر أدنى — يُعاد التأكد قبل أي التحاق) — — فُحص بتاريخ 2026-08-21 — [P إعلان مزوّد/جهة].</a:t>
            </a:r>
          </a:p>
        </p:txBody>
      </p:sp>
      <p:sp>
        <p:nvSpPr>
          <p:cNvPr id="18" name="TextBox 17"/>
          <p:cNvSpPr txBox="1"/>
          <p:nvPr/>
        </p:nvSpPr>
        <p:spPr>
          <a:xfrm>
            <a:off x="969264" y="3255772"/>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6"/>
              </a:rPr>
              <a:t>https://engineering.jhu.edu/ExecEd/course/ai-for-senior-leaders-online/</a:t>
            </a:r>
          </a:p>
        </p:txBody>
      </p:sp>
      <p:sp>
        <p:nvSpPr>
          <p:cNvPr id="19" name="Rounded Rectangle 18"/>
          <p:cNvSpPr/>
          <p:nvPr/>
        </p:nvSpPr>
        <p:spPr>
          <a:xfrm>
            <a:off x="566928" y="3460242"/>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20" name="TextBox 19"/>
          <p:cNvSpPr txBox="1"/>
          <p:nvPr/>
        </p:nvSpPr>
        <p:spPr>
          <a:xfrm>
            <a:off x="969264" y="3451098"/>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[23] </a:t>
            </a:r>
            <a:r>
              <a:rPr sz="800" b="0">
                <a:solidFill>
                  <a:srgbClr val="474956"/>
                </a:solidFill>
                <a:latin typeface="Diodrum Arabic"/>
                <a:ea typeface="Diodrum Arabic"/>
                <a:cs typeface="Diodrum Arabic"/>
              </a:rPr>
              <a:t>مدرسة لي كوان يو للسياسة العامة، جامعة سنغافورة الوطنية — AI and Digital Transformation for Public Policy Leaders — — فُحص بتاريخ 2026-08-21 — [P إعلان مزوّد/جهة].</a:t>
            </a:r>
          </a:p>
        </p:txBody>
      </p:sp>
      <p:sp>
        <p:nvSpPr>
          <p:cNvPr id="21" name="TextBox 20"/>
          <p:cNvSpPr txBox="1"/>
          <p:nvPr/>
        </p:nvSpPr>
        <p:spPr>
          <a:xfrm>
            <a:off x="969264" y="3728974"/>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7"/>
              </a:rPr>
              <a:t>https://lkyspp.nus.edu.sg/executive-education/programmes/ai-and-digital-transformation-for-public-policy-leaders/</a:t>
            </a:r>
          </a:p>
        </p:txBody>
      </p:sp>
      <p:sp>
        <p:nvSpPr>
          <p:cNvPr id="22" name="Rounded Rectangle 21"/>
          <p:cNvSpPr/>
          <p:nvPr/>
        </p:nvSpPr>
        <p:spPr>
          <a:xfrm>
            <a:off x="566928" y="3933444"/>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23" name="TextBox 22"/>
          <p:cNvSpPr txBox="1"/>
          <p:nvPr/>
        </p:nvSpPr>
        <p:spPr>
          <a:xfrm>
            <a:off x="969264" y="3924300"/>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[24] </a:t>
            </a:r>
            <a:r>
              <a:rPr sz="800" b="0">
                <a:solidFill>
                  <a:srgbClr val="474956"/>
                </a:solidFill>
                <a:latin typeface="Diodrum Arabic"/>
                <a:ea typeface="Diodrum Arabic"/>
                <a:cs typeface="Diodrum Arabic"/>
              </a:rPr>
              <a:t>GovExec — Partnership for Public Service Plans AI Training Center for Federal Employees (منحة Google.org بقيمة US$10 ملايين) — — 2024-10-17 — فُحص بتاريخ 2026-08-21 — [N تغطية صحفية معتبرة].</a:t>
            </a:r>
          </a:p>
        </p:txBody>
      </p:sp>
      <p:sp>
        <p:nvSpPr>
          <p:cNvPr id="24" name="TextBox 23"/>
          <p:cNvSpPr txBox="1"/>
          <p:nvPr/>
        </p:nvSpPr>
        <p:spPr>
          <a:xfrm>
            <a:off x="969264" y="4202176"/>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8"/>
              </a:rPr>
              <a:t>https://www.govexec.com/technology/2024/10/partnership-public-service-plans-ai-training-center-federal-employees-2025/400342/</a:t>
            </a:r>
          </a:p>
        </p:txBody>
      </p:sp>
      <p:sp>
        <p:nvSpPr>
          <p:cNvPr id="25" name="Rounded Rectangle 24"/>
          <p:cNvSpPr/>
          <p:nvPr/>
        </p:nvSpPr>
        <p:spPr>
          <a:xfrm>
            <a:off x="566928" y="4406646"/>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26" name="TextBox 25"/>
          <p:cNvSpPr txBox="1"/>
          <p:nvPr/>
        </p:nvSpPr>
        <p:spPr>
          <a:xfrm>
            <a:off x="969264" y="4397502"/>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[25] </a:t>
            </a:r>
            <a:r>
              <a:rPr sz="800" b="0">
                <a:solidFill>
                  <a:srgbClr val="474956"/>
                </a:solidFill>
                <a:latin typeface="Diodrum Arabic"/>
                <a:ea typeface="Diodrum Arabic"/>
                <a:cs typeface="Diodrum Arabic"/>
              </a:rPr>
              <a:t>أبوليتيكال — «Apolitical receives $5 million grant from Google.org to train one million civil servants in AI» — — يونيو 2024 — فُحص بتاريخ 2026-08-21 — [P إعلان مزوّد/جهة].</a:t>
            </a:r>
          </a:p>
        </p:txBody>
      </p:sp>
      <p:sp>
        <p:nvSpPr>
          <p:cNvPr id="27" name="TextBox 26"/>
          <p:cNvSpPr txBox="1"/>
          <p:nvPr/>
        </p:nvSpPr>
        <p:spPr>
          <a:xfrm>
            <a:off x="969264" y="4675378"/>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9"/>
              </a:rPr>
              <a:t>https://apolitical.co/pages/apolitical-receives-5-million-grant-from-googleorg-to-train-one-million-civil-servants-in-ai</a:t>
            </a:r>
          </a:p>
        </p:txBody>
      </p:sp>
      <p:sp>
        <p:nvSpPr>
          <p:cNvPr id="28" name="Rounded Rectangle 27"/>
          <p:cNvSpPr/>
          <p:nvPr/>
        </p:nvSpPr>
        <p:spPr>
          <a:xfrm>
            <a:off x="566928" y="4879848"/>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29" name="TextBox 28"/>
          <p:cNvSpPr txBox="1"/>
          <p:nvPr/>
        </p:nvSpPr>
        <p:spPr>
          <a:xfrm>
            <a:off x="969264" y="4870704"/>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[26] </a:t>
            </a:r>
            <a:r>
              <a:rPr sz="800" b="0">
                <a:solidFill>
                  <a:srgbClr val="474956"/>
                </a:solidFill>
                <a:latin typeface="Diodrum Arabic"/>
                <a:ea typeface="Diodrum Arabic"/>
                <a:cs typeface="Diodrum Arabic"/>
              </a:rPr>
              <a:t>صحيفة الخليج تايمز — UAE Approves Project to Train 80,000 Employees in Agentic AI — — 2026-05-18 — فُحص بتاريخ 2026-08-21 — [N تغطية صحفية معتبرة].</a:t>
            </a:r>
          </a:p>
        </p:txBody>
      </p:sp>
      <p:sp>
        <p:nvSpPr>
          <p:cNvPr id="30" name="TextBox 29"/>
          <p:cNvSpPr txBox="1"/>
          <p:nvPr/>
        </p:nvSpPr>
        <p:spPr>
          <a:xfrm>
            <a:off x="969264" y="5148580"/>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0"/>
              </a:rPr>
              <a:t>https://www.khaleejtimes.com/uae/approves-project-to-train-80000-employees-in-agentic-ai</a:t>
            </a:r>
          </a:p>
        </p:txBody>
      </p:sp>
      <p:sp>
        <p:nvSpPr>
          <p:cNvPr id="31" name="Rounded Rectangle 30"/>
          <p:cNvSpPr/>
          <p:nvPr/>
        </p:nvSpPr>
        <p:spPr>
          <a:xfrm>
            <a:off x="566928" y="5353050"/>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2" name="TextBox 31"/>
          <p:cNvSpPr txBox="1"/>
          <p:nvPr/>
        </p:nvSpPr>
        <p:spPr>
          <a:xfrm>
            <a:off x="969264" y="5343906"/>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[27] </a:t>
            </a:r>
            <a:r>
              <a:rPr sz="800" b="0">
                <a:solidFill>
                  <a:srgbClr val="474956"/>
                </a:solidFill>
                <a:latin typeface="Diodrum Arabic"/>
                <a:ea typeface="Diodrum Arabic"/>
                <a:cs typeface="Diodrum Arabic"/>
              </a:rPr>
              <a:t>الهيئة الاتحادية للموارد البشرية الحكومية (الإمارات) — الإعلان عن شراكة معرفية استراتيجية مع جامعة محمد بن زايد للذكاء الاصطناعي — — 2026-05-21 — فُحص بتاريخ 2026-08-21 — [R سجل مؤسسي رسمي].</a:t>
            </a:r>
          </a:p>
        </p:txBody>
      </p:sp>
      <p:sp>
        <p:nvSpPr>
          <p:cNvPr id="33" name="TextBox 32"/>
          <p:cNvSpPr txBox="1"/>
          <p:nvPr/>
        </p:nvSpPr>
        <p:spPr>
          <a:xfrm>
            <a:off x="969264" y="5621782"/>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1"/>
              </a:rPr>
              <a:t>https://www.fahr.gov.ae/en/news/uae-government-announces-strategic-knowledge-partnership-with-mbzuai/</a:t>
            </a:r>
          </a:p>
        </p:txBody>
      </p:sp>
      <p:sp>
        <p:nvSpPr>
          <p:cNvPr id="34" name="Rounded Rectangle 33"/>
          <p:cNvSpPr/>
          <p:nvPr/>
        </p:nvSpPr>
        <p:spPr>
          <a:xfrm>
            <a:off x="566928" y="5826252"/>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5" name="TextBox 34"/>
          <p:cNvSpPr txBox="1"/>
          <p:nvPr/>
        </p:nvSpPr>
        <p:spPr>
          <a:xfrm>
            <a:off x="969264" y="5817108"/>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[28] </a:t>
            </a:r>
            <a:r>
              <a:rPr sz="800" b="0">
                <a:solidFill>
                  <a:srgbClr val="474956"/>
                </a:solidFill>
                <a:latin typeface="Diodrum Arabic"/>
                <a:ea typeface="Diodrum Arabic"/>
                <a:cs typeface="Diodrum Arabic"/>
              </a:rPr>
              <a:t>المكتب الإعلامي لحكومة دبي — محمد بن راشد يحضر الملتقى الوطني لاستعراض مشاريع الذكاء الاصطناعي التوجيهي — — 2026-05-20 — فُحص بتاريخ 2026-08-21 — [R سجل مؤسسي رسمي].</a:t>
            </a:r>
          </a:p>
        </p:txBody>
      </p:sp>
      <p:sp>
        <p:nvSpPr>
          <p:cNvPr id="36" name="TextBox 35"/>
          <p:cNvSpPr txBox="1"/>
          <p:nvPr/>
        </p:nvSpPr>
        <p:spPr>
          <a:xfrm>
            <a:off x="969264" y="6094984"/>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2"/>
              </a:rPr>
              <a:t>https://mediaoffice.ae/en/news/2026/may/20-05/mohammed-bin-rashid-attends-national-retreat-showcasing-projects</a:t>
            </a:r>
          </a:p>
        </p:txBody>
      </p:sp>
      <p:sp>
        <p:nvSpPr>
          <p:cNvPr id="37" name="Rounded Rectangle 36"/>
          <p:cNvSpPr/>
          <p:nvPr/>
        </p:nvSpPr>
        <p:spPr>
          <a:xfrm>
            <a:off x="566928" y="6299454"/>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8" name="TextBox 37"/>
          <p:cNvSpPr txBox="1"/>
          <p:nvPr/>
        </p:nvSpPr>
        <p:spPr>
          <a:xfrm>
            <a:off x="969264" y="6290310"/>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[29] </a:t>
            </a:r>
            <a:r>
              <a:rPr sz="800" b="0">
                <a:solidFill>
                  <a:srgbClr val="474956"/>
                </a:solidFill>
                <a:latin typeface="Diodrum Arabic"/>
                <a:ea typeface="Diodrum Arabic"/>
                <a:cs typeface="Diodrum Arabic"/>
              </a:rPr>
              <a:t>وزارة التنمية الرقمية والإعلام (سنغافورة) — Launch of Institute of Digital Government (صحيفة وقائع الإطلاق) — — 2026-03-02 — فُحص بتاريخ 2026-08-21 — [R سجل مؤسسي رسمي].</a:t>
            </a:r>
          </a:p>
        </p:txBody>
      </p:sp>
      <p:sp>
        <p:nvSpPr>
          <p:cNvPr id="39" name="TextBox 38"/>
          <p:cNvSpPr txBox="1"/>
          <p:nvPr/>
        </p:nvSpPr>
        <p:spPr>
          <a:xfrm>
            <a:off x="969264" y="6568186"/>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3"/>
              </a:rPr>
              <a:t>https://www.mddi.gov.sg/newsroom/launch-of-institute-of-digital-government/</a:t>
            </a:r>
          </a:p>
        </p:txBody>
      </p:sp>
      <p:sp>
        <p:nvSpPr>
          <p:cNvPr id="40" name="Rounded Rectangle 39"/>
          <p:cNvSpPr/>
          <p:nvPr/>
        </p:nvSpPr>
        <p:spPr>
          <a:xfrm>
            <a:off x="566928" y="6772656"/>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41" name="TextBox 40"/>
          <p:cNvSpPr txBox="1"/>
          <p:nvPr/>
        </p:nvSpPr>
        <p:spPr>
          <a:xfrm>
            <a:off x="969264" y="6763512"/>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[30] </a:t>
            </a:r>
            <a:r>
              <a:rPr sz="800" b="0">
                <a:solidFill>
                  <a:srgbClr val="474956"/>
                </a:solidFill>
                <a:latin typeface="Diodrum Arabic"/>
                <a:ea typeface="Diodrum Arabic"/>
                <a:cs typeface="Diodrum Arabic"/>
              </a:rPr>
              <a:t>مدونة الخدمة المدنية الحديثة (مكتب مجلس الوزراء البريطاني) — Upskilling Senior Civil Servants with the Digital Excellence Programme — — 2024-09-02 — فُحص بتاريخ 2026-08-21 — [R سجل مؤسسي رسمي].</a:t>
            </a:r>
          </a:p>
        </p:txBody>
      </p:sp>
      <p:sp>
        <p:nvSpPr>
          <p:cNvPr id="42" name="TextBox 41"/>
          <p:cNvSpPr txBox="1"/>
          <p:nvPr/>
        </p:nvSpPr>
        <p:spPr>
          <a:xfrm>
            <a:off x="969264" y="7041388"/>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4"/>
              </a:rPr>
              <a:t>https://moderncivilservice.blog.gov.uk/2024/09/02/upskilling-senior-civil-servants-with-the-digital-excellence-programme/</a:t>
            </a:r>
          </a:p>
        </p:txBody>
      </p:sp>
      <p:sp>
        <p:nvSpPr>
          <p:cNvPr id="43" name="Rounded Rectangle 42"/>
          <p:cNvSpPr/>
          <p:nvPr/>
        </p:nvSpPr>
        <p:spPr>
          <a:xfrm>
            <a:off x="566928" y="7245858"/>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44" name="TextBox 43"/>
          <p:cNvSpPr txBox="1"/>
          <p:nvPr/>
        </p:nvSpPr>
        <p:spPr>
          <a:xfrm>
            <a:off x="969264" y="7236714"/>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[31] </a:t>
            </a:r>
            <a:r>
              <a:rPr sz="800" b="0">
                <a:solidFill>
                  <a:srgbClr val="474956"/>
                </a:solidFill>
                <a:latin typeface="Diodrum Arabic"/>
                <a:ea typeface="Diodrum Arabic"/>
                <a:cs typeface="Diodrum Arabic"/>
              </a:rPr>
              <a:t>برنامج الأمم المتحدة الإنمائي (غانا) — Government of Ghana and UNDP Kick Off Ministerial AI Bootcamp — — 2025-07-25 — فُحص بتاريخ 2026-08-21 — [R سجل مؤسسي رسمي].</a:t>
            </a:r>
          </a:p>
        </p:txBody>
      </p:sp>
      <p:sp>
        <p:nvSpPr>
          <p:cNvPr id="45" name="TextBox 44"/>
          <p:cNvSpPr txBox="1"/>
          <p:nvPr/>
        </p:nvSpPr>
        <p:spPr>
          <a:xfrm>
            <a:off x="969264" y="7514590"/>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5"/>
              </a:rPr>
              <a:t>https://www.undp.org/ghana/press-releases/government-ghana-and-undp-kicks-ministerial-bootcamp-strengthen-ai-capacity-and-advance-ai-enabled-public-services</a:t>
            </a:r>
          </a:p>
        </p:txBody>
      </p:sp>
      <p:sp>
        <p:nvSpPr>
          <p:cNvPr id="46" name="Rounded Rectangle 45"/>
          <p:cNvSpPr/>
          <p:nvPr/>
        </p:nvSpPr>
        <p:spPr>
          <a:xfrm>
            <a:off x="566928" y="7719060"/>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47" name="TextBox 46"/>
          <p:cNvSpPr txBox="1"/>
          <p:nvPr/>
        </p:nvSpPr>
        <p:spPr>
          <a:xfrm>
            <a:off x="969264" y="7709916"/>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[32] </a:t>
            </a:r>
            <a:r>
              <a:rPr sz="800" b="0">
                <a:solidFill>
                  <a:srgbClr val="474956"/>
                </a:solidFill>
                <a:latin typeface="Diodrum Arabic"/>
                <a:ea typeface="Diodrum Arabic"/>
                <a:cs typeface="Diodrum Arabic"/>
              </a:rPr>
              <a:t>الأكاديمية في جامعة محمد بن زايد للذكاء الاصطناعي — نشرة برنامج القيادة العالمي في الذكاء الاصطناعي (GAILP)، نسخة أبريل 2027 — — فُحص بتاريخ 2026-08-21 — [P إعلان مزوّد/جهة].</a:t>
            </a:r>
          </a:p>
        </p:txBody>
      </p:sp>
      <p:sp>
        <p:nvSpPr>
          <p:cNvPr id="48" name="TextBox 47"/>
          <p:cNvSpPr txBox="1"/>
          <p:nvPr/>
        </p:nvSpPr>
        <p:spPr>
          <a:xfrm>
            <a:off x="969264" y="7987792"/>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6"/>
              </a:rPr>
              <a:t>https://academy.mbzuai.ac.ae/wp-content/uploads/2026/04/GAILP-Prospectus-April-2027.pdf</a:t>
            </a:r>
          </a:p>
        </p:txBody>
      </p:sp>
      <p:sp>
        <p:nvSpPr>
          <p:cNvPr id="49" name="Rounded Rectangle 48"/>
          <p:cNvSpPr/>
          <p:nvPr/>
        </p:nvSpPr>
        <p:spPr>
          <a:xfrm>
            <a:off x="566928" y="8192262"/>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0" name="TextBox 49"/>
          <p:cNvSpPr txBox="1"/>
          <p:nvPr/>
        </p:nvSpPr>
        <p:spPr>
          <a:xfrm>
            <a:off x="969264" y="8183118"/>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[33] </a:t>
            </a:r>
            <a:r>
              <a:rPr sz="800" b="0">
                <a:solidFill>
                  <a:srgbClr val="474956"/>
                </a:solidFill>
                <a:latin typeface="Diodrum Arabic"/>
                <a:ea typeface="Diodrum Arabic"/>
                <a:cs typeface="Diodrum Arabic"/>
              </a:rPr>
              <a:t>جامعة محمد بن زايد للذكاء الاصطناعي — عودة برنامج القيادة العالمي في الذكاء الاصطناعي بنسخة ثانية موسعة — — فُحص بتاريخ 2026-08-21 — [P إعلان مزوّد/جهة].</a:t>
            </a:r>
          </a:p>
        </p:txBody>
      </p:sp>
      <p:sp>
        <p:nvSpPr>
          <p:cNvPr id="51" name="TextBox 50"/>
          <p:cNvSpPr txBox="1"/>
          <p:nvPr/>
        </p:nvSpPr>
        <p:spPr>
          <a:xfrm>
            <a:off x="969264" y="8460994"/>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7"/>
              </a:rPr>
              <a:t>https://mbzuai.ac.ae/news/mbzuais-global-ai-leadership-program-returns-with-expanded-second-edition/</a:t>
            </a:r>
          </a:p>
        </p:txBody>
      </p:sp>
      <p:sp>
        <p:nvSpPr>
          <p:cNvPr id="52" name="Rounded Rectangle 51"/>
          <p:cNvSpPr/>
          <p:nvPr/>
        </p:nvSpPr>
        <p:spPr>
          <a:xfrm>
            <a:off x="566928" y="8665464"/>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3" name="TextBox 52"/>
          <p:cNvSpPr txBox="1"/>
          <p:nvPr/>
        </p:nvSpPr>
        <p:spPr>
          <a:xfrm>
            <a:off x="969264" y="8656320"/>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[34] </a:t>
            </a:r>
            <a:r>
              <a:rPr sz="800" b="0">
                <a:solidFill>
                  <a:srgbClr val="474956"/>
                </a:solidFill>
                <a:latin typeface="Diodrum Arabic"/>
                <a:ea typeface="Diodrum Arabic"/>
                <a:cs typeface="Diodrum Arabic"/>
              </a:rPr>
              <a:t>جامعة محمد بن زايد للذكاء الاصطناعي — صفحة البرنامج التنفيذي (MEP) وخبر تخريج الفوج السادس — و — فُحص بتاريخ 2026-08-21 — [P إعلان مزوّد/جهة].</a:t>
            </a:r>
          </a:p>
        </p:txBody>
      </p:sp>
      <p:sp>
        <p:nvSpPr>
          <p:cNvPr id="54" name="TextBox 53"/>
          <p:cNvSpPr txBox="1"/>
          <p:nvPr/>
        </p:nvSpPr>
        <p:spPr>
          <a:xfrm>
            <a:off x="969264" y="8934196"/>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8"/>
              </a:rPr>
              <a:t>https://mbzuai.ac.ae/innovate/training-programs/mbzuai-executive-program/</a:t>
            </a:r>
          </a:p>
        </p:txBody>
      </p:sp>
      <p:sp>
        <p:nvSpPr>
          <p:cNvPr id="55" name="Rounded Rectangle 54"/>
          <p:cNvSpPr/>
          <p:nvPr/>
        </p:nvSpPr>
        <p:spPr>
          <a:xfrm>
            <a:off x="566928" y="9138666"/>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6" name="TextBox 55"/>
          <p:cNvSpPr txBox="1"/>
          <p:nvPr/>
        </p:nvSpPr>
        <p:spPr>
          <a:xfrm>
            <a:off x="969264" y="9129522"/>
            <a:ext cx="6025896" cy="16865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[35] </a:t>
            </a:r>
            <a:r>
              <a:rPr sz="800" b="0">
                <a:solidFill>
                  <a:srgbClr val="474956"/>
                </a:solidFill>
                <a:latin typeface="Diodrum Arabic"/>
                <a:ea typeface="Diodrum Arabic"/>
                <a:cs typeface="Diodrum Arabic"/>
              </a:rPr>
              <a:t>كلية بلافاتنك للحكومة، جامعة أكسفورد — Leading AI through Co-Creation — — فُحص بتاريخ 2026-08-21 — [P إعلان مزوّد/جهة].</a:t>
            </a:r>
          </a:p>
        </p:txBody>
      </p:sp>
      <p:sp>
        <p:nvSpPr>
          <p:cNvPr id="57" name="TextBox 56"/>
          <p:cNvSpPr txBox="1"/>
          <p:nvPr/>
        </p:nvSpPr>
        <p:spPr>
          <a:xfrm>
            <a:off x="969264" y="9275318"/>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9"/>
              </a:rPr>
              <a:t>https://www.bsg.ox.ac.uk/course/leading-ai-through-co-creation</a:t>
            </a:r>
          </a:p>
        </p:txBody>
      </p:sp>
      <p:sp>
        <p:nvSpPr>
          <p:cNvPr id="58" name="Rounded Rectangle 57"/>
          <p:cNvSpPr/>
          <p:nvPr/>
        </p:nvSpPr>
        <p:spPr>
          <a:xfrm>
            <a:off x="566928" y="9479788"/>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9" name="TextBox 58"/>
          <p:cNvSpPr txBox="1"/>
          <p:nvPr/>
        </p:nvSpPr>
        <p:spPr>
          <a:xfrm>
            <a:off x="969264" y="9470644"/>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[36] </a:t>
            </a:r>
            <a:r>
              <a:rPr sz="800" b="0">
                <a:solidFill>
                  <a:srgbClr val="474956"/>
                </a:solidFill>
                <a:latin typeface="Diodrum Arabic"/>
                <a:ea typeface="Diodrum Arabic"/>
                <a:cs typeface="Diodrum Arabic"/>
              </a:rPr>
              <a:t>كلية هارفارد كينيدي — Leading in Artificial Intelligence: Exploring Technology and Policy — — فُحص بتاريخ 2026-08-21 — [P إعلان مزوّد/جهة].</a:t>
            </a:r>
          </a:p>
        </p:txBody>
      </p:sp>
      <p:sp>
        <p:nvSpPr>
          <p:cNvPr id="60" name="TextBox 59"/>
          <p:cNvSpPr txBox="1"/>
          <p:nvPr/>
        </p:nvSpPr>
        <p:spPr>
          <a:xfrm>
            <a:off x="969264" y="9748520"/>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20"/>
              </a:rPr>
              <a:t>https://www.hks.harvard.edu/educational-programs/executive-education/leading-artificial-intelligence</a:t>
            </a:r>
          </a:p>
        </p:txBody>
      </p:sp>
      <p:sp>
        <p:nvSpPr>
          <p:cNvPr id="61" name="Rectangle 60"/>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63" name="TextBox 62"/>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REFERENCES — CONTINUED</a:t>
            </a:r>
          </a:p>
        </p:txBody>
      </p:sp>
      <p:sp>
        <p:nvSpPr>
          <p:cNvPr id="3" name="TextBox 2"/>
          <p:cNvSpPr txBox="1"/>
          <p:nvPr/>
        </p:nvSpPr>
        <p:spPr>
          <a:xfrm>
            <a:off x="566928" y="730758"/>
            <a:ext cx="6428231" cy="253745"/>
          </a:xfrm>
          <a:prstGeom prst="rect">
            <a:avLst/>
          </a:prstGeom>
          <a:noFill/>
        </p:spPr>
        <p:txBody>
          <a:bodyPr wrap="square" lIns="0" rIns="0" tIns="0" bIns="0">
            <a:spAutoFit/>
          </a:bodyPr>
          <a:lstStyle/>
          <a:p>
            <a:pPr algn="l">
              <a:lnSpc>
                <a:spcPts val="1709"/>
              </a:lnSpc>
            </a:pPr>
            <a:r>
              <a:rPr sz="1500" b="1">
                <a:solidFill>
                  <a:srgbClr val="232046"/>
                </a:solidFill>
                <a:latin typeface="Diodrum Arabic"/>
                <a:ea typeface="Diodrum Arabic"/>
                <a:cs typeface="Diodrum Arabic"/>
              </a:rPr>
              <a:t>Section sources [1] – [71]</a:t>
            </a:r>
          </a:p>
        </p:txBody>
      </p:sp>
      <p:sp>
        <p:nvSpPr>
          <p:cNvPr id="4" name="Rounded Rectangle 3"/>
          <p:cNvSpPr/>
          <p:nvPr/>
        </p:nvSpPr>
        <p:spPr>
          <a:xfrm>
            <a:off x="566928" y="1094232"/>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 name="TextBox 4"/>
          <p:cNvSpPr txBox="1"/>
          <p:nvPr/>
        </p:nvSpPr>
        <p:spPr>
          <a:xfrm>
            <a:off x="969264" y="1085088"/>
            <a:ext cx="6025896" cy="16865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[37] </a:t>
            </a:r>
            <a:r>
              <a:rPr sz="800" b="0">
                <a:solidFill>
                  <a:srgbClr val="474956"/>
                </a:solidFill>
                <a:latin typeface="Diodrum Arabic"/>
                <a:ea typeface="Diodrum Arabic"/>
                <a:cs typeface="Diodrum Arabic"/>
              </a:rPr>
              <a:t>إمبريال كوليدج لندن، منتدى السياسات — AI Policy Fellowship — — فُحص بتاريخ 2026-08-21 — [P إعلان مزوّد/جهة].</a:t>
            </a:r>
          </a:p>
        </p:txBody>
      </p:sp>
      <p:sp>
        <p:nvSpPr>
          <p:cNvPr id="6" name="TextBox 5"/>
          <p:cNvSpPr txBox="1"/>
          <p:nvPr/>
        </p:nvSpPr>
        <p:spPr>
          <a:xfrm>
            <a:off x="969264" y="1230884"/>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2"/>
              </a:rPr>
              <a:t>https://www.imperial.ac.uk/research-and-innovation/the-forum/courses-for-policymakers/fellowships/</a:t>
            </a:r>
          </a:p>
        </p:txBody>
      </p:sp>
      <p:sp>
        <p:nvSpPr>
          <p:cNvPr id="7" name="Rounded Rectangle 6"/>
          <p:cNvSpPr/>
          <p:nvPr/>
        </p:nvSpPr>
        <p:spPr>
          <a:xfrm>
            <a:off x="566928" y="1435354"/>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8" name="TextBox 7"/>
          <p:cNvSpPr txBox="1"/>
          <p:nvPr/>
        </p:nvSpPr>
        <p:spPr>
          <a:xfrm>
            <a:off x="969264" y="1426210"/>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[38] </a:t>
            </a:r>
            <a:r>
              <a:rPr sz="800" b="0">
                <a:solidFill>
                  <a:srgbClr val="474956"/>
                </a:solidFill>
                <a:latin typeface="Diodrum Arabic"/>
                <a:ea typeface="Diodrum Arabic"/>
                <a:cs typeface="Diodrum Arabic"/>
              </a:rPr>
              <a:t>مدونة إمبريال كوليدج لندن — From Theory to Practice: How 20 Civil Servants Are Building AI Capability Across Government — — 2025-10-21 — فُحص بتاريخ 2026-08-21 — [P إعلان مزوّد/جهة].</a:t>
            </a:r>
          </a:p>
        </p:txBody>
      </p:sp>
      <p:sp>
        <p:nvSpPr>
          <p:cNvPr id="9" name="TextBox 8"/>
          <p:cNvSpPr txBox="1"/>
          <p:nvPr/>
        </p:nvSpPr>
        <p:spPr>
          <a:xfrm>
            <a:off x="969264" y="1704086"/>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3"/>
              </a:rPr>
              <a:t>https://blogs.imperial.ac.uk/the-forum/2025/10/21/from-theory-to-practice-how-20-civil-servants-are-building-ai-capability-across-government/</a:t>
            </a:r>
          </a:p>
        </p:txBody>
      </p:sp>
      <p:sp>
        <p:nvSpPr>
          <p:cNvPr id="10" name="Rounded Rectangle 9"/>
          <p:cNvSpPr/>
          <p:nvPr/>
        </p:nvSpPr>
        <p:spPr>
          <a:xfrm>
            <a:off x="566928" y="1908555"/>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11" name="TextBox 10"/>
          <p:cNvSpPr txBox="1"/>
          <p:nvPr/>
        </p:nvSpPr>
        <p:spPr>
          <a:xfrm>
            <a:off x="969264" y="1899412"/>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[39] </a:t>
            </a:r>
            <a:r>
              <a:rPr sz="800" b="0">
                <a:solidFill>
                  <a:srgbClr val="474956"/>
                </a:solidFill>
                <a:latin typeface="Diodrum Arabic"/>
                <a:ea typeface="Diodrum Arabic"/>
                <a:cs typeface="Diodrum Arabic"/>
              </a:rPr>
              <a:t>Gradia — Open-Enrollment vs Custom Executive Education (دليل سوق: غياب بطاقات الأسعار المنشورة للبرامج المخصصة والحد الأدنى للفوج) — — فُحص بتاريخ 2026-08-21 — [N تغطية صحفية معتبرة].</a:t>
            </a:r>
          </a:p>
        </p:txBody>
      </p:sp>
      <p:sp>
        <p:nvSpPr>
          <p:cNvPr id="12" name="TextBox 11"/>
          <p:cNvSpPr txBox="1"/>
          <p:nvPr/>
        </p:nvSpPr>
        <p:spPr>
          <a:xfrm>
            <a:off x="969264" y="2177288"/>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4"/>
              </a:rPr>
              <a:t>https://www.gogradia.com/guides/open-enrollment-vs-custom-executive-education</a:t>
            </a:r>
          </a:p>
        </p:txBody>
      </p:sp>
      <p:sp>
        <p:nvSpPr>
          <p:cNvPr id="13" name="Rounded Rectangle 12"/>
          <p:cNvSpPr/>
          <p:nvPr/>
        </p:nvSpPr>
        <p:spPr>
          <a:xfrm>
            <a:off x="566928" y="2381758"/>
            <a:ext cx="310896" cy="173736"/>
          </a:xfrm>
          <a:prstGeom prst="roundRect">
            <a:avLst>
              <a:gd name="adj" fmla="val 26315"/>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E</a:t>
            </a:r>
          </a:p>
        </p:txBody>
      </p:sp>
      <p:sp>
        <p:nvSpPr>
          <p:cNvPr id="14" name="TextBox 13"/>
          <p:cNvSpPr txBox="1"/>
          <p:nvPr/>
        </p:nvSpPr>
        <p:spPr>
          <a:xfrm>
            <a:off x="969264" y="2372614"/>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[40] </a:t>
            </a:r>
            <a:r>
              <a:rPr sz="800" b="0">
                <a:solidFill>
                  <a:srgbClr val="474956"/>
                </a:solidFill>
                <a:latin typeface="Diodrum Arabic"/>
                <a:ea typeface="Diodrum Arabic"/>
                <a:cs typeface="Diodrum Arabic"/>
              </a:rPr>
              <a:t>ICF (المُقيّم المكلف من مكتب مجلس الوزراء البريطاني) — Helping the UK Civil Service Evaluate Its Digital Excellence Programme — — بلا تاريخ نشر معلن — فُحص بتاريخ 2026-08-21 — [E تقييم مستقل].</a:t>
            </a:r>
          </a:p>
        </p:txBody>
      </p:sp>
      <p:sp>
        <p:nvSpPr>
          <p:cNvPr id="15" name="TextBox 14"/>
          <p:cNvSpPr txBox="1"/>
          <p:nvPr/>
        </p:nvSpPr>
        <p:spPr>
          <a:xfrm>
            <a:off x="969264" y="2650490"/>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5"/>
              </a:rPr>
              <a:t>https://www.icf.com/clients/workforce/uk-civil-service-digital-excellence-programme-evaluation</a:t>
            </a:r>
          </a:p>
        </p:txBody>
      </p:sp>
      <p:sp>
        <p:nvSpPr>
          <p:cNvPr id="16" name="Rounded Rectangle 15"/>
          <p:cNvSpPr/>
          <p:nvPr/>
        </p:nvSpPr>
        <p:spPr>
          <a:xfrm>
            <a:off x="566928" y="2854960"/>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17" name="TextBox 16"/>
          <p:cNvSpPr txBox="1"/>
          <p:nvPr/>
        </p:nvSpPr>
        <p:spPr>
          <a:xfrm>
            <a:off x="969264" y="2845816"/>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[41] </a:t>
            </a:r>
            <a:r>
              <a:rPr sz="800" b="0">
                <a:solidFill>
                  <a:srgbClr val="474956"/>
                </a:solidFill>
                <a:latin typeface="Diodrum Arabic"/>
                <a:ea typeface="Diodrum Arabic"/>
                <a:cs typeface="Diodrum Arabic"/>
              </a:rPr>
              <a:t>المكتب الصحفي للحكومة الهندية (PIB) — إجابة مكتوبة أمام لوك سابها: «رسالة كارمايوغي وبناء القدرات الرقمية عبر منصة iGOT» — — 2026-08-05 — فُحص بتاريخ 2026-08-21 — [R سجل مؤسسي رسمي].</a:t>
            </a:r>
          </a:p>
        </p:txBody>
      </p:sp>
      <p:sp>
        <p:nvSpPr>
          <p:cNvPr id="18" name="TextBox 17"/>
          <p:cNvSpPr txBox="1"/>
          <p:nvPr/>
        </p:nvSpPr>
        <p:spPr>
          <a:xfrm>
            <a:off x="969264" y="3123692"/>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6"/>
              </a:rPr>
              <a:t>https://www.pib.gov.in/PressReleasePage.aspx?PRID=2294777&amp;reg=22&amp;lang=1</a:t>
            </a:r>
          </a:p>
        </p:txBody>
      </p:sp>
      <p:sp>
        <p:nvSpPr>
          <p:cNvPr id="19" name="Rounded Rectangle 18"/>
          <p:cNvSpPr/>
          <p:nvPr/>
        </p:nvSpPr>
        <p:spPr>
          <a:xfrm>
            <a:off x="566928" y="3328162"/>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20" name="TextBox 19"/>
          <p:cNvSpPr txBox="1"/>
          <p:nvPr/>
        </p:nvSpPr>
        <p:spPr>
          <a:xfrm>
            <a:off x="969264" y="3319018"/>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[42] </a:t>
            </a:r>
            <a:r>
              <a:rPr sz="800" b="0">
                <a:solidFill>
                  <a:srgbClr val="474956"/>
                </a:solidFill>
                <a:latin typeface="Diodrum Arabic"/>
                <a:ea typeface="Diodrum Arabic"/>
                <a:cs typeface="Diodrum Arabic"/>
              </a:rPr>
              <a:t>وكالة كابار (عن وزارة الذكاء الاصطناعي والتنمية الرقمية الكازاخية) — «كازاخستان تبدأ تدريب الفوج الأول من مسؤولي الذكاء الاصطناعي للقطاع العام» — — 2026-01-20 — فُحص بتاريخ 2026-08-21 — [N تغطية صحفية معتبرة].</a:t>
            </a:r>
          </a:p>
        </p:txBody>
      </p:sp>
      <p:sp>
        <p:nvSpPr>
          <p:cNvPr id="21" name="TextBox 20"/>
          <p:cNvSpPr txBox="1"/>
          <p:nvPr/>
        </p:nvSpPr>
        <p:spPr>
          <a:xfrm>
            <a:off x="969264" y="3596894"/>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7"/>
              </a:rPr>
              <a:t>https://en.kabar.kg/news/kazakhstan-starts-training-1st-cohort-of-ai-officers-for-public-sector/</a:t>
            </a:r>
          </a:p>
        </p:txBody>
      </p:sp>
      <p:sp>
        <p:nvSpPr>
          <p:cNvPr id="22" name="Rounded Rectangle 21"/>
          <p:cNvSpPr/>
          <p:nvPr/>
        </p:nvSpPr>
        <p:spPr>
          <a:xfrm>
            <a:off x="566928" y="3801364"/>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23" name="TextBox 22"/>
          <p:cNvSpPr txBox="1"/>
          <p:nvPr/>
        </p:nvSpPr>
        <p:spPr>
          <a:xfrm>
            <a:off x="969264" y="3792220"/>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[43] </a:t>
            </a:r>
            <a:r>
              <a:rPr sz="800" b="0">
                <a:solidFill>
                  <a:srgbClr val="474956"/>
                </a:solidFill>
                <a:latin typeface="Diodrum Arabic"/>
                <a:ea typeface="Diodrum Arabic"/>
                <a:cs typeface="Diodrum Arabic"/>
              </a:rPr>
              <a:t>EgyptInnovate (المنصة الرسمية لوزارة الاتصالات وتقنية المعلومات المصرية) — «إطلاق المبادرة الوطنية للذكاء الاصطناعي لقادة الجهات الحكومية بالشراكة مع الأكاديمية الوطنية للتدريب» — — 2026-06-18 — فُحص بتاريخ 2026-08-21 — [P إعلان مزوّد/جهة].</a:t>
            </a:r>
          </a:p>
        </p:txBody>
      </p:sp>
      <p:sp>
        <p:nvSpPr>
          <p:cNvPr id="24" name="TextBox 23"/>
          <p:cNvSpPr txBox="1"/>
          <p:nvPr/>
        </p:nvSpPr>
        <p:spPr>
          <a:xfrm>
            <a:off x="969264" y="4070096"/>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8"/>
              </a:rPr>
              <a:t>https://egyptinnovate.com/en/news/mcit-nta-co-launch-ai-for-government-organization-leaders-national-initiative</a:t>
            </a:r>
          </a:p>
        </p:txBody>
      </p:sp>
      <p:sp>
        <p:nvSpPr>
          <p:cNvPr id="25" name="Rounded Rectangle 24"/>
          <p:cNvSpPr/>
          <p:nvPr/>
        </p:nvSpPr>
        <p:spPr>
          <a:xfrm>
            <a:off x="566928" y="4274566"/>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26" name="TextBox 25"/>
          <p:cNvSpPr txBox="1"/>
          <p:nvPr/>
        </p:nvSpPr>
        <p:spPr>
          <a:xfrm>
            <a:off x="969264" y="4265422"/>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[44] </a:t>
            </a:r>
            <a:r>
              <a:rPr sz="800" b="0">
                <a:solidFill>
                  <a:srgbClr val="474956"/>
                </a:solidFill>
                <a:latin typeface="Diodrum Arabic"/>
                <a:ea typeface="Diodrum Arabic"/>
                <a:cs typeface="Diodrum Arabic"/>
              </a:rPr>
              <a:t>وكالة التحول الرقمي الأسترالية (digital.gov.au) — «توجيه تدريب الموظفين على الذكاء الاصطناعي (الإصدار 2.0)» — — 2025-08-25 — فُحص بتاريخ 2026-08-21 — [R سجل مؤسسي رسمي].</a:t>
            </a:r>
          </a:p>
        </p:txBody>
      </p:sp>
      <p:sp>
        <p:nvSpPr>
          <p:cNvPr id="27" name="TextBox 26"/>
          <p:cNvSpPr txBox="1"/>
          <p:nvPr/>
        </p:nvSpPr>
        <p:spPr>
          <a:xfrm>
            <a:off x="969264" y="4543298"/>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9"/>
              </a:rPr>
              <a:t>https://www.digital.gov.au/ai/ai-in-government-policy/staff-training</a:t>
            </a:r>
          </a:p>
        </p:txBody>
      </p:sp>
      <p:sp>
        <p:nvSpPr>
          <p:cNvPr id="28" name="Rounded Rectangle 27"/>
          <p:cNvSpPr/>
          <p:nvPr/>
        </p:nvSpPr>
        <p:spPr>
          <a:xfrm>
            <a:off x="566928" y="4747768"/>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29" name="TextBox 28"/>
          <p:cNvSpPr txBox="1"/>
          <p:nvPr/>
        </p:nvSpPr>
        <p:spPr>
          <a:xfrm>
            <a:off x="969264" y="4738624"/>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[45] </a:t>
            </a:r>
            <a:r>
              <a:rPr sz="800" b="0">
                <a:solidFill>
                  <a:srgbClr val="474956"/>
                </a:solidFill>
                <a:latin typeface="Diodrum Arabic"/>
                <a:ea typeface="Diodrum Arabic"/>
                <a:cs typeface="Diodrum Arabic"/>
              </a:rPr>
              <a:t>الإدارة العامة للتحول الرقمي (DINUM، فرنسا) — «الدولة تطلق منظومة Pix للوظيفة العامة» — — 2025 — فُحص بتاريخ 2026-08-21 — [P إعلان مزوّد/جهة].</a:t>
            </a:r>
          </a:p>
        </p:txBody>
      </p:sp>
      <p:sp>
        <p:nvSpPr>
          <p:cNvPr id="30" name="TextBox 29"/>
          <p:cNvSpPr txBox="1"/>
          <p:nvPr/>
        </p:nvSpPr>
        <p:spPr>
          <a:xfrm>
            <a:off x="969264" y="5016500"/>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0"/>
              </a:rPr>
              <a:t>https://numerique.gouv.fr/sinformer/espace-presse/formation-des-agents-publics-au-num%C3%A9rique--l%C3%A9tat-lance-le-dispositif-pix-pour-la-fonction-publique-d%C3%A9tat/</a:t>
            </a:r>
          </a:p>
        </p:txBody>
      </p:sp>
      <p:sp>
        <p:nvSpPr>
          <p:cNvPr id="31" name="Rounded Rectangle 30"/>
          <p:cNvSpPr/>
          <p:nvPr/>
        </p:nvSpPr>
        <p:spPr>
          <a:xfrm>
            <a:off x="566928" y="5220970"/>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2" name="TextBox 31"/>
          <p:cNvSpPr txBox="1"/>
          <p:nvPr/>
        </p:nvSpPr>
        <p:spPr>
          <a:xfrm>
            <a:off x="969264" y="5211826"/>
            <a:ext cx="6025896" cy="43281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[46] </a:t>
            </a:r>
            <a:r>
              <a:rPr sz="800" b="0">
                <a:solidFill>
                  <a:srgbClr val="474956"/>
                </a:solidFill>
                <a:latin typeface="Diodrum Arabic"/>
                <a:ea typeface="Diodrum Arabic"/>
                <a:cs typeface="Diodrum Arabic"/>
              </a:rPr>
              <a:t>شروح قانونية للمادة 4 من قانون الذكاء الاصطناعي الأوروبي — «Lexara Advisory: Article 4 AI Literacy — In Force Since Feb 2025» — (محدث 2026-05-08) و«Travers Smith: The EU AI Act's AI Literacy Requirement» — (2025-07-29) — فُحص بتاريخ 2026-08-21 — [R سجل مؤسسي رسمي].</a:t>
            </a:r>
          </a:p>
        </p:txBody>
      </p:sp>
      <p:sp>
        <p:nvSpPr>
          <p:cNvPr id="33" name="TextBox 32"/>
          <p:cNvSpPr txBox="1"/>
          <p:nvPr/>
        </p:nvSpPr>
        <p:spPr>
          <a:xfrm>
            <a:off x="969264" y="5621782"/>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1"/>
              </a:rPr>
              <a:t>https://lexaraadvisory.com/article-4-ai-literacy-obligation.html</a:t>
            </a:r>
          </a:p>
        </p:txBody>
      </p:sp>
      <p:sp>
        <p:nvSpPr>
          <p:cNvPr id="34" name="Rounded Rectangle 33"/>
          <p:cNvSpPr/>
          <p:nvPr/>
        </p:nvSpPr>
        <p:spPr>
          <a:xfrm>
            <a:off x="566928" y="5826252"/>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35" name="TextBox 34"/>
          <p:cNvSpPr txBox="1"/>
          <p:nvPr/>
        </p:nvSpPr>
        <p:spPr>
          <a:xfrm>
            <a:off x="969264" y="5817108"/>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[47] </a:t>
            </a:r>
            <a:r>
              <a:rPr sz="800" b="0">
                <a:solidFill>
                  <a:srgbClr val="474956"/>
                </a:solidFill>
                <a:latin typeface="Diodrum Arabic"/>
                <a:ea typeface="Diodrum Arabic"/>
                <a:cs typeface="Diodrum Arabic"/>
              </a:rPr>
              <a:t>Global Government Forum — «الإمارات تطلق برنامج تدريب مسؤولي الذكاء الاصطناعي الرئيسيين» — — 2025-06-09 — فُحص بتاريخ 2026-08-21 — [N تغطية صحفية معتبرة].</a:t>
            </a:r>
          </a:p>
        </p:txBody>
      </p:sp>
      <p:sp>
        <p:nvSpPr>
          <p:cNvPr id="36" name="TextBox 35"/>
          <p:cNvSpPr txBox="1"/>
          <p:nvPr/>
        </p:nvSpPr>
        <p:spPr>
          <a:xfrm>
            <a:off x="969264" y="6094984"/>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2"/>
              </a:rPr>
              <a:t>https://www.globalgovernmentforum.com/united-arab-emirates-launches-training-programme-for-chief-ai-officers/</a:t>
            </a:r>
          </a:p>
        </p:txBody>
      </p:sp>
      <p:sp>
        <p:nvSpPr>
          <p:cNvPr id="37" name="Rounded Rectangle 36"/>
          <p:cNvSpPr/>
          <p:nvPr/>
        </p:nvSpPr>
        <p:spPr>
          <a:xfrm>
            <a:off x="566928" y="6299454"/>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38" name="TextBox 37"/>
          <p:cNvSpPr txBox="1"/>
          <p:nvPr/>
        </p:nvSpPr>
        <p:spPr>
          <a:xfrm>
            <a:off x="969264" y="6290310"/>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[48] </a:t>
            </a:r>
            <a:r>
              <a:rPr sz="800" b="0">
                <a:solidFill>
                  <a:srgbClr val="474956"/>
                </a:solidFill>
                <a:latin typeface="Diodrum Arabic"/>
                <a:ea typeface="Diodrum Arabic"/>
                <a:cs typeface="Diodrum Arabic"/>
              </a:rPr>
              <a:t>Apolitical — «تقرير الحرم الحكومي للذكاء الاصطناعي قيد العمل» (قرار الإمارات إلزام مقرر لعموم موظفيها الاتحاديين) — — 2025-07-07 — فُحص بتاريخ 2026-08-21 — [P إعلان مزوّد/جهة].</a:t>
            </a:r>
          </a:p>
        </p:txBody>
      </p:sp>
      <p:sp>
        <p:nvSpPr>
          <p:cNvPr id="39" name="TextBox 38"/>
          <p:cNvSpPr txBox="1"/>
          <p:nvPr/>
        </p:nvSpPr>
        <p:spPr>
          <a:xfrm>
            <a:off x="969264" y="6568186"/>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3"/>
              </a:rPr>
              <a:t>https://apolitical.co/en/pages/apolitical-releases-new-learnings-report-from-training-public-servants-for-ai-governance</a:t>
            </a:r>
          </a:p>
        </p:txBody>
      </p:sp>
      <p:sp>
        <p:nvSpPr>
          <p:cNvPr id="40" name="Rounded Rectangle 39"/>
          <p:cNvSpPr/>
          <p:nvPr/>
        </p:nvSpPr>
        <p:spPr>
          <a:xfrm>
            <a:off x="566928" y="6772656"/>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41" name="TextBox 40"/>
          <p:cNvSpPr txBox="1"/>
          <p:nvPr/>
        </p:nvSpPr>
        <p:spPr>
          <a:xfrm>
            <a:off x="969264" y="6763512"/>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[49] </a:t>
            </a:r>
            <a:r>
              <a:rPr sz="800" b="0">
                <a:solidFill>
                  <a:srgbClr val="474956"/>
                </a:solidFill>
                <a:latin typeface="Diodrum Arabic"/>
                <a:ea typeface="Diodrum Arabic"/>
                <a:cs typeface="Diodrum Arabic"/>
              </a:rPr>
              <a:t>مدونة الخدمة المدنية الحديثة — «شيء واحد كبير: الذكاء الاصطناعي للجميع» — — 2025-10-14 — فُحص بتاريخ 2026-08-21 — [R سجل مؤسسي رسمي].</a:t>
            </a:r>
          </a:p>
        </p:txBody>
      </p:sp>
      <p:sp>
        <p:nvSpPr>
          <p:cNvPr id="42" name="TextBox 41"/>
          <p:cNvSpPr txBox="1"/>
          <p:nvPr/>
        </p:nvSpPr>
        <p:spPr>
          <a:xfrm>
            <a:off x="969264" y="7041388"/>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4"/>
              </a:rPr>
              <a:t>https://moderncivilservice.blog.gov.uk/2025/10/14/one-big-thing-ai-for-all-is-live/</a:t>
            </a:r>
          </a:p>
        </p:txBody>
      </p:sp>
      <p:sp>
        <p:nvSpPr>
          <p:cNvPr id="43" name="Rounded Rectangle 42"/>
          <p:cNvSpPr/>
          <p:nvPr/>
        </p:nvSpPr>
        <p:spPr>
          <a:xfrm>
            <a:off x="566928" y="7245858"/>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44" name="TextBox 43"/>
          <p:cNvSpPr txBox="1"/>
          <p:nvPr/>
        </p:nvSpPr>
        <p:spPr>
          <a:xfrm>
            <a:off x="969264" y="7236714"/>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[50] </a:t>
            </a:r>
            <a:r>
              <a:rPr sz="800" b="0">
                <a:solidFill>
                  <a:srgbClr val="474956"/>
                </a:solidFill>
                <a:latin typeface="Diodrum Arabic"/>
                <a:ea typeface="Diodrum Arabic"/>
                <a:cs typeface="Diodrum Arabic"/>
              </a:rPr>
              <a:t>Ecofin Agency — «رواندا تلزم جميع موظفي الخدمة المدنية بالتدريب على الذكاء الاصطناعي» — — 2026-01-13 — فُحص بتاريخ 2026-08-21 — [N تغطية صحفية معتبرة].</a:t>
            </a:r>
          </a:p>
        </p:txBody>
      </p:sp>
      <p:sp>
        <p:nvSpPr>
          <p:cNvPr id="45" name="TextBox 44"/>
          <p:cNvSpPr txBox="1"/>
          <p:nvPr/>
        </p:nvSpPr>
        <p:spPr>
          <a:xfrm>
            <a:off x="969264" y="7514590"/>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5"/>
              </a:rPr>
              <a:t>https://www.ecofinagency.com/news-digital/1301-51886-rwanda-rolls-out-mandatory-ai-training-for-all-civil-servants</a:t>
            </a:r>
          </a:p>
        </p:txBody>
      </p:sp>
      <p:sp>
        <p:nvSpPr>
          <p:cNvPr id="46" name="Rounded Rectangle 45"/>
          <p:cNvSpPr/>
          <p:nvPr/>
        </p:nvSpPr>
        <p:spPr>
          <a:xfrm>
            <a:off x="566928" y="7719060"/>
            <a:ext cx="310896" cy="173736"/>
          </a:xfrm>
          <a:prstGeom prst="roundRect">
            <a:avLst>
              <a:gd name="adj" fmla="val 26315"/>
            </a:avLst>
          </a:prstGeom>
          <a:solidFill>
            <a:srgbClr val="23204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J</a:t>
            </a:r>
          </a:p>
        </p:txBody>
      </p:sp>
      <p:sp>
        <p:nvSpPr>
          <p:cNvPr id="47" name="TextBox 46"/>
          <p:cNvSpPr txBox="1"/>
          <p:nvPr/>
        </p:nvSpPr>
        <p:spPr>
          <a:xfrm>
            <a:off x="969264" y="7709916"/>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[51] </a:t>
            </a:r>
            <a:r>
              <a:rPr sz="800" b="0">
                <a:solidFill>
                  <a:srgbClr val="474956"/>
                </a:solidFill>
                <a:latin typeface="Diodrum Arabic"/>
                <a:ea typeface="Diodrum Arabic"/>
                <a:cs typeface="Diodrum Arabic"/>
              </a:rPr>
              <a:t>حكم تحليلي للدراسة — غياب أدلة الأثر المنشورة على جودة القرار والأداء المؤسسي، وعدم إثبات فاعلية نموذج واحد للمستويات الأربعة (تركيب أدلة أقسام 3.2 إلى 3.4) — لا ينطبق رابط خارجي — فُحص بتاريخ 2026-08-21 — [J حكم تحليلي].</a:t>
            </a:r>
          </a:p>
        </p:txBody>
      </p:sp>
      <p:sp>
        <p:nvSpPr>
          <p:cNvPr id="48" name="Rounded Rectangle 47"/>
          <p:cNvSpPr/>
          <p:nvPr/>
        </p:nvSpPr>
        <p:spPr>
          <a:xfrm>
            <a:off x="566928" y="8065516"/>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49" name="TextBox 48"/>
          <p:cNvSpPr txBox="1"/>
          <p:nvPr/>
        </p:nvSpPr>
        <p:spPr>
          <a:xfrm>
            <a:off x="969264" y="8056372"/>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[52] </a:t>
            </a:r>
            <a:r>
              <a:rPr sz="800" b="0">
                <a:solidFill>
                  <a:srgbClr val="474956"/>
                </a:solidFill>
                <a:latin typeface="Diodrum Arabic"/>
                <a:ea typeface="Diodrum Arabic"/>
                <a:cs typeface="Diodrum Arabic"/>
              </a:rPr>
              <a:t>وكالة الأنباء السعودية (واس) — «سدايا تقود حراك التطوير لتمكين القدرات الوطنية في البيانات والذكاء الاصطناعي» — — 2026-06-15 — فُحص بتاريخ 2026-08-21 — [R سجل مؤسسي رسمي].</a:t>
            </a:r>
          </a:p>
        </p:txBody>
      </p:sp>
      <p:sp>
        <p:nvSpPr>
          <p:cNvPr id="50" name="TextBox 49"/>
          <p:cNvSpPr txBox="1"/>
          <p:nvPr/>
        </p:nvSpPr>
        <p:spPr>
          <a:xfrm>
            <a:off x="969264" y="8334248"/>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6"/>
              </a:rPr>
              <a:t>https://www.spa.gov.sa/en/N2612574</a:t>
            </a:r>
          </a:p>
        </p:txBody>
      </p:sp>
      <p:sp>
        <p:nvSpPr>
          <p:cNvPr id="51" name="Rounded Rectangle 50"/>
          <p:cNvSpPr/>
          <p:nvPr/>
        </p:nvSpPr>
        <p:spPr>
          <a:xfrm>
            <a:off x="566928" y="8538718"/>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52" name="TextBox 51"/>
          <p:cNvSpPr txBox="1"/>
          <p:nvPr/>
        </p:nvSpPr>
        <p:spPr>
          <a:xfrm>
            <a:off x="969264" y="8529574"/>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[53] </a:t>
            </a:r>
            <a:r>
              <a:rPr sz="800" b="0">
                <a:solidFill>
                  <a:srgbClr val="474956"/>
                </a:solidFill>
                <a:latin typeface="Diodrum Arabic"/>
                <a:ea typeface="Diodrum Arabic"/>
                <a:cs typeface="Diodrum Arabic"/>
              </a:rPr>
              <a:t>وكالة الأنباء السعودية (واس) — «سدايا تدرب أكثر من 779 ألف مواطن وتؤهل 260 خبيراً وتمكّن 80 قائداً حكومياً في البيانات والذكاء الاصطناعي» — — 2025-05-05 — فُحص بتاريخ 2026-08-21 — [R سجل مؤسسي رسمي].</a:t>
            </a:r>
          </a:p>
        </p:txBody>
      </p:sp>
      <p:sp>
        <p:nvSpPr>
          <p:cNvPr id="53" name="TextBox 52"/>
          <p:cNvSpPr txBox="1"/>
          <p:nvPr/>
        </p:nvSpPr>
        <p:spPr>
          <a:xfrm>
            <a:off x="969264" y="8807450"/>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7"/>
              </a:rPr>
              <a:t>https://www.spa.gov.sa/en/N2311819</a:t>
            </a:r>
          </a:p>
        </p:txBody>
      </p:sp>
      <p:sp>
        <p:nvSpPr>
          <p:cNvPr id="54" name="Rounded Rectangle 53"/>
          <p:cNvSpPr/>
          <p:nvPr/>
        </p:nvSpPr>
        <p:spPr>
          <a:xfrm>
            <a:off x="566928" y="9011920"/>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55" name="TextBox 54"/>
          <p:cNvSpPr txBox="1"/>
          <p:nvPr/>
        </p:nvSpPr>
        <p:spPr>
          <a:xfrm>
            <a:off x="969264" y="9002776"/>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[54] </a:t>
            </a:r>
            <a:r>
              <a:rPr sz="800" b="0">
                <a:solidFill>
                  <a:srgbClr val="474956"/>
                </a:solidFill>
                <a:latin typeface="Diodrum Arabic"/>
                <a:ea typeface="Diodrum Arabic"/>
                <a:cs typeface="Diodrum Arabic"/>
              </a:rPr>
              <a:t>سعوديبيديا — «برنامج تنمية القدرات الحكومية الرقمية (قدراتك)» — — انطلق في 10 أكتوبر 2021 — فُحص بتاريخ 2026-08-21 — [R سجل مؤسسي رسمي].</a:t>
            </a:r>
          </a:p>
        </p:txBody>
      </p:sp>
      <p:sp>
        <p:nvSpPr>
          <p:cNvPr id="56" name="TextBox 55"/>
          <p:cNvSpPr txBox="1"/>
          <p:nvPr/>
        </p:nvSpPr>
        <p:spPr>
          <a:xfrm>
            <a:off x="969264" y="9280652"/>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8"/>
              </a:rPr>
              <a:t>https://saudipedia.com/en/digital-government-capacity-development-program</a:t>
            </a:r>
          </a:p>
        </p:txBody>
      </p:sp>
      <p:sp>
        <p:nvSpPr>
          <p:cNvPr id="57" name="Rounded Rectangle 56"/>
          <p:cNvSpPr/>
          <p:nvPr/>
        </p:nvSpPr>
        <p:spPr>
          <a:xfrm>
            <a:off x="566928" y="9485121"/>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58" name="TextBox 57"/>
          <p:cNvSpPr txBox="1"/>
          <p:nvPr/>
        </p:nvSpPr>
        <p:spPr>
          <a:xfrm>
            <a:off x="969264" y="9475978"/>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[55] </a:t>
            </a:r>
            <a:r>
              <a:rPr sz="800" b="0">
                <a:solidFill>
                  <a:srgbClr val="474956"/>
                </a:solidFill>
                <a:latin typeface="Diodrum Arabic"/>
                <a:ea typeface="Diodrum Arabic"/>
                <a:cs typeface="Diodrum Arabic"/>
              </a:rPr>
              <a:t>وكالة الأنباء السعودية (واس) — «سدايا تشارك في برنامج بجامعة ستانفورد لتعزيز القيادة العالمية في الذكاء الاصطناعي» — — 2025-11-19 — فُحص بتاريخ 2026-08-21 — [R سجل مؤسسي رسمي].</a:t>
            </a:r>
          </a:p>
        </p:txBody>
      </p:sp>
      <p:sp>
        <p:nvSpPr>
          <p:cNvPr id="59" name="TextBox 58"/>
          <p:cNvSpPr txBox="1"/>
          <p:nvPr/>
        </p:nvSpPr>
        <p:spPr>
          <a:xfrm>
            <a:off x="969264" y="9753853"/>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9"/>
              </a:rPr>
              <a:t>https://www.spa.gov.sa/en/N2447957</a:t>
            </a:r>
          </a:p>
        </p:txBody>
      </p:sp>
      <p:sp>
        <p:nvSpPr>
          <p:cNvPr id="60" name="Rectangle 59"/>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62" name="TextBox 61"/>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l">
              <a:lnSpc>
                <a:spcPts val="1218"/>
              </a:lnSpc>
            </a:pPr>
            <a:r>
              <a:rPr sz="1050" b="0" spc="90">
                <a:solidFill>
                  <a:srgbClr val="7C32C9"/>
                </a:solidFill>
                <a:latin typeface="Diodrum Arabic SemiBold"/>
                <a:ea typeface="Diodrum Arabic SemiBold"/>
                <a:cs typeface="Diodrum Arabic SemiBold"/>
              </a:rPr>
              <a:t>REFERENCES — CONTINUED</a:t>
            </a:r>
          </a:p>
        </p:txBody>
      </p:sp>
      <p:sp>
        <p:nvSpPr>
          <p:cNvPr id="3" name="TextBox 2"/>
          <p:cNvSpPr txBox="1"/>
          <p:nvPr/>
        </p:nvSpPr>
        <p:spPr>
          <a:xfrm>
            <a:off x="566928" y="730758"/>
            <a:ext cx="6428231" cy="253745"/>
          </a:xfrm>
          <a:prstGeom prst="rect">
            <a:avLst/>
          </a:prstGeom>
          <a:noFill/>
        </p:spPr>
        <p:txBody>
          <a:bodyPr wrap="square" lIns="0" rIns="0" tIns="0" bIns="0">
            <a:spAutoFit/>
          </a:bodyPr>
          <a:lstStyle/>
          <a:p>
            <a:pPr algn="l">
              <a:lnSpc>
                <a:spcPts val="1709"/>
              </a:lnSpc>
            </a:pPr>
            <a:r>
              <a:rPr sz="1500" b="1">
                <a:solidFill>
                  <a:srgbClr val="232046"/>
                </a:solidFill>
                <a:latin typeface="Diodrum Arabic"/>
                <a:ea typeface="Diodrum Arabic"/>
                <a:cs typeface="Diodrum Arabic"/>
              </a:rPr>
              <a:t>Section sources [1] – [71]</a:t>
            </a:r>
          </a:p>
        </p:txBody>
      </p:sp>
      <p:sp>
        <p:nvSpPr>
          <p:cNvPr id="4" name="Rounded Rectangle 3"/>
          <p:cNvSpPr/>
          <p:nvPr/>
        </p:nvSpPr>
        <p:spPr>
          <a:xfrm>
            <a:off x="566928" y="1094232"/>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 name="TextBox 4"/>
          <p:cNvSpPr txBox="1"/>
          <p:nvPr/>
        </p:nvSpPr>
        <p:spPr>
          <a:xfrm>
            <a:off x="969264" y="1085088"/>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[56] </a:t>
            </a:r>
            <a:r>
              <a:rPr sz="800" b="0">
                <a:solidFill>
                  <a:srgbClr val="474956"/>
                </a:solidFill>
                <a:latin typeface="Diodrum Arabic"/>
                <a:ea typeface="Diodrum Arabic"/>
                <a:cs typeface="Diodrum Arabic"/>
              </a:rPr>
              <a:t>شركة رناد المجد التجارية — «ختام برنامج الذكاء الاصطناعي للقيادات وصناع القرار (نسخة استضافة جامعة الملك سعود)» — — 2026-04-16 — فُحص بتاريخ 2026-08-21 — [P إعلان مزوّد/جهة].</a:t>
            </a:r>
          </a:p>
        </p:txBody>
      </p:sp>
      <p:sp>
        <p:nvSpPr>
          <p:cNvPr id="6" name="TextBox 5"/>
          <p:cNvSpPr txBox="1"/>
          <p:nvPr/>
        </p:nvSpPr>
        <p:spPr>
          <a:xfrm>
            <a:off x="969264" y="1362964"/>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2"/>
              </a:rPr>
              <a:t>https://www.rmg-sa.com/en/conclusion-of-ai-for-leaders-and-decision-makers/</a:t>
            </a:r>
          </a:p>
        </p:txBody>
      </p:sp>
      <p:sp>
        <p:nvSpPr>
          <p:cNvPr id="7" name="Rounded Rectangle 6"/>
          <p:cNvSpPr/>
          <p:nvPr/>
        </p:nvSpPr>
        <p:spPr>
          <a:xfrm>
            <a:off x="566928" y="1567434"/>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8" name="TextBox 7"/>
          <p:cNvSpPr txBox="1"/>
          <p:nvPr/>
        </p:nvSpPr>
        <p:spPr>
          <a:xfrm>
            <a:off x="969264" y="1558290"/>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[57] </a:t>
            </a:r>
            <a:r>
              <a:rPr sz="800" b="0">
                <a:solidFill>
                  <a:srgbClr val="474956"/>
                </a:solidFill>
                <a:latin typeface="Diodrum Arabic"/>
                <a:ea typeface="Diodrum Arabic"/>
                <a:cs typeface="Diodrum Arabic"/>
              </a:rPr>
              <a:t>شركة رناد المجد التجارية — «ختام النسخة الأولى من البرنامج التدريبي» — — 2025-05-06 — فُحص بتاريخ 2026-08-21 — [P إعلان مزوّد/جهة].</a:t>
            </a:r>
          </a:p>
        </p:txBody>
      </p:sp>
      <p:sp>
        <p:nvSpPr>
          <p:cNvPr id="9" name="TextBox 8"/>
          <p:cNvSpPr txBox="1"/>
          <p:nvPr/>
        </p:nvSpPr>
        <p:spPr>
          <a:xfrm>
            <a:off x="969264" y="1836166"/>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3"/>
              </a:rPr>
              <a:t>https://www.rmg-sa.com/en/concludes-the-first-of-its-kind-training-program/</a:t>
            </a:r>
          </a:p>
        </p:txBody>
      </p:sp>
      <p:sp>
        <p:nvSpPr>
          <p:cNvPr id="10" name="Rounded Rectangle 9"/>
          <p:cNvSpPr/>
          <p:nvPr/>
        </p:nvSpPr>
        <p:spPr>
          <a:xfrm>
            <a:off x="566928" y="2040635"/>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11" name="TextBox 10"/>
          <p:cNvSpPr txBox="1"/>
          <p:nvPr/>
        </p:nvSpPr>
        <p:spPr>
          <a:xfrm>
            <a:off x="969264" y="2031492"/>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[58] </a:t>
            </a:r>
            <a:r>
              <a:rPr sz="800" b="0">
                <a:solidFill>
                  <a:srgbClr val="474956"/>
                </a:solidFill>
                <a:latin typeface="Diodrum Arabic"/>
                <a:ea typeface="Diodrum Arabic"/>
                <a:cs typeface="Diodrum Arabic"/>
              </a:rPr>
              <a:t>جامعة الأمير سلطان — «إطلاق مسار واعد لتطوير القيادات بالشراكة مع أكاديمية تطوير القيادات بمعهد الإدارة العامة» — — 2024-11-27 — فُحص بتاريخ 2026-08-21 — [R سجل مؤسسي رسمي].</a:t>
            </a:r>
          </a:p>
        </p:txBody>
      </p:sp>
      <p:sp>
        <p:nvSpPr>
          <p:cNvPr id="12" name="TextBox 11"/>
          <p:cNvSpPr txBox="1"/>
          <p:nvPr/>
        </p:nvSpPr>
        <p:spPr>
          <a:xfrm>
            <a:off x="969264" y="2309368"/>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4"/>
              </a:rPr>
              <a:t>https://www.psau.edu.sa/dhr/en/news/waed-track-program-leadership-development-has-been-launched-partnership-leadership-development</a:t>
            </a:r>
          </a:p>
        </p:txBody>
      </p:sp>
      <p:sp>
        <p:nvSpPr>
          <p:cNvPr id="13" name="Rounded Rectangle 12"/>
          <p:cNvSpPr/>
          <p:nvPr/>
        </p:nvSpPr>
        <p:spPr>
          <a:xfrm>
            <a:off x="566928" y="2513838"/>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14" name="TextBox 13"/>
          <p:cNvSpPr txBox="1"/>
          <p:nvPr/>
        </p:nvSpPr>
        <p:spPr>
          <a:xfrm>
            <a:off x="969264" y="2504694"/>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[59] </a:t>
            </a:r>
            <a:r>
              <a:rPr sz="800" b="0">
                <a:solidFill>
                  <a:srgbClr val="474956"/>
                </a:solidFill>
                <a:latin typeface="Diodrum Arabic"/>
                <a:ea typeface="Diodrum Arabic"/>
                <a:cs typeface="Diodrum Arabic"/>
              </a:rPr>
              <a:t>هارفارد للتعلم المهني ومدى الحياة — AI in Action: Organizational Strategy for the Responsible Adoption of AI — — فُحص بتاريخ 2026-08-21 — [P إعلان مزوّد/جهة].</a:t>
            </a:r>
          </a:p>
        </p:txBody>
      </p:sp>
      <p:sp>
        <p:nvSpPr>
          <p:cNvPr id="15" name="TextBox 14"/>
          <p:cNvSpPr txBox="1"/>
          <p:nvPr/>
        </p:nvSpPr>
        <p:spPr>
          <a:xfrm>
            <a:off x="969264" y="2782570"/>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5"/>
              </a:rPr>
              <a:t>https://pll.harvard.edu/course/ai-action-organizational-strategy-responsible-adoption-ai</a:t>
            </a:r>
          </a:p>
        </p:txBody>
      </p:sp>
      <p:sp>
        <p:nvSpPr>
          <p:cNvPr id="16" name="Rounded Rectangle 15"/>
          <p:cNvSpPr/>
          <p:nvPr/>
        </p:nvSpPr>
        <p:spPr>
          <a:xfrm>
            <a:off x="566928" y="2987040"/>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17" name="TextBox 16"/>
          <p:cNvSpPr txBox="1"/>
          <p:nvPr/>
        </p:nvSpPr>
        <p:spPr>
          <a:xfrm>
            <a:off x="969264" y="2977896"/>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[60] </a:t>
            </a:r>
            <a:r>
              <a:rPr sz="800" b="0">
                <a:solidFill>
                  <a:srgbClr val="474956"/>
                </a:solidFill>
                <a:latin typeface="Diodrum Arabic"/>
                <a:ea typeface="Diodrum Arabic"/>
                <a:cs typeface="Diodrum Arabic"/>
              </a:rPr>
              <a:t>المكتب الإعلامي لحكومة الإمارات — مدرسة محمد بن راشد للحكومة تطلق برنامج القيادة الحكومية «على درب محمد بن راشد» — — 2026-04-01 — فُحص بتاريخ 2026-08-21 — [R سجل مؤسسي رسمي].</a:t>
            </a:r>
          </a:p>
        </p:txBody>
      </p:sp>
      <p:sp>
        <p:nvSpPr>
          <p:cNvPr id="18" name="TextBox 17"/>
          <p:cNvSpPr txBox="1"/>
          <p:nvPr/>
        </p:nvSpPr>
        <p:spPr>
          <a:xfrm>
            <a:off x="969264" y="3255772"/>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6"/>
              </a:rPr>
              <a:t>https://www.mediaoffice.ae/en/news/2026/april/01-04/mbrsg-launches-government-leadership-programme-on-the-path-of-mohammed-bin-rashid</a:t>
            </a:r>
          </a:p>
        </p:txBody>
      </p:sp>
      <p:sp>
        <p:nvSpPr>
          <p:cNvPr id="19" name="Rounded Rectangle 18"/>
          <p:cNvSpPr/>
          <p:nvPr/>
        </p:nvSpPr>
        <p:spPr>
          <a:xfrm>
            <a:off x="566928" y="3460242"/>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20" name="TextBox 19"/>
          <p:cNvSpPr txBox="1"/>
          <p:nvPr/>
        </p:nvSpPr>
        <p:spPr>
          <a:xfrm>
            <a:off x="969264" y="3451098"/>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[61] </a:t>
            </a:r>
            <a:r>
              <a:rPr sz="800" b="0">
                <a:solidFill>
                  <a:srgbClr val="474956"/>
                </a:solidFill>
                <a:latin typeface="Diodrum Arabic"/>
                <a:ea typeface="Diodrum Arabic"/>
                <a:cs typeface="Diodrum Arabic"/>
              </a:rPr>
              <a:t>ExecutiveCourses.com — قائمة التعليم التنفيذي بكلية أكسفورد سعيد (برنامج أكسفورد للذكاء الاصطناعي: 2,450 جنيهاً إسترلينياً) — — فُحص بتاريخ 2026-08-21 — [P إعلان مزوّد/جهة].</a:t>
            </a:r>
          </a:p>
        </p:txBody>
      </p:sp>
      <p:sp>
        <p:nvSpPr>
          <p:cNvPr id="21" name="TextBox 20"/>
          <p:cNvSpPr txBox="1"/>
          <p:nvPr/>
        </p:nvSpPr>
        <p:spPr>
          <a:xfrm>
            <a:off x="969264" y="3728974"/>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7"/>
              </a:rPr>
              <a:t>https://executivecourses.com/schools/uk-ireland/uk/university-of-oxford-said-business-school-executive-education</a:t>
            </a:r>
          </a:p>
        </p:txBody>
      </p:sp>
      <p:sp>
        <p:nvSpPr>
          <p:cNvPr id="22" name="Rounded Rectangle 21"/>
          <p:cNvSpPr/>
          <p:nvPr/>
        </p:nvSpPr>
        <p:spPr>
          <a:xfrm>
            <a:off x="566928" y="3933444"/>
            <a:ext cx="310896" cy="173736"/>
          </a:xfrm>
          <a:prstGeom prst="roundRect">
            <a:avLst>
              <a:gd name="adj" fmla="val 26315"/>
            </a:avLst>
          </a:prstGeom>
          <a:solidFill>
            <a:srgbClr val="23204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J</a:t>
            </a:r>
          </a:p>
        </p:txBody>
      </p:sp>
      <p:sp>
        <p:nvSpPr>
          <p:cNvPr id="23" name="TextBox 22"/>
          <p:cNvSpPr txBox="1"/>
          <p:nvPr/>
        </p:nvSpPr>
        <p:spPr>
          <a:xfrm>
            <a:off x="969264" y="3924300"/>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[62] </a:t>
            </a:r>
            <a:r>
              <a:rPr sz="800" b="0">
                <a:solidFill>
                  <a:srgbClr val="474956"/>
                </a:solidFill>
                <a:latin typeface="Diodrum Arabic"/>
                <a:ea typeface="Diodrum Arabic"/>
                <a:cs typeface="Diodrum Arabic"/>
              </a:rPr>
              <a:t>حكم تحليلي للدراسة — حكم الفرضيات حول التوافر المتدرج وطبيعة الفجوة التقديمية (تركيب أدلة المقارنة الدولية وتجارب الدول) — لا ينطبق رابط خارجي — فُحص بتاريخ 2026-08-21 — [J حكم تحليلي].</a:t>
            </a:r>
          </a:p>
        </p:txBody>
      </p:sp>
      <p:sp>
        <p:nvSpPr>
          <p:cNvPr id="24" name="Rounded Rectangle 23"/>
          <p:cNvSpPr/>
          <p:nvPr/>
        </p:nvSpPr>
        <p:spPr>
          <a:xfrm>
            <a:off x="566928" y="4279900"/>
            <a:ext cx="310896" cy="173736"/>
          </a:xfrm>
          <a:prstGeom prst="roundRect">
            <a:avLst>
              <a:gd name="adj" fmla="val 26315"/>
            </a:avLst>
          </a:prstGeom>
          <a:solidFill>
            <a:srgbClr val="23204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J</a:t>
            </a:r>
          </a:p>
        </p:txBody>
      </p:sp>
      <p:sp>
        <p:nvSpPr>
          <p:cNvPr id="25" name="TextBox 24"/>
          <p:cNvSpPr txBox="1"/>
          <p:nvPr/>
        </p:nvSpPr>
        <p:spPr>
          <a:xfrm>
            <a:off x="969264" y="4270756"/>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[63] </a:t>
            </a:r>
            <a:r>
              <a:rPr sz="800" b="0">
                <a:solidFill>
                  <a:srgbClr val="474956"/>
                </a:solidFill>
                <a:latin typeface="Diodrum Arabic"/>
                <a:ea typeface="Diodrum Arabic"/>
                <a:cs typeface="Diodrum Arabic"/>
              </a:rPr>
              <a:t>حكم تحليلي للدراسة — تدرج المسارات الأربعة، ومنطق النواة المشتركة، وإطار القياس من ست خطوات، وحجم الفوج الوزاري المقترح — لا ينطبق رابط خارجي — فُحص بتاريخ 2026-08-21 — [J حكم تحليلي].</a:t>
            </a:r>
          </a:p>
        </p:txBody>
      </p:sp>
      <p:sp>
        <p:nvSpPr>
          <p:cNvPr id="26" name="Rounded Rectangle 25"/>
          <p:cNvSpPr/>
          <p:nvPr/>
        </p:nvSpPr>
        <p:spPr>
          <a:xfrm>
            <a:off x="566928" y="4626356"/>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27" name="TextBox 26"/>
          <p:cNvSpPr txBox="1"/>
          <p:nvPr/>
        </p:nvSpPr>
        <p:spPr>
          <a:xfrm>
            <a:off x="969264" y="4617212"/>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[64] </a:t>
            </a:r>
            <a:r>
              <a:rPr sz="800" b="0">
                <a:solidFill>
                  <a:srgbClr val="474956"/>
                </a:solidFill>
                <a:latin typeface="Diodrum Arabic"/>
                <a:ea typeface="Diodrum Arabic"/>
                <a:cs typeface="Diodrum Arabic"/>
              </a:rPr>
              <a:t>Windsor Leadership — «نظرة عامة على البرامج» (قاعدة تشاثام هاوس؛ مشارك واحد من كل جهة؛ متابعة حتى ستة أشهر) — — فُحص بتاريخ 2026-08-21 — [P إعلان مزوّد/جهة].</a:t>
            </a:r>
          </a:p>
        </p:txBody>
      </p:sp>
      <p:sp>
        <p:nvSpPr>
          <p:cNvPr id="28" name="TextBox 27"/>
          <p:cNvSpPr txBox="1"/>
          <p:nvPr/>
        </p:nvSpPr>
        <p:spPr>
          <a:xfrm>
            <a:off x="969264" y="4895088"/>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8"/>
              </a:rPr>
              <a:t>https://windsorleadership.org.uk/programmes-overview</a:t>
            </a:r>
          </a:p>
        </p:txBody>
      </p:sp>
      <p:sp>
        <p:nvSpPr>
          <p:cNvPr id="29" name="Rounded Rectangle 28"/>
          <p:cNvSpPr/>
          <p:nvPr/>
        </p:nvSpPr>
        <p:spPr>
          <a:xfrm>
            <a:off x="566928" y="5099558"/>
            <a:ext cx="310896" cy="173736"/>
          </a:xfrm>
          <a:prstGeom prst="roundRect">
            <a:avLst>
              <a:gd name="adj" fmla="val 26315"/>
            </a:avLst>
          </a:prstGeom>
          <a:solidFill>
            <a:srgbClr val="C845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T</a:t>
            </a:r>
          </a:p>
        </p:txBody>
      </p:sp>
      <p:sp>
        <p:nvSpPr>
          <p:cNvPr id="30" name="TextBox 29"/>
          <p:cNvSpPr txBox="1"/>
          <p:nvPr/>
        </p:nvSpPr>
        <p:spPr>
          <a:xfrm>
            <a:off x="969264" y="5090414"/>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[65] </a:t>
            </a:r>
            <a:r>
              <a:rPr sz="800" b="0">
                <a:solidFill>
                  <a:srgbClr val="474956"/>
                </a:solidFill>
                <a:latin typeface="Diodrum Arabic"/>
                <a:ea typeface="Diodrum Arabic"/>
                <a:cs typeface="Diodrum Arabic"/>
              </a:rPr>
              <a:t>تقدير استرشادي للدراسة — هيكل كلفة البرنامج المخصص وحصص مكوناته وسيناريو فوج الثلاثين (من 45 ألفاً إلى 94 ألف ريال للمشارك؛ من 1.35 إلى 2.8 مليون ريال للفوج) وبند الحوكمة والسرية — لا ينطبق رابط خارجي — فُحص بتاريخ 2026-08-21 — [T تقدير استرشادي].</a:t>
            </a:r>
          </a:p>
        </p:txBody>
      </p:sp>
      <p:sp>
        <p:nvSpPr>
          <p:cNvPr id="31" name="Rounded Rectangle 30"/>
          <p:cNvSpPr/>
          <p:nvPr/>
        </p:nvSpPr>
        <p:spPr>
          <a:xfrm>
            <a:off x="566928" y="5446014"/>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32" name="TextBox 31"/>
          <p:cNvSpPr txBox="1"/>
          <p:nvPr/>
        </p:nvSpPr>
        <p:spPr>
          <a:xfrm>
            <a:off x="969264" y="5436870"/>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[66] </a:t>
            </a:r>
            <a:r>
              <a:rPr sz="800" b="0">
                <a:solidFill>
                  <a:srgbClr val="474956"/>
                </a:solidFill>
                <a:latin typeface="Diodrum Arabic"/>
                <a:ea typeface="Diodrum Arabic"/>
                <a:cs typeface="Diodrum Arabic"/>
              </a:rPr>
              <a:t>جامعة ولاية بنسلفانيا — أطروحة دكتوراه (سبيرلي، 2006) تتضمن مسحاً لاستثمارات التعليم التنفيذي المخصص (من أقل من 100 ألف دولار إلى مليوني دولار للارتباط) — — فُحص بتاريخ 2026-08-21 — [S إحصاء/مسح].</a:t>
            </a:r>
          </a:p>
        </p:txBody>
      </p:sp>
      <p:sp>
        <p:nvSpPr>
          <p:cNvPr id="33" name="TextBox 32"/>
          <p:cNvSpPr txBox="1"/>
          <p:nvPr/>
        </p:nvSpPr>
        <p:spPr>
          <a:xfrm>
            <a:off x="969264" y="5714746"/>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9"/>
              </a:rPr>
              <a:t>https://etda.libraries.psu.edu/files/final_submissions/2804</a:t>
            </a:r>
          </a:p>
        </p:txBody>
      </p:sp>
      <p:sp>
        <p:nvSpPr>
          <p:cNvPr id="34" name="Rounded Rectangle 33"/>
          <p:cNvSpPr/>
          <p:nvPr/>
        </p:nvSpPr>
        <p:spPr>
          <a:xfrm>
            <a:off x="566928" y="5919216"/>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5" name="TextBox 34"/>
          <p:cNvSpPr txBox="1"/>
          <p:nvPr/>
        </p:nvSpPr>
        <p:spPr>
          <a:xfrm>
            <a:off x="969264" y="5910072"/>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[67] </a:t>
            </a:r>
            <a:r>
              <a:rPr sz="800" b="0">
                <a:solidFill>
                  <a:srgbClr val="474956"/>
                </a:solidFill>
                <a:latin typeface="Diodrum Arabic"/>
                <a:ea typeface="Diodrum Arabic"/>
                <a:cs typeface="Diodrum Arabic"/>
              </a:rPr>
              <a:t>XED Institute / Global Horizons — نشرة اكتتاب (DRHP): متوسط نطاق البرامج التنفيذية الجامعية العليا من 2,000 إلى 50,000 دولار للمشارك — — 2025-08 — فُحص بتاريخ 2026-08-21 — [R سجل مؤسسي رسمي].</a:t>
            </a:r>
          </a:p>
        </p:txBody>
      </p:sp>
      <p:sp>
        <p:nvSpPr>
          <p:cNvPr id="36" name="TextBox 35"/>
          <p:cNvSpPr txBox="1"/>
          <p:nvPr/>
        </p:nvSpPr>
        <p:spPr>
          <a:xfrm>
            <a:off x="969264" y="6187948"/>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0"/>
              </a:rPr>
              <a:t>https://xedinstitute.org/wp-content/uploads/2025/08/DRHP-Aug-Final-12.08.25.pdf</a:t>
            </a:r>
          </a:p>
        </p:txBody>
      </p:sp>
      <p:sp>
        <p:nvSpPr>
          <p:cNvPr id="37" name="Rounded Rectangle 36"/>
          <p:cNvSpPr/>
          <p:nvPr/>
        </p:nvSpPr>
        <p:spPr>
          <a:xfrm>
            <a:off x="566928" y="6392418"/>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38" name="TextBox 37"/>
          <p:cNvSpPr txBox="1"/>
          <p:nvPr/>
        </p:nvSpPr>
        <p:spPr>
          <a:xfrm>
            <a:off x="969264" y="6383274"/>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[68] </a:t>
            </a:r>
            <a:r>
              <a:rPr sz="800" b="0">
                <a:solidFill>
                  <a:srgbClr val="474956"/>
                </a:solidFill>
                <a:latin typeface="Diodrum Arabic"/>
                <a:ea typeface="Diodrum Arabic"/>
                <a:cs typeface="Diodrum Arabic"/>
              </a:rPr>
              <a:t>Poets&amp;Quants For Execs — «IMD يعيد تصور الوضع الطبيعي الجديد» (البرنامج نفسه بـ10,900 فرنك سويسري حضورياً و4,900 افتراضياً) — — 2022-06-11 — فُحص بتاريخ 2026-08-21 — [N تغطية صحفية معتبرة].</a:t>
            </a:r>
          </a:p>
        </p:txBody>
      </p:sp>
      <p:sp>
        <p:nvSpPr>
          <p:cNvPr id="39" name="TextBox 38"/>
          <p:cNvSpPr txBox="1"/>
          <p:nvPr/>
        </p:nvSpPr>
        <p:spPr>
          <a:xfrm>
            <a:off x="969264" y="6661150"/>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1"/>
              </a:rPr>
              <a:t>https://poetsandquantsforexecs.com/exec-ed/imd-reimagines-a-new-normal-in-executive-education/</a:t>
            </a:r>
          </a:p>
        </p:txBody>
      </p:sp>
      <p:sp>
        <p:nvSpPr>
          <p:cNvPr id="40" name="Rounded Rectangle 39"/>
          <p:cNvSpPr/>
          <p:nvPr/>
        </p:nvSpPr>
        <p:spPr>
          <a:xfrm>
            <a:off x="566928" y="6865620"/>
            <a:ext cx="310896" cy="173736"/>
          </a:xfrm>
          <a:prstGeom prst="roundRect">
            <a:avLst>
              <a:gd name="adj" fmla="val 26315"/>
            </a:avLst>
          </a:prstGeom>
          <a:solidFill>
            <a:srgbClr val="C845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T</a:t>
            </a:r>
          </a:p>
        </p:txBody>
      </p:sp>
      <p:sp>
        <p:nvSpPr>
          <p:cNvPr id="41" name="TextBox 40"/>
          <p:cNvSpPr txBox="1"/>
          <p:nvPr/>
        </p:nvSpPr>
        <p:spPr>
          <a:xfrm>
            <a:off x="969264" y="6856476"/>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[69] </a:t>
            </a:r>
            <a:r>
              <a:rPr sz="800" b="0">
                <a:solidFill>
                  <a:srgbClr val="474956"/>
                </a:solidFill>
                <a:latin typeface="Diodrum Arabic"/>
                <a:ea typeface="Diodrum Arabic"/>
                <a:cs typeface="Diodrum Arabic"/>
              </a:rPr>
              <a:t>تقدير استرشادي للدراسة — حساب اختبار المقاعد الأربعة (20,400 دولار سنغافوري، ما يعادل تقريباً 60 ألف ريال قبل الضريبة) والتنبيه المحاسبي بعدم ضرب رسوم المقعد في حجم الفوج — لا ينطبق رابط خارجي — فُحص بتاريخ 2026-08-21 — [T تقدير استرشادي].</a:t>
            </a:r>
          </a:p>
        </p:txBody>
      </p:sp>
      <p:sp>
        <p:nvSpPr>
          <p:cNvPr id="42" name="Rounded Rectangle 41"/>
          <p:cNvSpPr/>
          <p:nvPr/>
        </p:nvSpPr>
        <p:spPr>
          <a:xfrm>
            <a:off x="566928" y="7212076"/>
            <a:ext cx="310896" cy="173736"/>
          </a:xfrm>
          <a:prstGeom prst="roundRect">
            <a:avLst>
              <a:gd name="adj" fmla="val 26315"/>
            </a:avLst>
          </a:prstGeom>
          <a:solidFill>
            <a:srgbClr val="23204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J</a:t>
            </a:r>
          </a:p>
        </p:txBody>
      </p:sp>
      <p:sp>
        <p:nvSpPr>
          <p:cNvPr id="43" name="TextBox 42"/>
          <p:cNvSpPr txBox="1"/>
          <p:nvPr/>
        </p:nvSpPr>
        <p:spPr>
          <a:xfrm>
            <a:off x="969264" y="7202932"/>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[70] </a:t>
            </a:r>
            <a:r>
              <a:rPr sz="800" b="0">
                <a:solidFill>
                  <a:srgbClr val="474956"/>
                </a:solidFill>
                <a:latin typeface="Diodrum Arabic"/>
                <a:ea typeface="Diodrum Arabic"/>
                <a:cs typeface="Diodrum Arabic"/>
              </a:rPr>
              <a:t>حكم تحليلي للدراسة — تقسيم ما يُستفاد منه دولياً وما يبقى مملوكاً محلياً — لا ينطبق رابط خارجي — فُحص بتاريخ 2026-08-21 — [J حكم تحليلي].</a:t>
            </a:r>
          </a:p>
        </p:txBody>
      </p:sp>
      <p:sp>
        <p:nvSpPr>
          <p:cNvPr id="44" name="Rounded Rectangle 43"/>
          <p:cNvSpPr/>
          <p:nvPr/>
        </p:nvSpPr>
        <p:spPr>
          <a:xfrm>
            <a:off x="566928" y="7558532"/>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45" name="TextBox 44"/>
          <p:cNvSpPr txBox="1"/>
          <p:nvPr/>
        </p:nvSpPr>
        <p:spPr>
          <a:xfrm>
            <a:off x="969264" y="7549388"/>
            <a:ext cx="6025896" cy="300736"/>
          </a:xfrm>
          <a:prstGeom prst="rect">
            <a:avLst/>
          </a:prstGeom>
          <a:noFill/>
        </p:spPr>
        <p:txBody>
          <a:bodyPr wrap="square" lIns="0" rIns="0" tIns="0" bIns="0">
            <a:spAutoFit/>
          </a:bodyPr>
          <a:lstStyle/>
          <a:p>
            <a:pPr algn="l">
              <a:lnSpc>
                <a:spcPts val="1040"/>
              </a:lnSpc>
            </a:pPr>
            <a:r>
              <a:rPr sz="800" b="0">
                <a:solidFill>
                  <a:srgbClr val="7C32C9"/>
                </a:solidFill>
                <a:latin typeface="Diodrum Arabic SemiBold"/>
                <a:ea typeface="Diodrum Arabic SemiBold"/>
                <a:cs typeface="Diodrum Arabic SemiBold"/>
              </a:rPr>
              <a:t>[71] </a:t>
            </a:r>
            <a:r>
              <a:rPr sz="800" b="0">
                <a:solidFill>
                  <a:srgbClr val="474956"/>
                </a:solidFill>
                <a:latin typeface="Diodrum Arabic"/>
                <a:ea typeface="Diodrum Arabic"/>
                <a:cs typeface="Diodrum Arabic"/>
              </a:rPr>
              <a:t>قازإنفورم — «كبار التنفيذيين الكازاخ يتدربون مع أساتذة من ستانفورد وأكاديمية OpenAI» — — 2026-04-09 — فُحص بتاريخ 2026-08-21 — [N تغطية صحفية معتبرة].</a:t>
            </a:r>
          </a:p>
        </p:txBody>
      </p:sp>
      <p:sp>
        <p:nvSpPr>
          <p:cNvPr id="46" name="TextBox 45"/>
          <p:cNvSpPr txBox="1"/>
          <p:nvPr/>
        </p:nvSpPr>
        <p:spPr>
          <a:xfrm>
            <a:off x="969264" y="7827264"/>
            <a:ext cx="6025896" cy="164592"/>
          </a:xfrm>
          <a:prstGeom prst="rect">
            <a:avLst/>
          </a:prstGeom>
          <a:noFill/>
        </p:spPr>
        <p:txBody>
          <a:bodyPr wrap="square" lIns="0" rIns="0" tIns="0" bIns="0">
            <a:spAutoFit/>
          </a:bodyPr>
          <a:lstStyle/>
          <a:p>
            <a:pPr algn="l">
              <a:lnSpc>
                <a:spcPts val="853"/>
              </a:lnSpc>
            </a:pPr>
            <a:r>
              <a:rPr sz="700" b="0">
                <a:solidFill>
                  <a:srgbClr val="00ABAF"/>
                </a:solidFill>
                <a:latin typeface="Diodrum Arabic"/>
                <a:ea typeface="Diodrum Arabic"/>
                <a:cs typeface="Diodrum Arabic"/>
                <a:hlinkClick r:id="rId12"/>
              </a:rPr>
              <a:t>https://qazinform.com/news/top-kazakhstani-executives-to-undergo-ai-training-with-professors-from-stanford-openai-academy-bf9f94</a:t>
            </a:r>
          </a:p>
        </p:txBody>
      </p:sp>
      <p:sp>
        <p:nvSpPr>
          <p:cNvPr id="47" name="Rectangle 46"/>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6928" y="10204704"/>
            <a:ext cx="3657600" cy="164592"/>
          </a:xfrm>
          <a:prstGeom prst="rect">
            <a:avLst/>
          </a:prstGeom>
          <a:noFill/>
        </p:spPr>
        <p:txBody>
          <a:bodyPr wrap="square" lIns="0" rIns="0" tIns="0" bIns="0">
            <a:spAutoFit/>
          </a:bodyPr>
          <a:lstStyle/>
          <a:p>
            <a:pPr algn="l">
              <a:lnSpc>
                <a:spcPts val="753"/>
              </a:lnSpc>
            </a:pPr>
            <a:r>
              <a:rPr sz="650" b="0">
                <a:solidFill>
                  <a:srgbClr val="8A8C94"/>
                </a:solidFill>
                <a:latin typeface="Diodrum Arabic"/>
                <a:ea typeface="Diodrum Arabic"/>
                <a:cs typeface="Diodrum Arabic"/>
              </a:rPr>
              <a:t>AI Leadership Development for Senior Government Leaders</a:t>
            </a:r>
          </a:p>
        </p:txBody>
      </p:sp>
      <p:sp>
        <p:nvSpPr>
          <p:cNvPr id="49" name="TextBox 48"/>
          <p:cNvSpPr txBox="1"/>
          <p:nvPr/>
        </p:nvSpPr>
        <p:spPr>
          <a:xfrm>
            <a:off x="6446520" y="10204704"/>
            <a:ext cx="548640" cy="164592"/>
          </a:xfrm>
          <a:prstGeom prst="rect">
            <a:avLst/>
          </a:prstGeom>
          <a:noFill/>
        </p:spPr>
        <p:txBody>
          <a:bodyPr wrap="square" lIns="0" rIns="0" tIns="0" bIns="0">
            <a:spAutoFit/>
          </a:bodyPr>
          <a:lstStyle/>
          <a:p>
            <a:pPr algn="r">
              <a:lnSpc>
                <a:spcPts val="811"/>
              </a:lnSpc>
            </a:pPr>
            <a:r>
              <a:rPr sz="700" b="0">
                <a:solidFill>
                  <a:srgbClr val="8A8C94"/>
                </a:solidFill>
                <a:latin typeface="Diodrum Arabic Medium"/>
                <a:ea typeface="Diodrum Arabic Medium"/>
                <a:cs typeface="Diodrum Arabic Medium"/>
              </a:rPr>
              <a:t>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