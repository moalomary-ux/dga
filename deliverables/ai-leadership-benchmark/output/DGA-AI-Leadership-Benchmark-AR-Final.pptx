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ckinsey.com/capabilities/quantumblack/our-insights/the-state-of-ai-how-organizations-are-rewiring-to-capture-value" TargetMode="External"/><Relationship Id="rId3" Type="http://schemas.openxmlformats.org/officeDocument/2006/relationships/hyperlink" Target="https://www.mckinsey.com/capabilities/quantumblack/our-insights/the-state-of-ai" TargetMode="External"/><Relationship Id="rId4" Type="http://schemas.openxmlformats.org/officeDocument/2006/relationships/hyperlink" Target="https://www.gartner.com/en/newsroom/press-releases/2025-05-06-gartner-survey-reveals-that-ceos-believe-their-executive-teams-lack-ai-savviness" TargetMode="External"/><Relationship Id="rId5" Type="http://schemas.openxmlformats.org/officeDocument/2006/relationships/hyperlink" Target="https://www.gartner.com/en/articles/2025-ceo-challenges" TargetMode="External"/><Relationship Id="rId6" Type="http://schemas.openxmlformats.org/officeDocument/2006/relationships/hyperlink" Target="https://www.gartner.com/en/newsroom/press-releases/2026-04-23-gartner-survey-reveals-80-percent-of-ceos-say-artificial-intelligence-will-force-operational-capability-overhauls" TargetMode="External"/><Relationship Id="rId7" Type="http://schemas.openxmlformats.org/officeDocument/2006/relationships/hyperlink" Target="https://www.deloitte.com/us/en/insights/industry/public-sector/use-of-ai-in-government.html" TargetMode="External"/><Relationship Id="rId8" Type="http://schemas.openxmlformats.org/officeDocument/2006/relationships/hyperlink" Target="https://www.accenture.com/sg-en/insights/public-service/experience-new-lens" TargetMode="External"/><Relationship Id="rId9" Type="http://schemas.openxmlformats.org/officeDocument/2006/relationships/hyperlink" Target="https://www.spa.gov.sa/en/N2174231" TargetMode="External"/><Relationship Id="rId10" Type="http://schemas.openxmlformats.org/officeDocument/2006/relationships/hyperlink" Target="https://www.spa.gov.sa/en/N2472986" TargetMode="External"/><Relationship Id="rId11" Type="http://schemas.openxmlformats.org/officeDocument/2006/relationships/hyperlink" Target="https://www.oecd.org/en/publications/building-an-ai-ready-public-workforce_b89244c7-en/full-report.html" TargetMode="External"/><Relationship Id="rId12" Type="http://schemas.openxmlformats.org/officeDocument/2006/relationships/hyperlink" Target="https://www.oecd.org/en/publications/2026/06/digital-government-outlook_4585678e/full-report/adopting-and-governing-ai-in-government_7ef312a9.html" TargetMode="External"/><Relationship Id="rId13" Type="http://schemas.openxmlformats.org/officeDocument/2006/relationships/hyperlink" Target="https://online.em.kellogg.northwestern.edu/c-suite-program-in-digital-transformation-and-ai" TargetMode="External"/><Relationship Id="rId14" Type="http://schemas.openxmlformats.org/officeDocument/2006/relationships/hyperlink" Target="https://executive-ed.xpro.mit.edu/ai-for-senior-executives-program" TargetMode="External"/><Relationship Id="rId15" Type="http://schemas.openxmlformats.org/officeDocument/2006/relationships/hyperlink" Target="https://www.jbs.cam.ac.uk/executive-education/artificial-intelligence-ai/cambridge-ai-leadership-programm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icenterforgovernment.org/ai-government-leadership-program/" TargetMode="External"/><Relationship Id="rId3" Type="http://schemas.openxmlformats.org/officeDocument/2006/relationships/hyperlink" Target="https://www.gsa.gov/blog/2024/09/23/empowering-responsible-ai-the-ai-training-series-for-government-employees" TargetMode="External"/><Relationship Id="rId4" Type="http://schemas.openxmlformats.org/officeDocument/2006/relationships/hyperlink" Target="https://www.ipa.ie/courses/all-courses/artificial-intelligence-masterclass/" TargetMode="External"/><Relationship Id="rId5" Type="http://schemas.openxmlformats.org/officeDocument/2006/relationships/hyperlink" Target="https://www.darden.virginia.edu/executive-education/ai-essentials-government-leaders" TargetMode="External"/><Relationship Id="rId6" Type="http://schemas.openxmlformats.org/officeDocument/2006/relationships/hyperlink" Target="https://engineering.jhu.edu/ExecEd/course/ai-for-senior-leaders-online/" TargetMode="External"/><Relationship Id="rId7" Type="http://schemas.openxmlformats.org/officeDocument/2006/relationships/hyperlink" Target="https://lkyspp.nus.edu.sg/executive-education/programmes/ai-and-digital-transformation-for-public-policy-leaders/" TargetMode="External"/><Relationship Id="rId8" Type="http://schemas.openxmlformats.org/officeDocument/2006/relationships/hyperlink" Target="https://www.govexec.com/technology/2024/10/partnership-public-service-plans-ai-training-center-federal-employees-2025/400342/" TargetMode="External"/><Relationship Id="rId9" Type="http://schemas.openxmlformats.org/officeDocument/2006/relationships/hyperlink" Target="https://apolitical.co/pages/apolitical-receives-5-million-grant-from-googleorg-to-train-one-million-civil-servants-in-ai" TargetMode="External"/><Relationship Id="rId10" Type="http://schemas.openxmlformats.org/officeDocument/2006/relationships/hyperlink" Target="https://www.khaleejtimes.com/uae/approves-project-to-train-80000-employees-in-agentic-ai" TargetMode="External"/><Relationship Id="rId11" Type="http://schemas.openxmlformats.org/officeDocument/2006/relationships/hyperlink" Target="https://www.fahr.gov.ae/en/news/uae-government-announces-strategic-knowledge-partnership-with-mbzuai/" TargetMode="External"/><Relationship Id="rId12" Type="http://schemas.openxmlformats.org/officeDocument/2006/relationships/hyperlink" Target="https://mediaoffice.ae/en/news/2026/may/20-05/mohammed-bin-rashid-attends-national-retreat-showcasing-projects" TargetMode="External"/><Relationship Id="rId13" Type="http://schemas.openxmlformats.org/officeDocument/2006/relationships/hyperlink" Target="https://www.mddi.gov.sg/newsroom/launch-of-institute-of-digital-government/" TargetMode="External"/><Relationship Id="rId14" Type="http://schemas.openxmlformats.org/officeDocument/2006/relationships/hyperlink" Target="https://moderncivilservice.blog.gov.uk/2024/09/02/upskilling-senior-civil-servants-with-the-digital-excellence-programme/" TargetMode="External"/><Relationship Id="rId15" Type="http://schemas.openxmlformats.org/officeDocument/2006/relationships/hyperlink" Target="https://www.undp.org/ghana/press-releases/government-ghana-and-undp-kicks-ministerial-bootcamp-strengthen-ai-capacity-and-advance-ai-enabled-public-services" TargetMode="External"/><Relationship Id="rId16" Type="http://schemas.openxmlformats.org/officeDocument/2006/relationships/hyperlink" Target="https://academy.mbzuai.ac.ae/wp-content/uploads/2026/04/GAILP-Prospectus-April-2027.pdf" TargetMode="External"/><Relationship Id="rId17" Type="http://schemas.openxmlformats.org/officeDocument/2006/relationships/hyperlink" Target="https://mbzuai.ac.ae/news/mbzuais-global-ai-leadership-program-returns-with-expanded-second-edition/" TargetMode="External"/><Relationship Id="rId18" Type="http://schemas.openxmlformats.org/officeDocument/2006/relationships/hyperlink" Target="https://mbzuai.ac.ae/innovate/training-programs/mbzuai-executive-program/" TargetMode="External"/><Relationship Id="rId19" Type="http://schemas.openxmlformats.org/officeDocument/2006/relationships/hyperlink" Target="https://www.bsg.ox.ac.uk/course/leading-ai-through-co-creation" TargetMode="External"/><Relationship Id="rId20" Type="http://schemas.openxmlformats.org/officeDocument/2006/relationships/hyperlink" Target="https://www.hks.harvard.edu/educational-programs/executive-education/leading-artificial-intelligence"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mperial.ac.uk/research-and-innovation/the-forum/courses-for-policymakers/fellowships/" TargetMode="External"/><Relationship Id="rId3" Type="http://schemas.openxmlformats.org/officeDocument/2006/relationships/hyperlink" Target="https://blogs.imperial.ac.uk/the-forum/2025/10/21/from-theory-to-practice-how-20-civil-servants-are-building-ai-capability-across-government/" TargetMode="External"/><Relationship Id="rId4" Type="http://schemas.openxmlformats.org/officeDocument/2006/relationships/hyperlink" Target="https://www.gogradia.com/guides/open-enrollment-vs-custom-executive-education" TargetMode="External"/><Relationship Id="rId5" Type="http://schemas.openxmlformats.org/officeDocument/2006/relationships/hyperlink" Target="https://www.icf.com/clients/workforce/uk-civil-service-digital-excellence-programme-evaluation" TargetMode="External"/><Relationship Id="rId6" Type="http://schemas.openxmlformats.org/officeDocument/2006/relationships/hyperlink" Target="https://www.pib.gov.in/PressReleasePage.aspx?PRID=2294777&amp;reg=22&amp;lang=1" TargetMode="External"/><Relationship Id="rId7" Type="http://schemas.openxmlformats.org/officeDocument/2006/relationships/hyperlink" Target="https://en.kabar.kg/news/kazakhstan-starts-training-1st-cohort-of-ai-officers-for-public-sector/" TargetMode="External"/><Relationship Id="rId8" Type="http://schemas.openxmlformats.org/officeDocument/2006/relationships/hyperlink" Target="https://egyptinnovate.com/en/news/mcit-nta-co-launch-ai-for-government-organization-leaders-national-initiative" TargetMode="External"/><Relationship Id="rId9" Type="http://schemas.openxmlformats.org/officeDocument/2006/relationships/hyperlink" Target="https://www.digital.gov.au/ai/ai-in-government-policy/staff-training" TargetMode="External"/><Relationship Id="rId10" Type="http://schemas.openxmlformats.org/officeDocument/2006/relationships/hyperlink" Target="https://numerique.gouv.fr/sinformer/espace-presse/formation-des-agents-publics-au-num%C3%A9rique--l%C3%A9tat-lance-le-dispositif-pix-pour-la-fonction-publique-d%C3%A9tat/" TargetMode="External"/><Relationship Id="rId11" Type="http://schemas.openxmlformats.org/officeDocument/2006/relationships/hyperlink" Target="https://lexaraadvisory.com/article-4-ai-literacy-obligation.html" TargetMode="External"/><Relationship Id="rId12" Type="http://schemas.openxmlformats.org/officeDocument/2006/relationships/hyperlink" Target="https://www.globalgovernmentforum.com/united-arab-emirates-launches-training-programme-for-chief-ai-officers/" TargetMode="External"/><Relationship Id="rId13" Type="http://schemas.openxmlformats.org/officeDocument/2006/relationships/hyperlink" Target="https://apolitical.co/en/pages/apolitical-releases-new-learnings-report-from-training-public-servants-for-ai-governance" TargetMode="External"/><Relationship Id="rId14" Type="http://schemas.openxmlformats.org/officeDocument/2006/relationships/hyperlink" Target="https://moderncivilservice.blog.gov.uk/2025/10/14/one-big-thing-ai-for-all-is-live/" TargetMode="External"/><Relationship Id="rId15" Type="http://schemas.openxmlformats.org/officeDocument/2006/relationships/hyperlink" Target="https://www.ecofinagency.com/news-digital/1301-51886-rwanda-rolls-out-mandatory-ai-training-for-all-civil-servants" TargetMode="External"/><Relationship Id="rId16" Type="http://schemas.openxmlformats.org/officeDocument/2006/relationships/hyperlink" Target="https://www.spa.gov.sa/en/N2612574" TargetMode="External"/><Relationship Id="rId17" Type="http://schemas.openxmlformats.org/officeDocument/2006/relationships/hyperlink" Target="https://www.spa.gov.sa/en/N2311819" TargetMode="External"/><Relationship Id="rId18" Type="http://schemas.openxmlformats.org/officeDocument/2006/relationships/hyperlink" Target="https://saudipedia.com/en/digital-government-capacity-development-program" TargetMode="External"/><Relationship Id="rId19" Type="http://schemas.openxmlformats.org/officeDocument/2006/relationships/hyperlink" Target="https://www.spa.gov.sa/en/N2447957"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mg-sa.com/en/conclusion-of-ai-for-leaders-and-decision-makers/" TargetMode="External"/><Relationship Id="rId3" Type="http://schemas.openxmlformats.org/officeDocument/2006/relationships/hyperlink" Target="https://www.rmg-sa.com/en/concludes-the-first-of-its-kind-training-program/" TargetMode="External"/><Relationship Id="rId4" Type="http://schemas.openxmlformats.org/officeDocument/2006/relationships/hyperlink" Target="https://www.psau.edu.sa/dhr/en/news/waed-track-program-leadership-development-has-been-launched-partnership-leadership-development" TargetMode="External"/><Relationship Id="rId5" Type="http://schemas.openxmlformats.org/officeDocument/2006/relationships/hyperlink" Target="https://pll.harvard.edu/course/ai-action-organizational-strategy-responsible-adoption-ai" TargetMode="External"/><Relationship Id="rId6" Type="http://schemas.openxmlformats.org/officeDocument/2006/relationships/hyperlink" Target="https://www.mediaoffice.ae/en/news/2026/april/01-04/mbrsg-launches-government-leadership-programme-on-the-path-of-mohammed-bin-rashid" TargetMode="External"/><Relationship Id="rId7" Type="http://schemas.openxmlformats.org/officeDocument/2006/relationships/hyperlink" Target="https://executivecourses.com/schools/uk-ireland/uk/university-of-oxford-said-business-school-executive-education" TargetMode="External"/><Relationship Id="rId8" Type="http://schemas.openxmlformats.org/officeDocument/2006/relationships/hyperlink" Target="https://windsorleadership.org.uk/programmes-overview" TargetMode="External"/><Relationship Id="rId9" Type="http://schemas.openxmlformats.org/officeDocument/2006/relationships/hyperlink" Target="https://etda.libraries.psu.edu/files/final_submissions/2804" TargetMode="External"/><Relationship Id="rId10" Type="http://schemas.openxmlformats.org/officeDocument/2006/relationships/hyperlink" Target="https://xedinstitute.org/wp-content/uploads/2025/08/DRHP-Aug-Final-12.08.25.pdf" TargetMode="External"/><Relationship Id="rId11" Type="http://schemas.openxmlformats.org/officeDocument/2006/relationships/hyperlink" Target="https://poetsandquantsforexecs.com/exec-ed/imd-reimagines-a-new-normal-in-executive-education/" TargetMode="External"/><Relationship Id="rId12" Type="http://schemas.openxmlformats.org/officeDocument/2006/relationships/hyperlink" Target="https://qazinform.com/news/top-kazakhstani-executives-to-undergo-ai-training-with-professors-from-stanford-openai-academy-bf9f9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ayan-cover-bg.png"/>
          <p:cNvPicPr>
            <a:picLocks noChangeAspect="1"/>
          </p:cNvPicPr>
          <p:nvPr/>
        </p:nvPicPr>
        <p:blipFill>
          <a:blip r:embed="rId2"/>
          <a:stretch>
            <a:fillRect/>
          </a:stretch>
        </p:blipFill>
        <p:spPr>
          <a:xfrm>
            <a:off x="0" y="0"/>
            <a:ext cx="7562088" cy="10689336"/>
          </a:xfrm>
          <a:prstGeom prst="rect">
            <a:avLst/>
          </a:prstGeom>
        </p:spPr>
      </p:pic>
      <p:sp>
        <p:nvSpPr>
          <p:cNvPr id="3" name="Rounded Rectangle 2"/>
          <p:cNvSpPr/>
          <p:nvPr/>
        </p:nvSpPr>
        <p:spPr>
          <a:xfrm>
            <a:off x="3666753" y="3977639"/>
            <a:ext cx="3328406" cy="310896"/>
          </a:xfrm>
          <a:prstGeom prst="roundRect">
            <a:avLst>
              <a:gd name="adj" fmla="val 17647"/>
            </a:avLst>
          </a:prstGeom>
          <a:solidFill>
            <a:srgbClr val="1A144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950" b="0">
                <a:solidFill>
                  <a:srgbClr val="1CC182"/>
                </a:solidFill>
                <a:latin typeface="Diodrum Arabic SemiBold"/>
                <a:ea typeface="Diodrum Arabic SemiBold"/>
                <a:cs typeface="Diodrum Arabic SemiBold"/>
              </a:rPr>
              <a:t>دراسة معيارية استكشافية  ·  أغسطس 2026</a:t>
            </a:r>
          </a:p>
        </p:txBody>
      </p:sp>
      <p:sp>
        <p:nvSpPr>
          <p:cNvPr id="4" name="TextBox 3"/>
          <p:cNvSpPr txBox="1"/>
          <p:nvPr/>
        </p:nvSpPr>
        <p:spPr>
          <a:xfrm>
            <a:off x="566928" y="4526280"/>
            <a:ext cx="6428231" cy="486155"/>
          </a:xfrm>
          <a:prstGeom prst="rect">
            <a:avLst/>
          </a:prstGeom>
          <a:noFill/>
        </p:spPr>
        <p:txBody>
          <a:bodyPr wrap="square" lIns="0" rIns="0" tIns="0" bIns="0">
            <a:spAutoFit/>
          </a:bodyPr>
          <a:lstStyle/>
          <a:p>
            <a:pPr algn="r" rtl="1">
              <a:lnSpc>
                <a:spcPts val="3540"/>
              </a:lnSpc>
            </a:pPr>
            <a:r>
              <a:rPr sz="3000" b="1">
                <a:solidFill>
                  <a:srgbClr val="FFFFFF"/>
                </a:solidFill>
                <a:latin typeface="Diodrum Arabic"/>
                <a:ea typeface="Diodrum Arabic"/>
                <a:cs typeface="Diodrum Arabic"/>
              </a:rPr>
              <a:t>تطوير القيادات الحكومية العليا</a:t>
            </a:r>
          </a:p>
        </p:txBody>
      </p:sp>
      <p:sp>
        <p:nvSpPr>
          <p:cNvPr id="5" name="TextBox 4"/>
          <p:cNvSpPr txBox="1"/>
          <p:nvPr/>
        </p:nvSpPr>
        <p:spPr>
          <a:xfrm>
            <a:off x="566928" y="4994148"/>
            <a:ext cx="6428231" cy="486155"/>
          </a:xfrm>
          <a:prstGeom prst="rect">
            <a:avLst/>
          </a:prstGeom>
          <a:noFill/>
        </p:spPr>
        <p:txBody>
          <a:bodyPr wrap="square" lIns="0" rIns="0" tIns="0" bIns="0">
            <a:spAutoFit/>
          </a:bodyPr>
          <a:lstStyle/>
          <a:p>
            <a:pPr algn="r" rtl="1">
              <a:lnSpc>
                <a:spcPts val="3540"/>
              </a:lnSpc>
            </a:pPr>
            <a:r>
              <a:rPr sz="3000" b="1">
                <a:solidFill>
                  <a:srgbClr val="3DD6DA"/>
                </a:solidFill>
                <a:latin typeface="Diodrum Arabic"/>
                <a:ea typeface="Diodrum Arabic"/>
                <a:cs typeface="Diodrum Arabic"/>
              </a:rPr>
              <a:t>في الذكاء الاصطناعي</a:t>
            </a:r>
          </a:p>
        </p:txBody>
      </p:sp>
      <p:sp>
        <p:nvSpPr>
          <p:cNvPr id="6" name="TextBox 5"/>
          <p:cNvSpPr txBox="1"/>
          <p:nvPr/>
        </p:nvSpPr>
        <p:spPr>
          <a:xfrm>
            <a:off x="566928" y="5626608"/>
            <a:ext cx="6428231" cy="460121"/>
          </a:xfrm>
          <a:prstGeom prst="rect">
            <a:avLst/>
          </a:prstGeom>
          <a:noFill/>
        </p:spPr>
        <p:txBody>
          <a:bodyPr wrap="square" lIns="0" rIns="0" tIns="0" bIns="0">
            <a:spAutoFit/>
          </a:bodyPr>
          <a:lstStyle/>
          <a:p>
            <a:pPr algn="r" rtl="1">
              <a:lnSpc>
                <a:spcPts val="1667"/>
              </a:lnSpc>
            </a:pPr>
            <a:r>
              <a:rPr sz="1150" b="0">
                <a:solidFill>
                  <a:srgbClr val="E8E6F6"/>
                </a:solidFill>
                <a:latin typeface="Diodrum Arabic"/>
                <a:ea typeface="Diodrum Arabic"/>
                <a:cs typeface="Diodrum Arabic"/>
              </a:rPr>
              <a:t>مقارنة معيارية عالمية ومحلية ونموذج سعودي مقترح لأربعة مستويات قيادية — إعداد برنامج «قدراتك» في هيئة الحكومة الرقمية.</a:t>
            </a:r>
          </a:p>
        </p:txBody>
      </p:sp>
      <p:sp>
        <p:nvSpPr>
          <p:cNvPr id="7" name="Rectangle 6"/>
          <p:cNvSpPr/>
          <p:nvPr/>
        </p:nvSpPr>
        <p:spPr>
          <a:xfrm>
            <a:off x="566928" y="8732520"/>
            <a:ext cx="6428231" cy="9144"/>
          </a:xfrm>
          <a:prstGeom prst="rect">
            <a:avLst/>
          </a:prstGeom>
          <a:solidFill>
            <a:srgbClr val="4A4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52416" y="8878824"/>
            <a:ext cx="1959863" cy="352551"/>
          </a:xfrm>
          <a:prstGeom prst="rect">
            <a:avLst/>
          </a:prstGeom>
          <a:noFill/>
        </p:spPr>
        <p:txBody>
          <a:bodyPr wrap="square" lIns="0" rIns="0" tIns="0" bIns="0">
            <a:spAutoFit/>
          </a:bodyPr>
          <a:lstStyle/>
          <a:p>
            <a:pPr algn="r" rtl="1">
              <a:lnSpc>
                <a:spcPts val="927"/>
              </a:lnSpc>
            </a:pPr>
            <a:r>
              <a:rPr sz="800" b="0">
                <a:solidFill>
                  <a:srgbClr val="9E97C8"/>
                </a:solidFill>
                <a:latin typeface="Diodrum Arabic SemiBold"/>
                <a:ea typeface="Diodrum Arabic SemiBold"/>
                <a:cs typeface="Diodrum Arabic SemiBold"/>
              </a:rPr>
              <a:t>نوع الوثيقة</a:t>
            </a:r>
          </a:p>
          <a:p>
            <a:pPr algn="r" rtl="1">
              <a:lnSpc>
                <a:spcPts val="1160"/>
              </a:lnSpc>
              <a:spcBef>
                <a:spcPts val="400"/>
              </a:spcBef>
            </a:pPr>
            <a:r>
              <a:rPr sz="1000" b="0">
                <a:solidFill>
                  <a:srgbClr val="FFFFFF"/>
                </a:solidFill>
                <a:latin typeface="Diodrum Arabic"/>
                <a:ea typeface="Diodrum Arabic"/>
                <a:cs typeface="Diodrum Arabic"/>
              </a:rPr>
              <a:t>دراسة معيارية استكشافية</a:t>
            </a:r>
          </a:p>
        </p:txBody>
      </p:sp>
      <p:sp>
        <p:nvSpPr>
          <p:cNvPr id="9" name="TextBox 8"/>
          <p:cNvSpPr txBox="1"/>
          <p:nvPr/>
        </p:nvSpPr>
        <p:spPr>
          <a:xfrm>
            <a:off x="2709672" y="8878824"/>
            <a:ext cx="1959863" cy="352551"/>
          </a:xfrm>
          <a:prstGeom prst="rect">
            <a:avLst/>
          </a:prstGeom>
          <a:noFill/>
        </p:spPr>
        <p:txBody>
          <a:bodyPr wrap="square" lIns="0" rIns="0" tIns="0" bIns="0">
            <a:spAutoFit/>
          </a:bodyPr>
          <a:lstStyle/>
          <a:p>
            <a:pPr algn="r" rtl="1">
              <a:lnSpc>
                <a:spcPts val="927"/>
              </a:lnSpc>
            </a:pPr>
            <a:r>
              <a:rPr sz="800" b="0">
                <a:solidFill>
                  <a:srgbClr val="9E97C8"/>
                </a:solidFill>
                <a:latin typeface="Diodrum Arabic SemiBold"/>
                <a:ea typeface="Diodrum Arabic SemiBold"/>
                <a:cs typeface="Diodrum Arabic SemiBold"/>
              </a:rPr>
              <a:t>تاريخ الإصدار</a:t>
            </a:r>
          </a:p>
          <a:p>
            <a:pPr algn="r" rtl="1">
              <a:lnSpc>
                <a:spcPts val="1160"/>
              </a:lnSpc>
              <a:spcBef>
                <a:spcPts val="400"/>
              </a:spcBef>
            </a:pPr>
            <a:r>
              <a:rPr sz="1000" b="0">
                <a:solidFill>
                  <a:srgbClr val="FFFFFF"/>
                </a:solidFill>
                <a:latin typeface="Diodrum Arabic"/>
                <a:ea typeface="Diodrum Arabic"/>
                <a:cs typeface="Diodrum Arabic"/>
              </a:rPr>
              <a:t>أغسطس 2026</a:t>
            </a:r>
          </a:p>
        </p:txBody>
      </p:sp>
      <p:sp>
        <p:nvSpPr>
          <p:cNvPr id="10" name="TextBox 9"/>
          <p:cNvSpPr txBox="1"/>
          <p:nvPr/>
        </p:nvSpPr>
        <p:spPr>
          <a:xfrm>
            <a:off x="566928" y="8878824"/>
            <a:ext cx="1959863" cy="352551"/>
          </a:xfrm>
          <a:prstGeom prst="rect">
            <a:avLst/>
          </a:prstGeom>
          <a:noFill/>
        </p:spPr>
        <p:txBody>
          <a:bodyPr wrap="square" lIns="0" rIns="0" tIns="0" bIns="0">
            <a:spAutoFit/>
          </a:bodyPr>
          <a:lstStyle/>
          <a:p>
            <a:pPr algn="r" rtl="1">
              <a:lnSpc>
                <a:spcPts val="927"/>
              </a:lnSpc>
            </a:pPr>
            <a:r>
              <a:rPr sz="800" b="0">
                <a:solidFill>
                  <a:srgbClr val="9E97C8"/>
                </a:solidFill>
                <a:latin typeface="Diodrum Arabic SemiBold"/>
                <a:ea typeface="Diodrum Arabic SemiBold"/>
                <a:cs typeface="Diodrum Arabic SemiBold"/>
              </a:rPr>
              <a:t>الإصدار</a:t>
            </a:r>
          </a:p>
          <a:p>
            <a:pPr algn="r" rtl="1">
              <a:lnSpc>
                <a:spcPts val="1160"/>
              </a:lnSpc>
              <a:spcBef>
                <a:spcPts val="400"/>
              </a:spcBef>
            </a:pPr>
            <a:r>
              <a:rPr sz="1000" b="0">
                <a:solidFill>
                  <a:srgbClr val="FFFFFF"/>
                </a:solidFill>
                <a:latin typeface="Diodrum Arabic"/>
                <a:ea typeface="Diodrum Arabic"/>
                <a:cs typeface="Diodrum Arabic"/>
              </a:rPr>
              <a:t>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الملخص التنفيذي</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الدراسة في صفحة واحدة</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دراسة معدّة بتكليف من لجنة الذكاء الاصطناعي الحكومية عبر مسار التدريب [1]؛ وكل ما يلي مُسند بالأدلة في الأقسام اللاحقة.</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54196" y="1554988"/>
            <a:ext cx="3140963" cy="1234058"/>
          </a:xfrm>
          <a:prstGeom prst="roundRect">
            <a:avLst>
              <a:gd name="adj" fmla="val 666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01383" y="170129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00500" y="1820163"/>
            <a:ext cx="2848356"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سؤال واحد يقود الدراسة</a:t>
            </a:r>
          </a:p>
        </p:txBody>
      </p:sp>
      <p:sp>
        <p:nvSpPr>
          <p:cNvPr id="9" name="TextBox 8"/>
          <p:cNvSpPr txBox="1"/>
          <p:nvPr/>
        </p:nvSpPr>
        <p:spPr>
          <a:xfrm>
            <a:off x="4000500" y="2046858"/>
            <a:ext cx="2848356" cy="483488"/>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ما البرامج المتاحة عالمياً ومحلياً لتدريب القيادات الحكومية العليا على الذكاء الاصطناعي؟ وما التجارب التي نفذتها الحكومات؟ وما الذي ينبغي للمملكة أن تتعلمه وتكيّفه وتبنيه؟</a:t>
            </a:r>
          </a:p>
        </p:txBody>
      </p:sp>
      <p:sp>
        <p:nvSpPr>
          <p:cNvPr id="10" name="Rounded Rectangle 9"/>
          <p:cNvSpPr/>
          <p:nvPr/>
        </p:nvSpPr>
        <p:spPr>
          <a:xfrm>
            <a:off x="566928" y="1554988"/>
            <a:ext cx="3140963" cy="1234058"/>
          </a:xfrm>
          <a:prstGeom prst="roundRect">
            <a:avLst>
              <a:gd name="adj" fmla="val 666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14115" y="170129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820163"/>
            <a:ext cx="2848356" cy="199263"/>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أربعة مستويات لا جمهور واحد</a:t>
            </a:r>
          </a:p>
        </p:txBody>
      </p:sp>
      <p:sp>
        <p:nvSpPr>
          <p:cNvPr id="13" name="TextBox 12"/>
          <p:cNvSpPr txBox="1"/>
          <p:nvPr/>
        </p:nvSpPr>
        <p:spPr>
          <a:xfrm>
            <a:off x="713232" y="2046858"/>
            <a:ext cx="2848356" cy="632460"/>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الوزراء؛ ونواب الوزراء وأصحاب المعالي؛ ووكلاء الوزارات ونواب المحافظين؛ والوكلاء المساعدون والقيادات التنفيذية المكافئة. ويُصنَّف المشاركون بنطاق الصلاحية والمساءلة والبروتوكول، لا بالمسمى الوظيفي وحده.</a:t>
            </a:r>
          </a:p>
        </p:txBody>
      </p:sp>
      <p:sp>
        <p:nvSpPr>
          <p:cNvPr id="14" name="Rounded Rectangle 13"/>
          <p:cNvSpPr/>
          <p:nvPr/>
        </p:nvSpPr>
        <p:spPr>
          <a:xfrm>
            <a:off x="3854196" y="2935350"/>
            <a:ext cx="3140963"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01383" y="3081654"/>
            <a:ext cx="347472" cy="45720"/>
          </a:xfrm>
          <a:prstGeom prst="rect">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0500" y="3200526"/>
            <a:ext cx="2848356" cy="199263"/>
          </a:xfrm>
          <a:prstGeom prst="rect">
            <a:avLst/>
          </a:prstGeom>
          <a:noFill/>
        </p:spPr>
        <p:txBody>
          <a:bodyPr wrap="square" lIns="0" rIns="0" tIns="0" bIns="0">
            <a:spAutoFit/>
          </a:bodyPr>
          <a:lstStyle/>
          <a:p>
            <a:pPr algn="r" rtl="1">
              <a:lnSpc>
                <a:spcPts val="1281"/>
              </a:lnSpc>
            </a:pPr>
            <a:r>
              <a:rPr sz="1050" b="0">
                <a:solidFill>
                  <a:srgbClr val="2D9CDB"/>
                </a:solidFill>
                <a:latin typeface="Diodrum Arabic SemiBold"/>
                <a:ea typeface="Diodrum Arabic SemiBold"/>
                <a:cs typeface="Diodrum Arabic SemiBold"/>
              </a:rPr>
              <a:t>ما الذي يظهره السوق</a:t>
            </a:r>
          </a:p>
        </p:txBody>
      </p:sp>
      <p:sp>
        <p:nvSpPr>
          <p:cNvPr id="17" name="TextBox 16"/>
          <p:cNvSpPr txBox="1"/>
          <p:nvPr/>
        </p:nvSpPr>
        <p:spPr>
          <a:xfrm>
            <a:off x="4000500" y="3427221"/>
            <a:ext cx="2848356" cy="483488"/>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عبر سجل من 32 برنامجاً موثقاً، تنخفض سهولة شراء برنامج جاهز كلما ارتفع المستوى القيادي؛ ولم يُرصد برنامج مفتوح موثق يخاطب الوزراء جمهوراً أساسياً.</a:t>
            </a:r>
          </a:p>
        </p:txBody>
      </p:sp>
      <p:sp>
        <p:nvSpPr>
          <p:cNvPr id="18" name="Rounded Rectangle 17"/>
          <p:cNvSpPr/>
          <p:nvPr/>
        </p:nvSpPr>
        <p:spPr>
          <a:xfrm>
            <a:off x="566928" y="2935350"/>
            <a:ext cx="3140963"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14115" y="3081654"/>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3200526"/>
            <a:ext cx="2848356"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القاعدة الوطنية قائمة فعلاً</a:t>
            </a:r>
          </a:p>
        </p:txBody>
      </p:sp>
      <p:sp>
        <p:nvSpPr>
          <p:cNvPr id="21" name="TextBox 20"/>
          <p:cNvSpPr txBox="1"/>
          <p:nvPr/>
        </p:nvSpPr>
        <p:spPr>
          <a:xfrm>
            <a:off x="713232" y="3427221"/>
            <a:ext cx="2848356" cy="483488"/>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درّبت «سدايا» أكثر من 278 قائداً حكومياً [52]، ويمتلك «قدراتك» منصة وطنية وشراكات أكاديمية موثقة [54]. والناقص هو برنامج واحد متدرج، مملوك، ومقيس.</a:t>
            </a:r>
          </a:p>
        </p:txBody>
      </p:sp>
      <p:sp>
        <p:nvSpPr>
          <p:cNvPr id="22" name="Rounded Rectangle 21"/>
          <p:cNvSpPr/>
          <p:nvPr/>
        </p:nvSpPr>
        <p:spPr>
          <a:xfrm>
            <a:off x="566928" y="4258182"/>
            <a:ext cx="6428231" cy="1740027"/>
          </a:xfrm>
          <a:prstGeom prst="roundRect">
            <a:avLst>
              <a:gd name="adj" fmla="val 5255"/>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441062"/>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الإجابة المقترحة</a:t>
            </a:r>
          </a:p>
        </p:txBody>
      </p:sp>
      <p:sp>
        <p:nvSpPr>
          <p:cNvPr id="24" name="TextBox 23"/>
          <p:cNvSpPr txBox="1"/>
          <p:nvPr/>
        </p:nvSpPr>
        <p:spPr>
          <a:xfrm>
            <a:off x="749808" y="4641468"/>
            <a:ext cx="6062471" cy="523494"/>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أربعة مسارات مترابطة — بناء محلي للوزراء، وتطوير مشترك لنواب الوزراء وأصحاب المعالي، وشراء وتكييف للوكلاء، وترخيص وتوطين وتوسيع للوكلاء المساعدين — تشترك في نواة معرفية واحدة، وحالات سعودية، وإطار قياس موحد، وملكية وطنية للبيانات ونموذج التشغيل.</a:t>
            </a:r>
          </a:p>
        </p:txBody>
      </p:sp>
      <p:sp>
        <p:nvSpPr>
          <p:cNvPr id="25" name="TextBox 24"/>
          <p:cNvSpPr txBox="1"/>
          <p:nvPr/>
        </p:nvSpPr>
        <p:spPr>
          <a:xfrm>
            <a:off x="749808" y="5238114"/>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التكلفة الاسترشادية — ليست عرض سعر</a:t>
            </a:r>
          </a:p>
        </p:txBody>
      </p:sp>
      <p:sp>
        <p:nvSpPr>
          <p:cNvPr id="26" name="TextBox 25"/>
          <p:cNvSpPr txBox="1"/>
          <p:nvPr/>
        </p:nvSpPr>
        <p:spPr>
          <a:xfrm>
            <a:off x="749808" y="5438520"/>
            <a:ext cx="6062471" cy="361187"/>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من 45 ألفاً إلى 94 ألف ريال للمشارك، ومن 1.35 مليون إلى 2.8 مليون ريال لفوج من 30 مشاركاً، وتخص بصورة أساسية أفواج المستوى الثاني أو الثالث [65]. وتُختم الدراسة بثماني توصيات لبرنامج «قدراتك».</a:t>
            </a:r>
          </a:p>
        </p:txBody>
      </p:sp>
      <p:sp>
        <p:nvSpPr>
          <p:cNvPr id="27" name="Rectangle 26"/>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9" name="TextBox 28"/>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خريطة الوثيقة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المحتويات</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من التكليف، إلى الأدلة المجموعة عالمياً ومحلياً، إلى نموذج يستطيع برنامج «قدراتك» العمل به.</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28231" y="1554988"/>
            <a:ext cx="566928" cy="272288"/>
          </a:xfrm>
          <a:prstGeom prst="rect">
            <a:avLst/>
          </a:prstGeom>
          <a:noFill/>
        </p:spPr>
        <p:txBody>
          <a:bodyPr wrap="square" lIns="0" rIns="0" tIns="0" bIns="0">
            <a:spAutoFit/>
          </a:bodyPr>
          <a:lstStyle/>
          <a:p>
            <a:pPr algn="r">
              <a:lnSpc>
                <a:spcPts val="1855"/>
              </a:lnSpc>
            </a:pPr>
            <a:r>
              <a:rPr sz="1600" b="1">
                <a:solidFill>
                  <a:srgbClr val="7C32C9"/>
                </a:solidFill>
                <a:latin typeface="Diodrum Arabic"/>
                <a:ea typeface="Diodrum Arabic"/>
                <a:cs typeface="Diodrum Arabic"/>
              </a:rPr>
              <a:t>01</a:t>
            </a:r>
          </a:p>
        </p:txBody>
      </p:sp>
      <p:sp>
        <p:nvSpPr>
          <p:cNvPr id="7" name="TextBox 6"/>
          <p:cNvSpPr txBox="1"/>
          <p:nvPr/>
        </p:nvSpPr>
        <p:spPr>
          <a:xfrm>
            <a:off x="1024128" y="1554988"/>
            <a:ext cx="5202936" cy="205994"/>
          </a:xfrm>
          <a:prstGeom prst="rect">
            <a:avLst/>
          </a:prstGeom>
          <a:noFill/>
        </p:spPr>
        <p:txBody>
          <a:bodyPr wrap="square" lIns="0" rIns="0" tIns="0" bIns="0">
            <a:spAutoFit/>
          </a:bodyPr>
          <a:lstStyle/>
          <a:p>
            <a:pPr algn="r" rtl="1">
              <a:lnSpc>
                <a:spcPts val="1334"/>
              </a:lnSpc>
            </a:pPr>
            <a:r>
              <a:rPr sz="1150" b="0">
                <a:solidFill>
                  <a:srgbClr val="232046"/>
                </a:solidFill>
                <a:latin typeface="Diodrum Arabic SemiBold"/>
                <a:ea typeface="Diodrum Arabic SemiBold"/>
                <a:cs typeface="Diodrum Arabic SemiBold"/>
              </a:rPr>
              <a:t>سياق الدراسة ومنهجيتها</a:t>
            </a:r>
          </a:p>
        </p:txBody>
      </p:sp>
      <p:sp>
        <p:nvSpPr>
          <p:cNvPr id="8" name="TextBox 7"/>
          <p:cNvSpPr txBox="1"/>
          <p:nvPr/>
        </p:nvSpPr>
        <p:spPr>
          <a:xfrm>
            <a:off x="1024128" y="1751838"/>
            <a:ext cx="5202936" cy="182308"/>
          </a:xfrm>
          <a:prstGeom prst="rect">
            <a:avLst/>
          </a:prstGeom>
          <a:noFill/>
        </p:spPr>
        <p:txBody>
          <a:bodyPr wrap="square" lIns="0" rIns="0" tIns="0" bIns="0">
            <a:spAutoFit/>
          </a:bodyPr>
          <a:lstStyle/>
          <a:p>
            <a:pPr algn="r" rtl="1">
              <a:lnSpc>
                <a:spcPts val="1147"/>
              </a:lnSpc>
            </a:pPr>
            <a:r>
              <a:rPr sz="850" b="0">
                <a:solidFill>
                  <a:srgbClr val="6E7077"/>
                </a:solidFill>
                <a:latin typeface="Diodrum Arabic"/>
                <a:ea typeface="Diodrum Arabic"/>
                <a:cs typeface="Diodrum Arabic"/>
              </a:rPr>
              <a:t>لماذا أُعدّت الدراسة، ونطاقها وحدودها، ونظام تصنيف الأدلة، ومؤشرات الطلب العالمي.</a:t>
            </a:r>
          </a:p>
        </p:txBody>
      </p:sp>
      <p:sp>
        <p:nvSpPr>
          <p:cNvPr id="9" name="TextBox 8"/>
          <p:cNvSpPr txBox="1"/>
          <p:nvPr/>
        </p:nvSpPr>
        <p:spPr>
          <a:xfrm>
            <a:off x="566928" y="1573276"/>
            <a:ext cx="365760" cy="183896"/>
          </a:xfrm>
          <a:prstGeom prst="rect">
            <a:avLst/>
          </a:prstGeom>
          <a:noFill/>
        </p:spPr>
        <p:txBody>
          <a:bodyPr wrap="square" lIns="0" rIns="0" tIns="0" bIns="0">
            <a:spAutoFit/>
          </a:bodyPr>
          <a:lstStyle/>
          <a:p>
            <a:pPr algn="l">
              <a:lnSpc>
                <a:spcPts val="1160"/>
              </a:lnSpc>
            </a:pPr>
            <a:r>
              <a:rPr sz="1000" b="0">
                <a:solidFill>
                  <a:srgbClr val="00ABAF"/>
                </a:solidFill>
                <a:latin typeface="Diodrum Arabic SemiBold"/>
                <a:ea typeface="Diodrum Arabic SemiBold"/>
                <a:cs typeface="Diodrum Arabic SemiBold"/>
              </a:rPr>
              <a:t>4</a:t>
            </a:r>
          </a:p>
        </p:txBody>
      </p:sp>
      <p:sp>
        <p:nvSpPr>
          <p:cNvPr id="10" name="Rectangle 9"/>
          <p:cNvSpPr/>
          <p:nvPr/>
        </p:nvSpPr>
        <p:spPr>
          <a:xfrm>
            <a:off x="566928" y="1979866"/>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2107882"/>
            <a:ext cx="566928" cy="272288"/>
          </a:xfrm>
          <a:prstGeom prst="rect">
            <a:avLst/>
          </a:prstGeom>
          <a:noFill/>
        </p:spPr>
        <p:txBody>
          <a:bodyPr wrap="square" lIns="0" rIns="0" tIns="0" bIns="0">
            <a:spAutoFit/>
          </a:bodyPr>
          <a:lstStyle/>
          <a:p>
            <a:pPr algn="r">
              <a:lnSpc>
                <a:spcPts val="1855"/>
              </a:lnSpc>
            </a:pPr>
            <a:r>
              <a:rPr sz="1600" b="1">
                <a:solidFill>
                  <a:srgbClr val="7C32C9"/>
                </a:solidFill>
                <a:latin typeface="Diodrum Arabic"/>
                <a:ea typeface="Diodrum Arabic"/>
                <a:cs typeface="Diodrum Arabic"/>
              </a:rPr>
              <a:t>02</a:t>
            </a:r>
          </a:p>
        </p:txBody>
      </p:sp>
      <p:sp>
        <p:nvSpPr>
          <p:cNvPr id="12" name="TextBox 11"/>
          <p:cNvSpPr txBox="1"/>
          <p:nvPr/>
        </p:nvSpPr>
        <p:spPr>
          <a:xfrm>
            <a:off x="1024128" y="2107882"/>
            <a:ext cx="5202936" cy="205994"/>
          </a:xfrm>
          <a:prstGeom prst="rect">
            <a:avLst/>
          </a:prstGeom>
          <a:noFill/>
        </p:spPr>
        <p:txBody>
          <a:bodyPr wrap="square" lIns="0" rIns="0" tIns="0" bIns="0">
            <a:spAutoFit/>
          </a:bodyPr>
          <a:lstStyle/>
          <a:p>
            <a:pPr algn="r" rtl="1">
              <a:lnSpc>
                <a:spcPts val="1334"/>
              </a:lnSpc>
            </a:pPr>
            <a:r>
              <a:rPr sz="1150" b="0">
                <a:solidFill>
                  <a:srgbClr val="232046"/>
                </a:solidFill>
                <a:latin typeface="Diodrum Arabic SemiBold"/>
                <a:ea typeface="Diodrum Arabic SemiBold"/>
                <a:cs typeface="Diodrum Arabic SemiBold"/>
              </a:rPr>
              <a:t>الفئات القيادية الأربع ومسؤوليات القرار</a:t>
            </a:r>
          </a:p>
        </p:txBody>
      </p:sp>
      <p:sp>
        <p:nvSpPr>
          <p:cNvPr id="13" name="TextBox 12"/>
          <p:cNvSpPr txBox="1"/>
          <p:nvPr/>
        </p:nvSpPr>
        <p:spPr>
          <a:xfrm>
            <a:off x="1024128" y="2304732"/>
            <a:ext cx="5202936" cy="182308"/>
          </a:xfrm>
          <a:prstGeom prst="rect">
            <a:avLst/>
          </a:prstGeom>
          <a:noFill/>
        </p:spPr>
        <p:txBody>
          <a:bodyPr wrap="square" lIns="0" rIns="0" tIns="0" bIns="0">
            <a:spAutoFit/>
          </a:bodyPr>
          <a:lstStyle/>
          <a:p>
            <a:pPr algn="r" rtl="1">
              <a:lnSpc>
                <a:spcPts val="1147"/>
              </a:lnSpc>
            </a:pPr>
            <a:r>
              <a:rPr sz="850" b="0">
                <a:solidFill>
                  <a:srgbClr val="6E7077"/>
                </a:solidFill>
                <a:latin typeface="Diodrum Arabic"/>
                <a:ea typeface="Diodrum Arabic"/>
                <a:cs typeface="Diodrum Arabic"/>
              </a:rPr>
              <a:t>من نعني تحديداً، مستوى بمستوى: الفئة ونوع القرار والبروتوكول التدريبي والمخرج التطبيقي.</a:t>
            </a:r>
          </a:p>
        </p:txBody>
      </p:sp>
      <p:sp>
        <p:nvSpPr>
          <p:cNvPr id="14" name="TextBox 13"/>
          <p:cNvSpPr txBox="1"/>
          <p:nvPr/>
        </p:nvSpPr>
        <p:spPr>
          <a:xfrm>
            <a:off x="566928" y="2126170"/>
            <a:ext cx="365760" cy="183896"/>
          </a:xfrm>
          <a:prstGeom prst="rect">
            <a:avLst/>
          </a:prstGeom>
          <a:noFill/>
        </p:spPr>
        <p:txBody>
          <a:bodyPr wrap="square" lIns="0" rIns="0" tIns="0" bIns="0">
            <a:spAutoFit/>
          </a:bodyPr>
          <a:lstStyle/>
          <a:p>
            <a:pPr algn="l">
              <a:lnSpc>
                <a:spcPts val="1160"/>
              </a:lnSpc>
            </a:pPr>
            <a:r>
              <a:rPr sz="1000" b="0">
                <a:solidFill>
                  <a:srgbClr val="00ABAF"/>
                </a:solidFill>
                <a:latin typeface="Diodrum Arabic SemiBold"/>
                <a:ea typeface="Diodrum Arabic SemiBold"/>
                <a:cs typeface="Diodrum Arabic SemiBold"/>
              </a:rPr>
              <a:t>9</a:t>
            </a:r>
          </a:p>
        </p:txBody>
      </p:sp>
      <p:sp>
        <p:nvSpPr>
          <p:cNvPr id="15" name="Rectangle 14"/>
          <p:cNvSpPr/>
          <p:nvPr/>
        </p:nvSpPr>
        <p:spPr>
          <a:xfrm>
            <a:off x="566928" y="2532761"/>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1" y="2660777"/>
            <a:ext cx="566928" cy="272288"/>
          </a:xfrm>
          <a:prstGeom prst="rect">
            <a:avLst/>
          </a:prstGeom>
          <a:noFill/>
        </p:spPr>
        <p:txBody>
          <a:bodyPr wrap="square" lIns="0" rIns="0" tIns="0" bIns="0">
            <a:spAutoFit/>
          </a:bodyPr>
          <a:lstStyle/>
          <a:p>
            <a:pPr algn="r">
              <a:lnSpc>
                <a:spcPts val="1855"/>
              </a:lnSpc>
            </a:pPr>
            <a:r>
              <a:rPr sz="1600" b="1">
                <a:solidFill>
                  <a:srgbClr val="7C32C9"/>
                </a:solidFill>
                <a:latin typeface="Diodrum Arabic"/>
                <a:ea typeface="Diodrum Arabic"/>
                <a:cs typeface="Diodrum Arabic"/>
              </a:rPr>
              <a:t>03</a:t>
            </a:r>
          </a:p>
        </p:txBody>
      </p:sp>
      <p:sp>
        <p:nvSpPr>
          <p:cNvPr id="17" name="TextBox 16"/>
          <p:cNvSpPr txBox="1"/>
          <p:nvPr/>
        </p:nvSpPr>
        <p:spPr>
          <a:xfrm>
            <a:off x="1024128" y="2660777"/>
            <a:ext cx="5202936" cy="205994"/>
          </a:xfrm>
          <a:prstGeom prst="rect">
            <a:avLst/>
          </a:prstGeom>
          <a:noFill/>
        </p:spPr>
        <p:txBody>
          <a:bodyPr wrap="square" lIns="0" rIns="0" tIns="0" bIns="0">
            <a:spAutoFit/>
          </a:bodyPr>
          <a:lstStyle/>
          <a:p>
            <a:pPr algn="r" rtl="1">
              <a:lnSpc>
                <a:spcPts val="1334"/>
              </a:lnSpc>
            </a:pPr>
            <a:r>
              <a:rPr sz="1150" b="0">
                <a:solidFill>
                  <a:srgbClr val="232046"/>
                </a:solidFill>
                <a:latin typeface="Diodrum Arabic SemiBold"/>
                <a:ea typeface="Diodrum Arabic SemiBold"/>
                <a:cs typeface="Diodrum Arabic SemiBold"/>
              </a:rPr>
              <a:t>نتائج المقارنة المعيارية</a:t>
            </a:r>
          </a:p>
        </p:txBody>
      </p:sp>
      <p:sp>
        <p:nvSpPr>
          <p:cNvPr id="18" name="TextBox 17"/>
          <p:cNvSpPr txBox="1"/>
          <p:nvPr/>
        </p:nvSpPr>
        <p:spPr>
          <a:xfrm>
            <a:off x="1024128" y="2857627"/>
            <a:ext cx="5202936" cy="182308"/>
          </a:xfrm>
          <a:prstGeom prst="rect">
            <a:avLst/>
          </a:prstGeom>
          <a:noFill/>
        </p:spPr>
        <p:txBody>
          <a:bodyPr wrap="square" lIns="0" rIns="0" tIns="0" bIns="0">
            <a:spAutoFit/>
          </a:bodyPr>
          <a:lstStyle/>
          <a:p>
            <a:pPr algn="r" rtl="1">
              <a:lnSpc>
                <a:spcPts val="1147"/>
              </a:lnSpc>
            </a:pPr>
            <a:r>
              <a:rPr sz="850" b="0">
                <a:solidFill>
                  <a:srgbClr val="6E7077"/>
                </a:solidFill>
                <a:latin typeface="Diodrum Arabic"/>
                <a:ea typeface="Diodrum Arabic"/>
                <a:cs typeface="Diodrum Arabic"/>
              </a:rPr>
              <a:t>32 برنامجاً موثقاً، وعشر تجارب وطنية، وقدرات المملكة الذاتية، وما نضج وما بقي فجوة.</a:t>
            </a:r>
          </a:p>
        </p:txBody>
      </p:sp>
      <p:sp>
        <p:nvSpPr>
          <p:cNvPr id="19" name="TextBox 18"/>
          <p:cNvSpPr txBox="1"/>
          <p:nvPr/>
        </p:nvSpPr>
        <p:spPr>
          <a:xfrm>
            <a:off x="566928" y="2679065"/>
            <a:ext cx="365760" cy="183896"/>
          </a:xfrm>
          <a:prstGeom prst="rect">
            <a:avLst/>
          </a:prstGeom>
          <a:noFill/>
        </p:spPr>
        <p:txBody>
          <a:bodyPr wrap="square" lIns="0" rIns="0" tIns="0" bIns="0">
            <a:spAutoFit/>
          </a:bodyPr>
          <a:lstStyle/>
          <a:p>
            <a:pPr algn="l">
              <a:lnSpc>
                <a:spcPts val="1160"/>
              </a:lnSpc>
            </a:pPr>
            <a:r>
              <a:rPr sz="1000" b="0">
                <a:solidFill>
                  <a:srgbClr val="00ABAF"/>
                </a:solidFill>
                <a:latin typeface="Diodrum Arabic SemiBold"/>
                <a:ea typeface="Diodrum Arabic SemiBold"/>
                <a:cs typeface="Diodrum Arabic SemiBold"/>
              </a:rPr>
              <a:t>15</a:t>
            </a:r>
          </a:p>
        </p:txBody>
      </p:sp>
      <p:sp>
        <p:nvSpPr>
          <p:cNvPr id="20" name="Rectangle 19"/>
          <p:cNvSpPr/>
          <p:nvPr/>
        </p:nvSpPr>
        <p:spPr>
          <a:xfrm>
            <a:off x="566928" y="3085655"/>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1" y="3213671"/>
            <a:ext cx="566928" cy="272288"/>
          </a:xfrm>
          <a:prstGeom prst="rect">
            <a:avLst/>
          </a:prstGeom>
          <a:noFill/>
        </p:spPr>
        <p:txBody>
          <a:bodyPr wrap="square" lIns="0" rIns="0" tIns="0" bIns="0">
            <a:spAutoFit/>
          </a:bodyPr>
          <a:lstStyle/>
          <a:p>
            <a:pPr algn="r">
              <a:lnSpc>
                <a:spcPts val="1855"/>
              </a:lnSpc>
            </a:pPr>
            <a:r>
              <a:rPr sz="1600" b="1">
                <a:solidFill>
                  <a:srgbClr val="7C32C9"/>
                </a:solidFill>
                <a:latin typeface="Diodrum Arabic"/>
                <a:ea typeface="Diodrum Arabic"/>
                <a:cs typeface="Diodrum Arabic"/>
              </a:rPr>
              <a:t>04</a:t>
            </a:r>
          </a:p>
        </p:txBody>
      </p:sp>
      <p:sp>
        <p:nvSpPr>
          <p:cNvPr id="22" name="TextBox 21"/>
          <p:cNvSpPr txBox="1"/>
          <p:nvPr/>
        </p:nvSpPr>
        <p:spPr>
          <a:xfrm>
            <a:off x="1024128" y="3213671"/>
            <a:ext cx="5202936" cy="205994"/>
          </a:xfrm>
          <a:prstGeom prst="rect">
            <a:avLst/>
          </a:prstGeom>
          <a:noFill/>
        </p:spPr>
        <p:txBody>
          <a:bodyPr wrap="square" lIns="0" rIns="0" tIns="0" bIns="0">
            <a:spAutoFit/>
          </a:bodyPr>
          <a:lstStyle/>
          <a:p>
            <a:pPr algn="r" rtl="1">
              <a:lnSpc>
                <a:spcPts val="1334"/>
              </a:lnSpc>
            </a:pPr>
            <a:r>
              <a:rPr sz="1150" b="0">
                <a:solidFill>
                  <a:srgbClr val="232046"/>
                </a:solidFill>
                <a:latin typeface="Diodrum Arabic SemiBold"/>
                <a:ea typeface="Diodrum Arabic SemiBold"/>
                <a:cs typeface="Diodrum Arabic SemiBold"/>
              </a:rPr>
              <a:t>التوافر حسب المستوى القيادي</a:t>
            </a:r>
          </a:p>
        </p:txBody>
      </p:sp>
      <p:sp>
        <p:nvSpPr>
          <p:cNvPr id="23" name="TextBox 22"/>
          <p:cNvSpPr txBox="1"/>
          <p:nvPr/>
        </p:nvSpPr>
        <p:spPr>
          <a:xfrm>
            <a:off x="1024128" y="3410521"/>
            <a:ext cx="5202936" cy="182308"/>
          </a:xfrm>
          <a:prstGeom prst="rect">
            <a:avLst/>
          </a:prstGeom>
          <a:noFill/>
        </p:spPr>
        <p:txBody>
          <a:bodyPr wrap="square" lIns="0" rIns="0" tIns="0" bIns="0">
            <a:spAutoFit/>
          </a:bodyPr>
          <a:lstStyle/>
          <a:p>
            <a:pPr algn="r" rtl="1">
              <a:lnSpc>
                <a:spcPts val="1147"/>
              </a:lnSpc>
            </a:pPr>
            <a:r>
              <a:rPr sz="850" b="0">
                <a:solidFill>
                  <a:srgbClr val="6E7077"/>
                </a:solidFill>
                <a:latin typeface="Diodrum Arabic"/>
                <a:ea typeface="Diodrum Arabic"/>
                <a:cs typeface="Diodrum Arabic"/>
              </a:rPr>
              <a:t>ما الذي يمكن شراؤه فعلاً، وما الذي يحتاج بناءً، لكل مستوى من المستويات الأربعة.</a:t>
            </a:r>
          </a:p>
        </p:txBody>
      </p:sp>
      <p:sp>
        <p:nvSpPr>
          <p:cNvPr id="24" name="TextBox 23"/>
          <p:cNvSpPr txBox="1"/>
          <p:nvPr/>
        </p:nvSpPr>
        <p:spPr>
          <a:xfrm>
            <a:off x="566928" y="3231959"/>
            <a:ext cx="365760" cy="183896"/>
          </a:xfrm>
          <a:prstGeom prst="rect">
            <a:avLst/>
          </a:prstGeom>
          <a:noFill/>
        </p:spPr>
        <p:txBody>
          <a:bodyPr wrap="square" lIns="0" rIns="0" tIns="0" bIns="0">
            <a:spAutoFit/>
          </a:bodyPr>
          <a:lstStyle/>
          <a:p>
            <a:pPr algn="l">
              <a:lnSpc>
                <a:spcPts val="1160"/>
              </a:lnSpc>
            </a:pPr>
            <a:r>
              <a:rPr sz="1000" b="0">
                <a:solidFill>
                  <a:srgbClr val="00ABAF"/>
                </a:solidFill>
                <a:latin typeface="Diodrum Arabic SemiBold"/>
                <a:ea typeface="Diodrum Arabic SemiBold"/>
                <a:cs typeface="Diodrum Arabic SemiBold"/>
              </a:rPr>
              <a:t>24</a:t>
            </a:r>
          </a:p>
        </p:txBody>
      </p:sp>
      <p:sp>
        <p:nvSpPr>
          <p:cNvPr id="25" name="Rectangle 24"/>
          <p:cNvSpPr/>
          <p:nvPr/>
        </p:nvSpPr>
        <p:spPr>
          <a:xfrm>
            <a:off x="566928" y="363855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8231" y="3766566"/>
            <a:ext cx="566928" cy="272288"/>
          </a:xfrm>
          <a:prstGeom prst="rect">
            <a:avLst/>
          </a:prstGeom>
          <a:noFill/>
        </p:spPr>
        <p:txBody>
          <a:bodyPr wrap="square" lIns="0" rIns="0" tIns="0" bIns="0">
            <a:spAutoFit/>
          </a:bodyPr>
          <a:lstStyle/>
          <a:p>
            <a:pPr algn="r">
              <a:lnSpc>
                <a:spcPts val="1855"/>
              </a:lnSpc>
            </a:pPr>
            <a:r>
              <a:rPr sz="1600" b="1">
                <a:solidFill>
                  <a:srgbClr val="7C32C9"/>
                </a:solidFill>
                <a:latin typeface="Diodrum Arabic"/>
                <a:ea typeface="Diodrum Arabic"/>
                <a:cs typeface="Diodrum Arabic"/>
              </a:rPr>
              <a:t>05</a:t>
            </a:r>
          </a:p>
        </p:txBody>
      </p:sp>
      <p:sp>
        <p:nvSpPr>
          <p:cNvPr id="27" name="TextBox 26"/>
          <p:cNvSpPr txBox="1"/>
          <p:nvPr/>
        </p:nvSpPr>
        <p:spPr>
          <a:xfrm>
            <a:off x="1024128" y="3766566"/>
            <a:ext cx="5202936" cy="205994"/>
          </a:xfrm>
          <a:prstGeom prst="rect">
            <a:avLst/>
          </a:prstGeom>
          <a:noFill/>
        </p:spPr>
        <p:txBody>
          <a:bodyPr wrap="square" lIns="0" rIns="0" tIns="0" bIns="0">
            <a:spAutoFit/>
          </a:bodyPr>
          <a:lstStyle/>
          <a:p>
            <a:pPr algn="r" rtl="1">
              <a:lnSpc>
                <a:spcPts val="1334"/>
              </a:lnSpc>
            </a:pPr>
            <a:r>
              <a:rPr sz="1150" b="0">
                <a:solidFill>
                  <a:srgbClr val="232046"/>
                </a:solidFill>
                <a:latin typeface="Diodrum Arabic SemiBold"/>
                <a:ea typeface="Diodrum Arabic SemiBold"/>
                <a:cs typeface="Diodrum Arabic SemiBold"/>
              </a:rPr>
              <a:t>النموذج المقترح للمملكة</a:t>
            </a:r>
          </a:p>
        </p:txBody>
      </p:sp>
      <p:sp>
        <p:nvSpPr>
          <p:cNvPr id="28" name="TextBox 27"/>
          <p:cNvSpPr txBox="1"/>
          <p:nvPr/>
        </p:nvSpPr>
        <p:spPr>
          <a:xfrm>
            <a:off x="1024128" y="3963416"/>
            <a:ext cx="5202936" cy="182308"/>
          </a:xfrm>
          <a:prstGeom prst="rect">
            <a:avLst/>
          </a:prstGeom>
          <a:noFill/>
        </p:spPr>
        <p:txBody>
          <a:bodyPr wrap="square" lIns="0" rIns="0" tIns="0" bIns="0">
            <a:spAutoFit/>
          </a:bodyPr>
          <a:lstStyle/>
          <a:p>
            <a:pPr algn="r" rtl="1">
              <a:lnSpc>
                <a:spcPts val="1147"/>
              </a:lnSpc>
            </a:pPr>
            <a:r>
              <a:rPr sz="850" b="0">
                <a:solidFill>
                  <a:srgbClr val="6E7077"/>
                </a:solidFill>
                <a:latin typeface="Diodrum Arabic"/>
                <a:ea typeface="Diodrum Arabic"/>
                <a:cs typeface="Diodrum Arabic"/>
              </a:rPr>
              <a:t>أربعة مسارات، ونواة مشتركة، وحالات سعودية، وقياس، وتكلفة استرشادية، وملكية.</a:t>
            </a:r>
          </a:p>
        </p:txBody>
      </p:sp>
      <p:sp>
        <p:nvSpPr>
          <p:cNvPr id="29" name="TextBox 28"/>
          <p:cNvSpPr txBox="1"/>
          <p:nvPr/>
        </p:nvSpPr>
        <p:spPr>
          <a:xfrm>
            <a:off x="566928" y="3784853"/>
            <a:ext cx="365760" cy="183896"/>
          </a:xfrm>
          <a:prstGeom prst="rect">
            <a:avLst/>
          </a:prstGeom>
          <a:noFill/>
        </p:spPr>
        <p:txBody>
          <a:bodyPr wrap="square" lIns="0" rIns="0" tIns="0" bIns="0">
            <a:spAutoFit/>
          </a:bodyPr>
          <a:lstStyle/>
          <a:p>
            <a:pPr algn="l">
              <a:lnSpc>
                <a:spcPts val="1160"/>
              </a:lnSpc>
            </a:pPr>
            <a:r>
              <a:rPr sz="1000" b="0">
                <a:solidFill>
                  <a:srgbClr val="00ABAF"/>
                </a:solidFill>
                <a:latin typeface="Diodrum Arabic SemiBold"/>
                <a:ea typeface="Diodrum Arabic SemiBold"/>
                <a:cs typeface="Diodrum Arabic SemiBold"/>
              </a:rPr>
              <a:t>27</a:t>
            </a:r>
          </a:p>
        </p:txBody>
      </p:sp>
      <p:sp>
        <p:nvSpPr>
          <p:cNvPr id="30" name="Rectangle 29"/>
          <p:cNvSpPr/>
          <p:nvPr/>
        </p:nvSpPr>
        <p:spPr>
          <a:xfrm>
            <a:off x="566928" y="4191444"/>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1" y="4319460"/>
            <a:ext cx="566928" cy="272288"/>
          </a:xfrm>
          <a:prstGeom prst="rect">
            <a:avLst/>
          </a:prstGeom>
          <a:noFill/>
        </p:spPr>
        <p:txBody>
          <a:bodyPr wrap="square" lIns="0" rIns="0" tIns="0" bIns="0">
            <a:spAutoFit/>
          </a:bodyPr>
          <a:lstStyle/>
          <a:p>
            <a:pPr algn="r">
              <a:lnSpc>
                <a:spcPts val="1855"/>
              </a:lnSpc>
            </a:pPr>
            <a:r>
              <a:rPr sz="1600" b="1">
                <a:solidFill>
                  <a:srgbClr val="7C32C9"/>
                </a:solidFill>
                <a:latin typeface="Diodrum Arabic"/>
                <a:ea typeface="Diodrum Arabic"/>
                <a:cs typeface="Diodrum Arabic"/>
              </a:rPr>
              <a:t>06</a:t>
            </a:r>
          </a:p>
        </p:txBody>
      </p:sp>
      <p:sp>
        <p:nvSpPr>
          <p:cNvPr id="32" name="TextBox 31"/>
          <p:cNvSpPr txBox="1"/>
          <p:nvPr/>
        </p:nvSpPr>
        <p:spPr>
          <a:xfrm>
            <a:off x="1024128" y="4319460"/>
            <a:ext cx="5202936" cy="205994"/>
          </a:xfrm>
          <a:prstGeom prst="rect">
            <a:avLst/>
          </a:prstGeom>
          <a:noFill/>
        </p:spPr>
        <p:txBody>
          <a:bodyPr wrap="square" lIns="0" rIns="0" tIns="0" bIns="0">
            <a:spAutoFit/>
          </a:bodyPr>
          <a:lstStyle/>
          <a:p>
            <a:pPr algn="r" rtl="1">
              <a:lnSpc>
                <a:spcPts val="1334"/>
              </a:lnSpc>
            </a:pPr>
            <a:r>
              <a:rPr sz="1150" b="0">
                <a:solidFill>
                  <a:srgbClr val="232046"/>
                </a:solidFill>
                <a:latin typeface="Diodrum Arabic SemiBold"/>
                <a:ea typeface="Diodrum Arabic SemiBold"/>
                <a:cs typeface="Diodrum Arabic SemiBold"/>
              </a:rPr>
              <a:t>توصيات برنامج قدراتك</a:t>
            </a:r>
          </a:p>
        </p:txBody>
      </p:sp>
      <p:sp>
        <p:nvSpPr>
          <p:cNvPr id="33" name="TextBox 32"/>
          <p:cNvSpPr txBox="1"/>
          <p:nvPr/>
        </p:nvSpPr>
        <p:spPr>
          <a:xfrm>
            <a:off x="1024128" y="4516310"/>
            <a:ext cx="5202936" cy="182308"/>
          </a:xfrm>
          <a:prstGeom prst="rect">
            <a:avLst/>
          </a:prstGeom>
          <a:noFill/>
        </p:spPr>
        <p:txBody>
          <a:bodyPr wrap="square" lIns="0" rIns="0" tIns="0" bIns="0">
            <a:spAutoFit/>
          </a:bodyPr>
          <a:lstStyle/>
          <a:p>
            <a:pPr algn="r" rtl="1">
              <a:lnSpc>
                <a:spcPts val="1147"/>
              </a:lnSpc>
            </a:pPr>
            <a:r>
              <a:rPr sz="850" b="0">
                <a:solidFill>
                  <a:srgbClr val="6E7077"/>
                </a:solidFill>
                <a:latin typeface="Diodrum Arabic"/>
                <a:ea typeface="Diodrum Arabic"/>
                <a:cs typeface="Diodrum Arabic"/>
              </a:rPr>
              <a:t>خمس نتائج مسندة بالأدلة، وثماني توصيات، والخطوات التالية.</a:t>
            </a:r>
          </a:p>
        </p:txBody>
      </p:sp>
      <p:sp>
        <p:nvSpPr>
          <p:cNvPr id="34" name="TextBox 33"/>
          <p:cNvSpPr txBox="1"/>
          <p:nvPr/>
        </p:nvSpPr>
        <p:spPr>
          <a:xfrm>
            <a:off x="566928" y="4337748"/>
            <a:ext cx="365760" cy="183896"/>
          </a:xfrm>
          <a:prstGeom prst="rect">
            <a:avLst/>
          </a:prstGeom>
          <a:noFill/>
        </p:spPr>
        <p:txBody>
          <a:bodyPr wrap="square" lIns="0" rIns="0" tIns="0" bIns="0">
            <a:spAutoFit/>
          </a:bodyPr>
          <a:lstStyle/>
          <a:p>
            <a:pPr algn="l">
              <a:lnSpc>
                <a:spcPts val="1160"/>
              </a:lnSpc>
            </a:pPr>
            <a:r>
              <a:rPr sz="1000" b="0">
                <a:solidFill>
                  <a:srgbClr val="00ABAF"/>
                </a:solidFill>
                <a:latin typeface="Diodrum Arabic SemiBold"/>
                <a:ea typeface="Diodrum Arabic SemiBold"/>
                <a:cs typeface="Diodrum Arabic SemiBold"/>
              </a:rPr>
              <a:t>33</a:t>
            </a:r>
          </a:p>
        </p:txBody>
      </p:sp>
      <p:sp>
        <p:nvSpPr>
          <p:cNvPr id="35" name="Rectangle 34"/>
          <p:cNvSpPr/>
          <p:nvPr/>
        </p:nvSpPr>
        <p:spPr>
          <a:xfrm>
            <a:off x="566928" y="4744339"/>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8231" y="4872354"/>
            <a:ext cx="566928" cy="272288"/>
          </a:xfrm>
          <a:prstGeom prst="rect">
            <a:avLst/>
          </a:prstGeom>
          <a:noFill/>
        </p:spPr>
        <p:txBody>
          <a:bodyPr wrap="square" lIns="0" rIns="0" tIns="0" bIns="0">
            <a:spAutoFit/>
          </a:bodyPr>
          <a:lstStyle/>
          <a:p>
            <a:pPr algn="r">
              <a:lnSpc>
                <a:spcPts val="1855"/>
              </a:lnSpc>
            </a:pPr>
            <a:r>
              <a:rPr sz="1600" b="1">
                <a:solidFill>
                  <a:srgbClr val="7C32C9"/>
                </a:solidFill>
                <a:latin typeface="Diodrum Arabic"/>
                <a:ea typeface="Diodrum Arabic"/>
                <a:cs typeface="Diodrum Arabic"/>
              </a:rPr>
              <a:t>مراجع</a:t>
            </a:r>
          </a:p>
        </p:txBody>
      </p:sp>
      <p:sp>
        <p:nvSpPr>
          <p:cNvPr id="37" name="TextBox 36"/>
          <p:cNvSpPr txBox="1"/>
          <p:nvPr/>
        </p:nvSpPr>
        <p:spPr>
          <a:xfrm>
            <a:off x="1024128" y="4872354"/>
            <a:ext cx="5202936" cy="205994"/>
          </a:xfrm>
          <a:prstGeom prst="rect">
            <a:avLst/>
          </a:prstGeom>
          <a:noFill/>
        </p:spPr>
        <p:txBody>
          <a:bodyPr wrap="square" lIns="0" rIns="0" tIns="0" bIns="0">
            <a:spAutoFit/>
          </a:bodyPr>
          <a:lstStyle/>
          <a:p>
            <a:pPr algn="r" rtl="1">
              <a:lnSpc>
                <a:spcPts val="1334"/>
              </a:lnSpc>
            </a:pPr>
            <a:r>
              <a:rPr sz="1150" b="0">
                <a:solidFill>
                  <a:srgbClr val="232046"/>
                </a:solidFill>
                <a:latin typeface="Diodrum Arabic SemiBold"/>
                <a:ea typeface="Diodrum Arabic SemiBold"/>
                <a:cs typeface="Diodrum Arabic SemiBold"/>
              </a:rPr>
              <a:t>المراجع</a:t>
            </a:r>
          </a:p>
        </p:txBody>
      </p:sp>
      <p:sp>
        <p:nvSpPr>
          <p:cNvPr id="38" name="TextBox 37"/>
          <p:cNvSpPr txBox="1"/>
          <p:nvPr/>
        </p:nvSpPr>
        <p:spPr>
          <a:xfrm>
            <a:off x="1024128" y="5069204"/>
            <a:ext cx="5202936" cy="182308"/>
          </a:xfrm>
          <a:prstGeom prst="rect">
            <a:avLst/>
          </a:prstGeom>
          <a:noFill/>
        </p:spPr>
        <p:txBody>
          <a:bodyPr wrap="square" lIns="0" rIns="0" tIns="0" bIns="0">
            <a:spAutoFit/>
          </a:bodyPr>
          <a:lstStyle/>
          <a:p>
            <a:pPr algn="r" rtl="1">
              <a:lnSpc>
                <a:spcPts val="1147"/>
              </a:lnSpc>
            </a:pPr>
            <a:r>
              <a:rPr sz="850" b="0">
                <a:solidFill>
                  <a:srgbClr val="6E7077"/>
                </a:solidFill>
                <a:latin typeface="Diodrum Arabic"/>
                <a:ea typeface="Diodrum Arabic"/>
                <a:cs typeface="Diodrum Arabic"/>
              </a:rPr>
              <a:t>71 مصدراً مرقماً بوسوم أدلة وروابط حية، فُحصت بتاريخ 21 أغسطس 2026.</a:t>
            </a:r>
          </a:p>
        </p:txBody>
      </p:sp>
      <p:sp>
        <p:nvSpPr>
          <p:cNvPr id="39" name="TextBox 38"/>
          <p:cNvSpPr txBox="1"/>
          <p:nvPr/>
        </p:nvSpPr>
        <p:spPr>
          <a:xfrm>
            <a:off x="566928" y="4890642"/>
            <a:ext cx="365760" cy="183896"/>
          </a:xfrm>
          <a:prstGeom prst="rect">
            <a:avLst/>
          </a:prstGeom>
          <a:noFill/>
        </p:spPr>
        <p:txBody>
          <a:bodyPr wrap="square" lIns="0" rIns="0" tIns="0" bIns="0">
            <a:spAutoFit/>
          </a:bodyPr>
          <a:lstStyle/>
          <a:p>
            <a:pPr algn="l">
              <a:lnSpc>
                <a:spcPts val="1160"/>
              </a:lnSpc>
            </a:pPr>
            <a:r>
              <a:rPr sz="1000" b="0">
                <a:solidFill>
                  <a:srgbClr val="00ABAF"/>
                </a:solidFill>
                <a:latin typeface="Diodrum Arabic SemiBold"/>
                <a:ea typeface="Diodrum Arabic SemiBold"/>
                <a:cs typeface="Diodrum Arabic SemiBold"/>
              </a:rPr>
              <a:t>36</a:t>
            </a:r>
          </a:p>
        </p:txBody>
      </p:sp>
      <p:sp>
        <p:nvSpPr>
          <p:cNvPr id="40" name="Rectangle 39"/>
          <p:cNvSpPr/>
          <p:nvPr/>
        </p:nvSpPr>
        <p:spPr>
          <a:xfrm>
            <a:off x="566928" y="5297233"/>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66928" y="5470969"/>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635561"/>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كيف تُقرأ هذه الوثيقة</a:t>
            </a:r>
          </a:p>
        </p:txBody>
      </p:sp>
      <p:sp>
        <p:nvSpPr>
          <p:cNvPr id="43" name="TextBox 42"/>
          <p:cNvSpPr txBox="1"/>
          <p:nvPr/>
        </p:nvSpPr>
        <p:spPr>
          <a:xfrm>
            <a:off x="731520" y="5845111"/>
            <a:ext cx="6099047" cy="361187"/>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دراسة استكشافية تصف السوق كما نُشر حتى 21 أغسطس 2026. لا تتضمن تقييم احتياج داخلياً، ولا اختيار مزود، ولا عرض سعر تعاقدياً؛ وأرقام التكلفة فيها منشورة تُنسب إلى ناشريها، أو تقديرات استرشادية موسومة بذلك صراحة.</a:t>
            </a:r>
          </a:p>
        </p:txBody>
      </p:sp>
      <p:sp>
        <p:nvSpPr>
          <p:cNvPr id="44" name="Rectangle 43"/>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6" name="TextBox 45"/>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671446"/>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r" rtl="1">
              <a:lnSpc>
                <a:spcPts val="1276"/>
              </a:lnSpc>
            </a:pPr>
            <a:r>
              <a:rPr sz="1100" b="0">
                <a:solidFill>
                  <a:srgbClr val="CEC6EC"/>
                </a:solidFill>
                <a:latin typeface="Diodrum Arabic SemiBold"/>
                <a:ea typeface="Diodrum Arabic SemiBold"/>
                <a:cs typeface="Diodrum Arabic SemiBold"/>
              </a:rPr>
              <a:t>القسم 01</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r" rtl="1">
              <a:lnSpc>
                <a:spcPts val="2595"/>
              </a:lnSpc>
            </a:pPr>
            <a:r>
              <a:rPr sz="2200" b="1">
                <a:solidFill>
                  <a:srgbClr val="FFFFFF"/>
                </a:solidFill>
                <a:latin typeface="Diodrum Arabic"/>
                <a:ea typeface="Diodrum Arabic"/>
                <a:cs typeface="Diodrum Arabic"/>
              </a:rPr>
              <a:t>سياق الدراسة ومنهجيتها</a:t>
            </a:r>
          </a:p>
        </p:txBody>
      </p:sp>
      <p:sp>
        <p:nvSpPr>
          <p:cNvPr id="5" name="TextBox 4"/>
          <p:cNvSpPr txBox="1"/>
          <p:nvPr/>
        </p:nvSpPr>
        <p:spPr>
          <a:xfrm>
            <a:off x="566928" y="1116075"/>
            <a:ext cx="5513831" cy="207899"/>
          </a:xfrm>
          <a:prstGeom prst="rect">
            <a:avLst/>
          </a:prstGeom>
          <a:noFill/>
        </p:spPr>
        <p:txBody>
          <a:bodyPr wrap="square" lIns="0" rIns="0" tIns="0" bIns="0">
            <a:spAutoFit/>
          </a:bodyPr>
          <a:lstStyle/>
          <a:p>
            <a:pPr algn="r" rtl="1">
              <a:lnSpc>
                <a:spcPts val="1348"/>
              </a:lnSpc>
            </a:pPr>
            <a:r>
              <a:rPr sz="950" b="0">
                <a:solidFill>
                  <a:srgbClr val="DDDAF0"/>
                </a:solidFill>
                <a:latin typeface="Diodrum Arabic"/>
                <a:ea typeface="Diodrum Arabic"/>
                <a:cs typeface="Diodrum Arabic"/>
              </a:rPr>
              <a:t>التكليف وأسئلته الثلاثة، والنطاق وحدوده، ونظام الأدلة، ومؤشرات الطلب التي تؤطر الدراسة.</a:t>
            </a:r>
          </a:p>
        </p:txBody>
      </p:sp>
      <p:sp>
        <p:nvSpPr>
          <p:cNvPr id="6" name="Rectangle 5"/>
          <p:cNvSpPr/>
          <p:nvPr/>
        </p:nvSpPr>
        <p:spPr>
          <a:xfrm>
            <a:off x="4892040" y="1451990"/>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57800" y="1451990"/>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23559" y="1451990"/>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89320" y="1451990"/>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79" y="1451990"/>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20840" y="1451990"/>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945766"/>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1.1  خلفية الدراسة والتكليف</a:t>
            </a:r>
          </a:p>
        </p:txBody>
      </p:sp>
      <p:sp>
        <p:nvSpPr>
          <p:cNvPr id="13" name="TextBox 12"/>
          <p:cNvSpPr txBox="1"/>
          <p:nvPr/>
        </p:nvSpPr>
        <p:spPr>
          <a:xfrm>
            <a:off x="566928" y="2173604"/>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تكليف بثلاثة أسئلة</a:t>
            </a:r>
          </a:p>
        </p:txBody>
      </p:sp>
      <p:sp>
        <p:nvSpPr>
          <p:cNvPr id="14" name="TextBox 13"/>
          <p:cNvSpPr txBox="1"/>
          <p:nvPr/>
        </p:nvSpPr>
        <p:spPr>
          <a:xfrm>
            <a:off x="566928" y="2554604"/>
            <a:ext cx="6428231" cy="379221"/>
          </a:xfrm>
          <a:prstGeom prst="rect">
            <a:avLst/>
          </a:prstGeom>
          <a:noFill/>
        </p:spPr>
        <p:txBody>
          <a:bodyPr wrap="square" lIns="0" rIns="0" tIns="0" bIns="0">
            <a:spAutoFit/>
          </a:bodyPr>
          <a:lstStyle/>
          <a:p>
            <a:pPr algn="r" rtl="1">
              <a:lnSpc>
                <a:spcPts val="1348"/>
              </a:lnSpc>
            </a:pPr>
            <a:r>
              <a:rPr sz="950" b="0">
                <a:solidFill>
                  <a:srgbClr val="474956"/>
                </a:solidFill>
                <a:latin typeface="Diodrum Arabic"/>
                <a:ea typeface="Diodrum Arabic"/>
                <a:cs typeface="Diodrum Arabic"/>
              </a:rPr>
              <a:t>تلقّى برنامج «قدراتك» في هيئة الحكومة الرقمية طلباً من لجنة الذكاء الاصطناعي الحكومية، عبر مسار التدريب، لإجراء دراسة مقارنة معيارية حول برامج الذكاء الاصطناعي الموجهة للقيادات الحكومية العليا [1].</a:t>
            </a:r>
          </a:p>
        </p:txBody>
      </p:sp>
      <p:sp>
        <p:nvSpPr>
          <p:cNvPr id="15" name="Rounded Rectangle 14"/>
          <p:cNvSpPr/>
          <p:nvPr/>
        </p:nvSpPr>
        <p:spPr>
          <a:xfrm>
            <a:off x="4949952" y="3025267"/>
            <a:ext cx="2045207"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01383" y="3171571"/>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96256" y="3290443"/>
            <a:ext cx="1752599"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1 · ما المتاح؟</a:t>
            </a:r>
          </a:p>
        </p:txBody>
      </p:sp>
      <p:sp>
        <p:nvSpPr>
          <p:cNvPr id="18" name="TextBox 17"/>
          <p:cNvSpPr txBox="1"/>
          <p:nvPr/>
        </p:nvSpPr>
        <p:spPr>
          <a:xfrm>
            <a:off x="5096256" y="3517137"/>
            <a:ext cx="1752599"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ما البرامج التي يقدمها السوق العالمي والمحلي لهذه الفئة اليوم؟</a:t>
            </a:r>
          </a:p>
        </p:txBody>
      </p:sp>
      <p:sp>
        <p:nvSpPr>
          <p:cNvPr id="19" name="Rounded Rectangle 18"/>
          <p:cNvSpPr/>
          <p:nvPr/>
        </p:nvSpPr>
        <p:spPr>
          <a:xfrm>
            <a:off x="2758440" y="3025267"/>
            <a:ext cx="2045207"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09872" y="3171571"/>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04744" y="3290443"/>
            <a:ext cx="1752599" cy="199263"/>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2 · ماذا فعلت الحكومات؟</a:t>
            </a:r>
          </a:p>
        </p:txBody>
      </p:sp>
      <p:sp>
        <p:nvSpPr>
          <p:cNvPr id="22" name="TextBox 21"/>
          <p:cNvSpPr txBox="1"/>
          <p:nvPr/>
        </p:nvSpPr>
        <p:spPr>
          <a:xfrm>
            <a:off x="2904744" y="3517137"/>
            <a:ext cx="1752599"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ما التجارب التي نفذتها الحكومات الأخرى فعلاً لقياداتها؟</a:t>
            </a:r>
          </a:p>
        </p:txBody>
      </p:sp>
      <p:sp>
        <p:nvSpPr>
          <p:cNvPr id="23" name="Rounded Rectangle 22"/>
          <p:cNvSpPr/>
          <p:nvPr/>
        </p:nvSpPr>
        <p:spPr>
          <a:xfrm>
            <a:off x="566928" y="3025267"/>
            <a:ext cx="2045207"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18360" y="3171571"/>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290443"/>
            <a:ext cx="1752599"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3 · كيف يُبنى؟</a:t>
            </a:r>
          </a:p>
        </p:txBody>
      </p:sp>
      <p:sp>
        <p:nvSpPr>
          <p:cNvPr id="26" name="TextBox 25"/>
          <p:cNvSpPr txBox="1"/>
          <p:nvPr/>
        </p:nvSpPr>
        <p:spPr>
          <a:xfrm>
            <a:off x="713232" y="3517137"/>
            <a:ext cx="1752599" cy="483488"/>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كيف يمكن بناء برنامج وطني يخدم أربعة مستويات قيادية، مع تقدير استرشادي للتكلفة؟</a:t>
            </a:r>
          </a:p>
        </p:txBody>
      </p:sp>
      <p:sp>
        <p:nvSpPr>
          <p:cNvPr id="27" name="Rounded Rectangle 26"/>
          <p:cNvSpPr/>
          <p:nvPr/>
        </p:nvSpPr>
        <p:spPr>
          <a:xfrm>
            <a:off x="566928" y="4338955"/>
            <a:ext cx="6428231" cy="1394650"/>
          </a:xfrm>
          <a:prstGeom prst="roundRect">
            <a:avLst>
              <a:gd name="adj" fmla="val 590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503546"/>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بيان المشكلة</a:t>
            </a:r>
          </a:p>
        </p:txBody>
      </p:sp>
      <p:sp>
        <p:nvSpPr>
          <p:cNvPr id="29" name="TextBox 28"/>
          <p:cNvSpPr txBox="1"/>
          <p:nvPr/>
        </p:nvSpPr>
        <p:spPr>
          <a:xfrm>
            <a:off x="731520" y="4713097"/>
            <a:ext cx="6099047" cy="848106"/>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لم تعد القرارات المترتبة على الذكاء الاصطناعي في الحكومة قرارات تقنية تُفوَّض إلى الإدارات المتخصصة، بل صارت قرارات سيادية تمس البيانات الوطنية، والمشتريات العامة، وجودة الخدمات المقدمة للمواطنين، وأسس المساءلة عنها؛ والذي يوقّع عليها هم شاغلو المستويات القيادية العليا، لا مهندسو النماذج. فالفجوة المحتملة التي تختبرها الدراسة لا تقع في الاستراتيجية الوطنية — فموقع المملكة فيها متقدم — بل في الجاهزية القيادية الفردية لمن يتخذ القرار. ولا تفترض الدراسة عجزاً لدى أحد؛ بل ترصد ما يقدمه السوق وتترك الحكم للأدلة.</a:t>
            </a:r>
          </a:p>
        </p:txBody>
      </p:sp>
      <p:sp>
        <p:nvSpPr>
          <p:cNvPr id="30" name="Rectangle 29"/>
          <p:cNvSpPr/>
          <p:nvPr/>
        </p:nvSpPr>
        <p:spPr>
          <a:xfrm>
            <a:off x="6949440" y="5916485"/>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5925629"/>
            <a:ext cx="6199631" cy="211836"/>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والإجابة عن الأسئلة الثلاثة تستلزم أولاً تثبيت نطاق المراجعة وحدودها — ما الذي تغطيه الدراسة، وما الذي لا تدّعيه.</a:t>
            </a:r>
          </a:p>
        </p:txBody>
      </p:sp>
      <p:sp>
        <p:nvSpPr>
          <p:cNvPr id="32" name="Rectangle 3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34" name="TextBox 3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01 · 1.2  نطاق الدراسة وحدودها</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ما الذي تغطيه الدراسة — وما الذي لا تدّعيه</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كل ما ورد في الدراسة يصف السوق كما كان في 21 أغسطس 2026.</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81628" y="1554988"/>
            <a:ext cx="3113532" cy="205994"/>
          </a:xfrm>
          <a:prstGeom prst="rect">
            <a:avLst/>
          </a:prstGeom>
          <a:noFill/>
        </p:spPr>
        <p:txBody>
          <a:bodyPr wrap="square" lIns="0" rIns="0" tIns="0" bIns="0">
            <a:spAutoFit/>
          </a:bodyPr>
          <a:lstStyle/>
          <a:p>
            <a:pPr algn="r" rtl="1">
              <a:lnSpc>
                <a:spcPts val="1334"/>
              </a:lnSpc>
            </a:pPr>
            <a:r>
              <a:rPr sz="1150" b="0">
                <a:solidFill>
                  <a:srgbClr val="00ABAF"/>
                </a:solidFill>
                <a:latin typeface="Diodrum Arabic SemiBold"/>
                <a:ea typeface="Diodrum Arabic SemiBold"/>
                <a:cs typeface="Diodrum Arabic SemiBold"/>
              </a:rPr>
              <a:t>ضمن النطاق</a:t>
            </a:r>
          </a:p>
        </p:txBody>
      </p:sp>
      <p:sp>
        <p:nvSpPr>
          <p:cNvPr id="7" name="TextBox 6"/>
          <p:cNvSpPr txBox="1"/>
          <p:nvPr/>
        </p:nvSpPr>
        <p:spPr>
          <a:xfrm>
            <a:off x="6903720" y="180213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8" name="TextBox 7"/>
          <p:cNvSpPr txBox="1"/>
          <p:nvPr/>
        </p:nvSpPr>
        <p:spPr>
          <a:xfrm>
            <a:off x="3881628" y="1806702"/>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البرامج والأطر والممارسات المنشورة حتى 21 أغسطس 2026.</a:t>
            </a:r>
          </a:p>
        </p:txBody>
      </p:sp>
      <p:sp>
        <p:nvSpPr>
          <p:cNvPr id="9" name="TextBox 8"/>
          <p:cNvSpPr txBox="1"/>
          <p:nvPr/>
        </p:nvSpPr>
        <p:spPr>
          <a:xfrm>
            <a:off x="6903720" y="2010156"/>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0" name="TextBox 9"/>
          <p:cNvSpPr txBox="1"/>
          <p:nvPr/>
        </p:nvSpPr>
        <p:spPr>
          <a:xfrm>
            <a:off x="3881628" y="2014727"/>
            <a:ext cx="2939796" cy="352043"/>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المعلومات المتاحة علناً، إضافة إلى الوثائق الداخلية المقدمة ضمن التكليف.</a:t>
            </a:r>
          </a:p>
        </p:txBody>
      </p:sp>
      <p:sp>
        <p:nvSpPr>
          <p:cNvPr id="11" name="TextBox 10"/>
          <p:cNvSpPr txBox="1"/>
          <p:nvPr/>
        </p:nvSpPr>
        <p:spPr>
          <a:xfrm>
            <a:off x="6903720" y="2375916"/>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2" name="TextBox 11"/>
          <p:cNvSpPr txBox="1"/>
          <p:nvPr/>
        </p:nvSpPr>
        <p:spPr>
          <a:xfrm>
            <a:off x="3881628" y="2380487"/>
            <a:ext cx="2939796" cy="352043"/>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أرقام تكلفة منشورة تُنسب إلى ناشريها، أو تقديرات موسومة صراحة بأنها استرشادية.</a:t>
            </a:r>
          </a:p>
        </p:txBody>
      </p:sp>
      <p:sp>
        <p:nvSpPr>
          <p:cNvPr id="13" name="TextBox 12"/>
          <p:cNvSpPr txBox="1"/>
          <p:nvPr/>
        </p:nvSpPr>
        <p:spPr>
          <a:xfrm>
            <a:off x="566928" y="1554988"/>
            <a:ext cx="3113532" cy="205994"/>
          </a:xfrm>
          <a:prstGeom prst="rect">
            <a:avLst/>
          </a:prstGeom>
          <a:noFill/>
        </p:spPr>
        <p:txBody>
          <a:bodyPr wrap="square" lIns="0" rIns="0" tIns="0" bIns="0">
            <a:spAutoFit/>
          </a:bodyPr>
          <a:lstStyle/>
          <a:p>
            <a:pPr algn="r" rtl="1">
              <a:lnSpc>
                <a:spcPts val="1334"/>
              </a:lnSpc>
            </a:pPr>
            <a:r>
              <a:rPr sz="1150" b="0">
                <a:solidFill>
                  <a:srgbClr val="7C32C9"/>
                </a:solidFill>
                <a:latin typeface="Diodrum Arabic SemiBold"/>
                <a:ea typeface="Diodrum Arabic SemiBold"/>
                <a:cs typeface="Diodrum Arabic SemiBold"/>
              </a:rPr>
              <a:t>خارج النطاق</a:t>
            </a:r>
          </a:p>
        </p:txBody>
      </p:sp>
      <p:sp>
        <p:nvSpPr>
          <p:cNvPr id="14" name="TextBox 13"/>
          <p:cNvSpPr txBox="1"/>
          <p:nvPr/>
        </p:nvSpPr>
        <p:spPr>
          <a:xfrm>
            <a:off x="3589019" y="1802130"/>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5" name="TextBox 14"/>
          <p:cNvSpPr txBox="1"/>
          <p:nvPr/>
        </p:nvSpPr>
        <p:spPr>
          <a:xfrm>
            <a:off x="566928" y="1806702"/>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تقييم الاحتياج الداخلي لكل جهة حكومية.</a:t>
            </a:r>
          </a:p>
        </p:txBody>
      </p:sp>
      <p:sp>
        <p:nvSpPr>
          <p:cNvPr id="16" name="TextBox 15"/>
          <p:cNvSpPr txBox="1"/>
          <p:nvPr/>
        </p:nvSpPr>
        <p:spPr>
          <a:xfrm>
            <a:off x="3589019" y="2010156"/>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7" name="TextBox 16"/>
          <p:cNvSpPr txBox="1"/>
          <p:nvPr/>
        </p:nvSpPr>
        <p:spPr>
          <a:xfrm>
            <a:off x="566928" y="2014727"/>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اختيار مزود محدد.</a:t>
            </a:r>
          </a:p>
        </p:txBody>
      </p:sp>
      <p:sp>
        <p:nvSpPr>
          <p:cNvPr id="18" name="TextBox 17"/>
          <p:cNvSpPr txBox="1"/>
          <p:nvPr/>
        </p:nvSpPr>
        <p:spPr>
          <a:xfrm>
            <a:off x="3589019" y="2218182"/>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9" name="TextBox 18"/>
          <p:cNvSpPr txBox="1"/>
          <p:nvPr/>
        </p:nvSpPr>
        <p:spPr>
          <a:xfrm>
            <a:off x="566928" y="2222754"/>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تقديم أي عرض سعر تعاقدي.</a:t>
            </a:r>
          </a:p>
        </p:txBody>
      </p:sp>
      <p:sp>
        <p:nvSpPr>
          <p:cNvPr id="20" name="Rounded Rectangle 19"/>
          <p:cNvSpPr/>
          <p:nvPr/>
        </p:nvSpPr>
        <p:spPr>
          <a:xfrm>
            <a:off x="4949952" y="2938271"/>
            <a:ext cx="2045207" cy="984821"/>
          </a:xfrm>
          <a:prstGeom prst="roundRect">
            <a:avLst>
              <a:gd name="adj" fmla="val 8356"/>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96256" y="3084575"/>
            <a:ext cx="1752599" cy="329946"/>
          </a:xfrm>
          <a:prstGeom prst="rect">
            <a:avLst/>
          </a:prstGeom>
          <a:noFill/>
        </p:spPr>
        <p:txBody>
          <a:bodyPr wrap="square" lIns="0" rIns="0" tIns="0" bIns="0">
            <a:spAutoFit/>
          </a:bodyPr>
          <a:lstStyle/>
          <a:p>
            <a:pPr algn="r" rtl="1">
              <a:lnSpc>
                <a:spcPts val="2310"/>
              </a:lnSpc>
            </a:pPr>
            <a:r>
              <a:rPr sz="2200" b="1">
                <a:solidFill>
                  <a:srgbClr val="7C32C9"/>
                </a:solidFill>
                <a:latin typeface="Diodrum Arabic"/>
                <a:ea typeface="Diodrum Arabic"/>
                <a:cs typeface="Diodrum Arabic"/>
              </a:rPr>
              <a:t>+300</a:t>
            </a:r>
          </a:p>
        </p:txBody>
      </p:sp>
      <p:sp>
        <p:nvSpPr>
          <p:cNvPr id="22" name="TextBox 21"/>
          <p:cNvSpPr txBox="1"/>
          <p:nvPr/>
        </p:nvSpPr>
        <p:spPr>
          <a:xfrm>
            <a:off x="5096256" y="3465068"/>
            <a:ext cx="1752599" cy="182308"/>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جهة حكومية ضمن نطاق الدراسة</a:t>
            </a:r>
          </a:p>
        </p:txBody>
      </p:sp>
      <p:sp>
        <p:nvSpPr>
          <p:cNvPr id="23" name="TextBox 22"/>
          <p:cNvSpPr txBox="1"/>
          <p:nvPr/>
        </p:nvSpPr>
        <p:spPr>
          <a:xfrm>
            <a:off x="5096256" y="3665664"/>
            <a:ext cx="1752599" cy="164592"/>
          </a:xfrm>
          <a:prstGeom prst="rect">
            <a:avLst/>
          </a:prstGeom>
          <a:noFill/>
        </p:spPr>
        <p:txBody>
          <a:bodyPr wrap="square" lIns="0" rIns="0" tIns="0" bIns="0">
            <a:spAutoFit/>
          </a:bodyPr>
          <a:lstStyle/>
          <a:p>
            <a:pPr algn="r" rtl="1">
              <a:lnSpc>
                <a:spcPts val="875"/>
              </a:lnSpc>
            </a:pPr>
            <a:r>
              <a:rPr sz="700" b="0">
                <a:solidFill>
                  <a:srgbClr val="6E7077"/>
                </a:solidFill>
                <a:latin typeface="Diodrum Arabic"/>
                <a:ea typeface="Diodrum Arabic"/>
                <a:cs typeface="Diodrum Arabic"/>
              </a:rPr>
              <a:t>التكليف [1]</a:t>
            </a:r>
          </a:p>
        </p:txBody>
      </p:sp>
      <p:sp>
        <p:nvSpPr>
          <p:cNvPr id="24" name="Rounded Rectangle 23"/>
          <p:cNvSpPr/>
          <p:nvPr/>
        </p:nvSpPr>
        <p:spPr>
          <a:xfrm>
            <a:off x="2758440" y="2938271"/>
            <a:ext cx="2045207" cy="984821"/>
          </a:xfrm>
          <a:prstGeom prst="roundRect">
            <a:avLst>
              <a:gd name="adj" fmla="val 8356"/>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04744" y="3084575"/>
            <a:ext cx="1752599" cy="329946"/>
          </a:xfrm>
          <a:prstGeom prst="rect">
            <a:avLst/>
          </a:prstGeom>
          <a:noFill/>
        </p:spPr>
        <p:txBody>
          <a:bodyPr wrap="square" lIns="0" rIns="0" tIns="0" bIns="0">
            <a:spAutoFit/>
          </a:bodyPr>
          <a:lstStyle/>
          <a:p>
            <a:pPr algn="r" rtl="1">
              <a:lnSpc>
                <a:spcPts val="2310"/>
              </a:lnSpc>
            </a:pPr>
            <a:r>
              <a:rPr sz="2200" b="1">
                <a:solidFill>
                  <a:srgbClr val="00ABAF"/>
                </a:solidFill>
                <a:latin typeface="Diodrum Arabic"/>
                <a:ea typeface="Diodrum Arabic"/>
                <a:cs typeface="Diodrum Arabic"/>
              </a:rPr>
              <a:t>32</a:t>
            </a:r>
          </a:p>
        </p:txBody>
      </p:sp>
      <p:sp>
        <p:nvSpPr>
          <p:cNvPr id="26" name="TextBox 25"/>
          <p:cNvSpPr txBox="1"/>
          <p:nvPr/>
        </p:nvSpPr>
        <p:spPr>
          <a:xfrm>
            <a:off x="2904744" y="3465068"/>
            <a:ext cx="1752599" cy="328041"/>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برنامجاً موثقاً في سجل المقارنة المعيارية</a:t>
            </a:r>
          </a:p>
        </p:txBody>
      </p:sp>
      <p:sp>
        <p:nvSpPr>
          <p:cNvPr id="27" name="Rounded Rectangle 26"/>
          <p:cNvSpPr/>
          <p:nvPr/>
        </p:nvSpPr>
        <p:spPr>
          <a:xfrm>
            <a:off x="566928" y="2938271"/>
            <a:ext cx="2045207" cy="984821"/>
          </a:xfrm>
          <a:prstGeom prst="roundRect">
            <a:avLst>
              <a:gd name="adj" fmla="val 8356"/>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3084575"/>
            <a:ext cx="1752599" cy="329946"/>
          </a:xfrm>
          <a:prstGeom prst="rect">
            <a:avLst/>
          </a:prstGeom>
          <a:noFill/>
        </p:spPr>
        <p:txBody>
          <a:bodyPr wrap="square" lIns="0" rIns="0" tIns="0" bIns="0">
            <a:spAutoFit/>
          </a:bodyPr>
          <a:lstStyle/>
          <a:p>
            <a:pPr algn="r" rtl="1">
              <a:lnSpc>
                <a:spcPts val="2310"/>
              </a:lnSpc>
            </a:pPr>
            <a:r>
              <a:rPr sz="2200" b="1">
                <a:solidFill>
                  <a:srgbClr val="1CC182"/>
                </a:solidFill>
                <a:latin typeface="Diodrum Arabic"/>
                <a:ea typeface="Diodrum Arabic"/>
                <a:cs typeface="Diodrum Arabic"/>
              </a:rPr>
              <a:t>71</a:t>
            </a:r>
          </a:p>
        </p:txBody>
      </p:sp>
      <p:sp>
        <p:nvSpPr>
          <p:cNvPr id="29" name="TextBox 28"/>
          <p:cNvSpPr txBox="1"/>
          <p:nvPr/>
        </p:nvSpPr>
        <p:spPr>
          <a:xfrm>
            <a:off x="713232" y="3465068"/>
            <a:ext cx="1752599" cy="328041"/>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مصدراً مرقماً يحمل كل منها وسم دليل</a:t>
            </a:r>
          </a:p>
        </p:txBody>
      </p:sp>
      <p:sp>
        <p:nvSpPr>
          <p:cNvPr id="30" name="Rounded Rectangle 29"/>
          <p:cNvSpPr/>
          <p:nvPr/>
        </p:nvSpPr>
        <p:spPr>
          <a:xfrm>
            <a:off x="566928" y="4142549"/>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307141"/>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العبارة القياسية</a:t>
            </a:r>
          </a:p>
        </p:txBody>
      </p:sp>
      <p:sp>
        <p:nvSpPr>
          <p:cNvPr id="32" name="TextBox 31"/>
          <p:cNvSpPr txBox="1"/>
          <p:nvPr/>
        </p:nvSpPr>
        <p:spPr>
          <a:xfrm>
            <a:off x="731520" y="4516691"/>
            <a:ext cx="6099047" cy="361187"/>
          </a:xfrm>
          <a:prstGeom prst="rect">
            <a:avLst/>
          </a:prstGeom>
          <a:noFill/>
        </p:spPr>
        <p:txBody>
          <a:bodyPr wrap="square" lIns="0" rIns="0" tIns="0" bIns="0">
            <a:spAutoFit/>
          </a:bodyPr>
          <a:lstStyle/>
          <a:p>
            <a:pPr algn="r" rtl="1">
              <a:lnSpc>
                <a:spcPts val="1278"/>
              </a:lnSpc>
            </a:pPr>
            <a:r>
              <a:rPr sz="900" b="0">
                <a:solidFill>
                  <a:srgbClr val="474956"/>
                </a:solidFill>
                <a:latin typeface="Diodrum Arabic"/>
                <a:ea typeface="Diodrum Arabic"/>
                <a:cs typeface="Diodrum Arabic"/>
              </a:rPr>
              <a:t>عندما لا تتوافر معلومات منشورة عن برنامج معين، تستخدم الدراسة عبارة «لم تحدد المراجعة برنامجاً متخصصاً موثقاً علناً» — دون افتراض عدم وجوده.</a:t>
            </a:r>
          </a:p>
        </p:txBody>
      </p:sp>
      <p:sp>
        <p:nvSpPr>
          <p:cNvPr id="33" name="Rectangle 32"/>
          <p:cNvSpPr/>
          <p:nvPr/>
        </p:nvSpPr>
        <p:spPr>
          <a:xfrm>
            <a:off x="6949440" y="5233161"/>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5242305"/>
            <a:ext cx="6199631" cy="211836"/>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ولأن قيمة دراسة كهذه تقاس بقوة أدلتها، تعرض الصفحة التالية نظام تصنيف الأدلة المعتمد في جميع الأقسام.</a:t>
            </a:r>
          </a:p>
        </p:txBody>
      </p:sp>
      <p:sp>
        <p:nvSpPr>
          <p:cNvPr id="35" name="Rectangle 34"/>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37" name="TextBox 36"/>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01 · 1.3  منهجية المقارنة وتصنيف الأدلة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ثمانية رموز للأدلة، تُعلن مرة واحدة</a:t>
            </a:r>
          </a:p>
        </p:txBody>
      </p:sp>
      <p:sp>
        <p:nvSpPr>
          <p:cNvPr id="4" name="TextBox 3"/>
          <p:cNvSpPr txBox="1"/>
          <p:nvPr/>
        </p:nvSpPr>
        <p:spPr>
          <a:xfrm>
            <a:off x="566928" y="1111758"/>
            <a:ext cx="6428231" cy="374395"/>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تحمل كل معلومة مهمة علامة مصدر مرقمة تقود إلى سجل المراجع — الجهة والعنوان والرابط الكامل وتاريخ الفحص. ويُلحق بكل مصدر رمز يصف طبيعة الدليل وقوته.</a:t>
            </a:r>
          </a:p>
        </p:txBody>
      </p:sp>
      <p:sp>
        <p:nvSpPr>
          <p:cNvPr id="5" name="Rectangle 4"/>
          <p:cNvSpPr/>
          <p:nvPr/>
        </p:nvSpPr>
        <p:spPr>
          <a:xfrm>
            <a:off x="6492240" y="154101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4114" y="1723898"/>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611112" y="1833626"/>
            <a:ext cx="274320" cy="219456"/>
          </a:xfrm>
          <a:prstGeom prst="roundRect">
            <a:avLst>
              <a:gd name="adj" fmla="val 25000"/>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S</a:t>
            </a:r>
          </a:p>
        </p:txBody>
      </p:sp>
      <p:sp>
        <p:nvSpPr>
          <p:cNvPr id="8" name="TextBox 7"/>
          <p:cNvSpPr txBox="1"/>
          <p:nvPr/>
        </p:nvSpPr>
        <p:spPr>
          <a:xfrm>
            <a:off x="5593842" y="2144522"/>
            <a:ext cx="1291589" cy="182880"/>
          </a:xfrm>
          <a:prstGeom prst="rect">
            <a:avLst/>
          </a:prstGeom>
          <a:noFill/>
        </p:spPr>
        <p:txBody>
          <a:bodyPr wrap="square" lIns="0" rIns="0" tIns="0" bIns="0">
            <a:spAutoFit/>
          </a:bodyPr>
          <a:lstStyle/>
          <a:p>
            <a:pPr algn="r" rtl="1">
              <a:lnSpc>
                <a:spcPts val="1152"/>
              </a:lnSpc>
            </a:pPr>
            <a:r>
              <a:rPr sz="900" b="0">
                <a:solidFill>
                  <a:srgbClr val="232046"/>
                </a:solidFill>
                <a:latin typeface="Diodrum Arabic SemiBold"/>
                <a:ea typeface="Diodrum Arabic SemiBold"/>
                <a:cs typeface="Diodrum Arabic SemiBold"/>
              </a:rPr>
              <a:t>إحصاء أو مسح</a:t>
            </a:r>
          </a:p>
        </p:txBody>
      </p:sp>
      <p:sp>
        <p:nvSpPr>
          <p:cNvPr id="9" name="TextBox 8"/>
          <p:cNvSpPr txBox="1"/>
          <p:nvPr/>
        </p:nvSpPr>
        <p:spPr>
          <a:xfrm>
            <a:off x="5593842" y="2327402"/>
            <a:ext cx="1291589" cy="288036"/>
          </a:xfrm>
          <a:prstGeom prst="rect">
            <a:avLst/>
          </a:prstGeom>
          <a:noFill/>
        </p:spPr>
        <p:txBody>
          <a:bodyPr wrap="square" lIns="0" rIns="0" tIns="0" bIns="0">
            <a:spAutoFit/>
          </a:bodyPr>
          <a:lstStyle/>
          <a:p>
            <a:pPr algn="r" rtl="1">
              <a:lnSpc>
                <a:spcPts val="990"/>
              </a:lnSpc>
            </a:pPr>
            <a:r>
              <a:rPr sz="750" b="0">
                <a:solidFill>
                  <a:srgbClr val="6E7077"/>
                </a:solidFill>
                <a:latin typeface="Diodrum Arabic"/>
                <a:ea typeface="Diodrum Arabic"/>
                <a:cs typeface="Diodrum Arabic"/>
              </a:rPr>
              <a:t>يُستخدم ضمن حدود العينة والمنهجية.</a:t>
            </a:r>
          </a:p>
        </p:txBody>
      </p:sp>
      <p:sp>
        <p:nvSpPr>
          <p:cNvPr id="10" name="Rounded Rectangle 9"/>
          <p:cNvSpPr/>
          <p:nvPr/>
        </p:nvSpPr>
        <p:spPr>
          <a:xfrm>
            <a:off x="3845052" y="1723898"/>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72050" y="1833626"/>
            <a:ext cx="274320" cy="219456"/>
          </a:xfrm>
          <a:prstGeom prst="roundRect">
            <a:avLst>
              <a:gd name="adj" fmla="val 25000"/>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E</a:t>
            </a:r>
          </a:p>
        </p:txBody>
      </p:sp>
      <p:sp>
        <p:nvSpPr>
          <p:cNvPr id="12" name="TextBox 11"/>
          <p:cNvSpPr txBox="1"/>
          <p:nvPr/>
        </p:nvSpPr>
        <p:spPr>
          <a:xfrm>
            <a:off x="3954780" y="2144522"/>
            <a:ext cx="1291589" cy="182880"/>
          </a:xfrm>
          <a:prstGeom prst="rect">
            <a:avLst/>
          </a:prstGeom>
          <a:noFill/>
        </p:spPr>
        <p:txBody>
          <a:bodyPr wrap="square" lIns="0" rIns="0" tIns="0" bIns="0">
            <a:spAutoFit/>
          </a:bodyPr>
          <a:lstStyle/>
          <a:p>
            <a:pPr algn="r" rtl="1">
              <a:lnSpc>
                <a:spcPts val="1152"/>
              </a:lnSpc>
            </a:pPr>
            <a:r>
              <a:rPr sz="900" b="0">
                <a:solidFill>
                  <a:srgbClr val="232046"/>
                </a:solidFill>
                <a:latin typeface="Diodrum Arabic SemiBold"/>
                <a:ea typeface="Diodrum Arabic SemiBold"/>
                <a:cs typeface="Diodrum Arabic SemiBold"/>
              </a:rPr>
              <a:t>تقييم مستقل</a:t>
            </a:r>
          </a:p>
        </p:txBody>
      </p:sp>
      <p:sp>
        <p:nvSpPr>
          <p:cNvPr id="13" name="TextBox 12"/>
          <p:cNvSpPr txBox="1"/>
          <p:nvPr/>
        </p:nvSpPr>
        <p:spPr>
          <a:xfrm>
            <a:off x="3954780" y="2327402"/>
            <a:ext cx="1291589" cy="164592"/>
          </a:xfrm>
          <a:prstGeom prst="rect">
            <a:avLst/>
          </a:prstGeom>
          <a:noFill/>
        </p:spPr>
        <p:txBody>
          <a:bodyPr wrap="square" lIns="0" rIns="0" tIns="0" bIns="0">
            <a:spAutoFit/>
          </a:bodyPr>
          <a:lstStyle/>
          <a:p>
            <a:pPr algn="r" rtl="1">
              <a:lnSpc>
                <a:spcPts val="990"/>
              </a:lnSpc>
            </a:pPr>
            <a:r>
              <a:rPr sz="750" b="0">
                <a:solidFill>
                  <a:srgbClr val="6E7077"/>
                </a:solidFill>
                <a:latin typeface="Diodrum Arabic"/>
                <a:ea typeface="Diodrum Arabic"/>
                <a:cs typeface="Diodrum Arabic"/>
              </a:rPr>
              <a:t>أقوى دليل متاح على الفاعلية.</a:t>
            </a:r>
          </a:p>
        </p:txBody>
      </p:sp>
      <p:sp>
        <p:nvSpPr>
          <p:cNvPr id="14" name="Rounded Rectangle 13"/>
          <p:cNvSpPr/>
          <p:nvPr/>
        </p:nvSpPr>
        <p:spPr>
          <a:xfrm>
            <a:off x="2205990" y="1723898"/>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32987" y="1833626"/>
            <a:ext cx="274320" cy="219456"/>
          </a:xfrm>
          <a:prstGeom prst="roundRect">
            <a:avLst>
              <a:gd name="adj" fmla="val 25000"/>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P</a:t>
            </a:r>
          </a:p>
        </p:txBody>
      </p:sp>
      <p:sp>
        <p:nvSpPr>
          <p:cNvPr id="16" name="TextBox 15"/>
          <p:cNvSpPr txBox="1"/>
          <p:nvPr/>
        </p:nvSpPr>
        <p:spPr>
          <a:xfrm>
            <a:off x="2315718" y="2144522"/>
            <a:ext cx="1291589" cy="182880"/>
          </a:xfrm>
          <a:prstGeom prst="rect">
            <a:avLst/>
          </a:prstGeom>
          <a:noFill/>
        </p:spPr>
        <p:txBody>
          <a:bodyPr wrap="square" lIns="0" rIns="0" tIns="0" bIns="0">
            <a:spAutoFit/>
          </a:bodyPr>
          <a:lstStyle/>
          <a:p>
            <a:pPr algn="r" rtl="1">
              <a:lnSpc>
                <a:spcPts val="1152"/>
              </a:lnSpc>
            </a:pPr>
            <a:r>
              <a:rPr sz="900" b="0">
                <a:solidFill>
                  <a:srgbClr val="232046"/>
                </a:solidFill>
                <a:latin typeface="Diodrum Arabic SemiBold"/>
                <a:ea typeface="Diodrum Arabic SemiBold"/>
                <a:cs typeface="Diodrum Arabic SemiBold"/>
              </a:rPr>
              <a:t>إعلان مزود أو منظم</a:t>
            </a:r>
          </a:p>
        </p:txBody>
      </p:sp>
      <p:sp>
        <p:nvSpPr>
          <p:cNvPr id="17" name="TextBox 16"/>
          <p:cNvSpPr txBox="1"/>
          <p:nvPr/>
        </p:nvSpPr>
        <p:spPr>
          <a:xfrm>
            <a:off x="2315718" y="2327402"/>
            <a:ext cx="1291589" cy="288036"/>
          </a:xfrm>
          <a:prstGeom prst="rect">
            <a:avLst/>
          </a:prstGeom>
          <a:noFill/>
        </p:spPr>
        <p:txBody>
          <a:bodyPr wrap="square" lIns="0" rIns="0" tIns="0" bIns="0">
            <a:spAutoFit/>
          </a:bodyPr>
          <a:lstStyle/>
          <a:p>
            <a:pPr algn="r" rtl="1">
              <a:lnSpc>
                <a:spcPts val="990"/>
              </a:lnSpc>
            </a:pPr>
            <a:r>
              <a:rPr sz="750" b="0">
                <a:solidFill>
                  <a:srgbClr val="6E7077"/>
                </a:solidFill>
                <a:latin typeface="Diodrum Arabic"/>
                <a:ea typeface="Diodrum Arabic"/>
                <a:cs typeface="Diodrum Arabic"/>
              </a:rPr>
              <a:t>يثبت التصميم المعلن، لا النتائج.</a:t>
            </a:r>
          </a:p>
        </p:txBody>
      </p:sp>
      <p:sp>
        <p:nvSpPr>
          <p:cNvPr id="18" name="Rounded Rectangle 17"/>
          <p:cNvSpPr/>
          <p:nvPr/>
        </p:nvSpPr>
        <p:spPr>
          <a:xfrm>
            <a:off x="566928" y="1723898"/>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693925" y="1833626"/>
            <a:ext cx="274320" cy="219456"/>
          </a:xfrm>
          <a:prstGeom prst="roundRect">
            <a:avLst>
              <a:gd name="adj" fmla="val 25000"/>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R</a:t>
            </a:r>
          </a:p>
        </p:txBody>
      </p:sp>
      <p:sp>
        <p:nvSpPr>
          <p:cNvPr id="20" name="TextBox 19"/>
          <p:cNvSpPr txBox="1"/>
          <p:nvPr/>
        </p:nvSpPr>
        <p:spPr>
          <a:xfrm>
            <a:off x="676656" y="2144522"/>
            <a:ext cx="1291589" cy="182880"/>
          </a:xfrm>
          <a:prstGeom prst="rect">
            <a:avLst/>
          </a:prstGeom>
          <a:noFill/>
        </p:spPr>
        <p:txBody>
          <a:bodyPr wrap="square" lIns="0" rIns="0" tIns="0" bIns="0">
            <a:spAutoFit/>
          </a:bodyPr>
          <a:lstStyle/>
          <a:p>
            <a:pPr algn="r" rtl="1">
              <a:lnSpc>
                <a:spcPts val="1152"/>
              </a:lnSpc>
            </a:pPr>
            <a:r>
              <a:rPr sz="900" b="0">
                <a:solidFill>
                  <a:srgbClr val="232046"/>
                </a:solidFill>
                <a:latin typeface="Diodrum Arabic SemiBold"/>
                <a:ea typeface="Diodrum Arabic SemiBold"/>
                <a:cs typeface="Diodrum Arabic SemiBold"/>
              </a:rPr>
              <a:t>سجل رسمي</a:t>
            </a:r>
          </a:p>
        </p:txBody>
      </p:sp>
      <p:sp>
        <p:nvSpPr>
          <p:cNvPr id="21" name="TextBox 20"/>
          <p:cNvSpPr txBox="1"/>
          <p:nvPr/>
        </p:nvSpPr>
        <p:spPr>
          <a:xfrm>
            <a:off x="676656" y="2327402"/>
            <a:ext cx="1291589" cy="288036"/>
          </a:xfrm>
          <a:prstGeom prst="rect">
            <a:avLst/>
          </a:prstGeom>
          <a:noFill/>
        </p:spPr>
        <p:txBody>
          <a:bodyPr wrap="square" lIns="0" rIns="0" tIns="0" bIns="0">
            <a:spAutoFit/>
          </a:bodyPr>
          <a:lstStyle/>
          <a:p>
            <a:pPr algn="r" rtl="1">
              <a:lnSpc>
                <a:spcPts val="990"/>
              </a:lnSpc>
            </a:pPr>
            <a:r>
              <a:rPr sz="750" b="0">
                <a:solidFill>
                  <a:srgbClr val="6E7077"/>
                </a:solidFill>
                <a:latin typeface="Diodrum Arabic"/>
                <a:ea typeface="Diodrum Arabic"/>
                <a:cs typeface="Diodrum Arabic"/>
              </a:rPr>
              <a:t>يُستخدم للسياسات والأرقام الرسمية.</a:t>
            </a:r>
          </a:p>
        </p:txBody>
      </p:sp>
      <p:sp>
        <p:nvSpPr>
          <p:cNvPr id="22" name="Rounded Rectangle 21"/>
          <p:cNvSpPr/>
          <p:nvPr/>
        </p:nvSpPr>
        <p:spPr>
          <a:xfrm>
            <a:off x="5484114" y="2816606"/>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611112" y="2926334"/>
            <a:ext cx="274320" cy="219456"/>
          </a:xfrm>
          <a:prstGeom prst="roundRect">
            <a:avLst>
              <a:gd name="adj" fmla="val 25000"/>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N</a:t>
            </a:r>
          </a:p>
        </p:txBody>
      </p:sp>
      <p:sp>
        <p:nvSpPr>
          <p:cNvPr id="24" name="TextBox 23"/>
          <p:cNvSpPr txBox="1"/>
          <p:nvPr/>
        </p:nvSpPr>
        <p:spPr>
          <a:xfrm>
            <a:off x="5593842" y="3237230"/>
            <a:ext cx="1291589" cy="182880"/>
          </a:xfrm>
          <a:prstGeom prst="rect">
            <a:avLst/>
          </a:prstGeom>
          <a:noFill/>
        </p:spPr>
        <p:txBody>
          <a:bodyPr wrap="square" lIns="0" rIns="0" tIns="0" bIns="0">
            <a:spAutoFit/>
          </a:bodyPr>
          <a:lstStyle/>
          <a:p>
            <a:pPr algn="r" rtl="1">
              <a:lnSpc>
                <a:spcPts val="1152"/>
              </a:lnSpc>
            </a:pPr>
            <a:r>
              <a:rPr sz="900" b="0">
                <a:solidFill>
                  <a:srgbClr val="232046"/>
                </a:solidFill>
                <a:latin typeface="Diodrum Arabic SemiBold"/>
                <a:ea typeface="Diodrum Arabic SemiBold"/>
                <a:cs typeface="Diodrum Arabic SemiBold"/>
              </a:rPr>
              <a:t>مصدر صحفي موثوق</a:t>
            </a:r>
          </a:p>
        </p:txBody>
      </p:sp>
      <p:sp>
        <p:nvSpPr>
          <p:cNvPr id="25" name="TextBox 24"/>
          <p:cNvSpPr txBox="1"/>
          <p:nvPr/>
        </p:nvSpPr>
        <p:spPr>
          <a:xfrm>
            <a:off x="5593842" y="3420110"/>
            <a:ext cx="1291589" cy="288036"/>
          </a:xfrm>
          <a:prstGeom prst="rect">
            <a:avLst/>
          </a:prstGeom>
          <a:noFill/>
        </p:spPr>
        <p:txBody>
          <a:bodyPr wrap="square" lIns="0" rIns="0" tIns="0" bIns="0">
            <a:spAutoFit/>
          </a:bodyPr>
          <a:lstStyle/>
          <a:p>
            <a:pPr algn="r" rtl="1">
              <a:lnSpc>
                <a:spcPts val="990"/>
              </a:lnSpc>
            </a:pPr>
            <a:r>
              <a:rPr sz="750" b="0">
                <a:solidFill>
                  <a:srgbClr val="6E7077"/>
                </a:solidFill>
                <a:latin typeface="Diodrum Arabic"/>
                <a:ea typeface="Diodrum Arabic"/>
                <a:cs typeface="Diodrum Arabic"/>
              </a:rPr>
              <a:t>يوثق الحدث ويُقرأ مع مصادر أخرى.</a:t>
            </a:r>
          </a:p>
        </p:txBody>
      </p:sp>
      <p:sp>
        <p:nvSpPr>
          <p:cNvPr id="26" name="Rounded Rectangle 25"/>
          <p:cNvSpPr/>
          <p:nvPr/>
        </p:nvSpPr>
        <p:spPr>
          <a:xfrm>
            <a:off x="3845052" y="2816606"/>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972050" y="2926334"/>
            <a:ext cx="274320" cy="219456"/>
          </a:xfrm>
          <a:prstGeom prst="roundRect">
            <a:avLst>
              <a:gd name="adj" fmla="val 25000"/>
            </a:avLst>
          </a:prstGeom>
          <a:solidFill>
            <a:srgbClr val="6E707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I</a:t>
            </a:r>
          </a:p>
        </p:txBody>
      </p:sp>
      <p:sp>
        <p:nvSpPr>
          <p:cNvPr id="28" name="TextBox 27"/>
          <p:cNvSpPr txBox="1"/>
          <p:nvPr/>
        </p:nvSpPr>
        <p:spPr>
          <a:xfrm>
            <a:off x="3954780" y="3237230"/>
            <a:ext cx="1291589" cy="182880"/>
          </a:xfrm>
          <a:prstGeom prst="rect">
            <a:avLst/>
          </a:prstGeom>
          <a:noFill/>
        </p:spPr>
        <p:txBody>
          <a:bodyPr wrap="square" lIns="0" rIns="0" tIns="0" bIns="0">
            <a:spAutoFit/>
          </a:bodyPr>
          <a:lstStyle/>
          <a:p>
            <a:pPr algn="r" rtl="1">
              <a:lnSpc>
                <a:spcPts val="1152"/>
              </a:lnSpc>
            </a:pPr>
            <a:r>
              <a:rPr sz="900" b="0">
                <a:solidFill>
                  <a:srgbClr val="232046"/>
                </a:solidFill>
                <a:latin typeface="Diodrum Arabic SemiBold"/>
                <a:ea typeface="Diodrum Arabic SemiBold"/>
                <a:cs typeface="Diodrum Arabic SemiBold"/>
              </a:rPr>
              <a:t>مدخلات الجهة الطالبة</a:t>
            </a:r>
          </a:p>
        </p:txBody>
      </p:sp>
      <p:sp>
        <p:nvSpPr>
          <p:cNvPr id="29" name="TextBox 28"/>
          <p:cNvSpPr txBox="1"/>
          <p:nvPr/>
        </p:nvSpPr>
        <p:spPr>
          <a:xfrm>
            <a:off x="3954780" y="3420110"/>
            <a:ext cx="1291589" cy="164592"/>
          </a:xfrm>
          <a:prstGeom prst="rect">
            <a:avLst/>
          </a:prstGeom>
          <a:noFill/>
        </p:spPr>
        <p:txBody>
          <a:bodyPr wrap="square" lIns="0" rIns="0" tIns="0" bIns="0">
            <a:spAutoFit/>
          </a:bodyPr>
          <a:lstStyle/>
          <a:p>
            <a:pPr algn="r" rtl="1">
              <a:lnSpc>
                <a:spcPts val="990"/>
              </a:lnSpc>
            </a:pPr>
            <a:r>
              <a:rPr sz="750" b="0">
                <a:solidFill>
                  <a:srgbClr val="6E7077"/>
                </a:solidFill>
                <a:latin typeface="Diodrum Arabic"/>
                <a:ea typeface="Diodrum Arabic"/>
                <a:cs typeface="Diodrum Arabic"/>
              </a:rPr>
              <a:t>تمثل السياق الداخلي للتكليف.</a:t>
            </a:r>
          </a:p>
        </p:txBody>
      </p:sp>
      <p:sp>
        <p:nvSpPr>
          <p:cNvPr id="30" name="Rounded Rectangle 29"/>
          <p:cNvSpPr/>
          <p:nvPr/>
        </p:nvSpPr>
        <p:spPr>
          <a:xfrm>
            <a:off x="2205990" y="2816606"/>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332987" y="2926334"/>
            <a:ext cx="274320" cy="219456"/>
          </a:xfrm>
          <a:prstGeom prst="roundRect">
            <a:avLst>
              <a:gd name="adj" fmla="val 25000"/>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J</a:t>
            </a:r>
          </a:p>
        </p:txBody>
      </p:sp>
      <p:sp>
        <p:nvSpPr>
          <p:cNvPr id="32" name="TextBox 31"/>
          <p:cNvSpPr txBox="1"/>
          <p:nvPr/>
        </p:nvSpPr>
        <p:spPr>
          <a:xfrm>
            <a:off x="2315718" y="3237230"/>
            <a:ext cx="1291589" cy="182880"/>
          </a:xfrm>
          <a:prstGeom prst="rect">
            <a:avLst/>
          </a:prstGeom>
          <a:noFill/>
        </p:spPr>
        <p:txBody>
          <a:bodyPr wrap="square" lIns="0" rIns="0" tIns="0" bIns="0">
            <a:spAutoFit/>
          </a:bodyPr>
          <a:lstStyle/>
          <a:p>
            <a:pPr algn="r" rtl="1">
              <a:lnSpc>
                <a:spcPts val="1152"/>
              </a:lnSpc>
            </a:pPr>
            <a:r>
              <a:rPr sz="900" b="0">
                <a:solidFill>
                  <a:srgbClr val="232046"/>
                </a:solidFill>
                <a:latin typeface="Diodrum Arabic SemiBold"/>
                <a:ea typeface="Diodrum Arabic SemiBold"/>
                <a:cs typeface="Diodrum Arabic SemiBold"/>
              </a:rPr>
              <a:t>استنتاج تحليلي</a:t>
            </a:r>
          </a:p>
        </p:txBody>
      </p:sp>
      <p:sp>
        <p:nvSpPr>
          <p:cNvPr id="33" name="TextBox 32"/>
          <p:cNvSpPr txBox="1"/>
          <p:nvPr/>
        </p:nvSpPr>
        <p:spPr>
          <a:xfrm>
            <a:off x="2315718" y="3420110"/>
            <a:ext cx="1291589" cy="164592"/>
          </a:xfrm>
          <a:prstGeom prst="rect">
            <a:avLst/>
          </a:prstGeom>
          <a:noFill/>
        </p:spPr>
        <p:txBody>
          <a:bodyPr wrap="square" lIns="0" rIns="0" tIns="0" bIns="0">
            <a:spAutoFit/>
          </a:bodyPr>
          <a:lstStyle/>
          <a:p>
            <a:pPr algn="r" rtl="1">
              <a:lnSpc>
                <a:spcPts val="990"/>
              </a:lnSpc>
            </a:pPr>
            <a:r>
              <a:rPr sz="750" b="0">
                <a:solidFill>
                  <a:srgbClr val="6E7077"/>
                </a:solidFill>
                <a:latin typeface="Diodrum Arabic"/>
                <a:ea typeface="Diodrum Arabic"/>
                <a:cs typeface="Diodrum Arabic"/>
              </a:rPr>
              <a:t>يُبنى من جمع أكثر من دليل.</a:t>
            </a:r>
          </a:p>
        </p:txBody>
      </p:sp>
      <p:sp>
        <p:nvSpPr>
          <p:cNvPr id="34" name="Rounded Rectangle 33"/>
          <p:cNvSpPr/>
          <p:nvPr/>
        </p:nvSpPr>
        <p:spPr>
          <a:xfrm>
            <a:off x="566928" y="2816606"/>
            <a:ext cx="1511045" cy="964692"/>
          </a:xfrm>
          <a:prstGeom prst="roundRect">
            <a:avLst>
              <a:gd name="adj" fmla="val 853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693925" y="2926334"/>
            <a:ext cx="274320" cy="219456"/>
          </a:xfrm>
          <a:prstGeom prst="roundRect">
            <a:avLst>
              <a:gd name="adj" fmla="val 25000"/>
            </a:avLst>
          </a:prstGeom>
          <a:solidFill>
            <a:srgbClr val="C845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0">
                <a:solidFill>
                  <a:srgbClr val="FFFFFF"/>
                </a:solidFill>
                <a:latin typeface="Diodrum Arabic SemiBold"/>
                <a:ea typeface="Diodrum Arabic SemiBold"/>
                <a:cs typeface="Diodrum Arabic SemiBold"/>
              </a:rPr>
              <a:t>T</a:t>
            </a:r>
          </a:p>
        </p:txBody>
      </p:sp>
      <p:sp>
        <p:nvSpPr>
          <p:cNvPr id="36" name="TextBox 35"/>
          <p:cNvSpPr txBox="1"/>
          <p:nvPr/>
        </p:nvSpPr>
        <p:spPr>
          <a:xfrm>
            <a:off x="676656" y="3237230"/>
            <a:ext cx="1291589" cy="182880"/>
          </a:xfrm>
          <a:prstGeom prst="rect">
            <a:avLst/>
          </a:prstGeom>
          <a:noFill/>
        </p:spPr>
        <p:txBody>
          <a:bodyPr wrap="square" lIns="0" rIns="0" tIns="0" bIns="0">
            <a:spAutoFit/>
          </a:bodyPr>
          <a:lstStyle/>
          <a:p>
            <a:pPr algn="r" rtl="1">
              <a:lnSpc>
                <a:spcPts val="1152"/>
              </a:lnSpc>
            </a:pPr>
            <a:r>
              <a:rPr sz="900" b="0">
                <a:solidFill>
                  <a:srgbClr val="232046"/>
                </a:solidFill>
                <a:latin typeface="Diodrum Arabic SemiBold"/>
                <a:ea typeface="Diodrum Arabic SemiBold"/>
                <a:cs typeface="Diodrum Arabic SemiBold"/>
              </a:rPr>
              <a:t>تقدير استرشادي</a:t>
            </a:r>
          </a:p>
        </p:txBody>
      </p:sp>
      <p:sp>
        <p:nvSpPr>
          <p:cNvPr id="37" name="TextBox 36"/>
          <p:cNvSpPr txBox="1"/>
          <p:nvPr/>
        </p:nvSpPr>
        <p:spPr>
          <a:xfrm>
            <a:off x="676656" y="3420110"/>
            <a:ext cx="1291589" cy="164592"/>
          </a:xfrm>
          <a:prstGeom prst="rect">
            <a:avLst/>
          </a:prstGeom>
          <a:noFill/>
        </p:spPr>
        <p:txBody>
          <a:bodyPr wrap="square" lIns="0" rIns="0" tIns="0" bIns="0">
            <a:spAutoFit/>
          </a:bodyPr>
          <a:lstStyle/>
          <a:p>
            <a:pPr algn="r" rtl="1">
              <a:lnSpc>
                <a:spcPts val="990"/>
              </a:lnSpc>
            </a:pPr>
            <a:r>
              <a:rPr sz="750" b="0">
                <a:solidFill>
                  <a:srgbClr val="6E7077"/>
                </a:solidFill>
                <a:latin typeface="Diodrum Arabic"/>
                <a:ea typeface="Diodrum Arabic"/>
                <a:cs typeface="Diodrum Arabic"/>
              </a:rPr>
              <a:t>يُبنى على افتراضات معلنة.</a:t>
            </a:r>
          </a:p>
        </p:txBody>
      </p:sp>
      <p:sp>
        <p:nvSpPr>
          <p:cNvPr id="38" name="Rounded Rectangle 37"/>
          <p:cNvSpPr/>
          <p:nvPr/>
        </p:nvSpPr>
        <p:spPr>
          <a:xfrm>
            <a:off x="566928" y="4000754"/>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165346"/>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إعلان واحد، واستخدام في كل الأقسام</a:t>
            </a:r>
          </a:p>
        </p:txBody>
      </p:sp>
      <p:sp>
        <p:nvSpPr>
          <p:cNvPr id="40" name="TextBox 39"/>
          <p:cNvSpPr txBox="1"/>
          <p:nvPr/>
        </p:nvSpPr>
        <p:spPr>
          <a:xfrm>
            <a:off x="731520" y="4374896"/>
            <a:ext cx="6099047" cy="361187"/>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تُعرض هذه الرموز مرة واحدة هنا، ثم تُستخدم في المواضع التي تقتضيها الحاجة دون شرح مكرر. فإعلانات المزودين (P) تثبت التصميم لا الأثر؛ والاستنتاجات التحليلية (J) والتقديرات الاسترشادية (T) هي من عمل الدراسة وتوسم بذلك.</a:t>
            </a:r>
          </a:p>
        </p:txBody>
      </p:sp>
      <p:sp>
        <p:nvSpPr>
          <p:cNvPr id="41" name="Rectangle 40"/>
          <p:cNvSpPr/>
          <p:nvPr/>
        </p:nvSpPr>
        <p:spPr>
          <a:xfrm>
            <a:off x="6949440" y="5091366"/>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5100510"/>
            <a:ext cx="6199631" cy="211836"/>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وبعد تثبيت النطاق ونظام الأدلة، تقرأ الصفحتان التاليتان مؤشرات الطلب العالمي وموقع المملكة منها.</a:t>
            </a:r>
          </a:p>
        </p:txBody>
      </p:sp>
      <p:sp>
        <p:nvSpPr>
          <p:cNvPr id="43" name="Rectangle 42"/>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5" name="TextBox 44"/>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01 · 1.4  مؤشرات الطلب العالمي</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التبني يتسع؛ والأثر المالي المرتفع لا يزال نادراً</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تُقدَّم الأرقام الآتية مؤشراتٍ على الحاجة إلى تطوير القدرة القيادية — لا إثباتاً سببياً بأن القيادة هي العامل الوحيد في فجوة القيمة.</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949952" y="1554988"/>
            <a:ext cx="2045207" cy="1304226"/>
          </a:xfrm>
          <a:prstGeom prst="roundRect">
            <a:avLst>
              <a:gd name="adj" fmla="val 6309"/>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96256" y="1701292"/>
            <a:ext cx="1752599" cy="356616"/>
          </a:xfrm>
          <a:prstGeom prst="rect">
            <a:avLst/>
          </a:prstGeom>
          <a:noFill/>
        </p:spPr>
        <p:txBody>
          <a:bodyPr wrap="square" lIns="0" rIns="0" tIns="0" bIns="0">
            <a:spAutoFit/>
          </a:bodyPr>
          <a:lstStyle/>
          <a:p>
            <a:pPr algn="r" rtl="1">
              <a:lnSpc>
                <a:spcPts val="2520"/>
              </a:lnSpc>
            </a:pPr>
            <a:r>
              <a:rPr sz="2400" b="1">
                <a:solidFill>
                  <a:srgbClr val="7C32C9"/>
                </a:solidFill>
                <a:latin typeface="Diodrum Arabic"/>
                <a:ea typeface="Diodrum Arabic"/>
                <a:cs typeface="Diodrum Arabic"/>
              </a:rPr>
              <a:t>78% ← 88%</a:t>
            </a:r>
          </a:p>
        </p:txBody>
      </p:sp>
      <p:sp>
        <p:nvSpPr>
          <p:cNvPr id="8" name="TextBox 7"/>
          <p:cNvSpPr txBox="1"/>
          <p:nvPr/>
        </p:nvSpPr>
        <p:spPr>
          <a:xfrm>
            <a:off x="5096256" y="2109724"/>
            <a:ext cx="1752599" cy="473773"/>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نسبة المؤسسات التي تستخدم الذكاء الاصطناعي، من مارس إلى نوفمبر 2025</a:t>
            </a:r>
          </a:p>
        </p:txBody>
      </p:sp>
      <p:sp>
        <p:nvSpPr>
          <p:cNvPr id="9" name="TextBox 8"/>
          <p:cNvSpPr txBox="1"/>
          <p:nvPr/>
        </p:nvSpPr>
        <p:spPr>
          <a:xfrm>
            <a:off x="5096256" y="2601785"/>
            <a:ext cx="1752599" cy="164592"/>
          </a:xfrm>
          <a:prstGeom prst="rect">
            <a:avLst/>
          </a:prstGeom>
          <a:noFill/>
        </p:spPr>
        <p:txBody>
          <a:bodyPr wrap="square" lIns="0" rIns="0" tIns="0" bIns="0">
            <a:spAutoFit/>
          </a:bodyPr>
          <a:lstStyle/>
          <a:p>
            <a:pPr algn="r" rtl="1">
              <a:lnSpc>
                <a:spcPts val="875"/>
              </a:lnSpc>
            </a:pPr>
            <a:r>
              <a:rPr sz="700" b="0">
                <a:solidFill>
                  <a:srgbClr val="6E7077"/>
                </a:solidFill>
                <a:latin typeface="Diodrum Arabic"/>
                <a:ea typeface="Diodrum Arabic"/>
                <a:cs typeface="Diodrum Arabic"/>
              </a:rPr>
              <a:t>مسوح «ماكنزي» [2][3]</a:t>
            </a:r>
          </a:p>
        </p:txBody>
      </p:sp>
      <p:sp>
        <p:nvSpPr>
          <p:cNvPr id="10" name="Rounded Rectangle 9"/>
          <p:cNvSpPr/>
          <p:nvPr/>
        </p:nvSpPr>
        <p:spPr>
          <a:xfrm>
            <a:off x="2758440" y="1554988"/>
            <a:ext cx="2045207" cy="1304226"/>
          </a:xfrm>
          <a:prstGeom prst="roundRect">
            <a:avLst>
              <a:gd name="adj" fmla="val 6309"/>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4744" y="1701292"/>
            <a:ext cx="1752599" cy="356616"/>
          </a:xfrm>
          <a:prstGeom prst="rect">
            <a:avLst/>
          </a:prstGeom>
          <a:noFill/>
        </p:spPr>
        <p:txBody>
          <a:bodyPr wrap="square" lIns="0" rIns="0" tIns="0" bIns="0">
            <a:spAutoFit/>
          </a:bodyPr>
          <a:lstStyle/>
          <a:p>
            <a:pPr algn="r" rtl="1">
              <a:lnSpc>
                <a:spcPts val="2520"/>
              </a:lnSpc>
            </a:pPr>
            <a:r>
              <a:rPr sz="2400" b="1">
                <a:solidFill>
                  <a:srgbClr val="00ABAF"/>
                </a:solidFill>
                <a:latin typeface="Diodrum Arabic"/>
                <a:ea typeface="Diodrum Arabic"/>
                <a:cs typeface="Diodrum Arabic"/>
              </a:rPr>
              <a:t>6% ≈</a:t>
            </a:r>
          </a:p>
        </p:txBody>
      </p:sp>
      <p:sp>
        <p:nvSpPr>
          <p:cNvPr id="12" name="TextBox 11"/>
          <p:cNvSpPr txBox="1"/>
          <p:nvPr/>
        </p:nvSpPr>
        <p:spPr>
          <a:xfrm>
            <a:off x="2904744" y="2109724"/>
            <a:ext cx="1752599" cy="473773"/>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«عالية الأداء» التي تجني أكثر من 5% من أرباحها التشغيلية من الذكاء الاصطناعي</a:t>
            </a:r>
          </a:p>
        </p:txBody>
      </p:sp>
      <p:sp>
        <p:nvSpPr>
          <p:cNvPr id="13" name="TextBox 12"/>
          <p:cNvSpPr txBox="1"/>
          <p:nvPr/>
        </p:nvSpPr>
        <p:spPr>
          <a:xfrm>
            <a:off x="2904744" y="2601785"/>
            <a:ext cx="1752599" cy="164592"/>
          </a:xfrm>
          <a:prstGeom prst="rect">
            <a:avLst/>
          </a:prstGeom>
          <a:noFill/>
        </p:spPr>
        <p:txBody>
          <a:bodyPr wrap="square" lIns="0" rIns="0" tIns="0" bIns="0">
            <a:spAutoFit/>
          </a:bodyPr>
          <a:lstStyle/>
          <a:p>
            <a:pPr algn="r" rtl="1">
              <a:lnSpc>
                <a:spcPts val="875"/>
              </a:lnSpc>
            </a:pPr>
            <a:r>
              <a:rPr sz="700" b="0">
                <a:solidFill>
                  <a:srgbClr val="6E7077"/>
                </a:solidFill>
                <a:latin typeface="Diodrum Arabic"/>
                <a:ea typeface="Diodrum Arabic"/>
                <a:cs typeface="Diodrum Arabic"/>
              </a:rPr>
              <a:t>«ماكنزي» [3]</a:t>
            </a:r>
          </a:p>
        </p:txBody>
      </p:sp>
      <p:sp>
        <p:nvSpPr>
          <p:cNvPr id="14" name="Rounded Rectangle 13"/>
          <p:cNvSpPr/>
          <p:nvPr/>
        </p:nvSpPr>
        <p:spPr>
          <a:xfrm>
            <a:off x="566928" y="1554988"/>
            <a:ext cx="2045207" cy="1304226"/>
          </a:xfrm>
          <a:prstGeom prst="roundRect">
            <a:avLst>
              <a:gd name="adj" fmla="val 6309"/>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1701292"/>
            <a:ext cx="1752599" cy="356616"/>
          </a:xfrm>
          <a:prstGeom prst="rect">
            <a:avLst/>
          </a:prstGeom>
          <a:noFill/>
        </p:spPr>
        <p:txBody>
          <a:bodyPr wrap="square" lIns="0" rIns="0" tIns="0" bIns="0">
            <a:spAutoFit/>
          </a:bodyPr>
          <a:lstStyle/>
          <a:p>
            <a:pPr algn="r" rtl="1">
              <a:lnSpc>
                <a:spcPts val="2520"/>
              </a:lnSpc>
            </a:pPr>
            <a:r>
              <a:rPr sz="2400" b="1">
                <a:solidFill>
                  <a:srgbClr val="1CC182"/>
                </a:solidFill>
                <a:latin typeface="Diodrum Arabic"/>
                <a:ea typeface="Diodrum Arabic"/>
                <a:cs typeface="Diodrum Arabic"/>
              </a:rPr>
              <a:t>32 / 36</a:t>
            </a:r>
          </a:p>
        </p:txBody>
      </p:sp>
      <p:sp>
        <p:nvSpPr>
          <p:cNvPr id="16" name="TextBox 15"/>
          <p:cNvSpPr txBox="1"/>
          <p:nvPr/>
        </p:nvSpPr>
        <p:spPr>
          <a:xfrm>
            <a:off x="713232" y="2109724"/>
            <a:ext cx="1752599" cy="473773"/>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دولة في منظمة التعاون الاقتصادي والتنمية تعلن برامج تدريب حكومية على الذكاء الاصطناعي</a:t>
            </a:r>
          </a:p>
        </p:txBody>
      </p:sp>
      <p:sp>
        <p:nvSpPr>
          <p:cNvPr id="17" name="TextBox 16"/>
          <p:cNvSpPr txBox="1"/>
          <p:nvPr/>
        </p:nvSpPr>
        <p:spPr>
          <a:xfrm>
            <a:off x="713232" y="2601785"/>
            <a:ext cx="1752599" cy="164592"/>
          </a:xfrm>
          <a:prstGeom prst="rect">
            <a:avLst/>
          </a:prstGeom>
          <a:noFill/>
        </p:spPr>
        <p:txBody>
          <a:bodyPr wrap="square" lIns="0" rIns="0" tIns="0" bIns="0">
            <a:spAutoFit/>
          </a:bodyPr>
          <a:lstStyle/>
          <a:p>
            <a:pPr algn="r" rtl="1">
              <a:lnSpc>
                <a:spcPts val="875"/>
              </a:lnSpc>
            </a:pPr>
            <a:r>
              <a:rPr sz="700" b="0">
                <a:solidFill>
                  <a:srgbClr val="6E7077"/>
                </a:solidFill>
                <a:latin typeface="Diodrum Arabic"/>
                <a:ea typeface="Diodrum Arabic"/>
                <a:cs typeface="Diodrum Arabic"/>
              </a:rPr>
              <a:t>OECD [14]</a:t>
            </a:r>
          </a:p>
        </p:txBody>
      </p:sp>
      <p:sp>
        <p:nvSpPr>
          <p:cNvPr id="18" name="TextBox 17"/>
          <p:cNvSpPr txBox="1"/>
          <p:nvPr/>
        </p:nvSpPr>
        <p:spPr>
          <a:xfrm>
            <a:off x="566928" y="3042094"/>
            <a:ext cx="6428231" cy="550545"/>
          </a:xfrm>
          <a:prstGeom prst="rect">
            <a:avLst/>
          </a:prstGeom>
          <a:noFill/>
        </p:spPr>
        <p:txBody>
          <a:bodyPr wrap="square" lIns="0" rIns="0" tIns="0" bIns="0">
            <a:spAutoFit/>
          </a:bodyPr>
          <a:lstStyle/>
          <a:p>
            <a:pPr algn="just" rtl="1">
              <a:lnSpc>
                <a:spcPts val="1348"/>
              </a:lnSpc>
            </a:pPr>
            <a:r>
              <a:rPr sz="950" b="0">
                <a:solidFill>
                  <a:srgbClr val="474956"/>
                </a:solidFill>
                <a:latin typeface="Diodrum Arabic"/>
                <a:ea typeface="Diodrum Arabic"/>
                <a:cs typeface="Diodrum Arabic"/>
              </a:rPr>
              <a:t>كما تظهر مسوح «غارتنر» أن عدداً من الرؤساء التنفيذيين يرى أن فرق القيادة والنماذج التشغيلية الحالية لم تصل بعد إلى الجاهزية المطلوبة للتعامل مع الذكاء الاصطناعي [4][5][6]. وفي القطاع العام، تشير نتائج «ديلويت» و«أكسنتشر» إلى فجوة بين نشر الأدوات وبين جاهزية القيادات والقوى العاملة لاستخدامها على نطاق مؤسسي [7][8].</a:t>
            </a:r>
          </a:p>
        </p:txBody>
      </p:sp>
      <p:sp>
        <p:nvSpPr>
          <p:cNvPr id="19" name="Rounded Rectangle 18"/>
          <p:cNvSpPr/>
          <p:nvPr/>
        </p:nvSpPr>
        <p:spPr>
          <a:xfrm>
            <a:off x="566928" y="3684079"/>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848671"/>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ما الذي تدعمه المؤشرات</a:t>
            </a:r>
          </a:p>
        </p:txBody>
      </p:sp>
      <p:sp>
        <p:nvSpPr>
          <p:cNvPr id="21" name="TextBox 20"/>
          <p:cNvSpPr txBox="1"/>
          <p:nvPr/>
        </p:nvSpPr>
        <p:spPr>
          <a:xfrm>
            <a:off x="731520" y="4058221"/>
            <a:ext cx="6099047" cy="361187"/>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تدعم هذه المؤشرات مجتمعة الحاجة إلى تطوير قدرة القيادات على الحوكمة وتحديد الأولويات ومتابعة التنفيذ. وهي إشارات طلب تُقرأ ضمن حدود عينة كل مسح ومنهجيته — لا إثبات سببية.</a:t>
            </a:r>
          </a:p>
        </p:txBody>
      </p:sp>
      <p:sp>
        <p:nvSpPr>
          <p:cNvPr id="22" name="Rectangle 2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4" name="TextBox 2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01 · 1.4  موقع المملكة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بيئة وطنية متقدمة — وسؤال تتركه مفتوحاً</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تضع المؤشرات الوطنية المملكة في صدارة المنطقة؛ غير أنها تقيس البيئة، لا جاهزية كل مستوى قيادي.</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54196" y="1554988"/>
            <a:ext cx="3140963" cy="1158494"/>
          </a:xfrm>
          <a:prstGeom prst="roundRect">
            <a:avLst>
              <a:gd name="adj" fmla="val 710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00500" y="1701292"/>
            <a:ext cx="2848356" cy="356616"/>
          </a:xfrm>
          <a:prstGeom prst="rect">
            <a:avLst/>
          </a:prstGeom>
          <a:noFill/>
        </p:spPr>
        <p:txBody>
          <a:bodyPr wrap="square" lIns="0" rIns="0" tIns="0" bIns="0">
            <a:spAutoFit/>
          </a:bodyPr>
          <a:lstStyle/>
          <a:p>
            <a:pPr algn="r" rtl="1">
              <a:lnSpc>
                <a:spcPts val="2520"/>
              </a:lnSpc>
            </a:pPr>
            <a:r>
              <a:rPr sz="2400" b="1">
                <a:solidFill>
                  <a:srgbClr val="7C32C9"/>
                </a:solidFill>
                <a:latin typeface="Diodrum Arabic"/>
                <a:ea typeface="Diodrum Arabic"/>
                <a:cs typeface="Diodrum Arabic"/>
              </a:rPr>
              <a:t>14 عالمياً · 1 عربياً</a:t>
            </a:r>
          </a:p>
        </p:txBody>
      </p:sp>
      <p:sp>
        <p:nvSpPr>
          <p:cNvPr id="8" name="TextBox 7"/>
          <p:cNvSpPr txBox="1"/>
          <p:nvPr/>
        </p:nvSpPr>
        <p:spPr>
          <a:xfrm>
            <a:off x="4000500" y="2109724"/>
            <a:ext cx="2848356" cy="328041"/>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المؤشر العالمي للذكاء الاصطناعي 2024 — مع تصدر محور الاستراتيجية الحكومية</a:t>
            </a:r>
          </a:p>
        </p:txBody>
      </p:sp>
      <p:sp>
        <p:nvSpPr>
          <p:cNvPr id="9" name="TextBox 8"/>
          <p:cNvSpPr txBox="1"/>
          <p:nvPr/>
        </p:nvSpPr>
        <p:spPr>
          <a:xfrm>
            <a:off x="4000500" y="2456053"/>
            <a:ext cx="2848356" cy="164592"/>
          </a:xfrm>
          <a:prstGeom prst="rect">
            <a:avLst/>
          </a:prstGeom>
          <a:noFill/>
        </p:spPr>
        <p:txBody>
          <a:bodyPr wrap="square" lIns="0" rIns="0" tIns="0" bIns="0">
            <a:spAutoFit/>
          </a:bodyPr>
          <a:lstStyle/>
          <a:p>
            <a:pPr algn="r" rtl="1">
              <a:lnSpc>
                <a:spcPts val="875"/>
              </a:lnSpc>
            </a:pPr>
            <a:r>
              <a:rPr sz="700" b="0">
                <a:solidFill>
                  <a:srgbClr val="6E7077"/>
                </a:solidFill>
                <a:latin typeface="Diodrum Arabic"/>
                <a:ea typeface="Diodrum Arabic"/>
                <a:cs typeface="Diodrum Arabic"/>
              </a:rPr>
              <a:t>واس / تورتوس [9]</a:t>
            </a:r>
          </a:p>
        </p:txBody>
      </p:sp>
      <p:sp>
        <p:nvSpPr>
          <p:cNvPr id="10" name="Rounded Rectangle 9"/>
          <p:cNvSpPr/>
          <p:nvPr/>
        </p:nvSpPr>
        <p:spPr>
          <a:xfrm>
            <a:off x="566928" y="1554988"/>
            <a:ext cx="3140963" cy="1158494"/>
          </a:xfrm>
          <a:prstGeom prst="roundRect">
            <a:avLst>
              <a:gd name="adj" fmla="val 710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701292"/>
            <a:ext cx="2848356" cy="676656"/>
          </a:xfrm>
          <a:prstGeom prst="rect">
            <a:avLst/>
          </a:prstGeom>
          <a:noFill/>
        </p:spPr>
        <p:txBody>
          <a:bodyPr wrap="square" lIns="0" rIns="0" tIns="0" bIns="0">
            <a:spAutoFit/>
          </a:bodyPr>
          <a:lstStyle/>
          <a:p>
            <a:pPr algn="r" rtl="1">
              <a:lnSpc>
                <a:spcPts val="2520"/>
              </a:lnSpc>
            </a:pPr>
            <a:r>
              <a:rPr sz="2400" b="1">
                <a:solidFill>
                  <a:srgbClr val="00ABAF"/>
                </a:solidFill>
                <a:latin typeface="Diodrum Arabic"/>
                <a:ea typeface="Diodrum Arabic"/>
                <a:cs typeface="Diodrum Arabic"/>
              </a:rPr>
              <a:t>1 في الشرق الأوسط وشمال أفريقيا</a:t>
            </a:r>
          </a:p>
        </p:txBody>
      </p:sp>
      <p:sp>
        <p:nvSpPr>
          <p:cNvPr id="12" name="TextBox 11"/>
          <p:cNvSpPr txBox="1"/>
          <p:nvPr/>
        </p:nvSpPr>
        <p:spPr>
          <a:xfrm>
            <a:off x="713232" y="2109724"/>
            <a:ext cx="2848356" cy="328041"/>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مؤشر «أكسفورد إنسايتس» لجاهزية الحكومات للذكاء الاصطناعي 2025</a:t>
            </a:r>
          </a:p>
        </p:txBody>
      </p:sp>
      <p:sp>
        <p:nvSpPr>
          <p:cNvPr id="13" name="TextBox 12"/>
          <p:cNvSpPr txBox="1"/>
          <p:nvPr/>
        </p:nvSpPr>
        <p:spPr>
          <a:xfrm>
            <a:off x="713232" y="2456053"/>
            <a:ext cx="2848356" cy="164592"/>
          </a:xfrm>
          <a:prstGeom prst="rect">
            <a:avLst/>
          </a:prstGeom>
          <a:noFill/>
        </p:spPr>
        <p:txBody>
          <a:bodyPr wrap="square" lIns="0" rIns="0" tIns="0" bIns="0">
            <a:spAutoFit/>
          </a:bodyPr>
          <a:lstStyle/>
          <a:p>
            <a:pPr algn="r" rtl="1">
              <a:lnSpc>
                <a:spcPts val="875"/>
              </a:lnSpc>
            </a:pPr>
            <a:r>
              <a:rPr sz="700" b="0">
                <a:solidFill>
                  <a:srgbClr val="6E7077"/>
                </a:solidFill>
                <a:latin typeface="Diodrum Arabic"/>
                <a:ea typeface="Diodrum Arabic"/>
                <a:cs typeface="Diodrum Arabic"/>
              </a:rPr>
              <a:t>واس [10]</a:t>
            </a:r>
          </a:p>
        </p:txBody>
      </p:sp>
      <p:sp>
        <p:nvSpPr>
          <p:cNvPr id="14" name="TextBox 13"/>
          <p:cNvSpPr txBox="1"/>
          <p:nvPr/>
        </p:nvSpPr>
        <p:spPr>
          <a:xfrm>
            <a:off x="566928" y="2896362"/>
            <a:ext cx="6428231" cy="550545"/>
          </a:xfrm>
          <a:prstGeom prst="rect">
            <a:avLst/>
          </a:prstGeom>
          <a:noFill/>
        </p:spPr>
        <p:txBody>
          <a:bodyPr wrap="square" lIns="0" rIns="0" tIns="0" bIns="0">
            <a:spAutoFit/>
          </a:bodyPr>
          <a:lstStyle/>
          <a:p>
            <a:pPr algn="just" rtl="1">
              <a:lnSpc>
                <a:spcPts val="1348"/>
              </a:lnSpc>
            </a:pPr>
            <a:r>
              <a:rPr sz="950" b="0">
                <a:solidFill>
                  <a:srgbClr val="474956"/>
                </a:solidFill>
                <a:latin typeface="Diodrum Arabic"/>
                <a:ea typeface="Diodrum Arabic"/>
                <a:cs typeface="Diodrum Arabic"/>
              </a:rPr>
              <a:t>تقيس هذه المؤشرات البيئة الوطنية — الاستراتيجية والتنظيم والبنية المؤسسية والتبني — ولا تقيس بصورة مباشرة جاهزية كل مستوى قيادي لاتخاذ القرارات المرتبطة بالذكاء الاصطناعي؛ ولذلك تستخدمها الدراسة دليلاً على قوة البيئة الوطنية، لا بديلاً عن تطوير القدرة القيادية.</a:t>
            </a:r>
          </a:p>
        </p:txBody>
      </p:sp>
      <p:sp>
        <p:nvSpPr>
          <p:cNvPr id="15" name="Rounded Rectangle 14"/>
          <p:cNvSpPr/>
          <p:nvPr/>
        </p:nvSpPr>
        <p:spPr>
          <a:xfrm>
            <a:off x="566928" y="3538347"/>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02939"/>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إشارة عملية من الجهة الطالبة</a:t>
            </a:r>
          </a:p>
        </p:txBody>
      </p:sp>
      <p:sp>
        <p:nvSpPr>
          <p:cNvPr id="17" name="TextBox 16"/>
          <p:cNvSpPr txBox="1"/>
          <p:nvPr/>
        </p:nvSpPr>
        <p:spPr>
          <a:xfrm>
            <a:off x="731520" y="3912489"/>
            <a:ext cx="6099047" cy="361187"/>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توصي إفادة «غارتنر» الداخلية المرفقة لدى الجهة الطالبة بأن يُصمم للقيادات العليا تدريب فردي خاص، وإرشاد عكسي، ووحدات قصيرة عند الطلب — لا تدريب عام للموظفين [11]. وتفصيل ما يقدمه السوق من هذه الصيغ يأتي في القسم الثالث.</a:t>
            </a:r>
          </a:p>
        </p:txBody>
      </p:sp>
      <p:sp>
        <p:nvSpPr>
          <p:cNvPr id="18" name="Rectangle 17"/>
          <p:cNvSpPr/>
          <p:nvPr/>
        </p:nvSpPr>
        <p:spPr>
          <a:xfrm>
            <a:off x="6949440" y="4628959"/>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638103"/>
            <a:ext cx="6199631" cy="387095"/>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وقبل فحص ما يقدمه السوق، لا بد من تحديد من نعني بالقيادات العليا تحديداً؛ فالبرامج التي تعامل «القيادات» كتلة واحدة لا تصلح أساساً للمقارنة. هذا التحديد هو موضوع القسم الثاني.</a:t>
            </a:r>
          </a:p>
        </p:txBody>
      </p:sp>
      <p:sp>
        <p:nvSpPr>
          <p:cNvPr id="20" name="Rectangle 1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2" name="TextBox 21"/>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842769"/>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r" rtl="1">
              <a:lnSpc>
                <a:spcPts val="1276"/>
              </a:lnSpc>
            </a:pPr>
            <a:r>
              <a:rPr sz="1100" b="0">
                <a:solidFill>
                  <a:srgbClr val="CEC6EC"/>
                </a:solidFill>
                <a:latin typeface="Diodrum Arabic SemiBold"/>
                <a:ea typeface="Diodrum Arabic SemiBold"/>
                <a:cs typeface="Diodrum Arabic SemiBold"/>
              </a:rPr>
              <a:t>القسم 02</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r" rtl="1">
              <a:lnSpc>
                <a:spcPts val="2595"/>
              </a:lnSpc>
            </a:pPr>
            <a:r>
              <a:rPr sz="2200" b="1">
                <a:solidFill>
                  <a:srgbClr val="FFFFFF"/>
                </a:solidFill>
                <a:latin typeface="Diodrum Arabic"/>
                <a:ea typeface="Diodrum Arabic"/>
                <a:cs typeface="Diodrum Arabic"/>
              </a:rPr>
              <a:t>الفئات القيادية الأربع ومسؤوليات القرار</a:t>
            </a:r>
          </a:p>
        </p:txBody>
      </p:sp>
      <p:sp>
        <p:nvSpPr>
          <p:cNvPr id="5" name="TextBox 4"/>
          <p:cNvSpPr txBox="1"/>
          <p:nvPr/>
        </p:nvSpPr>
        <p:spPr>
          <a:xfrm>
            <a:off x="566928" y="1116075"/>
            <a:ext cx="5513831" cy="379221"/>
          </a:xfrm>
          <a:prstGeom prst="rect">
            <a:avLst/>
          </a:prstGeom>
          <a:noFill/>
        </p:spPr>
        <p:txBody>
          <a:bodyPr wrap="square" lIns="0" rIns="0" tIns="0" bIns="0">
            <a:spAutoFit/>
          </a:bodyPr>
          <a:lstStyle/>
          <a:p>
            <a:pPr algn="r" rtl="1">
              <a:lnSpc>
                <a:spcPts val="1348"/>
              </a:lnSpc>
            </a:pPr>
            <a:r>
              <a:rPr sz="950" b="0">
                <a:solidFill>
                  <a:srgbClr val="DDDAF0"/>
                </a:solidFill>
                <a:latin typeface="Diodrum Arabic"/>
                <a:ea typeface="Diodrum Arabic"/>
                <a:cs typeface="Diodrum Arabic"/>
              </a:rPr>
              <a:t>أساس التصنيف، ثم كل مستوى: فئته، وطبيعة قراراته، والبروتوكول التدريبي الملائم له، والمخرج التطبيقي المنتظر منه.</a:t>
            </a:r>
          </a:p>
        </p:txBody>
      </p:sp>
      <p:sp>
        <p:nvSpPr>
          <p:cNvPr id="6" name="Rectangle 5"/>
          <p:cNvSpPr/>
          <p:nvPr/>
        </p:nvSpPr>
        <p:spPr>
          <a:xfrm>
            <a:off x="4892040"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57800" y="1623313"/>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23559"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89320"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79"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20840"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117089"/>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2.1  أساس التصنيف</a:t>
            </a:r>
          </a:p>
        </p:txBody>
      </p:sp>
      <p:sp>
        <p:nvSpPr>
          <p:cNvPr id="13" name="TextBox 12"/>
          <p:cNvSpPr txBox="1"/>
          <p:nvPr/>
        </p:nvSpPr>
        <p:spPr>
          <a:xfrm>
            <a:off x="566928" y="2344927"/>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نطاق القرار يصنّف المشاركين — لا المسميات الوظيفية</a:t>
            </a:r>
          </a:p>
        </p:txBody>
      </p:sp>
      <p:sp>
        <p:nvSpPr>
          <p:cNvPr id="14" name="TextBox 13"/>
          <p:cNvSpPr txBox="1"/>
          <p:nvPr/>
        </p:nvSpPr>
        <p:spPr>
          <a:xfrm>
            <a:off x="566928" y="2725927"/>
            <a:ext cx="6428231" cy="721868"/>
          </a:xfrm>
          <a:prstGeom prst="rect">
            <a:avLst/>
          </a:prstGeom>
          <a:noFill/>
        </p:spPr>
        <p:txBody>
          <a:bodyPr wrap="square" lIns="0" rIns="0" tIns="0" bIns="0">
            <a:spAutoFit/>
          </a:bodyPr>
          <a:lstStyle/>
          <a:p>
            <a:pPr algn="just" rtl="1">
              <a:lnSpc>
                <a:spcPts val="1348"/>
              </a:lnSpc>
            </a:pPr>
            <a:r>
              <a:rPr sz="950" b="0">
                <a:solidFill>
                  <a:srgbClr val="474956"/>
                </a:solidFill>
                <a:latin typeface="Diodrum Arabic"/>
                <a:ea typeface="Diodrum Arabic"/>
                <a:cs typeface="Diodrum Arabic"/>
              </a:rPr>
              <a:t>تختلف الهياكل والمسميات بين أكثر من 300 جهة حكومية ضمن نطاق الدراسة، ولا تعكس المسميات وحدها مستوى القرار أو نطاق المسؤولية بصورة موحدة: فقد يحمل شخصان مسميين مختلفين ويتخذان قرارات متقاربة في المستوى والنطاق [1]. لذلك تعتمد الدراسة أربعة مستويات قيادية وفق ثلاثة معايير، بما يتوافق مع إطار منظمة التعاون الاقتصادي والتنمية (2026) الذي يميز بين عموم الموظفين والقادة والخبراء التقنيين — مع تفصيل طبقة القادة إلى أربع طبقات قرار متمايزة [12].</a:t>
            </a:r>
          </a:p>
        </p:txBody>
      </p:sp>
      <p:sp>
        <p:nvSpPr>
          <p:cNvPr id="15" name="Rounded Rectangle 14"/>
          <p:cNvSpPr/>
          <p:nvPr/>
        </p:nvSpPr>
        <p:spPr>
          <a:xfrm>
            <a:off x="4949952" y="3539235"/>
            <a:ext cx="2045207"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01383" y="3685539"/>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96256" y="3804411"/>
            <a:ext cx="1752599"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نطاق القرار</a:t>
            </a:r>
          </a:p>
        </p:txBody>
      </p:sp>
      <p:sp>
        <p:nvSpPr>
          <p:cNvPr id="18" name="TextBox 17"/>
          <p:cNvSpPr txBox="1"/>
          <p:nvPr/>
        </p:nvSpPr>
        <p:spPr>
          <a:xfrm>
            <a:off x="5096256" y="4031106"/>
            <a:ext cx="1752599"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القرار الذي يتحمله القائد شخصياً، ومداه داخل الجهة وخارجها.</a:t>
            </a:r>
          </a:p>
        </p:txBody>
      </p:sp>
      <p:sp>
        <p:nvSpPr>
          <p:cNvPr id="19" name="Rounded Rectangle 18"/>
          <p:cNvSpPr/>
          <p:nvPr/>
        </p:nvSpPr>
        <p:spPr>
          <a:xfrm>
            <a:off x="2758440" y="3539235"/>
            <a:ext cx="2045207"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09872" y="3685539"/>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04744" y="3804411"/>
            <a:ext cx="1752599" cy="199263"/>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الصلاحية والمساءلة</a:t>
            </a:r>
          </a:p>
        </p:txBody>
      </p:sp>
      <p:sp>
        <p:nvSpPr>
          <p:cNvPr id="22" name="TextBox 21"/>
          <p:cNvSpPr txBox="1"/>
          <p:nvPr/>
        </p:nvSpPr>
        <p:spPr>
          <a:xfrm>
            <a:off x="2904744" y="4031106"/>
            <a:ext cx="1752599"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مستوى الصلاحية الممارسة ودرجة المساءلة المرتبطة بها.</a:t>
            </a:r>
          </a:p>
        </p:txBody>
      </p:sp>
      <p:sp>
        <p:nvSpPr>
          <p:cNvPr id="23" name="Rounded Rectangle 22"/>
          <p:cNvSpPr/>
          <p:nvPr/>
        </p:nvSpPr>
        <p:spPr>
          <a:xfrm>
            <a:off x="566928" y="3539235"/>
            <a:ext cx="2045207"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18360" y="3685539"/>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804411"/>
            <a:ext cx="1752599"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البروتوكول التدريبي</a:t>
            </a:r>
          </a:p>
        </p:txBody>
      </p:sp>
      <p:sp>
        <p:nvSpPr>
          <p:cNvPr id="26" name="TextBox 25"/>
          <p:cNvSpPr txBox="1"/>
          <p:nvPr/>
        </p:nvSpPr>
        <p:spPr>
          <a:xfrm>
            <a:off x="713232" y="4031106"/>
            <a:ext cx="1752599"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صيغة التقديم التي يسمح بها فعلاً بروتوكول الفئة وخصوصيتها.</a:t>
            </a:r>
          </a:p>
        </p:txBody>
      </p:sp>
      <p:sp>
        <p:nvSpPr>
          <p:cNvPr id="27" name="Rounded Rectangle 26"/>
          <p:cNvSpPr/>
          <p:nvPr/>
        </p:nvSpPr>
        <p:spPr>
          <a:xfrm>
            <a:off x="566928" y="4658232"/>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4841112"/>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قاعدة التصميم التي تحكم الدراسة كلها</a:t>
            </a:r>
          </a:p>
        </p:txBody>
      </p:sp>
      <p:sp>
        <p:nvSpPr>
          <p:cNvPr id="29" name="TextBox 28"/>
          <p:cNvSpPr txBox="1"/>
          <p:nvPr/>
        </p:nvSpPr>
        <p:spPr>
          <a:xfrm>
            <a:off x="749808" y="5041518"/>
            <a:ext cx="6062471" cy="361187"/>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يختلف البرنامج بحسب نوع القرار، وليس بمجرد زيادة الساعات أو تقليلها [13]. فلسنا أمام برنامج واحد بأربعة أطوال، بل أمام أربعة مسارات قيادية — لأن طبيعة القرار والبروتوكول ومستوى المساءلة تختلف من فئة إلى أخرى.</a:t>
            </a:r>
          </a:p>
        </p:txBody>
      </p:sp>
      <p:sp>
        <p:nvSpPr>
          <p:cNvPr id="30" name="Rounded Rectangle 29"/>
          <p:cNvSpPr/>
          <p:nvPr/>
        </p:nvSpPr>
        <p:spPr>
          <a:xfrm>
            <a:off x="5497829" y="5767133"/>
            <a:ext cx="1497329" cy="1215009"/>
          </a:xfrm>
          <a:prstGeom prst="roundRect">
            <a:avLst>
              <a:gd name="adj" fmla="val 677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01383" y="5913437"/>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4133" y="6032309"/>
            <a:ext cx="1204721" cy="183769"/>
          </a:xfrm>
          <a:prstGeom prst="rect">
            <a:avLst/>
          </a:prstGeom>
          <a:noFill/>
        </p:spPr>
        <p:txBody>
          <a:bodyPr wrap="square" lIns="0" rIns="0" tIns="0" bIns="0">
            <a:spAutoFit/>
          </a:bodyPr>
          <a:lstStyle/>
          <a:p>
            <a:pPr algn="r" rtl="1">
              <a:lnSpc>
                <a:spcPts val="1159"/>
              </a:lnSpc>
            </a:pPr>
            <a:r>
              <a:rPr sz="950" b="0">
                <a:solidFill>
                  <a:srgbClr val="7C32C9"/>
                </a:solidFill>
                <a:latin typeface="Diodrum Arabic SemiBold"/>
                <a:ea typeface="Diodrum Arabic SemiBold"/>
                <a:cs typeface="Diodrum Arabic SemiBold"/>
              </a:rPr>
              <a:t>المستوى 1 — الوزراء</a:t>
            </a:r>
          </a:p>
        </p:txBody>
      </p:sp>
      <p:sp>
        <p:nvSpPr>
          <p:cNvPr id="33" name="TextBox 32"/>
          <p:cNvSpPr txBox="1"/>
          <p:nvPr/>
        </p:nvSpPr>
        <p:spPr>
          <a:xfrm>
            <a:off x="5644133" y="6243510"/>
            <a:ext cx="1204721"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التوجه والمساءلة العامة.</a:t>
            </a:r>
          </a:p>
        </p:txBody>
      </p:sp>
      <p:sp>
        <p:nvSpPr>
          <p:cNvPr id="34" name="Rounded Rectangle 33"/>
          <p:cNvSpPr/>
          <p:nvPr/>
        </p:nvSpPr>
        <p:spPr>
          <a:xfrm>
            <a:off x="3854195" y="5767133"/>
            <a:ext cx="1497329" cy="1215009"/>
          </a:xfrm>
          <a:prstGeom prst="roundRect">
            <a:avLst>
              <a:gd name="adj" fmla="val 677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857749" y="5913437"/>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00499" y="6032309"/>
            <a:ext cx="1204721" cy="330961"/>
          </a:xfrm>
          <a:prstGeom prst="rect">
            <a:avLst/>
          </a:prstGeom>
          <a:noFill/>
        </p:spPr>
        <p:txBody>
          <a:bodyPr wrap="square" lIns="0" rIns="0" tIns="0" bIns="0">
            <a:spAutoFit/>
          </a:bodyPr>
          <a:lstStyle/>
          <a:p>
            <a:pPr algn="r" rtl="1">
              <a:lnSpc>
                <a:spcPts val="1159"/>
              </a:lnSpc>
            </a:pPr>
            <a:r>
              <a:rPr sz="950" b="0">
                <a:solidFill>
                  <a:srgbClr val="2A206A"/>
                </a:solidFill>
                <a:latin typeface="Diodrum Arabic SemiBold"/>
                <a:ea typeface="Diodrum Arabic SemiBold"/>
                <a:cs typeface="Diodrum Arabic SemiBold"/>
              </a:rPr>
              <a:t>المستوى 2 — نواب الوزراء وأصحاب المعالي</a:t>
            </a:r>
          </a:p>
        </p:txBody>
      </p:sp>
      <p:sp>
        <p:nvSpPr>
          <p:cNvPr id="37" name="TextBox 36"/>
          <p:cNvSpPr txBox="1"/>
          <p:nvPr/>
        </p:nvSpPr>
        <p:spPr>
          <a:xfrm>
            <a:off x="4000499" y="6390703"/>
            <a:ext cx="1204721"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المحفظة والحوكمة والاستثمار.</a:t>
            </a:r>
          </a:p>
        </p:txBody>
      </p:sp>
      <p:sp>
        <p:nvSpPr>
          <p:cNvPr id="38" name="Rounded Rectangle 37"/>
          <p:cNvSpPr/>
          <p:nvPr/>
        </p:nvSpPr>
        <p:spPr>
          <a:xfrm>
            <a:off x="2210561" y="5767133"/>
            <a:ext cx="1497329" cy="1215009"/>
          </a:xfrm>
          <a:prstGeom prst="roundRect">
            <a:avLst>
              <a:gd name="adj" fmla="val 677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214115" y="5913437"/>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56865" y="6032309"/>
            <a:ext cx="1204721" cy="478155"/>
          </a:xfrm>
          <a:prstGeom prst="rect">
            <a:avLst/>
          </a:prstGeom>
          <a:noFill/>
        </p:spPr>
        <p:txBody>
          <a:bodyPr wrap="square" lIns="0" rIns="0" tIns="0" bIns="0">
            <a:spAutoFit/>
          </a:bodyPr>
          <a:lstStyle/>
          <a:p>
            <a:pPr algn="r" rtl="1">
              <a:lnSpc>
                <a:spcPts val="1159"/>
              </a:lnSpc>
            </a:pPr>
            <a:r>
              <a:rPr sz="950" b="0">
                <a:solidFill>
                  <a:srgbClr val="00ABAF"/>
                </a:solidFill>
                <a:latin typeface="Diodrum Arabic SemiBold"/>
                <a:ea typeface="Diodrum Arabic SemiBold"/>
                <a:cs typeface="Diodrum Arabic SemiBold"/>
              </a:rPr>
              <a:t>المستوى 3 — وكلاء الوزارات ونواب المحافظين</a:t>
            </a:r>
          </a:p>
        </p:txBody>
      </p:sp>
      <p:sp>
        <p:nvSpPr>
          <p:cNvPr id="41" name="TextBox 40"/>
          <p:cNvSpPr txBox="1"/>
          <p:nvPr/>
        </p:nvSpPr>
        <p:spPr>
          <a:xfrm>
            <a:off x="2356865" y="6537896"/>
            <a:ext cx="1204721"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الجاهزية والبيانات والتعاقد.</a:t>
            </a:r>
          </a:p>
        </p:txBody>
      </p:sp>
      <p:sp>
        <p:nvSpPr>
          <p:cNvPr id="42" name="Rounded Rectangle 41"/>
          <p:cNvSpPr/>
          <p:nvPr/>
        </p:nvSpPr>
        <p:spPr>
          <a:xfrm>
            <a:off x="566928" y="5767133"/>
            <a:ext cx="1497329" cy="1215009"/>
          </a:xfrm>
          <a:prstGeom prst="roundRect">
            <a:avLst>
              <a:gd name="adj" fmla="val 677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570481" y="5913437"/>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3232" y="6032309"/>
            <a:ext cx="1204721" cy="330961"/>
          </a:xfrm>
          <a:prstGeom prst="rect">
            <a:avLst/>
          </a:prstGeom>
          <a:noFill/>
        </p:spPr>
        <p:txBody>
          <a:bodyPr wrap="square" lIns="0" rIns="0" tIns="0" bIns="0">
            <a:spAutoFit/>
          </a:bodyPr>
          <a:lstStyle/>
          <a:p>
            <a:pPr algn="r" rtl="1">
              <a:lnSpc>
                <a:spcPts val="1159"/>
              </a:lnSpc>
            </a:pPr>
            <a:r>
              <a:rPr sz="950" b="0">
                <a:solidFill>
                  <a:srgbClr val="1CC182"/>
                </a:solidFill>
                <a:latin typeface="Diodrum Arabic SemiBold"/>
                <a:ea typeface="Diodrum Arabic SemiBold"/>
                <a:cs typeface="Diodrum Arabic SemiBold"/>
              </a:rPr>
              <a:t>المستوى 4 — الوكلاء المساعدون</a:t>
            </a:r>
          </a:p>
        </p:txBody>
      </p:sp>
      <p:sp>
        <p:nvSpPr>
          <p:cNvPr id="45" name="TextBox 44"/>
          <p:cNvSpPr txBox="1"/>
          <p:nvPr/>
        </p:nvSpPr>
        <p:spPr>
          <a:xfrm>
            <a:off x="713232" y="6390703"/>
            <a:ext cx="1204721"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التشغيل والالتزام.</a:t>
            </a:r>
          </a:p>
        </p:txBody>
      </p:sp>
      <p:sp>
        <p:nvSpPr>
          <p:cNvPr id="46" name="Rectangle 45"/>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8" name="TextBox 47"/>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02 · 2.2  المستوى الأول</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الوزراء: فئة لا تصلح لها صيغة الدورة التقليدية</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الفئة المستهدفة: الوزراء أصحاب الحقائب الوزارية، ووزراء الدولة، ومن يُعتمد ضمن الفئة الوزارية المرتبطة بمجلس الوزراء.</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554988"/>
            <a:ext cx="6428231" cy="566928"/>
          </a:xfrm>
          <a:prstGeom prst="roundRect">
            <a:avLst>
              <a:gd name="adj" fmla="val 14516"/>
            </a:avLst>
          </a:prstGeom>
          <a:gradFill rotWithShape="1">
            <a:gsLst>
              <a:gs pos="0">
                <a:srgbClr val="7C32C9"/>
              </a:gs>
              <a:gs pos="100000">
                <a:srgbClr val="2A206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7284"/>
            <a:ext cx="4325111" cy="363982"/>
          </a:xfrm>
          <a:prstGeom prst="rect">
            <a:avLst/>
          </a:prstGeom>
          <a:noFill/>
        </p:spPr>
        <p:txBody>
          <a:bodyPr wrap="square" lIns="0" rIns="0" tIns="0" bIns="0">
            <a:spAutoFit/>
          </a:bodyPr>
          <a:lstStyle/>
          <a:p>
            <a:pPr algn="r" rtl="1">
              <a:lnSpc>
                <a:spcPts val="1044"/>
              </a:lnSpc>
            </a:pPr>
            <a:r>
              <a:rPr sz="900" b="0">
                <a:solidFill>
                  <a:srgbClr val="D9D7EA"/>
                </a:solidFill>
                <a:latin typeface="Diodrum Arabic SemiBold"/>
                <a:ea typeface="Diodrum Arabic SemiBold"/>
                <a:cs typeface="Diodrum Arabic SemiBold"/>
              </a:rPr>
              <a:t>المستوى الأول</a:t>
            </a:r>
          </a:p>
          <a:p>
            <a:pPr algn="r" rtl="1">
              <a:lnSpc>
                <a:spcPts val="1334"/>
              </a:lnSpc>
              <a:spcBef>
                <a:spcPts val="200"/>
              </a:spcBef>
            </a:pPr>
            <a:r>
              <a:rPr sz="1150" b="1">
                <a:solidFill>
                  <a:srgbClr val="FFFFFF"/>
                </a:solidFill>
                <a:latin typeface="Diodrum Arabic"/>
                <a:ea typeface="Diodrum Arabic"/>
                <a:cs typeface="Diodrum Arabic"/>
              </a:rPr>
              <a:t>الوزراء</a:t>
            </a:r>
          </a:p>
        </p:txBody>
      </p:sp>
      <p:sp>
        <p:nvSpPr>
          <p:cNvPr id="8" name="Rounded Rectangle 7"/>
          <p:cNvSpPr/>
          <p:nvPr/>
        </p:nvSpPr>
        <p:spPr>
          <a:xfrm>
            <a:off x="749808" y="1710436"/>
            <a:ext cx="1164276" cy="25603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900" b="0">
                <a:solidFill>
                  <a:srgbClr val="7C32C9"/>
                </a:solidFill>
                <a:latin typeface="Diodrum Arabic SemiBold"/>
                <a:ea typeface="Diodrum Arabic SemiBold"/>
                <a:cs typeface="Diodrum Arabic SemiBold"/>
              </a:rPr>
              <a:t>المسار: بناء محلي</a:t>
            </a:r>
          </a:p>
        </p:txBody>
      </p:sp>
      <p:sp>
        <p:nvSpPr>
          <p:cNvPr id="9" name="TextBox 8"/>
          <p:cNvSpPr txBox="1"/>
          <p:nvPr/>
        </p:nvSpPr>
        <p:spPr>
          <a:xfrm>
            <a:off x="566928" y="2268220"/>
            <a:ext cx="6428231" cy="379221"/>
          </a:xfrm>
          <a:prstGeom prst="rect">
            <a:avLst/>
          </a:prstGeom>
          <a:noFill/>
        </p:spPr>
        <p:txBody>
          <a:bodyPr wrap="square" lIns="0" rIns="0" tIns="0" bIns="0">
            <a:spAutoFit/>
          </a:bodyPr>
          <a:lstStyle/>
          <a:p>
            <a:pPr algn="r" rtl="1">
              <a:lnSpc>
                <a:spcPts val="1348"/>
              </a:lnSpc>
            </a:pPr>
            <a:r>
              <a:rPr sz="950" b="0">
                <a:solidFill>
                  <a:srgbClr val="474956"/>
                </a:solidFill>
                <a:latin typeface="Diodrum Arabic"/>
                <a:ea typeface="Diodrum Arabic"/>
                <a:cs typeface="Diodrum Arabic"/>
              </a:rPr>
              <a:t>فئة قيادية خاصة ونوعية: تتحمل مسؤولية التوجه العام للقطاع، وتشارك في القرارات الحكومية العليا، وتخضع لبروتوكول رسمي وعملي مختلف عن بقية المستويات — ولذلك لا تصلح معها صيغة الدورة التقليدية أصلاً.</a:t>
            </a:r>
          </a:p>
        </p:txBody>
      </p:sp>
      <p:sp>
        <p:nvSpPr>
          <p:cNvPr id="10" name="TextBox 9"/>
          <p:cNvSpPr txBox="1"/>
          <p:nvPr/>
        </p:nvSpPr>
        <p:spPr>
          <a:xfrm>
            <a:off x="3881628" y="2738882"/>
            <a:ext cx="3113532" cy="205994"/>
          </a:xfrm>
          <a:prstGeom prst="rect">
            <a:avLst/>
          </a:prstGeom>
          <a:noFill/>
        </p:spPr>
        <p:txBody>
          <a:bodyPr wrap="square" lIns="0" rIns="0" tIns="0" bIns="0">
            <a:spAutoFit/>
          </a:bodyPr>
          <a:lstStyle/>
          <a:p>
            <a:pPr algn="r" rtl="1">
              <a:lnSpc>
                <a:spcPts val="1334"/>
              </a:lnSpc>
            </a:pPr>
            <a:r>
              <a:rPr sz="1150" b="0">
                <a:solidFill>
                  <a:srgbClr val="7C32C9"/>
                </a:solidFill>
                <a:latin typeface="Diodrum Arabic SemiBold"/>
                <a:ea typeface="Diodrum Arabic SemiBold"/>
                <a:cs typeface="Diodrum Arabic SemiBold"/>
              </a:rPr>
              <a:t>نوع القرار — طبقة الاتجاه لا التنفيذ</a:t>
            </a:r>
          </a:p>
        </p:txBody>
      </p:sp>
      <p:sp>
        <p:nvSpPr>
          <p:cNvPr id="11" name="TextBox 10"/>
          <p:cNvSpPr txBox="1"/>
          <p:nvPr/>
        </p:nvSpPr>
        <p:spPr>
          <a:xfrm>
            <a:off x="6903720" y="2986024"/>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2" name="TextBox 11"/>
          <p:cNvSpPr txBox="1"/>
          <p:nvPr/>
        </p:nvSpPr>
        <p:spPr>
          <a:xfrm>
            <a:off x="3881628" y="299059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تحديد التوجه الاستراتيجي للقطاع.</a:t>
            </a:r>
          </a:p>
        </p:txBody>
      </p:sp>
      <p:sp>
        <p:nvSpPr>
          <p:cNvPr id="13" name="TextBox 12"/>
          <p:cNvSpPr txBox="1"/>
          <p:nvPr/>
        </p:nvSpPr>
        <p:spPr>
          <a:xfrm>
            <a:off x="6903720" y="3194050"/>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4" name="TextBox 13"/>
          <p:cNvSpPr txBox="1"/>
          <p:nvPr/>
        </p:nvSpPr>
        <p:spPr>
          <a:xfrm>
            <a:off x="3881628" y="3198622"/>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تحديد مستوى المخاطر المقبول.</a:t>
            </a:r>
          </a:p>
        </p:txBody>
      </p:sp>
      <p:sp>
        <p:nvSpPr>
          <p:cNvPr id="15" name="TextBox 14"/>
          <p:cNvSpPr txBox="1"/>
          <p:nvPr/>
        </p:nvSpPr>
        <p:spPr>
          <a:xfrm>
            <a:off x="6903720" y="3402076"/>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6" name="TextBox 15"/>
          <p:cNvSpPr txBox="1"/>
          <p:nvPr/>
        </p:nvSpPr>
        <p:spPr>
          <a:xfrm>
            <a:off x="3881628" y="3406648"/>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اعتماد الأولويات الكبرى.</a:t>
            </a:r>
          </a:p>
        </p:txBody>
      </p:sp>
      <p:sp>
        <p:nvSpPr>
          <p:cNvPr id="17" name="TextBox 16"/>
          <p:cNvSpPr txBox="1"/>
          <p:nvPr/>
        </p:nvSpPr>
        <p:spPr>
          <a:xfrm>
            <a:off x="6903720" y="3610102"/>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18" name="TextBox 17"/>
          <p:cNvSpPr txBox="1"/>
          <p:nvPr/>
        </p:nvSpPr>
        <p:spPr>
          <a:xfrm>
            <a:off x="3881628" y="3614674"/>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اتخاذ القرارات المشتركة بين الجهات.</a:t>
            </a:r>
          </a:p>
        </p:txBody>
      </p:sp>
      <p:sp>
        <p:nvSpPr>
          <p:cNvPr id="19" name="TextBox 18"/>
          <p:cNvSpPr txBox="1"/>
          <p:nvPr/>
        </p:nvSpPr>
        <p:spPr>
          <a:xfrm>
            <a:off x="6903720" y="3818128"/>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0" name="TextBox 19"/>
          <p:cNvSpPr txBox="1"/>
          <p:nvPr/>
        </p:nvSpPr>
        <p:spPr>
          <a:xfrm>
            <a:off x="3881628" y="3822700"/>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النظر في الاستثمارات والتحولات الكبرى.</a:t>
            </a:r>
          </a:p>
        </p:txBody>
      </p:sp>
      <p:sp>
        <p:nvSpPr>
          <p:cNvPr id="21" name="TextBox 20"/>
          <p:cNvSpPr txBox="1"/>
          <p:nvPr/>
        </p:nvSpPr>
        <p:spPr>
          <a:xfrm>
            <a:off x="6903720" y="4026154"/>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2" name="TextBox 21"/>
          <p:cNvSpPr txBox="1"/>
          <p:nvPr/>
        </p:nvSpPr>
        <p:spPr>
          <a:xfrm>
            <a:off x="3881628" y="403072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تحمل المسؤولية العامة عن النتائج.</a:t>
            </a:r>
          </a:p>
        </p:txBody>
      </p:sp>
      <p:sp>
        <p:nvSpPr>
          <p:cNvPr id="23" name="TextBox 22"/>
          <p:cNvSpPr txBox="1"/>
          <p:nvPr/>
        </p:nvSpPr>
        <p:spPr>
          <a:xfrm>
            <a:off x="566928" y="2738882"/>
            <a:ext cx="3113532" cy="205994"/>
          </a:xfrm>
          <a:prstGeom prst="rect">
            <a:avLst/>
          </a:prstGeom>
          <a:noFill/>
        </p:spPr>
        <p:txBody>
          <a:bodyPr wrap="square" lIns="0" rIns="0" tIns="0" bIns="0">
            <a:spAutoFit/>
          </a:bodyPr>
          <a:lstStyle/>
          <a:p>
            <a:pPr algn="r" rtl="1">
              <a:lnSpc>
                <a:spcPts val="1334"/>
              </a:lnSpc>
            </a:pPr>
            <a:r>
              <a:rPr sz="1150" b="0">
                <a:solidFill>
                  <a:srgbClr val="00ABAF"/>
                </a:solidFill>
                <a:latin typeface="Diodrum Arabic SemiBold"/>
                <a:ea typeface="Diodrum Arabic SemiBold"/>
                <a:cs typeface="Diodrum Arabic SemiBold"/>
              </a:rPr>
              <a:t>البروتوكول الذي تتطلبه الفئة</a:t>
            </a:r>
          </a:p>
        </p:txBody>
      </p:sp>
      <p:sp>
        <p:nvSpPr>
          <p:cNvPr id="24" name="TextBox 23"/>
          <p:cNvSpPr txBox="1"/>
          <p:nvPr/>
        </p:nvSpPr>
        <p:spPr>
          <a:xfrm>
            <a:off x="3589019" y="2986024"/>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5" name="TextBox 24"/>
          <p:cNvSpPr txBox="1"/>
          <p:nvPr/>
        </p:nvSpPr>
        <p:spPr>
          <a:xfrm>
            <a:off x="566928" y="299059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جلسات قصيرة ومغلقة.</a:t>
            </a:r>
          </a:p>
        </p:txBody>
      </p:sp>
      <p:sp>
        <p:nvSpPr>
          <p:cNvPr id="26" name="TextBox 25"/>
          <p:cNvSpPr txBox="1"/>
          <p:nvPr/>
        </p:nvSpPr>
        <p:spPr>
          <a:xfrm>
            <a:off x="3589019" y="319405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7" name="TextBox 26"/>
          <p:cNvSpPr txBox="1"/>
          <p:nvPr/>
        </p:nvSpPr>
        <p:spPr>
          <a:xfrm>
            <a:off x="566928" y="3198622"/>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عدد محدود جداً من المشاركين.</a:t>
            </a:r>
          </a:p>
        </p:txBody>
      </p:sp>
      <p:sp>
        <p:nvSpPr>
          <p:cNvPr id="28" name="TextBox 27"/>
          <p:cNvSpPr txBox="1"/>
          <p:nvPr/>
        </p:nvSpPr>
        <p:spPr>
          <a:xfrm>
            <a:off x="3589019" y="3402076"/>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9" name="TextBox 28"/>
          <p:cNvSpPr txBox="1"/>
          <p:nvPr/>
        </p:nvSpPr>
        <p:spPr>
          <a:xfrm>
            <a:off x="566928" y="3406648"/>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محتوى تنفيذي غير تقني.</a:t>
            </a:r>
          </a:p>
        </p:txBody>
      </p:sp>
      <p:sp>
        <p:nvSpPr>
          <p:cNvPr id="30" name="TextBox 29"/>
          <p:cNvSpPr txBox="1"/>
          <p:nvPr/>
        </p:nvSpPr>
        <p:spPr>
          <a:xfrm>
            <a:off x="3589019" y="3610102"/>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1" name="TextBox 30"/>
          <p:cNvSpPr txBox="1"/>
          <p:nvPr/>
        </p:nvSpPr>
        <p:spPr>
          <a:xfrm>
            <a:off x="566928" y="3614674"/>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سرية تعاقدية واضحة.</a:t>
            </a:r>
          </a:p>
        </p:txBody>
      </p:sp>
      <p:sp>
        <p:nvSpPr>
          <p:cNvPr id="32" name="TextBox 31"/>
          <p:cNvSpPr txBox="1"/>
          <p:nvPr/>
        </p:nvSpPr>
        <p:spPr>
          <a:xfrm>
            <a:off x="3589019" y="3818128"/>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3" name="TextBox 32"/>
          <p:cNvSpPr txBox="1"/>
          <p:nvPr/>
        </p:nvSpPr>
        <p:spPr>
          <a:xfrm>
            <a:off x="566928" y="3822700"/>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حالات مرتبطة بقرارات حقيقية.</a:t>
            </a:r>
          </a:p>
        </p:txBody>
      </p:sp>
      <p:sp>
        <p:nvSpPr>
          <p:cNvPr id="34" name="TextBox 33"/>
          <p:cNvSpPr txBox="1"/>
          <p:nvPr/>
        </p:nvSpPr>
        <p:spPr>
          <a:xfrm>
            <a:off x="3589019" y="4026154"/>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5" name="TextBox 34"/>
          <p:cNvSpPr txBox="1"/>
          <p:nvPr/>
        </p:nvSpPr>
        <p:spPr>
          <a:xfrm>
            <a:off x="566928" y="403072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مخرج نهائي: مذكرة أو موقف قرار.</a:t>
            </a:r>
          </a:p>
        </p:txBody>
      </p:sp>
      <p:sp>
        <p:nvSpPr>
          <p:cNvPr id="36" name="Rounded Rectangle 35"/>
          <p:cNvSpPr/>
          <p:nvPr/>
        </p:nvSpPr>
        <p:spPr>
          <a:xfrm>
            <a:off x="566928" y="4412487"/>
            <a:ext cx="6428231" cy="745426"/>
          </a:xfrm>
          <a:prstGeom prst="roundRect">
            <a:avLst>
              <a:gd name="adj" fmla="val 1104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4577079"/>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المخرج التطبيقي</a:t>
            </a:r>
          </a:p>
        </p:txBody>
      </p:sp>
      <p:sp>
        <p:nvSpPr>
          <p:cNvPr id="38" name="TextBox 37"/>
          <p:cNvSpPr txBox="1"/>
          <p:nvPr/>
        </p:nvSpPr>
        <p:spPr>
          <a:xfrm>
            <a:off x="731520" y="4786629"/>
            <a:ext cx="6099047" cy="198882"/>
          </a:xfrm>
          <a:prstGeom prst="rect">
            <a:avLst/>
          </a:prstGeom>
          <a:noFill/>
        </p:spPr>
        <p:txBody>
          <a:bodyPr wrap="square" lIns="0" rIns="0" tIns="0" bIns="0">
            <a:spAutoFit/>
          </a:bodyPr>
          <a:lstStyle/>
          <a:p>
            <a:pPr algn="r" rtl="1">
              <a:lnSpc>
                <a:spcPts val="1278"/>
              </a:lnSpc>
            </a:pPr>
            <a:r>
              <a:rPr sz="900" b="0">
                <a:solidFill>
                  <a:srgbClr val="474956"/>
                </a:solidFill>
                <a:latin typeface="Diodrum Arabic"/>
                <a:ea typeface="Diodrum Arabic"/>
                <a:cs typeface="Diodrum Arabic"/>
              </a:rPr>
              <a:t>مذكرة قرار سرية حول ملف فعلي: الهدف، والقيمة العامة، ومستوى المخاطر، والجهة المسؤولة، وشروط الاستمرار أو التوقف.</a:t>
            </a:r>
          </a:p>
        </p:txBody>
      </p:sp>
      <p:sp>
        <p:nvSpPr>
          <p:cNvPr id="39" name="Rounded Rectangle 38"/>
          <p:cNvSpPr/>
          <p:nvPr/>
        </p:nvSpPr>
        <p:spPr>
          <a:xfrm>
            <a:off x="566928" y="5322506"/>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5505386"/>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قرار البناء أو الشراء الخاص بهذا المستوى</a:t>
            </a:r>
          </a:p>
        </p:txBody>
      </p:sp>
      <p:sp>
        <p:nvSpPr>
          <p:cNvPr id="41" name="TextBox 40"/>
          <p:cNvSpPr txBox="1"/>
          <p:nvPr/>
        </p:nvSpPr>
        <p:spPr>
          <a:xfrm>
            <a:off x="749808" y="5705792"/>
            <a:ext cx="6062471" cy="361187"/>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بناء محلي. لم يُرصد برنامج مفتوح يخاطب الوزراء فئةً أساسية؛ والتغطية الموثقة لا تظهر إلا في صيغ مغلقة أو سيادية — والتحليل الكامل للتوافر في القسم الرابع [31][28].</a:t>
            </a:r>
          </a:p>
        </p:txBody>
      </p:sp>
      <p:sp>
        <p:nvSpPr>
          <p:cNvPr id="42" name="Rectangle 4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4" name="TextBox 4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02 · 2.3  المستوى الثاني</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نواب الوزراء وأصحاب المعالي: فئة مستقلة لا تُدمج بمن دونها</a:t>
            </a:r>
          </a:p>
        </p:txBody>
      </p:sp>
      <p:sp>
        <p:nvSpPr>
          <p:cNvPr id="4" name="TextBox 3"/>
          <p:cNvSpPr txBox="1"/>
          <p:nvPr/>
        </p:nvSpPr>
        <p:spPr>
          <a:xfrm>
            <a:off x="566928" y="1111758"/>
            <a:ext cx="6428231" cy="374395"/>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الفئة المستهدفة: نواب الوزراء، ومن يعادلهم من المحافظين في الهيئات والجهات الحكومية، ومساعدو الوزراء، والمسميات الأخرى المعتمدة باعتبارها مكافئة من حيث الصلاحية والبروتوكول.</a:t>
            </a:r>
          </a:p>
        </p:txBody>
      </p:sp>
      <p:sp>
        <p:nvSpPr>
          <p:cNvPr id="5" name="Rectangle 4"/>
          <p:cNvSpPr/>
          <p:nvPr/>
        </p:nvSpPr>
        <p:spPr>
          <a:xfrm>
            <a:off x="6492240" y="154101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23898"/>
            <a:ext cx="6428231" cy="566928"/>
          </a:xfrm>
          <a:prstGeom prst="roundRect">
            <a:avLst>
              <a:gd name="adj" fmla="val 14516"/>
            </a:avLst>
          </a:prstGeom>
          <a:gradFill rotWithShape="1">
            <a:gsLst>
              <a:gs pos="0">
                <a:srgbClr val="2A206A"/>
              </a:gs>
              <a:gs pos="100000">
                <a:srgbClr val="7C32C9"/>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806194"/>
            <a:ext cx="4325111" cy="363982"/>
          </a:xfrm>
          <a:prstGeom prst="rect">
            <a:avLst/>
          </a:prstGeom>
          <a:noFill/>
        </p:spPr>
        <p:txBody>
          <a:bodyPr wrap="square" lIns="0" rIns="0" tIns="0" bIns="0">
            <a:spAutoFit/>
          </a:bodyPr>
          <a:lstStyle/>
          <a:p>
            <a:pPr algn="r" rtl="1">
              <a:lnSpc>
                <a:spcPts val="1044"/>
              </a:lnSpc>
            </a:pPr>
            <a:r>
              <a:rPr sz="900" b="0">
                <a:solidFill>
                  <a:srgbClr val="D9D7EA"/>
                </a:solidFill>
                <a:latin typeface="Diodrum Arabic SemiBold"/>
                <a:ea typeface="Diodrum Arabic SemiBold"/>
                <a:cs typeface="Diodrum Arabic SemiBold"/>
              </a:rPr>
              <a:t>المستوى الثاني</a:t>
            </a:r>
          </a:p>
          <a:p>
            <a:pPr algn="r" rtl="1">
              <a:lnSpc>
                <a:spcPts val="1334"/>
              </a:lnSpc>
              <a:spcBef>
                <a:spcPts val="200"/>
              </a:spcBef>
            </a:pPr>
            <a:r>
              <a:rPr sz="1150" b="1">
                <a:solidFill>
                  <a:srgbClr val="FFFFFF"/>
                </a:solidFill>
                <a:latin typeface="Diodrum Arabic"/>
                <a:ea typeface="Diodrum Arabic"/>
                <a:cs typeface="Diodrum Arabic"/>
              </a:rPr>
              <a:t>نواب الوزراء وأصحاب المعالي</a:t>
            </a:r>
          </a:p>
        </p:txBody>
      </p:sp>
      <p:sp>
        <p:nvSpPr>
          <p:cNvPr id="8" name="Rounded Rectangle 7"/>
          <p:cNvSpPr/>
          <p:nvPr/>
        </p:nvSpPr>
        <p:spPr>
          <a:xfrm>
            <a:off x="749808" y="1879346"/>
            <a:ext cx="1363135" cy="25603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900" b="0">
                <a:solidFill>
                  <a:srgbClr val="2A206A"/>
                </a:solidFill>
                <a:latin typeface="Diodrum Arabic SemiBold"/>
                <a:ea typeface="Diodrum Arabic SemiBold"/>
                <a:cs typeface="Diodrum Arabic SemiBold"/>
              </a:rPr>
              <a:t>المسار: تطوير مشترك</a:t>
            </a:r>
          </a:p>
        </p:txBody>
      </p:sp>
      <p:sp>
        <p:nvSpPr>
          <p:cNvPr id="9" name="TextBox 8"/>
          <p:cNvSpPr txBox="1"/>
          <p:nvPr/>
        </p:nvSpPr>
        <p:spPr>
          <a:xfrm>
            <a:off x="566928" y="2437130"/>
            <a:ext cx="6428231" cy="550545"/>
          </a:xfrm>
          <a:prstGeom prst="rect">
            <a:avLst/>
          </a:prstGeom>
          <a:noFill/>
        </p:spPr>
        <p:txBody>
          <a:bodyPr wrap="square" lIns="0" rIns="0" tIns="0" bIns="0">
            <a:spAutoFit/>
          </a:bodyPr>
          <a:lstStyle/>
          <a:p>
            <a:pPr algn="just" rtl="1">
              <a:lnSpc>
                <a:spcPts val="1348"/>
              </a:lnSpc>
            </a:pPr>
            <a:r>
              <a:rPr sz="950" b="0">
                <a:solidFill>
                  <a:srgbClr val="474956"/>
                </a:solidFill>
                <a:latin typeface="Diodrum Arabic"/>
                <a:ea typeface="Diodrum Arabic"/>
                <a:cs typeface="Diodrum Arabic"/>
              </a:rPr>
              <a:t>فئة قيادية عليا تقع بعد المستوى الوزاري، لكنها لا ينبغي أن تُدمج مع الوكلاء أو القيادات التنفيذية: فهي تختلف عنها في نطاق الصلاحية، ودرجة المساءلة، والتعامل مع المحافظ الاستثمارية، والاتصال المباشر بالمستوى الوزاري، والبروتوكول المناسب للتدريب. وجوهر قرارها ترجمة التوجه الوزاري إلى عمل ممول ومحكوم.</a:t>
            </a:r>
          </a:p>
        </p:txBody>
      </p:sp>
      <p:sp>
        <p:nvSpPr>
          <p:cNvPr id="10" name="TextBox 9"/>
          <p:cNvSpPr txBox="1"/>
          <p:nvPr/>
        </p:nvSpPr>
        <p:spPr>
          <a:xfrm>
            <a:off x="3881628" y="3079115"/>
            <a:ext cx="3113532" cy="205994"/>
          </a:xfrm>
          <a:prstGeom prst="rect">
            <a:avLst/>
          </a:prstGeom>
          <a:noFill/>
        </p:spPr>
        <p:txBody>
          <a:bodyPr wrap="square" lIns="0" rIns="0" tIns="0" bIns="0">
            <a:spAutoFit/>
          </a:bodyPr>
          <a:lstStyle/>
          <a:p>
            <a:pPr algn="r" rtl="1">
              <a:lnSpc>
                <a:spcPts val="1334"/>
              </a:lnSpc>
            </a:pPr>
            <a:r>
              <a:rPr sz="1150" b="0">
                <a:solidFill>
                  <a:srgbClr val="2A206A"/>
                </a:solidFill>
                <a:latin typeface="Diodrum Arabic SemiBold"/>
                <a:ea typeface="Diodrum Arabic SemiBold"/>
                <a:cs typeface="Diodrum Arabic SemiBold"/>
              </a:rPr>
              <a:t>نوع القرار — المحفظة والحوكمة</a:t>
            </a:r>
          </a:p>
        </p:txBody>
      </p:sp>
      <p:sp>
        <p:nvSpPr>
          <p:cNvPr id="11" name="TextBox 10"/>
          <p:cNvSpPr txBox="1"/>
          <p:nvPr/>
        </p:nvSpPr>
        <p:spPr>
          <a:xfrm>
            <a:off x="6903720" y="3326257"/>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12" name="TextBox 11"/>
          <p:cNvSpPr txBox="1"/>
          <p:nvPr/>
        </p:nvSpPr>
        <p:spPr>
          <a:xfrm>
            <a:off x="3881628" y="3330829"/>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تحويل توجه الوزير إلى محفظة مبادرات.</a:t>
            </a:r>
          </a:p>
        </p:txBody>
      </p:sp>
      <p:sp>
        <p:nvSpPr>
          <p:cNvPr id="13" name="TextBox 12"/>
          <p:cNvSpPr txBox="1"/>
          <p:nvPr/>
        </p:nvSpPr>
        <p:spPr>
          <a:xfrm>
            <a:off x="6903720" y="3534283"/>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14" name="TextBox 13"/>
          <p:cNvSpPr txBox="1"/>
          <p:nvPr/>
        </p:nvSpPr>
        <p:spPr>
          <a:xfrm>
            <a:off x="3881628" y="3538855"/>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ترتيب حالات الاستخدام وتحديد الأولويات والتمويل.</a:t>
            </a:r>
          </a:p>
        </p:txBody>
      </p:sp>
      <p:sp>
        <p:nvSpPr>
          <p:cNvPr id="15" name="TextBox 14"/>
          <p:cNvSpPr txBox="1"/>
          <p:nvPr/>
        </p:nvSpPr>
        <p:spPr>
          <a:xfrm>
            <a:off x="6903720" y="3742309"/>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16" name="TextBox 15"/>
          <p:cNvSpPr txBox="1"/>
          <p:nvPr/>
        </p:nvSpPr>
        <p:spPr>
          <a:xfrm>
            <a:off x="3881628" y="3746880"/>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اعتماد نموذج الحوكمة التشغيلي.</a:t>
            </a:r>
          </a:p>
        </p:txBody>
      </p:sp>
      <p:sp>
        <p:nvSpPr>
          <p:cNvPr id="17" name="TextBox 16"/>
          <p:cNvSpPr txBox="1"/>
          <p:nvPr/>
        </p:nvSpPr>
        <p:spPr>
          <a:xfrm>
            <a:off x="6903720" y="3950335"/>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18" name="TextBox 17"/>
          <p:cNvSpPr txBox="1"/>
          <p:nvPr/>
        </p:nvSpPr>
        <p:spPr>
          <a:xfrm>
            <a:off x="3881628" y="3954907"/>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متابعة أداء الاستثمارات.</a:t>
            </a:r>
          </a:p>
        </p:txBody>
      </p:sp>
      <p:sp>
        <p:nvSpPr>
          <p:cNvPr id="19" name="TextBox 18"/>
          <p:cNvSpPr txBox="1"/>
          <p:nvPr/>
        </p:nvSpPr>
        <p:spPr>
          <a:xfrm>
            <a:off x="6903720" y="4158361"/>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20" name="TextBox 19"/>
          <p:cNvSpPr txBox="1"/>
          <p:nvPr/>
        </p:nvSpPr>
        <p:spPr>
          <a:xfrm>
            <a:off x="3881628" y="4162933"/>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اتخاذ قرارات الاستمرار أو الإيقاف.</a:t>
            </a:r>
          </a:p>
        </p:txBody>
      </p:sp>
      <p:sp>
        <p:nvSpPr>
          <p:cNvPr id="21" name="TextBox 20"/>
          <p:cNvSpPr txBox="1"/>
          <p:nvPr/>
        </p:nvSpPr>
        <p:spPr>
          <a:xfrm>
            <a:off x="6903720" y="4366387"/>
            <a:ext cx="91440" cy="183896"/>
          </a:xfrm>
          <a:prstGeom prst="rect">
            <a:avLst/>
          </a:prstGeom>
          <a:noFill/>
        </p:spPr>
        <p:txBody>
          <a:bodyPr wrap="square" lIns="0" rIns="0" tIns="0" bIns="0">
            <a:spAutoFit/>
          </a:bodyPr>
          <a:lstStyle/>
          <a:p>
            <a:pPr algn="ctr">
              <a:lnSpc>
                <a:spcPts val="1160"/>
              </a:lnSpc>
            </a:pPr>
            <a:r>
              <a:rPr sz="1000" b="0">
                <a:solidFill>
                  <a:srgbClr val="2A206A"/>
                </a:solidFill>
                <a:latin typeface="Diodrum Arabic SemiBold"/>
                <a:ea typeface="Diodrum Arabic SemiBold"/>
                <a:cs typeface="Diodrum Arabic SemiBold"/>
              </a:rPr>
              <a:t>•</a:t>
            </a:r>
          </a:p>
        </p:txBody>
      </p:sp>
      <p:sp>
        <p:nvSpPr>
          <p:cNvPr id="22" name="TextBox 21"/>
          <p:cNvSpPr txBox="1"/>
          <p:nvPr/>
        </p:nvSpPr>
        <p:spPr>
          <a:xfrm>
            <a:off x="3881628" y="4370959"/>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إدارة التنسيق بين الجهات والقطاعات.</a:t>
            </a:r>
          </a:p>
        </p:txBody>
      </p:sp>
      <p:sp>
        <p:nvSpPr>
          <p:cNvPr id="23" name="TextBox 22"/>
          <p:cNvSpPr txBox="1"/>
          <p:nvPr/>
        </p:nvSpPr>
        <p:spPr>
          <a:xfrm>
            <a:off x="566928" y="3079115"/>
            <a:ext cx="3113532" cy="205994"/>
          </a:xfrm>
          <a:prstGeom prst="rect">
            <a:avLst/>
          </a:prstGeom>
          <a:noFill/>
        </p:spPr>
        <p:txBody>
          <a:bodyPr wrap="square" lIns="0" rIns="0" tIns="0" bIns="0">
            <a:spAutoFit/>
          </a:bodyPr>
          <a:lstStyle/>
          <a:p>
            <a:pPr algn="r" rtl="1">
              <a:lnSpc>
                <a:spcPts val="1334"/>
              </a:lnSpc>
            </a:pPr>
            <a:r>
              <a:rPr sz="1150" b="0">
                <a:solidFill>
                  <a:srgbClr val="00ABAF"/>
                </a:solidFill>
                <a:latin typeface="Diodrum Arabic SemiBold"/>
                <a:ea typeface="Diodrum Arabic SemiBold"/>
                <a:cs typeface="Diodrum Arabic SemiBold"/>
              </a:rPr>
              <a:t>البروتوكول الذي تتطلبه الفئة</a:t>
            </a:r>
          </a:p>
        </p:txBody>
      </p:sp>
      <p:sp>
        <p:nvSpPr>
          <p:cNvPr id="24" name="TextBox 23"/>
          <p:cNvSpPr txBox="1"/>
          <p:nvPr/>
        </p:nvSpPr>
        <p:spPr>
          <a:xfrm>
            <a:off x="3589019" y="3326257"/>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5" name="TextBox 24"/>
          <p:cNvSpPr txBox="1"/>
          <p:nvPr/>
        </p:nvSpPr>
        <p:spPr>
          <a:xfrm>
            <a:off x="566928" y="3330829"/>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أفواج صغيرة وانتقائية.</a:t>
            </a:r>
          </a:p>
        </p:txBody>
      </p:sp>
      <p:sp>
        <p:nvSpPr>
          <p:cNvPr id="26" name="TextBox 25"/>
          <p:cNvSpPr txBox="1"/>
          <p:nvPr/>
        </p:nvSpPr>
        <p:spPr>
          <a:xfrm>
            <a:off x="3589019" y="3534283"/>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7" name="TextBox 26"/>
          <p:cNvSpPr txBox="1"/>
          <p:nvPr/>
        </p:nvSpPr>
        <p:spPr>
          <a:xfrm>
            <a:off x="566928" y="3538855"/>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مستوى عالٍ من الخصوصية.</a:t>
            </a:r>
          </a:p>
        </p:txBody>
      </p:sp>
      <p:sp>
        <p:nvSpPr>
          <p:cNvPr id="28" name="TextBox 27"/>
          <p:cNvSpPr txBox="1"/>
          <p:nvPr/>
        </p:nvSpPr>
        <p:spPr>
          <a:xfrm>
            <a:off x="3589019" y="3742309"/>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9" name="TextBox 28"/>
          <p:cNvSpPr txBox="1"/>
          <p:nvPr/>
        </p:nvSpPr>
        <p:spPr>
          <a:xfrm>
            <a:off x="566928" y="3746880"/>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حالات حكومية سعودية.</a:t>
            </a:r>
          </a:p>
        </p:txBody>
      </p:sp>
      <p:sp>
        <p:nvSpPr>
          <p:cNvPr id="30" name="TextBox 29"/>
          <p:cNvSpPr txBox="1"/>
          <p:nvPr/>
        </p:nvSpPr>
        <p:spPr>
          <a:xfrm>
            <a:off x="3589019" y="3950335"/>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1" name="TextBox 30"/>
          <p:cNvSpPr txBox="1"/>
          <p:nvPr/>
        </p:nvSpPr>
        <p:spPr>
          <a:xfrm>
            <a:off x="566928" y="3954907"/>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تعلم بين أقران من المستوى نفسه.</a:t>
            </a:r>
          </a:p>
        </p:txBody>
      </p:sp>
      <p:sp>
        <p:nvSpPr>
          <p:cNvPr id="32" name="TextBox 31"/>
          <p:cNvSpPr txBox="1"/>
          <p:nvPr/>
        </p:nvSpPr>
        <p:spPr>
          <a:xfrm>
            <a:off x="3589019" y="4158361"/>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3" name="TextBox 32"/>
          <p:cNvSpPr txBox="1"/>
          <p:nvPr/>
        </p:nvSpPr>
        <p:spPr>
          <a:xfrm>
            <a:off x="566928" y="4162933"/>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برنامج مكثف أو إقامة تنفيذية قصيرة.</a:t>
            </a:r>
          </a:p>
        </p:txBody>
      </p:sp>
      <p:sp>
        <p:nvSpPr>
          <p:cNvPr id="34" name="TextBox 33"/>
          <p:cNvSpPr txBox="1"/>
          <p:nvPr/>
        </p:nvSpPr>
        <p:spPr>
          <a:xfrm>
            <a:off x="3589019" y="4366387"/>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5" name="TextBox 34"/>
          <p:cNvSpPr txBox="1"/>
          <p:nvPr/>
        </p:nvSpPr>
        <p:spPr>
          <a:xfrm>
            <a:off x="566928" y="4370959"/>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متابعة تطبيقية بعد البرنامج.</a:t>
            </a:r>
          </a:p>
        </p:txBody>
      </p:sp>
      <p:sp>
        <p:nvSpPr>
          <p:cNvPr id="36" name="Rounded Rectangle 35"/>
          <p:cNvSpPr/>
          <p:nvPr/>
        </p:nvSpPr>
        <p:spPr>
          <a:xfrm>
            <a:off x="566928" y="4752720"/>
            <a:ext cx="6428231" cy="745426"/>
          </a:xfrm>
          <a:prstGeom prst="roundRect">
            <a:avLst>
              <a:gd name="adj" fmla="val 1104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4917312"/>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المخرج التطبيقي</a:t>
            </a:r>
          </a:p>
        </p:txBody>
      </p:sp>
      <p:sp>
        <p:nvSpPr>
          <p:cNvPr id="38" name="TextBox 37"/>
          <p:cNvSpPr txBox="1"/>
          <p:nvPr/>
        </p:nvSpPr>
        <p:spPr>
          <a:xfrm>
            <a:off x="731520" y="5126862"/>
            <a:ext cx="6099047" cy="198882"/>
          </a:xfrm>
          <a:prstGeom prst="rect">
            <a:avLst/>
          </a:prstGeom>
          <a:noFill/>
        </p:spPr>
        <p:txBody>
          <a:bodyPr wrap="square" lIns="0" rIns="0" tIns="0" bIns="0">
            <a:spAutoFit/>
          </a:bodyPr>
          <a:lstStyle/>
          <a:p>
            <a:pPr algn="r" rtl="1">
              <a:lnSpc>
                <a:spcPts val="1278"/>
              </a:lnSpc>
            </a:pPr>
            <a:r>
              <a:rPr sz="900" b="0">
                <a:solidFill>
                  <a:srgbClr val="474956"/>
                </a:solidFill>
                <a:latin typeface="Diodrum Arabic"/>
                <a:ea typeface="Diodrum Arabic"/>
                <a:cs typeface="Diodrum Arabic"/>
              </a:rPr>
              <a:t>حزمة محفظة وحوكمة: حالات الاستخدام المرتبة، والملاك، والاعتماديات، والضوابط، ومراحل التنفيذ.</a:t>
            </a:r>
          </a:p>
        </p:txBody>
      </p:sp>
      <p:sp>
        <p:nvSpPr>
          <p:cNvPr id="39" name="Rounded Rectangle 38"/>
          <p:cNvSpPr/>
          <p:nvPr/>
        </p:nvSpPr>
        <p:spPr>
          <a:xfrm>
            <a:off x="566928" y="5662739"/>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5845619"/>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قرار البناء أو الشراء الخاص بهذا المستوى</a:t>
            </a:r>
          </a:p>
        </p:txBody>
      </p:sp>
      <p:sp>
        <p:nvSpPr>
          <p:cNvPr id="41" name="TextBox 40"/>
          <p:cNvSpPr txBox="1"/>
          <p:nvPr/>
        </p:nvSpPr>
        <p:spPr>
          <a:xfrm>
            <a:off x="749808" y="6046025"/>
            <a:ext cx="6062471" cy="361187"/>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تطوير مشترك. توجد برامج انتقائية تستقبل هذه الفئة لكنها تفتقر إلى الحالات السعودية والملكية المحلية للسرية والقياس — والملاءمة هي شريك موثوق مع مالك سعودي (القسم الرابع) [32][35].</a:t>
            </a:r>
          </a:p>
        </p:txBody>
      </p:sp>
      <p:sp>
        <p:nvSpPr>
          <p:cNvPr id="42" name="Rectangle 4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4" name="TextBox 4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02 · 2.4  المستوى الثالث</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وكلاء الوزارات ونواب المحافظين: آخر مراجعة رئيسية قبل الالتزام</a:t>
            </a:r>
          </a:p>
        </p:txBody>
      </p:sp>
      <p:sp>
        <p:nvSpPr>
          <p:cNvPr id="4" name="TextBox 3"/>
          <p:cNvSpPr txBox="1"/>
          <p:nvPr/>
        </p:nvSpPr>
        <p:spPr>
          <a:xfrm>
            <a:off x="566928" y="140131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الفئة المستهدفة: وكلاء الوزارات، ونواب المحافظين، والمسميات المكافئة من حيث الصلاحية التنفيذية.</a:t>
            </a:r>
          </a:p>
        </p:txBody>
      </p:sp>
      <p:sp>
        <p:nvSpPr>
          <p:cNvPr id="5" name="Rectangle 4"/>
          <p:cNvSpPr/>
          <p:nvPr/>
        </p:nvSpPr>
        <p:spPr>
          <a:xfrm>
            <a:off x="6492240" y="166166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844548"/>
            <a:ext cx="6428231" cy="566928"/>
          </a:xfrm>
          <a:prstGeom prst="roundRect">
            <a:avLst>
              <a:gd name="adj" fmla="val 14516"/>
            </a:avLst>
          </a:prstGeom>
          <a:gradFill rotWithShape="1">
            <a:gsLst>
              <a:gs pos="0">
                <a:srgbClr val="00ABAF"/>
              </a:gs>
              <a:gs pos="100000">
                <a:srgbClr val="2A206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926844"/>
            <a:ext cx="4325111" cy="363982"/>
          </a:xfrm>
          <a:prstGeom prst="rect">
            <a:avLst/>
          </a:prstGeom>
          <a:noFill/>
        </p:spPr>
        <p:txBody>
          <a:bodyPr wrap="square" lIns="0" rIns="0" tIns="0" bIns="0">
            <a:spAutoFit/>
          </a:bodyPr>
          <a:lstStyle/>
          <a:p>
            <a:pPr algn="r" rtl="1">
              <a:lnSpc>
                <a:spcPts val="1044"/>
              </a:lnSpc>
            </a:pPr>
            <a:r>
              <a:rPr sz="900" b="0">
                <a:solidFill>
                  <a:srgbClr val="D9D7EA"/>
                </a:solidFill>
                <a:latin typeface="Diodrum Arabic SemiBold"/>
                <a:ea typeface="Diodrum Arabic SemiBold"/>
                <a:cs typeface="Diodrum Arabic SemiBold"/>
              </a:rPr>
              <a:t>المستوى الثالث</a:t>
            </a:r>
          </a:p>
          <a:p>
            <a:pPr algn="r" rtl="1">
              <a:lnSpc>
                <a:spcPts val="1334"/>
              </a:lnSpc>
              <a:spcBef>
                <a:spcPts val="200"/>
              </a:spcBef>
            </a:pPr>
            <a:r>
              <a:rPr sz="1150" b="1">
                <a:solidFill>
                  <a:srgbClr val="FFFFFF"/>
                </a:solidFill>
                <a:latin typeface="Diodrum Arabic"/>
                <a:ea typeface="Diodrum Arabic"/>
                <a:cs typeface="Diodrum Arabic"/>
              </a:rPr>
              <a:t>وكلاء الوزارات ونواب المحافظين والمسميات المكافئة</a:t>
            </a:r>
          </a:p>
        </p:txBody>
      </p:sp>
      <p:sp>
        <p:nvSpPr>
          <p:cNvPr id="8" name="Rounded Rectangle 7"/>
          <p:cNvSpPr/>
          <p:nvPr/>
        </p:nvSpPr>
        <p:spPr>
          <a:xfrm>
            <a:off x="749808" y="1999996"/>
            <a:ext cx="1299139" cy="25603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900" b="0">
                <a:solidFill>
                  <a:srgbClr val="00ABAF"/>
                </a:solidFill>
                <a:latin typeface="Diodrum Arabic SemiBold"/>
                <a:ea typeface="Diodrum Arabic SemiBold"/>
                <a:cs typeface="Diodrum Arabic SemiBold"/>
              </a:rPr>
              <a:t>المسار: شراء وتكييف</a:t>
            </a:r>
          </a:p>
        </p:txBody>
      </p:sp>
      <p:sp>
        <p:nvSpPr>
          <p:cNvPr id="9" name="TextBox 8"/>
          <p:cNvSpPr txBox="1"/>
          <p:nvPr/>
        </p:nvSpPr>
        <p:spPr>
          <a:xfrm>
            <a:off x="566928" y="2557780"/>
            <a:ext cx="6428231" cy="379221"/>
          </a:xfrm>
          <a:prstGeom prst="rect">
            <a:avLst/>
          </a:prstGeom>
          <a:noFill/>
        </p:spPr>
        <p:txBody>
          <a:bodyPr wrap="square" lIns="0" rIns="0" tIns="0" bIns="0">
            <a:spAutoFit/>
          </a:bodyPr>
          <a:lstStyle/>
          <a:p>
            <a:pPr algn="just" rtl="1">
              <a:lnSpc>
                <a:spcPts val="1348"/>
              </a:lnSpc>
            </a:pPr>
            <a:r>
              <a:rPr sz="950" b="0">
                <a:solidFill>
                  <a:srgbClr val="474956"/>
                </a:solidFill>
                <a:latin typeface="Diodrum Arabic"/>
                <a:ea typeface="Diodrum Arabic"/>
                <a:cs typeface="Diodrum Arabic"/>
              </a:rPr>
              <a:t>يترجم هذا المستوى المحفظة المعتمدة إلى قرارات جاهزية وتنفيذ، وهو آخر مستوى رئيسي يراجع كثيراً من المبادرات قبل الالتزام بالميزانية والوقت والتعاقد؛ ومن هنا يكون محتواه التدريبي أقرب إلى التطبيق الموجه منه إلى الاطلاع العام.</a:t>
            </a:r>
          </a:p>
        </p:txBody>
      </p:sp>
      <p:sp>
        <p:nvSpPr>
          <p:cNvPr id="10" name="TextBox 9"/>
          <p:cNvSpPr txBox="1"/>
          <p:nvPr/>
        </p:nvSpPr>
        <p:spPr>
          <a:xfrm>
            <a:off x="3881628" y="3028442"/>
            <a:ext cx="3113532" cy="205994"/>
          </a:xfrm>
          <a:prstGeom prst="rect">
            <a:avLst/>
          </a:prstGeom>
          <a:noFill/>
        </p:spPr>
        <p:txBody>
          <a:bodyPr wrap="square" lIns="0" rIns="0" tIns="0" bIns="0">
            <a:spAutoFit/>
          </a:bodyPr>
          <a:lstStyle/>
          <a:p>
            <a:pPr algn="r" rtl="1">
              <a:lnSpc>
                <a:spcPts val="1334"/>
              </a:lnSpc>
            </a:pPr>
            <a:r>
              <a:rPr sz="1150" b="0">
                <a:solidFill>
                  <a:srgbClr val="00ABAF"/>
                </a:solidFill>
                <a:latin typeface="Diodrum Arabic SemiBold"/>
                <a:ea typeface="Diodrum Arabic SemiBold"/>
                <a:cs typeface="Diodrum Arabic SemiBold"/>
              </a:rPr>
              <a:t>نوع القرار — الجاهزية والالتزام</a:t>
            </a:r>
          </a:p>
        </p:txBody>
      </p:sp>
      <p:sp>
        <p:nvSpPr>
          <p:cNvPr id="11" name="TextBox 10"/>
          <p:cNvSpPr txBox="1"/>
          <p:nvPr/>
        </p:nvSpPr>
        <p:spPr>
          <a:xfrm>
            <a:off x="6903720" y="3275584"/>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2" name="TextBox 11"/>
          <p:cNvSpPr txBox="1"/>
          <p:nvPr/>
        </p:nvSpPr>
        <p:spPr>
          <a:xfrm>
            <a:off x="3881628" y="328015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تقييم جاهزية حالات الاستخدام.</a:t>
            </a:r>
          </a:p>
        </p:txBody>
      </p:sp>
      <p:sp>
        <p:nvSpPr>
          <p:cNvPr id="13" name="TextBox 12"/>
          <p:cNvSpPr txBox="1"/>
          <p:nvPr/>
        </p:nvSpPr>
        <p:spPr>
          <a:xfrm>
            <a:off x="6903720" y="348361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4" name="TextBox 13"/>
          <p:cNvSpPr txBox="1"/>
          <p:nvPr/>
        </p:nvSpPr>
        <p:spPr>
          <a:xfrm>
            <a:off x="3881628" y="3488182"/>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اتخاذ قرارات البيانات والوصول والمشاركة.</a:t>
            </a:r>
          </a:p>
        </p:txBody>
      </p:sp>
      <p:sp>
        <p:nvSpPr>
          <p:cNvPr id="15" name="TextBox 14"/>
          <p:cNvSpPr txBox="1"/>
          <p:nvPr/>
        </p:nvSpPr>
        <p:spPr>
          <a:xfrm>
            <a:off x="6903720" y="3691636"/>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6" name="TextBox 15"/>
          <p:cNvSpPr txBox="1"/>
          <p:nvPr/>
        </p:nvSpPr>
        <p:spPr>
          <a:xfrm>
            <a:off x="3881628" y="3696208"/>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مراجعة التعاقد والمشتريات.</a:t>
            </a:r>
          </a:p>
        </p:txBody>
      </p:sp>
      <p:sp>
        <p:nvSpPr>
          <p:cNvPr id="17" name="TextBox 16"/>
          <p:cNvSpPr txBox="1"/>
          <p:nvPr/>
        </p:nvSpPr>
        <p:spPr>
          <a:xfrm>
            <a:off x="6903720" y="3899662"/>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18" name="TextBox 17"/>
          <p:cNvSpPr txBox="1"/>
          <p:nvPr/>
        </p:nvSpPr>
        <p:spPr>
          <a:xfrm>
            <a:off x="3881628" y="3904234"/>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إدارة المخاطر الأمنية والتنظيمية.</a:t>
            </a:r>
          </a:p>
        </p:txBody>
      </p:sp>
      <p:sp>
        <p:nvSpPr>
          <p:cNvPr id="19" name="TextBox 18"/>
          <p:cNvSpPr txBox="1"/>
          <p:nvPr/>
        </p:nvSpPr>
        <p:spPr>
          <a:xfrm>
            <a:off x="6903720" y="4107688"/>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0" name="TextBox 19"/>
          <p:cNvSpPr txBox="1"/>
          <p:nvPr/>
        </p:nvSpPr>
        <p:spPr>
          <a:xfrm>
            <a:off x="3881628" y="4112260"/>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متابعة التنفيذ وإعداد القوى العاملة.</a:t>
            </a:r>
          </a:p>
        </p:txBody>
      </p:sp>
      <p:sp>
        <p:nvSpPr>
          <p:cNvPr id="21" name="TextBox 20"/>
          <p:cNvSpPr txBox="1"/>
          <p:nvPr/>
        </p:nvSpPr>
        <p:spPr>
          <a:xfrm>
            <a:off x="6903720" y="4315714"/>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2" name="TextBox 21"/>
          <p:cNvSpPr txBox="1"/>
          <p:nvPr/>
        </p:nvSpPr>
        <p:spPr>
          <a:xfrm>
            <a:off x="3881628" y="432028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التأكد من وجود مؤشرات أداء وملاك واضحين.</a:t>
            </a:r>
          </a:p>
        </p:txBody>
      </p:sp>
      <p:sp>
        <p:nvSpPr>
          <p:cNvPr id="23" name="TextBox 22"/>
          <p:cNvSpPr txBox="1"/>
          <p:nvPr/>
        </p:nvSpPr>
        <p:spPr>
          <a:xfrm>
            <a:off x="566928" y="3028442"/>
            <a:ext cx="3113532" cy="205994"/>
          </a:xfrm>
          <a:prstGeom prst="rect">
            <a:avLst/>
          </a:prstGeom>
          <a:noFill/>
        </p:spPr>
        <p:txBody>
          <a:bodyPr wrap="square" lIns="0" rIns="0" tIns="0" bIns="0">
            <a:spAutoFit/>
          </a:bodyPr>
          <a:lstStyle/>
          <a:p>
            <a:pPr algn="r" rtl="1">
              <a:lnSpc>
                <a:spcPts val="1334"/>
              </a:lnSpc>
            </a:pPr>
            <a:r>
              <a:rPr sz="1150" b="0">
                <a:solidFill>
                  <a:srgbClr val="7C32C9"/>
                </a:solidFill>
                <a:latin typeface="Diodrum Arabic SemiBold"/>
                <a:ea typeface="Diodrum Arabic SemiBold"/>
                <a:cs typeface="Diodrum Arabic SemiBold"/>
              </a:rPr>
              <a:t>البروتوكول الذي تتطلبه الفئة</a:t>
            </a:r>
          </a:p>
        </p:txBody>
      </p:sp>
      <p:sp>
        <p:nvSpPr>
          <p:cNvPr id="24" name="TextBox 23"/>
          <p:cNvSpPr txBox="1"/>
          <p:nvPr/>
        </p:nvSpPr>
        <p:spPr>
          <a:xfrm>
            <a:off x="3589019" y="3275584"/>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5" name="TextBox 24"/>
          <p:cNvSpPr txBox="1"/>
          <p:nvPr/>
        </p:nvSpPr>
        <p:spPr>
          <a:xfrm>
            <a:off x="566928" y="328015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أفواج تنفيذية موجهة.</a:t>
            </a:r>
          </a:p>
        </p:txBody>
      </p:sp>
      <p:sp>
        <p:nvSpPr>
          <p:cNvPr id="26" name="TextBox 25"/>
          <p:cNvSpPr txBox="1"/>
          <p:nvPr/>
        </p:nvSpPr>
        <p:spPr>
          <a:xfrm>
            <a:off x="3589019" y="3483610"/>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7" name="TextBox 26"/>
          <p:cNvSpPr txBox="1"/>
          <p:nvPr/>
        </p:nvSpPr>
        <p:spPr>
          <a:xfrm>
            <a:off x="566928" y="3488182"/>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برنامج مدمج يمتد عدة أسابيع.</a:t>
            </a:r>
          </a:p>
        </p:txBody>
      </p:sp>
      <p:sp>
        <p:nvSpPr>
          <p:cNvPr id="28" name="TextBox 27"/>
          <p:cNvSpPr txBox="1"/>
          <p:nvPr/>
        </p:nvSpPr>
        <p:spPr>
          <a:xfrm>
            <a:off x="3589019" y="3691636"/>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29" name="TextBox 28"/>
          <p:cNvSpPr txBox="1"/>
          <p:nvPr/>
        </p:nvSpPr>
        <p:spPr>
          <a:xfrm>
            <a:off x="566928" y="3696208"/>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تطبيق على حالة عمل حقيقية.</a:t>
            </a:r>
          </a:p>
        </p:txBody>
      </p:sp>
      <p:sp>
        <p:nvSpPr>
          <p:cNvPr id="30" name="TextBox 29"/>
          <p:cNvSpPr txBox="1"/>
          <p:nvPr/>
        </p:nvSpPr>
        <p:spPr>
          <a:xfrm>
            <a:off x="3589019" y="3899662"/>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31" name="TextBox 30"/>
          <p:cNvSpPr txBox="1"/>
          <p:nvPr/>
        </p:nvSpPr>
        <p:spPr>
          <a:xfrm>
            <a:off x="566928" y="3904234"/>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تدريب عملي على المشتريات والبيانات والحوكمة.</a:t>
            </a:r>
          </a:p>
        </p:txBody>
      </p:sp>
      <p:sp>
        <p:nvSpPr>
          <p:cNvPr id="32" name="TextBox 31"/>
          <p:cNvSpPr txBox="1"/>
          <p:nvPr/>
        </p:nvSpPr>
        <p:spPr>
          <a:xfrm>
            <a:off x="3589019" y="4107688"/>
            <a:ext cx="91440" cy="183896"/>
          </a:xfrm>
          <a:prstGeom prst="rect">
            <a:avLst/>
          </a:prstGeom>
          <a:noFill/>
        </p:spPr>
        <p:txBody>
          <a:bodyPr wrap="square" lIns="0" rIns="0" tIns="0" bIns="0">
            <a:spAutoFit/>
          </a:bodyPr>
          <a:lstStyle/>
          <a:p>
            <a:pPr algn="ctr">
              <a:lnSpc>
                <a:spcPts val="1160"/>
              </a:lnSpc>
            </a:pPr>
            <a:r>
              <a:rPr sz="1000" b="0">
                <a:solidFill>
                  <a:srgbClr val="7C32C9"/>
                </a:solidFill>
                <a:latin typeface="Diodrum Arabic SemiBold"/>
                <a:ea typeface="Diodrum Arabic SemiBold"/>
                <a:cs typeface="Diodrum Arabic SemiBold"/>
              </a:rPr>
              <a:t>•</a:t>
            </a:r>
          </a:p>
        </p:txBody>
      </p:sp>
      <p:sp>
        <p:nvSpPr>
          <p:cNvPr id="33" name="TextBox 32"/>
          <p:cNvSpPr txBox="1"/>
          <p:nvPr/>
        </p:nvSpPr>
        <p:spPr>
          <a:xfrm>
            <a:off x="566928" y="4112260"/>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توجيه تنفيذي أو إشراف على المشروع التطبيقي.</a:t>
            </a:r>
          </a:p>
        </p:txBody>
      </p:sp>
      <p:sp>
        <p:nvSpPr>
          <p:cNvPr id="34" name="Rounded Rectangle 33"/>
          <p:cNvSpPr/>
          <p:nvPr/>
        </p:nvSpPr>
        <p:spPr>
          <a:xfrm>
            <a:off x="566928" y="4702048"/>
            <a:ext cx="6428231" cy="745426"/>
          </a:xfrm>
          <a:prstGeom prst="roundRect">
            <a:avLst>
              <a:gd name="adj" fmla="val 1104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866640"/>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المخرج التطبيقي</a:t>
            </a:r>
          </a:p>
        </p:txBody>
      </p:sp>
      <p:sp>
        <p:nvSpPr>
          <p:cNvPr id="36" name="TextBox 35"/>
          <p:cNvSpPr txBox="1"/>
          <p:nvPr/>
        </p:nvSpPr>
        <p:spPr>
          <a:xfrm>
            <a:off x="731520" y="5076190"/>
            <a:ext cx="6099047" cy="198882"/>
          </a:xfrm>
          <a:prstGeom prst="rect">
            <a:avLst/>
          </a:prstGeom>
          <a:noFill/>
        </p:spPr>
        <p:txBody>
          <a:bodyPr wrap="square" lIns="0" rIns="0" tIns="0" bIns="0">
            <a:spAutoFit/>
          </a:bodyPr>
          <a:lstStyle/>
          <a:p>
            <a:pPr algn="r" rtl="1">
              <a:lnSpc>
                <a:spcPts val="1278"/>
              </a:lnSpc>
            </a:pPr>
            <a:r>
              <a:rPr sz="900" b="0">
                <a:solidFill>
                  <a:srgbClr val="474956"/>
                </a:solidFill>
                <a:latin typeface="Diodrum Arabic"/>
                <a:ea typeface="Diodrum Arabic"/>
                <a:cs typeface="Diodrum Arabic"/>
              </a:rPr>
              <a:t>ميثاق تنفيذ يربط حالة الاستخدام بالبيانات، والضوابط، والتعاقد، والمالك، والمراحل، ومؤشرات القياس.</a:t>
            </a:r>
          </a:p>
        </p:txBody>
      </p:sp>
      <p:sp>
        <p:nvSpPr>
          <p:cNvPr id="37" name="Rounded Rectangle 36"/>
          <p:cNvSpPr/>
          <p:nvPr/>
        </p:nvSpPr>
        <p:spPr>
          <a:xfrm>
            <a:off x="566928" y="5612066"/>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794946"/>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قرار البناء أو الشراء الخاص بهذا المستوى</a:t>
            </a:r>
          </a:p>
        </p:txBody>
      </p:sp>
      <p:sp>
        <p:nvSpPr>
          <p:cNvPr id="39" name="TextBox 38"/>
          <p:cNvSpPr txBox="1"/>
          <p:nvPr/>
        </p:nvSpPr>
        <p:spPr>
          <a:xfrm>
            <a:off x="749808" y="5995352"/>
            <a:ext cx="6062471" cy="361187"/>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شراء ثم تكييف. تتوافر برامج تطبيقية موثقة لهذه الطبقة — تُشترى نماذج أو مقاعد للتحقق من جودة التصميم، ثم يُكيَّف بحالات سعودية وإطار قياس موحد (القسم الرابع) [18][22].</a:t>
            </a:r>
          </a:p>
        </p:txBody>
      </p:sp>
      <p:sp>
        <p:nvSpPr>
          <p:cNvPr id="40" name="Rectangle 3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2" name="TextBox 41"/>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02 · 2.5  المستوى الرابع</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الوكلاء المساعدون والقيادات التنفيذية: تحويل الضوابط إلى إجراءات عمل يومية</a:t>
            </a:r>
          </a:p>
        </p:txBody>
      </p:sp>
      <p:sp>
        <p:nvSpPr>
          <p:cNvPr id="4" name="TextBox 3"/>
          <p:cNvSpPr txBox="1"/>
          <p:nvPr/>
        </p:nvSpPr>
        <p:spPr>
          <a:xfrm>
            <a:off x="566928" y="1401318"/>
            <a:ext cx="6428231" cy="374395"/>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الفئة المستهدفة: وكلاء الوزارات المساعدون، والرؤساء التنفيذيون في الجهات الحكومية بحسب حجم الجهة ونطاق الصلاحية، والمديرون التنفيذيون، والمسؤولون التنفيذيون الأول، والمسميات المكافئة التي تتولى الإشراف المباشر على التنفيذ والتشغيل.</a:t>
            </a:r>
          </a:p>
        </p:txBody>
      </p:sp>
      <p:sp>
        <p:nvSpPr>
          <p:cNvPr id="5" name="Rectangle 4"/>
          <p:cNvSpPr/>
          <p:nvPr/>
        </p:nvSpPr>
        <p:spPr>
          <a:xfrm>
            <a:off x="6492240" y="183057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2013458"/>
            <a:ext cx="6428231" cy="566928"/>
          </a:xfrm>
          <a:prstGeom prst="roundRect">
            <a:avLst>
              <a:gd name="adj" fmla="val 14516"/>
            </a:avLst>
          </a:prstGeom>
          <a:gradFill rotWithShape="1">
            <a:gsLst>
              <a:gs pos="0">
                <a:srgbClr val="1CC182"/>
              </a:gs>
              <a:gs pos="100000">
                <a:srgbClr val="2A206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095754"/>
            <a:ext cx="4325111" cy="363982"/>
          </a:xfrm>
          <a:prstGeom prst="rect">
            <a:avLst/>
          </a:prstGeom>
          <a:noFill/>
        </p:spPr>
        <p:txBody>
          <a:bodyPr wrap="square" lIns="0" rIns="0" tIns="0" bIns="0">
            <a:spAutoFit/>
          </a:bodyPr>
          <a:lstStyle/>
          <a:p>
            <a:pPr algn="r" rtl="1">
              <a:lnSpc>
                <a:spcPts val="1044"/>
              </a:lnSpc>
            </a:pPr>
            <a:r>
              <a:rPr sz="900" b="0">
                <a:solidFill>
                  <a:srgbClr val="D9D7EA"/>
                </a:solidFill>
                <a:latin typeface="Diodrum Arabic SemiBold"/>
                <a:ea typeface="Diodrum Arabic SemiBold"/>
                <a:cs typeface="Diodrum Arabic SemiBold"/>
              </a:rPr>
              <a:t>المستوى الرابع</a:t>
            </a:r>
          </a:p>
          <a:p>
            <a:pPr algn="r" rtl="1">
              <a:lnSpc>
                <a:spcPts val="1334"/>
              </a:lnSpc>
              <a:spcBef>
                <a:spcPts val="200"/>
              </a:spcBef>
            </a:pPr>
            <a:r>
              <a:rPr sz="1150" b="1">
                <a:solidFill>
                  <a:srgbClr val="FFFFFF"/>
                </a:solidFill>
                <a:latin typeface="Diodrum Arabic"/>
                <a:ea typeface="Diodrum Arabic"/>
                <a:cs typeface="Diodrum Arabic"/>
              </a:rPr>
              <a:t>وكلاء الوزارات المساعدون والقيادات التنفيذية المكافئة</a:t>
            </a:r>
          </a:p>
        </p:txBody>
      </p:sp>
      <p:sp>
        <p:nvSpPr>
          <p:cNvPr id="8" name="Rounded Rectangle 7"/>
          <p:cNvSpPr/>
          <p:nvPr/>
        </p:nvSpPr>
        <p:spPr>
          <a:xfrm>
            <a:off x="749808" y="2168906"/>
            <a:ext cx="1852879" cy="256032"/>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rtl="1"/>
            <a:r>
              <a:rPr sz="900" b="0">
                <a:solidFill>
                  <a:srgbClr val="1CC182"/>
                </a:solidFill>
                <a:latin typeface="Diodrum Arabic SemiBold"/>
                <a:ea typeface="Diodrum Arabic SemiBold"/>
                <a:cs typeface="Diodrum Arabic SemiBold"/>
              </a:rPr>
              <a:t>المسار: ترخيص وتوطين وتوسيع</a:t>
            </a:r>
          </a:p>
        </p:txBody>
      </p:sp>
      <p:sp>
        <p:nvSpPr>
          <p:cNvPr id="9" name="TextBox 8"/>
          <p:cNvSpPr txBox="1"/>
          <p:nvPr/>
        </p:nvSpPr>
        <p:spPr>
          <a:xfrm>
            <a:off x="566928" y="2726690"/>
            <a:ext cx="6428231" cy="379221"/>
          </a:xfrm>
          <a:prstGeom prst="rect">
            <a:avLst/>
          </a:prstGeom>
          <a:noFill/>
        </p:spPr>
        <p:txBody>
          <a:bodyPr wrap="square" lIns="0" rIns="0" tIns="0" bIns="0">
            <a:spAutoFit/>
          </a:bodyPr>
          <a:lstStyle/>
          <a:p>
            <a:pPr algn="r" rtl="1">
              <a:lnSpc>
                <a:spcPts val="1348"/>
              </a:lnSpc>
            </a:pPr>
            <a:r>
              <a:rPr sz="950" b="0">
                <a:solidFill>
                  <a:srgbClr val="474956"/>
                </a:solidFill>
                <a:latin typeface="Diodrum Arabic"/>
                <a:ea typeface="Diodrum Arabic"/>
                <a:cs typeface="Diodrum Arabic"/>
              </a:rPr>
              <a:t>المستوى الأقرب إلى التشغيل والتطبيق الفعلي، ويختلف عن المستوى الثالث في أن تركيزه الأكبر يقع على تحويل السياسات والضوابط إلى إجراءات عمل يومية — ومتابعة التزام الفرق بها.</a:t>
            </a:r>
          </a:p>
        </p:txBody>
      </p:sp>
      <p:sp>
        <p:nvSpPr>
          <p:cNvPr id="10" name="TextBox 9"/>
          <p:cNvSpPr txBox="1"/>
          <p:nvPr/>
        </p:nvSpPr>
        <p:spPr>
          <a:xfrm>
            <a:off x="3881628" y="3197352"/>
            <a:ext cx="3113532" cy="205994"/>
          </a:xfrm>
          <a:prstGeom prst="rect">
            <a:avLst/>
          </a:prstGeom>
          <a:noFill/>
        </p:spPr>
        <p:txBody>
          <a:bodyPr wrap="square" lIns="0" rIns="0" tIns="0" bIns="0">
            <a:spAutoFit/>
          </a:bodyPr>
          <a:lstStyle/>
          <a:p>
            <a:pPr algn="r" rtl="1">
              <a:lnSpc>
                <a:spcPts val="1334"/>
              </a:lnSpc>
            </a:pPr>
            <a:r>
              <a:rPr sz="1150" b="0">
                <a:solidFill>
                  <a:srgbClr val="1CC182"/>
                </a:solidFill>
                <a:latin typeface="Diodrum Arabic SemiBold"/>
                <a:ea typeface="Diodrum Arabic SemiBold"/>
                <a:cs typeface="Diodrum Arabic SemiBold"/>
              </a:rPr>
              <a:t>نوع القرار — قرارات تشغيلية يومية</a:t>
            </a:r>
          </a:p>
        </p:txBody>
      </p:sp>
      <p:sp>
        <p:nvSpPr>
          <p:cNvPr id="11" name="TextBox 10"/>
          <p:cNvSpPr txBox="1"/>
          <p:nvPr/>
        </p:nvSpPr>
        <p:spPr>
          <a:xfrm>
            <a:off x="6903720" y="3444494"/>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12" name="TextBox 11"/>
          <p:cNvSpPr txBox="1"/>
          <p:nvPr/>
        </p:nvSpPr>
        <p:spPr>
          <a:xfrm>
            <a:off x="3881628" y="344906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تطبيق الأدوات داخل سير العمل.</a:t>
            </a:r>
          </a:p>
        </p:txBody>
      </p:sp>
      <p:sp>
        <p:nvSpPr>
          <p:cNvPr id="13" name="TextBox 12"/>
          <p:cNvSpPr txBox="1"/>
          <p:nvPr/>
        </p:nvSpPr>
        <p:spPr>
          <a:xfrm>
            <a:off x="6903720" y="3652520"/>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14" name="TextBox 13"/>
          <p:cNvSpPr txBox="1"/>
          <p:nvPr/>
        </p:nvSpPr>
        <p:spPr>
          <a:xfrm>
            <a:off x="3881628" y="3657092"/>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متابعة الاستخدام المسؤول.</a:t>
            </a:r>
          </a:p>
        </p:txBody>
      </p:sp>
      <p:sp>
        <p:nvSpPr>
          <p:cNvPr id="15" name="TextBox 14"/>
          <p:cNvSpPr txBox="1"/>
          <p:nvPr/>
        </p:nvSpPr>
        <p:spPr>
          <a:xfrm>
            <a:off x="6903720" y="3860546"/>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16" name="TextBox 15"/>
          <p:cNvSpPr txBox="1"/>
          <p:nvPr/>
        </p:nvSpPr>
        <p:spPr>
          <a:xfrm>
            <a:off x="3881628" y="3865118"/>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تحويل الضوابط إلى إجراءات تشغيلية.</a:t>
            </a:r>
          </a:p>
        </p:txBody>
      </p:sp>
      <p:sp>
        <p:nvSpPr>
          <p:cNvPr id="17" name="TextBox 16"/>
          <p:cNvSpPr txBox="1"/>
          <p:nvPr/>
        </p:nvSpPr>
        <p:spPr>
          <a:xfrm>
            <a:off x="6903720" y="4068572"/>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18" name="TextBox 17"/>
          <p:cNvSpPr txBox="1"/>
          <p:nvPr/>
        </p:nvSpPr>
        <p:spPr>
          <a:xfrm>
            <a:off x="3881628" y="4073144"/>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إعداد الفرق ومتابعة الأداء والانحرافات.</a:t>
            </a:r>
          </a:p>
        </p:txBody>
      </p:sp>
      <p:sp>
        <p:nvSpPr>
          <p:cNvPr id="19" name="TextBox 18"/>
          <p:cNvSpPr txBox="1"/>
          <p:nvPr/>
        </p:nvSpPr>
        <p:spPr>
          <a:xfrm>
            <a:off x="6903720" y="4276598"/>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20" name="TextBox 19"/>
          <p:cNvSpPr txBox="1"/>
          <p:nvPr/>
        </p:nvSpPr>
        <p:spPr>
          <a:xfrm>
            <a:off x="3881628" y="4281170"/>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تصعيد المخاطر والحالات غير المتوقعة.</a:t>
            </a:r>
          </a:p>
        </p:txBody>
      </p:sp>
      <p:sp>
        <p:nvSpPr>
          <p:cNvPr id="21" name="TextBox 20"/>
          <p:cNvSpPr txBox="1"/>
          <p:nvPr/>
        </p:nvSpPr>
        <p:spPr>
          <a:xfrm>
            <a:off x="6903720" y="4484624"/>
            <a:ext cx="91440" cy="183896"/>
          </a:xfrm>
          <a:prstGeom prst="rect">
            <a:avLst/>
          </a:prstGeom>
          <a:noFill/>
        </p:spPr>
        <p:txBody>
          <a:bodyPr wrap="square" lIns="0" rIns="0" tIns="0" bIns="0">
            <a:spAutoFit/>
          </a:bodyPr>
          <a:lstStyle/>
          <a:p>
            <a:pPr algn="ctr">
              <a:lnSpc>
                <a:spcPts val="1160"/>
              </a:lnSpc>
            </a:pPr>
            <a:r>
              <a:rPr sz="1000" b="0">
                <a:solidFill>
                  <a:srgbClr val="1CC182"/>
                </a:solidFill>
                <a:latin typeface="Diodrum Arabic SemiBold"/>
                <a:ea typeface="Diodrum Arabic SemiBold"/>
                <a:cs typeface="Diodrum Arabic SemiBold"/>
              </a:rPr>
              <a:t>•</a:t>
            </a:r>
          </a:p>
        </p:txBody>
      </p:sp>
      <p:sp>
        <p:nvSpPr>
          <p:cNvPr id="22" name="TextBox 21"/>
          <p:cNvSpPr txBox="1"/>
          <p:nvPr/>
        </p:nvSpPr>
        <p:spPr>
          <a:xfrm>
            <a:off x="3881628" y="448919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توثيق الالتزام.</a:t>
            </a:r>
          </a:p>
        </p:txBody>
      </p:sp>
      <p:sp>
        <p:nvSpPr>
          <p:cNvPr id="23" name="TextBox 22"/>
          <p:cNvSpPr txBox="1"/>
          <p:nvPr/>
        </p:nvSpPr>
        <p:spPr>
          <a:xfrm>
            <a:off x="566928" y="3197352"/>
            <a:ext cx="3113532" cy="205994"/>
          </a:xfrm>
          <a:prstGeom prst="rect">
            <a:avLst/>
          </a:prstGeom>
          <a:noFill/>
        </p:spPr>
        <p:txBody>
          <a:bodyPr wrap="square" lIns="0" rIns="0" tIns="0" bIns="0">
            <a:spAutoFit/>
          </a:bodyPr>
          <a:lstStyle/>
          <a:p>
            <a:pPr algn="r" rtl="1">
              <a:lnSpc>
                <a:spcPts val="1334"/>
              </a:lnSpc>
            </a:pPr>
            <a:r>
              <a:rPr sz="1150" b="0">
                <a:solidFill>
                  <a:srgbClr val="00ABAF"/>
                </a:solidFill>
                <a:latin typeface="Diodrum Arabic SemiBold"/>
                <a:ea typeface="Diodrum Arabic SemiBold"/>
                <a:cs typeface="Diodrum Arabic SemiBold"/>
              </a:rPr>
              <a:t>البروتوكول الذي تتطلبه الفئة</a:t>
            </a:r>
          </a:p>
        </p:txBody>
      </p:sp>
      <p:sp>
        <p:nvSpPr>
          <p:cNvPr id="24" name="TextBox 23"/>
          <p:cNvSpPr txBox="1"/>
          <p:nvPr/>
        </p:nvSpPr>
        <p:spPr>
          <a:xfrm>
            <a:off x="3589019" y="3444494"/>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5" name="TextBox 24"/>
          <p:cNvSpPr txBox="1"/>
          <p:nvPr/>
        </p:nvSpPr>
        <p:spPr>
          <a:xfrm>
            <a:off x="566928" y="3449066"/>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محتوى تطبيقي مباشر.</a:t>
            </a:r>
          </a:p>
        </p:txBody>
      </p:sp>
      <p:sp>
        <p:nvSpPr>
          <p:cNvPr id="26" name="TextBox 25"/>
          <p:cNvSpPr txBox="1"/>
          <p:nvPr/>
        </p:nvSpPr>
        <p:spPr>
          <a:xfrm>
            <a:off x="3589019" y="3652520"/>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7" name="TextBox 26"/>
          <p:cNvSpPr txBox="1"/>
          <p:nvPr/>
        </p:nvSpPr>
        <p:spPr>
          <a:xfrm>
            <a:off x="566928" y="3657092"/>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تعلم مدمج أو رقمي موجه.</a:t>
            </a:r>
          </a:p>
        </p:txBody>
      </p:sp>
      <p:sp>
        <p:nvSpPr>
          <p:cNvPr id="28" name="TextBox 27"/>
          <p:cNvSpPr txBox="1"/>
          <p:nvPr/>
        </p:nvSpPr>
        <p:spPr>
          <a:xfrm>
            <a:off x="3589019" y="3860546"/>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29" name="TextBox 28"/>
          <p:cNvSpPr txBox="1"/>
          <p:nvPr/>
        </p:nvSpPr>
        <p:spPr>
          <a:xfrm>
            <a:off x="566928" y="3865118"/>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حالات مرتبطة بالعمليات اليومية.</a:t>
            </a:r>
          </a:p>
        </p:txBody>
      </p:sp>
      <p:sp>
        <p:nvSpPr>
          <p:cNvPr id="30" name="TextBox 29"/>
          <p:cNvSpPr txBox="1"/>
          <p:nvPr/>
        </p:nvSpPr>
        <p:spPr>
          <a:xfrm>
            <a:off x="3589019" y="4068572"/>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1" name="TextBox 30"/>
          <p:cNvSpPr txBox="1"/>
          <p:nvPr/>
        </p:nvSpPr>
        <p:spPr>
          <a:xfrm>
            <a:off x="566928" y="4073144"/>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أدوات وقوائم تحقق جاهزة للاستخدام.</a:t>
            </a:r>
          </a:p>
        </p:txBody>
      </p:sp>
      <p:sp>
        <p:nvSpPr>
          <p:cNvPr id="32" name="TextBox 31"/>
          <p:cNvSpPr txBox="1"/>
          <p:nvPr/>
        </p:nvSpPr>
        <p:spPr>
          <a:xfrm>
            <a:off x="3589019" y="4276598"/>
            <a:ext cx="91440" cy="183896"/>
          </a:xfrm>
          <a:prstGeom prst="rect">
            <a:avLst/>
          </a:prstGeom>
          <a:noFill/>
        </p:spPr>
        <p:txBody>
          <a:bodyPr wrap="square" lIns="0" rIns="0" tIns="0" bIns="0">
            <a:spAutoFit/>
          </a:bodyPr>
          <a:lstStyle/>
          <a:p>
            <a:pPr algn="ctr">
              <a:lnSpc>
                <a:spcPts val="1160"/>
              </a:lnSpc>
            </a:pPr>
            <a:r>
              <a:rPr sz="1000" b="0">
                <a:solidFill>
                  <a:srgbClr val="00ABAF"/>
                </a:solidFill>
                <a:latin typeface="Diodrum Arabic SemiBold"/>
                <a:ea typeface="Diodrum Arabic SemiBold"/>
                <a:cs typeface="Diodrum Arabic SemiBold"/>
              </a:rPr>
              <a:t>•</a:t>
            </a:r>
          </a:p>
        </p:txBody>
      </p:sp>
      <p:sp>
        <p:nvSpPr>
          <p:cNvPr id="33" name="TextBox 32"/>
          <p:cNvSpPr txBox="1"/>
          <p:nvPr/>
        </p:nvSpPr>
        <p:spPr>
          <a:xfrm>
            <a:off x="566928" y="4281170"/>
            <a:ext cx="2939796" cy="194310"/>
          </a:xfrm>
          <a:prstGeom prst="rect">
            <a:avLst/>
          </a:prstGeom>
          <a:noFill/>
        </p:spPr>
        <p:txBody>
          <a:bodyPr wrap="square" lIns="0" rIns="0" tIns="0" bIns="0">
            <a:spAutoFit/>
          </a:bodyPr>
          <a:lstStyle/>
          <a:p>
            <a:pPr algn="r" rtl="1">
              <a:lnSpc>
                <a:spcPts val="1241"/>
              </a:lnSpc>
            </a:pPr>
            <a:r>
              <a:rPr sz="900" b="0">
                <a:solidFill>
                  <a:srgbClr val="474956"/>
                </a:solidFill>
                <a:latin typeface="Diodrum Arabic"/>
                <a:ea typeface="Diodrum Arabic"/>
                <a:cs typeface="Diodrum Arabic"/>
              </a:rPr>
              <a:t>متابعة لمؤشرات التطبيق والالتزام.</a:t>
            </a:r>
          </a:p>
        </p:txBody>
      </p:sp>
      <p:sp>
        <p:nvSpPr>
          <p:cNvPr id="34" name="Rounded Rectangle 33"/>
          <p:cNvSpPr/>
          <p:nvPr/>
        </p:nvSpPr>
        <p:spPr>
          <a:xfrm>
            <a:off x="566928" y="4870958"/>
            <a:ext cx="6428231" cy="745426"/>
          </a:xfrm>
          <a:prstGeom prst="roundRect">
            <a:avLst>
              <a:gd name="adj" fmla="val 1104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035549"/>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المخرج التطبيقي</a:t>
            </a:r>
          </a:p>
        </p:txBody>
      </p:sp>
      <p:sp>
        <p:nvSpPr>
          <p:cNvPr id="36" name="TextBox 35"/>
          <p:cNvSpPr txBox="1"/>
          <p:nvPr/>
        </p:nvSpPr>
        <p:spPr>
          <a:xfrm>
            <a:off x="731520" y="5245100"/>
            <a:ext cx="6099047" cy="198882"/>
          </a:xfrm>
          <a:prstGeom prst="rect">
            <a:avLst/>
          </a:prstGeom>
          <a:noFill/>
        </p:spPr>
        <p:txBody>
          <a:bodyPr wrap="square" lIns="0" rIns="0" tIns="0" bIns="0">
            <a:spAutoFit/>
          </a:bodyPr>
          <a:lstStyle/>
          <a:p>
            <a:pPr algn="r" rtl="1">
              <a:lnSpc>
                <a:spcPts val="1278"/>
              </a:lnSpc>
            </a:pPr>
            <a:r>
              <a:rPr sz="900" b="0">
                <a:solidFill>
                  <a:srgbClr val="474956"/>
                </a:solidFill>
                <a:latin typeface="Diodrum Arabic"/>
                <a:ea typeface="Diodrum Arabic"/>
                <a:cs typeface="Diodrum Arabic"/>
              </a:rPr>
              <a:t>خطة تطبيق على مستوى القطاع أو الإدارة، مرتبطة بسجل تشغيلي للالتزام بالضوابط ورفع المخاطر.</a:t>
            </a:r>
          </a:p>
        </p:txBody>
      </p:sp>
      <p:sp>
        <p:nvSpPr>
          <p:cNvPr id="37" name="Rounded Rectangle 36"/>
          <p:cNvSpPr/>
          <p:nvPr/>
        </p:nvSpPr>
        <p:spPr>
          <a:xfrm>
            <a:off x="566928" y="5780976"/>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5963856"/>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قرار البناء أو الشراء الخاص بهذا المستوى</a:t>
            </a:r>
          </a:p>
        </p:txBody>
      </p:sp>
      <p:sp>
        <p:nvSpPr>
          <p:cNvPr id="39" name="TextBox 38"/>
          <p:cNvSpPr txBox="1"/>
          <p:nvPr/>
        </p:nvSpPr>
        <p:spPr>
          <a:xfrm>
            <a:off x="749808" y="6164262"/>
            <a:ext cx="6062471" cy="361187"/>
          </a:xfrm>
          <a:prstGeom prst="rect">
            <a:avLst/>
          </a:prstGeom>
          <a:noFill/>
        </p:spPr>
        <p:txBody>
          <a:bodyPr wrap="square" lIns="0" rIns="0" tIns="0" bIns="0">
            <a:spAutoFit/>
          </a:bodyPr>
          <a:lstStyle/>
          <a:p>
            <a:pPr algn="r" rtl="1">
              <a:lnSpc>
                <a:spcPts val="1278"/>
              </a:lnSpc>
            </a:pPr>
            <a:r>
              <a:rPr sz="900" b="0">
                <a:solidFill>
                  <a:srgbClr val="FFFFFF"/>
                </a:solidFill>
                <a:latin typeface="Diodrum Arabic"/>
                <a:ea typeface="Diodrum Arabic"/>
                <a:cs typeface="Diodrum Arabic"/>
              </a:rPr>
              <a:t>ترخيص وتوطين وتوسيع. المحتوى وافر؛ والعمل هو الانتقاء والتوطين وربط الإتمام بمؤشرات الأداء عبر منصة «قدراتك» (القسم الرابع) [48][52].</a:t>
            </a:r>
          </a:p>
        </p:txBody>
      </p:sp>
      <p:sp>
        <p:nvSpPr>
          <p:cNvPr id="40" name="Rectangle 3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2" name="TextBox 41"/>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02 · 2.6  ملخص المستويات والمخرجات</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أربع فئات، وأربعة قرارات، وأربعة مخرجات تطبيقية</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الألوان المعتمدة هنا تميز كل مستوى في كل جدول ورسم يليها.</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554988"/>
          <a:ext cx="6428230" cy="2072131"/>
        </p:xfrm>
        <a:graphic>
          <a:graphicData uri="http://schemas.openxmlformats.org/drawingml/2006/table">
            <a:tbl>
              <a:tblPr firstRow="1" bandRow="0" rtl="1"/>
              <a:tblGrid>
                <a:gridCol w="642823"/>
                <a:gridCol w="1092799"/>
                <a:gridCol w="1928469"/>
                <a:gridCol w="1478493"/>
                <a:gridCol w="1285646"/>
              </a:tblGrid>
              <a:tr h="261619">
                <a:tc>
                  <a:txBody>
                    <a:bodyPr wrap="square"/>
                    <a:lstStyle/>
                    <a:p>
                      <a:pPr algn="r" rtl="1">
                        <a:lnSpc>
                          <a:spcPts val="1088"/>
                        </a:lnSpc>
                      </a:pPr>
                      <a:r>
                        <a:rPr sz="850" b="0">
                          <a:solidFill>
                            <a:srgbClr val="FFFFFF"/>
                          </a:solidFill>
                          <a:latin typeface="Diodrum Arabic SemiBold"/>
                          <a:ea typeface="Diodrum Arabic SemiBold"/>
                          <a:cs typeface="Diodrum Arabic SemiBold"/>
                        </a:rPr>
                        <a:t>المستوى</a:t>
                      </a:r>
                    </a:p>
                  </a:txBody>
                  <a:tcPr marL="64008" marR="64008" marT="41148" marB="41148" anchor="ctr">
                    <a:solidFill>
                      <a:srgbClr val="241A5E"/>
                    </a:solidFill>
                  </a:tcPr>
                </a:tc>
                <a:tc>
                  <a:txBody>
                    <a:bodyPr wrap="square"/>
                    <a:lstStyle/>
                    <a:p>
                      <a:pPr algn="r" rtl="1">
                        <a:lnSpc>
                          <a:spcPts val="1088"/>
                        </a:lnSpc>
                      </a:pPr>
                      <a:r>
                        <a:rPr sz="850" b="0">
                          <a:solidFill>
                            <a:srgbClr val="FFFFFF"/>
                          </a:solidFill>
                          <a:latin typeface="Diodrum Arabic SemiBold"/>
                          <a:ea typeface="Diodrum Arabic SemiBold"/>
                          <a:cs typeface="Diodrum Arabic SemiBold"/>
                        </a:rPr>
                        <a:t>الفئة الأساسية</a:t>
                      </a:r>
                    </a:p>
                  </a:txBody>
                  <a:tcPr marL="64008" marR="64008" marT="41148" marB="41148" anchor="ctr">
                    <a:solidFill>
                      <a:srgbClr val="241A5E"/>
                    </a:solidFill>
                  </a:tcPr>
                </a:tc>
                <a:tc>
                  <a:txBody>
                    <a:bodyPr wrap="square"/>
                    <a:lstStyle/>
                    <a:p>
                      <a:pPr algn="r" rtl="1">
                        <a:lnSpc>
                          <a:spcPts val="1088"/>
                        </a:lnSpc>
                      </a:pPr>
                      <a:r>
                        <a:rPr sz="850" b="0">
                          <a:solidFill>
                            <a:srgbClr val="FFFFFF"/>
                          </a:solidFill>
                          <a:latin typeface="Diodrum Arabic SemiBold"/>
                          <a:ea typeface="Diodrum Arabic SemiBold"/>
                          <a:cs typeface="Diodrum Arabic SemiBold"/>
                        </a:rPr>
                        <a:t>المسميات المكافئة</a:t>
                      </a:r>
                    </a:p>
                  </a:txBody>
                  <a:tcPr marL="64008" marR="64008" marT="41148" marB="41148" anchor="ctr">
                    <a:solidFill>
                      <a:srgbClr val="241A5E"/>
                    </a:solidFill>
                  </a:tcPr>
                </a:tc>
                <a:tc>
                  <a:txBody>
                    <a:bodyPr wrap="square"/>
                    <a:lstStyle/>
                    <a:p>
                      <a:pPr algn="r" rtl="1">
                        <a:lnSpc>
                          <a:spcPts val="1088"/>
                        </a:lnSpc>
                      </a:pPr>
                      <a:r>
                        <a:rPr sz="850" b="0">
                          <a:solidFill>
                            <a:srgbClr val="FFFFFF"/>
                          </a:solidFill>
                          <a:latin typeface="Diodrum Arabic SemiBold"/>
                          <a:ea typeface="Diodrum Arabic SemiBold"/>
                          <a:cs typeface="Diodrum Arabic SemiBold"/>
                        </a:rPr>
                        <a:t>القرار الرئيسي</a:t>
                      </a:r>
                    </a:p>
                  </a:txBody>
                  <a:tcPr marL="64008" marR="64008" marT="41148" marB="41148" anchor="ctr">
                    <a:solidFill>
                      <a:srgbClr val="241A5E"/>
                    </a:solidFill>
                  </a:tcPr>
                </a:tc>
                <a:tc>
                  <a:txBody>
                    <a:bodyPr wrap="square"/>
                    <a:lstStyle/>
                    <a:p>
                      <a:pPr algn="r" rtl="1">
                        <a:lnSpc>
                          <a:spcPts val="1088"/>
                        </a:lnSpc>
                      </a:pPr>
                      <a:r>
                        <a:rPr sz="850" b="0">
                          <a:solidFill>
                            <a:srgbClr val="FFFFFF"/>
                          </a:solidFill>
                          <a:latin typeface="Diodrum Arabic SemiBold"/>
                          <a:ea typeface="Diodrum Arabic SemiBold"/>
                          <a:cs typeface="Diodrum Arabic SemiBold"/>
                        </a:rPr>
                        <a:t>المخرج التطبيقي</a:t>
                      </a:r>
                    </a:p>
                  </a:txBody>
                  <a:tcPr marL="64008" marR="64008" marT="41148" marB="41148" anchor="ctr">
                    <a:solidFill>
                      <a:srgbClr val="241A5E"/>
                    </a:solidFill>
                  </a:tcPr>
                </a:tc>
              </a:tr>
              <a:tr h="418084">
                <a:tc>
                  <a:txBody>
                    <a:bodyPr wrap="square"/>
                    <a:lstStyle/>
                    <a:p>
                      <a:pPr algn="ctr" rtl="1">
                        <a:lnSpc>
                          <a:spcPts val="1088"/>
                        </a:lnSpc>
                      </a:pPr>
                      <a:r>
                        <a:rPr sz="850" b="1">
                          <a:solidFill>
                            <a:srgbClr val="232046"/>
                          </a:solidFill>
                          <a:latin typeface="Diodrum Arabic"/>
                          <a:ea typeface="Diodrum Arabic"/>
                          <a:cs typeface="Diodrum Arabic"/>
                        </a:rPr>
                        <a:t>1</a:t>
                      </a:r>
                    </a:p>
                  </a:txBody>
                  <a:tcPr marL="64008" marR="64008" marT="41148" marB="41148" anchor="ctr">
                    <a:solidFill>
                      <a:srgbClr val="ECE0F8"/>
                    </a:solidFill>
                  </a:tcPr>
                </a:tc>
                <a:tc>
                  <a:txBody>
                    <a:bodyPr wrap="square"/>
                    <a:lstStyle/>
                    <a:p>
                      <a:pPr algn="r" rtl="1">
                        <a:lnSpc>
                          <a:spcPts val="1088"/>
                        </a:lnSpc>
                      </a:pPr>
                      <a:r>
                        <a:rPr sz="850" b="0">
                          <a:solidFill>
                            <a:srgbClr val="232046"/>
                          </a:solidFill>
                          <a:latin typeface="Diodrum Arabic SemiBold"/>
                          <a:ea typeface="Diodrum Arabic SemiBold"/>
                          <a:cs typeface="Diodrum Arabic SemiBold"/>
                        </a:rPr>
                        <a:t>الوزير</a:t>
                      </a:r>
                    </a:p>
                  </a:txBody>
                  <a:tcPr marL="64008" marR="64008" marT="41148" marB="41148" anchor="ctr">
                    <a:solidFill>
                      <a:srgbClr val="FFFFFF"/>
                    </a:solidFill>
                  </a:tcPr>
                </a:tc>
                <a:tc>
                  <a:txBody>
                    <a:bodyPr wrap="square"/>
                    <a:lstStyle/>
                    <a:p>
                      <a:pPr algn="r" rtl="1">
                        <a:lnSpc>
                          <a:spcPts val="1088"/>
                        </a:lnSpc>
                      </a:pPr>
                      <a:r>
                        <a:rPr sz="850" b="0">
                          <a:solidFill>
                            <a:srgbClr val="474956"/>
                          </a:solidFill>
                          <a:latin typeface="Diodrum Arabic"/>
                          <a:ea typeface="Diodrum Arabic"/>
                          <a:cs typeface="Diodrum Arabic"/>
                        </a:rPr>
                        <a:t>وزير دولة، ومن يُعتمد ضمن الفئة الوزارية</a:t>
                      </a:r>
                    </a:p>
                  </a:txBody>
                  <a:tcPr marL="64008" marR="64008" marT="41148" marB="41148" anchor="ctr">
                    <a:solidFill>
                      <a:srgbClr val="FFFFFF"/>
                    </a:solidFill>
                  </a:tcPr>
                </a:tc>
                <a:tc>
                  <a:txBody>
                    <a:bodyPr wrap="square"/>
                    <a:lstStyle/>
                    <a:p>
                      <a:pPr algn="r" rtl="1">
                        <a:lnSpc>
                          <a:spcPts val="1088"/>
                        </a:lnSpc>
                      </a:pPr>
                      <a:r>
                        <a:rPr sz="850" b="0">
                          <a:solidFill>
                            <a:srgbClr val="474956"/>
                          </a:solidFill>
                          <a:latin typeface="Diodrum Arabic"/>
                          <a:ea typeface="Diodrum Arabic"/>
                          <a:cs typeface="Diodrum Arabic"/>
                        </a:rPr>
                        <a:t>التوجه الاستراتيجي والمساءلة العامة</a:t>
                      </a:r>
                    </a:p>
                  </a:txBody>
                  <a:tcPr marL="64008" marR="64008" marT="41148" marB="41148" anchor="ctr">
                    <a:solidFill>
                      <a:srgbClr val="FFFFFF"/>
                    </a:solidFill>
                  </a:tcPr>
                </a:tc>
                <a:tc>
                  <a:txBody>
                    <a:bodyPr wrap="square"/>
                    <a:lstStyle/>
                    <a:p>
                      <a:pPr algn="r" rtl="1">
                        <a:lnSpc>
                          <a:spcPts val="1088"/>
                        </a:lnSpc>
                      </a:pPr>
                      <a:r>
                        <a:rPr sz="850" b="0">
                          <a:solidFill>
                            <a:srgbClr val="474956"/>
                          </a:solidFill>
                          <a:latin typeface="Diodrum Arabic"/>
                          <a:ea typeface="Diodrum Arabic"/>
                          <a:cs typeface="Diodrum Arabic"/>
                        </a:rPr>
                        <a:t>مذكرة قرار سرية</a:t>
                      </a:r>
                    </a:p>
                  </a:txBody>
                  <a:tcPr marL="64008" marR="64008" marT="41148" marB="41148" anchor="ctr">
                    <a:solidFill>
                      <a:srgbClr val="FFFFFF"/>
                    </a:solidFill>
                  </a:tcPr>
                </a:tc>
              </a:tr>
              <a:tr h="418084">
                <a:tc>
                  <a:txBody>
                    <a:bodyPr wrap="square"/>
                    <a:lstStyle/>
                    <a:p>
                      <a:pPr algn="ctr" rtl="1">
                        <a:lnSpc>
                          <a:spcPts val="1088"/>
                        </a:lnSpc>
                      </a:pPr>
                      <a:r>
                        <a:rPr sz="850" b="1">
                          <a:solidFill>
                            <a:srgbClr val="232046"/>
                          </a:solidFill>
                          <a:latin typeface="Diodrum Arabic"/>
                          <a:ea typeface="Diodrum Arabic"/>
                          <a:cs typeface="Diodrum Arabic"/>
                        </a:rPr>
                        <a:t>2</a:t>
                      </a:r>
                    </a:p>
                  </a:txBody>
                  <a:tcPr marL="64008" marR="64008" marT="41148" marB="41148" anchor="ctr">
                    <a:solidFill>
                      <a:srgbClr val="E2E0F0"/>
                    </a:solidFill>
                  </a:tcPr>
                </a:tc>
                <a:tc>
                  <a:txBody>
                    <a:bodyPr wrap="square"/>
                    <a:lstStyle/>
                    <a:p>
                      <a:pPr algn="r" rtl="1">
                        <a:lnSpc>
                          <a:spcPts val="1088"/>
                        </a:lnSpc>
                      </a:pPr>
                      <a:r>
                        <a:rPr sz="850" b="0">
                          <a:solidFill>
                            <a:srgbClr val="232046"/>
                          </a:solidFill>
                          <a:latin typeface="Diodrum Arabic SemiBold"/>
                          <a:ea typeface="Diodrum Arabic SemiBold"/>
                          <a:cs typeface="Diodrum Arabic SemiBold"/>
                        </a:rPr>
                        <a:t>نائب الوزير</a:t>
                      </a:r>
                    </a:p>
                  </a:txBody>
                  <a:tcPr marL="64008" marR="64008" marT="41148" marB="41148" anchor="ctr">
                    <a:solidFill>
                      <a:srgbClr val="F4F4F9"/>
                    </a:solidFill>
                  </a:tcPr>
                </a:tc>
                <a:tc>
                  <a:txBody>
                    <a:bodyPr wrap="square"/>
                    <a:lstStyle/>
                    <a:p>
                      <a:pPr algn="r" rtl="1">
                        <a:lnSpc>
                          <a:spcPts val="1088"/>
                        </a:lnSpc>
                      </a:pPr>
                      <a:r>
                        <a:rPr sz="850" b="0">
                          <a:solidFill>
                            <a:srgbClr val="474956"/>
                          </a:solidFill>
                          <a:latin typeface="Diodrum Arabic"/>
                          <a:ea typeface="Diodrum Arabic"/>
                          <a:cs typeface="Diodrum Arabic"/>
                        </a:rPr>
                        <a:t>محافظ، مساعد وزير، والمسميات المكافئة من أصحاب المعالي</a:t>
                      </a:r>
                    </a:p>
                  </a:txBody>
                  <a:tcPr marL="64008" marR="64008" marT="41148" marB="41148" anchor="ctr">
                    <a:solidFill>
                      <a:srgbClr val="F4F4F9"/>
                    </a:solidFill>
                  </a:tcPr>
                </a:tc>
                <a:tc>
                  <a:txBody>
                    <a:bodyPr wrap="square"/>
                    <a:lstStyle/>
                    <a:p>
                      <a:pPr algn="r" rtl="1">
                        <a:lnSpc>
                          <a:spcPts val="1088"/>
                        </a:lnSpc>
                      </a:pPr>
                      <a:r>
                        <a:rPr sz="850" b="0">
                          <a:solidFill>
                            <a:srgbClr val="474956"/>
                          </a:solidFill>
                          <a:latin typeface="Diodrum Arabic"/>
                          <a:ea typeface="Diodrum Arabic"/>
                          <a:cs typeface="Diodrum Arabic"/>
                        </a:rPr>
                        <a:t>المحفظة والحوكمة والاستثمار</a:t>
                      </a:r>
                    </a:p>
                  </a:txBody>
                  <a:tcPr marL="64008" marR="64008" marT="41148" marB="41148" anchor="ctr">
                    <a:solidFill>
                      <a:srgbClr val="F4F4F9"/>
                    </a:solidFill>
                  </a:tcPr>
                </a:tc>
                <a:tc>
                  <a:txBody>
                    <a:bodyPr wrap="square"/>
                    <a:lstStyle/>
                    <a:p>
                      <a:pPr algn="r" rtl="1">
                        <a:lnSpc>
                          <a:spcPts val="1088"/>
                        </a:lnSpc>
                      </a:pPr>
                      <a:r>
                        <a:rPr sz="850" b="0">
                          <a:solidFill>
                            <a:srgbClr val="474956"/>
                          </a:solidFill>
                          <a:latin typeface="Diodrum Arabic"/>
                          <a:ea typeface="Diodrum Arabic"/>
                          <a:cs typeface="Diodrum Arabic"/>
                        </a:rPr>
                        <a:t>حزمة محفظة وحوكمة</a:t>
                      </a:r>
                    </a:p>
                  </a:txBody>
                  <a:tcPr marL="64008" marR="64008" marT="41148" marB="41148" anchor="ctr">
                    <a:solidFill>
                      <a:srgbClr val="F4F4F9"/>
                    </a:solidFill>
                  </a:tcPr>
                </a:tc>
              </a:tr>
              <a:tr h="418084">
                <a:tc>
                  <a:txBody>
                    <a:bodyPr wrap="square"/>
                    <a:lstStyle/>
                    <a:p>
                      <a:pPr algn="ctr" rtl="1">
                        <a:lnSpc>
                          <a:spcPts val="1088"/>
                        </a:lnSpc>
                      </a:pPr>
                      <a:r>
                        <a:rPr sz="850" b="1">
                          <a:solidFill>
                            <a:srgbClr val="232046"/>
                          </a:solidFill>
                          <a:latin typeface="Diodrum Arabic"/>
                          <a:ea typeface="Diodrum Arabic"/>
                          <a:cs typeface="Diodrum Arabic"/>
                        </a:rPr>
                        <a:t>3</a:t>
                      </a:r>
                    </a:p>
                  </a:txBody>
                  <a:tcPr marL="64008" marR="64008" marT="41148" marB="41148" anchor="ctr">
                    <a:solidFill>
                      <a:srgbClr val="D9F1F2"/>
                    </a:solidFill>
                  </a:tcPr>
                </a:tc>
                <a:tc>
                  <a:txBody>
                    <a:bodyPr wrap="square"/>
                    <a:lstStyle/>
                    <a:p>
                      <a:pPr algn="r" rtl="1">
                        <a:lnSpc>
                          <a:spcPts val="1088"/>
                        </a:lnSpc>
                      </a:pPr>
                      <a:r>
                        <a:rPr sz="850" b="0">
                          <a:solidFill>
                            <a:srgbClr val="232046"/>
                          </a:solidFill>
                          <a:latin typeface="Diodrum Arabic SemiBold"/>
                          <a:ea typeface="Diodrum Arabic SemiBold"/>
                          <a:cs typeface="Diodrum Arabic SemiBold"/>
                        </a:rPr>
                        <a:t>وكيل الوزارة</a:t>
                      </a:r>
                    </a:p>
                  </a:txBody>
                  <a:tcPr marL="64008" marR="64008" marT="41148" marB="41148" anchor="ctr">
                    <a:solidFill>
                      <a:srgbClr val="FFFFFF"/>
                    </a:solidFill>
                  </a:tcPr>
                </a:tc>
                <a:tc>
                  <a:txBody>
                    <a:bodyPr wrap="square"/>
                    <a:lstStyle/>
                    <a:p>
                      <a:pPr algn="r" rtl="1">
                        <a:lnSpc>
                          <a:spcPts val="1088"/>
                        </a:lnSpc>
                      </a:pPr>
                      <a:r>
                        <a:rPr sz="850" b="0">
                          <a:solidFill>
                            <a:srgbClr val="474956"/>
                          </a:solidFill>
                          <a:latin typeface="Diodrum Arabic"/>
                          <a:ea typeface="Diodrum Arabic"/>
                          <a:cs typeface="Diodrum Arabic"/>
                        </a:rPr>
                        <a:t>نائب محافظ، والمسميات التنفيذية المكافئة</a:t>
                      </a:r>
                    </a:p>
                  </a:txBody>
                  <a:tcPr marL="64008" marR="64008" marT="41148" marB="41148" anchor="ctr">
                    <a:solidFill>
                      <a:srgbClr val="FFFFFF"/>
                    </a:solidFill>
                  </a:tcPr>
                </a:tc>
                <a:tc>
                  <a:txBody>
                    <a:bodyPr wrap="square"/>
                    <a:lstStyle/>
                    <a:p>
                      <a:pPr algn="r" rtl="1">
                        <a:lnSpc>
                          <a:spcPts val="1088"/>
                        </a:lnSpc>
                      </a:pPr>
                      <a:r>
                        <a:rPr sz="850" b="0">
                          <a:solidFill>
                            <a:srgbClr val="474956"/>
                          </a:solidFill>
                          <a:latin typeface="Diodrum Arabic"/>
                          <a:ea typeface="Diodrum Arabic"/>
                          <a:cs typeface="Diodrum Arabic"/>
                        </a:rPr>
                        <a:t>الجاهزية والبيانات والتعاقد والتنفيذ</a:t>
                      </a:r>
                    </a:p>
                  </a:txBody>
                  <a:tcPr marL="64008" marR="64008" marT="41148" marB="41148" anchor="ctr">
                    <a:solidFill>
                      <a:srgbClr val="FFFFFF"/>
                    </a:solidFill>
                  </a:tcPr>
                </a:tc>
                <a:tc>
                  <a:txBody>
                    <a:bodyPr wrap="square"/>
                    <a:lstStyle/>
                    <a:p>
                      <a:pPr algn="r" rtl="1">
                        <a:lnSpc>
                          <a:spcPts val="1088"/>
                        </a:lnSpc>
                      </a:pPr>
                      <a:r>
                        <a:rPr sz="850" b="0">
                          <a:solidFill>
                            <a:srgbClr val="474956"/>
                          </a:solidFill>
                          <a:latin typeface="Diodrum Arabic"/>
                          <a:ea typeface="Diodrum Arabic"/>
                          <a:cs typeface="Diodrum Arabic"/>
                        </a:rPr>
                        <a:t>ميثاق تنفيذ</a:t>
                      </a:r>
                    </a:p>
                  </a:txBody>
                  <a:tcPr marL="64008" marR="64008" marT="41148" marB="41148" anchor="ctr">
                    <a:solidFill>
                      <a:srgbClr val="FFFFFF"/>
                    </a:solidFill>
                  </a:tcPr>
                </a:tc>
              </a:tr>
              <a:tr h="556260">
                <a:tc>
                  <a:txBody>
                    <a:bodyPr wrap="square"/>
                    <a:lstStyle/>
                    <a:p>
                      <a:pPr algn="ctr" rtl="1">
                        <a:lnSpc>
                          <a:spcPts val="1088"/>
                        </a:lnSpc>
                      </a:pPr>
                      <a:r>
                        <a:rPr sz="850" b="1">
                          <a:solidFill>
                            <a:srgbClr val="232046"/>
                          </a:solidFill>
                          <a:latin typeface="Diodrum Arabic"/>
                          <a:ea typeface="Diodrum Arabic"/>
                          <a:cs typeface="Diodrum Arabic"/>
                        </a:rPr>
                        <a:t>4</a:t>
                      </a:r>
                    </a:p>
                  </a:txBody>
                  <a:tcPr marL="64008" marR="64008" marT="41148" marB="41148" anchor="ctr">
                    <a:solidFill>
                      <a:srgbClr val="DDF5EA"/>
                    </a:solidFill>
                  </a:tcPr>
                </a:tc>
                <a:tc>
                  <a:txBody>
                    <a:bodyPr wrap="square"/>
                    <a:lstStyle/>
                    <a:p>
                      <a:pPr algn="r" rtl="1">
                        <a:lnSpc>
                          <a:spcPts val="1088"/>
                        </a:lnSpc>
                      </a:pPr>
                      <a:r>
                        <a:rPr sz="850" b="0">
                          <a:solidFill>
                            <a:srgbClr val="232046"/>
                          </a:solidFill>
                          <a:latin typeface="Diodrum Arabic SemiBold"/>
                          <a:ea typeface="Diodrum Arabic SemiBold"/>
                          <a:cs typeface="Diodrum Arabic SemiBold"/>
                        </a:rPr>
                        <a:t>الوكيل المساعد</a:t>
                      </a:r>
                    </a:p>
                  </a:txBody>
                  <a:tcPr marL="64008" marR="64008" marT="41148" marB="41148" anchor="ctr">
                    <a:solidFill>
                      <a:srgbClr val="F4F4F9"/>
                    </a:solidFill>
                  </a:tcPr>
                </a:tc>
                <a:tc>
                  <a:txBody>
                    <a:bodyPr wrap="square"/>
                    <a:lstStyle/>
                    <a:p>
                      <a:pPr algn="r" rtl="1">
                        <a:lnSpc>
                          <a:spcPts val="1088"/>
                        </a:lnSpc>
                      </a:pPr>
                      <a:r>
                        <a:rPr sz="850" b="0">
                          <a:solidFill>
                            <a:srgbClr val="474956"/>
                          </a:solidFill>
                          <a:latin typeface="Diodrum Arabic"/>
                          <a:ea typeface="Diodrum Arabic"/>
                          <a:cs typeface="Diodrum Arabic"/>
                        </a:rPr>
                        <a:t>رئيس تنفيذي، مدير تنفيذي، مسؤول تنفيذي أول، وفق حجم الجهة وصلاحيات الدور</a:t>
                      </a:r>
                    </a:p>
                  </a:txBody>
                  <a:tcPr marL="64008" marR="64008" marT="41148" marB="41148" anchor="ctr">
                    <a:solidFill>
                      <a:srgbClr val="F4F4F9"/>
                    </a:solidFill>
                  </a:tcPr>
                </a:tc>
                <a:tc>
                  <a:txBody>
                    <a:bodyPr wrap="square"/>
                    <a:lstStyle/>
                    <a:p>
                      <a:pPr algn="r" rtl="1">
                        <a:lnSpc>
                          <a:spcPts val="1088"/>
                        </a:lnSpc>
                      </a:pPr>
                      <a:r>
                        <a:rPr sz="850" b="0">
                          <a:solidFill>
                            <a:srgbClr val="474956"/>
                          </a:solidFill>
                          <a:latin typeface="Diodrum Arabic"/>
                          <a:ea typeface="Diodrum Arabic"/>
                          <a:cs typeface="Diodrum Arabic"/>
                        </a:rPr>
                        <a:t>التطبيق التشغيلي والالتزام</a:t>
                      </a:r>
                    </a:p>
                  </a:txBody>
                  <a:tcPr marL="64008" marR="64008" marT="41148" marB="41148" anchor="ctr">
                    <a:solidFill>
                      <a:srgbClr val="F4F4F9"/>
                    </a:solidFill>
                  </a:tcPr>
                </a:tc>
                <a:tc>
                  <a:txBody>
                    <a:bodyPr wrap="square"/>
                    <a:lstStyle/>
                    <a:p>
                      <a:pPr algn="r" rtl="1">
                        <a:lnSpc>
                          <a:spcPts val="1088"/>
                        </a:lnSpc>
                      </a:pPr>
                      <a:r>
                        <a:rPr sz="850" b="0">
                          <a:solidFill>
                            <a:srgbClr val="474956"/>
                          </a:solidFill>
                          <a:latin typeface="Diodrum Arabic"/>
                          <a:ea typeface="Diodrum Arabic"/>
                          <a:cs typeface="Diodrum Arabic"/>
                        </a:rPr>
                        <a:t>خطة تطبيق وسجل التزام</a:t>
                      </a:r>
                    </a:p>
                  </a:txBody>
                  <a:tcPr marL="64008" marR="64008" marT="41148" marB="41148" anchor="ctr">
                    <a:solidFill>
                      <a:srgbClr val="F4F4F9"/>
                    </a:solidFill>
                  </a:tcPr>
                </a:tc>
              </a:tr>
            </a:tbl>
          </a:graphicData>
        </a:graphic>
      </p:graphicFrame>
      <p:sp>
        <p:nvSpPr>
          <p:cNvPr id="7" name="Rounded Rectangle 6"/>
          <p:cNvSpPr/>
          <p:nvPr/>
        </p:nvSpPr>
        <p:spPr>
          <a:xfrm>
            <a:off x="566928" y="3773424"/>
            <a:ext cx="6428231" cy="1070038"/>
          </a:xfrm>
          <a:prstGeom prst="roundRect">
            <a:avLst>
              <a:gd name="adj" fmla="val 769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938016"/>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القاعدة الملازمة للجدول</a:t>
            </a:r>
          </a:p>
        </p:txBody>
      </p:sp>
      <p:sp>
        <p:nvSpPr>
          <p:cNvPr id="9" name="TextBox 8"/>
          <p:cNvSpPr txBox="1"/>
          <p:nvPr/>
        </p:nvSpPr>
        <p:spPr>
          <a:xfrm>
            <a:off x="731520" y="4147566"/>
            <a:ext cx="6099047" cy="523494"/>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المسميات المكافئة استرشادية. ويُحدَّد تصنيف المشاركين بحسب نطاق الصلاحية، ونوع القرار، ومستوى المساءلة، والبروتوكول القيادي — لا المسمى الوظيفي وحده. وتمنع هذه القاعدة الاعتراضات الناشئة عن اختلاف الهياكل بين الجهات، وتجعل التصنيف قابلاً للتطبيق على أي جهة مهما اختلف تسلسلها الوظيفي.</a:t>
            </a:r>
          </a:p>
        </p:txBody>
      </p:sp>
      <p:sp>
        <p:nvSpPr>
          <p:cNvPr id="10" name="Rectangle 9"/>
          <p:cNvSpPr/>
          <p:nvPr/>
        </p:nvSpPr>
        <p:spPr>
          <a:xfrm>
            <a:off x="6949440" y="5026342"/>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5035486"/>
            <a:ext cx="6199631" cy="387095"/>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وبتحديد الفئات الأربع ومسؤولياتها في القرار، يصبح السؤال: ماذا يقدم السوق العالمي والمحلي فعلاً لكل فئة منها؟ يجيب القسم الثالث بالمقارنة المعيارية.</a:t>
            </a:r>
          </a:p>
        </p:txBody>
      </p:sp>
      <p:sp>
        <p:nvSpPr>
          <p:cNvPr id="12" name="Rectangle 1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14" name="TextBox 1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671446"/>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r" rtl="1">
              <a:lnSpc>
                <a:spcPts val="1276"/>
              </a:lnSpc>
            </a:pPr>
            <a:r>
              <a:rPr sz="1100" b="0">
                <a:solidFill>
                  <a:srgbClr val="CEC6EC"/>
                </a:solidFill>
                <a:latin typeface="Diodrum Arabic SemiBold"/>
                <a:ea typeface="Diodrum Arabic SemiBold"/>
                <a:cs typeface="Diodrum Arabic SemiBold"/>
              </a:rPr>
              <a:t>القسم 03</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r" rtl="1">
              <a:lnSpc>
                <a:spcPts val="2595"/>
              </a:lnSpc>
            </a:pPr>
            <a:r>
              <a:rPr sz="2200" b="1">
                <a:solidFill>
                  <a:srgbClr val="FFFFFF"/>
                </a:solidFill>
                <a:latin typeface="Diodrum Arabic"/>
                <a:ea typeface="Diodrum Arabic"/>
                <a:cs typeface="Diodrum Arabic"/>
              </a:rPr>
              <a:t>نتائج المقارنة المعيارية</a:t>
            </a:r>
          </a:p>
        </p:txBody>
      </p:sp>
      <p:sp>
        <p:nvSpPr>
          <p:cNvPr id="5" name="TextBox 4"/>
          <p:cNvSpPr txBox="1"/>
          <p:nvPr/>
        </p:nvSpPr>
        <p:spPr>
          <a:xfrm>
            <a:off x="566928" y="1116075"/>
            <a:ext cx="5513831" cy="207899"/>
          </a:xfrm>
          <a:prstGeom prst="rect">
            <a:avLst/>
          </a:prstGeom>
          <a:noFill/>
        </p:spPr>
        <p:txBody>
          <a:bodyPr wrap="square" lIns="0" rIns="0" tIns="0" bIns="0">
            <a:spAutoFit/>
          </a:bodyPr>
          <a:lstStyle/>
          <a:p>
            <a:pPr algn="r" rtl="1">
              <a:lnSpc>
                <a:spcPts val="1348"/>
              </a:lnSpc>
            </a:pPr>
            <a:r>
              <a:rPr sz="950" b="0">
                <a:solidFill>
                  <a:srgbClr val="DDDAF0"/>
                </a:solidFill>
                <a:latin typeface="Diodrum Arabic"/>
                <a:ea typeface="Diodrum Arabic"/>
                <a:cs typeface="Diodrum Arabic"/>
              </a:rPr>
              <a:t>أنواع البرامج الدولية، والسجل وأسعاره، وتجارب الدول، وقدرات المملكة الذاتية، وما نضج مقابل ما بقي فجوة.</a:t>
            </a:r>
          </a:p>
        </p:txBody>
      </p:sp>
      <p:sp>
        <p:nvSpPr>
          <p:cNvPr id="6" name="Rectangle 5"/>
          <p:cNvSpPr/>
          <p:nvPr/>
        </p:nvSpPr>
        <p:spPr>
          <a:xfrm>
            <a:off x="4892040"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57800"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23559" y="1451990"/>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89320" y="1451990"/>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79" y="1451990"/>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20840" y="1451990"/>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945766"/>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3.1  أنواع البرامج الدولية</a:t>
            </a:r>
          </a:p>
        </p:txBody>
      </p:sp>
      <p:sp>
        <p:nvSpPr>
          <p:cNvPr id="13" name="TextBox 12"/>
          <p:cNvSpPr txBox="1"/>
          <p:nvPr/>
        </p:nvSpPr>
        <p:spPr>
          <a:xfrm>
            <a:off x="566928" y="2173604"/>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ثلاث فئات سوقية — والخلط بينها أصل أخطاء الشراء</a:t>
            </a:r>
          </a:p>
        </p:txBody>
      </p:sp>
      <p:sp>
        <p:nvSpPr>
          <p:cNvPr id="14" name="TextBox 13"/>
          <p:cNvSpPr txBox="1"/>
          <p:nvPr/>
        </p:nvSpPr>
        <p:spPr>
          <a:xfrm>
            <a:off x="566928" y="2554604"/>
            <a:ext cx="6428231" cy="550545"/>
          </a:xfrm>
          <a:prstGeom prst="rect">
            <a:avLst/>
          </a:prstGeom>
          <a:noFill/>
        </p:spPr>
        <p:txBody>
          <a:bodyPr wrap="square" lIns="0" rIns="0" tIns="0" bIns="0">
            <a:spAutoFit/>
          </a:bodyPr>
          <a:lstStyle/>
          <a:p>
            <a:pPr algn="just" rtl="1">
              <a:lnSpc>
                <a:spcPts val="1348"/>
              </a:lnSpc>
            </a:pPr>
            <a:r>
              <a:rPr sz="950" b="0">
                <a:solidFill>
                  <a:srgbClr val="474956"/>
                </a:solidFill>
                <a:latin typeface="Diodrum Arabic"/>
                <a:ea typeface="Diodrum Arabic"/>
                <a:cs typeface="Diodrum Arabic"/>
              </a:rPr>
              <a:t>تستند المقارنة إلى سجل من 32 برنامجاً موثقاً رُوجعت صفحات مزوديه وجماهيره المعلنة وأسعاره المنشورة بتاريخ 21 أغسطس 2026 — في سياق تعلن فيه 32 من 36 دولة في منظمة التعاون الاقتصادي والتنمية برامج تدريب حكومية على الذكاء الاصطناعي [14]. وتنقسم العينة إلى ثلاث فئات تختلف في مالكها ومنطق تسعيرها وقابليتها للشراء.</a:t>
            </a:r>
          </a:p>
        </p:txBody>
      </p:sp>
      <p:sp>
        <p:nvSpPr>
          <p:cNvPr id="15" name="Rounded Rectangle 14"/>
          <p:cNvSpPr/>
          <p:nvPr/>
        </p:nvSpPr>
        <p:spPr>
          <a:xfrm>
            <a:off x="4949952" y="3196590"/>
            <a:ext cx="2045207" cy="2623566"/>
          </a:xfrm>
          <a:prstGeom prst="roundRect">
            <a:avLst>
              <a:gd name="adj" fmla="val 402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01383" y="3342894"/>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96256" y="3461766"/>
            <a:ext cx="1752599"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1 · البرامج التجارية البارزة</a:t>
            </a:r>
          </a:p>
        </p:txBody>
      </p:sp>
      <p:sp>
        <p:nvSpPr>
          <p:cNvPr id="18" name="TextBox 17"/>
          <p:cNvSpPr txBox="1"/>
          <p:nvPr/>
        </p:nvSpPr>
        <p:spPr>
          <a:xfrm>
            <a:off x="5096256" y="3688460"/>
            <a:ext cx="1752599" cy="1578864"/>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كليات الأعمال الكبرى لجمهور تنفيذي مختلط، برسم مقعد من US$12,000 إلى US$28,000: كيلوغ US$28,000 [15]؛ وMIT xPRO من US$25,000 إلى US$28,000 بحسب دورة التسعير [16]؛ وكامبريدج جادج £20,000 (نحو 101,993 ريالاً) [17]. يشتري الملتحق اسم الجامعة وشبكة أقران يغلب عليها الطابع الشركاتي؛ والسعر يعكس العلامة الأكاديمية وهيئة التدريس والشبكة — لا الملاءمة الحكومية.</a:t>
            </a:r>
          </a:p>
        </p:txBody>
      </p:sp>
      <p:sp>
        <p:nvSpPr>
          <p:cNvPr id="19" name="Rounded Rectangle 18"/>
          <p:cNvSpPr/>
          <p:nvPr/>
        </p:nvSpPr>
        <p:spPr>
          <a:xfrm>
            <a:off x="2758440" y="3196590"/>
            <a:ext cx="2045207" cy="2623566"/>
          </a:xfrm>
          <a:prstGeom prst="roundRect">
            <a:avLst>
              <a:gd name="adj" fmla="val 402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09872" y="3342894"/>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04744" y="3461766"/>
            <a:ext cx="1752599" cy="361950"/>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2 · البرامج الحكومية المتخصصة</a:t>
            </a:r>
          </a:p>
        </p:txBody>
      </p:sp>
      <p:sp>
        <p:nvSpPr>
          <p:cNvPr id="22" name="TextBox 21"/>
          <p:cNvSpPr txBox="1"/>
          <p:nvPr/>
        </p:nvSpPr>
        <p:spPr>
          <a:xfrm>
            <a:off x="2904744" y="3851148"/>
            <a:ext cx="1752599" cy="1859280"/>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برامج مكتوبة لموظفي الحكومة بالاسم، وأرخص منهجياً: من مجانية (بارتنرشيب فور بابليك سيرفس [18]؛ سلسلة GSA [19])، إلى مئات اليورو (ماستركلاس معهد الإدارة الأيرلندي €480 نحو 2,101 ريال [20])، إلى آلاف الدولارات (دارن US$4,700 [21]؛ جونز هوبكنز US$2,450 بتاريخ الفحص [22])، وتتوجها مدرسة لي كوان يو بسعر S$6,800 [23]. التسعير رسالي — منحتا Google.org بقيمة US$10 ملايين [24] وUS$5 ملايين [25] — لكن عدداً من أكثرها ارتباطاً بالسياق العام مقيد بالجنسية أو جهة العمل.</a:t>
            </a:r>
          </a:p>
        </p:txBody>
      </p:sp>
      <p:sp>
        <p:nvSpPr>
          <p:cNvPr id="23" name="Rounded Rectangle 22"/>
          <p:cNvSpPr/>
          <p:nvPr/>
        </p:nvSpPr>
        <p:spPr>
          <a:xfrm>
            <a:off x="566928" y="3196590"/>
            <a:ext cx="2045207" cy="2623566"/>
          </a:xfrm>
          <a:prstGeom prst="roundRect">
            <a:avLst>
              <a:gd name="adj" fmla="val 402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18360" y="3342894"/>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461766"/>
            <a:ext cx="1752599" cy="199263"/>
          </a:xfrm>
          <a:prstGeom prst="rect">
            <a:avLst/>
          </a:prstGeom>
          <a:noFill/>
        </p:spPr>
        <p:txBody>
          <a:bodyPr wrap="square" lIns="0" rIns="0" tIns="0" bIns="0">
            <a:spAutoFit/>
          </a:bodyPr>
          <a:lstStyle/>
          <a:p>
            <a:pPr algn="r" rtl="1">
              <a:lnSpc>
                <a:spcPts val="1281"/>
              </a:lnSpc>
            </a:pPr>
            <a:r>
              <a:rPr sz="1050" b="0">
                <a:solidFill>
                  <a:srgbClr val="2A206A"/>
                </a:solidFill>
                <a:latin typeface="Diodrum Arabic SemiBold"/>
                <a:ea typeface="Diodrum Arabic SemiBold"/>
                <a:cs typeface="Diodrum Arabic SemiBold"/>
              </a:rPr>
              <a:t>3 · البرامج السيادية المغلقة</a:t>
            </a:r>
          </a:p>
        </p:txBody>
      </p:sp>
      <p:sp>
        <p:nvSpPr>
          <p:cNvPr id="26" name="TextBox 25"/>
          <p:cNvSpPr txBox="1"/>
          <p:nvPr/>
        </p:nvSpPr>
        <p:spPr>
          <a:xfrm>
            <a:off x="713232" y="3688460"/>
            <a:ext cx="1752599" cy="1158240"/>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برامج تبنيها الدول لنفسها ولا تُعرض للبيع أصلاً: هدف الإمارات المعتمد لتدريب 80,000 موظف اتحادي — هدف معلن لا رقم إنجاز [26][27][28]؛ ومعهد سنغافورة المعلن لأكثر من 150,000 [29]؛ وبرنامج بريطانيا للخدمة المدنية العليا [30]؛ ومعسكر غانا الوزاري المغلق مع برنامج الأمم المتحدة الإنمائي [31].</a:t>
            </a:r>
          </a:p>
        </p:txBody>
      </p:sp>
      <p:sp>
        <p:nvSpPr>
          <p:cNvPr id="27" name="Rounded Rectangle 26"/>
          <p:cNvSpPr/>
          <p:nvPr/>
        </p:nvSpPr>
        <p:spPr>
          <a:xfrm>
            <a:off x="566928" y="6003036"/>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6185916"/>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دلالة الفئة الثالثة</a:t>
            </a:r>
          </a:p>
        </p:txBody>
      </p:sp>
      <p:sp>
        <p:nvSpPr>
          <p:cNvPr id="29" name="TextBox 28"/>
          <p:cNvSpPr txBox="1"/>
          <p:nvPr/>
        </p:nvSpPr>
        <p:spPr>
          <a:xfrm>
            <a:off x="749808" y="6386322"/>
            <a:ext cx="6062471" cy="361187"/>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ما يصل إلى مكتب الوزير قرار سيادي بالبناء — لا منتج تعليمي يُلتقط من رف تجاري. فوجود البرنامج في السوق شيء، وقابلية القائد السعودي للالتحاق به شيء آخر.</a:t>
            </a:r>
          </a:p>
        </p:txBody>
      </p:sp>
      <p:sp>
        <p:nvSpPr>
          <p:cNvPr id="30" name="Rectangle 2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32" name="TextBox 31"/>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03 · 3.2  أبرز البرامج والأسعار — 1 من 2</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السوق المفتوح: كم يكلف المقعد، ولمن يُعلن</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الجمهور المعلن كما ورد في صفحات المزودين؛ والسعر بعملته الأصلية وما يعادله تقريباً بالريال.</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554988"/>
          <a:ext cx="6428230" cy="3777995"/>
        </p:xfrm>
        <a:graphic>
          <a:graphicData uri="http://schemas.openxmlformats.org/drawingml/2006/table">
            <a:tbl>
              <a:tblPr firstRow="1" bandRow="0" rtl="1"/>
              <a:tblGrid>
                <a:gridCol w="1478493"/>
                <a:gridCol w="1478493"/>
                <a:gridCol w="1092799"/>
                <a:gridCol w="1092799"/>
                <a:gridCol w="835670"/>
                <a:gridCol w="449976"/>
              </a:tblGrid>
              <a:tr h="245363">
                <a:tc>
                  <a:txBody>
                    <a:bodyPr wrap="square"/>
                    <a:lstStyle/>
                    <a:p>
                      <a:pPr algn="r" rtl="1">
                        <a:lnSpc>
                          <a:spcPts val="960"/>
                        </a:lnSpc>
                      </a:pPr>
                      <a:r>
                        <a:rPr sz="750" b="0">
                          <a:solidFill>
                            <a:srgbClr val="FFFFFF"/>
                          </a:solidFill>
                          <a:latin typeface="Diodrum Arabic SemiBold"/>
                          <a:ea typeface="Diodrum Arabic SemiBold"/>
                          <a:cs typeface="Diodrum Arabic SemiBold"/>
                        </a:rPr>
                        <a:t>البرنامج — المزود</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الجمهور المعلن</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المدة والصيغة</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السعر (≈ ريال)</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الوصول</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مصدر</a:t>
                      </a:r>
                    </a:p>
                  </a:txBody>
                  <a:tcPr marL="64008" marR="64008" marT="41148" marB="41148" anchor="ctr">
                    <a:solidFill>
                      <a:srgbClr val="241A5E"/>
                    </a:solidFill>
                  </a:tcPr>
                </a:tc>
              </a:tr>
              <a:tr h="751332">
                <a:tc>
                  <a:txBody>
                    <a:bodyPr wrap="square"/>
                    <a:lstStyle/>
                    <a:p>
                      <a:pPr algn="r" rtl="1">
                        <a:lnSpc>
                          <a:spcPts val="960"/>
                        </a:lnSpc>
                      </a:pPr>
                      <a:r>
                        <a:rPr sz="750" b="0">
                          <a:solidFill>
                            <a:srgbClr val="232046"/>
                          </a:solidFill>
                          <a:latin typeface="Diodrum Arabic SemiBold"/>
                          <a:ea typeface="Diodrum Arabic SemiBold"/>
                          <a:cs typeface="Diodrum Arabic SemiBold"/>
                        </a:rPr>
                        <a:t>الذكاء الاصطناعي والتحول الرقمي لقادة السياسات العامة — مدرسة لي كوان يو (جامعة سنغافورة الوطنية)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مسؤولون حكوميون من المستويين المتوسط والأعلى مسؤولون عن التحول الرقمي أو استراتيجية الذكاء الاصطناعي</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4 أيام حضورية (10–13 نوفمبر 2026؛ مقرّرة وليست منفَّذة)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S$6,800 + الضريبة (≈ 20,050؛ مبكر S$5,440 حتى 30 سبتمبر 2026)</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مفتوح</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[23]</a:t>
                      </a:r>
                    </a:p>
                  </a:txBody>
                  <a:tcPr marL="64008" marR="64008" marT="41148" marB="41148" anchor="ctr">
                    <a:solidFill>
                      <a:srgbClr val="FFFFFF"/>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برنامج القيادة العالمي في الذكاء الاصطناعي (GAILP) — جامعة محمد بن زايد</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كبار المسؤولين الحكوميين والتنفيذيين العالميين وقادة المستوى التنفيذي الأعلى</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5 أيام، أبوظبي</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AED 45,000 شاملة الضريبة (≈ 45,950)</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انتقائي / بدعوة</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[32] [33]</a:t>
                      </a:r>
                    </a:p>
                  </a:txBody>
                  <a:tcPr marL="64008" marR="64008" marT="41148" marB="41148" anchor="ctr">
                    <a:solidFill>
                      <a:srgbClr val="F4F4F9"/>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البرنامج التنفيذي (MEP) — جامعة محمد بن زايد</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كبار التنفيذيين ورفيعو المستوى من المسؤولين في الإمارات</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16 أسبوعاً</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AED 35,000 (≈ 35,739)</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إماراتي التوجه</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[34]</a:t>
                      </a:r>
                    </a:p>
                  </a:txBody>
                  <a:tcPr marL="64008" marR="64008" marT="41148" marB="41148" anchor="ctr">
                    <a:solidFill>
                      <a:srgbClr val="FFFFFF"/>
                    </a:solidFill>
                  </a:tcPr>
                </a:tc>
              </a:tr>
              <a:tr h="629412">
                <a:tc>
                  <a:txBody>
                    <a:bodyPr wrap="square"/>
                    <a:lstStyle/>
                    <a:p>
                      <a:pPr algn="r" rtl="1">
                        <a:lnSpc>
                          <a:spcPts val="960"/>
                        </a:lnSpc>
                      </a:pPr>
                      <a:r>
                        <a:rPr sz="750" b="0">
                          <a:solidFill>
                            <a:srgbClr val="232046"/>
                          </a:solidFill>
                          <a:latin typeface="Diodrum Arabic SemiBold"/>
                          <a:ea typeface="Diodrum Arabic SemiBold"/>
                          <a:cs typeface="Diodrum Arabic SemiBold"/>
                        </a:rPr>
                        <a:t>قيادة الذكاء الاصطناعي عبر الابتكار المشترك — كلية بلافاتنك، أكسفورد</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كبار القادة والممارسين المسؤولين عن استراتيجية الذكاء الاصطناعي وحوكمته أو تطويره أو تنفيذه</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6 أيام (29 نوفمبر – 4 ديسمبر 2026؛ فوجها الأول مقرّر وليس منفَّذاً)</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£10,250 (≈ 52,271)</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مفتوح بقبول انتقائي</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[35]</a:t>
                      </a:r>
                    </a:p>
                  </a:txBody>
                  <a:tcPr marL="64008" marR="64008" marT="41148" marB="41148" anchor="ctr">
                    <a:solidFill>
                      <a:srgbClr val="F4F4F9"/>
                    </a:solidFill>
                  </a:tcPr>
                </a:tc>
              </a:tr>
              <a:tr h="629412">
                <a:tc>
                  <a:txBody>
                    <a:bodyPr wrap="square"/>
                    <a:lstStyle/>
                    <a:p>
                      <a:pPr algn="r" rtl="1">
                        <a:lnSpc>
                          <a:spcPts val="960"/>
                        </a:lnSpc>
                      </a:pPr>
                      <a:r>
                        <a:rPr sz="750" b="0">
                          <a:solidFill>
                            <a:srgbClr val="232046"/>
                          </a:solidFill>
                          <a:latin typeface="Diodrum Arabic SemiBold"/>
                          <a:ea typeface="Diodrum Arabic SemiBold"/>
                          <a:cs typeface="Diodrum Arabic SemiBold"/>
                        </a:rPr>
                        <a:t>القيادة في الذكاء الاصطناعي — كلية هارفارد كينيدي</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جمهور مختلط يشمل كبار القادة في الحكومة والعسكرية والمسؤولين المنتخبين</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أسبوع حضوري</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US$11,700 شاملة السكن ومعظم الوجبات (≈ 43,875)</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مفتوح</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[36]</a:t>
                      </a:r>
                    </a:p>
                  </a:txBody>
                  <a:tcPr marL="64008" marR="64008" marT="41148" marB="41148" anchor="ctr">
                    <a:solidFill>
                      <a:srgbClr val="FFFFFF"/>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أساسيات الذكاء الاصطناعي لقادة الحكومة — دارن، جامعة فرجينيا</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قادة القطاع الحكومي والصناعات المرتبطة به</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2.5 يوم، منطقة واشنطن</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US$4,700 (≈ 17,625؛ خصم حكومي وعسكري 20%)</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مفتوح</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[21]</a:t>
                      </a:r>
                    </a:p>
                  </a:txBody>
                  <a:tcPr marL="64008" marR="64008" marT="41148" marB="41148" anchor="ctr">
                    <a:solidFill>
                      <a:srgbClr val="F4F4F9"/>
                    </a:solidFill>
                  </a:tcPr>
                </a:tc>
              </a:tr>
            </a:tbl>
          </a:graphicData>
        </a:graphic>
      </p:graphicFrame>
      <p:sp>
        <p:nvSpPr>
          <p:cNvPr id="7" name="TextBox 6"/>
          <p:cNvSpPr txBox="1"/>
          <p:nvPr/>
        </p:nvSpPr>
        <p:spPr>
          <a:xfrm>
            <a:off x="566928" y="5479288"/>
            <a:ext cx="6428231" cy="321056"/>
          </a:xfrm>
          <a:prstGeom prst="rect">
            <a:avLst/>
          </a:prstGeom>
          <a:noFill/>
        </p:spPr>
        <p:txBody>
          <a:bodyPr wrap="square" lIns="0" rIns="0" tIns="0" bIns="0">
            <a:spAutoFit/>
          </a:bodyPr>
          <a:lstStyle/>
          <a:p>
            <a:pPr algn="r" rtl="1">
              <a:lnSpc>
                <a:spcPts val="1120"/>
              </a:lnSpc>
            </a:pPr>
            <a:r>
              <a:rPr sz="800" b="0">
                <a:solidFill>
                  <a:srgbClr val="6E7077"/>
                </a:solidFill>
                <a:latin typeface="Diodrum Arabic"/>
                <a:ea typeface="Diodrum Arabic"/>
                <a:cs typeface="Diodrum Arabic"/>
              </a:rPr>
              <a:t>الأسعار المنشورة أسعار مقاعد فردية في أفواج مفتوحة مختلطة القطاعات، ولا تمثل عروضاً لأفواج مغلقة؛ فالبرنامج المخصص يُسعَّر مشروعاً لا مقاعد، ولا تنشر الجامعات بطاقات أسعار له [39].</a:t>
            </a:r>
          </a:p>
        </p:txBody>
      </p:sp>
      <p:sp>
        <p:nvSpPr>
          <p:cNvPr id="8" name="Rectangle 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10" name="TextBox 9"/>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03 · 3.2  أبرز البرامج والأسعار — 2 من 2</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الطبقة الحكومية المتخصصة: أرخص، ومعظمها مقيد</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تضم الصفوف التالية أكثر التصاميم ارتباطاً بالسياق العام — مع قيود الوصول المصاحبة لها.</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554988"/>
          <a:ext cx="6428230" cy="3656075"/>
        </p:xfrm>
        <a:graphic>
          <a:graphicData uri="http://schemas.openxmlformats.org/drawingml/2006/table">
            <a:tbl>
              <a:tblPr firstRow="1" bandRow="0" rtl="1"/>
              <a:tblGrid>
                <a:gridCol w="1478493"/>
                <a:gridCol w="1478493"/>
                <a:gridCol w="1092799"/>
                <a:gridCol w="1092799"/>
                <a:gridCol w="835670"/>
                <a:gridCol w="449976"/>
              </a:tblGrid>
              <a:tr h="245363">
                <a:tc>
                  <a:txBody>
                    <a:bodyPr wrap="square"/>
                    <a:lstStyle/>
                    <a:p>
                      <a:pPr algn="r" rtl="1">
                        <a:lnSpc>
                          <a:spcPts val="960"/>
                        </a:lnSpc>
                      </a:pPr>
                      <a:r>
                        <a:rPr sz="750" b="0">
                          <a:solidFill>
                            <a:srgbClr val="FFFFFF"/>
                          </a:solidFill>
                          <a:latin typeface="Diodrum Arabic SemiBold"/>
                          <a:ea typeface="Diodrum Arabic SemiBold"/>
                          <a:cs typeface="Diodrum Arabic SemiBold"/>
                        </a:rPr>
                        <a:t>البرنامج — المزود</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الجمهور المعلن</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المدة والصيغة</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السعر (≈ ريال)</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الوصول</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مصدر</a:t>
                      </a:r>
                    </a:p>
                  </a:txBody>
                  <a:tcPr marL="64008" marR="64008" marT="41148" marB="41148" anchor="ctr">
                    <a:solidFill>
                      <a:srgbClr val="241A5E"/>
                    </a:solidFill>
                  </a:tcPr>
                </a:tc>
              </a:tr>
              <a:tr h="629412">
                <a:tc>
                  <a:txBody>
                    <a:bodyPr wrap="square"/>
                    <a:lstStyle/>
                    <a:p>
                      <a:pPr algn="r" rtl="1">
                        <a:lnSpc>
                          <a:spcPts val="960"/>
                        </a:lnSpc>
                      </a:pPr>
                      <a:r>
                        <a:rPr sz="750" b="0">
                          <a:solidFill>
                            <a:srgbClr val="232046"/>
                          </a:solidFill>
                          <a:latin typeface="Diodrum Arabic SemiBold"/>
                          <a:ea typeface="Diodrum Arabic SemiBold"/>
                          <a:cs typeface="Diodrum Arabic SemiBold"/>
                        </a:rPr>
                        <a:t>زمالة سياسات الذكاء الاصطناعي — إمبريال كوليدج لندن</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كبار موظفي الخدمة المدنية الساعون إلى تعميق فهمهم لدور الذكاء الاصطناعي في القطاع العام</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9 أشهر؛ مشروع بحثي فردي داخل جهة الزميل</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£1,500 (≈ 7,649)</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مقيّد فعلياً (الأفواج المرصودة بريطانية)</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[37] [38]</a:t>
                      </a:r>
                    </a:p>
                  </a:txBody>
                  <a:tcPr marL="64008" marR="64008" marT="41148" marB="41148" anchor="ctr">
                    <a:solidFill>
                      <a:srgbClr val="FFFFFF"/>
                    </a:solidFill>
                  </a:tcPr>
                </a:tc>
              </a:tr>
              <a:tr h="629412">
                <a:tc>
                  <a:txBody>
                    <a:bodyPr wrap="square"/>
                    <a:lstStyle/>
                    <a:p>
                      <a:pPr algn="r" rtl="1">
                        <a:lnSpc>
                          <a:spcPts val="960"/>
                        </a:lnSpc>
                      </a:pPr>
                      <a:r>
                        <a:rPr sz="750" b="0">
                          <a:solidFill>
                            <a:srgbClr val="232046"/>
                          </a:solidFill>
                          <a:latin typeface="Diodrum Arabic SemiBold"/>
                          <a:ea typeface="Diodrum Arabic SemiBold"/>
                          <a:cs typeface="Diodrum Arabic SemiBold"/>
                        </a:rPr>
                        <a:t>برنامج القيادة الحكومية للذكاء الاصطناعي — بارتنرشيب فور بابليك سيرفس</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موظفو الدرجة GS-15 الاتحاديون؛ أعضاء الخدمة التنفيذية العليا وما يعادلها</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6 جلسات نصف يوم على 4 أشهر، افتراضي</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مجاني</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مقيّد (الحكومة الأمريكية وحدها)</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[18]</a:t>
                      </a:r>
                    </a:p>
                  </a:txBody>
                  <a:tcPr marL="64008" marR="64008" marT="41148" marB="41148" anchor="ctr">
                    <a:solidFill>
                      <a:srgbClr val="F4F4F9"/>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الذكاء الاصطناعي لكبار قادة الحكومة الاتحادية — جونز هوبكنز</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قادة الدرجات GS-14/15 والرتب O-5/O-6</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10 أسابيع مدمج عن بُعد</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US$2,450 بتاريخ الفحص (≈ 9,188) *</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مقيّد (إطار اتحادي ودفاعي أمريكي)</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[22]</a:t>
                      </a:r>
                    </a:p>
                  </a:txBody>
                  <a:tcPr marL="64008" marR="64008" marT="41148" marB="41148" anchor="ctr">
                    <a:solidFill>
                      <a:srgbClr val="FFFFFF"/>
                    </a:solidFill>
                  </a:tcPr>
                </a:tc>
              </a:tr>
              <a:tr h="629412">
                <a:tc>
                  <a:txBody>
                    <a:bodyPr wrap="square"/>
                    <a:lstStyle/>
                    <a:p>
                      <a:pPr algn="r" rtl="1">
                        <a:lnSpc>
                          <a:spcPts val="960"/>
                        </a:lnSpc>
                      </a:pPr>
                      <a:r>
                        <a:rPr sz="750" b="0">
                          <a:solidFill>
                            <a:srgbClr val="232046"/>
                          </a:solidFill>
                          <a:latin typeface="Diodrum Arabic SemiBold"/>
                          <a:ea typeface="Diodrum Arabic SemiBold"/>
                          <a:cs typeface="Diodrum Arabic SemiBold"/>
                        </a:rPr>
                        <a:t>سلسلة التدريب على الذكاء الاصطناعي — إدارة الخدمات العامة الأمريكية (GSA)</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موظفو الحكومة ممن يحملون بريد ‎.GOV أو ‎.MIL؛ ومنها مسار قيادة وسياسات مع جامعة برينستون</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21 جلسة عبر الإنترنت في ثلاثة مسارات</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مجاني</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مقيّد</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[19]</a:t>
                      </a:r>
                    </a:p>
                  </a:txBody>
                  <a:tcPr marL="64008" marR="64008" marT="41148" marB="41148" anchor="ctr">
                    <a:solidFill>
                      <a:srgbClr val="F4F4F9"/>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ماستركلاس الذكاء الاصطناعي لكبار قادة الخدمة العامة — معهد الإدارة العامة (أيرلندا)</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كبار قادة الخدمة العامة على مستوى مجالس الإدارة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يوم واحد، دبلن</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€480 (≈ 2,101)</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مفتوح للخدمة العامة بإطار أيرلندي</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[20]</a:t>
                      </a:r>
                    </a:p>
                  </a:txBody>
                  <a:tcPr marL="64008" marR="64008" marT="41148" marB="41148" anchor="ctr">
                    <a:solidFill>
                      <a:srgbClr val="FFFFFF"/>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برنامج كامبريدج لقيادة الذكاء الاصطناعي — كلية جادج للأعمال</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كبار القادة الذين يخوضون الاضطراب الرقمي</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4 أشهر مدمج (إقامتان + تعلم عن بُعد)</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£20,000 (≈ 101,993)</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مفتوح</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[17]</a:t>
                      </a:r>
                    </a:p>
                  </a:txBody>
                  <a:tcPr marL="64008" marR="64008" marT="41148" marB="41148" anchor="ctr">
                    <a:solidFill>
                      <a:srgbClr val="F4F4F9"/>
                    </a:solidFill>
                  </a:tcPr>
                </a:tc>
              </a:tr>
            </a:tbl>
          </a:graphicData>
        </a:graphic>
      </p:graphicFrame>
      <p:sp>
        <p:nvSpPr>
          <p:cNvPr id="7" name="TextBox 6"/>
          <p:cNvSpPr txBox="1"/>
          <p:nvPr/>
        </p:nvSpPr>
        <p:spPr>
          <a:xfrm>
            <a:off x="566928" y="5357368"/>
            <a:ext cx="6428231" cy="321056"/>
          </a:xfrm>
          <a:prstGeom prst="rect">
            <a:avLst/>
          </a:prstGeom>
          <a:noFill/>
        </p:spPr>
        <p:txBody>
          <a:bodyPr wrap="square" lIns="0" rIns="0" tIns="0" bIns="0">
            <a:spAutoFit/>
          </a:bodyPr>
          <a:lstStyle/>
          <a:p>
            <a:pPr algn="r" rtl="1">
              <a:lnSpc>
                <a:spcPts val="1120"/>
              </a:lnSpc>
            </a:pPr>
            <a:r>
              <a:rPr sz="800" b="0">
                <a:solidFill>
                  <a:srgbClr val="6E7077"/>
                </a:solidFill>
                <a:latin typeface="Diodrum Arabic"/>
                <a:ea typeface="Diodrum Arabic"/>
                <a:cs typeface="Diodrum Arabic"/>
              </a:rPr>
              <a:t>(*) سبق أن عرضت صفحة جونز هوبكنز نسخة أقصر من 4 أسابيع بسعر أدنى؛ فيُعاد التأكد من السعر قبل أي التحاق [22]. وبرنامجا مدرسة لي كوان يو وبلافاتنك مقرّران وليسا منفَّذين حتى تاريخ المراجعة؛ فوج بلافاتنك الأول يبدأ في 29 نوفمبر 2026 [35].</a:t>
            </a:r>
          </a:p>
        </p:txBody>
      </p:sp>
      <p:sp>
        <p:nvSpPr>
          <p:cNvPr id="8" name="Rectangle 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10" name="TextBox 9"/>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03 · 3.2  قراءة السجل</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لا برنامج مفتوحاً موثقاً يخاطب الوزراء جمهوراً أساسياً</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ثلاث ملاحظات تحمل بقية الدراسة.</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37959" y="1536700"/>
            <a:ext cx="457200" cy="287019"/>
          </a:xfrm>
          <a:prstGeom prst="rect">
            <a:avLst/>
          </a:prstGeom>
          <a:noFill/>
        </p:spPr>
        <p:txBody>
          <a:bodyPr wrap="square" lIns="0" rIns="0" tIns="0" bIns="0">
            <a:spAutoFit/>
          </a:bodyPr>
          <a:lstStyle/>
          <a:p>
            <a:pPr algn="r" rtl="1">
              <a:lnSpc>
                <a:spcPts val="1972"/>
              </a:lnSpc>
            </a:pPr>
            <a:r>
              <a:rPr sz="1700" b="1">
                <a:solidFill>
                  <a:srgbClr val="7C32C9"/>
                </a:solidFill>
                <a:latin typeface="Diodrum Arabic"/>
                <a:ea typeface="Diodrum Arabic"/>
                <a:cs typeface="Diodrum Arabic"/>
              </a:rPr>
              <a:t>1</a:t>
            </a:r>
          </a:p>
        </p:txBody>
      </p:sp>
      <p:sp>
        <p:nvSpPr>
          <p:cNvPr id="7" name="TextBox 6"/>
          <p:cNvSpPr txBox="1"/>
          <p:nvPr/>
        </p:nvSpPr>
        <p:spPr>
          <a:xfrm>
            <a:off x="566928" y="1554988"/>
            <a:ext cx="5879592" cy="201930"/>
          </a:xfrm>
          <a:prstGeom prst="rect">
            <a:avLst/>
          </a:prstGeom>
          <a:noFill/>
        </p:spPr>
        <p:txBody>
          <a:bodyPr wrap="square" lIns="0" rIns="0" tIns="0" bIns="0">
            <a:spAutoFit/>
          </a:bodyPr>
          <a:lstStyle/>
          <a:p>
            <a:pPr algn="r" rtl="1">
              <a:lnSpc>
                <a:spcPts val="1302"/>
              </a:lnSpc>
            </a:pPr>
            <a:r>
              <a:rPr sz="1050" b="0">
                <a:solidFill>
                  <a:srgbClr val="7C32C9"/>
                </a:solidFill>
                <a:latin typeface="Diodrum Arabic SemiBold"/>
                <a:ea typeface="Diodrum Arabic SemiBold"/>
                <a:cs typeface="Diodrum Arabic SemiBold"/>
              </a:rPr>
              <a:t>الخيارات تقل كلما ارتفع المستوى القيادي</a:t>
            </a:r>
          </a:p>
        </p:txBody>
      </p:sp>
      <p:sp>
        <p:nvSpPr>
          <p:cNvPr id="8" name="TextBox 7"/>
          <p:cNvSpPr txBox="1"/>
          <p:nvPr/>
        </p:nvSpPr>
        <p:spPr>
          <a:xfrm>
            <a:off x="566928" y="1766062"/>
            <a:ext cx="5879592" cy="516635"/>
          </a:xfrm>
          <a:prstGeom prst="rect">
            <a:avLst/>
          </a:prstGeom>
          <a:noFill/>
        </p:spPr>
        <p:txBody>
          <a:bodyPr wrap="square" lIns="0" rIns="0" tIns="0" bIns="0">
            <a:spAutoFit/>
          </a:bodyPr>
          <a:lstStyle/>
          <a:p>
            <a:pPr algn="just" rtl="1">
              <a:lnSpc>
                <a:spcPts val="1260"/>
              </a:lnSpc>
            </a:pPr>
            <a:r>
              <a:rPr sz="900" b="0">
                <a:solidFill>
                  <a:srgbClr val="474956"/>
                </a:solidFill>
                <a:latin typeface="Diodrum Arabic"/>
                <a:ea typeface="Diodrum Arabic"/>
                <a:cs typeface="Diodrum Arabic"/>
              </a:rPr>
              <a:t>تخدم البرامج المفتوحة المستويين الثالث والرابع بدرجة أكبر. أما البرامج التي وصلت إلى الوزراء وأصحاب المعالي فجاءت غالباً من خلال صيغ مغلقة أو انتقائية أو شراكات حكومية؛ فالسقف المعلن يقف عند «كبار القادة»، وما بلغ الوزراء فعلاً جاء بصيغ سيادية مغلقة [31][26].</a:t>
            </a:r>
          </a:p>
        </p:txBody>
      </p:sp>
      <p:sp>
        <p:nvSpPr>
          <p:cNvPr id="9" name="Rectangle 8"/>
          <p:cNvSpPr/>
          <p:nvPr/>
        </p:nvSpPr>
        <p:spPr>
          <a:xfrm>
            <a:off x="566928" y="2310129"/>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59" y="2419858"/>
            <a:ext cx="457200" cy="287019"/>
          </a:xfrm>
          <a:prstGeom prst="rect">
            <a:avLst/>
          </a:prstGeom>
          <a:noFill/>
        </p:spPr>
        <p:txBody>
          <a:bodyPr wrap="square" lIns="0" rIns="0" tIns="0" bIns="0">
            <a:spAutoFit/>
          </a:bodyPr>
          <a:lstStyle/>
          <a:p>
            <a:pPr algn="r" rtl="1">
              <a:lnSpc>
                <a:spcPts val="1972"/>
              </a:lnSpc>
            </a:pPr>
            <a:r>
              <a:rPr sz="1700" b="1">
                <a:solidFill>
                  <a:srgbClr val="00ABAF"/>
                </a:solidFill>
                <a:latin typeface="Diodrum Arabic"/>
                <a:ea typeface="Diodrum Arabic"/>
                <a:cs typeface="Diodrum Arabic"/>
              </a:rPr>
              <a:t>2</a:t>
            </a:r>
          </a:p>
        </p:txBody>
      </p:sp>
      <p:sp>
        <p:nvSpPr>
          <p:cNvPr id="11" name="TextBox 10"/>
          <p:cNvSpPr txBox="1"/>
          <p:nvPr/>
        </p:nvSpPr>
        <p:spPr>
          <a:xfrm>
            <a:off x="566928" y="2438146"/>
            <a:ext cx="5879592" cy="201930"/>
          </a:xfrm>
          <a:prstGeom prst="rect">
            <a:avLst/>
          </a:prstGeom>
          <a:noFill/>
        </p:spPr>
        <p:txBody>
          <a:bodyPr wrap="square" lIns="0" rIns="0" tIns="0" bIns="0">
            <a:spAutoFit/>
          </a:bodyPr>
          <a:lstStyle/>
          <a:p>
            <a:pPr algn="r" rtl="1">
              <a:lnSpc>
                <a:spcPts val="1302"/>
              </a:lnSpc>
            </a:pPr>
            <a:r>
              <a:rPr sz="1050" b="0">
                <a:solidFill>
                  <a:srgbClr val="00ABAF"/>
                </a:solidFill>
                <a:latin typeface="Diodrum Arabic SemiBold"/>
                <a:ea typeface="Diodrum Arabic SemiBold"/>
                <a:cs typeface="Diodrum Arabic SemiBold"/>
              </a:rPr>
              <a:t>الملاءمة والوصول يفترقان</a:t>
            </a:r>
          </a:p>
        </p:txBody>
      </p:sp>
      <p:sp>
        <p:nvSpPr>
          <p:cNvPr id="12" name="TextBox 11"/>
          <p:cNvSpPr txBox="1"/>
          <p:nvPr/>
        </p:nvSpPr>
        <p:spPr>
          <a:xfrm>
            <a:off x="566928" y="2649219"/>
            <a:ext cx="5879592" cy="516635"/>
          </a:xfrm>
          <a:prstGeom prst="rect">
            <a:avLst/>
          </a:prstGeom>
          <a:noFill/>
        </p:spPr>
        <p:txBody>
          <a:bodyPr wrap="square" lIns="0" rIns="0" tIns="0" bIns="0">
            <a:spAutoFit/>
          </a:bodyPr>
          <a:lstStyle/>
          <a:p>
            <a:pPr algn="just" rtl="1">
              <a:lnSpc>
                <a:spcPts val="1260"/>
              </a:lnSpc>
            </a:pPr>
            <a:r>
              <a:rPr sz="900" b="0">
                <a:solidFill>
                  <a:srgbClr val="474956"/>
                </a:solidFill>
                <a:latin typeface="Diodrum Arabic"/>
                <a:ea typeface="Diodrum Arabic"/>
                <a:cs typeface="Diodrum Arabic"/>
              </a:rPr>
              <a:t>أشد التصاميم ملاءمة للمستويين الثاني والثالث — بارتنرشيب، وإمبريال، وجونز هوبكنز، وإدارة الخدمات العامة — مقيّدة بجنسية أو جهة عمل. ويبقى مفتوحاً أمام القادة السعوديين: مدرسة لي كوان يو، ودارن، وبلافاتنك — انتقائياً — وبرنامج جامعة محمد بن زايد الانتقائي الإقليمي.</a:t>
            </a:r>
          </a:p>
        </p:txBody>
      </p:sp>
      <p:sp>
        <p:nvSpPr>
          <p:cNvPr id="13" name="Rectangle 12"/>
          <p:cNvSpPr/>
          <p:nvPr/>
        </p:nvSpPr>
        <p:spPr>
          <a:xfrm>
            <a:off x="566928" y="3193287"/>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59" y="3303016"/>
            <a:ext cx="457200" cy="287019"/>
          </a:xfrm>
          <a:prstGeom prst="rect">
            <a:avLst/>
          </a:prstGeom>
          <a:noFill/>
        </p:spPr>
        <p:txBody>
          <a:bodyPr wrap="square" lIns="0" rIns="0" tIns="0" bIns="0">
            <a:spAutoFit/>
          </a:bodyPr>
          <a:lstStyle/>
          <a:p>
            <a:pPr algn="r" rtl="1">
              <a:lnSpc>
                <a:spcPts val="1972"/>
              </a:lnSpc>
            </a:pPr>
            <a:r>
              <a:rPr sz="1700" b="1">
                <a:solidFill>
                  <a:srgbClr val="1CC182"/>
                </a:solidFill>
                <a:latin typeface="Diodrum Arabic"/>
                <a:ea typeface="Diodrum Arabic"/>
                <a:cs typeface="Diodrum Arabic"/>
              </a:rPr>
              <a:t>3</a:t>
            </a:r>
          </a:p>
        </p:txBody>
      </p:sp>
      <p:sp>
        <p:nvSpPr>
          <p:cNvPr id="15" name="TextBox 14"/>
          <p:cNvSpPr txBox="1"/>
          <p:nvPr/>
        </p:nvSpPr>
        <p:spPr>
          <a:xfrm>
            <a:off x="566928" y="3321304"/>
            <a:ext cx="5879592" cy="201930"/>
          </a:xfrm>
          <a:prstGeom prst="rect">
            <a:avLst/>
          </a:prstGeom>
          <a:noFill/>
        </p:spPr>
        <p:txBody>
          <a:bodyPr wrap="square" lIns="0" rIns="0" tIns="0" bIns="0">
            <a:spAutoFit/>
          </a:bodyPr>
          <a:lstStyle/>
          <a:p>
            <a:pPr algn="r" rtl="1">
              <a:lnSpc>
                <a:spcPts val="1302"/>
              </a:lnSpc>
            </a:pPr>
            <a:r>
              <a:rPr sz="1050" b="0">
                <a:solidFill>
                  <a:srgbClr val="1CC182"/>
                </a:solidFill>
                <a:latin typeface="Diodrum Arabic SemiBold"/>
                <a:ea typeface="Diodrum Arabic SemiBold"/>
                <a:cs typeface="Diodrum Arabic SemiBold"/>
              </a:rPr>
              <a:t>السعر لا يرتبط بالملاءمة</a:t>
            </a:r>
          </a:p>
        </p:txBody>
      </p:sp>
      <p:sp>
        <p:nvSpPr>
          <p:cNvPr id="16" name="TextBox 15"/>
          <p:cNvSpPr txBox="1"/>
          <p:nvPr/>
        </p:nvSpPr>
        <p:spPr>
          <a:xfrm>
            <a:off x="566928" y="3532377"/>
            <a:ext cx="5879592" cy="356615"/>
          </a:xfrm>
          <a:prstGeom prst="rect">
            <a:avLst/>
          </a:prstGeom>
          <a:noFill/>
        </p:spPr>
        <p:txBody>
          <a:bodyPr wrap="square" lIns="0" rIns="0" tIns="0" bIns="0">
            <a:spAutoFit/>
          </a:bodyPr>
          <a:lstStyle/>
          <a:p>
            <a:pPr algn="r" rtl="1">
              <a:lnSpc>
                <a:spcPts val="1260"/>
              </a:lnSpc>
            </a:pPr>
            <a:r>
              <a:rPr sz="900" b="0">
                <a:solidFill>
                  <a:srgbClr val="474956"/>
                </a:solidFill>
                <a:latin typeface="Diodrum Arabic"/>
                <a:ea typeface="Diodrum Arabic"/>
                <a:cs typeface="Diodrum Arabic"/>
              </a:rPr>
              <a:t>أغلى صف في السجل شركاتي بحت (كامبريدج)، وأرخص الصفوف المدفوعة (إمبريال) أعمقها تطبيقاً. فالسعر إشارة علامة أكاديمية — لا مؤشر جودة حكومية.</a:t>
            </a:r>
          </a:p>
        </p:txBody>
      </p:sp>
      <p:sp>
        <p:nvSpPr>
          <p:cNvPr id="17" name="Rectangle 16"/>
          <p:cNvSpPr/>
          <p:nvPr/>
        </p:nvSpPr>
        <p:spPr>
          <a:xfrm>
            <a:off x="6949440" y="4007865"/>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017010"/>
            <a:ext cx="6199631" cy="211836"/>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وإذا كان هذا ما يبيعه السوق، فماذا فعلت الحكومات حين قررت تدريب قياداتها بدل انتظاره؟ التجارب الوطنية تالياً.</a:t>
            </a:r>
          </a:p>
        </p:txBody>
      </p:sp>
      <p:sp>
        <p:nvSpPr>
          <p:cNvPr id="19" name="Rectangle 18"/>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1" name="TextBox 20"/>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03 · 3.3  التجارب الحكومية الدولية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عشر تجارب: من الإلزام التشريعي إلى التكليف السيادي</a:t>
            </a:r>
          </a:p>
        </p:txBody>
      </p:sp>
      <p:sp>
        <p:nvSpPr>
          <p:cNvPr id="4" name="TextBox 3"/>
          <p:cNvSpPr txBox="1"/>
          <p:nvPr/>
        </p:nvSpPr>
        <p:spPr>
          <a:xfrm>
            <a:off x="566928" y="1111758"/>
            <a:ext cx="6428231" cy="374395"/>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خلال عامي 2025 و2026 انتقل تدريب القيادات الحكومية على الذكاء الاصطناعي في أكثر من عشر دول من النوايا إلى سياسات منظمة: برامج قائمة، وأفواج مدرَّبة، وأدوات إلزام صادرة، وتقييم تجريبي واحد بمجموعة ضابطة.</a:t>
            </a:r>
          </a:p>
        </p:txBody>
      </p:sp>
      <p:sp>
        <p:nvSpPr>
          <p:cNvPr id="5" name="Rectangle 4"/>
          <p:cNvSpPr/>
          <p:nvPr/>
        </p:nvSpPr>
        <p:spPr>
          <a:xfrm>
            <a:off x="6492240" y="154101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723898"/>
          <a:ext cx="6428229" cy="4954519"/>
        </p:xfrm>
        <a:graphic>
          <a:graphicData uri="http://schemas.openxmlformats.org/drawingml/2006/table">
            <a:tbl>
              <a:tblPr firstRow="1" bandRow="0" rtl="1"/>
              <a:tblGrid>
                <a:gridCol w="707105"/>
                <a:gridCol w="1478493"/>
                <a:gridCol w="1285646"/>
                <a:gridCol w="1349928"/>
                <a:gridCol w="1157081"/>
                <a:gridCol w="449976"/>
              </a:tblGrid>
              <a:tr h="245363">
                <a:tc>
                  <a:txBody>
                    <a:bodyPr wrap="square"/>
                    <a:lstStyle/>
                    <a:p>
                      <a:pPr algn="r" rtl="1">
                        <a:lnSpc>
                          <a:spcPts val="960"/>
                        </a:lnSpc>
                      </a:pPr>
                      <a:r>
                        <a:rPr sz="750" b="0">
                          <a:solidFill>
                            <a:srgbClr val="FFFFFF"/>
                          </a:solidFill>
                          <a:latin typeface="Diodrum Arabic SemiBold"/>
                          <a:ea typeface="Diodrum Arabic SemiBold"/>
                          <a:cs typeface="Diodrum Arabic SemiBold"/>
                        </a:rPr>
                        <a:t>الدولة</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النموذج</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المستوى المستهدف</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الآلية</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الحجم والحالة</a:t>
                      </a:r>
                    </a:p>
                  </a:txBody>
                  <a:tcPr marL="64008" marR="64008" marT="41148" marB="41148" anchor="ctr">
                    <a:solidFill>
                      <a:srgbClr val="241A5E"/>
                    </a:solidFill>
                  </a:tcPr>
                </a:tc>
                <a:tc>
                  <a:txBody>
                    <a:bodyPr wrap="square"/>
                    <a:lstStyle/>
                    <a:p>
                      <a:pPr algn="r" rtl="1">
                        <a:lnSpc>
                          <a:spcPts val="960"/>
                        </a:lnSpc>
                      </a:pPr>
                      <a:r>
                        <a:rPr sz="750" b="0">
                          <a:solidFill>
                            <a:srgbClr val="FFFFFF"/>
                          </a:solidFill>
                          <a:latin typeface="Diodrum Arabic SemiBold"/>
                          <a:ea typeface="Diodrum Arabic SemiBold"/>
                          <a:cs typeface="Diodrum Arabic SemiBold"/>
                        </a:rPr>
                        <a:t>مصدر</a:t>
                      </a:r>
                    </a:p>
                  </a:txBody>
                  <a:tcPr marL="64008" marR="64008" marT="41148" marB="41148" anchor="ctr">
                    <a:solidFill>
                      <a:srgbClr val="241A5E"/>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غانا</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معسكر وزاري إقامي ثلاثة أيام</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مجلس الوزراء كاملاً (المستوى 1)</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دعوة سيادية ومؤشرات أداء لكل وزارة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الحكومة كاملة عبر خمس مجموعات وزارية</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[31]</a:t>
                      </a:r>
                    </a:p>
                  </a:txBody>
                  <a:tcPr marL="64008" marR="64008" marT="41148" marB="41148" anchor="ctr">
                    <a:solidFill>
                      <a:srgbClr val="FFFFFF"/>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الإمارات</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برنامج وطني بخمسة مسارات ومنصة «جاهز»</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من الوزراء إلى المستجدين (المستويات 1–4)</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مقرر إلزامي على «جاهز» مربوط بهدف خدمي معلن</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هدف 80,000 موظف اتحادي (هدف لا إنجاز)</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[26] [27]</a:t>
                      </a:r>
                    </a:p>
                  </a:txBody>
                  <a:tcPr marL="64008" marR="64008" marT="41148" marB="41148" anchor="ctr">
                    <a:solidFill>
                      <a:srgbClr val="F4F4F9"/>
                    </a:solidFill>
                  </a:tcPr>
                </a:tc>
              </a:tr>
              <a:tr h="629412">
                <a:tc>
                  <a:txBody>
                    <a:bodyPr wrap="square"/>
                    <a:lstStyle/>
                    <a:p>
                      <a:pPr algn="r" rtl="1">
                        <a:lnSpc>
                          <a:spcPts val="960"/>
                        </a:lnSpc>
                      </a:pPr>
                      <a:r>
                        <a:rPr sz="750" b="0">
                          <a:solidFill>
                            <a:srgbClr val="232046"/>
                          </a:solidFill>
                          <a:latin typeface="Diodrum Arabic SemiBold"/>
                          <a:ea typeface="Diodrum Arabic SemiBold"/>
                          <a:cs typeface="Diodrum Arabic SemiBold"/>
                        </a:rPr>
                        <a:t>بريطانيا</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برنامج التميز الرقمي وحملة «شيء واحد كبير»</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الخدمة المدنية العليا (نحو 7,000) وعموم الموظفين</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تطوعي (شراء الإدارات للتراخيص)</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نحو 2,500 ترخيص حتى سبتمبر 2024؛ تقييم مستقل غير حاسم</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[30] [40]</a:t>
                      </a:r>
                    </a:p>
                  </a:txBody>
                  <a:tcPr marL="64008" marR="64008" marT="41148" marB="41148" anchor="ctr">
                    <a:solidFill>
                      <a:srgbClr val="FFFFFF"/>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الهند</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منصة iGOT الوطنية مربوطة بالتقييم السنوي</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عموم الموظفين المركزيين وضباط الخدمات</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إلزام يُقيد في التقييم السنوي من سنة 2025–2026</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218 مقرراً؛ أكثر من 73 مليون تسجيل</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[41]</a:t>
                      </a:r>
                    </a:p>
                  </a:txBody>
                  <a:tcPr marL="64008" marR="64008" marT="41148" marB="41148" anchor="ctr">
                    <a:solidFill>
                      <a:srgbClr val="F4F4F9"/>
                    </a:solidFill>
                  </a:tcPr>
                </a:tc>
              </a:tr>
              <a:tr h="385571">
                <a:tc>
                  <a:txBody>
                    <a:bodyPr wrap="square"/>
                    <a:lstStyle/>
                    <a:p>
                      <a:pPr algn="r" rtl="1">
                        <a:lnSpc>
                          <a:spcPts val="960"/>
                        </a:lnSpc>
                      </a:pPr>
                      <a:r>
                        <a:rPr sz="750" b="0">
                          <a:solidFill>
                            <a:srgbClr val="232046"/>
                          </a:solidFill>
                          <a:latin typeface="Diodrum Arabic SemiBold"/>
                          <a:ea typeface="Diodrum Arabic SemiBold"/>
                          <a:cs typeface="Diodrum Arabic SemiBold"/>
                        </a:rPr>
                        <a:t>كازاخستان</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فيلق «مسؤولي الذكاء الاصطناعي 500»</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نواب الوزراء ونواب الحكام (المستوى 2)</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تكليف رئاسي</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فوج أول من 100 في طريقه إلى 500</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[42]</a:t>
                      </a:r>
                    </a:p>
                  </a:txBody>
                  <a:tcPr marL="64008" marR="64008" marT="41148" marB="41148" anchor="ctr">
                    <a:solidFill>
                      <a:srgbClr val="FFFFFF"/>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مصر</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مبادرة «الذكاء الاصطناعي لقادة الجهات الحكومية» بالعربية</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قيادات عليا للجهات (المستويان 2–3)</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تقييم قبلي وبعدي ومشاريع ختامية</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غير معلن</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[43]</a:t>
                      </a:r>
                    </a:p>
                  </a:txBody>
                  <a:tcPr marL="64008" marR="64008" marT="41148" marB="41148" anchor="ctr">
                    <a:solidFill>
                      <a:srgbClr val="F4F4F9"/>
                    </a:solidFill>
                  </a:tcPr>
                </a:tc>
              </a:tr>
              <a:tr h="385571">
                <a:tc>
                  <a:txBody>
                    <a:bodyPr wrap="square"/>
                    <a:lstStyle/>
                    <a:p>
                      <a:pPr algn="r" rtl="1">
                        <a:lnSpc>
                          <a:spcPts val="960"/>
                        </a:lnSpc>
                      </a:pPr>
                      <a:r>
                        <a:rPr sz="750" b="0">
                          <a:solidFill>
                            <a:srgbClr val="232046"/>
                          </a:solidFill>
                          <a:latin typeface="Diodrum Arabic SemiBold"/>
                          <a:ea typeface="Diodrum Arabic SemiBold"/>
                          <a:cs typeface="Diodrum Arabic SemiBold"/>
                        </a:rPr>
                        <a:t>سنغافورة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معهد الحكومة الرقمية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أكثر من 150,000 موظف وقيادات عليا</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وحدات تأسيسية إلزامية (عند الإطلاق)</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معلَن في مارس 2026 ولم يبدأ</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[29]</a:t>
                      </a:r>
                    </a:p>
                  </a:txBody>
                  <a:tcPr marL="64008" marR="64008" marT="41148" marB="41148" anchor="ctr">
                    <a:solidFill>
                      <a:srgbClr val="FFFFFF"/>
                    </a:solidFill>
                  </a:tcPr>
                </a:tc>
              </a:tr>
              <a:tr h="385571">
                <a:tc>
                  <a:txBody>
                    <a:bodyPr wrap="square"/>
                    <a:lstStyle/>
                    <a:p>
                      <a:pPr algn="r" rtl="1">
                        <a:lnSpc>
                          <a:spcPts val="960"/>
                        </a:lnSpc>
                      </a:pPr>
                      <a:r>
                        <a:rPr sz="750" b="0">
                          <a:solidFill>
                            <a:srgbClr val="232046"/>
                          </a:solidFill>
                          <a:latin typeface="Diodrum Arabic SemiBold"/>
                          <a:ea typeface="Diodrum Arabic SemiBold"/>
                          <a:cs typeface="Diodrum Arabic SemiBold"/>
                        </a:rPr>
                        <a:t>أستراليا</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وحدة إلزامية ومسؤولو ذكاء اصطناعي ومسار قيادات عليا</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185,000 موظف وقيادات عليا</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مواعيد إلزامية (أولها 15 يونيو 2026)</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185,000 موظف</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[44]</a:t>
                      </a:r>
                    </a:p>
                  </a:txBody>
                  <a:tcPr marL="64008" marR="64008" marT="41148" marB="41148" anchor="ctr">
                    <a:solidFill>
                      <a:srgbClr val="F4F4F9"/>
                    </a:solidFill>
                  </a:tcPr>
                </a:tc>
              </a:tr>
              <a:tr h="385571">
                <a:tc>
                  <a:txBody>
                    <a:bodyPr wrap="square"/>
                    <a:lstStyle/>
                    <a:p>
                      <a:pPr algn="r" rtl="1">
                        <a:lnSpc>
                          <a:spcPts val="960"/>
                        </a:lnSpc>
                      </a:pPr>
                      <a:r>
                        <a:rPr sz="750" b="0">
                          <a:solidFill>
                            <a:srgbClr val="232046"/>
                          </a:solidFill>
                          <a:latin typeface="Diodrum Arabic SemiBold"/>
                          <a:ea typeface="Diodrum Arabic SemiBold"/>
                          <a:cs typeface="Diodrum Arabic SemiBold"/>
                        </a:rPr>
                        <a:t>فرنسا</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منصة Pix للوظيفة العامة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عموم موظفي الدولة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تقييم وتدريب واسع النطاق عبر المنصة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طموح 100,000 موظف خلال 2025</a:t>
                      </a:r>
                    </a:p>
                  </a:txBody>
                  <a:tcPr marL="64008" marR="64008" marT="41148" marB="41148" anchor="ctr">
                    <a:solidFill>
                      <a:srgbClr val="FFFFFF"/>
                    </a:solidFill>
                  </a:tcPr>
                </a:tc>
                <a:tc>
                  <a:txBody>
                    <a:bodyPr wrap="square"/>
                    <a:lstStyle/>
                    <a:p>
                      <a:pPr algn="ctr" rtl="1">
                        <a:lnSpc>
                          <a:spcPts val="896"/>
                        </a:lnSpc>
                      </a:pPr>
                      <a:r>
                        <a:rPr sz="700" b="0">
                          <a:solidFill>
                            <a:srgbClr val="00ABAF"/>
                          </a:solidFill>
                          <a:latin typeface="Diodrum Arabic"/>
                          <a:ea typeface="Diodrum Arabic"/>
                          <a:cs typeface="Diodrum Arabic"/>
                        </a:rPr>
                        <a:t>[45]</a:t>
                      </a:r>
                    </a:p>
                  </a:txBody>
                  <a:tcPr marL="64008" marR="64008" marT="41148" marB="41148" anchor="ctr">
                    <a:solidFill>
                      <a:srgbClr val="FFFFFF"/>
                    </a:solidFill>
                  </a:tcPr>
                </a:tc>
              </a:tr>
              <a:tr h="507492">
                <a:tc>
                  <a:txBody>
                    <a:bodyPr wrap="square"/>
                    <a:lstStyle/>
                    <a:p>
                      <a:pPr algn="r" rtl="1">
                        <a:lnSpc>
                          <a:spcPts val="960"/>
                        </a:lnSpc>
                      </a:pPr>
                      <a:r>
                        <a:rPr sz="750" b="0">
                          <a:solidFill>
                            <a:srgbClr val="232046"/>
                          </a:solidFill>
                          <a:latin typeface="Diodrum Arabic SemiBold"/>
                          <a:ea typeface="Diodrum Arabic SemiBold"/>
                          <a:cs typeface="Diodrum Arabic SemiBold"/>
                        </a:rPr>
                        <a:t>الاتحاد الأوروبي</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المادة 4 من قانون الذكاء الاصطناعي</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كل من ينشر أو يشغّل الأنظمة، بما فيها الجهات العامة</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إلزام تنظيمي نافذ من 2 فبراير 2025</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جميع الدول الأعضاء</a:t>
                      </a:r>
                    </a:p>
                  </a:txBody>
                  <a:tcPr marL="64008" marR="64008" marT="41148" marB="41148" anchor="ctr">
                    <a:solidFill>
                      <a:srgbClr val="F4F4F9"/>
                    </a:solidFill>
                  </a:tcPr>
                </a:tc>
                <a:tc>
                  <a:txBody>
                    <a:bodyPr wrap="square"/>
                    <a:lstStyle/>
                    <a:p>
                      <a:pPr algn="ctr" rtl="1">
                        <a:lnSpc>
                          <a:spcPts val="896"/>
                        </a:lnSpc>
                      </a:pPr>
                      <a:r>
                        <a:rPr sz="700" b="0">
                          <a:solidFill>
                            <a:srgbClr val="00ABAF"/>
                          </a:solidFill>
                          <a:latin typeface="Diodrum Arabic"/>
                          <a:ea typeface="Diodrum Arabic"/>
                          <a:cs typeface="Diodrum Arabic"/>
                        </a:rPr>
                        <a:t>[46]</a:t>
                      </a:r>
                    </a:p>
                  </a:txBody>
                  <a:tcPr marL="64008" marR="64008" marT="41148" marB="41148" anchor="ctr">
                    <a:solidFill>
                      <a:srgbClr val="F4F4F9"/>
                    </a:solidFill>
                  </a:tcPr>
                </a:tc>
              </a:tr>
            </a:tbl>
          </a:graphicData>
        </a:graphic>
      </p:graphicFrame>
      <p:sp>
        <p:nvSpPr>
          <p:cNvPr id="7" name="TextBox 6"/>
          <p:cNvSpPr txBox="1"/>
          <p:nvPr/>
        </p:nvSpPr>
        <p:spPr>
          <a:xfrm>
            <a:off x="566928" y="6824726"/>
            <a:ext cx="6428231" cy="321056"/>
          </a:xfrm>
          <a:prstGeom prst="rect">
            <a:avLst/>
          </a:prstGeom>
          <a:noFill/>
        </p:spPr>
        <p:txBody>
          <a:bodyPr wrap="square" lIns="0" rIns="0" tIns="0" bIns="0">
            <a:spAutoFit/>
          </a:bodyPr>
          <a:lstStyle/>
          <a:p>
            <a:pPr algn="r" rtl="1">
              <a:lnSpc>
                <a:spcPts val="1120"/>
              </a:lnSpc>
            </a:pPr>
            <a:r>
              <a:rPr sz="800" b="0">
                <a:solidFill>
                  <a:srgbClr val="6E7077"/>
                </a:solidFill>
                <a:latin typeface="Diodrum Arabic"/>
                <a:ea typeface="Diodrum Arabic"/>
                <a:cs typeface="Diodrum Arabic"/>
              </a:rPr>
              <a:t>ملاحظتان بنيويتان: كل تجربة عبرت عتبة المستويين الأول والثاني جاءت بصيغة سيادية مغلقة لا بمنتج مشترى؛ ودليل الأثر ضعيف في الجميع، ولا يرتقي إلى تقييم مستقل إلا في الحالة البريطانية التجريبية التي وصفها مُقيّمها بغير الحاسمة.</a:t>
            </a:r>
          </a:p>
        </p:txBody>
      </p:sp>
      <p:sp>
        <p:nvSpPr>
          <p:cNvPr id="8" name="Rectangle 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10" name="TextBox 9"/>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03 · 3.3  الصيغ التي بلغت القمة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غانا والإمارات وبريطانيا</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أوضح حالة وزارية مغلقة، والنموذج الوطني المتسلسل في المنطقة، وأقوى دليل تقييمي في الدراسة.</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554988"/>
            <a:ext cx="6428231"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01383" y="1701292"/>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20163"/>
            <a:ext cx="6135623"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غانا — صيغة وزارية مغلقة  ·  منفَّذ</a:t>
            </a:r>
          </a:p>
        </p:txBody>
      </p:sp>
      <p:sp>
        <p:nvSpPr>
          <p:cNvPr id="9" name="TextBox 8"/>
          <p:cNvSpPr txBox="1"/>
          <p:nvPr/>
        </p:nvSpPr>
        <p:spPr>
          <a:xfrm>
            <a:off x="713232" y="2046858"/>
            <a:ext cx="6135623" cy="483488"/>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برنامج سكني لثلاثة أيام، من 25 إلى 27 يوليو 2025، جمع وزراء المجموعات الوزارية الخمس كافة مع نقطة اتصال مسماة من كل وزارة — وكان الخروج منه مشروطاً بمخرجات استخدام ومؤشرات أداء لكل وزارة [31]. ودلالته للمملكة: الوزير يُدرَّب حين يكون مؤشر الأداء باسمه، لا حين تتاح له مقررات عامة.</a:t>
            </a:r>
          </a:p>
        </p:txBody>
      </p:sp>
      <p:sp>
        <p:nvSpPr>
          <p:cNvPr id="10" name="Rounded Rectangle 9"/>
          <p:cNvSpPr/>
          <p:nvPr/>
        </p:nvSpPr>
        <p:spPr>
          <a:xfrm>
            <a:off x="566928" y="2786380"/>
            <a:ext cx="6428231"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01383" y="2932684"/>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051556"/>
            <a:ext cx="6135623" cy="199263"/>
          </a:xfrm>
          <a:prstGeom prst="rect">
            <a:avLst/>
          </a:prstGeom>
          <a:noFill/>
        </p:spPr>
        <p:txBody>
          <a:bodyPr wrap="square" lIns="0" rIns="0" tIns="0" bIns="0">
            <a:spAutoFit/>
          </a:bodyPr>
          <a:lstStyle/>
          <a:p>
            <a:pPr algn="r" rtl="1">
              <a:lnSpc>
                <a:spcPts val="1281"/>
              </a:lnSpc>
            </a:pPr>
            <a:r>
              <a:rPr sz="1050" b="0">
                <a:solidFill>
                  <a:srgbClr val="2A206A"/>
                </a:solidFill>
                <a:latin typeface="Diodrum Arabic SemiBold"/>
                <a:ea typeface="Diodrum Arabic SemiBold"/>
                <a:cs typeface="Diodrum Arabic SemiBold"/>
              </a:rPr>
              <a:t>الإمارات — نموذج وطني متعدد المسارات  ·  هدف معلن</a:t>
            </a:r>
          </a:p>
        </p:txBody>
      </p:sp>
      <p:sp>
        <p:nvSpPr>
          <p:cNvPr id="13" name="TextBox 12"/>
          <p:cNvSpPr txBox="1"/>
          <p:nvPr/>
        </p:nvSpPr>
        <p:spPr>
          <a:xfrm>
            <a:off x="713232" y="3278250"/>
            <a:ext cx="6135623" cy="781430"/>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بنية تفويض متسلسلة: موافقة مجلس الوزراء في 18 مايو 2026 على هدف تدريبي قدره 80,000 موظف اتحادي — هدف لا رقم إنجاز — بخمسة مسارات يقودها وزراء [26]؛ فشراكة معرفية مع جامعة محمد بن زايد في 21 مايو 2026 [27]؛ وملتقى في 20 مايو 2026 جمع أكثر من 400 وزير ومسؤول اتحادي برئاسة رئيس الحكومة [28]؛ وبرنامج تنفيذي لمسؤولي الذكاء الاصطناعي الرئيسيين عقب استحداث الدور بقرار من مجلس الوزراء [47]؛ ومقرر إلزامي لعموم الموظفين الاتحاديين عبر منصة «جاهز» [48]. وأبرز ما فيه: ربط التدريب بهدف تشغيلي معلن، واستحداث الدور القيادي قبل تدريب شاغله.</a:t>
            </a:r>
          </a:p>
        </p:txBody>
      </p:sp>
      <p:sp>
        <p:nvSpPr>
          <p:cNvPr id="14" name="Rounded Rectangle 13"/>
          <p:cNvSpPr/>
          <p:nvPr/>
        </p:nvSpPr>
        <p:spPr>
          <a:xfrm>
            <a:off x="566928" y="4315714"/>
            <a:ext cx="6428231" cy="1234058"/>
          </a:xfrm>
          <a:prstGeom prst="roundRect">
            <a:avLst>
              <a:gd name="adj" fmla="val 666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01383" y="4462018"/>
            <a:ext cx="347472" cy="45720"/>
          </a:xfrm>
          <a:prstGeom prst="rect">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580890"/>
            <a:ext cx="6135623" cy="199263"/>
          </a:xfrm>
          <a:prstGeom prst="rect">
            <a:avLst/>
          </a:prstGeom>
          <a:noFill/>
        </p:spPr>
        <p:txBody>
          <a:bodyPr wrap="square" lIns="0" rIns="0" tIns="0" bIns="0">
            <a:spAutoFit/>
          </a:bodyPr>
          <a:lstStyle/>
          <a:p>
            <a:pPr algn="r" rtl="1">
              <a:lnSpc>
                <a:spcPts val="1281"/>
              </a:lnSpc>
            </a:pPr>
            <a:r>
              <a:rPr sz="1050" b="0">
                <a:solidFill>
                  <a:srgbClr val="2D9CDB"/>
                </a:solidFill>
                <a:latin typeface="Diodrum Arabic SemiBold"/>
                <a:ea typeface="Diodrum Arabic SemiBold"/>
                <a:cs typeface="Diodrum Arabic SemiBold"/>
              </a:rPr>
              <a:t>بريطانيا — برنامج للقيادات العليا مع تقييم تجريبي  ·  تقييم مستقل</a:t>
            </a:r>
          </a:p>
        </p:txBody>
      </p:sp>
      <p:sp>
        <p:nvSpPr>
          <p:cNvPr id="17" name="TextBox 16"/>
          <p:cNvSpPr txBox="1"/>
          <p:nvPr/>
        </p:nvSpPr>
        <p:spPr>
          <a:xfrm>
            <a:off x="713232" y="4807585"/>
            <a:ext cx="6135623" cy="632460"/>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يستهدف برنامج التميز الرقمي الخدمة المدنية العليا؛ وبلغت التراخيص المشتراة نحو 2,500 من نحو 7,000 حتى سبتمبر 2024 [30]. وكلّف مكتب مجلس الوزراء أول تقييم تجريبي بمجموعة ضابطة لدورة تدريبية في تاريخ الخدمة المدنية: «دليل واعد» على تحسن سلوك مُبلَّغ عنه ذاتياً، ووصفه مُقيّمه بغير الحاسم [40]. وتكمله حملة «شيء واحد كبير» التي بلغت 212,000 موظف مع مسار للقيادات العليا في نسخة «الذكاء الاصطناعي للجميع» [49]. وهي النموذج التطوعي الأوضح — وصاحبة أقوى دليل تقييمي في الدراسة مع بقائه غير حاسم.</a:t>
            </a:r>
          </a:p>
        </p:txBody>
      </p:sp>
      <p:sp>
        <p:nvSpPr>
          <p:cNvPr id="18" name="Rectangle 1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0" name="TextBox 19"/>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03 · 3.3  أنماط الربط والإلزام</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الهند وكازاخستان ومصر وسنغافورة — وتصاعد أدوات الربط</a:t>
            </a:r>
          </a:p>
        </p:txBody>
      </p:sp>
      <p:sp>
        <p:nvSpPr>
          <p:cNvPr id="4" name="Rounded Rectangle 3"/>
          <p:cNvSpPr/>
          <p:nvPr/>
        </p:nvSpPr>
        <p:spPr>
          <a:xfrm>
            <a:off x="3854196" y="1111758"/>
            <a:ext cx="3140963" cy="1479423"/>
          </a:xfrm>
          <a:prstGeom prst="roundRect">
            <a:avLst>
              <a:gd name="adj" fmla="val 556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01383" y="125806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00500" y="1376934"/>
            <a:ext cx="2848356" cy="199263"/>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الهند — تعلم مربوط بالتقييم</a:t>
            </a:r>
          </a:p>
        </p:txBody>
      </p:sp>
      <p:sp>
        <p:nvSpPr>
          <p:cNvPr id="7" name="TextBox 6"/>
          <p:cNvSpPr txBox="1"/>
          <p:nvPr/>
        </p:nvSpPr>
        <p:spPr>
          <a:xfrm>
            <a:off x="4000500" y="1603629"/>
            <a:ext cx="2848356" cy="877824"/>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من سنة التقييم 2025–2026 صار إتمام مقررات منصة iGOT إلزامياً لموظفي الحكومة المركزية وضباط الخدمات، ويُقيد حرفياً في تقارير التقييم السنوي (APAR)، بحسب إجابات برلمانية مكتوبة أمام لوك سابها في أغسطس 2026 [41]. 218 مقرراً وأكثر من 73 مليون تسجيل — غير أن حجم التسجيل ليس دليل قدرة بلا تقييم أثر منشور.</a:t>
            </a:r>
          </a:p>
        </p:txBody>
      </p:sp>
      <p:sp>
        <p:nvSpPr>
          <p:cNvPr id="8" name="Rounded Rectangle 7"/>
          <p:cNvSpPr/>
          <p:nvPr/>
        </p:nvSpPr>
        <p:spPr>
          <a:xfrm>
            <a:off x="566928" y="1111758"/>
            <a:ext cx="3140963" cy="1479423"/>
          </a:xfrm>
          <a:prstGeom prst="roundRect">
            <a:avLst>
              <a:gd name="adj" fmla="val 556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14115" y="125806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376934"/>
            <a:ext cx="2848356"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كازاخستان — استهداف المستوى الثاني</a:t>
            </a:r>
          </a:p>
        </p:txBody>
      </p:sp>
      <p:sp>
        <p:nvSpPr>
          <p:cNvPr id="11" name="TextBox 10"/>
          <p:cNvSpPr txBox="1"/>
          <p:nvPr/>
        </p:nvSpPr>
        <p:spPr>
          <a:xfrm>
            <a:off x="713232" y="1603629"/>
            <a:ext cx="2848356" cy="737616"/>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«حوكمة الذكاء الاصطناعي 500»، أُطلق في يناير 2026 عبر أكاديمية الإدارة العامة التابعة لرئاسة الجمهورية: فوج أول من 100 مسؤول من نواب الوزراء ونواب الحكام، في طريقه إلى فيلق مسمّى قوامه 500 «مسؤول ذكاء اصطناعي» [42] — أقرب نظير هيكلي لفكرة فيلق سعودي مسمّى ومُساءل.</a:t>
            </a:r>
          </a:p>
        </p:txBody>
      </p:sp>
      <p:sp>
        <p:nvSpPr>
          <p:cNvPr id="12" name="Rounded Rectangle 11"/>
          <p:cNvSpPr/>
          <p:nvPr/>
        </p:nvSpPr>
        <p:spPr>
          <a:xfrm>
            <a:off x="3854196" y="2737485"/>
            <a:ext cx="3140963" cy="1199007"/>
          </a:xfrm>
          <a:prstGeom prst="roundRect">
            <a:avLst>
              <a:gd name="adj" fmla="val 686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01383" y="2883789"/>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00500" y="3002661"/>
            <a:ext cx="2848356"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مصر — برنامج عربي اللغة</a:t>
            </a:r>
          </a:p>
        </p:txBody>
      </p:sp>
      <p:sp>
        <p:nvSpPr>
          <p:cNvPr id="15" name="TextBox 14"/>
          <p:cNvSpPr txBox="1"/>
          <p:nvPr/>
        </p:nvSpPr>
        <p:spPr>
          <a:xfrm>
            <a:off x="4000500" y="3229355"/>
            <a:ext cx="2848356" cy="597408"/>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أُطلقت في يونيو 2026 مبادرة عربية اللغة للقيادات العليا في الجهات الحكومية، بالشراكة بين وزارة الاتصالات والأكاديمية الوطنية للتدريب، بتقييم قبلي وبعدي ومشاريع ختامية [43] — وهي أقرب المقارنات ثقافياً ولغوياً للحالة السعودية.</a:t>
            </a:r>
          </a:p>
        </p:txBody>
      </p:sp>
      <p:sp>
        <p:nvSpPr>
          <p:cNvPr id="16" name="Rounded Rectangle 15"/>
          <p:cNvSpPr/>
          <p:nvPr/>
        </p:nvSpPr>
        <p:spPr>
          <a:xfrm>
            <a:off x="566928" y="2737485"/>
            <a:ext cx="3140963" cy="1199007"/>
          </a:xfrm>
          <a:prstGeom prst="roundRect">
            <a:avLst>
              <a:gd name="adj" fmla="val 686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14115" y="2883789"/>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002661"/>
            <a:ext cx="2848356" cy="199263"/>
          </a:xfrm>
          <a:prstGeom prst="rect">
            <a:avLst/>
          </a:prstGeom>
          <a:noFill/>
        </p:spPr>
        <p:txBody>
          <a:bodyPr wrap="square" lIns="0" rIns="0" tIns="0" bIns="0">
            <a:spAutoFit/>
          </a:bodyPr>
          <a:lstStyle/>
          <a:p>
            <a:pPr algn="r" rtl="1">
              <a:lnSpc>
                <a:spcPts val="1281"/>
              </a:lnSpc>
            </a:pPr>
            <a:r>
              <a:rPr sz="1050" b="0">
                <a:solidFill>
                  <a:srgbClr val="2A206A"/>
                </a:solidFill>
                <a:latin typeface="Diodrum Arabic SemiBold"/>
                <a:ea typeface="Diodrum Arabic SemiBold"/>
                <a:cs typeface="Diodrum Arabic SemiBold"/>
              </a:rPr>
              <a:t>سنغافورة — معلَن ولم يبدأ</a:t>
            </a:r>
          </a:p>
        </p:txBody>
      </p:sp>
      <p:sp>
        <p:nvSpPr>
          <p:cNvPr id="19" name="TextBox 18"/>
          <p:cNvSpPr txBox="1"/>
          <p:nvPr/>
        </p:nvSpPr>
        <p:spPr>
          <a:xfrm>
            <a:off x="713232" y="3229355"/>
            <a:ext cx="2848356" cy="597408"/>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معهد الحكومة الرقمية، المعلن في 2 مارس 2026، سيدرب أكثر من 150,000 موظف بوحدات تأسيسية إلزامية، بملكية مشتركة بين وزارة التنمية الرقمية والإعلام وكلية الخدمة المدنية [29]. وحتى تاريخ المراجعة لم يبدأ التشغيل، فلا يُحتج به نموذجاً عاملاً.</a:t>
            </a:r>
          </a:p>
        </p:txBody>
      </p:sp>
      <p:sp>
        <p:nvSpPr>
          <p:cNvPr id="20" name="Rounded Rectangle 19"/>
          <p:cNvSpPr/>
          <p:nvPr/>
        </p:nvSpPr>
        <p:spPr>
          <a:xfrm>
            <a:off x="566928" y="4119372"/>
            <a:ext cx="6428231" cy="1232344"/>
          </a:xfrm>
          <a:prstGeom prst="roundRect">
            <a:avLst>
              <a:gd name="adj" fmla="val 6678"/>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283964"/>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التوسع والإلزام — أستراليا وفرنسا والاتحاد الأوروبي ورواندا</a:t>
            </a:r>
          </a:p>
        </p:txBody>
      </p:sp>
      <p:sp>
        <p:nvSpPr>
          <p:cNvPr id="22" name="TextBox 21"/>
          <p:cNvSpPr txBox="1"/>
          <p:nvPr/>
        </p:nvSpPr>
        <p:spPr>
          <a:xfrm>
            <a:off x="731520" y="4493514"/>
            <a:ext cx="6099047" cy="685800"/>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جمعت أستراليا وحدة إلزامية لـ185,000 موظف، ومسؤولي ذكاء اصطناعي رئيسيين في كل جهة، ومساراً للقيادات العليا، بمواعيد إلزامية أولها 15 يونيو 2026 [44]. وأطلقت فرنسا منصة Pix للوظيفة العامة بطموح 100,000 موظف خلال 2025 [45]. وجعلت المادة 4 من قانون الذكاء الاصطناعي الأوروبي الإلمام التزاماً قانونياً نافذاً من 2 فبراير 2025 على الناشرين والمشغّلين بمن فيهم الجهات العامة [46]. وتنضم رواندا بإلزام عام لموظفي الخدمة المدنية صدر في يناير 2026 [50].</a:t>
            </a:r>
          </a:p>
        </p:txBody>
      </p:sp>
      <p:sp>
        <p:nvSpPr>
          <p:cNvPr id="23" name="TextBox 22"/>
          <p:cNvSpPr txBox="1"/>
          <p:nvPr/>
        </p:nvSpPr>
        <p:spPr>
          <a:xfrm>
            <a:off x="566928" y="5516308"/>
            <a:ext cx="6428231" cy="523494"/>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تتصاعد أدوات الربط — من التشريع الملزم (الاتحاد الأوروبي)، إلى القيد في التقييم الوظيفي (الهند)، إلى التكليف السياسي المباشر (كازاخستان والإمارات) — وقد سبقت أدوارُ المساءلة التدريبَ في الإمارات وأستراليا وكازاخستان. ولم تنشر أي من هذه الدول أدلة أثر على جودة القرار أو الأداء المؤسسي [51].</a:t>
            </a:r>
          </a:p>
        </p:txBody>
      </p:sp>
      <p:sp>
        <p:nvSpPr>
          <p:cNvPr id="24" name="Rectangle 23"/>
          <p:cNvSpPr/>
          <p:nvPr/>
        </p:nvSpPr>
        <p:spPr>
          <a:xfrm>
            <a:off x="6949440" y="6149530"/>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158674"/>
            <a:ext cx="6199631" cy="211836"/>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وبعد صورة العالم، يقتضي إنصاف المقارنة أن نسأل: ما الذي تملكه المملكة اليوم فعلاً من قدرات؟</a:t>
            </a:r>
          </a:p>
        </p:txBody>
      </p:sp>
      <p:sp>
        <p:nvSpPr>
          <p:cNvPr id="26" name="Rectangle 25"/>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8" name="TextBox 27"/>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03 · 3.4  القدرات المتاحة داخل المملكة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مكونات حقيقية — لم تُجمَّع بعد في برنامج واحد متدرج</a:t>
            </a:r>
          </a:p>
        </p:txBody>
      </p:sp>
      <p:sp>
        <p:nvSpPr>
          <p:cNvPr id="4" name="Rounded Rectangle 3"/>
          <p:cNvSpPr/>
          <p:nvPr/>
        </p:nvSpPr>
        <p:spPr>
          <a:xfrm>
            <a:off x="3854196" y="1111758"/>
            <a:ext cx="3140963" cy="1361693"/>
          </a:xfrm>
          <a:prstGeom prst="roundRect">
            <a:avLst>
              <a:gd name="adj" fmla="val 604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01383" y="125806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00500" y="1376934"/>
            <a:ext cx="2848356" cy="199263"/>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«سدايا» — قدرة مثبتة بالأرقام</a:t>
            </a:r>
          </a:p>
        </p:txBody>
      </p:sp>
      <p:sp>
        <p:nvSpPr>
          <p:cNvPr id="7" name="TextBox 6"/>
          <p:cNvSpPr txBox="1"/>
          <p:nvPr/>
        </p:nvSpPr>
        <p:spPr>
          <a:xfrm>
            <a:off x="4000500" y="1603629"/>
            <a:ext cx="2848356" cy="597408"/>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أكثر من 278 قائداً حكومياً مدرَّباً في البيانات والذكاء الاصطناعي حتى يونيو 2026، ارتفاعاً من نحو 80 بنهاية 2024، ضمن قاعدة مستفيدين تجاوزت 1,563,983 [52][53]. ولا توضح المعلومات المنشورة توزيع المشاركين على المستويات الأربعة ولا تفاصيل المناهج والقياس.</a:t>
            </a:r>
          </a:p>
        </p:txBody>
      </p:sp>
      <p:sp>
        <p:nvSpPr>
          <p:cNvPr id="8" name="Rounded Rectangle 7"/>
          <p:cNvSpPr/>
          <p:nvPr/>
        </p:nvSpPr>
        <p:spPr>
          <a:xfrm>
            <a:off x="566928" y="1111758"/>
            <a:ext cx="3140963" cy="1361693"/>
          </a:xfrm>
          <a:prstGeom prst="roundRect">
            <a:avLst>
              <a:gd name="adj" fmla="val 604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14115" y="125806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376934"/>
            <a:ext cx="2848356" cy="361950"/>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«قدراتك» — قاعدة مناسبة تحتاج محتوى متخصصاً</a:t>
            </a:r>
          </a:p>
        </p:txBody>
      </p:sp>
      <p:sp>
        <p:nvSpPr>
          <p:cNvPr id="11" name="TextBox 10"/>
          <p:cNvSpPr txBox="1"/>
          <p:nvPr/>
        </p:nvSpPr>
        <p:spPr>
          <a:xfrm>
            <a:off x="713232" y="1766316"/>
            <a:ext cx="2848356" cy="597408"/>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مسار للقيادة الرقمية بسبعة تخصصات وشراكات أكاديمية موثقة مع هارفارد وبيركلي وإمبريال وكولومبيا [54]. والمسار كما هو موثق يعالج القيادة الرقمية — لا قرارات الذكاء الاصطناعي تحديداً؛ والمطلوب: محتوى قرارات، وحالات سعودية، وقياس موحد.</a:t>
            </a:r>
          </a:p>
        </p:txBody>
      </p:sp>
      <p:sp>
        <p:nvSpPr>
          <p:cNvPr id="12" name="Rounded Rectangle 11"/>
          <p:cNvSpPr/>
          <p:nvPr/>
        </p:nvSpPr>
        <p:spPr>
          <a:xfrm>
            <a:off x="3854196" y="2619756"/>
            <a:ext cx="3140963" cy="1479423"/>
          </a:xfrm>
          <a:prstGeom prst="roundRect">
            <a:avLst>
              <a:gd name="adj" fmla="val 556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01383" y="2766060"/>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00500" y="2884932"/>
            <a:ext cx="2848356" cy="199263"/>
          </a:xfrm>
          <a:prstGeom prst="rect">
            <a:avLst/>
          </a:prstGeom>
          <a:noFill/>
        </p:spPr>
        <p:txBody>
          <a:bodyPr wrap="square" lIns="0" rIns="0" tIns="0" bIns="0">
            <a:spAutoFit/>
          </a:bodyPr>
          <a:lstStyle/>
          <a:p>
            <a:pPr algn="r" rtl="1">
              <a:lnSpc>
                <a:spcPts val="1281"/>
              </a:lnSpc>
            </a:pPr>
            <a:r>
              <a:rPr sz="1050" b="0">
                <a:solidFill>
                  <a:srgbClr val="2A206A"/>
                </a:solidFill>
                <a:latin typeface="Diodrum Arabic SemiBold"/>
                <a:ea typeface="Diodrum Arabic SemiBold"/>
                <a:cs typeface="Diodrum Arabic SemiBold"/>
              </a:rPr>
              <a:t>المشاركة في ستانفورد — طلب مثبت</a:t>
            </a:r>
          </a:p>
        </p:txBody>
      </p:sp>
      <p:sp>
        <p:nvSpPr>
          <p:cNvPr id="15" name="TextBox 14"/>
          <p:cNvSpPr txBox="1"/>
          <p:nvPr/>
        </p:nvSpPr>
        <p:spPr>
          <a:xfrm>
            <a:off x="4000500" y="3111626"/>
            <a:ext cx="2848356" cy="737616"/>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في نوفمبر 2025 شارك وفد سعودي ضم وزراء وكبار مسؤولين في برنامج قيادي بجامعة ستانفورد، نُظّم بالشراكة مع «أكسنتشر» و«AI Inspire» [55]. دليل طلب فعلي مدفوع — وعلى الحاجة إلى خيار محلي، إذ لا تملك الجهة في الصيغة الخارجية ضبط الحالات ولا السرية ولا القياس.</a:t>
            </a:r>
          </a:p>
        </p:txBody>
      </p:sp>
      <p:sp>
        <p:nvSpPr>
          <p:cNvPr id="16" name="Rounded Rectangle 15"/>
          <p:cNvSpPr/>
          <p:nvPr/>
        </p:nvSpPr>
        <p:spPr>
          <a:xfrm>
            <a:off x="566928" y="2619756"/>
            <a:ext cx="3140963" cy="1479423"/>
          </a:xfrm>
          <a:prstGeom prst="roundRect">
            <a:avLst>
              <a:gd name="adj" fmla="val 556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14115" y="2766060"/>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884932"/>
            <a:ext cx="2848356"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البرامج التجارية المحلية — طلب متكرر بلا تدرج</a:t>
            </a:r>
          </a:p>
        </p:txBody>
      </p:sp>
      <p:sp>
        <p:nvSpPr>
          <p:cNvPr id="19" name="TextBox 18"/>
          <p:cNvSpPr txBox="1"/>
          <p:nvPr/>
        </p:nvSpPr>
        <p:spPr>
          <a:xfrm>
            <a:off x="713232" y="3111626"/>
            <a:ext cx="2848356" cy="877824"/>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«الذكاء الاصطناعي للقيادات وصناع القرار»، مملوك ومقدَّم من شركة رناد المجد، عُقد ثلاث مرات (مايو 2025، أكتوبر 2025، أبريل 2026)؛ واستضافت جامعة الملك سعود نسخة أبريل 2026 استضافة مكانية فقط [56][57]. والحضور المسمّى بمستوى مدير تنفيذي ومشرف عام — أي ما يقابل المستويين 3–4 — دون دليل منشور على مشاركة وزراء أو مساعدي وزراء [56].</a:t>
            </a:r>
          </a:p>
        </p:txBody>
      </p:sp>
      <p:sp>
        <p:nvSpPr>
          <p:cNvPr id="20" name="TextBox 19"/>
          <p:cNvSpPr txBox="1"/>
          <p:nvPr/>
        </p:nvSpPr>
        <p:spPr>
          <a:xfrm>
            <a:off x="566928" y="4282059"/>
            <a:ext cx="6428231" cy="321056"/>
          </a:xfrm>
          <a:prstGeom prst="rect">
            <a:avLst/>
          </a:prstGeom>
          <a:noFill/>
        </p:spPr>
        <p:txBody>
          <a:bodyPr wrap="square" lIns="0" rIns="0" tIns="0" bIns="0">
            <a:spAutoFit/>
          </a:bodyPr>
          <a:lstStyle/>
          <a:p>
            <a:pPr algn="r" rtl="1">
              <a:lnSpc>
                <a:spcPts val="1120"/>
              </a:lnSpc>
            </a:pPr>
            <a:r>
              <a:rPr sz="800" b="0">
                <a:solidFill>
                  <a:srgbClr val="6E7077"/>
                </a:solidFill>
                <a:latin typeface="Diodrum Arabic"/>
                <a:ea typeface="Diodrum Arabic"/>
                <a:cs typeface="Diodrum Arabic"/>
              </a:rPr>
              <a:t>ويمتلك معهد الإدارة العامة أكاديمية قيادات قائمة ومسارات تطوير واسعة الانتشار [58]؛ ولم تحدد المراجعة برنامجاً متخصصاً موثقاً علناً للذكاء الاصطناعي موجهاً للقيادات لدى المعهد أو الجامعات السعودية الكبرى — وهو غياب في السجل المتاح حتى تاريخ المراجعة، لا إثبات لعدم الوجود.</a:t>
            </a:r>
          </a:p>
        </p:txBody>
      </p:sp>
      <p:pic>
        <p:nvPicPr>
          <p:cNvPr id="21" name="Picture 20" descr="rayan-city.png"/>
          <p:cNvPicPr>
            <a:picLocks noChangeAspect="1"/>
          </p:cNvPicPr>
          <p:nvPr/>
        </p:nvPicPr>
        <p:blipFill>
          <a:blip r:embed="rId2"/>
          <a:stretch>
            <a:fillRect/>
          </a:stretch>
        </p:blipFill>
        <p:spPr>
          <a:xfrm>
            <a:off x="566928" y="4676267"/>
            <a:ext cx="6428231" cy="960120"/>
          </a:xfrm>
          <a:prstGeom prst="rect">
            <a:avLst/>
          </a:prstGeom>
        </p:spPr>
      </p:pic>
      <p:sp>
        <p:nvSpPr>
          <p:cNvPr id="22" name="Rectangle 21"/>
          <p:cNvSpPr/>
          <p:nvPr/>
        </p:nvSpPr>
        <p:spPr>
          <a:xfrm>
            <a:off x="6949440" y="5791834"/>
            <a:ext cx="45720" cy="405384"/>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5800979"/>
            <a:ext cx="6199631" cy="387095"/>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الفجوة المحلية أضيق من «لا شيء»: قاعدة تدريب كمّي، ومنصة بشراكاتها، وطلب مثبت لدى القيادات، وطلب تجاري متكرر. والناقص هو التنظيم في برنامج واحد بمالك واحد ومواصفة واحدة.</a:t>
            </a:r>
          </a:p>
        </p:txBody>
      </p:sp>
      <p:sp>
        <p:nvSpPr>
          <p:cNvPr id="24" name="Rectangle 23"/>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6" name="TextBox 25"/>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03 · 3.5  ما نضج وما لا يزال يمثل فجوة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المحتوى نضج؛ والتدرج والسرية والقياس لم تنضج بعد</a:t>
            </a:r>
          </a:p>
        </p:txBody>
      </p:sp>
      <p:sp>
        <p:nvSpPr>
          <p:cNvPr id="4" name="TextBox 3"/>
          <p:cNvSpPr txBox="1"/>
          <p:nvPr/>
        </p:nvSpPr>
        <p:spPr>
          <a:xfrm>
            <a:off x="566928" y="111175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ثلاث قوائم وفق ما أثبتته الأدلة المنشورة حتى تاريخ المراجعة — خريطة عمل لا حكم قيمة.</a:t>
            </a:r>
          </a:p>
        </p:txBody>
      </p:sp>
      <p:sp>
        <p:nvSpPr>
          <p:cNvPr id="5" name="Rectangle 4"/>
          <p:cNvSpPr/>
          <p:nvPr/>
        </p:nvSpPr>
        <p:spPr>
          <a:xfrm>
            <a:off x="6492240" y="137210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46355" y="1554988"/>
            <a:ext cx="2048804" cy="176530"/>
          </a:xfrm>
          <a:prstGeom prst="rect">
            <a:avLst/>
          </a:prstGeom>
          <a:noFill/>
        </p:spPr>
        <p:txBody>
          <a:bodyPr wrap="square" lIns="0" rIns="0" tIns="0" bIns="0">
            <a:spAutoFit/>
          </a:bodyPr>
          <a:lstStyle/>
          <a:p>
            <a:pPr algn="r" rtl="1">
              <a:lnSpc>
                <a:spcPts val="1102"/>
              </a:lnSpc>
            </a:pPr>
            <a:r>
              <a:rPr sz="950" b="0">
                <a:solidFill>
                  <a:srgbClr val="00ABAF"/>
                </a:solidFill>
                <a:latin typeface="Diodrum Arabic SemiBold"/>
                <a:ea typeface="Diodrum Arabic SemiBold"/>
                <a:cs typeface="Diodrum Arabic SemiBold"/>
              </a:rPr>
              <a:t>ما نضج — بأدلة متكررة</a:t>
            </a:r>
          </a:p>
        </p:txBody>
      </p:sp>
      <p:sp>
        <p:nvSpPr>
          <p:cNvPr id="7" name="TextBox 6"/>
          <p:cNvSpPr txBox="1"/>
          <p:nvPr/>
        </p:nvSpPr>
        <p:spPr>
          <a:xfrm>
            <a:off x="6903720" y="1772666"/>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8" name="TextBox 7"/>
          <p:cNvSpPr txBox="1"/>
          <p:nvPr/>
        </p:nvSpPr>
        <p:spPr>
          <a:xfrm>
            <a:off x="4946355" y="1777238"/>
            <a:ext cx="1875068" cy="457199"/>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المحتوى الأساسي لغير المتخصصين: مناهج ناضجة في هارفارد كينيدي وبلافاتنك [36][35].</a:t>
            </a:r>
          </a:p>
        </p:txBody>
      </p:sp>
      <p:sp>
        <p:nvSpPr>
          <p:cNvPr id="9" name="TextBox 8"/>
          <p:cNvSpPr txBox="1"/>
          <p:nvPr/>
        </p:nvSpPr>
        <p:spPr>
          <a:xfrm>
            <a:off x="6903720" y="2243582"/>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10" name="TextBox 9"/>
          <p:cNvSpPr txBox="1"/>
          <p:nvPr/>
        </p:nvSpPr>
        <p:spPr>
          <a:xfrm>
            <a:off x="4946355" y="2248154"/>
            <a:ext cx="1875068"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الحوكمة والاستخدام المسؤول عموداً مشتركاً في البرامج الجادة [22][35].</a:t>
            </a:r>
          </a:p>
        </p:txBody>
      </p:sp>
      <p:sp>
        <p:nvSpPr>
          <p:cNvPr id="11" name="TextBox 10"/>
          <p:cNvSpPr txBox="1"/>
          <p:nvPr/>
        </p:nvSpPr>
        <p:spPr>
          <a:xfrm>
            <a:off x="6903720" y="2574290"/>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12" name="TextBox 11"/>
          <p:cNvSpPr txBox="1"/>
          <p:nvPr/>
        </p:nvSpPr>
        <p:spPr>
          <a:xfrm>
            <a:off x="4946355" y="2578862"/>
            <a:ext cx="1875068" cy="457199"/>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الحالات والسيناريوهات الحكومية — مدرسة لي كوان يو؛ وبرنامج هارفارد «الذكاء الاصطناعي عملياً» [23][59].</a:t>
            </a:r>
          </a:p>
        </p:txBody>
      </p:sp>
      <p:sp>
        <p:nvSpPr>
          <p:cNvPr id="13" name="TextBox 12"/>
          <p:cNvSpPr txBox="1"/>
          <p:nvPr/>
        </p:nvSpPr>
        <p:spPr>
          <a:xfrm>
            <a:off x="6903720" y="3045206"/>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14" name="TextBox 13"/>
          <p:cNvSpPr txBox="1"/>
          <p:nvPr/>
        </p:nvSpPr>
        <p:spPr>
          <a:xfrm>
            <a:off x="4946355" y="3049778"/>
            <a:ext cx="1875068" cy="457199"/>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صيغ التعلم بين الأقران: فوج إمبريال جمع 16 جهة؛ وأفواج بارتنرشيب عابرة للوكالات [38][18].</a:t>
            </a:r>
          </a:p>
        </p:txBody>
      </p:sp>
      <p:sp>
        <p:nvSpPr>
          <p:cNvPr id="15" name="TextBox 14"/>
          <p:cNvSpPr txBox="1"/>
          <p:nvPr/>
        </p:nvSpPr>
        <p:spPr>
          <a:xfrm>
            <a:off x="6903720" y="3516122"/>
            <a:ext cx="91440" cy="169164"/>
          </a:xfrm>
          <a:prstGeom prst="rect">
            <a:avLst/>
          </a:prstGeom>
          <a:noFill/>
        </p:spPr>
        <p:txBody>
          <a:bodyPr wrap="square" lIns="0" rIns="0" tIns="0" bIns="0">
            <a:spAutoFit/>
          </a:bodyPr>
          <a:lstStyle/>
          <a:p>
            <a:pPr algn="ctr">
              <a:lnSpc>
                <a:spcPts val="1044"/>
              </a:lnSpc>
            </a:pPr>
            <a:r>
              <a:rPr sz="900" b="0">
                <a:solidFill>
                  <a:srgbClr val="00ABAF"/>
                </a:solidFill>
                <a:latin typeface="Diodrum Arabic SemiBold"/>
                <a:ea typeface="Diodrum Arabic SemiBold"/>
                <a:cs typeface="Diodrum Arabic SemiBold"/>
              </a:rPr>
              <a:t>•</a:t>
            </a:r>
          </a:p>
        </p:txBody>
      </p:sp>
      <p:sp>
        <p:nvSpPr>
          <p:cNvPr id="16" name="TextBox 15"/>
          <p:cNvSpPr txBox="1"/>
          <p:nvPr/>
        </p:nvSpPr>
        <p:spPr>
          <a:xfrm>
            <a:off x="4946355" y="3520694"/>
            <a:ext cx="1875068" cy="457199"/>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البرامج الرقمية للمستويات التنفيذية، من سلسلة GSA المجانية إلى المنصات الوطنية [19][41].</a:t>
            </a:r>
          </a:p>
        </p:txBody>
      </p:sp>
      <p:sp>
        <p:nvSpPr>
          <p:cNvPr id="17" name="TextBox 16"/>
          <p:cNvSpPr txBox="1"/>
          <p:nvPr/>
        </p:nvSpPr>
        <p:spPr>
          <a:xfrm>
            <a:off x="2575864" y="1554988"/>
            <a:ext cx="2169322" cy="176530"/>
          </a:xfrm>
          <a:prstGeom prst="rect">
            <a:avLst/>
          </a:prstGeom>
          <a:noFill/>
        </p:spPr>
        <p:txBody>
          <a:bodyPr wrap="square" lIns="0" rIns="0" tIns="0" bIns="0">
            <a:spAutoFit/>
          </a:bodyPr>
          <a:lstStyle/>
          <a:p>
            <a:pPr algn="r" rtl="1">
              <a:lnSpc>
                <a:spcPts val="1102"/>
              </a:lnSpc>
            </a:pPr>
            <a:r>
              <a:rPr sz="950" b="0">
                <a:solidFill>
                  <a:srgbClr val="7C32C9"/>
                </a:solidFill>
                <a:latin typeface="Diodrum Arabic SemiBold"/>
                <a:ea typeface="Diodrum Arabic SemiBold"/>
                <a:cs typeface="Diodrum Arabic SemiBold"/>
              </a:rPr>
              <a:t>ما بقي متفرقاً — بصيغة ناقصة</a:t>
            </a:r>
          </a:p>
        </p:txBody>
      </p:sp>
      <p:sp>
        <p:nvSpPr>
          <p:cNvPr id="18" name="TextBox 17"/>
          <p:cNvSpPr txBox="1"/>
          <p:nvPr/>
        </p:nvSpPr>
        <p:spPr>
          <a:xfrm>
            <a:off x="4653747" y="1772666"/>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19" name="TextBox 18"/>
          <p:cNvSpPr txBox="1"/>
          <p:nvPr/>
        </p:nvSpPr>
        <p:spPr>
          <a:xfrm>
            <a:off x="2575864" y="1777238"/>
            <a:ext cx="1995586" cy="457199"/>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التدرج بين المستويات الأربعة: الفئات الخمس في الهدف الإماراتي ومكونات القيادة في معهد سنغافورة إعلانان لا تشغيل [26][29].</a:t>
            </a:r>
          </a:p>
        </p:txBody>
      </p:sp>
      <p:sp>
        <p:nvSpPr>
          <p:cNvPr id="20" name="TextBox 19"/>
          <p:cNvSpPr txBox="1"/>
          <p:nvPr/>
        </p:nvSpPr>
        <p:spPr>
          <a:xfrm>
            <a:off x="4653747" y="2243582"/>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1" name="TextBox 20"/>
          <p:cNvSpPr txBox="1"/>
          <p:nvPr/>
        </p:nvSpPr>
        <p:spPr>
          <a:xfrm>
            <a:off x="2575864" y="2248154"/>
            <a:ext cx="1995586"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البروتوكول الخاص بالوزراء وأصحاب المعالي — لا يظهر خارج الصيغ السيادية المغلقة [31].</a:t>
            </a:r>
          </a:p>
        </p:txBody>
      </p:sp>
      <p:sp>
        <p:nvSpPr>
          <p:cNvPr id="22" name="TextBox 21"/>
          <p:cNvSpPr txBox="1"/>
          <p:nvPr/>
        </p:nvSpPr>
        <p:spPr>
          <a:xfrm>
            <a:off x="4653747" y="2574290"/>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3" name="TextBox 22"/>
          <p:cNvSpPr txBox="1"/>
          <p:nvPr/>
        </p:nvSpPr>
        <p:spPr>
          <a:xfrm>
            <a:off x="2575864" y="2578862"/>
            <a:ext cx="1995586"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الحالات الحكومية السعودية: لم يُرصد مزود يعلن حالات معتمدة.</a:t>
            </a:r>
          </a:p>
        </p:txBody>
      </p:sp>
      <p:sp>
        <p:nvSpPr>
          <p:cNvPr id="24" name="TextBox 23"/>
          <p:cNvSpPr txBox="1"/>
          <p:nvPr/>
        </p:nvSpPr>
        <p:spPr>
          <a:xfrm>
            <a:off x="4653747" y="2904998"/>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5" name="TextBox 24"/>
          <p:cNvSpPr txBox="1"/>
          <p:nvPr/>
        </p:nvSpPr>
        <p:spPr>
          <a:xfrm>
            <a:off x="2575864" y="2909570"/>
            <a:ext cx="1995586"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السرية التعاقدية: البرامج المفتوحة لا ينشر أي منها إطاراً للسرية.</a:t>
            </a:r>
          </a:p>
        </p:txBody>
      </p:sp>
      <p:sp>
        <p:nvSpPr>
          <p:cNvPr id="26" name="TextBox 25"/>
          <p:cNvSpPr txBox="1"/>
          <p:nvPr/>
        </p:nvSpPr>
        <p:spPr>
          <a:xfrm>
            <a:off x="4653747" y="3235706"/>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7" name="TextBox 26"/>
          <p:cNvSpPr txBox="1"/>
          <p:nvPr/>
        </p:nvSpPr>
        <p:spPr>
          <a:xfrm>
            <a:off x="2575864" y="3240278"/>
            <a:ext cx="1995586" cy="457199"/>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المتابعة بعد البرنامج: لا تتجاوز إرشاداً فردياً (بارتنرشيب) ونموذج «خمسة أيام وتسعين يوم تطبيق» (مدرسة محمد بن راشد) [18][60].</a:t>
            </a:r>
          </a:p>
        </p:txBody>
      </p:sp>
      <p:sp>
        <p:nvSpPr>
          <p:cNvPr id="28" name="TextBox 27"/>
          <p:cNvSpPr txBox="1"/>
          <p:nvPr/>
        </p:nvSpPr>
        <p:spPr>
          <a:xfrm>
            <a:off x="4653747" y="3706622"/>
            <a:ext cx="91440" cy="169164"/>
          </a:xfrm>
          <a:prstGeom prst="rect">
            <a:avLst/>
          </a:prstGeom>
          <a:noFill/>
        </p:spPr>
        <p:txBody>
          <a:bodyPr wrap="square" lIns="0" rIns="0" tIns="0" bIns="0">
            <a:spAutoFit/>
          </a:bodyPr>
          <a:lstStyle/>
          <a:p>
            <a:pPr algn="ctr">
              <a:lnSpc>
                <a:spcPts val="1044"/>
              </a:lnSpc>
            </a:pPr>
            <a:r>
              <a:rPr sz="900" b="0">
                <a:solidFill>
                  <a:srgbClr val="7C32C9"/>
                </a:solidFill>
                <a:latin typeface="Diodrum Arabic SemiBold"/>
                <a:ea typeface="Diodrum Arabic SemiBold"/>
                <a:cs typeface="Diodrum Arabic SemiBold"/>
              </a:rPr>
              <a:t>•</a:t>
            </a:r>
          </a:p>
        </p:txBody>
      </p:sp>
      <p:sp>
        <p:nvSpPr>
          <p:cNvPr id="29" name="TextBox 28"/>
          <p:cNvSpPr txBox="1"/>
          <p:nvPr/>
        </p:nvSpPr>
        <p:spPr>
          <a:xfrm>
            <a:off x="2575864" y="3711194"/>
            <a:ext cx="1995586" cy="457199"/>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القياس المرتبط بقرارات فعلية: الاستثناء الوحيد تقييم بريطاني تجريبي وُصف بغير الحاسم [40].</a:t>
            </a:r>
          </a:p>
        </p:txBody>
      </p:sp>
      <p:sp>
        <p:nvSpPr>
          <p:cNvPr id="30" name="TextBox 29"/>
          <p:cNvSpPr txBox="1"/>
          <p:nvPr/>
        </p:nvSpPr>
        <p:spPr>
          <a:xfrm>
            <a:off x="566928" y="1554988"/>
            <a:ext cx="1807768" cy="176530"/>
          </a:xfrm>
          <a:prstGeom prst="rect">
            <a:avLst/>
          </a:prstGeom>
          <a:noFill/>
        </p:spPr>
        <p:txBody>
          <a:bodyPr wrap="square" lIns="0" rIns="0" tIns="0" bIns="0">
            <a:spAutoFit/>
          </a:bodyPr>
          <a:lstStyle/>
          <a:p>
            <a:pPr algn="r" rtl="1">
              <a:lnSpc>
                <a:spcPts val="1102"/>
              </a:lnSpc>
            </a:pPr>
            <a:r>
              <a:rPr sz="950" b="0">
                <a:solidFill>
                  <a:srgbClr val="2A206A"/>
                </a:solidFill>
                <a:latin typeface="Diodrum Arabic SemiBold"/>
                <a:ea typeface="Diodrum Arabic SemiBold"/>
                <a:cs typeface="Diodrum Arabic SemiBold"/>
              </a:rPr>
              <a:t>ما لم تثبته الأدلة المنشورة</a:t>
            </a:r>
          </a:p>
        </p:txBody>
      </p:sp>
      <p:sp>
        <p:nvSpPr>
          <p:cNvPr id="31" name="TextBox 30"/>
          <p:cNvSpPr txBox="1"/>
          <p:nvPr/>
        </p:nvSpPr>
        <p:spPr>
          <a:xfrm>
            <a:off x="2283256" y="1772666"/>
            <a:ext cx="91440" cy="169164"/>
          </a:xfrm>
          <a:prstGeom prst="rect">
            <a:avLst/>
          </a:prstGeom>
          <a:noFill/>
        </p:spPr>
        <p:txBody>
          <a:bodyPr wrap="square" lIns="0" rIns="0" tIns="0" bIns="0">
            <a:spAutoFit/>
          </a:bodyPr>
          <a:lstStyle/>
          <a:p>
            <a:pPr algn="ctr">
              <a:lnSpc>
                <a:spcPts val="1044"/>
              </a:lnSpc>
            </a:pPr>
            <a:r>
              <a:rPr sz="900" b="0">
                <a:solidFill>
                  <a:srgbClr val="2A206A"/>
                </a:solidFill>
                <a:latin typeface="Diodrum Arabic SemiBold"/>
                <a:ea typeface="Diodrum Arabic SemiBold"/>
                <a:cs typeface="Diodrum Arabic SemiBold"/>
              </a:rPr>
              <a:t>•</a:t>
            </a:r>
          </a:p>
        </p:txBody>
      </p:sp>
      <p:sp>
        <p:nvSpPr>
          <p:cNvPr id="32" name="TextBox 31"/>
          <p:cNvSpPr txBox="1"/>
          <p:nvPr/>
        </p:nvSpPr>
        <p:spPr>
          <a:xfrm>
            <a:off x="566928" y="1777238"/>
            <a:ext cx="1634032"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أثر البرامج على جودة القرارات الحكومية.</a:t>
            </a:r>
          </a:p>
        </p:txBody>
      </p:sp>
      <p:sp>
        <p:nvSpPr>
          <p:cNvPr id="33" name="TextBox 32"/>
          <p:cNvSpPr txBox="1"/>
          <p:nvPr/>
        </p:nvSpPr>
        <p:spPr>
          <a:xfrm>
            <a:off x="2283256" y="2103374"/>
            <a:ext cx="91440" cy="169164"/>
          </a:xfrm>
          <a:prstGeom prst="rect">
            <a:avLst/>
          </a:prstGeom>
          <a:noFill/>
        </p:spPr>
        <p:txBody>
          <a:bodyPr wrap="square" lIns="0" rIns="0" tIns="0" bIns="0">
            <a:spAutoFit/>
          </a:bodyPr>
          <a:lstStyle/>
          <a:p>
            <a:pPr algn="ctr">
              <a:lnSpc>
                <a:spcPts val="1044"/>
              </a:lnSpc>
            </a:pPr>
            <a:r>
              <a:rPr sz="900" b="0">
                <a:solidFill>
                  <a:srgbClr val="2A206A"/>
                </a:solidFill>
                <a:latin typeface="Diodrum Arabic SemiBold"/>
                <a:ea typeface="Diodrum Arabic SemiBold"/>
                <a:cs typeface="Diodrum Arabic SemiBold"/>
              </a:rPr>
              <a:t>•</a:t>
            </a:r>
          </a:p>
        </p:txBody>
      </p:sp>
      <p:sp>
        <p:nvSpPr>
          <p:cNvPr id="34" name="TextBox 33"/>
          <p:cNvSpPr txBox="1"/>
          <p:nvPr/>
        </p:nvSpPr>
        <p:spPr>
          <a:xfrm>
            <a:off x="566928" y="2107946"/>
            <a:ext cx="1634032"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أثرها على الأداء المؤسسي أو جودة الخدمة.</a:t>
            </a:r>
          </a:p>
        </p:txBody>
      </p:sp>
      <p:sp>
        <p:nvSpPr>
          <p:cNvPr id="35" name="TextBox 34"/>
          <p:cNvSpPr txBox="1"/>
          <p:nvPr/>
        </p:nvSpPr>
        <p:spPr>
          <a:xfrm>
            <a:off x="2283256" y="2434082"/>
            <a:ext cx="91440" cy="169164"/>
          </a:xfrm>
          <a:prstGeom prst="rect">
            <a:avLst/>
          </a:prstGeom>
          <a:noFill/>
        </p:spPr>
        <p:txBody>
          <a:bodyPr wrap="square" lIns="0" rIns="0" tIns="0" bIns="0">
            <a:spAutoFit/>
          </a:bodyPr>
          <a:lstStyle/>
          <a:p>
            <a:pPr algn="ctr">
              <a:lnSpc>
                <a:spcPts val="1044"/>
              </a:lnSpc>
            </a:pPr>
            <a:r>
              <a:rPr sz="900" b="0">
                <a:solidFill>
                  <a:srgbClr val="2A206A"/>
                </a:solidFill>
                <a:latin typeface="Diodrum Arabic SemiBold"/>
                <a:ea typeface="Diodrum Arabic SemiBold"/>
                <a:cs typeface="Diodrum Arabic SemiBold"/>
              </a:rPr>
              <a:t>•</a:t>
            </a:r>
          </a:p>
        </p:txBody>
      </p:sp>
      <p:sp>
        <p:nvSpPr>
          <p:cNvPr id="36" name="TextBox 35"/>
          <p:cNvSpPr txBox="1"/>
          <p:nvPr/>
        </p:nvSpPr>
        <p:spPr>
          <a:xfrm>
            <a:off x="566928" y="2438654"/>
            <a:ext cx="1634032"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فاعلية نموذج واحد يصلح للمستويات الأربعة [51].</a:t>
            </a:r>
          </a:p>
        </p:txBody>
      </p:sp>
      <p:sp>
        <p:nvSpPr>
          <p:cNvPr id="37" name="Rounded Rectangle 36"/>
          <p:cNvSpPr/>
          <p:nvPr/>
        </p:nvSpPr>
        <p:spPr>
          <a:xfrm>
            <a:off x="566928" y="4355845"/>
            <a:ext cx="6428231" cy="1268920"/>
          </a:xfrm>
          <a:prstGeom prst="roundRect">
            <a:avLst>
              <a:gd name="adj" fmla="val 7206"/>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4538726"/>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الفرصة الاستراتيجية</a:t>
            </a:r>
          </a:p>
        </p:txBody>
      </p:sp>
      <p:sp>
        <p:nvSpPr>
          <p:cNvPr id="39" name="TextBox 38"/>
          <p:cNvSpPr txBox="1"/>
          <p:nvPr/>
        </p:nvSpPr>
        <p:spPr>
          <a:xfrm>
            <a:off x="749808" y="4739131"/>
            <a:ext cx="6062471" cy="685800"/>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لم يعد المحتوى مشكلة — فالمناهج الناضجة جاهزة للشراء. أما سمات التصميم التي تحتاجها المملكة (تدرج المستويات، وبروتوكول القمة، والحالات السعودية، والسرية، والمتابعة، والقياس) فموجودة عناصرَ متناثرة لم يجمعها منتج واحد معلَن. والأخطر استراتيجياً: لا أحد في السجل كله يملك برنامجاً قيادياً مثبت الأثر بدليل مستقل — فمن يبنِ القياس منذ الفوج الأول يسبق السوق كله [51].</a:t>
            </a:r>
          </a:p>
        </p:txBody>
      </p:sp>
      <p:sp>
        <p:nvSpPr>
          <p:cNvPr id="40" name="Rectangle 39"/>
          <p:cNvSpPr/>
          <p:nvPr/>
        </p:nvSpPr>
        <p:spPr>
          <a:xfrm>
            <a:off x="6949440" y="5807646"/>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5816790"/>
            <a:ext cx="6199631" cy="211836"/>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ما الذي يمكن شراؤه من هذا السوق، وما الذي يحتاج بناءً، لكل مستوى من المستويات الأربعة؟ يجيب القسم الرابع.</a:t>
            </a:r>
          </a:p>
        </p:txBody>
      </p:sp>
      <p:sp>
        <p:nvSpPr>
          <p:cNvPr id="42" name="Rectangle 4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4" name="TextBox 4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842769"/>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r" rtl="1">
              <a:lnSpc>
                <a:spcPts val="1276"/>
              </a:lnSpc>
            </a:pPr>
            <a:r>
              <a:rPr sz="1100" b="0">
                <a:solidFill>
                  <a:srgbClr val="CEC6EC"/>
                </a:solidFill>
                <a:latin typeface="Diodrum Arabic SemiBold"/>
                <a:ea typeface="Diodrum Arabic SemiBold"/>
                <a:cs typeface="Diodrum Arabic SemiBold"/>
              </a:rPr>
              <a:t>القسم 04</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r" rtl="1">
              <a:lnSpc>
                <a:spcPts val="2595"/>
              </a:lnSpc>
            </a:pPr>
            <a:r>
              <a:rPr sz="2200" b="1">
                <a:solidFill>
                  <a:srgbClr val="FFFFFF"/>
                </a:solidFill>
                <a:latin typeface="Diodrum Arabic"/>
                <a:ea typeface="Diodrum Arabic"/>
                <a:cs typeface="Diodrum Arabic"/>
              </a:rPr>
              <a:t>التوافر حسب المستوى القيادي</a:t>
            </a:r>
          </a:p>
        </p:txBody>
      </p:sp>
      <p:sp>
        <p:nvSpPr>
          <p:cNvPr id="5" name="TextBox 4"/>
          <p:cNvSpPr txBox="1"/>
          <p:nvPr/>
        </p:nvSpPr>
        <p:spPr>
          <a:xfrm>
            <a:off x="566928" y="1116075"/>
            <a:ext cx="5513831" cy="379221"/>
          </a:xfrm>
          <a:prstGeom prst="rect">
            <a:avLst/>
          </a:prstGeom>
          <a:noFill/>
        </p:spPr>
        <p:txBody>
          <a:bodyPr wrap="square" lIns="0" rIns="0" tIns="0" bIns="0">
            <a:spAutoFit/>
          </a:bodyPr>
          <a:lstStyle/>
          <a:p>
            <a:pPr algn="r" rtl="1">
              <a:lnSpc>
                <a:spcPts val="1348"/>
              </a:lnSpc>
            </a:pPr>
            <a:r>
              <a:rPr sz="950" b="0">
                <a:solidFill>
                  <a:srgbClr val="DDDAF0"/>
                </a:solidFill>
                <a:latin typeface="Diodrum Arabic"/>
                <a:ea typeface="Diodrum Arabic"/>
                <a:cs typeface="Diodrum Arabic"/>
              </a:rPr>
              <a:t>ما الذي يمكن شراؤه فعلاً لكل مستوى، وما الذي يحتاج إلى بناء — بحدود ما هو منشور وموثق حتى 21 أغسطس 2026.</a:t>
            </a:r>
          </a:p>
        </p:txBody>
      </p:sp>
      <p:sp>
        <p:nvSpPr>
          <p:cNvPr id="6" name="Rectangle 5"/>
          <p:cNvSpPr/>
          <p:nvPr/>
        </p:nvSpPr>
        <p:spPr>
          <a:xfrm>
            <a:off x="4892040"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57800"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23559"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89320" y="1623313"/>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79"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20840"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117089"/>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4.1 – 4.2  المستويان الأعليان</a:t>
            </a:r>
          </a:p>
        </p:txBody>
      </p:sp>
      <p:sp>
        <p:nvSpPr>
          <p:cNvPr id="13" name="TextBox 12"/>
          <p:cNvSpPr txBox="1"/>
          <p:nvPr/>
        </p:nvSpPr>
        <p:spPr>
          <a:xfrm>
            <a:off x="566928" y="2344927"/>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بناء للوزراء؛ وتطوير مشترك لنواب الوزراء وأصحاب المعالي</a:t>
            </a:r>
          </a:p>
        </p:txBody>
      </p:sp>
      <p:sp>
        <p:nvSpPr>
          <p:cNvPr id="14" name="Rounded Rectangle 13"/>
          <p:cNvSpPr/>
          <p:nvPr/>
        </p:nvSpPr>
        <p:spPr>
          <a:xfrm>
            <a:off x="566928" y="2725927"/>
            <a:ext cx="6428231"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01383" y="2872231"/>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991103"/>
            <a:ext cx="6135623"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المستوى الأول — الوزراء   ·   الحكم: بناء صيغة سعودية مملوكة محلياً</a:t>
            </a:r>
          </a:p>
        </p:txBody>
      </p:sp>
      <p:sp>
        <p:nvSpPr>
          <p:cNvPr id="17" name="TextBox 16"/>
          <p:cNvSpPr txBox="1"/>
          <p:nvPr/>
        </p:nvSpPr>
        <p:spPr>
          <a:xfrm>
            <a:off x="713232" y="3217798"/>
            <a:ext cx="6135623" cy="781430"/>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لم تحدد المراجعة برنامجاً مفتوحاً مصمماً للوزراء بوصفهم الفئة الأساسية. وتظهر التغطية الوزارية الموثقة في صيغ مغلقة أو حكومية أو عبر ترتيبات خاصة: معسكر غانا السكني المغلق مع برنامج الأمم المتحدة الإنمائي [31]؛ والملتقى الوطني الإماراتي المغلق لاستعراض مشاريع الذكاء الاصطناعي [28]؛ ووفد المملكة نفسها، بوزرائه وكبار مسؤوليه، إلى ستانفورد في نوفمبر 2025 [55]. ولهذا الغياب تفسير بنيوي: بروتوكول الفئة — سرية المداولات، وضآلة العدد، وارتباط المحتوى بقرارات فعلية — لا يتوافق مع صيغة الدورة المفتوحة التي يلتحق بها من يدفع الرسم. فهذا المستوى قرار بناء، لا بحث أطول في كتالوجات المزودين.</a:t>
            </a:r>
          </a:p>
        </p:txBody>
      </p:sp>
      <p:sp>
        <p:nvSpPr>
          <p:cNvPr id="18" name="Rounded Rectangle 17"/>
          <p:cNvSpPr/>
          <p:nvPr/>
        </p:nvSpPr>
        <p:spPr>
          <a:xfrm>
            <a:off x="566928" y="4255261"/>
            <a:ext cx="6428231"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01383" y="4401565"/>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520437"/>
            <a:ext cx="6135623" cy="199263"/>
          </a:xfrm>
          <a:prstGeom prst="rect">
            <a:avLst/>
          </a:prstGeom>
          <a:noFill/>
        </p:spPr>
        <p:txBody>
          <a:bodyPr wrap="square" lIns="0" rIns="0" tIns="0" bIns="0">
            <a:spAutoFit/>
          </a:bodyPr>
          <a:lstStyle/>
          <a:p>
            <a:pPr algn="r" rtl="1">
              <a:lnSpc>
                <a:spcPts val="1281"/>
              </a:lnSpc>
            </a:pPr>
            <a:r>
              <a:rPr sz="1050" b="0">
                <a:solidFill>
                  <a:srgbClr val="2A206A"/>
                </a:solidFill>
                <a:latin typeface="Diodrum Arabic SemiBold"/>
                <a:ea typeface="Diodrum Arabic SemiBold"/>
                <a:cs typeface="Diodrum Arabic SemiBold"/>
              </a:rPr>
              <a:t>المستوى الثاني — نواب الوزراء وأصحاب المعالي   ·   الحكم: تطوير مشترك مع شريك موثوق</a:t>
            </a:r>
          </a:p>
        </p:txBody>
      </p:sp>
      <p:sp>
        <p:nvSpPr>
          <p:cNvPr id="21" name="TextBox 20"/>
          <p:cNvSpPr txBox="1"/>
          <p:nvPr/>
        </p:nvSpPr>
        <p:spPr>
          <a:xfrm>
            <a:off x="713232" y="4747132"/>
            <a:ext cx="6135623" cy="781430"/>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توجد برامج انتقائية تستقبل قيادات حكومية عليا — بعض برامج جامعة محمد بن زايد [32] وبرنامج كلية بلافاتنك بجامعة أكسفورد [35] — لكنها ليست مصممة حصرياً لنواب الوزراء والمحافظين ومساعدي الوزراء، ولا تتضمن بالضرورة حالات سعودية أو بروتوكولاً محلياً للسرية والقياس. ويقدم برنامج GAILP والبرنامج التنفيذي (MEP) [34] إقامة انتقائية رفيعة، إلا أن حالاتهما وضوابطهما التعاقدية تظل ملكاً للمزود ومصممة لجمهور إقليمي أوسع. قيمة حقيقية لكنها ناقصة — والملاءمة هي التطوير المشترك: شريك دولي أو إقليمي موثوق، ومالك سعودي يضبط الحالات والسرية والقياس.</a:t>
            </a:r>
          </a:p>
        </p:txBody>
      </p:sp>
      <p:sp>
        <p:nvSpPr>
          <p:cNvPr id="22" name="Rectangle 2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4" name="TextBox 2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04 · 4.3 – 4.4  مستويا التنفيذ</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شراء وتكييف للمستوى الثالث؛ وترخيص وتوسيع للمستوى الرابع</a:t>
            </a:r>
          </a:p>
        </p:txBody>
      </p:sp>
      <p:sp>
        <p:nvSpPr>
          <p:cNvPr id="4" name="Rounded Rectangle 3"/>
          <p:cNvSpPr/>
          <p:nvPr/>
        </p:nvSpPr>
        <p:spPr>
          <a:xfrm>
            <a:off x="566928" y="1401318"/>
            <a:ext cx="6428231" cy="1383030"/>
          </a:xfrm>
          <a:prstGeom prst="roundRect">
            <a:avLst>
              <a:gd name="adj" fmla="val 5950"/>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01383" y="154762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66494"/>
            <a:ext cx="6135623" cy="199263"/>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المستوى الثالث — وكلاء الوزارات ونواب المحافظين   ·   الحكم: تحقق ثم اشترِ وكيّف</a:t>
            </a:r>
          </a:p>
        </p:txBody>
      </p:sp>
      <p:sp>
        <p:nvSpPr>
          <p:cNvPr id="7" name="TextBox 6"/>
          <p:cNvSpPr txBox="1"/>
          <p:nvPr/>
        </p:nvSpPr>
        <p:spPr>
          <a:xfrm>
            <a:off x="713232" y="1893189"/>
            <a:ext cx="6135623" cy="781430"/>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تتوافر لهذا المستوى مجموعة أكبر من البرامج الحكومية التطبيقية، خصوصاً في الولايات المتحدة والمملكة المتحدة. فبرنامج القيادة الحكومية للذكاء الاصطناعي يقدم أفواجاً مجانية من 25 إلى 30 قائداً مع خارطة تطبيق لكل مشارك [18]؛ وجونز هوبكنز برنامجاً مدمجاً يمتد عشرة أسابيع للقيادات الاتحادية العليا [22]؛ وأطلقت مصر مبادرة وطنية عربية اللغة لقادة الجهات [43]. ووجود هذه الطبقة يغيّر طبيعة القرار السعودي: من قرار بناء مكلف وطويل إلى قرار تحقق وتكييف — تُشترى نماذج أو مقاعد للتحقق من جودة التصميم وملاءمته، ثم يُكيَّف للتطبيق المحلي بحالات سعودية وإطار قياس موحد.</a:t>
            </a:r>
          </a:p>
        </p:txBody>
      </p:sp>
      <p:sp>
        <p:nvSpPr>
          <p:cNvPr id="8" name="Rounded Rectangle 7"/>
          <p:cNvSpPr/>
          <p:nvPr/>
        </p:nvSpPr>
        <p:spPr>
          <a:xfrm>
            <a:off x="566928" y="2930652"/>
            <a:ext cx="6428231" cy="1234058"/>
          </a:xfrm>
          <a:prstGeom prst="roundRect">
            <a:avLst>
              <a:gd name="adj" fmla="val 666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01383" y="3076956"/>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195828"/>
            <a:ext cx="6135623"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المستوى الرابع — وكلاء الوزارات المساعدون والقيادات التنفيذية المكافئة   ·   الحكم: ترخيص وتوطين وتوسيع</a:t>
            </a:r>
          </a:p>
        </p:txBody>
      </p:sp>
      <p:sp>
        <p:nvSpPr>
          <p:cNvPr id="11" name="TextBox 10"/>
          <p:cNvSpPr txBox="1"/>
          <p:nvPr/>
        </p:nvSpPr>
        <p:spPr>
          <a:xfrm>
            <a:off x="713232" y="3422523"/>
            <a:ext cx="6135623" cy="632460"/>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يتوافر محتوى واسع وبرامج رقمية ومختلطة: المقررات الإلكترونية لكليات الأعمال الكبرى [61]؛ وخط الأساس المجاني القابل للترخيص من منصة Apolitical — الذي ألزمت به الإمارات عموم موظفيها الاتحاديين [48]؛ والمحتوى الوطني الذي راكمته «سدايا» [52]. والتحدي ليس نقص المحتوى بل اختيار المناسب وربطه بالتطبيق والالتزام وقياس الأداء؛ فوفرة المادة التدريبية بلا ربط بالتقييم الوظيفي تنتج ساعات تعلم لا تغييراً في الممارسة. ومساهمة «قدراتك» هنا تنظيمية بالدرجة الأولى: الانتقاء والترخيص والتوطين وربط الإتمام بمؤشرات الأداء.</a:t>
            </a:r>
          </a:p>
        </p:txBody>
      </p:sp>
      <p:sp>
        <p:nvSpPr>
          <p:cNvPr id="12" name="Rectangle 1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14" name="TextBox 1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04 · 4.5  الخلاصة العامة للتوافر</a:t>
            </a:r>
          </a:p>
        </p:txBody>
      </p:sp>
      <p:sp>
        <p:nvSpPr>
          <p:cNvPr id="3" name="TextBox 2"/>
          <p:cNvSpPr txBox="1"/>
          <p:nvPr/>
        </p:nvSpPr>
        <p:spPr>
          <a:xfrm>
            <a:off x="566928" y="730758"/>
            <a:ext cx="6428231" cy="615696"/>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سهولة شراء برنامج جاهز تنخفض كلما ارتفع المستوى القيادي</a:t>
            </a:r>
          </a:p>
        </p:txBody>
      </p:sp>
      <p:sp>
        <p:nvSpPr>
          <p:cNvPr id="4" name="TextBox 3"/>
          <p:cNvSpPr txBox="1"/>
          <p:nvPr/>
        </p:nvSpPr>
        <p:spPr>
          <a:xfrm>
            <a:off x="566928" y="1401318"/>
            <a:ext cx="6428231" cy="20548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يحتاج المستويان الأول والثاني إلى بناء وتخصيص؛ ويمكن للمستويين الثالث والرابع الشراء والتكييف والترخيص.</a:t>
            </a:r>
          </a:p>
        </p:txBody>
      </p:sp>
      <p:sp>
        <p:nvSpPr>
          <p:cNvPr id="5" name="Rectangle 4"/>
          <p:cNvSpPr/>
          <p:nvPr/>
        </p:nvSpPr>
        <p:spPr>
          <a:xfrm>
            <a:off x="6492240" y="166166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844548"/>
          <a:ext cx="6428230" cy="3510788"/>
        </p:xfrm>
        <a:graphic>
          <a:graphicData uri="http://schemas.openxmlformats.org/drawingml/2006/table">
            <a:tbl>
              <a:tblPr firstRow="1" bandRow="0" rtl="1"/>
              <a:tblGrid>
                <a:gridCol w="899952"/>
                <a:gridCol w="1092799"/>
                <a:gridCol w="1671340"/>
                <a:gridCol w="835670"/>
                <a:gridCol w="899952"/>
                <a:gridCol w="1028517"/>
              </a:tblGrid>
              <a:tr h="383540">
                <a:tc>
                  <a:txBody>
                    <a:bodyPr wrap="square"/>
                    <a:lstStyle/>
                    <a:p>
                      <a:pPr algn="r" rtl="1">
                        <a:lnSpc>
                          <a:spcPts val="1024"/>
                        </a:lnSpc>
                      </a:pPr>
                      <a:r>
                        <a:rPr sz="800" b="0">
                          <a:solidFill>
                            <a:srgbClr val="FFFFFF"/>
                          </a:solidFill>
                          <a:latin typeface="Diodrum Arabic SemiBold"/>
                          <a:ea typeface="Diodrum Arabic SemiBold"/>
                          <a:cs typeface="Diodrum Arabic SemiBold"/>
                        </a:rPr>
                        <a:t>المستوى</a:t>
                      </a:r>
                    </a:p>
                  </a:txBody>
                  <a:tcPr marL="64008" marR="64008" marT="41148" marB="41148" anchor="ctr">
                    <a:solidFill>
                      <a:srgbClr val="241A5E"/>
                    </a:solidFill>
                  </a:tcPr>
                </a:tc>
                <a:tc>
                  <a:txBody>
                    <a:bodyPr wrap="square"/>
                    <a:lstStyle/>
                    <a:p>
                      <a:pPr algn="r" rtl="1">
                        <a:lnSpc>
                          <a:spcPts val="1024"/>
                        </a:lnSpc>
                      </a:pPr>
                      <a:r>
                        <a:rPr sz="800" b="0">
                          <a:solidFill>
                            <a:srgbClr val="FFFFFF"/>
                          </a:solidFill>
                          <a:latin typeface="Diodrum Arabic SemiBold"/>
                          <a:ea typeface="Diodrum Arabic SemiBold"/>
                          <a:cs typeface="Diodrum Arabic SemiBold"/>
                        </a:rPr>
                        <a:t>هل يوجد برنامج مخصص؟</a:t>
                      </a:r>
                    </a:p>
                  </a:txBody>
                  <a:tcPr marL="64008" marR="64008" marT="41148" marB="41148" anchor="ctr">
                    <a:solidFill>
                      <a:srgbClr val="241A5E"/>
                    </a:solidFill>
                  </a:tcPr>
                </a:tc>
                <a:tc>
                  <a:txBody>
                    <a:bodyPr wrap="square"/>
                    <a:lstStyle/>
                    <a:p>
                      <a:pPr algn="r" rtl="1">
                        <a:lnSpc>
                          <a:spcPts val="1024"/>
                        </a:lnSpc>
                      </a:pPr>
                      <a:r>
                        <a:rPr sz="800" b="0">
                          <a:solidFill>
                            <a:srgbClr val="FFFFFF"/>
                          </a:solidFill>
                          <a:latin typeface="Diodrum Arabic SemiBold"/>
                          <a:ea typeface="Diodrum Arabic SemiBold"/>
                          <a:cs typeface="Diodrum Arabic SemiBold"/>
                        </a:rPr>
                        <a:t>أفضل الأمثلة الموثقة</a:t>
                      </a:r>
                    </a:p>
                  </a:txBody>
                  <a:tcPr marL="64008" marR="64008" marT="41148" marB="41148" anchor="ctr">
                    <a:solidFill>
                      <a:srgbClr val="241A5E"/>
                    </a:solidFill>
                  </a:tcPr>
                </a:tc>
                <a:tc>
                  <a:txBody>
                    <a:bodyPr wrap="square"/>
                    <a:lstStyle/>
                    <a:p>
                      <a:pPr algn="r" rtl="1">
                        <a:lnSpc>
                          <a:spcPts val="1024"/>
                        </a:lnSpc>
                      </a:pPr>
                      <a:r>
                        <a:rPr sz="800" b="0">
                          <a:solidFill>
                            <a:srgbClr val="FFFFFF"/>
                          </a:solidFill>
                          <a:latin typeface="Diodrum Arabic SemiBold"/>
                          <a:ea typeface="Diodrum Arabic SemiBold"/>
                          <a:cs typeface="Diodrum Arabic SemiBold"/>
                        </a:rPr>
                        <a:t>المدة</a:t>
                      </a:r>
                    </a:p>
                  </a:txBody>
                  <a:tcPr marL="64008" marR="64008" marT="41148" marB="41148" anchor="ctr">
                    <a:solidFill>
                      <a:srgbClr val="241A5E"/>
                    </a:solidFill>
                  </a:tcPr>
                </a:tc>
                <a:tc>
                  <a:txBody>
                    <a:bodyPr wrap="square"/>
                    <a:lstStyle/>
                    <a:p>
                      <a:pPr algn="r" rtl="1">
                        <a:lnSpc>
                          <a:spcPts val="1024"/>
                        </a:lnSpc>
                      </a:pPr>
                      <a:r>
                        <a:rPr sz="800" b="0">
                          <a:solidFill>
                            <a:srgbClr val="FFFFFF"/>
                          </a:solidFill>
                          <a:latin typeface="Diodrum Arabic SemiBold"/>
                          <a:ea typeface="Diodrum Arabic SemiBold"/>
                          <a:cs typeface="Diodrum Arabic SemiBold"/>
                        </a:rPr>
                        <a:t>التقديم</a:t>
                      </a:r>
                    </a:p>
                  </a:txBody>
                  <a:tcPr marL="64008" marR="64008" marT="41148" marB="41148" anchor="ctr">
                    <a:solidFill>
                      <a:srgbClr val="241A5E"/>
                    </a:solidFill>
                  </a:tcPr>
                </a:tc>
                <a:tc>
                  <a:txBody>
                    <a:bodyPr wrap="square"/>
                    <a:lstStyle/>
                    <a:p>
                      <a:pPr algn="r" rtl="1">
                        <a:lnSpc>
                          <a:spcPts val="1024"/>
                        </a:lnSpc>
                      </a:pPr>
                      <a:r>
                        <a:rPr sz="800" b="0">
                          <a:solidFill>
                            <a:srgbClr val="FFFFFF"/>
                          </a:solidFill>
                          <a:latin typeface="Diodrum Arabic SemiBold"/>
                          <a:ea typeface="Diodrum Arabic SemiBold"/>
                          <a:cs typeface="Diodrum Arabic SemiBold"/>
                        </a:rPr>
                        <a:t>السعر</a:t>
                      </a:r>
                    </a:p>
                  </a:txBody>
                  <a:tcPr marL="64008" marR="64008" marT="41148" marB="41148" anchor="ctr">
                    <a:solidFill>
                      <a:srgbClr val="241A5E"/>
                    </a:solidFill>
                  </a:tcPr>
                </a:tc>
              </a:tr>
              <a:tr h="629412">
                <a:tc>
                  <a:txBody>
                    <a:bodyPr wrap="square"/>
                    <a:lstStyle/>
                    <a:p>
                      <a:pPr algn="r" rtl="1">
                        <a:lnSpc>
                          <a:spcPts val="960"/>
                        </a:lnSpc>
                      </a:pPr>
                      <a:r>
                        <a:rPr sz="750" b="0">
                          <a:solidFill>
                            <a:srgbClr val="232046"/>
                          </a:solidFill>
                          <a:latin typeface="Diodrum Arabic SemiBold"/>
                          <a:ea typeface="Diodrum Arabic SemiBold"/>
                          <a:cs typeface="Diodrum Arabic SemiBold"/>
                        </a:rPr>
                        <a:t>1 — الوزراء</a:t>
                      </a:r>
                    </a:p>
                  </a:txBody>
                  <a:tcPr marL="64008" marR="64008" marT="41148" marB="41148" anchor="ctr">
                    <a:solidFill>
                      <a:srgbClr val="ECE0F8"/>
                    </a:solidFill>
                  </a:tcPr>
                </a:tc>
                <a:tc>
                  <a:txBody>
                    <a:bodyPr wrap="square"/>
                    <a:lstStyle/>
                    <a:p>
                      <a:pPr algn="r" rtl="1">
                        <a:lnSpc>
                          <a:spcPts val="960"/>
                        </a:lnSpc>
                      </a:pPr>
                      <a:r>
                        <a:rPr sz="750" b="0">
                          <a:solidFill>
                            <a:srgbClr val="474956"/>
                          </a:solidFill>
                          <a:latin typeface="Diodrum Arabic"/>
                          <a:ea typeface="Diodrum Arabic"/>
                          <a:cs typeface="Diodrum Arabic"/>
                        </a:rPr>
                        <a:t>لا في السوق المفتوح؛ التغطية عبر صيغ مغلقة أو سيادية فقط</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معسكر غانا الوزاري [31]؛ الملتقى الوطني الإماراتي [28]؛ وفد «سدايا» في برنامج ستانفورد [55]</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من جلسات قصيرة إلى إقامة ثلاثة أيام</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مغلق أو سيادي أو باتفاق خاص</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غير معلن؛ لا يُتاح للشراء المفتوح</a:t>
                      </a:r>
                    </a:p>
                  </a:txBody>
                  <a:tcPr marL="64008" marR="64008" marT="41148" marB="41148" anchor="ctr">
                    <a:solidFill>
                      <a:srgbClr val="FFFFFF"/>
                    </a:solidFill>
                  </a:tcPr>
                </a:tc>
              </a:tr>
              <a:tr h="995172">
                <a:tc>
                  <a:txBody>
                    <a:bodyPr wrap="square"/>
                    <a:lstStyle/>
                    <a:p>
                      <a:pPr algn="r" rtl="1">
                        <a:lnSpc>
                          <a:spcPts val="960"/>
                        </a:lnSpc>
                      </a:pPr>
                      <a:r>
                        <a:rPr sz="750" b="0">
                          <a:solidFill>
                            <a:srgbClr val="232046"/>
                          </a:solidFill>
                          <a:latin typeface="Diodrum Arabic SemiBold"/>
                          <a:ea typeface="Diodrum Arabic SemiBold"/>
                          <a:cs typeface="Diodrum Arabic SemiBold"/>
                        </a:rPr>
                        <a:t>2 — نواب الوزراء وأصحاب المعالي</a:t>
                      </a:r>
                    </a:p>
                  </a:txBody>
                  <a:tcPr marL="64008" marR="64008" marT="41148" marB="41148" anchor="ctr">
                    <a:solidFill>
                      <a:srgbClr val="E2E0F0"/>
                    </a:solidFill>
                  </a:tcPr>
                </a:tc>
                <a:tc>
                  <a:txBody>
                    <a:bodyPr wrap="square"/>
                    <a:lstStyle/>
                    <a:p>
                      <a:pPr algn="r" rtl="1">
                        <a:lnSpc>
                          <a:spcPts val="960"/>
                        </a:lnSpc>
                      </a:pPr>
                      <a:r>
                        <a:rPr sz="750" b="0">
                          <a:solidFill>
                            <a:srgbClr val="474956"/>
                          </a:solidFill>
                          <a:latin typeface="Diodrum Arabic"/>
                          <a:ea typeface="Diodrum Arabic"/>
                          <a:cs typeface="Diodrum Arabic"/>
                        </a:rPr>
                        <a:t>دليل محدود عبر برامج انتقائية غير مخصصة حصرياً لهذه الفئة</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GAILP بجامعة محمد بن زايد [32]؛ «القيادة عبر الابتكار المشترك» ببلافاتنك [35]؛ MEP [34]</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5–6 أيام للإقامية؛ 16 أسبوعاً لـMEP</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إقامي انتقائي مفتوح، أو مقيد داخلياً</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AED 45,000 ≈ 45,950 ريالاً (GAILP)؛ £10,250 ≈ 52,271 ريالاً (بلافاتنك)؛ AED 35,000 ≈ 35,739 ريالاً (MEP)</a:t>
                      </a:r>
                    </a:p>
                  </a:txBody>
                  <a:tcPr marL="64008" marR="64008" marT="41148" marB="41148" anchor="ctr">
                    <a:solidFill>
                      <a:srgbClr val="F4F4F9"/>
                    </a:solidFill>
                  </a:tcPr>
                </a:tc>
              </a:tr>
              <a:tr h="873252">
                <a:tc>
                  <a:txBody>
                    <a:bodyPr wrap="square"/>
                    <a:lstStyle/>
                    <a:p>
                      <a:pPr algn="r" rtl="1">
                        <a:lnSpc>
                          <a:spcPts val="960"/>
                        </a:lnSpc>
                      </a:pPr>
                      <a:r>
                        <a:rPr sz="750" b="0">
                          <a:solidFill>
                            <a:srgbClr val="232046"/>
                          </a:solidFill>
                          <a:latin typeface="Diodrum Arabic SemiBold"/>
                          <a:ea typeface="Diodrum Arabic SemiBold"/>
                          <a:cs typeface="Diodrum Arabic SemiBold"/>
                        </a:rPr>
                        <a:t>3 — وكلاء الوزارات ونواب المحافظين</a:t>
                      </a:r>
                    </a:p>
                  </a:txBody>
                  <a:tcPr marL="64008" marR="64008" marT="41148" marB="41148" anchor="ctr">
                    <a:solidFill>
                      <a:srgbClr val="D9F1F2"/>
                    </a:solidFill>
                  </a:tcPr>
                </a:tc>
                <a:tc>
                  <a:txBody>
                    <a:bodyPr wrap="square"/>
                    <a:lstStyle/>
                    <a:p>
                      <a:pPr algn="r" rtl="1">
                        <a:lnSpc>
                          <a:spcPts val="960"/>
                        </a:lnSpc>
                      </a:pPr>
                      <a:r>
                        <a:rPr sz="750" b="0">
                          <a:solidFill>
                            <a:srgbClr val="474956"/>
                          </a:solidFill>
                          <a:latin typeface="Diodrum Arabic"/>
                          <a:ea typeface="Diodrum Arabic"/>
                          <a:cs typeface="Diodrum Arabic"/>
                        </a:rPr>
                        <a:t>نعم — أوسع طبقة مخصصة في السوق</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برنامج AI GLP المجاني بأفواج 25–30 [18]؛ برنامج جونز هوبكنز الاتحادي [22]؛ مبادرة مصر العربية [43]</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4–10 أسابيع مدمجة، وصولاً إلى عدة أشهر</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أفواج مدمجة موجهة، مقيدة الجهة أو مفتوحة</a:t>
                      </a:r>
                    </a:p>
                  </a:txBody>
                  <a:tcPr marL="64008" marR="64008" marT="41148" marB="41148" anchor="ctr">
                    <a:solidFill>
                      <a:srgbClr val="FFFFFF"/>
                    </a:solidFill>
                  </a:tcPr>
                </a:tc>
                <a:tc>
                  <a:txBody>
                    <a:bodyPr wrap="square"/>
                    <a:lstStyle/>
                    <a:p>
                      <a:pPr algn="r" rtl="1">
                        <a:lnSpc>
                          <a:spcPts val="960"/>
                        </a:lnSpc>
                      </a:pPr>
                      <a:r>
                        <a:rPr sz="750" b="0">
                          <a:solidFill>
                            <a:srgbClr val="474956"/>
                          </a:solidFill>
                          <a:latin typeface="Diodrum Arabic"/>
                          <a:ea typeface="Diodrum Arabic"/>
                          <a:cs typeface="Diodrum Arabic"/>
                        </a:rPr>
                        <a:t>من مجاني إلى US$2,450 ≈ 9,188 ريالاً (جونز هوبكنز، ويُعاد التأكد)؛ والبرامج المفتوحة الكبرى أعلى بكثير</a:t>
                      </a:r>
                    </a:p>
                  </a:txBody>
                  <a:tcPr marL="64008" marR="64008" marT="41148" marB="41148" anchor="ctr">
                    <a:solidFill>
                      <a:srgbClr val="FFFFFF"/>
                    </a:solidFill>
                  </a:tcPr>
                </a:tc>
              </a:tr>
              <a:tr h="629412">
                <a:tc>
                  <a:txBody>
                    <a:bodyPr wrap="square"/>
                    <a:lstStyle/>
                    <a:p>
                      <a:pPr algn="r" rtl="1">
                        <a:lnSpc>
                          <a:spcPts val="960"/>
                        </a:lnSpc>
                      </a:pPr>
                      <a:r>
                        <a:rPr sz="750" b="0">
                          <a:solidFill>
                            <a:srgbClr val="232046"/>
                          </a:solidFill>
                          <a:latin typeface="Diodrum Arabic SemiBold"/>
                          <a:ea typeface="Diodrum Arabic SemiBold"/>
                          <a:cs typeface="Diodrum Arabic SemiBold"/>
                        </a:rPr>
                        <a:t>4 — الوكلاء المساعدون والقيادات التنفيذية</a:t>
                      </a:r>
                    </a:p>
                  </a:txBody>
                  <a:tcPr marL="64008" marR="64008" marT="41148" marB="41148" anchor="ctr">
                    <a:solidFill>
                      <a:srgbClr val="DDF5EA"/>
                    </a:solidFill>
                  </a:tcPr>
                </a:tc>
                <a:tc>
                  <a:txBody>
                    <a:bodyPr wrap="square"/>
                    <a:lstStyle/>
                    <a:p>
                      <a:pPr algn="r" rtl="1">
                        <a:lnSpc>
                          <a:spcPts val="960"/>
                        </a:lnSpc>
                      </a:pPr>
                      <a:r>
                        <a:rPr sz="750" b="0">
                          <a:solidFill>
                            <a:srgbClr val="474956"/>
                          </a:solidFill>
                          <a:latin typeface="Diodrum Arabic"/>
                          <a:ea typeface="Diodrum Arabic"/>
                          <a:cs typeface="Diodrum Arabic"/>
                        </a:rPr>
                        <a:t>نعم — محتوى واسع متعدد الصيغ</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مقررات أكسفورد سعيد الإلكترونية [61]؛ خط أساس Apolitical القابل للترخيص [48]؛ المنصات الوطنية ومحتوى «سدايا» [52]</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من وحدات قصيرة إلى 6 أسابيع إلكترونية</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إلكتروني ذاتي الإيقاع أو موجه</a:t>
                      </a:r>
                    </a:p>
                  </a:txBody>
                  <a:tcPr marL="64008" marR="64008" marT="41148" marB="41148" anchor="ctr">
                    <a:solidFill>
                      <a:srgbClr val="F4F4F9"/>
                    </a:solidFill>
                  </a:tcPr>
                </a:tc>
                <a:tc>
                  <a:txBody>
                    <a:bodyPr wrap="square"/>
                    <a:lstStyle/>
                    <a:p>
                      <a:pPr algn="r" rtl="1">
                        <a:lnSpc>
                          <a:spcPts val="960"/>
                        </a:lnSpc>
                      </a:pPr>
                      <a:r>
                        <a:rPr sz="750" b="0">
                          <a:solidFill>
                            <a:srgbClr val="474956"/>
                          </a:solidFill>
                          <a:latin typeface="Diodrum Arabic"/>
                          <a:ea typeface="Diodrum Arabic"/>
                          <a:cs typeface="Diodrum Arabic"/>
                        </a:rPr>
                        <a:t>من صفر إلى £2,450 ≈ 12,494 ريالاً</a:t>
                      </a:r>
                    </a:p>
                  </a:txBody>
                  <a:tcPr marL="64008" marR="64008" marT="41148" marB="41148" anchor="ctr">
                    <a:solidFill>
                      <a:srgbClr val="F4F4F9"/>
                    </a:solidFill>
                  </a:tcPr>
                </a:tc>
              </a:tr>
            </a:tbl>
          </a:graphicData>
        </a:graphic>
      </p:graphicFrame>
      <p:sp>
        <p:nvSpPr>
          <p:cNvPr id="7" name="Rounded Rectangle 6"/>
          <p:cNvSpPr/>
          <p:nvPr/>
        </p:nvSpPr>
        <p:spPr>
          <a:xfrm>
            <a:off x="566928" y="5501640"/>
            <a:ext cx="6428231" cy="1394650"/>
          </a:xfrm>
          <a:prstGeom prst="roundRect">
            <a:avLst>
              <a:gd name="adj" fmla="val 590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666232"/>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نمط هيكلي، لا مصادفة سوقية</a:t>
            </a:r>
          </a:p>
        </p:txBody>
      </p:sp>
      <p:sp>
        <p:nvSpPr>
          <p:cNvPr id="9" name="TextBox 8"/>
          <p:cNvSpPr txBox="1"/>
          <p:nvPr/>
        </p:nvSpPr>
        <p:spPr>
          <a:xfrm>
            <a:off x="731520" y="5875782"/>
            <a:ext cx="6099047" cy="848106"/>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لا تظهر مسميات «نائب وزير» و«محافظ» و«مساعد وزير» صراحة في الجمهور المعلن لأي برنامج موثق ضمن نطاق المراجعة؛ وتتم التغطية الفعلية بمكافئات وظيفية — الأمناء الدائمون في البرنامج البريطاني [30]، ووكلاء الوزارات في البرنامج التنفيذي الإماراتي [34]، ودرجتا GS-15 وSES في البرامج الأمريكية [18]. فالفجوة في المستويين الأول والثاني تقديمية أكثر منها معرفية — سرية الجلسة، وضآلة الفوج، وحالات حكومية موثوقة، وملاءمة القرار — إذ إن المحتوى المناسب موجود في السوق ويمكن الحصول عليه [62].</a:t>
            </a:r>
          </a:p>
        </p:txBody>
      </p:sp>
      <p:sp>
        <p:nvSpPr>
          <p:cNvPr id="10" name="Rectangle 9"/>
          <p:cNvSpPr/>
          <p:nvPr/>
        </p:nvSpPr>
        <p:spPr>
          <a:xfrm>
            <a:off x="6949440" y="7079170"/>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7088314"/>
            <a:ext cx="6199631" cy="211836"/>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وعلى هذه الخلاصة يبني القسم الخامس النموذج المقترح للمملكة.</a:t>
            </a:r>
          </a:p>
        </p:txBody>
      </p:sp>
      <p:sp>
        <p:nvSpPr>
          <p:cNvPr id="12" name="Rectangle 1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14" name="TextBox 1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842769"/>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r" rtl="1">
              <a:lnSpc>
                <a:spcPts val="1276"/>
              </a:lnSpc>
            </a:pPr>
            <a:r>
              <a:rPr sz="1100" b="0">
                <a:solidFill>
                  <a:srgbClr val="CEC6EC"/>
                </a:solidFill>
                <a:latin typeface="Diodrum Arabic SemiBold"/>
                <a:ea typeface="Diodrum Arabic SemiBold"/>
                <a:cs typeface="Diodrum Arabic SemiBold"/>
              </a:rPr>
              <a:t>القسم 05</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r" rtl="1">
              <a:lnSpc>
                <a:spcPts val="2595"/>
              </a:lnSpc>
            </a:pPr>
            <a:r>
              <a:rPr sz="2200" b="1">
                <a:solidFill>
                  <a:srgbClr val="FFFFFF"/>
                </a:solidFill>
                <a:latin typeface="Diodrum Arabic"/>
                <a:ea typeface="Diodrum Arabic"/>
                <a:cs typeface="Diodrum Arabic"/>
              </a:rPr>
              <a:t>النموذج المقترح للمملكة</a:t>
            </a:r>
          </a:p>
        </p:txBody>
      </p:sp>
      <p:sp>
        <p:nvSpPr>
          <p:cNvPr id="5" name="TextBox 4"/>
          <p:cNvSpPr txBox="1"/>
          <p:nvPr/>
        </p:nvSpPr>
        <p:spPr>
          <a:xfrm>
            <a:off x="566928" y="1116075"/>
            <a:ext cx="5513831" cy="379221"/>
          </a:xfrm>
          <a:prstGeom prst="rect">
            <a:avLst/>
          </a:prstGeom>
          <a:noFill/>
        </p:spPr>
        <p:txBody>
          <a:bodyPr wrap="square" lIns="0" rIns="0" tIns="0" bIns="0">
            <a:spAutoFit/>
          </a:bodyPr>
          <a:lstStyle/>
          <a:p>
            <a:pPr algn="r" rtl="1">
              <a:lnSpc>
                <a:spcPts val="1348"/>
              </a:lnSpc>
            </a:pPr>
            <a:r>
              <a:rPr sz="950" b="0">
                <a:solidFill>
                  <a:srgbClr val="DDDAF0"/>
                </a:solidFill>
                <a:latin typeface="Diodrum Arabic"/>
                <a:ea typeface="Diodrum Arabic"/>
                <a:cs typeface="Diodrum Arabic"/>
              </a:rPr>
              <a:t>أربعة مسارات مترابطة — لا برنامج واحد بأربعة أطوال — تشترك في نواة معرفية واحدة، وحالات سعودية، وقياس موحد، وملكية وطنية [63].</a:t>
            </a:r>
          </a:p>
        </p:txBody>
      </p:sp>
      <p:sp>
        <p:nvSpPr>
          <p:cNvPr id="6" name="Rectangle 5"/>
          <p:cNvSpPr/>
          <p:nvPr/>
        </p:nvSpPr>
        <p:spPr>
          <a:xfrm>
            <a:off x="4892040"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57800"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23559"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89320" y="1623313"/>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79" y="1623313"/>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20840" y="1623313"/>
            <a:ext cx="274320" cy="45720"/>
          </a:xfrm>
          <a:prstGeom prst="rect">
            <a:avLst/>
          </a:prstGeom>
          <a:solidFill>
            <a:srgbClr val="6A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117089"/>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5.1  المسارات الأربعة</a:t>
            </a:r>
          </a:p>
        </p:txBody>
      </p:sp>
      <p:sp>
        <p:nvSpPr>
          <p:cNvPr id="13" name="TextBox 12"/>
          <p:cNvSpPr txBox="1"/>
          <p:nvPr/>
        </p:nvSpPr>
        <p:spPr>
          <a:xfrm>
            <a:off x="566928" y="2344927"/>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كل مسار يتبع ما أثبتته خريطة التوافر</a:t>
            </a:r>
          </a:p>
        </p:txBody>
      </p:sp>
      <p:sp>
        <p:nvSpPr>
          <p:cNvPr id="14" name="Rounded Rectangle 13"/>
          <p:cNvSpPr/>
          <p:nvPr/>
        </p:nvSpPr>
        <p:spPr>
          <a:xfrm>
            <a:off x="5497829" y="2725927"/>
            <a:ext cx="1497329" cy="1311402"/>
          </a:xfrm>
          <a:prstGeom prst="roundRect">
            <a:avLst>
              <a:gd name="adj" fmla="val 6275"/>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01383" y="2872231"/>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44133" y="2991103"/>
            <a:ext cx="1204721" cy="183769"/>
          </a:xfrm>
          <a:prstGeom prst="rect">
            <a:avLst/>
          </a:prstGeom>
          <a:noFill/>
        </p:spPr>
        <p:txBody>
          <a:bodyPr wrap="square" lIns="0" rIns="0" tIns="0" bIns="0">
            <a:spAutoFit/>
          </a:bodyPr>
          <a:lstStyle/>
          <a:p>
            <a:pPr algn="r" rtl="1">
              <a:lnSpc>
                <a:spcPts val="1159"/>
              </a:lnSpc>
            </a:pPr>
            <a:r>
              <a:rPr sz="950" b="0">
                <a:solidFill>
                  <a:srgbClr val="7C32C9"/>
                </a:solidFill>
                <a:latin typeface="Diodrum Arabic SemiBold"/>
                <a:ea typeface="Diodrum Arabic SemiBold"/>
                <a:cs typeface="Diodrum Arabic SemiBold"/>
              </a:rPr>
              <a:t>الوزراء — بناء محلي</a:t>
            </a:r>
          </a:p>
        </p:txBody>
      </p:sp>
      <p:sp>
        <p:nvSpPr>
          <p:cNvPr id="17" name="TextBox 16"/>
          <p:cNvSpPr txBox="1"/>
          <p:nvPr/>
        </p:nvSpPr>
        <p:spPr>
          <a:xfrm>
            <a:off x="5644133" y="3202304"/>
            <a:ext cx="1204721" cy="693801"/>
          </a:xfrm>
          <a:prstGeom prst="rect">
            <a:avLst/>
          </a:prstGeom>
          <a:noFill/>
        </p:spPr>
        <p:txBody>
          <a:bodyPr wrap="square" lIns="0" rIns="0" tIns="0" bIns="0">
            <a:spAutoFit/>
          </a:bodyPr>
          <a:lstStyle/>
          <a:p>
            <a:pPr algn="r" rtl="1">
              <a:lnSpc>
                <a:spcPts val="1035"/>
              </a:lnSpc>
            </a:pPr>
            <a:r>
              <a:rPr sz="750" b="0">
                <a:solidFill>
                  <a:srgbClr val="474956"/>
                </a:solidFill>
                <a:latin typeface="Diodrum Arabic"/>
                <a:ea typeface="Diodrum Arabic"/>
                <a:cs typeface="Diodrum Arabic"/>
              </a:rPr>
              <a:t>صيغة سعودية مغلقة: جلسات قرار قصيرة، وعدد محدود، وسرية عالية، ومخرج موقع. الفوج المقترح: لا يتجاوز 12 مشاركاً [63].</a:t>
            </a:r>
          </a:p>
        </p:txBody>
      </p:sp>
      <p:sp>
        <p:nvSpPr>
          <p:cNvPr id="18" name="Rounded Rectangle 17"/>
          <p:cNvSpPr/>
          <p:nvPr/>
        </p:nvSpPr>
        <p:spPr>
          <a:xfrm>
            <a:off x="3854195" y="2725927"/>
            <a:ext cx="1497329" cy="1311402"/>
          </a:xfrm>
          <a:prstGeom prst="roundRect">
            <a:avLst>
              <a:gd name="adj" fmla="val 6275"/>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57749" y="2872231"/>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00499" y="2991103"/>
            <a:ext cx="1204721" cy="478155"/>
          </a:xfrm>
          <a:prstGeom prst="rect">
            <a:avLst/>
          </a:prstGeom>
          <a:noFill/>
        </p:spPr>
        <p:txBody>
          <a:bodyPr wrap="square" lIns="0" rIns="0" tIns="0" bIns="0">
            <a:spAutoFit/>
          </a:bodyPr>
          <a:lstStyle/>
          <a:p>
            <a:pPr algn="r" rtl="1">
              <a:lnSpc>
                <a:spcPts val="1159"/>
              </a:lnSpc>
            </a:pPr>
            <a:r>
              <a:rPr sz="950" b="0">
                <a:solidFill>
                  <a:srgbClr val="2A206A"/>
                </a:solidFill>
                <a:latin typeface="Diodrum Arabic SemiBold"/>
                <a:ea typeface="Diodrum Arabic SemiBold"/>
                <a:cs typeface="Diodrum Arabic SemiBold"/>
              </a:rPr>
              <a:t>نواب الوزراء وأصحاب المعالي — تطوير مشترك</a:t>
            </a:r>
          </a:p>
        </p:txBody>
      </p:sp>
      <p:sp>
        <p:nvSpPr>
          <p:cNvPr id="21" name="TextBox 20"/>
          <p:cNvSpPr txBox="1"/>
          <p:nvPr/>
        </p:nvSpPr>
        <p:spPr>
          <a:xfrm>
            <a:off x="4000499" y="3496690"/>
            <a:ext cx="1204721" cy="430910"/>
          </a:xfrm>
          <a:prstGeom prst="rect">
            <a:avLst/>
          </a:prstGeom>
          <a:noFill/>
        </p:spPr>
        <p:txBody>
          <a:bodyPr wrap="square" lIns="0" rIns="0" tIns="0" bIns="0">
            <a:spAutoFit/>
          </a:bodyPr>
          <a:lstStyle/>
          <a:p>
            <a:pPr algn="r" rtl="1">
              <a:lnSpc>
                <a:spcPts val="1035"/>
              </a:lnSpc>
            </a:pPr>
            <a:r>
              <a:rPr sz="750" b="0">
                <a:solidFill>
                  <a:srgbClr val="474956"/>
                </a:solidFill>
                <a:latin typeface="Diodrum Arabic"/>
                <a:ea typeface="Diodrum Arabic"/>
                <a:cs typeface="Diodrum Arabic"/>
              </a:rPr>
              <a:t>برنامج انتقائي مع شريك دولي أو إقليمي — وحالات سعودية بملكية سعودية.</a:t>
            </a:r>
          </a:p>
        </p:txBody>
      </p:sp>
      <p:sp>
        <p:nvSpPr>
          <p:cNvPr id="22" name="Rounded Rectangle 21"/>
          <p:cNvSpPr/>
          <p:nvPr/>
        </p:nvSpPr>
        <p:spPr>
          <a:xfrm>
            <a:off x="2210561" y="2725927"/>
            <a:ext cx="1497329" cy="1311402"/>
          </a:xfrm>
          <a:prstGeom prst="roundRect">
            <a:avLst>
              <a:gd name="adj" fmla="val 6275"/>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14115" y="2872231"/>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56865" y="2991103"/>
            <a:ext cx="1204721" cy="183769"/>
          </a:xfrm>
          <a:prstGeom prst="rect">
            <a:avLst/>
          </a:prstGeom>
          <a:noFill/>
        </p:spPr>
        <p:txBody>
          <a:bodyPr wrap="square" lIns="0" rIns="0" tIns="0" bIns="0">
            <a:spAutoFit/>
          </a:bodyPr>
          <a:lstStyle/>
          <a:p>
            <a:pPr algn="r" rtl="1">
              <a:lnSpc>
                <a:spcPts val="1159"/>
              </a:lnSpc>
            </a:pPr>
            <a:r>
              <a:rPr sz="950" b="0">
                <a:solidFill>
                  <a:srgbClr val="00ABAF"/>
                </a:solidFill>
                <a:latin typeface="Diodrum Arabic SemiBold"/>
                <a:ea typeface="Diodrum Arabic SemiBold"/>
                <a:cs typeface="Diodrum Arabic SemiBold"/>
              </a:rPr>
              <a:t>الوكلاء — شراء وتكييف</a:t>
            </a:r>
          </a:p>
        </p:txBody>
      </p:sp>
      <p:sp>
        <p:nvSpPr>
          <p:cNvPr id="25" name="TextBox 24"/>
          <p:cNvSpPr txBox="1"/>
          <p:nvPr/>
        </p:nvSpPr>
        <p:spPr>
          <a:xfrm>
            <a:off x="2356865" y="3202304"/>
            <a:ext cx="1204721" cy="299465"/>
          </a:xfrm>
          <a:prstGeom prst="rect">
            <a:avLst/>
          </a:prstGeom>
          <a:noFill/>
        </p:spPr>
        <p:txBody>
          <a:bodyPr wrap="square" lIns="0" rIns="0" tIns="0" bIns="0">
            <a:spAutoFit/>
          </a:bodyPr>
          <a:lstStyle/>
          <a:p>
            <a:pPr algn="r" rtl="1">
              <a:lnSpc>
                <a:spcPts val="1035"/>
              </a:lnSpc>
            </a:pPr>
            <a:r>
              <a:rPr sz="750" b="0">
                <a:solidFill>
                  <a:srgbClr val="474956"/>
                </a:solidFill>
                <a:latin typeface="Diodrum Arabic"/>
                <a:ea typeface="Diodrum Arabic"/>
                <a:cs typeface="Diodrum Arabic"/>
              </a:rPr>
              <a:t>الاستفادة من البرامج الموثقة القائمة، ثم تنفيذ أفواج محلية.</a:t>
            </a:r>
          </a:p>
        </p:txBody>
      </p:sp>
      <p:sp>
        <p:nvSpPr>
          <p:cNvPr id="26" name="Rounded Rectangle 25"/>
          <p:cNvSpPr/>
          <p:nvPr/>
        </p:nvSpPr>
        <p:spPr>
          <a:xfrm>
            <a:off x="566928" y="2725927"/>
            <a:ext cx="1497329" cy="1311402"/>
          </a:xfrm>
          <a:prstGeom prst="roundRect">
            <a:avLst>
              <a:gd name="adj" fmla="val 6275"/>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70481" y="2872231"/>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2991103"/>
            <a:ext cx="1204721" cy="478155"/>
          </a:xfrm>
          <a:prstGeom prst="rect">
            <a:avLst/>
          </a:prstGeom>
          <a:noFill/>
        </p:spPr>
        <p:txBody>
          <a:bodyPr wrap="square" lIns="0" rIns="0" tIns="0" bIns="0">
            <a:spAutoFit/>
          </a:bodyPr>
          <a:lstStyle/>
          <a:p>
            <a:pPr algn="r" rtl="1">
              <a:lnSpc>
                <a:spcPts val="1159"/>
              </a:lnSpc>
            </a:pPr>
            <a:r>
              <a:rPr sz="950" b="0">
                <a:solidFill>
                  <a:srgbClr val="1CC182"/>
                </a:solidFill>
                <a:latin typeface="Diodrum Arabic SemiBold"/>
                <a:ea typeface="Diodrum Arabic SemiBold"/>
                <a:cs typeface="Diodrum Arabic SemiBold"/>
              </a:rPr>
              <a:t>الوكلاء المساعدون — ترخيص وتوطين وتوسيع</a:t>
            </a:r>
          </a:p>
        </p:txBody>
      </p:sp>
      <p:sp>
        <p:nvSpPr>
          <p:cNvPr id="29" name="TextBox 28"/>
          <p:cNvSpPr txBox="1"/>
          <p:nvPr/>
        </p:nvSpPr>
        <p:spPr>
          <a:xfrm>
            <a:off x="713232" y="3496690"/>
            <a:ext cx="1204721" cy="299465"/>
          </a:xfrm>
          <a:prstGeom prst="rect">
            <a:avLst/>
          </a:prstGeom>
          <a:noFill/>
        </p:spPr>
        <p:txBody>
          <a:bodyPr wrap="square" lIns="0" rIns="0" tIns="0" bIns="0">
            <a:spAutoFit/>
          </a:bodyPr>
          <a:lstStyle/>
          <a:p>
            <a:pPr algn="r" rtl="1">
              <a:lnSpc>
                <a:spcPts val="1035"/>
              </a:lnSpc>
            </a:pPr>
            <a:r>
              <a:rPr sz="750" b="0">
                <a:solidFill>
                  <a:srgbClr val="474956"/>
                </a:solidFill>
                <a:latin typeface="Diodrum Arabic"/>
                <a:ea typeface="Diodrum Arabic"/>
                <a:cs typeface="Diodrum Arabic"/>
              </a:rPr>
              <a:t>محتوى رقمي ومختلط عبر منصة «قدراتك».</a:t>
            </a:r>
          </a:p>
        </p:txBody>
      </p:sp>
      <p:sp>
        <p:nvSpPr>
          <p:cNvPr id="30" name="Rounded Rectangle 29"/>
          <p:cNvSpPr/>
          <p:nvPr/>
        </p:nvSpPr>
        <p:spPr>
          <a:xfrm>
            <a:off x="566928" y="4220209"/>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4403090"/>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الأساس المشترك — يُملك مرة واحدة وتستخدمه المسارات الأربعة</a:t>
            </a:r>
          </a:p>
        </p:txBody>
      </p:sp>
      <p:sp>
        <p:nvSpPr>
          <p:cNvPr id="32" name="TextBox 31"/>
          <p:cNvSpPr txBox="1"/>
          <p:nvPr/>
        </p:nvSpPr>
        <p:spPr>
          <a:xfrm>
            <a:off x="749808" y="4603495"/>
            <a:ext cx="6062471" cy="361187"/>
          </a:xfrm>
          <a:prstGeom prst="rect">
            <a:avLst/>
          </a:prstGeom>
          <a:noFill/>
        </p:spPr>
        <p:txBody>
          <a:bodyPr wrap="square" lIns="0" rIns="0" tIns="0" bIns="0">
            <a:spAutoFit/>
          </a:bodyPr>
          <a:lstStyle/>
          <a:p>
            <a:pPr algn="r" rtl="1">
              <a:lnSpc>
                <a:spcPts val="1278"/>
              </a:lnSpc>
            </a:pPr>
            <a:r>
              <a:rPr sz="900" b="0">
                <a:solidFill>
                  <a:srgbClr val="FFFFFF"/>
                </a:solidFill>
                <a:latin typeface="Diodrum Arabic"/>
                <a:ea typeface="Diodrum Arabic"/>
                <a:cs typeface="Diodrum Arabic"/>
              </a:rPr>
              <a:t>نواة معرفية واحدة · مكتبة حالات سعودية · إطار قياس واحد · بروتوكول سرية وحوكمة واحد · ملكية وطنية للبيانات ونموذج التشغيل.</a:t>
            </a:r>
          </a:p>
        </p:txBody>
      </p:sp>
      <p:sp>
        <p:nvSpPr>
          <p:cNvPr id="33" name="TextBox 32"/>
          <p:cNvSpPr txBox="1"/>
          <p:nvPr/>
        </p:nvSpPr>
        <p:spPr>
          <a:xfrm>
            <a:off x="566928" y="5329110"/>
            <a:ext cx="6428231" cy="523494"/>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بناء حيث لا يعرض السوق صيغة قابلة للالتحاق؛ وتطوير مشترك حيث توجد برامج انتقائية ناقصة الملكية المحلية؛ وشراء وتكييف حيث تتوافر نماذج موثقة؛ وترخيص وتوسيع حيث المحتوى واسع ورقمي. وحجم الفوج الوزاري يجعل اقتصاديات ذلك المسار مختلفة جوهرياً عن أفواج المستويين الثالث والرابع [63].</a:t>
            </a:r>
          </a:p>
        </p:txBody>
      </p:sp>
      <p:sp>
        <p:nvSpPr>
          <p:cNvPr id="34" name="Rectangle 33"/>
          <p:cNvSpPr/>
          <p:nvPr/>
        </p:nvSpPr>
        <p:spPr>
          <a:xfrm>
            <a:off x="6949440" y="5962332"/>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971476"/>
            <a:ext cx="6199631" cy="211836"/>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وتشترك المسارات الأربعة، رغم تباينها، في نواة معرفية واحدة — هي موضوع الصفحة التالية.</a:t>
            </a:r>
          </a:p>
        </p:txBody>
      </p:sp>
      <p:sp>
        <p:nvSpPr>
          <p:cNvPr id="36" name="Rectangle 35"/>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38" name="TextBox 37"/>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05 · 5.2  النواة المشتركة والمحتوى المتخصص</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سبعة مكونات مشتركة؛ وأربعة تفرعات بحسب نوع القرار</a:t>
            </a:r>
          </a:p>
        </p:txBody>
      </p:sp>
      <p:sp>
        <p:nvSpPr>
          <p:cNvPr id="4" name="TextBox 3"/>
          <p:cNvSpPr txBox="1"/>
          <p:nvPr/>
        </p:nvSpPr>
        <p:spPr>
          <a:xfrm>
            <a:off x="566928" y="1111758"/>
            <a:ext cx="6428231" cy="374395"/>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وحدة النواة تمنع ازدواج الإنفاق على تطوير المحتوى، وتضمن معجماً واحداً يتحدث به الوزير والوكيل المساعد عندما يتداولان الملف نفسه [63].</a:t>
            </a:r>
          </a:p>
        </p:txBody>
      </p:sp>
      <p:sp>
        <p:nvSpPr>
          <p:cNvPr id="5" name="Rectangle 4"/>
          <p:cNvSpPr/>
          <p:nvPr/>
        </p:nvSpPr>
        <p:spPr>
          <a:xfrm>
            <a:off x="6492240" y="154101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97829" y="1723898"/>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01383" y="187020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44133" y="1989073"/>
            <a:ext cx="1204721" cy="299973"/>
          </a:xfrm>
          <a:prstGeom prst="rect">
            <a:avLst/>
          </a:prstGeom>
          <a:noFill/>
        </p:spPr>
        <p:txBody>
          <a:bodyPr wrap="square" lIns="0" rIns="0" tIns="0" bIns="0">
            <a:spAutoFit/>
          </a:bodyPr>
          <a:lstStyle/>
          <a:p>
            <a:pPr algn="r" rtl="1">
              <a:lnSpc>
                <a:spcPts val="1037"/>
              </a:lnSpc>
            </a:pPr>
            <a:r>
              <a:rPr sz="850" b="0">
                <a:solidFill>
                  <a:srgbClr val="7C32C9"/>
                </a:solidFill>
                <a:latin typeface="Diodrum Arabic SemiBold"/>
                <a:ea typeface="Diodrum Arabic SemiBold"/>
                <a:cs typeface="Diodrum Arabic SemiBold"/>
              </a:rPr>
              <a:t>قدرات الذكاء الاصطناعي وحدوده</a:t>
            </a:r>
          </a:p>
        </p:txBody>
      </p:sp>
      <p:sp>
        <p:nvSpPr>
          <p:cNvPr id="9" name="Rounded Rectangle 8"/>
          <p:cNvSpPr/>
          <p:nvPr/>
        </p:nvSpPr>
        <p:spPr>
          <a:xfrm>
            <a:off x="3854195" y="1723898"/>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57749" y="187020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00499" y="1989073"/>
            <a:ext cx="1204721" cy="168275"/>
          </a:xfrm>
          <a:prstGeom prst="rect">
            <a:avLst/>
          </a:prstGeom>
          <a:noFill/>
        </p:spPr>
        <p:txBody>
          <a:bodyPr wrap="square" lIns="0" rIns="0" tIns="0" bIns="0">
            <a:spAutoFit/>
          </a:bodyPr>
          <a:lstStyle/>
          <a:p>
            <a:pPr algn="r" rtl="1">
              <a:lnSpc>
                <a:spcPts val="1037"/>
              </a:lnSpc>
            </a:pPr>
            <a:r>
              <a:rPr sz="850" b="0">
                <a:solidFill>
                  <a:srgbClr val="00ABAF"/>
                </a:solidFill>
                <a:latin typeface="Diodrum Arabic SemiBold"/>
                <a:ea typeface="Diodrum Arabic SemiBold"/>
                <a:cs typeface="Diodrum Arabic SemiBold"/>
              </a:rPr>
              <a:t>الحوكمة</a:t>
            </a:r>
          </a:p>
        </p:txBody>
      </p:sp>
      <p:sp>
        <p:nvSpPr>
          <p:cNvPr id="12" name="Rounded Rectangle 11"/>
          <p:cNvSpPr/>
          <p:nvPr/>
        </p:nvSpPr>
        <p:spPr>
          <a:xfrm>
            <a:off x="2210561" y="1723898"/>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14115" y="1870202"/>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56865" y="1989073"/>
            <a:ext cx="1204721" cy="168275"/>
          </a:xfrm>
          <a:prstGeom prst="rect">
            <a:avLst/>
          </a:prstGeom>
          <a:noFill/>
        </p:spPr>
        <p:txBody>
          <a:bodyPr wrap="square" lIns="0" rIns="0" tIns="0" bIns="0">
            <a:spAutoFit/>
          </a:bodyPr>
          <a:lstStyle/>
          <a:p>
            <a:pPr algn="r" rtl="1">
              <a:lnSpc>
                <a:spcPts val="1037"/>
              </a:lnSpc>
            </a:pPr>
            <a:r>
              <a:rPr sz="850" b="0">
                <a:solidFill>
                  <a:srgbClr val="1CC182"/>
                </a:solidFill>
                <a:latin typeface="Diodrum Arabic SemiBold"/>
                <a:ea typeface="Diodrum Arabic SemiBold"/>
                <a:cs typeface="Diodrum Arabic SemiBold"/>
              </a:rPr>
              <a:t>المخاطر</a:t>
            </a:r>
          </a:p>
        </p:txBody>
      </p:sp>
      <p:sp>
        <p:nvSpPr>
          <p:cNvPr id="15" name="Rounded Rectangle 14"/>
          <p:cNvSpPr/>
          <p:nvPr/>
        </p:nvSpPr>
        <p:spPr>
          <a:xfrm>
            <a:off x="566928" y="1723898"/>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70481" y="1870202"/>
            <a:ext cx="347472" cy="45720"/>
          </a:xfrm>
          <a:prstGeom prst="rect">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1989073"/>
            <a:ext cx="1204721" cy="168275"/>
          </a:xfrm>
          <a:prstGeom prst="rect">
            <a:avLst/>
          </a:prstGeom>
          <a:noFill/>
        </p:spPr>
        <p:txBody>
          <a:bodyPr wrap="square" lIns="0" rIns="0" tIns="0" bIns="0">
            <a:spAutoFit/>
          </a:bodyPr>
          <a:lstStyle/>
          <a:p>
            <a:pPr algn="r" rtl="1">
              <a:lnSpc>
                <a:spcPts val="1037"/>
              </a:lnSpc>
            </a:pPr>
            <a:r>
              <a:rPr sz="850" b="0">
                <a:solidFill>
                  <a:srgbClr val="2D9CDB"/>
                </a:solidFill>
                <a:latin typeface="Diodrum Arabic SemiBold"/>
                <a:ea typeface="Diodrum Arabic SemiBold"/>
                <a:cs typeface="Diodrum Arabic SemiBold"/>
              </a:rPr>
              <a:t>الاستخدام المسؤول</a:t>
            </a:r>
          </a:p>
        </p:txBody>
      </p:sp>
      <p:sp>
        <p:nvSpPr>
          <p:cNvPr id="18" name="Rounded Rectangle 17"/>
          <p:cNvSpPr/>
          <p:nvPr/>
        </p:nvSpPr>
        <p:spPr>
          <a:xfrm>
            <a:off x="5497829" y="2609088"/>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01383" y="275539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44133" y="2874264"/>
            <a:ext cx="1204721" cy="168275"/>
          </a:xfrm>
          <a:prstGeom prst="rect">
            <a:avLst/>
          </a:prstGeom>
          <a:noFill/>
        </p:spPr>
        <p:txBody>
          <a:bodyPr wrap="square" lIns="0" rIns="0" tIns="0" bIns="0">
            <a:spAutoFit/>
          </a:bodyPr>
          <a:lstStyle/>
          <a:p>
            <a:pPr algn="r" rtl="1">
              <a:lnSpc>
                <a:spcPts val="1037"/>
              </a:lnSpc>
            </a:pPr>
            <a:r>
              <a:rPr sz="850" b="0">
                <a:solidFill>
                  <a:srgbClr val="7C32C9"/>
                </a:solidFill>
                <a:latin typeface="Diodrum Arabic SemiBold"/>
                <a:ea typeface="Diodrum Arabic SemiBold"/>
                <a:cs typeface="Diodrum Arabic SemiBold"/>
              </a:rPr>
              <a:t>الجوانب الاقتصادية</a:t>
            </a:r>
          </a:p>
        </p:txBody>
      </p:sp>
      <p:sp>
        <p:nvSpPr>
          <p:cNvPr id="21" name="Rounded Rectangle 20"/>
          <p:cNvSpPr/>
          <p:nvPr/>
        </p:nvSpPr>
        <p:spPr>
          <a:xfrm>
            <a:off x="3854195" y="2609088"/>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57749" y="275539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00499" y="2874264"/>
            <a:ext cx="1204721" cy="168275"/>
          </a:xfrm>
          <a:prstGeom prst="rect">
            <a:avLst/>
          </a:prstGeom>
          <a:noFill/>
        </p:spPr>
        <p:txBody>
          <a:bodyPr wrap="square" lIns="0" rIns="0" tIns="0" bIns="0">
            <a:spAutoFit/>
          </a:bodyPr>
          <a:lstStyle/>
          <a:p>
            <a:pPr algn="r" rtl="1">
              <a:lnSpc>
                <a:spcPts val="1037"/>
              </a:lnSpc>
            </a:pPr>
            <a:r>
              <a:rPr sz="850" b="0">
                <a:solidFill>
                  <a:srgbClr val="00ABAF"/>
                </a:solidFill>
                <a:latin typeface="Diodrum Arabic SemiBold"/>
                <a:ea typeface="Diodrum Arabic SemiBold"/>
                <a:cs typeface="Diodrum Arabic SemiBold"/>
              </a:rPr>
              <a:t>القيمة العامة</a:t>
            </a:r>
          </a:p>
        </p:txBody>
      </p:sp>
      <p:sp>
        <p:nvSpPr>
          <p:cNvPr id="24" name="Rounded Rectangle 23"/>
          <p:cNvSpPr/>
          <p:nvPr/>
        </p:nvSpPr>
        <p:spPr>
          <a:xfrm>
            <a:off x="2210561" y="2609088"/>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14115" y="2755392"/>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56865" y="2874264"/>
            <a:ext cx="1204721" cy="168275"/>
          </a:xfrm>
          <a:prstGeom prst="rect">
            <a:avLst/>
          </a:prstGeom>
          <a:noFill/>
        </p:spPr>
        <p:txBody>
          <a:bodyPr wrap="square" lIns="0" rIns="0" tIns="0" bIns="0">
            <a:spAutoFit/>
          </a:bodyPr>
          <a:lstStyle/>
          <a:p>
            <a:pPr algn="r" rtl="1">
              <a:lnSpc>
                <a:spcPts val="1037"/>
              </a:lnSpc>
            </a:pPr>
            <a:r>
              <a:rPr sz="850" b="0">
                <a:solidFill>
                  <a:srgbClr val="1CC182"/>
                </a:solidFill>
                <a:latin typeface="Diodrum Arabic SemiBold"/>
                <a:ea typeface="Diodrum Arabic SemiBold"/>
                <a:cs typeface="Diodrum Arabic SemiBold"/>
              </a:rPr>
              <a:t>المساءلة</a:t>
            </a:r>
          </a:p>
        </p:txBody>
      </p:sp>
      <p:sp>
        <p:nvSpPr>
          <p:cNvPr id="27" name="Rounded Rectangle 26"/>
          <p:cNvSpPr/>
          <p:nvPr/>
        </p:nvSpPr>
        <p:spPr>
          <a:xfrm>
            <a:off x="566928" y="2609088"/>
            <a:ext cx="1497329" cy="738886"/>
          </a:xfrm>
          <a:prstGeom prst="roundRect">
            <a:avLst>
              <a:gd name="adj" fmla="val 111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570481" y="2755392"/>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2874264"/>
            <a:ext cx="1204721" cy="299973"/>
          </a:xfrm>
          <a:prstGeom prst="rect">
            <a:avLst/>
          </a:prstGeom>
          <a:noFill/>
        </p:spPr>
        <p:txBody>
          <a:bodyPr wrap="square" lIns="0" rIns="0" tIns="0" bIns="0">
            <a:spAutoFit/>
          </a:bodyPr>
          <a:lstStyle/>
          <a:p>
            <a:pPr algn="r" rtl="1">
              <a:lnSpc>
                <a:spcPts val="1037"/>
              </a:lnSpc>
            </a:pPr>
            <a:r>
              <a:rPr sz="850" b="0">
                <a:solidFill>
                  <a:srgbClr val="2A206A"/>
                </a:solidFill>
                <a:latin typeface="Diodrum Arabic SemiBold"/>
                <a:ea typeface="Diodrum Arabic SemiBold"/>
                <a:cs typeface="Diodrum Arabic SemiBold"/>
              </a:rPr>
              <a:t>معجم واحد عبر المستويات</a:t>
            </a:r>
          </a:p>
        </p:txBody>
      </p:sp>
      <p:sp>
        <p:nvSpPr>
          <p:cNvPr id="30" name="TextBox 29"/>
          <p:cNvSpPr txBox="1"/>
          <p:nvPr/>
        </p:nvSpPr>
        <p:spPr>
          <a:xfrm>
            <a:off x="566928" y="3530854"/>
            <a:ext cx="6428231" cy="205994"/>
          </a:xfrm>
          <a:prstGeom prst="rect">
            <a:avLst/>
          </a:prstGeom>
          <a:noFill/>
        </p:spPr>
        <p:txBody>
          <a:bodyPr wrap="square" lIns="0" rIns="0" tIns="0" bIns="0">
            <a:spAutoFit/>
          </a:bodyPr>
          <a:lstStyle/>
          <a:p>
            <a:pPr algn="r" rtl="1">
              <a:lnSpc>
                <a:spcPts val="1334"/>
              </a:lnSpc>
            </a:pPr>
            <a:r>
              <a:rPr sz="1150" b="0">
                <a:solidFill>
                  <a:srgbClr val="7C32C9"/>
                </a:solidFill>
                <a:latin typeface="Diodrum Arabic SemiBold"/>
                <a:ea typeface="Diodrum Arabic SemiBold"/>
                <a:cs typeface="Diodrum Arabic SemiBold"/>
              </a:rPr>
              <a:t>كيف يتفرع المحتوى بحسب المستوى</a:t>
            </a:r>
          </a:p>
        </p:txBody>
      </p:sp>
      <p:sp>
        <p:nvSpPr>
          <p:cNvPr id="31" name="Rounded Rectangle 30"/>
          <p:cNvSpPr/>
          <p:nvPr/>
        </p:nvSpPr>
        <p:spPr>
          <a:xfrm>
            <a:off x="3854196" y="3782568"/>
            <a:ext cx="3140963"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01383" y="392887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00500" y="4047744"/>
            <a:ext cx="2848356"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مسار الوزراء</a:t>
            </a:r>
          </a:p>
        </p:txBody>
      </p:sp>
      <p:sp>
        <p:nvSpPr>
          <p:cNvPr id="34" name="TextBox 33"/>
          <p:cNvSpPr txBox="1"/>
          <p:nvPr/>
        </p:nvSpPr>
        <p:spPr>
          <a:xfrm>
            <a:off x="4000500" y="4274439"/>
            <a:ext cx="2848356"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تحديد التوجه الاستراتيجي؛ ومستوى المخاطر المقبول؛ وصياغة مذكرة القرار.</a:t>
            </a:r>
          </a:p>
        </p:txBody>
      </p:sp>
      <p:sp>
        <p:nvSpPr>
          <p:cNvPr id="35" name="Rounded Rectangle 34"/>
          <p:cNvSpPr/>
          <p:nvPr/>
        </p:nvSpPr>
        <p:spPr>
          <a:xfrm>
            <a:off x="566928" y="3782568"/>
            <a:ext cx="3140963"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14115" y="3928872"/>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3232" y="4047744"/>
            <a:ext cx="2848356" cy="199263"/>
          </a:xfrm>
          <a:prstGeom prst="rect">
            <a:avLst/>
          </a:prstGeom>
          <a:noFill/>
        </p:spPr>
        <p:txBody>
          <a:bodyPr wrap="square" lIns="0" rIns="0" tIns="0" bIns="0">
            <a:spAutoFit/>
          </a:bodyPr>
          <a:lstStyle/>
          <a:p>
            <a:pPr algn="r" rtl="1">
              <a:lnSpc>
                <a:spcPts val="1281"/>
              </a:lnSpc>
            </a:pPr>
            <a:r>
              <a:rPr sz="1050" b="0">
                <a:solidFill>
                  <a:srgbClr val="2A206A"/>
                </a:solidFill>
                <a:latin typeface="Diodrum Arabic SemiBold"/>
                <a:ea typeface="Diodrum Arabic SemiBold"/>
                <a:cs typeface="Diodrum Arabic SemiBold"/>
              </a:rPr>
              <a:t>مسار نواب الوزراء وأصحاب المعالي</a:t>
            </a:r>
          </a:p>
        </p:txBody>
      </p:sp>
      <p:sp>
        <p:nvSpPr>
          <p:cNvPr id="38" name="TextBox 37"/>
          <p:cNvSpPr txBox="1"/>
          <p:nvPr/>
        </p:nvSpPr>
        <p:spPr>
          <a:xfrm>
            <a:off x="713232" y="4274439"/>
            <a:ext cx="2848356"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إدارة المحفظة؛ وترتيب حالات الاستخدام؛ واعتماد نموذج الحوكمة.</a:t>
            </a:r>
          </a:p>
        </p:txBody>
      </p:sp>
      <p:sp>
        <p:nvSpPr>
          <p:cNvPr id="39" name="Rounded Rectangle 38"/>
          <p:cNvSpPr/>
          <p:nvPr/>
        </p:nvSpPr>
        <p:spPr>
          <a:xfrm>
            <a:off x="3854196" y="4864989"/>
            <a:ext cx="3140963"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01383" y="5011293"/>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00500" y="5130165"/>
            <a:ext cx="2848356" cy="199263"/>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مسار الوكلاء</a:t>
            </a:r>
          </a:p>
        </p:txBody>
      </p:sp>
      <p:sp>
        <p:nvSpPr>
          <p:cNvPr id="42" name="TextBox 41"/>
          <p:cNvSpPr txBox="1"/>
          <p:nvPr/>
        </p:nvSpPr>
        <p:spPr>
          <a:xfrm>
            <a:off x="4000500" y="5356860"/>
            <a:ext cx="284835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تقييم الجاهزية؛ وقرارات البيانات والتعاقد؛ وإعداد ميثاق التنفيذ.</a:t>
            </a:r>
          </a:p>
        </p:txBody>
      </p:sp>
      <p:sp>
        <p:nvSpPr>
          <p:cNvPr id="43" name="Rounded Rectangle 42"/>
          <p:cNvSpPr/>
          <p:nvPr/>
        </p:nvSpPr>
        <p:spPr>
          <a:xfrm>
            <a:off x="566928" y="4864989"/>
            <a:ext cx="3140963" cy="936117"/>
          </a:xfrm>
          <a:prstGeom prst="roundRect">
            <a:avLst>
              <a:gd name="adj" fmla="val 8791"/>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214115" y="5011293"/>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3232" y="5130165"/>
            <a:ext cx="2848356"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مسار الوكلاء المساعدين</a:t>
            </a:r>
          </a:p>
        </p:txBody>
      </p:sp>
      <p:sp>
        <p:nvSpPr>
          <p:cNvPr id="46" name="TextBox 45"/>
          <p:cNvSpPr txBox="1"/>
          <p:nvPr/>
        </p:nvSpPr>
        <p:spPr>
          <a:xfrm>
            <a:off x="713232" y="5356860"/>
            <a:ext cx="2848356"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تحويل الضوابط إلى إجراءات تشغيلية؛ وقوائم تحقق؛ وسجل التزام.</a:t>
            </a:r>
          </a:p>
        </p:txBody>
      </p:sp>
      <p:sp>
        <p:nvSpPr>
          <p:cNvPr id="47" name="Rounded Rectangle 46"/>
          <p:cNvSpPr/>
          <p:nvPr/>
        </p:nvSpPr>
        <p:spPr>
          <a:xfrm>
            <a:off x="566928" y="5983986"/>
            <a:ext cx="6428231" cy="745426"/>
          </a:xfrm>
          <a:prstGeom prst="roundRect">
            <a:avLst>
              <a:gd name="adj" fmla="val 1104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6148578"/>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القاعدة، مكررة مرة واحدة</a:t>
            </a:r>
          </a:p>
        </p:txBody>
      </p:sp>
      <p:sp>
        <p:nvSpPr>
          <p:cNvPr id="49" name="TextBox 48"/>
          <p:cNvSpPr txBox="1"/>
          <p:nvPr/>
        </p:nvSpPr>
        <p:spPr>
          <a:xfrm>
            <a:off x="731520" y="6358128"/>
            <a:ext cx="6099047" cy="198882"/>
          </a:xfrm>
          <a:prstGeom prst="rect">
            <a:avLst/>
          </a:prstGeom>
          <a:noFill/>
        </p:spPr>
        <p:txBody>
          <a:bodyPr wrap="square" lIns="0" rIns="0" tIns="0" bIns="0">
            <a:spAutoFit/>
          </a:bodyPr>
          <a:lstStyle/>
          <a:p>
            <a:pPr algn="r" rtl="1">
              <a:lnSpc>
                <a:spcPts val="1278"/>
              </a:lnSpc>
            </a:pPr>
            <a:r>
              <a:rPr sz="900" b="0">
                <a:solidFill>
                  <a:srgbClr val="474956"/>
                </a:solidFill>
                <a:latin typeface="Diodrum Arabic"/>
                <a:ea typeface="Diodrum Arabic"/>
                <a:cs typeface="Diodrum Arabic"/>
              </a:rPr>
              <a:t>يختلف البرنامج بحسب نوع القرار — لا بمجرد زيادة الساعات أو تقليلها.</a:t>
            </a:r>
          </a:p>
        </p:txBody>
      </p:sp>
      <p:sp>
        <p:nvSpPr>
          <p:cNvPr id="50" name="Rectangle 4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52" name="TextBox 51"/>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05 · 5.3 – 5.4  الحالات السعودية · التنفيذ والشركاء</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ما يُستأجر من خبرة يُفصل عمّا يُملك من قدرة</a:t>
            </a:r>
          </a:p>
        </p:txBody>
      </p:sp>
      <p:sp>
        <p:nvSpPr>
          <p:cNvPr id="4" name="TextBox 3"/>
          <p:cNvSpPr txBox="1"/>
          <p:nvPr/>
        </p:nvSpPr>
        <p:spPr>
          <a:xfrm>
            <a:off x="3881628" y="1111758"/>
            <a:ext cx="3113532" cy="183896"/>
          </a:xfrm>
          <a:prstGeom prst="rect">
            <a:avLst/>
          </a:prstGeom>
          <a:noFill/>
        </p:spPr>
        <p:txBody>
          <a:bodyPr wrap="square" lIns="0" rIns="0" tIns="0" bIns="0">
            <a:spAutoFit/>
          </a:bodyPr>
          <a:lstStyle/>
          <a:p>
            <a:pPr algn="r" rtl="1">
              <a:lnSpc>
                <a:spcPts val="1160"/>
              </a:lnSpc>
            </a:pPr>
            <a:r>
              <a:rPr sz="1000" b="0">
                <a:solidFill>
                  <a:srgbClr val="7C32C9"/>
                </a:solidFill>
                <a:latin typeface="Diodrum Arabic SemiBold"/>
                <a:ea typeface="Diodrum Arabic SemiBold"/>
                <a:cs typeface="Diodrum Arabic SemiBold"/>
              </a:rPr>
              <a:t>الحالات السعودية — الطبقة التي لا يبيعها السوق</a:t>
            </a:r>
          </a:p>
        </p:txBody>
      </p:sp>
      <p:sp>
        <p:nvSpPr>
          <p:cNvPr id="5" name="TextBox 4"/>
          <p:cNvSpPr txBox="1"/>
          <p:nvPr/>
        </p:nvSpPr>
        <p:spPr>
          <a:xfrm>
            <a:off x="3881628" y="1341374"/>
            <a:ext cx="3113532" cy="956310"/>
          </a:xfrm>
          <a:prstGeom prst="rect">
            <a:avLst/>
          </a:prstGeom>
          <a:noFill/>
        </p:spPr>
        <p:txBody>
          <a:bodyPr wrap="square" lIns="0" rIns="0" tIns="0" bIns="0">
            <a:spAutoFit/>
          </a:bodyPr>
          <a:lstStyle/>
          <a:p>
            <a:pPr algn="just" rtl="1">
              <a:lnSpc>
                <a:spcPts val="1207"/>
              </a:lnSpc>
            </a:pPr>
            <a:r>
              <a:rPr sz="850" b="0">
                <a:solidFill>
                  <a:srgbClr val="474956"/>
                </a:solidFill>
                <a:latin typeface="Diodrum Arabic"/>
                <a:ea typeface="Diodrum Arabic"/>
                <a:cs typeface="Diodrum Arabic"/>
              </a:rPr>
              <a:t>تُطوَّر مكتبة حالات مرتبطة بقرارات حكومية فعلية، بعد موافقة الجهات المالكة ومعالجة متطلبات السرية. وتبقى الحالات أصلاً معرفياً مملوكاً محلياً، قابلاً للتطوير مع كل فوج. ولم يُرصد في السوق التي روعيت مزود يعلن حالات حكومية سعودية معتمدة [62] — فالبدء المبكر هو ما يحوّل البرنامج من محتوى مستعار إلى قدرة وطنية تتراكم قيمتها.</a:t>
            </a:r>
          </a:p>
        </p:txBody>
      </p:sp>
      <p:sp>
        <p:nvSpPr>
          <p:cNvPr id="6" name="TextBox 5"/>
          <p:cNvSpPr txBox="1"/>
          <p:nvPr/>
        </p:nvSpPr>
        <p:spPr>
          <a:xfrm>
            <a:off x="566928" y="1111758"/>
            <a:ext cx="3113532" cy="183896"/>
          </a:xfrm>
          <a:prstGeom prst="rect">
            <a:avLst/>
          </a:prstGeom>
          <a:noFill/>
        </p:spPr>
        <p:txBody>
          <a:bodyPr wrap="square" lIns="0" rIns="0" tIns="0" bIns="0">
            <a:spAutoFit/>
          </a:bodyPr>
          <a:lstStyle/>
          <a:p>
            <a:pPr algn="r" rtl="1">
              <a:lnSpc>
                <a:spcPts val="1160"/>
              </a:lnSpc>
            </a:pPr>
            <a:r>
              <a:rPr sz="1000" b="0">
                <a:solidFill>
                  <a:srgbClr val="00ABAF"/>
                </a:solidFill>
                <a:latin typeface="Diodrum Arabic SemiBold"/>
                <a:ea typeface="Diodrum Arabic SemiBold"/>
                <a:cs typeface="Diodrum Arabic SemiBold"/>
              </a:rPr>
              <a:t>التنفيذ والشركاء — من يفعل ماذا</a:t>
            </a:r>
          </a:p>
        </p:txBody>
      </p:sp>
      <p:sp>
        <p:nvSpPr>
          <p:cNvPr id="7" name="TextBox 6"/>
          <p:cNvSpPr txBox="1"/>
          <p:nvPr/>
        </p:nvSpPr>
        <p:spPr>
          <a:xfrm>
            <a:off x="566928" y="1341374"/>
            <a:ext cx="3113532" cy="1109599"/>
          </a:xfrm>
          <a:prstGeom prst="rect">
            <a:avLst/>
          </a:prstGeom>
          <a:noFill/>
        </p:spPr>
        <p:txBody>
          <a:bodyPr wrap="square" lIns="0" rIns="0" tIns="0" bIns="0">
            <a:spAutoFit/>
          </a:bodyPr>
          <a:lstStyle/>
          <a:p>
            <a:pPr algn="just" rtl="1">
              <a:lnSpc>
                <a:spcPts val="1207"/>
              </a:lnSpc>
            </a:pPr>
            <a:r>
              <a:rPr sz="850" b="0">
                <a:solidFill>
                  <a:srgbClr val="474956"/>
                </a:solidFill>
                <a:latin typeface="Diodrum Arabic"/>
                <a:ea typeface="Diodrum Arabic"/>
                <a:cs typeface="Diodrum Arabic"/>
              </a:rPr>
              <a:t>يقدم الشريك الدولي المنهجية والخبرات وأعضاء هيئة التدريس. ويقود برنامج «قدراتك» التشغيل والعلاقة مع الجهات الحكومية، ويحتفظ بملكية البيانات والحالات وإطار القياس وفق ما تنص عليه العقود. ويوثَّق نمط قريب في معهد سنغافورة المعلن، حيث اجتمع التمويل الحكومي مع الشراكة الأكاديمية في كيان واحد [29]. وحتى في المسارات التي يُشترى فيها المقعد أو يُرخَّص المحتوى، يبقى هذا الفصل ثابتاً.</a:t>
            </a:r>
          </a:p>
        </p:txBody>
      </p:sp>
      <p:sp>
        <p:nvSpPr>
          <p:cNvPr id="8" name="Rounded Rectangle 7"/>
          <p:cNvSpPr/>
          <p:nvPr/>
        </p:nvSpPr>
        <p:spPr>
          <a:xfrm>
            <a:off x="566928" y="2661285"/>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844165"/>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لماذا يهم هذا التقسيم</a:t>
            </a:r>
          </a:p>
        </p:txBody>
      </p:sp>
      <p:sp>
        <p:nvSpPr>
          <p:cNvPr id="10" name="TextBox 9"/>
          <p:cNvSpPr txBox="1"/>
          <p:nvPr/>
        </p:nvSpPr>
        <p:spPr>
          <a:xfrm>
            <a:off x="749808" y="3044571"/>
            <a:ext cx="6062471" cy="361187"/>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لأنه يفصل بين ما يُستأجر من خبرة وما يُملك من قدرة. فما يُستأجر يسرّع الإطلاق ولا يتراكم عند المالك؛ وما يُملك يتراكم مع كل فوج ولا يمكن شراؤه جاهزاً [70].</a:t>
            </a:r>
          </a:p>
        </p:txBody>
      </p:sp>
      <p:sp>
        <p:nvSpPr>
          <p:cNvPr id="11" name="Rectangle 10"/>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13" name="TextBox 12"/>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05 · 5.5  القياس والحوكمة والسرية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القياس يبدأ قبل البرنامج؛ والحوكمة تفصل ستة عناصر</a:t>
            </a:r>
          </a:p>
        </p:txBody>
      </p:sp>
      <p:sp>
        <p:nvSpPr>
          <p:cNvPr id="4" name="TextBox 3"/>
          <p:cNvSpPr txBox="1"/>
          <p:nvPr/>
        </p:nvSpPr>
        <p:spPr>
          <a:xfrm>
            <a:off x="3757086" y="1111758"/>
            <a:ext cx="3238073" cy="183896"/>
          </a:xfrm>
          <a:prstGeom prst="rect">
            <a:avLst/>
          </a:prstGeom>
          <a:noFill/>
        </p:spPr>
        <p:txBody>
          <a:bodyPr wrap="square" lIns="0" rIns="0" tIns="0" bIns="0">
            <a:spAutoFit/>
          </a:bodyPr>
          <a:lstStyle/>
          <a:p>
            <a:pPr algn="r" rtl="1">
              <a:lnSpc>
                <a:spcPts val="1160"/>
              </a:lnSpc>
            </a:pPr>
            <a:r>
              <a:rPr sz="1000" b="0">
                <a:solidFill>
                  <a:srgbClr val="00ABAF"/>
                </a:solidFill>
                <a:latin typeface="Diodrum Arabic SemiBold"/>
                <a:ea typeface="Diodrum Arabic SemiBold"/>
                <a:cs typeface="Diodrum Arabic SemiBold"/>
              </a:rPr>
              <a:t>ست خطوات قياس متدرجة [63]</a:t>
            </a:r>
          </a:p>
        </p:txBody>
      </p:sp>
      <p:sp>
        <p:nvSpPr>
          <p:cNvPr id="5" name="Rounded Rectangle 4"/>
          <p:cNvSpPr/>
          <p:nvPr/>
        </p:nvSpPr>
        <p:spPr>
          <a:xfrm>
            <a:off x="3757086" y="1341374"/>
            <a:ext cx="3238073" cy="274320"/>
          </a:xfrm>
          <a:prstGeom prst="roundRect">
            <a:avLst>
              <a:gd name="adj" fmla="val 23333"/>
            </a:avLst>
          </a:prstGeom>
          <a:solidFill>
            <a:srgbClr val="D6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65976" y="1391666"/>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1</a:t>
            </a:r>
          </a:p>
        </p:txBody>
      </p:sp>
      <p:sp>
        <p:nvSpPr>
          <p:cNvPr id="7" name="TextBox 6"/>
          <p:cNvSpPr txBox="1"/>
          <p:nvPr/>
        </p:nvSpPr>
        <p:spPr>
          <a:xfrm>
            <a:off x="3885102" y="1400810"/>
            <a:ext cx="2707721" cy="185166"/>
          </a:xfrm>
          <a:prstGeom prst="rect">
            <a:avLst/>
          </a:prstGeom>
          <a:noFill/>
        </p:spPr>
        <p:txBody>
          <a:bodyPr wrap="square" lIns="0" rIns="0" tIns="0" bIns="0">
            <a:spAutoFit/>
          </a:bodyPr>
          <a:lstStyle/>
          <a:p>
            <a:pPr algn="r" rtl="1">
              <a:lnSpc>
                <a:spcPts val="1170"/>
              </a:lnSpc>
            </a:pPr>
            <a:r>
              <a:rPr sz="900" b="0">
                <a:solidFill>
                  <a:srgbClr val="232046"/>
                </a:solidFill>
                <a:latin typeface="Diodrum Arabic Medium"/>
                <a:ea typeface="Diodrum Arabic Medium"/>
                <a:cs typeface="Diodrum Arabic Medium"/>
              </a:rPr>
              <a:t>الفهم الأساسي</a:t>
            </a:r>
          </a:p>
        </p:txBody>
      </p:sp>
      <p:sp>
        <p:nvSpPr>
          <p:cNvPr id="8" name="Rounded Rectangle 7"/>
          <p:cNvSpPr/>
          <p:nvPr/>
        </p:nvSpPr>
        <p:spPr>
          <a:xfrm>
            <a:off x="3757086" y="1665986"/>
            <a:ext cx="3073481" cy="274320"/>
          </a:xfrm>
          <a:prstGeom prst="roundRect">
            <a:avLst>
              <a:gd name="adj" fmla="val 23333"/>
            </a:avLst>
          </a:prstGeom>
          <a:solidFill>
            <a:srgbClr val="B2E5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1383" y="1716277"/>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2</a:t>
            </a:r>
          </a:p>
        </p:txBody>
      </p:sp>
      <p:sp>
        <p:nvSpPr>
          <p:cNvPr id="10" name="TextBox 9"/>
          <p:cNvSpPr txBox="1"/>
          <p:nvPr/>
        </p:nvSpPr>
        <p:spPr>
          <a:xfrm>
            <a:off x="3885102" y="1725421"/>
            <a:ext cx="2543129" cy="185166"/>
          </a:xfrm>
          <a:prstGeom prst="rect">
            <a:avLst/>
          </a:prstGeom>
          <a:noFill/>
        </p:spPr>
        <p:txBody>
          <a:bodyPr wrap="square" lIns="0" rIns="0" tIns="0" bIns="0">
            <a:spAutoFit/>
          </a:bodyPr>
          <a:lstStyle/>
          <a:p>
            <a:pPr algn="r" rtl="1">
              <a:lnSpc>
                <a:spcPts val="1170"/>
              </a:lnSpc>
            </a:pPr>
            <a:r>
              <a:rPr sz="900" b="0">
                <a:solidFill>
                  <a:srgbClr val="232046"/>
                </a:solidFill>
                <a:latin typeface="Diodrum Arabic Medium"/>
                <a:ea typeface="Diodrum Arabic Medium"/>
                <a:cs typeface="Diodrum Arabic Medium"/>
              </a:rPr>
              <a:t>جودة الحكم على السيناريوهات</a:t>
            </a:r>
          </a:p>
        </p:txBody>
      </p:sp>
      <p:sp>
        <p:nvSpPr>
          <p:cNvPr id="11" name="Rounded Rectangle 10"/>
          <p:cNvSpPr/>
          <p:nvPr/>
        </p:nvSpPr>
        <p:spPr>
          <a:xfrm>
            <a:off x="3757086" y="1990598"/>
            <a:ext cx="2908889" cy="274320"/>
          </a:xfrm>
          <a:prstGeom prst="roundRect">
            <a:avLst>
              <a:gd name="adj" fmla="val 23333"/>
            </a:avLst>
          </a:prstGeom>
          <a:solidFill>
            <a:srgbClr val="8EDA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2040890"/>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3</a:t>
            </a:r>
          </a:p>
        </p:txBody>
      </p:sp>
      <p:sp>
        <p:nvSpPr>
          <p:cNvPr id="13" name="TextBox 12"/>
          <p:cNvSpPr txBox="1"/>
          <p:nvPr/>
        </p:nvSpPr>
        <p:spPr>
          <a:xfrm>
            <a:off x="3885102" y="2050034"/>
            <a:ext cx="2378537" cy="185166"/>
          </a:xfrm>
          <a:prstGeom prst="rect">
            <a:avLst/>
          </a:prstGeom>
          <a:noFill/>
        </p:spPr>
        <p:txBody>
          <a:bodyPr wrap="square" lIns="0" rIns="0" tIns="0" bIns="0">
            <a:spAutoFit/>
          </a:bodyPr>
          <a:lstStyle/>
          <a:p>
            <a:pPr algn="r" rtl="1">
              <a:lnSpc>
                <a:spcPts val="1170"/>
              </a:lnSpc>
            </a:pPr>
            <a:r>
              <a:rPr sz="900" b="0">
                <a:solidFill>
                  <a:srgbClr val="232046"/>
                </a:solidFill>
                <a:latin typeface="Diodrum Arabic Medium"/>
                <a:ea typeface="Diodrum Arabic Medium"/>
                <a:cs typeface="Diodrum Arabic Medium"/>
              </a:rPr>
              <a:t>جودة المخرج التطبيقي</a:t>
            </a:r>
          </a:p>
        </p:txBody>
      </p:sp>
      <p:sp>
        <p:nvSpPr>
          <p:cNvPr id="14" name="Rounded Rectangle 13"/>
          <p:cNvSpPr/>
          <p:nvPr/>
        </p:nvSpPr>
        <p:spPr>
          <a:xfrm>
            <a:off x="3757086" y="2315210"/>
            <a:ext cx="2744297" cy="274320"/>
          </a:xfrm>
          <a:prstGeom prst="roundRect">
            <a:avLst>
              <a:gd name="adj" fmla="val 23333"/>
            </a:avLst>
          </a:prstGeom>
          <a:solidFill>
            <a:srgbClr val="6BCE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2365502"/>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4</a:t>
            </a:r>
          </a:p>
        </p:txBody>
      </p:sp>
      <p:sp>
        <p:nvSpPr>
          <p:cNvPr id="16" name="TextBox 15"/>
          <p:cNvSpPr txBox="1"/>
          <p:nvPr/>
        </p:nvSpPr>
        <p:spPr>
          <a:xfrm>
            <a:off x="3885102" y="2374646"/>
            <a:ext cx="2213945" cy="185166"/>
          </a:xfrm>
          <a:prstGeom prst="rect">
            <a:avLst/>
          </a:prstGeom>
          <a:noFill/>
        </p:spPr>
        <p:txBody>
          <a:bodyPr wrap="square" lIns="0" rIns="0" tIns="0" bIns="0">
            <a:spAutoFit/>
          </a:bodyPr>
          <a:lstStyle/>
          <a:p>
            <a:pPr algn="r" rtl="1">
              <a:lnSpc>
                <a:spcPts val="1170"/>
              </a:lnSpc>
            </a:pPr>
            <a:r>
              <a:rPr sz="900" b="0">
                <a:solidFill>
                  <a:srgbClr val="232046"/>
                </a:solidFill>
                <a:latin typeface="Diodrum Arabic Medium"/>
                <a:ea typeface="Diodrum Arabic Medium"/>
                <a:cs typeface="Diodrum Arabic Medium"/>
              </a:rPr>
              <a:t>تطبيق المخرج بعد البرنامج</a:t>
            </a:r>
          </a:p>
        </p:txBody>
      </p:sp>
      <p:sp>
        <p:nvSpPr>
          <p:cNvPr id="17" name="Rounded Rectangle 16"/>
          <p:cNvSpPr/>
          <p:nvPr/>
        </p:nvSpPr>
        <p:spPr>
          <a:xfrm>
            <a:off x="3757086" y="2639822"/>
            <a:ext cx="2579705" cy="274320"/>
          </a:xfrm>
          <a:prstGeom prst="roundRect">
            <a:avLst>
              <a:gd name="adj" fmla="val 23333"/>
            </a:avLst>
          </a:prstGeom>
          <a:solidFill>
            <a:srgbClr val="47C2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07608" y="2690114"/>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5</a:t>
            </a:r>
          </a:p>
        </p:txBody>
      </p:sp>
      <p:sp>
        <p:nvSpPr>
          <p:cNvPr id="19" name="TextBox 18"/>
          <p:cNvSpPr txBox="1"/>
          <p:nvPr/>
        </p:nvSpPr>
        <p:spPr>
          <a:xfrm>
            <a:off x="3885102" y="2699258"/>
            <a:ext cx="2049353" cy="185166"/>
          </a:xfrm>
          <a:prstGeom prst="rect">
            <a:avLst/>
          </a:prstGeom>
          <a:noFill/>
        </p:spPr>
        <p:txBody>
          <a:bodyPr wrap="square" lIns="0" rIns="0" tIns="0" bIns="0">
            <a:spAutoFit/>
          </a:bodyPr>
          <a:lstStyle/>
          <a:p>
            <a:pPr algn="r" rtl="1">
              <a:lnSpc>
                <a:spcPts val="1170"/>
              </a:lnSpc>
            </a:pPr>
            <a:r>
              <a:rPr sz="900" b="0">
                <a:solidFill>
                  <a:srgbClr val="232046"/>
                </a:solidFill>
                <a:latin typeface="Diodrum Arabic Medium"/>
                <a:ea typeface="Diodrum Arabic Medium"/>
                <a:cs typeface="Diodrum Arabic Medium"/>
              </a:rPr>
              <a:t>أثره على قرارات الجهة</a:t>
            </a:r>
          </a:p>
        </p:txBody>
      </p:sp>
      <p:sp>
        <p:nvSpPr>
          <p:cNvPr id="20" name="Rounded Rectangle 19"/>
          <p:cNvSpPr/>
          <p:nvPr/>
        </p:nvSpPr>
        <p:spPr>
          <a:xfrm>
            <a:off x="3757086" y="2964434"/>
            <a:ext cx="2415113" cy="416052"/>
          </a:xfrm>
          <a:prstGeom prst="roundRect">
            <a:avLst>
              <a:gd name="adj" fmla="val 15384"/>
            </a:avLst>
          </a:prstGeom>
          <a:solidFill>
            <a:srgbClr val="23B6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43016" y="3014726"/>
            <a:ext cx="228600" cy="198628"/>
          </a:xfrm>
          <a:prstGeom prst="rect">
            <a:avLst/>
          </a:prstGeom>
          <a:noFill/>
        </p:spPr>
        <p:txBody>
          <a:bodyPr wrap="square" lIns="0" rIns="0" tIns="0" bIns="0">
            <a:spAutoFit/>
          </a:bodyPr>
          <a:lstStyle/>
          <a:p>
            <a:pPr algn="ctr">
              <a:lnSpc>
                <a:spcPts val="1276"/>
              </a:lnSpc>
            </a:pPr>
            <a:r>
              <a:rPr sz="1100" b="1">
                <a:solidFill>
                  <a:srgbClr val="2A206A"/>
                </a:solidFill>
                <a:latin typeface="Diodrum Arabic"/>
                <a:ea typeface="Diodrum Arabic"/>
                <a:cs typeface="Diodrum Arabic"/>
              </a:rPr>
              <a:t>6</a:t>
            </a:r>
          </a:p>
        </p:txBody>
      </p:sp>
      <p:sp>
        <p:nvSpPr>
          <p:cNvPr id="22" name="TextBox 21"/>
          <p:cNvSpPr txBox="1"/>
          <p:nvPr/>
        </p:nvSpPr>
        <p:spPr>
          <a:xfrm>
            <a:off x="3885102" y="3023870"/>
            <a:ext cx="1884761" cy="333756"/>
          </a:xfrm>
          <a:prstGeom prst="rect">
            <a:avLst/>
          </a:prstGeom>
          <a:noFill/>
        </p:spPr>
        <p:txBody>
          <a:bodyPr wrap="square" lIns="0" rIns="0" tIns="0" bIns="0">
            <a:spAutoFit/>
          </a:bodyPr>
          <a:lstStyle/>
          <a:p>
            <a:pPr algn="r" rtl="1">
              <a:lnSpc>
                <a:spcPts val="1170"/>
              </a:lnSpc>
            </a:pPr>
            <a:r>
              <a:rPr sz="900" b="0">
                <a:solidFill>
                  <a:srgbClr val="232046"/>
                </a:solidFill>
                <a:latin typeface="Diodrum Arabic Medium"/>
                <a:ea typeface="Diodrum Arabic Medium"/>
                <a:cs typeface="Diodrum Arabic Medium"/>
              </a:rPr>
              <a:t>أثره المؤسسي أو الخدمي عند توفر البيانات</a:t>
            </a:r>
          </a:p>
        </p:txBody>
      </p:sp>
      <p:sp>
        <p:nvSpPr>
          <p:cNvPr id="23" name="TextBox 22"/>
          <p:cNvSpPr txBox="1"/>
          <p:nvPr/>
        </p:nvSpPr>
        <p:spPr>
          <a:xfrm>
            <a:off x="566928" y="1111758"/>
            <a:ext cx="2988990" cy="183896"/>
          </a:xfrm>
          <a:prstGeom prst="rect">
            <a:avLst/>
          </a:prstGeom>
          <a:noFill/>
        </p:spPr>
        <p:txBody>
          <a:bodyPr wrap="square" lIns="0" rIns="0" tIns="0" bIns="0">
            <a:spAutoFit/>
          </a:bodyPr>
          <a:lstStyle/>
          <a:p>
            <a:pPr algn="r" rtl="1">
              <a:lnSpc>
                <a:spcPts val="1160"/>
              </a:lnSpc>
            </a:pPr>
            <a:r>
              <a:rPr sz="1000" b="0">
                <a:solidFill>
                  <a:srgbClr val="7C32C9"/>
                </a:solidFill>
                <a:latin typeface="Diodrum Arabic SemiBold"/>
                <a:ea typeface="Diodrum Arabic SemiBold"/>
                <a:cs typeface="Diodrum Arabic SemiBold"/>
              </a:rPr>
              <a:t>ستة عناصر حوكمة يُخلط بينها عادة</a:t>
            </a:r>
          </a:p>
        </p:txBody>
      </p:sp>
      <p:sp>
        <p:nvSpPr>
          <p:cNvPr id="24" name="TextBox 23"/>
          <p:cNvSpPr txBox="1"/>
          <p:nvPr/>
        </p:nvSpPr>
        <p:spPr>
          <a:xfrm>
            <a:off x="3464478" y="1336802"/>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5" name="TextBox 24"/>
          <p:cNvSpPr txBox="1"/>
          <p:nvPr/>
        </p:nvSpPr>
        <p:spPr>
          <a:xfrm>
            <a:off x="566928" y="1341374"/>
            <a:ext cx="2815254"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السرية التعاقدية.</a:t>
            </a:r>
          </a:p>
        </p:txBody>
      </p:sp>
      <p:sp>
        <p:nvSpPr>
          <p:cNvPr id="26" name="TextBox 25"/>
          <p:cNvSpPr txBox="1"/>
          <p:nvPr/>
        </p:nvSpPr>
        <p:spPr>
          <a:xfrm>
            <a:off x="3464478" y="1536065"/>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7" name="TextBox 26"/>
          <p:cNvSpPr txBox="1"/>
          <p:nvPr/>
        </p:nvSpPr>
        <p:spPr>
          <a:xfrm>
            <a:off x="566928" y="1540637"/>
            <a:ext cx="2815254"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ملكية البيانات.</a:t>
            </a:r>
          </a:p>
        </p:txBody>
      </p:sp>
      <p:sp>
        <p:nvSpPr>
          <p:cNvPr id="28" name="TextBox 27"/>
          <p:cNvSpPr txBox="1"/>
          <p:nvPr/>
        </p:nvSpPr>
        <p:spPr>
          <a:xfrm>
            <a:off x="3464478" y="1735328"/>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9" name="TextBox 28"/>
          <p:cNvSpPr txBox="1"/>
          <p:nvPr/>
        </p:nvSpPr>
        <p:spPr>
          <a:xfrm>
            <a:off x="566928" y="1739900"/>
            <a:ext cx="2815254"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قاعدة تشاثام هاوس.</a:t>
            </a:r>
          </a:p>
        </p:txBody>
      </p:sp>
      <p:sp>
        <p:nvSpPr>
          <p:cNvPr id="30" name="TextBox 29"/>
          <p:cNvSpPr txBox="1"/>
          <p:nvPr/>
        </p:nvSpPr>
        <p:spPr>
          <a:xfrm>
            <a:off x="3464478" y="1934591"/>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1" name="TextBox 30"/>
          <p:cNvSpPr txBox="1"/>
          <p:nvPr/>
        </p:nvSpPr>
        <p:spPr>
          <a:xfrm>
            <a:off x="566928" y="1939162"/>
            <a:ext cx="2815254"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استخدام أسماء المشاركين.</a:t>
            </a:r>
          </a:p>
        </p:txBody>
      </p:sp>
      <p:sp>
        <p:nvSpPr>
          <p:cNvPr id="32" name="TextBox 31"/>
          <p:cNvSpPr txBox="1"/>
          <p:nvPr/>
        </p:nvSpPr>
        <p:spPr>
          <a:xfrm>
            <a:off x="3464478" y="2133854"/>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3" name="TextBox 32"/>
          <p:cNvSpPr txBox="1"/>
          <p:nvPr/>
        </p:nvSpPr>
        <p:spPr>
          <a:xfrm>
            <a:off x="566928" y="2138425"/>
            <a:ext cx="2815254"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حفظ الحالات والمستندات.</a:t>
            </a:r>
          </a:p>
        </p:txBody>
      </p:sp>
      <p:sp>
        <p:nvSpPr>
          <p:cNvPr id="34" name="TextBox 33"/>
          <p:cNvSpPr txBox="1"/>
          <p:nvPr/>
        </p:nvSpPr>
        <p:spPr>
          <a:xfrm>
            <a:off x="3464478" y="2333116"/>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5" name="TextBox 34"/>
          <p:cNvSpPr txBox="1"/>
          <p:nvPr/>
        </p:nvSpPr>
        <p:spPr>
          <a:xfrm>
            <a:off x="566928" y="2337688"/>
            <a:ext cx="2815254"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صلاحيات الوصول.</a:t>
            </a:r>
          </a:p>
        </p:txBody>
      </p:sp>
      <p:sp>
        <p:nvSpPr>
          <p:cNvPr id="36" name="Rounded Rectangle 35"/>
          <p:cNvSpPr/>
          <p:nvPr/>
        </p:nvSpPr>
        <p:spPr>
          <a:xfrm>
            <a:off x="566928" y="2610103"/>
            <a:ext cx="2988990" cy="1304480"/>
          </a:xfrm>
          <a:prstGeom prst="roundRect">
            <a:avLst>
              <a:gd name="adj" fmla="val 6308"/>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2774695"/>
            <a:ext cx="2659806"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لماذا لا تكفي القاعدة وحدها</a:t>
            </a:r>
          </a:p>
        </p:txBody>
      </p:sp>
      <p:sp>
        <p:nvSpPr>
          <p:cNvPr id="38" name="TextBox 37"/>
          <p:cNvSpPr txBox="1"/>
          <p:nvPr/>
        </p:nvSpPr>
        <p:spPr>
          <a:xfrm>
            <a:off x="731520" y="2984245"/>
            <a:ext cx="2659806" cy="757936"/>
          </a:xfrm>
          <a:prstGeom prst="rect">
            <a:avLst/>
          </a:prstGeom>
          <a:noFill/>
        </p:spPr>
        <p:txBody>
          <a:bodyPr wrap="square" lIns="0" rIns="0" tIns="0" bIns="0">
            <a:spAutoFit/>
          </a:bodyPr>
          <a:lstStyle/>
          <a:p>
            <a:pPr algn="just" rtl="1">
              <a:lnSpc>
                <a:spcPts val="1136"/>
              </a:lnSpc>
            </a:pPr>
            <a:r>
              <a:rPr sz="800" b="0">
                <a:solidFill>
                  <a:srgbClr val="474956"/>
                </a:solidFill>
                <a:latin typeface="Diodrum Arabic"/>
                <a:ea typeface="Diodrum Arabic"/>
                <a:cs typeface="Diodrum Arabic"/>
              </a:rPr>
              <a:t>تنظم قاعدة تشاثام هاوس ما يُروى عن الجلسة؛ ولا تنظم ملكية البيانات ولا حفظ الحالات ولا التسويق بأسماء المشاركين. وتُوثَّق هذه الآليات بنداً بنداً في العقود، وتُشترى مستقلة عن المحتوى كما تفعل جهات متخصصة في بروتوكولات القيادات العليا [64].</a:t>
            </a:r>
          </a:p>
        </p:txBody>
      </p:sp>
      <p:sp>
        <p:nvSpPr>
          <p:cNvPr id="39" name="Rounded Rectangle 38"/>
          <p:cNvSpPr/>
          <p:nvPr/>
        </p:nvSpPr>
        <p:spPr>
          <a:xfrm>
            <a:off x="566928" y="4161472"/>
            <a:ext cx="6428231" cy="1070038"/>
          </a:xfrm>
          <a:prstGeom prst="roundRect">
            <a:avLst>
              <a:gd name="adj" fmla="val 7690"/>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326064"/>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سياق التقييم</a:t>
            </a:r>
          </a:p>
        </p:txBody>
      </p:sp>
      <p:sp>
        <p:nvSpPr>
          <p:cNvPr id="41" name="TextBox 40"/>
          <p:cNvSpPr txBox="1"/>
          <p:nvPr/>
        </p:nvSpPr>
        <p:spPr>
          <a:xfrm>
            <a:off x="731520" y="4535614"/>
            <a:ext cx="6099047" cy="523494"/>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حتى تاريخ المراجعة، حددت الدراسة عدداً محدوداً من التقييمات المنشورة لبرامج من هذا النوع — أبرزها التقييم المستقل الذي كلف به مكتب مجلس الوزراء البريطاني لبرنامج التميز الرقمي، ووصفه مقيّموه بغير الحاسم [40]. وببناء القياس منذ الفوج الأول، يضيف البرنامج المقترح تقييماً أكثر صرامة إلى هذا السجل العالمي الرقيق.</a:t>
            </a:r>
          </a:p>
        </p:txBody>
      </p:sp>
      <p:sp>
        <p:nvSpPr>
          <p:cNvPr id="42" name="Rectangle 4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4" name="TextBox 4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05 · 5.6  التكلفة الاسترشادية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غلاف استرشادي — لا عرض سعر</a:t>
            </a:r>
          </a:p>
        </p:txBody>
      </p:sp>
      <p:sp>
        <p:nvSpPr>
          <p:cNvPr id="4" name="TextBox 3"/>
          <p:cNvSpPr txBox="1"/>
          <p:nvPr/>
        </p:nvSpPr>
        <p:spPr>
          <a:xfrm>
            <a:off x="566928" y="1111758"/>
            <a:ext cx="6428231" cy="374395"/>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تُسعِّر مؤسسات التعليم التنفيذي البرامج المخصصة مشاريعَ بالتكلفة الاقتصادية الكاملة؛ ولا تستقيم اقتصادياتها دون حد أدنى للفوج يقارب 10–15 مشاركاً [39].</a:t>
            </a:r>
          </a:p>
        </p:txBody>
      </p:sp>
      <p:sp>
        <p:nvSpPr>
          <p:cNvPr id="5" name="Rectangle 4"/>
          <p:cNvSpPr/>
          <p:nvPr/>
        </p:nvSpPr>
        <p:spPr>
          <a:xfrm>
            <a:off x="6492240" y="154101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54196" y="1723898"/>
            <a:ext cx="3140963" cy="1102614"/>
          </a:xfrm>
          <a:prstGeom prst="roundRect">
            <a:avLst>
              <a:gd name="adj" fmla="val 746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00500" y="1870202"/>
            <a:ext cx="2848356" cy="303276"/>
          </a:xfrm>
          <a:prstGeom prst="rect">
            <a:avLst/>
          </a:prstGeom>
          <a:noFill/>
        </p:spPr>
        <p:txBody>
          <a:bodyPr wrap="square" lIns="0" rIns="0" tIns="0" bIns="0">
            <a:spAutoFit/>
          </a:bodyPr>
          <a:lstStyle/>
          <a:p>
            <a:pPr algn="r" rtl="1">
              <a:lnSpc>
                <a:spcPts val="2100"/>
              </a:lnSpc>
            </a:pPr>
            <a:r>
              <a:rPr sz="2000" b="1">
                <a:solidFill>
                  <a:srgbClr val="7C32C9"/>
                </a:solidFill>
                <a:latin typeface="Diodrum Arabic"/>
                <a:ea typeface="Diodrum Arabic"/>
                <a:cs typeface="Diodrum Arabic"/>
              </a:rPr>
              <a:t>45 – 94 ألف ريال</a:t>
            </a:r>
          </a:p>
        </p:txBody>
      </p:sp>
      <p:sp>
        <p:nvSpPr>
          <p:cNvPr id="8" name="TextBox 7"/>
          <p:cNvSpPr txBox="1"/>
          <p:nvPr/>
        </p:nvSpPr>
        <p:spPr>
          <a:xfrm>
            <a:off x="4000500" y="2222754"/>
            <a:ext cx="2848356" cy="328041"/>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للمشارك الواحد — تقدير استرشادي لفوج من 30 مشاركاً في المستوى الثاني أو الثالث</a:t>
            </a:r>
          </a:p>
        </p:txBody>
      </p:sp>
      <p:sp>
        <p:nvSpPr>
          <p:cNvPr id="9" name="TextBox 8"/>
          <p:cNvSpPr txBox="1"/>
          <p:nvPr/>
        </p:nvSpPr>
        <p:spPr>
          <a:xfrm>
            <a:off x="4000500" y="2569083"/>
            <a:ext cx="2848356" cy="164592"/>
          </a:xfrm>
          <a:prstGeom prst="rect">
            <a:avLst/>
          </a:prstGeom>
          <a:noFill/>
        </p:spPr>
        <p:txBody>
          <a:bodyPr wrap="square" lIns="0" rIns="0" tIns="0" bIns="0">
            <a:spAutoFit/>
          </a:bodyPr>
          <a:lstStyle/>
          <a:p>
            <a:pPr algn="r" rtl="1">
              <a:lnSpc>
                <a:spcPts val="875"/>
              </a:lnSpc>
            </a:pPr>
            <a:r>
              <a:rPr sz="700" b="0">
                <a:solidFill>
                  <a:srgbClr val="6E7077"/>
                </a:solidFill>
                <a:latin typeface="Diodrum Arabic"/>
                <a:ea typeface="Diodrum Arabic"/>
                <a:cs typeface="Diodrum Arabic"/>
              </a:rPr>
              <a:t>تقدير الدراسة [65]</a:t>
            </a:r>
          </a:p>
        </p:txBody>
      </p:sp>
      <p:sp>
        <p:nvSpPr>
          <p:cNvPr id="10" name="Rounded Rectangle 9"/>
          <p:cNvSpPr/>
          <p:nvPr/>
        </p:nvSpPr>
        <p:spPr>
          <a:xfrm>
            <a:off x="566928" y="1723898"/>
            <a:ext cx="3140963" cy="1102614"/>
          </a:xfrm>
          <a:prstGeom prst="roundRect">
            <a:avLst>
              <a:gd name="adj" fmla="val 7463"/>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870202"/>
            <a:ext cx="2848356" cy="303276"/>
          </a:xfrm>
          <a:prstGeom prst="rect">
            <a:avLst/>
          </a:prstGeom>
          <a:noFill/>
        </p:spPr>
        <p:txBody>
          <a:bodyPr wrap="square" lIns="0" rIns="0" tIns="0" bIns="0">
            <a:spAutoFit/>
          </a:bodyPr>
          <a:lstStyle/>
          <a:p>
            <a:pPr algn="r" rtl="1">
              <a:lnSpc>
                <a:spcPts val="2100"/>
              </a:lnSpc>
            </a:pPr>
            <a:r>
              <a:rPr sz="2000" b="1">
                <a:solidFill>
                  <a:srgbClr val="00ABAF"/>
                </a:solidFill>
                <a:latin typeface="Diodrum Arabic"/>
                <a:ea typeface="Diodrum Arabic"/>
                <a:cs typeface="Diodrum Arabic"/>
              </a:rPr>
              <a:t>1.35 – 2.8 مليون ريال</a:t>
            </a:r>
          </a:p>
        </p:txBody>
      </p:sp>
      <p:sp>
        <p:nvSpPr>
          <p:cNvPr id="12" name="TextBox 11"/>
          <p:cNvSpPr txBox="1"/>
          <p:nvPr/>
        </p:nvSpPr>
        <p:spPr>
          <a:xfrm>
            <a:off x="713232" y="2222754"/>
            <a:ext cx="2848356" cy="182308"/>
          </a:xfrm>
          <a:prstGeom prst="rect">
            <a:avLst/>
          </a:prstGeom>
          <a:noFill/>
        </p:spPr>
        <p:txBody>
          <a:bodyPr wrap="square" lIns="0" rIns="0" tIns="0" bIns="0">
            <a:spAutoFit/>
          </a:bodyPr>
          <a:lstStyle/>
          <a:p>
            <a:pPr algn="r" rtl="1">
              <a:lnSpc>
                <a:spcPts val="1147"/>
              </a:lnSpc>
            </a:pPr>
            <a:r>
              <a:rPr sz="850" b="0">
                <a:solidFill>
                  <a:srgbClr val="474956"/>
                </a:solidFill>
                <a:latin typeface="Diodrum Arabic"/>
                <a:ea typeface="Diodrum Arabic"/>
                <a:cs typeface="Diodrum Arabic"/>
              </a:rPr>
              <a:t>إجمالي الفوج الواحد من 30 مشاركاً</a:t>
            </a:r>
          </a:p>
        </p:txBody>
      </p:sp>
      <p:sp>
        <p:nvSpPr>
          <p:cNvPr id="13" name="TextBox 12"/>
          <p:cNvSpPr txBox="1"/>
          <p:nvPr/>
        </p:nvSpPr>
        <p:spPr>
          <a:xfrm>
            <a:off x="713232" y="2423350"/>
            <a:ext cx="2848356" cy="164592"/>
          </a:xfrm>
          <a:prstGeom prst="rect">
            <a:avLst/>
          </a:prstGeom>
          <a:noFill/>
        </p:spPr>
        <p:txBody>
          <a:bodyPr wrap="square" lIns="0" rIns="0" tIns="0" bIns="0">
            <a:spAutoFit/>
          </a:bodyPr>
          <a:lstStyle/>
          <a:p>
            <a:pPr algn="r" rtl="1">
              <a:lnSpc>
                <a:spcPts val="875"/>
              </a:lnSpc>
            </a:pPr>
            <a:r>
              <a:rPr sz="700" b="0">
                <a:solidFill>
                  <a:srgbClr val="6E7077"/>
                </a:solidFill>
                <a:latin typeface="Diodrum Arabic"/>
                <a:ea typeface="Diodrum Arabic"/>
                <a:cs typeface="Diodrum Arabic"/>
              </a:rPr>
              <a:t>تقدير الدراسة [65]</a:t>
            </a:r>
          </a:p>
        </p:txBody>
      </p:sp>
      <p:sp>
        <p:nvSpPr>
          <p:cNvPr id="14" name="Rounded Rectangle 13"/>
          <p:cNvSpPr/>
          <p:nvPr/>
        </p:nvSpPr>
        <p:spPr>
          <a:xfrm>
            <a:off x="566928" y="3009392"/>
            <a:ext cx="6428231" cy="907732"/>
          </a:xfrm>
          <a:prstGeom prst="roundRect">
            <a:avLst>
              <a:gd name="adj" fmla="val 9066"/>
            </a:avLst>
          </a:prstGeom>
          <a:solidFill>
            <a:srgbClr val="EFECF8"/>
          </a:solidFill>
          <a:ln w="9525">
            <a:solidFill>
              <a:srgbClr val="DDD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173984"/>
            <a:ext cx="6099047"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كيف تُقرأ هذه الأرقام</a:t>
            </a:r>
          </a:p>
        </p:txBody>
      </p:sp>
      <p:sp>
        <p:nvSpPr>
          <p:cNvPr id="16" name="TextBox 15"/>
          <p:cNvSpPr txBox="1"/>
          <p:nvPr/>
        </p:nvSpPr>
        <p:spPr>
          <a:xfrm>
            <a:off x="731520" y="3383534"/>
            <a:ext cx="6099047" cy="361187"/>
          </a:xfrm>
          <a:prstGeom prst="rect">
            <a:avLst/>
          </a:prstGeom>
          <a:noFill/>
        </p:spPr>
        <p:txBody>
          <a:bodyPr wrap="square" lIns="0" rIns="0" tIns="0" bIns="0">
            <a:spAutoFit/>
          </a:bodyPr>
          <a:lstStyle/>
          <a:p>
            <a:pPr algn="just" rtl="1">
              <a:lnSpc>
                <a:spcPts val="1278"/>
              </a:lnSpc>
            </a:pPr>
            <a:r>
              <a:rPr sz="900" b="0">
                <a:solidFill>
                  <a:srgbClr val="474956"/>
                </a:solidFill>
                <a:latin typeface="Diodrum Arabic"/>
                <a:ea typeface="Diodrum Arabic"/>
                <a:cs typeface="Diodrum Arabic"/>
              </a:rPr>
              <a:t>تقديرات استرشادية لا تمثل عروضاً تعاقدية [65]. ولا ينطبق التقدير مباشرة على المسار الوزاري — لصغر الفوج وارتفاع التخصيص والسرية — ولا على المستوى الرابع الذي يعتمد بدرجة أكبر على الترخيص والتوسع الرقمي.</a:t>
            </a:r>
          </a:p>
        </p:txBody>
      </p:sp>
      <p:graphicFrame>
        <p:nvGraphicFramePr>
          <p:cNvPr id="17" name="Table 16"/>
          <p:cNvGraphicFramePr>
            <a:graphicFrameLocks noGrp="1"/>
          </p:cNvGraphicFramePr>
          <p:nvPr/>
        </p:nvGraphicFramePr>
        <p:xfrm>
          <a:off x="566928" y="4081716"/>
          <a:ext cx="6428231" cy="3101340"/>
        </p:xfrm>
        <a:graphic>
          <a:graphicData uri="http://schemas.openxmlformats.org/drawingml/2006/table">
            <a:tbl>
              <a:tblPr firstRow="1" bandRow="0" rtl="1"/>
              <a:tblGrid>
                <a:gridCol w="3985503"/>
                <a:gridCol w="2442728"/>
              </a:tblGrid>
              <a:tr h="253492">
                <a:tc>
                  <a:txBody>
                    <a:bodyPr wrap="square"/>
                    <a:lstStyle/>
                    <a:p>
                      <a:pPr algn="r" rtl="1">
                        <a:lnSpc>
                          <a:spcPts val="1024"/>
                        </a:lnSpc>
                      </a:pPr>
                      <a:r>
                        <a:rPr sz="800" b="0">
                          <a:solidFill>
                            <a:srgbClr val="FFFFFF"/>
                          </a:solidFill>
                          <a:latin typeface="Diodrum Arabic SemiBold"/>
                          <a:ea typeface="Diodrum Arabic SemiBold"/>
                          <a:cs typeface="Diodrum Arabic SemiBold"/>
                        </a:rPr>
                        <a:t>مكون الكلفة</a:t>
                      </a:r>
                    </a:p>
                  </a:txBody>
                  <a:tcPr marL="64008" marR="64008" marT="41148" marB="41148" anchor="ctr">
                    <a:solidFill>
                      <a:srgbClr val="241A5E"/>
                    </a:solidFill>
                  </a:tcPr>
                </a:tc>
                <a:tc>
                  <a:txBody>
                    <a:bodyPr wrap="square"/>
                    <a:lstStyle/>
                    <a:p>
                      <a:pPr algn="r" rtl="1">
                        <a:lnSpc>
                          <a:spcPts val="1024"/>
                        </a:lnSpc>
                      </a:pPr>
                      <a:r>
                        <a:rPr sz="800" b="0">
                          <a:solidFill>
                            <a:srgbClr val="FFFFFF"/>
                          </a:solidFill>
                          <a:latin typeface="Diodrum Arabic SemiBold"/>
                          <a:ea typeface="Diodrum Arabic SemiBold"/>
                          <a:cs typeface="Diodrum Arabic SemiBold"/>
                        </a:rPr>
                        <a:t>الحصة الاسترشادية من كلفة الفوج</a:t>
                      </a:r>
                    </a:p>
                  </a:txBody>
                  <a:tcPr marL="64008" marR="64008" marT="41148" marB="41148" anchor="ctr">
                    <a:solidFill>
                      <a:srgbClr val="241A5E"/>
                    </a:solidFill>
                  </a:tcPr>
                </a:tc>
              </a:tr>
              <a:tr h="271780">
                <a:tc>
                  <a:txBody>
                    <a:bodyPr wrap="square"/>
                    <a:lstStyle/>
                    <a:p>
                      <a:pPr algn="r" rtl="1">
                        <a:lnSpc>
                          <a:spcPts val="1024"/>
                        </a:lnSpc>
                      </a:pPr>
                      <a:r>
                        <a:rPr sz="800" b="0">
                          <a:solidFill>
                            <a:srgbClr val="232046"/>
                          </a:solidFill>
                          <a:latin typeface="Diodrum Arabic SemiBold"/>
                          <a:ea typeface="Diodrum Arabic SemiBold"/>
                          <a:cs typeface="Diodrum Arabic SemiBold"/>
                        </a:rPr>
                        <a:t>تصميم المحتوى وتحليل الاحتياج والتكييف السعودي</a:t>
                      </a:r>
                    </a:p>
                  </a:txBody>
                  <a:tcPr marL="64008" marR="64008" marT="41148" marB="41148" anchor="ctr">
                    <a:solidFill>
                      <a:srgbClr val="FFFFFF"/>
                    </a:solidFill>
                  </a:tcPr>
                </a:tc>
                <a:tc>
                  <a:txBody>
                    <a:bodyPr wrap="square"/>
                    <a:lstStyle/>
                    <a:p>
                      <a:pPr algn="r" rtl="1">
                        <a:lnSpc>
                          <a:spcPts val="1024"/>
                        </a:lnSpc>
                      </a:pPr>
                      <a:r>
                        <a:rPr sz="800" b="0">
                          <a:solidFill>
                            <a:srgbClr val="474956"/>
                          </a:solidFill>
                          <a:latin typeface="Diodrum Arabic"/>
                          <a:ea typeface="Diodrum Arabic"/>
                          <a:cs typeface="Diodrum Arabic"/>
                        </a:rPr>
                        <a:t>12–18%</a:t>
                      </a:r>
                    </a:p>
                  </a:txBody>
                  <a:tcPr marL="64008" marR="64008" marT="41148" marB="41148" anchor="ctr">
                    <a:solidFill>
                      <a:srgbClr val="FFFFFF"/>
                    </a:solidFill>
                  </a:tcPr>
                </a:tc>
              </a:tr>
              <a:tr h="271780">
                <a:tc>
                  <a:txBody>
                    <a:bodyPr wrap="square"/>
                    <a:lstStyle/>
                    <a:p>
                      <a:pPr algn="r" rtl="1">
                        <a:lnSpc>
                          <a:spcPts val="1024"/>
                        </a:lnSpc>
                      </a:pPr>
                      <a:r>
                        <a:rPr sz="800" b="0">
                          <a:solidFill>
                            <a:srgbClr val="232046"/>
                          </a:solidFill>
                          <a:latin typeface="Diodrum Arabic SemiBold"/>
                          <a:ea typeface="Diodrum Arabic SemiBold"/>
                          <a:cs typeface="Diodrum Arabic SemiBold"/>
                        </a:rPr>
                        <a:t>هيئة التدريس (أكاديميون وممارسون، نحو 10 أيام تدريس)</a:t>
                      </a:r>
                    </a:p>
                  </a:txBody>
                  <a:tcPr marL="64008" marR="64008" marT="41148" marB="41148" anchor="ctr">
                    <a:solidFill>
                      <a:srgbClr val="F4F4F9"/>
                    </a:solidFill>
                  </a:tcPr>
                </a:tc>
                <a:tc>
                  <a:txBody>
                    <a:bodyPr wrap="square"/>
                    <a:lstStyle/>
                    <a:p>
                      <a:pPr algn="r" rtl="1">
                        <a:lnSpc>
                          <a:spcPts val="1024"/>
                        </a:lnSpc>
                      </a:pPr>
                      <a:r>
                        <a:rPr sz="800" b="0">
                          <a:solidFill>
                            <a:srgbClr val="474956"/>
                          </a:solidFill>
                          <a:latin typeface="Diodrum Arabic"/>
                          <a:ea typeface="Diodrum Arabic"/>
                          <a:cs typeface="Diodrum Arabic"/>
                        </a:rPr>
                        <a:t>25–35%</a:t>
                      </a:r>
                    </a:p>
                  </a:txBody>
                  <a:tcPr marL="64008" marR="64008" marT="41148" marB="41148" anchor="ctr">
                    <a:solidFill>
                      <a:srgbClr val="F4F4F9"/>
                    </a:solidFill>
                  </a:tcPr>
                </a:tc>
              </a:tr>
              <a:tr h="271780">
                <a:tc>
                  <a:txBody>
                    <a:bodyPr wrap="square"/>
                    <a:lstStyle/>
                    <a:p>
                      <a:pPr algn="r" rtl="1">
                        <a:lnSpc>
                          <a:spcPts val="1024"/>
                        </a:lnSpc>
                      </a:pPr>
                      <a:r>
                        <a:rPr sz="800" b="0">
                          <a:solidFill>
                            <a:srgbClr val="232046"/>
                          </a:solidFill>
                          <a:latin typeface="Diodrum Arabic SemiBold"/>
                          <a:ea typeface="Diodrum Arabic SemiBold"/>
                          <a:cs typeface="Diodrum Arabic SemiBold"/>
                        </a:rPr>
                        <a:t>تطوير الحالات السعودية (قضايا ومحاكاة محلية)</a:t>
                      </a:r>
                    </a:p>
                  </a:txBody>
                  <a:tcPr marL="64008" marR="64008" marT="41148" marB="41148" anchor="ctr">
                    <a:solidFill>
                      <a:srgbClr val="FFFFFF"/>
                    </a:solidFill>
                  </a:tcPr>
                </a:tc>
                <a:tc>
                  <a:txBody>
                    <a:bodyPr wrap="square"/>
                    <a:lstStyle/>
                    <a:p>
                      <a:pPr algn="r" rtl="1">
                        <a:lnSpc>
                          <a:spcPts val="1024"/>
                        </a:lnSpc>
                      </a:pPr>
                      <a:r>
                        <a:rPr sz="800" b="0">
                          <a:solidFill>
                            <a:srgbClr val="474956"/>
                          </a:solidFill>
                          <a:latin typeface="Diodrum Arabic"/>
                          <a:ea typeface="Diodrum Arabic"/>
                          <a:cs typeface="Diodrum Arabic"/>
                        </a:rPr>
                        <a:t>8–12%</a:t>
                      </a:r>
                    </a:p>
                  </a:txBody>
                  <a:tcPr marL="64008" marR="64008" marT="41148" marB="41148" anchor="ctr">
                    <a:solidFill>
                      <a:srgbClr val="FFFFFF"/>
                    </a:solidFill>
                  </a:tcPr>
                </a:tc>
              </a:tr>
              <a:tr h="401828">
                <a:tc>
                  <a:txBody>
                    <a:bodyPr wrap="square"/>
                    <a:lstStyle/>
                    <a:p>
                      <a:pPr algn="r" rtl="1">
                        <a:lnSpc>
                          <a:spcPts val="1024"/>
                        </a:lnSpc>
                      </a:pPr>
                      <a:r>
                        <a:rPr sz="800" b="0">
                          <a:solidFill>
                            <a:srgbClr val="232046"/>
                          </a:solidFill>
                          <a:latin typeface="Diodrum Arabic SemiBold"/>
                          <a:ea typeface="Diodrum Arabic SemiBold"/>
                          <a:cs typeface="Diodrum Arabic SemiBold"/>
                        </a:rPr>
                        <a:t>التوطين العربي (المحتوى والترجمة وإعداد هيئة التدريس والمواد والمنصة)</a:t>
                      </a:r>
                    </a:p>
                  </a:txBody>
                  <a:tcPr marL="64008" marR="64008" marT="41148" marB="41148" anchor="ctr">
                    <a:solidFill>
                      <a:srgbClr val="F4F4F9"/>
                    </a:solidFill>
                  </a:tcPr>
                </a:tc>
                <a:tc>
                  <a:txBody>
                    <a:bodyPr wrap="square"/>
                    <a:lstStyle/>
                    <a:p>
                      <a:pPr algn="r" rtl="1">
                        <a:lnSpc>
                          <a:spcPts val="1024"/>
                        </a:lnSpc>
                      </a:pPr>
                      <a:r>
                        <a:rPr sz="800" b="0">
                          <a:solidFill>
                            <a:srgbClr val="474956"/>
                          </a:solidFill>
                          <a:latin typeface="Diodrum Arabic"/>
                          <a:ea typeface="Diodrum Arabic"/>
                          <a:cs typeface="Diodrum Arabic"/>
                        </a:rPr>
                        <a:t>بند مستقل يُقدَّر عند تصميم المسار — ولا يُدمج في بند التقنية</a:t>
                      </a:r>
                    </a:p>
                  </a:txBody>
                  <a:tcPr marL="64008" marR="64008" marT="41148" marB="41148" anchor="ctr">
                    <a:solidFill>
                      <a:srgbClr val="F4F4F9"/>
                    </a:solidFill>
                  </a:tcPr>
                </a:tc>
              </a:tr>
              <a:tr h="271780">
                <a:tc>
                  <a:txBody>
                    <a:bodyPr wrap="square"/>
                    <a:lstStyle/>
                    <a:p>
                      <a:pPr algn="r" rtl="1">
                        <a:lnSpc>
                          <a:spcPts val="1024"/>
                        </a:lnSpc>
                      </a:pPr>
                      <a:r>
                        <a:rPr sz="800" b="0">
                          <a:solidFill>
                            <a:srgbClr val="232046"/>
                          </a:solidFill>
                          <a:latin typeface="Diodrum Arabic SemiBold"/>
                          <a:ea typeface="Diodrum Arabic SemiBold"/>
                          <a:cs typeface="Diodrum Arabic SemiBold"/>
                        </a:rPr>
                        <a:t>إدارة البرنامج والعمليات</a:t>
                      </a:r>
                    </a:p>
                  </a:txBody>
                  <a:tcPr marL="64008" marR="64008" marT="41148" marB="41148" anchor="ctr">
                    <a:solidFill>
                      <a:srgbClr val="FFFFFF"/>
                    </a:solidFill>
                  </a:tcPr>
                </a:tc>
                <a:tc>
                  <a:txBody>
                    <a:bodyPr wrap="square"/>
                    <a:lstStyle/>
                    <a:p>
                      <a:pPr algn="r" rtl="1">
                        <a:lnSpc>
                          <a:spcPts val="1024"/>
                        </a:lnSpc>
                      </a:pPr>
                      <a:r>
                        <a:rPr sz="800" b="0">
                          <a:solidFill>
                            <a:srgbClr val="474956"/>
                          </a:solidFill>
                          <a:latin typeface="Diodrum Arabic"/>
                          <a:ea typeface="Diodrum Arabic"/>
                          <a:cs typeface="Diodrum Arabic"/>
                        </a:rPr>
                        <a:t>10–15%</a:t>
                      </a:r>
                    </a:p>
                  </a:txBody>
                  <a:tcPr marL="64008" marR="64008" marT="41148" marB="41148" anchor="ctr">
                    <a:solidFill>
                      <a:srgbClr val="FFFFFF"/>
                    </a:solidFill>
                  </a:tcPr>
                </a:tc>
              </a:tr>
              <a:tr h="271780">
                <a:tc>
                  <a:txBody>
                    <a:bodyPr wrap="square"/>
                    <a:lstStyle/>
                    <a:p>
                      <a:pPr algn="r" rtl="1">
                        <a:lnSpc>
                          <a:spcPts val="1024"/>
                        </a:lnSpc>
                      </a:pPr>
                      <a:r>
                        <a:rPr sz="800" b="0">
                          <a:solidFill>
                            <a:srgbClr val="232046"/>
                          </a:solidFill>
                          <a:latin typeface="Diodrum Arabic SemiBold"/>
                          <a:ea typeface="Diodrum Arabic SemiBold"/>
                          <a:cs typeface="Diodrum Arabic SemiBold"/>
                        </a:rPr>
                        <a:t>الإرشاد التنفيذي وإشراف مشاريع التطبيق</a:t>
                      </a:r>
                    </a:p>
                  </a:txBody>
                  <a:tcPr marL="64008" marR="64008" marT="41148" marB="41148" anchor="ctr">
                    <a:solidFill>
                      <a:srgbClr val="F4F4F9"/>
                    </a:solidFill>
                  </a:tcPr>
                </a:tc>
                <a:tc>
                  <a:txBody>
                    <a:bodyPr wrap="square"/>
                    <a:lstStyle/>
                    <a:p>
                      <a:pPr algn="r" rtl="1">
                        <a:lnSpc>
                          <a:spcPts val="1024"/>
                        </a:lnSpc>
                      </a:pPr>
                      <a:r>
                        <a:rPr sz="800" b="0">
                          <a:solidFill>
                            <a:srgbClr val="474956"/>
                          </a:solidFill>
                          <a:latin typeface="Diodrum Arabic"/>
                          <a:ea typeface="Diodrum Arabic"/>
                          <a:cs typeface="Diodrum Arabic"/>
                        </a:rPr>
                        <a:t>8–12%</a:t>
                      </a:r>
                    </a:p>
                  </a:txBody>
                  <a:tcPr marL="64008" marR="64008" marT="41148" marB="41148" anchor="ctr">
                    <a:solidFill>
                      <a:srgbClr val="F4F4F9"/>
                    </a:solidFill>
                  </a:tcPr>
                </a:tc>
              </a:tr>
              <a:tr h="271780">
                <a:tc>
                  <a:txBody>
                    <a:bodyPr wrap="square"/>
                    <a:lstStyle/>
                    <a:p>
                      <a:pPr algn="r" rtl="1">
                        <a:lnSpc>
                          <a:spcPts val="1024"/>
                        </a:lnSpc>
                      </a:pPr>
                      <a:r>
                        <a:rPr sz="800" b="0">
                          <a:solidFill>
                            <a:srgbClr val="232046"/>
                          </a:solidFill>
                          <a:latin typeface="Diodrum Arabic SemiBold"/>
                          <a:ea typeface="Diodrum Arabic SemiBold"/>
                          <a:cs typeface="Diodrum Arabic SemiBold"/>
                        </a:rPr>
                        <a:t>المقر والإقامة والضيافة</a:t>
                      </a:r>
                    </a:p>
                  </a:txBody>
                  <a:tcPr marL="64008" marR="64008" marT="41148" marB="41148" anchor="ctr">
                    <a:solidFill>
                      <a:srgbClr val="FFFFFF"/>
                    </a:solidFill>
                  </a:tcPr>
                </a:tc>
                <a:tc>
                  <a:txBody>
                    <a:bodyPr wrap="square"/>
                    <a:lstStyle/>
                    <a:p>
                      <a:pPr algn="r" rtl="1">
                        <a:lnSpc>
                          <a:spcPts val="1024"/>
                        </a:lnSpc>
                      </a:pPr>
                      <a:r>
                        <a:rPr sz="800" b="0">
                          <a:solidFill>
                            <a:srgbClr val="474956"/>
                          </a:solidFill>
                          <a:latin typeface="Diodrum Arabic"/>
                          <a:ea typeface="Diodrum Arabic"/>
                          <a:cs typeface="Diodrum Arabic"/>
                        </a:rPr>
                        <a:t>8–12%</a:t>
                      </a:r>
                    </a:p>
                  </a:txBody>
                  <a:tcPr marL="64008" marR="64008" marT="41148" marB="41148" anchor="ctr">
                    <a:solidFill>
                      <a:srgbClr val="FFFFFF"/>
                    </a:solidFill>
                  </a:tcPr>
                </a:tc>
              </a:tr>
              <a:tr h="271780">
                <a:tc>
                  <a:txBody>
                    <a:bodyPr wrap="square"/>
                    <a:lstStyle/>
                    <a:p>
                      <a:pPr algn="r" rtl="1">
                        <a:lnSpc>
                          <a:spcPts val="1024"/>
                        </a:lnSpc>
                      </a:pPr>
                      <a:r>
                        <a:rPr sz="800" b="0">
                          <a:solidFill>
                            <a:srgbClr val="232046"/>
                          </a:solidFill>
                          <a:latin typeface="Diodrum Arabic SemiBold"/>
                          <a:ea typeface="Diodrum Arabic SemiBold"/>
                          <a:cs typeface="Diodrum Arabic SemiBold"/>
                        </a:rPr>
                        <a:t>التقنية ومنصة التعلم والتقديم</a:t>
                      </a:r>
                    </a:p>
                  </a:txBody>
                  <a:tcPr marL="64008" marR="64008" marT="41148" marB="41148" anchor="ctr">
                    <a:solidFill>
                      <a:srgbClr val="F4F4F9"/>
                    </a:solidFill>
                  </a:tcPr>
                </a:tc>
                <a:tc>
                  <a:txBody>
                    <a:bodyPr wrap="square"/>
                    <a:lstStyle/>
                    <a:p>
                      <a:pPr algn="r" rtl="1">
                        <a:lnSpc>
                          <a:spcPts val="1024"/>
                        </a:lnSpc>
                      </a:pPr>
                      <a:r>
                        <a:rPr sz="800" b="0">
                          <a:solidFill>
                            <a:srgbClr val="474956"/>
                          </a:solidFill>
                          <a:latin typeface="Diodrum Arabic"/>
                          <a:ea typeface="Diodrum Arabic"/>
                          <a:cs typeface="Diodrum Arabic"/>
                        </a:rPr>
                        <a:t>5–8%</a:t>
                      </a:r>
                    </a:p>
                  </a:txBody>
                  <a:tcPr marL="64008" marR="64008" marT="41148" marB="41148" anchor="ctr">
                    <a:solidFill>
                      <a:srgbClr val="F4F4F9"/>
                    </a:solidFill>
                  </a:tcPr>
                </a:tc>
              </a:tr>
              <a:tr h="271780">
                <a:tc>
                  <a:txBody>
                    <a:bodyPr wrap="square"/>
                    <a:lstStyle/>
                    <a:p>
                      <a:pPr algn="r" rtl="1">
                        <a:lnSpc>
                          <a:spcPts val="1024"/>
                        </a:lnSpc>
                      </a:pPr>
                      <a:r>
                        <a:rPr sz="800" b="0">
                          <a:solidFill>
                            <a:srgbClr val="232046"/>
                          </a:solidFill>
                          <a:latin typeface="Diodrum Arabic SemiBold"/>
                          <a:ea typeface="Diodrum Arabic SemiBold"/>
                          <a:cs typeface="Diodrum Arabic SemiBold"/>
                        </a:rPr>
                        <a:t>التقييم وقياس الأثر (خط أساس ولوحات متابعة)</a:t>
                      </a:r>
                    </a:p>
                  </a:txBody>
                  <a:tcPr marL="64008" marR="64008" marT="41148" marB="41148" anchor="ctr">
                    <a:solidFill>
                      <a:srgbClr val="FFFFFF"/>
                    </a:solidFill>
                  </a:tcPr>
                </a:tc>
                <a:tc>
                  <a:txBody>
                    <a:bodyPr wrap="square"/>
                    <a:lstStyle/>
                    <a:p>
                      <a:pPr algn="r" rtl="1">
                        <a:lnSpc>
                          <a:spcPts val="1024"/>
                        </a:lnSpc>
                      </a:pPr>
                      <a:r>
                        <a:rPr sz="800" b="0">
                          <a:solidFill>
                            <a:srgbClr val="474956"/>
                          </a:solidFill>
                          <a:latin typeface="Diodrum Arabic"/>
                          <a:ea typeface="Diodrum Arabic"/>
                          <a:cs typeface="Diodrum Arabic"/>
                        </a:rPr>
                        <a:t>4–7%</a:t>
                      </a:r>
                    </a:p>
                  </a:txBody>
                  <a:tcPr marL="64008" marR="64008" marT="41148" marB="41148" anchor="ctr">
                    <a:solidFill>
                      <a:srgbClr val="FFFFFF"/>
                    </a:solidFill>
                  </a:tcPr>
                </a:tc>
              </a:tr>
              <a:tr h="271780">
                <a:tc>
                  <a:txBody>
                    <a:bodyPr wrap="square"/>
                    <a:lstStyle/>
                    <a:p>
                      <a:pPr algn="r" rtl="1">
                        <a:lnSpc>
                          <a:spcPts val="1024"/>
                        </a:lnSpc>
                      </a:pPr>
                      <a:r>
                        <a:rPr sz="800" b="0">
                          <a:solidFill>
                            <a:srgbClr val="232046"/>
                          </a:solidFill>
                          <a:latin typeface="Diodrum Arabic SemiBold"/>
                          <a:ea typeface="Diodrum Arabic SemiBold"/>
                          <a:cs typeface="Diodrum Arabic SemiBold"/>
                        </a:rPr>
                        <a:t>التجديد السنوي ومجتمع الخريجين</a:t>
                      </a:r>
                    </a:p>
                  </a:txBody>
                  <a:tcPr marL="64008" marR="64008" marT="41148" marB="41148" anchor="ctr">
                    <a:solidFill>
                      <a:srgbClr val="F4F4F9"/>
                    </a:solidFill>
                  </a:tcPr>
                </a:tc>
                <a:tc>
                  <a:txBody>
                    <a:bodyPr wrap="square"/>
                    <a:lstStyle/>
                    <a:p>
                      <a:pPr algn="r" rtl="1">
                        <a:lnSpc>
                          <a:spcPts val="1024"/>
                        </a:lnSpc>
                      </a:pPr>
                      <a:r>
                        <a:rPr sz="800" b="0">
                          <a:solidFill>
                            <a:srgbClr val="474956"/>
                          </a:solidFill>
                          <a:latin typeface="Diodrum Arabic"/>
                          <a:ea typeface="Diodrum Arabic"/>
                          <a:cs typeface="Diodrum Arabic"/>
                        </a:rPr>
                        <a:t>5–8%، من السنة الثانية</a:t>
                      </a:r>
                    </a:p>
                  </a:txBody>
                  <a:tcPr marL="64008" marR="64008" marT="41148" marB="41148" anchor="ctr">
                    <a:solidFill>
                      <a:srgbClr val="F4F4F9"/>
                    </a:solidFill>
                  </a:tcPr>
                </a:tc>
              </a:tr>
            </a:tbl>
          </a:graphicData>
        </a:graphic>
      </p:graphicFrame>
      <p:sp>
        <p:nvSpPr>
          <p:cNvPr id="18" name="TextBox 17"/>
          <p:cNvSpPr txBox="1"/>
          <p:nvPr/>
        </p:nvSpPr>
        <p:spPr>
          <a:xfrm>
            <a:off x="566928" y="7329360"/>
            <a:ext cx="6428231" cy="321056"/>
          </a:xfrm>
          <a:prstGeom prst="rect">
            <a:avLst/>
          </a:prstGeom>
          <a:noFill/>
        </p:spPr>
        <p:txBody>
          <a:bodyPr wrap="square" lIns="0" rIns="0" tIns="0" bIns="0">
            <a:spAutoFit/>
          </a:bodyPr>
          <a:lstStyle/>
          <a:p>
            <a:pPr algn="r" rtl="1">
              <a:lnSpc>
                <a:spcPts val="1120"/>
              </a:lnSpc>
            </a:pPr>
            <a:r>
              <a:rPr sz="800" b="0">
                <a:solidFill>
                  <a:srgbClr val="6E7077"/>
                </a:solidFill>
                <a:latin typeface="Diodrum Arabic"/>
                <a:ea typeface="Diodrum Arabic"/>
                <a:cs typeface="Diodrum Arabic"/>
              </a:rPr>
              <a:t>النسب نطاقات تخطيطية تختلف بحسب صيغة المسار — لا ميزانية واحدة تجمع حدودها العليا. ويُضاف بند حوكمة وسرية بحصة استرشادية من 2 إلى 4% لتغليف الفوج الوزاري [65].</a:t>
            </a:r>
          </a:p>
        </p:txBody>
      </p:sp>
      <p:sp>
        <p:nvSpPr>
          <p:cNvPr id="19" name="Rectangle 18"/>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1" name="TextBox 20"/>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05 · 5.6 – 5.7  قراءة الكلفة · الملكية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«من يدرّس» أغلى القرارات؛ والأصلان المتراكمان أرخص البنود</a:t>
            </a:r>
          </a:p>
        </p:txBody>
      </p:sp>
      <p:sp>
        <p:nvSpPr>
          <p:cNvPr id="4" name="TextBox 3"/>
          <p:cNvSpPr txBox="1"/>
          <p:nvPr/>
        </p:nvSpPr>
        <p:spPr>
          <a:xfrm>
            <a:off x="6537959" y="1093470"/>
            <a:ext cx="457200" cy="287019"/>
          </a:xfrm>
          <a:prstGeom prst="rect">
            <a:avLst/>
          </a:prstGeom>
          <a:noFill/>
        </p:spPr>
        <p:txBody>
          <a:bodyPr wrap="square" lIns="0" rIns="0" tIns="0" bIns="0">
            <a:spAutoFit/>
          </a:bodyPr>
          <a:lstStyle/>
          <a:p>
            <a:pPr algn="r" rtl="1">
              <a:lnSpc>
                <a:spcPts val="1972"/>
              </a:lnSpc>
            </a:pPr>
            <a:r>
              <a:rPr sz="1700" b="1">
                <a:solidFill>
                  <a:srgbClr val="7C32C9"/>
                </a:solidFill>
                <a:latin typeface="Diodrum Arabic"/>
                <a:ea typeface="Diodrum Arabic"/>
                <a:cs typeface="Diodrum Arabic"/>
              </a:rPr>
              <a:t>1</a:t>
            </a:r>
          </a:p>
        </p:txBody>
      </p:sp>
      <p:sp>
        <p:nvSpPr>
          <p:cNvPr id="5" name="TextBox 4"/>
          <p:cNvSpPr txBox="1"/>
          <p:nvPr/>
        </p:nvSpPr>
        <p:spPr>
          <a:xfrm>
            <a:off x="566928" y="1111758"/>
            <a:ext cx="5879592" cy="194056"/>
          </a:xfrm>
          <a:prstGeom prst="rect">
            <a:avLst/>
          </a:prstGeom>
          <a:noFill/>
        </p:spPr>
        <p:txBody>
          <a:bodyPr wrap="square" lIns="0" rIns="0" tIns="0" bIns="0">
            <a:spAutoFit/>
          </a:bodyPr>
          <a:lstStyle/>
          <a:p>
            <a:pPr algn="r" rtl="1">
              <a:lnSpc>
                <a:spcPts val="1240"/>
              </a:lnSpc>
            </a:pPr>
            <a:r>
              <a:rPr sz="1000" b="0">
                <a:solidFill>
                  <a:srgbClr val="7C32C9"/>
                </a:solidFill>
                <a:latin typeface="Diodrum Arabic SemiBold"/>
                <a:ea typeface="Diodrum Arabic SemiBold"/>
                <a:cs typeface="Diodrum Arabic SemiBold"/>
              </a:rPr>
              <a:t>هيئة التدريس تستحوذ على الربع إلى الثلث</a:t>
            </a:r>
          </a:p>
        </p:txBody>
      </p:sp>
      <p:sp>
        <p:nvSpPr>
          <p:cNvPr id="6" name="TextBox 5"/>
          <p:cNvSpPr txBox="1"/>
          <p:nvPr/>
        </p:nvSpPr>
        <p:spPr>
          <a:xfrm>
            <a:off x="566928" y="1314958"/>
            <a:ext cx="5879592" cy="676656"/>
          </a:xfrm>
          <a:prstGeom prst="rect">
            <a:avLst/>
          </a:prstGeom>
          <a:noFill/>
        </p:spPr>
        <p:txBody>
          <a:bodyPr wrap="square" lIns="0" rIns="0" tIns="0" bIns="0">
            <a:spAutoFit/>
          </a:bodyPr>
          <a:lstStyle/>
          <a:p>
            <a:pPr algn="just" rtl="1">
              <a:lnSpc>
                <a:spcPts val="1260"/>
              </a:lnSpc>
            </a:pPr>
            <a:r>
              <a:rPr sz="900" b="0">
                <a:solidFill>
                  <a:srgbClr val="474956"/>
                </a:solidFill>
                <a:latin typeface="Diodrum Arabic"/>
                <a:ea typeface="Diodrum Arabic"/>
                <a:cs typeface="Diodrum Arabic"/>
              </a:rPr>
              <a:t>ما يجعل قرار «من يدرّس» أغلى قرارات التصميم — وأولها بالتفاوض. ويتسق التقدير الكلي مع نطاق الارتباطات المخصصة المنشور (من أقل من 100 ألف دولار إلى مليوني دولار للارتباط [66])، ومع متوسطات المنصات الجامعية الكبرى (من 2,000 إلى 50,000 دولار للمشارك [67])؛ ويمكن خفضه من 40 إلى 55% بتصميم أثقل افتراضياً، على قياس فارق التقديم الحضوري والافتراضي الموثق لدى IMD [68].</a:t>
            </a:r>
          </a:p>
        </p:txBody>
      </p:sp>
      <p:sp>
        <p:nvSpPr>
          <p:cNvPr id="7" name="Rectangle 6"/>
          <p:cNvSpPr/>
          <p:nvPr/>
        </p:nvSpPr>
        <p:spPr>
          <a:xfrm>
            <a:off x="566928" y="2019046"/>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2128774"/>
            <a:ext cx="457200" cy="287019"/>
          </a:xfrm>
          <a:prstGeom prst="rect">
            <a:avLst/>
          </a:prstGeom>
          <a:noFill/>
        </p:spPr>
        <p:txBody>
          <a:bodyPr wrap="square" lIns="0" rIns="0" tIns="0" bIns="0">
            <a:spAutoFit/>
          </a:bodyPr>
          <a:lstStyle/>
          <a:p>
            <a:pPr algn="r" rtl="1">
              <a:lnSpc>
                <a:spcPts val="1972"/>
              </a:lnSpc>
            </a:pPr>
            <a:r>
              <a:rPr sz="1700" b="1">
                <a:solidFill>
                  <a:srgbClr val="00ABAF"/>
                </a:solidFill>
                <a:latin typeface="Diodrum Arabic"/>
                <a:ea typeface="Diodrum Arabic"/>
                <a:cs typeface="Diodrum Arabic"/>
              </a:rPr>
              <a:t>2</a:t>
            </a:r>
          </a:p>
        </p:txBody>
      </p:sp>
      <p:sp>
        <p:nvSpPr>
          <p:cNvPr id="9" name="TextBox 8"/>
          <p:cNvSpPr txBox="1"/>
          <p:nvPr/>
        </p:nvSpPr>
        <p:spPr>
          <a:xfrm>
            <a:off x="566928" y="2147062"/>
            <a:ext cx="5879592" cy="194056"/>
          </a:xfrm>
          <a:prstGeom prst="rect">
            <a:avLst/>
          </a:prstGeom>
          <a:noFill/>
        </p:spPr>
        <p:txBody>
          <a:bodyPr wrap="square" lIns="0" rIns="0" tIns="0" bIns="0">
            <a:spAutoFit/>
          </a:bodyPr>
          <a:lstStyle/>
          <a:p>
            <a:pPr algn="r" rtl="1">
              <a:lnSpc>
                <a:spcPts val="1240"/>
              </a:lnSpc>
            </a:pPr>
            <a:r>
              <a:rPr sz="1000" b="0">
                <a:solidFill>
                  <a:srgbClr val="00ABAF"/>
                </a:solidFill>
                <a:latin typeface="Diodrum Arabic SemiBold"/>
                <a:ea typeface="Diodrum Arabic SemiBold"/>
                <a:cs typeface="Diodrum Arabic SemiBold"/>
              </a:rPr>
              <a:t>الأصلان اللذان يتراكمان محلياً من أدنى البنود كلفة</a:t>
            </a:r>
          </a:p>
        </p:txBody>
      </p:sp>
      <p:sp>
        <p:nvSpPr>
          <p:cNvPr id="10" name="TextBox 9"/>
          <p:cNvSpPr txBox="1"/>
          <p:nvPr/>
        </p:nvSpPr>
        <p:spPr>
          <a:xfrm>
            <a:off x="566928" y="2350262"/>
            <a:ext cx="5879592" cy="836676"/>
          </a:xfrm>
          <a:prstGeom prst="rect">
            <a:avLst/>
          </a:prstGeom>
          <a:noFill/>
        </p:spPr>
        <p:txBody>
          <a:bodyPr wrap="square" lIns="0" rIns="0" tIns="0" bIns="0">
            <a:spAutoFit/>
          </a:bodyPr>
          <a:lstStyle/>
          <a:p>
            <a:pPr algn="just" rtl="1">
              <a:lnSpc>
                <a:spcPts val="1260"/>
              </a:lnSpc>
            </a:pPr>
            <a:r>
              <a:rPr sz="900" b="0">
                <a:solidFill>
                  <a:srgbClr val="474956"/>
                </a:solidFill>
                <a:latin typeface="Diodrum Arabic"/>
                <a:ea typeface="Diodrum Arabic"/>
                <a:cs typeface="Diodrum Arabic"/>
              </a:rPr>
              <a:t>الحالات السعودية والتقييم. وتقدم مقاعد الشراء المفتوح مرجعية قبل أي بناء مخصص: أربعة مقاعد في مدرسة لي كوان يو — ثلاثة مدفوعة والرابع مجاني ضمن عرض المدرسة — بكلفة S$20,400 (نحو 60 ألف ريال) قبل الضريبة [23][69]؛ ومقعد دارن بسعر الحكومات US$3,760 (نحو 14,100 ريال) [21]. والتنبيه المحاسبي: رسوم المقعد المفتوح لا تُضرب في حجم الفوج — فكلفة الفوج المخصص تحمل التصميم كاملاً على فوجها الأول، بينما يفتقر المقعد المفتوح إلى التخصيص والحالات المحلية [69].</a:t>
            </a:r>
          </a:p>
        </p:txBody>
      </p:sp>
      <p:sp>
        <p:nvSpPr>
          <p:cNvPr id="11" name="TextBox 10"/>
          <p:cNvSpPr txBox="1"/>
          <p:nvPr/>
        </p:nvSpPr>
        <p:spPr>
          <a:xfrm>
            <a:off x="3881628" y="3287522"/>
            <a:ext cx="3113532" cy="205994"/>
          </a:xfrm>
          <a:prstGeom prst="rect">
            <a:avLst/>
          </a:prstGeom>
          <a:noFill/>
        </p:spPr>
        <p:txBody>
          <a:bodyPr wrap="square" lIns="0" rIns="0" tIns="0" bIns="0">
            <a:spAutoFit/>
          </a:bodyPr>
          <a:lstStyle/>
          <a:p>
            <a:pPr algn="r" rtl="1">
              <a:lnSpc>
                <a:spcPts val="1334"/>
              </a:lnSpc>
            </a:pPr>
            <a:r>
              <a:rPr sz="1150" b="0">
                <a:solidFill>
                  <a:srgbClr val="00ABAF"/>
                </a:solidFill>
                <a:latin typeface="Diodrum Arabic SemiBold"/>
                <a:ea typeface="Diodrum Arabic SemiBold"/>
                <a:cs typeface="Diodrum Arabic SemiBold"/>
              </a:rPr>
              <a:t>يُستفاد منه دولياً</a:t>
            </a:r>
          </a:p>
        </p:txBody>
      </p:sp>
      <p:sp>
        <p:nvSpPr>
          <p:cNvPr id="12" name="TextBox 11"/>
          <p:cNvSpPr txBox="1"/>
          <p:nvPr/>
        </p:nvSpPr>
        <p:spPr>
          <a:xfrm>
            <a:off x="6903720" y="3534664"/>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13" name="TextBox 12"/>
          <p:cNvSpPr txBox="1"/>
          <p:nvPr/>
        </p:nvSpPr>
        <p:spPr>
          <a:xfrm>
            <a:off x="3881628" y="3539236"/>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المنهجية.</a:t>
            </a:r>
          </a:p>
        </p:txBody>
      </p:sp>
      <p:sp>
        <p:nvSpPr>
          <p:cNvPr id="14" name="TextBox 13"/>
          <p:cNvSpPr txBox="1"/>
          <p:nvPr/>
        </p:nvSpPr>
        <p:spPr>
          <a:xfrm>
            <a:off x="6903720" y="3733927"/>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15" name="TextBox 14"/>
          <p:cNvSpPr txBox="1"/>
          <p:nvPr/>
        </p:nvSpPr>
        <p:spPr>
          <a:xfrm>
            <a:off x="3881628" y="3738499"/>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أعضاء هيئة التدريس.</a:t>
            </a:r>
          </a:p>
        </p:txBody>
      </p:sp>
      <p:sp>
        <p:nvSpPr>
          <p:cNvPr id="16" name="TextBox 15"/>
          <p:cNvSpPr txBox="1"/>
          <p:nvPr/>
        </p:nvSpPr>
        <p:spPr>
          <a:xfrm>
            <a:off x="6903720" y="3933190"/>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17" name="TextBox 16"/>
          <p:cNvSpPr txBox="1"/>
          <p:nvPr/>
        </p:nvSpPr>
        <p:spPr>
          <a:xfrm>
            <a:off x="3881628" y="3937762"/>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الخبرات المقارنة.</a:t>
            </a:r>
          </a:p>
        </p:txBody>
      </p:sp>
      <p:sp>
        <p:nvSpPr>
          <p:cNvPr id="18" name="TextBox 17"/>
          <p:cNvSpPr txBox="1"/>
          <p:nvPr/>
        </p:nvSpPr>
        <p:spPr>
          <a:xfrm>
            <a:off x="6903720" y="4132453"/>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19" name="TextBox 18"/>
          <p:cNvSpPr txBox="1"/>
          <p:nvPr/>
        </p:nvSpPr>
        <p:spPr>
          <a:xfrm>
            <a:off x="3881628" y="4137025"/>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الشهادات.</a:t>
            </a:r>
          </a:p>
        </p:txBody>
      </p:sp>
      <p:sp>
        <p:nvSpPr>
          <p:cNvPr id="20" name="TextBox 19"/>
          <p:cNvSpPr txBox="1"/>
          <p:nvPr/>
        </p:nvSpPr>
        <p:spPr>
          <a:xfrm>
            <a:off x="6903720" y="4331716"/>
            <a:ext cx="91440" cy="176530"/>
          </a:xfrm>
          <a:prstGeom prst="rect">
            <a:avLst/>
          </a:prstGeom>
          <a:noFill/>
        </p:spPr>
        <p:txBody>
          <a:bodyPr wrap="square" lIns="0" rIns="0" tIns="0" bIns="0">
            <a:spAutoFit/>
          </a:bodyPr>
          <a:lstStyle/>
          <a:p>
            <a:pPr algn="ctr">
              <a:lnSpc>
                <a:spcPts val="1102"/>
              </a:lnSpc>
            </a:pPr>
            <a:r>
              <a:rPr sz="950" b="0">
                <a:solidFill>
                  <a:srgbClr val="00ABAF"/>
                </a:solidFill>
                <a:latin typeface="Diodrum Arabic SemiBold"/>
                <a:ea typeface="Diodrum Arabic SemiBold"/>
                <a:cs typeface="Diodrum Arabic SemiBold"/>
              </a:rPr>
              <a:t>•</a:t>
            </a:r>
          </a:p>
        </p:txBody>
      </p:sp>
      <p:sp>
        <p:nvSpPr>
          <p:cNvPr id="21" name="TextBox 20"/>
          <p:cNvSpPr txBox="1"/>
          <p:nvPr/>
        </p:nvSpPr>
        <p:spPr>
          <a:xfrm>
            <a:off x="3881628" y="4336288"/>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العلامة الأكاديمية عند الحاجة.</a:t>
            </a:r>
          </a:p>
        </p:txBody>
      </p:sp>
      <p:sp>
        <p:nvSpPr>
          <p:cNvPr id="22" name="TextBox 21"/>
          <p:cNvSpPr txBox="1"/>
          <p:nvPr/>
        </p:nvSpPr>
        <p:spPr>
          <a:xfrm>
            <a:off x="566928" y="3287522"/>
            <a:ext cx="3113532" cy="205994"/>
          </a:xfrm>
          <a:prstGeom prst="rect">
            <a:avLst/>
          </a:prstGeom>
          <a:noFill/>
        </p:spPr>
        <p:txBody>
          <a:bodyPr wrap="square" lIns="0" rIns="0" tIns="0" bIns="0">
            <a:spAutoFit/>
          </a:bodyPr>
          <a:lstStyle/>
          <a:p>
            <a:pPr algn="r" rtl="1">
              <a:lnSpc>
                <a:spcPts val="1334"/>
              </a:lnSpc>
            </a:pPr>
            <a:r>
              <a:rPr sz="1150" b="0">
                <a:solidFill>
                  <a:srgbClr val="7C32C9"/>
                </a:solidFill>
                <a:latin typeface="Diodrum Arabic SemiBold"/>
                <a:ea typeface="Diodrum Arabic SemiBold"/>
                <a:cs typeface="Diodrum Arabic SemiBold"/>
              </a:rPr>
              <a:t>يبقى مملوكاً محلياً</a:t>
            </a:r>
          </a:p>
        </p:txBody>
      </p:sp>
      <p:sp>
        <p:nvSpPr>
          <p:cNvPr id="23" name="TextBox 22"/>
          <p:cNvSpPr txBox="1"/>
          <p:nvPr/>
        </p:nvSpPr>
        <p:spPr>
          <a:xfrm>
            <a:off x="3589019" y="3534664"/>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4" name="TextBox 23"/>
          <p:cNvSpPr txBox="1"/>
          <p:nvPr/>
        </p:nvSpPr>
        <p:spPr>
          <a:xfrm>
            <a:off x="566928" y="3539236"/>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الحالات السعودية.</a:t>
            </a:r>
          </a:p>
        </p:txBody>
      </p:sp>
      <p:sp>
        <p:nvSpPr>
          <p:cNvPr id="25" name="TextBox 24"/>
          <p:cNvSpPr txBox="1"/>
          <p:nvPr/>
        </p:nvSpPr>
        <p:spPr>
          <a:xfrm>
            <a:off x="3589019" y="3733927"/>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6" name="TextBox 25"/>
          <p:cNvSpPr txBox="1"/>
          <p:nvPr/>
        </p:nvSpPr>
        <p:spPr>
          <a:xfrm>
            <a:off x="566928" y="3738499"/>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إطار المستويات الأربعة.</a:t>
            </a:r>
          </a:p>
        </p:txBody>
      </p:sp>
      <p:sp>
        <p:nvSpPr>
          <p:cNvPr id="27" name="TextBox 26"/>
          <p:cNvSpPr txBox="1"/>
          <p:nvPr/>
        </p:nvSpPr>
        <p:spPr>
          <a:xfrm>
            <a:off x="3589019" y="3933190"/>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28" name="TextBox 27"/>
          <p:cNvSpPr txBox="1"/>
          <p:nvPr/>
        </p:nvSpPr>
        <p:spPr>
          <a:xfrm>
            <a:off x="566928" y="3937762"/>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بيانات المشاركين.</a:t>
            </a:r>
          </a:p>
        </p:txBody>
      </p:sp>
      <p:sp>
        <p:nvSpPr>
          <p:cNvPr id="29" name="TextBox 28"/>
          <p:cNvSpPr txBox="1"/>
          <p:nvPr/>
        </p:nvSpPr>
        <p:spPr>
          <a:xfrm>
            <a:off x="3589019" y="4132453"/>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0" name="TextBox 29"/>
          <p:cNvSpPr txBox="1"/>
          <p:nvPr/>
        </p:nvSpPr>
        <p:spPr>
          <a:xfrm>
            <a:off x="566928" y="4137025"/>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نتائج القياس.</a:t>
            </a:r>
          </a:p>
        </p:txBody>
      </p:sp>
      <p:sp>
        <p:nvSpPr>
          <p:cNvPr id="31" name="TextBox 30"/>
          <p:cNvSpPr txBox="1"/>
          <p:nvPr/>
        </p:nvSpPr>
        <p:spPr>
          <a:xfrm>
            <a:off x="3589019" y="4331716"/>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2" name="TextBox 31"/>
          <p:cNvSpPr txBox="1"/>
          <p:nvPr/>
        </p:nvSpPr>
        <p:spPr>
          <a:xfrm>
            <a:off x="566928" y="4336288"/>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نموذج التشغيل والمواد المحلية.</a:t>
            </a:r>
          </a:p>
        </p:txBody>
      </p:sp>
      <p:sp>
        <p:nvSpPr>
          <p:cNvPr id="33" name="TextBox 32"/>
          <p:cNvSpPr txBox="1"/>
          <p:nvPr/>
        </p:nvSpPr>
        <p:spPr>
          <a:xfrm>
            <a:off x="3589019" y="4530979"/>
            <a:ext cx="91440" cy="176530"/>
          </a:xfrm>
          <a:prstGeom prst="rect">
            <a:avLst/>
          </a:prstGeom>
          <a:noFill/>
        </p:spPr>
        <p:txBody>
          <a:bodyPr wrap="square" lIns="0" rIns="0" tIns="0" bIns="0">
            <a:spAutoFit/>
          </a:bodyPr>
          <a:lstStyle/>
          <a:p>
            <a:pPr algn="ctr">
              <a:lnSpc>
                <a:spcPts val="1102"/>
              </a:lnSpc>
            </a:pPr>
            <a:r>
              <a:rPr sz="950" b="0">
                <a:solidFill>
                  <a:srgbClr val="7C32C9"/>
                </a:solidFill>
                <a:latin typeface="Diodrum Arabic SemiBold"/>
                <a:ea typeface="Diodrum Arabic SemiBold"/>
                <a:cs typeface="Diodrum Arabic SemiBold"/>
              </a:rPr>
              <a:t>•</a:t>
            </a:r>
          </a:p>
        </p:txBody>
      </p:sp>
      <p:sp>
        <p:nvSpPr>
          <p:cNvPr id="34" name="TextBox 33"/>
          <p:cNvSpPr txBox="1"/>
          <p:nvPr/>
        </p:nvSpPr>
        <p:spPr>
          <a:xfrm>
            <a:off x="566928" y="4535551"/>
            <a:ext cx="2939796" cy="18554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العلاقة مع الجهات الحكومية.</a:t>
            </a:r>
          </a:p>
        </p:txBody>
      </p:sp>
      <p:sp>
        <p:nvSpPr>
          <p:cNvPr id="35" name="TextBox 34"/>
          <p:cNvSpPr txBox="1"/>
          <p:nvPr/>
        </p:nvSpPr>
        <p:spPr>
          <a:xfrm>
            <a:off x="566928" y="4853685"/>
            <a:ext cx="6428231" cy="321056"/>
          </a:xfrm>
          <a:prstGeom prst="rect">
            <a:avLst/>
          </a:prstGeom>
          <a:noFill/>
        </p:spPr>
        <p:txBody>
          <a:bodyPr wrap="square" lIns="0" rIns="0" tIns="0" bIns="0">
            <a:spAutoFit/>
          </a:bodyPr>
          <a:lstStyle/>
          <a:p>
            <a:pPr algn="r" rtl="1">
              <a:lnSpc>
                <a:spcPts val="1120"/>
              </a:lnSpc>
            </a:pPr>
            <a:r>
              <a:rPr sz="800" b="0">
                <a:solidFill>
                  <a:srgbClr val="6E7077"/>
                </a:solidFill>
                <a:latin typeface="Diodrum Arabic"/>
                <a:ea typeface="Diodrum Arabic"/>
                <a:cs typeface="Diodrum Arabic"/>
              </a:rPr>
              <a:t>ما في القائمة الأولى يسرّع الإطلاق ولا يتراكم عند المالك؛ وما في الثانية يتراكم مع كل فوج ولا يمكن شراؤه جاهزاً [70]. وتذكير كازاخستان: تولى أساتذة من ستانفورد وأكاديمية OpenAI تدريب كبار تنفيذييها — سرعة إطلاق تحدّ من تراكم القدرة المحلية ما لم تقترن بنقل منهجي للمعرفة والملكية [71].</a:t>
            </a:r>
          </a:p>
        </p:txBody>
      </p:sp>
      <p:sp>
        <p:nvSpPr>
          <p:cNvPr id="36" name="Rectangle 35"/>
          <p:cNvSpPr/>
          <p:nvPr/>
        </p:nvSpPr>
        <p:spPr>
          <a:xfrm>
            <a:off x="6949440" y="5266181"/>
            <a:ext cx="45720" cy="230123"/>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5275325"/>
            <a:ext cx="6199631" cy="211836"/>
          </a:xfrm>
          <a:prstGeom prst="rect">
            <a:avLst/>
          </a:prstGeom>
          <a:noFill/>
        </p:spPr>
        <p:txBody>
          <a:bodyPr wrap="square" lIns="0" rIns="0" tIns="0" bIns="0">
            <a:spAutoFit/>
          </a:bodyPr>
          <a:lstStyle/>
          <a:p>
            <a:pPr algn="r" rtl="1">
              <a:lnSpc>
                <a:spcPts val="1380"/>
              </a:lnSpc>
            </a:pPr>
            <a:r>
              <a:rPr sz="1000" b="0">
                <a:solidFill>
                  <a:srgbClr val="232046"/>
                </a:solidFill>
                <a:latin typeface="Diodrum Arabic SemiBold"/>
                <a:ea typeface="Diodrum Arabic SemiBold"/>
                <a:cs typeface="Diodrum Arabic SemiBold"/>
              </a:rPr>
              <a:t>اكتمل النموذج — مسارات ومحتوى وشركاء وقياساً وكلفة وملكية. وتبقى ترجمته إلى توصيات لبرنامج «قدراتك».</a:t>
            </a:r>
          </a:p>
        </p:txBody>
      </p:sp>
      <p:sp>
        <p:nvSpPr>
          <p:cNvPr id="38" name="Rectangle 37"/>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0" name="TextBox 39"/>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671446"/>
          </a:xfrm>
          <a:prstGeom prst="rect">
            <a:avLst/>
          </a:prstGeom>
          <a:gradFill rotWithShape="1">
            <a:gsLst>
              <a:gs pos="0">
                <a:srgbClr val="7C32C9"/>
              </a:gs>
              <a:gs pos="100000">
                <a:srgbClr val="2A206A"/>
              </a:gs>
            </a:gsLst>
            <a:lin scaled="0" ang="20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6428231" cy="198628"/>
          </a:xfrm>
          <a:prstGeom prst="rect">
            <a:avLst/>
          </a:prstGeom>
          <a:noFill/>
        </p:spPr>
        <p:txBody>
          <a:bodyPr wrap="square" lIns="0" rIns="0" tIns="0" bIns="0">
            <a:spAutoFit/>
          </a:bodyPr>
          <a:lstStyle/>
          <a:p>
            <a:pPr algn="r" rtl="1">
              <a:lnSpc>
                <a:spcPts val="1276"/>
              </a:lnSpc>
            </a:pPr>
            <a:r>
              <a:rPr sz="1100" b="0">
                <a:solidFill>
                  <a:srgbClr val="CEC6EC"/>
                </a:solidFill>
                <a:latin typeface="Diodrum Arabic SemiBold"/>
                <a:ea typeface="Diodrum Arabic SemiBold"/>
                <a:cs typeface="Diodrum Arabic SemiBold"/>
              </a:rPr>
              <a:t>القسم 06</a:t>
            </a:r>
          </a:p>
        </p:txBody>
      </p:sp>
      <p:sp>
        <p:nvSpPr>
          <p:cNvPr id="4" name="TextBox 3"/>
          <p:cNvSpPr txBox="1"/>
          <p:nvPr/>
        </p:nvSpPr>
        <p:spPr>
          <a:xfrm>
            <a:off x="566928" y="694943"/>
            <a:ext cx="6428231" cy="366267"/>
          </a:xfrm>
          <a:prstGeom prst="rect">
            <a:avLst/>
          </a:prstGeom>
          <a:noFill/>
        </p:spPr>
        <p:txBody>
          <a:bodyPr wrap="square" lIns="0" rIns="0" tIns="0" bIns="0">
            <a:spAutoFit/>
          </a:bodyPr>
          <a:lstStyle/>
          <a:p>
            <a:pPr algn="r" rtl="1">
              <a:lnSpc>
                <a:spcPts val="2595"/>
              </a:lnSpc>
            </a:pPr>
            <a:r>
              <a:rPr sz="2200" b="1">
                <a:solidFill>
                  <a:srgbClr val="FFFFFF"/>
                </a:solidFill>
                <a:latin typeface="Diodrum Arabic"/>
                <a:ea typeface="Diodrum Arabic"/>
                <a:cs typeface="Diodrum Arabic"/>
              </a:rPr>
              <a:t>توصيات برنامج قدراتك</a:t>
            </a:r>
          </a:p>
        </p:txBody>
      </p:sp>
      <p:sp>
        <p:nvSpPr>
          <p:cNvPr id="5" name="TextBox 4"/>
          <p:cNvSpPr txBox="1"/>
          <p:nvPr/>
        </p:nvSpPr>
        <p:spPr>
          <a:xfrm>
            <a:off x="566928" y="1116075"/>
            <a:ext cx="5513831" cy="207899"/>
          </a:xfrm>
          <a:prstGeom prst="rect">
            <a:avLst/>
          </a:prstGeom>
          <a:noFill/>
        </p:spPr>
        <p:txBody>
          <a:bodyPr wrap="square" lIns="0" rIns="0" tIns="0" bIns="0">
            <a:spAutoFit/>
          </a:bodyPr>
          <a:lstStyle/>
          <a:p>
            <a:pPr algn="r" rtl="1">
              <a:lnSpc>
                <a:spcPts val="1348"/>
              </a:lnSpc>
            </a:pPr>
            <a:r>
              <a:rPr sz="950" b="0">
                <a:solidFill>
                  <a:srgbClr val="DDDAF0"/>
                </a:solidFill>
                <a:latin typeface="Diodrum Arabic"/>
                <a:ea typeface="Diodrum Arabic"/>
                <a:cs typeface="Diodrum Arabic"/>
              </a:rPr>
              <a:t>خمس نتائج مسندة بالأدلة، وثماني توصيات مترابطة، وما يليها من خطوات.</a:t>
            </a:r>
          </a:p>
        </p:txBody>
      </p:sp>
      <p:sp>
        <p:nvSpPr>
          <p:cNvPr id="6" name="Rectangle 5"/>
          <p:cNvSpPr/>
          <p:nvPr/>
        </p:nvSpPr>
        <p:spPr>
          <a:xfrm>
            <a:off x="4892040"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57800"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23559"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89320"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79" y="1451990"/>
            <a:ext cx="274320" cy="45720"/>
          </a:xfrm>
          <a:prstGeom prst="rect">
            <a:avLst/>
          </a:prstGeom>
          <a:solidFill>
            <a:srgbClr val="BFB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20840" y="1451990"/>
            <a:ext cx="274320"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945766"/>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6.1  النتائج الرئيسية</a:t>
            </a:r>
          </a:p>
        </p:txBody>
      </p:sp>
      <p:sp>
        <p:nvSpPr>
          <p:cNvPr id="13" name="TextBox 12"/>
          <p:cNvSpPr txBox="1"/>
          <p:nvPr/>
        </p:nvSpPr>
        <p:spPr>
          <a:xfrm>
            <a:off x="6537959" y="2155316"/>
            <a:ext cx="457200" cy="287019"/>
          </a:xfrm>
          <a:prstGeom prst="rect">
            <a:avLst/>
          </a:prstGeom>
          <a:noFill/>
        </p:spPr>
        <p:txBody>
          <a:bodyPr wrap="square" lIns="0" rIns="0" tIns="0" bIns="0">
            <a:spAutoFit/>
          </a:bodyPr>
          <a:lstStyle/>
          <a:p>
            <a:pPr algn="r" rtl="1">
              <a:lnSpc>
                <a:spcPts val="1972"/>
              </a:lnSpc>
            </a:pPr>
            <a:r>
              <a:rPr sz="1700" b="1">
                <a:solidFill>
                  <a:srgbClr val="7C32C9"/>
                </a:solidFill>
                <a:latin typeface="Diodrum Arabic"/>
                <a:ea typeface="Diodrum Arabic"/>
                <a:cs typeface="Diodrum Arabic"/>
              </a:rPr>
              <a:t>1</a:t>
            </a:r>
          </a:p>
        </p:txBody>
      </p:sp>
      <p:sp>
        <p:nvSpPr>
          <p:cNvPr id="14" name="TextBox 13"/>
          <p:cNvSpPr txBox="1"/>
          <p:nvPr/>
        </p:nvSpPr>
        <p:spPr>
          <a:xfrm>
            <a:off x="566928" y="2173604"/>
            <a:ext cx="5879592" cy="201930"/>
          </a:xfrm>
          <a:prstGeom prst="rect">
            <a:avLst/>
          </a:prstGeom>
          <a:noFill/>
        </p:spPr>
        <p:txBody>
          <a:bodyPr wrap="square" lIns="0" rIns="0" tIns="0" bIns="0">
            <a:spAutoFit/>
          </a:bodyPr>
          <a:lstStyle/>
          <a:p>
            <a:pPr algn="r" rtl="1">
              <a:lnSpc>
                <a:spcPts val="1302"/>
              </a:lnSpc>
            </a:pPr>
            <a:r>
              <a:rPr sz="1050" b="0">
                <a:solidFill>
                  <a:srgbClr val="7C32C9"/>
                </a:solidFill>
                <a:latin typeface="Diodrum Arabic SemiBold"/>
                <a:ea typeface="Diodrum Arabic SemiBold"/>
                <a:cs typeface="Diodrum Arabic SemiBold"/>
              </a:rPr>
              <a:t>التوافر يتدرج عكسياً مع المستوى القيادي</a:t>
            </a:r>
          </a:p>
        </p:txBody>
      </p:sp>
      <p:sp>
        <p:nvSpPr>
          <p:cNvPr id="15" name="TextBox 14"/>
          <p:cNvSpPr txBox="1"/>
          <p:nvPr/>
        </p:nvSpPr>
        <p:spPr>
          <a:xfrm>
            <a:off x="566928" y="2384678"/>
            <a:ext cx="5879592" cy="489965"/>
          </a:xfrm>
          <a:prstGeom prst="rect">
            <a:avLst/>
          </a:prstGeom>
          <a:noFill/>
        </p:spPr>
        <p:txBody>
          <a:bodyPr wrap="square" lIns="0" rIns="0" tIns="0" bIns="0">
            <a:spAutoFit/>
          </a:bodyPr>
          <a:lstStyle/>
          <a:p>
            <a:pPr algn="just" rtl="1">
              <a:lnSpc>
                <a:spcPts val="1189"/>
              </a:lnSpc>
            </a:pPr>
            <a:r>
              <a:rPr sz="850" b="0">
                <a:solidFill>
                  <a:srgbClr val="474956"/>
                </a:solidFill>
                <a:latin typeface="Diodrum Arabic"/>
                <a:ea typeface="Diodrum Arabic"/>
                <a:cs typeface="Diodrum Arabic"/>
              </a:rPr>
              <a:t>كلما ارتفع المستوى قلّت البرامج القابلة للالتحاق المفتوح — حتى يغيب العرض المخصص تماماً عند المستوى الوزاري في السوق التي روعيت (القسم الرابع). فيتركز جهد البناء والتخصيص في المستويين الأول والثاني، ويُدار الثالث والرابع بقرارات شراء وتكييف وترخيص.</a:t>
            </a:r>
          </a:p>
        </p:txBody>
      </p:sp>
      <p:sp>
        <p:nvSpPr>
          <p:cNvPr id="16" name="Rectangle 15"/>
          <p:cNvSpPr/>
          <p:nvPr/>
        </p:nvSpPr>
        <p:spPr>
          <a:xfrm>
            <a:off x="566928" y="2902076"/>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59" y="3011804"/>
            <a:ext cx="457200" cy="287019"/>
          </a:xfrm>
          <a:prstGeom prst="rect">
            <a:avLst/>
          </a:prstGeom>
          <a:noFill/>
        </p:spPr>
        <p:txBody>
          <a:bodyPr wrap="square" lIns="0" rIns="0" tIns="0" bIns="0">
            <a:spAutoFit/>
          </a:bodyPr>
          <a:lstStyle/>
          <a:p>
            <a:pPr algn="r" rtl="1">
              <a:lnSpc>
                <a:spcPts val="1972"/>
              </a:lnSpc>
            </a:pPr>
            <a:r>
              <a:rPr sz="1700" b="1">
                <a:solidFill>
                  <a:srgbClr val="00ABAF"/>
                </a:solidFill>
                <a:latin typeface="Diodrum Arabic"/>
                <a:ea typeface="Diodrum Arabic"/>
                <a:cs typeface="Diodrum Arabic"/>
              </a:rPr>
              <a:t>2</a:t>
            </a:r>
          </a:p>
        </p:txBody>
      </p:sp>
      <p:sp>
        <p:nvSpPr>
          <p:cNvPr id="18" name="TextBox 17"/>
          <p:cNvSpPr txBox="1"/>
          <p:nvPr/>
        </p:nvSpPr>
        <p:spPr>
          <a:xfrm>
            <a:off x="566928" y="3030092"/>
            <a:ext cx="5879592" cy="201930"/>
          </a:xfrm>
          <a:prstGeom prst="rect">
            <a:avLst/>
          </a:prstGeom>
          <a:noFill/>
        </p:spPr>
        <p:txBody>
          <a:bodyPr wrap="square" lIns="0" rIns="0" tIns="0" bIns="0">
            <a:spAutoFit/>
          </a:bodyPr>
          <a:lstStyle/>
          <a:p>
            <a:pPr algn="r" rtl="1">
              <a:lnSpc>
                <a:spcPts val="1302"/>
              </a:lnSpc>
            </a:pPr>
            <a:r>
              <a:rPr sz="1050" b="0">
                <a:solidFill>
                  <a:srgbClr val="00ABAF"/>
                </a:solidFill>
                <a:latin typeface="Diodrum Arabic SemiBold"/>
                <a:ea typeface="Diodrum Arabic SemiBold"/>
                <a:cs typeface="Diodrum Arabic SemiBold"/>
              </a:rPr>
              <a:t>التقييمات المنشورة لهذا النوع من البرامج محدودة عالمياً</a:t>
            </a:r>
          </a:p>
        </p:txBody>
      </p:sp>
      <p:sp>
        <p:nvSpPr>
          <p:cNvPr id="19" name="TextBox 18"/>
          <p:cNvSpPr txBox="1"/>
          <p:nvPr/>
        </p:nvSpPr>
        <p:spPr>
          <a:xfrm>
            <a:off x="566928" y="3241166"/>
            <a:ext cx="5879592" cy="338835"/>
          </a:xfrm>
          <a:prstGeom prst="rect">
            <a:avLst/>
          </a:prstGeom>
          <a:noFill/>
        </p:spPr>
        <p:txBody>
          <a:bodyPr wrap="square" lIns="0" rIns="0" tIns="0" bIns="0">
            <a:spAutoFit/>
          </a:bodyPr>
          <a:lstStyle/>
          <a:p>
            <a:pPr algn="just" rtl="1">
              <a:lnSpc>
                <a:spcPts val="1189"/>
              </a:lnSpc>
            </a:pPr>
            <a:r>
              <a:rPr sz="850" b="0">
                <a:solidFill>
                  <a:srgbClr val="474956"/>
                </a:solidFill>
                <a:latin typeface="Diodrum Arabic"/>
                <a:ea typeface="Diodrum Arabic"/>
                <a:cs typeface="Diodrum Arabic"/>
              </a:rPr>
              <a:t>أبرز ما حددته المراجعة: تقييم مستقل واحد بمجموعة ضابطة للبرنامج البريطاني، وصفه مقيّموه بغير الحاسم [40]. فبناء قياس صارم منذ الفوج الأول يمنح البرنامج السعودي إسهاماً معرفياً يتجاوز حدوده المحلية.</a:t>
            </a:r>
          </a:p>
        </p:txBody>
      </p:sp>
      <p:sp>
        <p:nvSpPr>
          <p:cNvPr id="20" name="Rectangle 19"/>
          <p:cNvSpPr/>
          <p:nvPr/>
        </p:nvSpPr>
        <p:spPr>
          <a:xfrm>
            <a:off x="566928" y="3607434"/>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59" y="3717162"/>
            <a:ext cx="457200" cy="287019"/>
          </a:xfrm>
          <a:prstGeom prst="rect">
            <a:avLst/>
          </a:prstGeom>
          <a:noFill/>
        </p:spPr>
        <p:txBody>
          <a:bodyPr wrap="square" lIns="0" rIns="0" tIns="0" bIns="0">
            <a:spAutoFit/>
          </a:bodyPr>
          <a:lstStyle/>
          <a:p>
            <a:pPr algn="r" rtl="1">
              <a:lnSpc>
                <a:spcPts val="1972"/>
              </a:lnSpc>
            </a:pPr>
            <a:r>
              <a:rPr sz="1700" b="1">
                <a:solidFill>
                  <a:srgbClr val="1CC182"/>
                </a:solidFill>
                <a:latin typeface="Diodrum Arabic"/>
                <a:ea typeface="Diodrum Arabic"/>
                <a:cs typeface="Diodrum Arabic"/>
              </a:rPr>
              <a:t>3</a:t>
            </a:r>
          </a:p>
        </p:txBody>
      </p:sp>
      <p:sp>
        <p:nvSpPr>
          <p:cNvPr id="22" name="TextBox 21"/>
          <p:cNvSpPr txBox="1"/>
          <p:nvPr/>
        </p:nvSpPr>
        <p:spPr>
          <a:xfrm>
            <a:off x="566928" y="3735450"/>
            <a:ext cx="5879592" cy="201930"/>
          </a:xfrm>
          <a:prstGeom prst="rect">
            <a:avLst/>
          </a:prstGeom>
          <a:noFill/>
        </p:spPr>
        <p:txBody>
          <a:bodyPr wrap="square" lIns="0" rIns="0" tIns="0" bIns="0">
            <a:spAutoFit/>
          </a:bodyPr>
          <a:lstStyle/>
          <a:p>
            <a:pPr algn="r" rtl="1">
              <a:lnSpc>
                <a:spcPts val="1302"/>
              </a:lnSpc>
            </a:pPr>
            <a:r>
              <a:rPr sz="1050" b="0">
                <a:solidFill>
                  <a:srgbClr val="1CC182"/>
                </a:solidFill>
                <a:latin typeface="Diodrum Arabic SemiBold"/>
                <a:ea typeface="Diodrum Arabic SemiBold"/>
                <a:cs typeface="Diodrum Arabic SemiBold"/>
              </a:rPr>
              <a:t>الطلب لدى القيادات العليا قائم داخل المملكة وموثق</a:t>
            </a:r>
          </a:p>
        </p:txBody>
      </p:sp>
      <p:sp>
        <p:nvSpPr>
          <p:cNvPr id="23" name="TextBox 22"/>
          <p:cNvSpPr txBox="1"/>
          <p:nvPr/>
        </p:nvSpPr>
        <p:spPr>
          <a:xfrm>
            <a:off x="566928" y="3946524"/>
            <a:ext cx="5879592" cy="338835"/>
          </a:xfrm>
          <a:prstGeom prst="rect">
            <a:avLst/>
          </a:prstGeom>
          <a:noFill/>
        </p:spPr>
        <p:txBody>
          <a:bodyPr wrap="square" lIns="0" rIns="0" tIns="0" bIns="0">
            <a:spAutoFit/>
          </a:bodyPr>
          <a:lstStyle/>
          <a:p>
            <a:pPr algn="just" rtl="1">
              <a:lnSpc>
                <a:spcPts val="1189"/>
              </a:lnSpc>
            </a:pPr>
            <a:r>
              <a:rPr sz="850" b="0">
                <a:solidFill>
                  <a:srgbClr val="474956"/>
                </a:solidFill>
                <a:latin typeface="Diodrum Arabic"/>
                <a:ea typeface="Diodrum Arabic"/>
                <a:cs typeface="Diodrum Arabic"/>
              </a:rPr>
              <a:t>شاركت المملكة بوفد ضم وزراء وكبار مسؤولين في برنامج ستانفورد في نوفمبر 2025 — دليل طلب فعلي مدفوع [55]؛ ومن هنا أهمية خيار محلي يراعي السياق السعودي واللغة والسرية والقياس.</a:t>
            </a:r>
          </a:p>
        </p:txBody>
      </p:sp>
      <p:sp>
        <p:nvSpPr>
          <p:cNvPr id="24" name="Rectangle 23"/>
          <p:cNvSpPr/>
          <p:nvPr/>
        </p:nvSpPr>
        <p:spPr>
          <a:xfrm>
            <a:off x="566928" y="4312792"/>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59" y="4422520"/>
            <a:ext cx="457200" cy="287019"/>
          </a:xfrm>
          <a:prstGeom prst="rect">
            <a:avLst/>
          </a:prstGeom>
          <a:noFill/>
        </p:spPr>
        <p:txBody>
          <a:bodyPr wrap="square" lIns="0" rIns="0" tIns="0" bIns="0">
            <a:spAutoFit/>
          </a:bodyPr>
          <a:lstStyle/>
          <a:p>
            <a:pPr algn="r" rtl="1">
              <a:lnSpc>
                <a:spcPts val="1972"/>
              </a:lnSpc>
            </a:pPr>
            <a:r>
              <a:rPr sz="1700" b="1">
                <a:solidFill>
                  <a:srgbClr val="2D9CDB"/>
                </a:solidFill>
                <a:latin typeface="Diodrum Arabic"/>
                <a:ea typeface="Diodrum Arabic"/>
                <a:cs typeface="Diodrum Arabic"/>
              </a:rPr>
              <a:t>4</a:t>
            </a:r>
          </a:p>
        </p:txBody>
      </p:sp>
      <p:sp>
        <p:nvSpPr>
          <p:cNvPr id="26" name="TextBox 25"/>
          <p:cNvSpPr txBox="1"/>
          <p:nvPr/>
        </p:nvSpPr>
        <p:spPr>
          <a:xfrm>
            <a:off x="566928" y="4440808"/>
            <a:ext cx="5879592" cy="201930"/>
          </a:xfrm>
          <a:prstGeom prst="rect">
            <a:avLst/>
          </a:prstGeom>
          <a:noFill/>
        </p:spPr>
        <p:txBody>
          <a:bodyPr wrap="square" lIns="0" rIns="0" tIns="0" bIns="0">
            <a:spAutoFit/>
          </a:bodyPr>
          <a:lstStyle/>
          <a:p>
            <a:pPr algn="r" rtl="1">
              <a:lnSpc>
                <a:spcPts val="1302"/>
              </a:lnSpc>
            </a:pPr>
            <a:r>
              <a:rPr sz="1050" b="0">
                <a:solidFill>
                  <a:srgbClr val="2D9CDB"/>
                </a:solidFill>
                <a:latin typeface="Diodrum Arabic SemiBold"/>
                <a:ea typeface="Diodrum Arabic SemiBold"/>
                <a:cs typeface="Diodrum Arabic SemiBold"/>
              </a:rPr>
              <a:t>القدرات الوطنية القائمة أوسع من نقطة الصفر</a:t>
            </a:r>
          </a:p>
        </p:txBody>
      </p:sp>
      <p:sp>
        <p:nvSpPr>
          <p:cNvPr id="27" name="TextBox 26"/>
          <p:cNvSpPr txBox="1"/>
          <p:nvPr/>
        </p:nvSpPr>
        <p:spPr>
          <a:xfrm>
            <a:off x="566928" y="4651882"/>
            <a:ext cx="5879592" cy="338835"/>
          </a:xfrm>
          <a:prstGeom prst="rect">
            <a:avLst/>
          </a:prstGeom>
          <a:noFill/>
        </p:spPr>
        <p:txBody>
          <a:bodyPr wrap="square" lIns="0" rIns="0" tIns="0" bIns="0">
            <a:spAutoFit/>
          </a:bodyPr>
          <a:lstStyle/>
          <a:p>
            <a:pPr algn="just" rtl="1">
              <a:lnSpc>
                <a:spcPts val="1189"/>
              </a:lnSpc>
            </a:pPr>
            <a:r>
              <a:rPr sz="850" b="0">
                <a:solidFill>
                  <a:srgbClr val="474956"/>
                </a:solidFill>
                <a:latin typeface="Diodrum Arabic"/>
                <a:ea typeface="Diodrum Arabic"/>
                <a:cs typeface="Diodrum Arabic"/>
              </a:rPr>
              <a:t>«سدايا»: أكثر من 278 قائداً حكومياً مدرَّباً حتى يونيو 2026 [52]؛ و«قدراتك»: منصة وطنية وشراكات أكاديمية موثقة منذ أكتوبر 2021 [54]. فالمطلوب طبقة تنظيم وملكية وقياس فوق الموجود — لا تأسيس منفصل.</a:t>
            </a:r>
          </a:p>
        </p:txBody>
      </p:sp>
      <p:sp>
        <p:nvSpPr>
          <p:cNvPr id="28" name="Rectangle 27"/>
          <p:cNvSpPr/>
          <p:nvPr/>
        </p:nvSpPr>
        <p:spPr>
          <a:xfrm>
            <a:off x="566928" y="501815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59" y="5127878"/>
            <a:ext cx="457200" cy="287019"/>
          </a:xfrm>
          <a:prstGeom prst="rect">
            <a:avLst/>
          </a:prstGeom>
          <a:noFill/>
        </p:spPr>
        <p:txBody>
          <a:bodyPr wrap="square" lIns="0" rIns="0" tIns="0" bIns="0">
            <a:spAutoFit/>
          </a:bodyPr>
          <a:lstStyle/>
          <a:p>
            <a:pPr algn="r" rtl="1">
              <a:lnSpc>
                <a:spcPts val="1972"/>
              </a:lnSpc>
            </a:pPr>
            <a:r>
              <a:rPr sz="1700" b="1">
                <a:solidFill>
                  <a:srgbClr val="2A206A"/>
                </a:solidFill>
                <a:latin typeface="Diodrum Arabic"/>
                <a:ea typeface="Diodrum Arabic"/>
                <a:cs typeface="Diodrum Arabic"/>
              </a:rPr>
              <a:t>5</a:t>
            </a:r>
          </a:p>
        </p:txBody>
      </p:sp>
      <p:sp>
        <p:nvSpPr>
          <p:cNvPr id="30" name="TextBox 29"/>
          <p:cNvSpPr txBox="1"/>
          <p:nvPr/>
        </p:nvSpPr>
        <p:spPr>
          <a:xfrm>
            <a:off x="566928" y="5146166"/>
            <a:ext cx="5879592" cy="201930"/>
          </a:xfrm>
          <a:prstGeom prst="rect">
            <a:avLst/>
          </a:prstGeom>
          <a:noFill/>
        </p:spPr>
        <p:txBody>
          <a:bodyPr wrap="square" lIns="0" rIns="0" tIns="0" bIns="0">
            <a:spAutoFit/>
          </a:bodyPr>
          <a:lstStyle/>
          <a:p>
            <a:pPr algn="r" rtl="1">
              <a:lnSpc>
                <a:spcPts val="1302"/>
              </a:lnSpc>
            </a:pPr>
            <a:r>
              <a:rPr sz="1050" b="0">
                <a:solidFill>
                  <a:srgbClr val="2A206A"/>
                </a:solidFill>
                <a:latin typeface="Diodrum Arabic SemiBold"/>
                <a:ea typeface="Diodrum Arabic SemiBold"/>
                <a:cs typeface="Diodrum Arabic SemiBold"/>
              </a:rPr>
              <a:t>ربط التدريب بالتكليف أو التقييم يوسّع التغطية</a:t>
            </a:r>
          </a:p>
        </p:txBody>
      </p:sp>
      <p:sp>
        <p:nvSpPr>
          <p:cNvPr id="31" name="TextBox 30"/>
          <p:cNvSpPr txBox="1"/>
          <p:nvPr/>
        </p:nvSpPr>
        <p:spPr>
          <a:xfrm>
            <a:off x="566928" y="5357240"/>
            <a:ext cx="5879592" cy="489965"/>
          </a:xfrm>
          <a:prstGeom prst="rect">
            <a:avLst/>
          </a:prstGeom>
          <a:noFill/>
        </p:spPr>
        <p:txBody>
          <a:bodyPr wrap="square" lIns="0" rIns="0" tIns="0" bIns="0">
            <a:spAutoFit/>
          </a:bodyPr>
          <a:lstStyle/>
          <a:p>
            <a:pPr algn="just" rtl="1">
              <a:lnSpc>
                <a:spcPts val="1189"/>
              </a:lnSpc>
            </a:pPr>
            <a:r>
              <a:rPr sz="850" b="0">
                <a:solidFill>
                  <a:srgbClr val="474956"/>
                </a:solidFill>
                <a:latin typeface="Diodrum Arabic"/>
                <a:ea typeface="Diodrum Arabic"/>
                <a:cs typeface="Diodrum Arabic"/>
              </a:rPr>
              <a:t>بلغ البرنامج البريطاني التطوعي نحو 2,500 من نحو 7,000 مستهدف حتى سبتمبر 2024 [30]؛ وحققت الهند تغطية واسعة بربط التدريب بالتقييم السنوي [41]. وتُقرأ المقارنة مع مراعاة اختلاف السياق، ومغزاها أن الربط المؤسسي قرار تصميمي مبكر لا إضافة لاحقة.</a:t>
            </a:r>
          </a:p>
        </p:txBody>
      </p:sp>
      <p:sp>
        <p:nvSpPr>
          <p:cNvPr id="32" name="Rectangle 31"/>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34" name="TextBox 33"/>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06 · 6.2  التوصية النهائية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ثماني توصيات مترابطة لبرنامج «قدراتك»</a:t>
            </a:r>
          </a:p>
        </p:txBody>
      </p:sp>
      <p:sp>
        <p:nvSpPr>
          <p:cNvPr id="4" name="Rounded Rectangle 3"/>
          <p:cNvSpPr/>
          <p:nvPr/>
        </p:nvSpPr>
        <p:spPr>
          <a:xfrm>
            <a:off x="3854196" y="1111758"/>
            <a:ext cx="3140963" cy="1058799"/>
          </a:xfrm>
          <a:prstGeom prst="roundRect">
            <a:avLst>
              <a:gd name="adj" fmla="val 777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01383" y="125806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00500" y="1376934"/>
            <a:ext cx="2848356"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1 · اعتماد التصنيف الرباعي</a:t>
            </a:r>
          </a:p>
        </p:txBody>
      </p:sp>
      <p:sp>
        <p:nvSpPr>
          <p:cNvPr id="7" name="TextBox 6"/>
          <p:cNvSpPr txBox="1"/>
          <p:nvPr/>
        </p:nvSpPr>
        <p:spPr>
          <a:xfrm>
            <a:off x="4000500" y="1603629"/>
            <a:ext cx="2848356" cy="457199"/>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أربعة مستويات وفق نطاق القرار والبروتوكول القيادي، مع السماح بإدراج المسميات المكافئة لاختلاف هياكل الجهات؛ فيُحدَّد التصنيف بنطاق الصلاحية ونوع القرار لا بالمسمى الوظيفي وحده.</a:t>
            </a:r>
          </a:p>
        </p:txBody>
      </p:sp>
      <p:sp>
        <p:nvSpPr>
          <p:cNvPr id="8" name="Rounded Rectangle 7"/>
          <p:cNvSpPr/>
          <p:nvPr/>
        </p:nvSpPr>
        <p:spPr>
          <a:xfrm>
            <a:off x="566928" y="1111758"/>
            <a:ext cx="3140963" cy="1058799"/>
          </a:xfrm>
          <a:prstGeom prst="roundRect">
            <a:avLst>
              <a:gd name="adj" fmla="val 777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14115" y="125806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376934"/>
            <a:ext cx="2848356"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2 · بناء مسار خاص للوزراء</a:t>
            </a:r>
          </a:p>
        </p:txBody>
      </p:sp>
      <p:sp>
        <p:nvSpPr>
          <p:cNvPr id="11" name="TextBox 10"/>
          <p:cNvSpPr txBox="1"/>
          <p:nvPr/>
        </p:nvSpPr>
        <p:spPr>
          <a:xfrm>
            <a:off x="713232" y="1603629"/>
            <a:ext cx="2848356" cy="457199"/>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لا تناسبه البرامج المفتوحة ولا الدورات التقليدية: جلسات قصيرة ومغلقة مبنية على قرارات فعلية، بفوج لا يتجاوز 12 مشاركاً ومخرج موقع لكل جلسة [63].</a:t>
            </a:r>
          </a:p>
        </p:txBody>
      </p:sp>
      <p:sp>
        <p:nvSpPr>
          <p:cNvPr id="12" name="Rounded Rectangle 11"/>
          <p:cNvSpPr/>
          <p:nvPr/>
        </p:nvSpPr>
        <p:spPr>
          <a:xfrm>
            <a:off x="3854196" y="2316861"/>
            <a:ext cx="3140963" cy="1221486"/>
          </a:xfrm>
          <a:prstGeom prst="roundRect">
            <a:avLst>
              <a:gd name="adj" fmla="val 67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01383" y="2463165"/>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00500" y="2582037"/>
            <a:ext cx="2848356" cy="361950"/>
          </a:xfrm>
          <a:prstGeom prst="rect">
            <a:avLst/>
          </a:prstGeom>
          <a:noFill/>
        </p:spPr>
        <p:txBody>
          <a:bodyPr wrap="square" lIns="0" rIns="0" tIns="0" bIns="0">
            <a:spAutoFit/>
          </a:bodyPr>
          <a:lstStyle/>
          <a:p>
            <a:pPr algn="r" rtl="1">
              <a:lnSpc>
                <a:spcPts val="1281"/>
              </a:lnSpc>
            </a:pPr>
            <a:r>
              <a:rPr sz="1050" b="0">
                <a:solidFill>
                  <a:srgbClr val="2A206A"/>
                </a:solidFill>
                <a:latin typeface="Diodrum Arabic SemiBold"/>
                <a:ea typeface="Diodrum Arabic SemiBold"/>
                <a:cs typeface="Diodrum Arabic SemiBold"/>
              </a:rPr>
              <a:t>3 · تخصيص بروتوكول لنواب الوزراء وأصحاب المعالي</a:t>
            </a:r>
          </a:p>
        </p:txBody>
      </p:sp>
      <p:sp>
        <p:nvSpPr>
          <p:cNvPr id="15" name="TextBox 14"/>
          <p:cNvSpPr txBox="1"/>
          <p:nvPr/>
        </p:nvSpPr>
        <p:spPr>
          <a:xfrm>
            <a:off x="4000500" y="2971419"/>
            <a:ext cx="2848356" cy="457199"/>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نواب الوزراء والمحافظون ومساعدو الوزراء فئة مستقلة بين الوزير والوكيل: أفواج انتقائية، وخصوصية عالية، ومحتوى يركز على المحافظ والحوكمة والاستثمار.</a:t>
            </a:r>
          </a:p>
        </p:txBody>
      </p:sp>
      <p:sp>
        <p:nvSpPr>
          <p:cNvPr id="16" name="Rounded Rectangle 15"/>
          <p:cNvSpPr/>
          <p:nvPr/>
        </p:nvSpPr>
        <p:spPr>
          <a:xfrm>
            <a:off x="566928" y="2316861"/>
            <a:ext cx="3140963" cy="1221486"/>
          </a:xfrm>
          <a:prstGeom prst="roundRect">
            <a:avLst>
              <a:gd name="adj" fmla="val 6737"/>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14115" y="2463165"/>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582037"/>
            <a:ext cx="2848356" cy="361950"/>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4 · الاستفادة من السوق في المستويين الثالث والرابع</a:t>
            </a:r>
          </a:p>
        </p:txBody>
      </p:sp>
      <p:sp>
        <p:nvSpPr>
          <p:cNvPr id="19" name="TextBox 18"/>
          <p:cNvSpPr txBox="1"/>
          <p:nvPr/>
        </p:nvSpPr>
        <p:spPr>
          <a:xfrm>
            <a:off x="713232" y="2971419"/>
            <a:ext cx="2848356"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تُشترى نماذج أو محتوى قائم ثم يُكيَّف مع السياق الحكومي السعودي — بدل بناء كل المحتوى من البداية.</a:t>
            </a:r>
          </a:p>
        </p:txBody>
      </p:sp>
      <p:sp>
        <p:nvSpPr>
          <p:cNvPr id="20" name="Rounded Rectangle 19"/>
          <p:cNvSpPr/>
          <p:nvPr/>
        </p:nvSpPr>
        <p:spPr>
          <a:xfrm>
            <a:off x="3854196" y="3684650"/>
            <a:ext cx="3140963" cy="918591"/>
          </a:xfrm>
          <a:prstGeom prst="roundRect">
            <a:avLst>
              <a:gd name="adj" fmla="val 895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01383" y="3830955"/>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00500" y="3949827"/>
            <a:ext cx="2848356"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5 · بناء الحالات السعودية مبكراً</a:t>
            </a:r>
          </a:p>
        </p:txBody>
      </p:sp>
      <p:sp>
        <p:nvSpPr>
          <p:cNvPr id="23" name="TextBox 22"/>
          <p:cNvSpPr txBox="1"/>
          <p:nvPr/>
        </p:nvSpPr>
        <p:spPr>
          <a:xfrm>
            <a:off x="4000500" y="4176522"/>
            <a:ext cx="2848356"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الحالات المحلية أهم عناصر ملاءمة البرنامج؛ ويجب ألا تترك لمرحلة لاحقة أو للمزود الدولي وحده.</a:t>
            </a:r>
          </a:p>
        </p:txBody>
      </p:sp>
      <p:sp>
        <p:nvSpPr>
          <p:cNvPr id="24" name="Rounded Rectangle 23"/>
          <p:cNvSpPr/>
          <p:nvPr/>
        </p:nvSpPr>
        <p:spPr>
          <a:xfrm>
            <a:off x="566928" y="3684650"/>
            <a:ext cx="3140963" cy="918591"/>
          </a:xfrm>
          <a:prstGeom prst="roundRect">
            <a:avLst>
              <a:gd name="adj" fmla="val 895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14115" y="3830955"/>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949827"/>
            <a:ext cx="2848356"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6 · بناء القياس منذ الفوج الأول</a:t>
            </a:r>
          </a:p>
        </p:txBody>
      </p:sp>
      <p:sp>
        <p:nvSpPr>
          <p:cNvPr id="27" name="TextBox 26"/>
          <p:cNvSpPr txBox="1"/>
          <p:nvPr/>
        </p:nvSpPr>
        <p:spPr>
          <a:xfrm>
            <a:off x="713232" y="4176522"/>
            <a:ext cx="2848356"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قياس مرتبط بالقرارات والمخرجات التطبيقية — لا يقتصر على رضا المشاركين أو إكمال الساعات.</a:t>
            </a:r>
          </a:p>
        </p:txBody>
      </p:sp>
      <p:sp>
        <p:nvSpPr>
          <p:cNvPr id="28" name="Rounded Rectangle 27"/>
          <p:cNvSpPr/>
          <p:nvPr/>
        </p:nvSpPr>
        <p:spPr>
          <a:xfrm>
            <a:off x="3854196" y="4749545"/>
            <a:ext cx="3140963" cy="1058799"/>
          </a:xfrm>
          <a:prstGeom prst="roundRect">
            <a:avLst>
              <a:gd name="adj" fmla="val 777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01383" y="4895849"/>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00500" y="5014721"/>
            <a:ext cx="2848356" cy="199263"/>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7 · الاستفادة من القدرات الوطنية القائمة</a:t>
            </a:r>
          </a:p>
        </p:txBody>
      </p:sp>
      <p:sp>
        <p:nvSpPr>
          <p:cNvPr id="31" name="TextBox 30"/>
          <p:cNvSpPr txBox="1"/>
          <p:nvPr/>
        </p:nvSpPr>
        <p:spPr>
          <a:xfrm>
            <a:off x="4000500" y="5241416"/>
            <a:ext cx="2848356" cy="457199"/>
          </a:xfrm>
          <a:prstGeom prst="rect">
            <a:avLst/>
          </a:prstGeom>
          <a:noFill/>
        </p:spPr>
        <p:txBody>
          <a:bodyPr wrap="square" lIns="0" rIns="0" tIns="0" bIns="0">
            <a:spAutoFit/>
          </a:bodyPr>
          <a:lstStyle/>
          <a:p>
            <a:pPr algn="just" rtl="1">
              <a:lnSpc>
                <a:spcPts val="1104"/>
              </a:lnSpc>
            </a:pPr>
            <a:r>
              <a:rPr sz="800" b="0">
                <a:solidFill>
                  <a:srgbClr val="474956"/>
                </a:solidFill>
                <a:latin typeface="Diodrum Arabic"/>
                <a:ea typeface="Diodrum Arabic"/>
                <a:cs typeface="Diodrum Arabic"/>
              </a:rPr>
              <a:t>تُبنى المبادرة على برامج «سدايا»، ومنصة «قدراتك»، والشراكات الأكاديمية الحالية، والطلب المثبت — لا على منظومة منفصلة من الصفر [52][54].</a:t>
            </a:r>
          </a:p>
        </p:txBody>
      </p:sp>
      <p:sp>
        <p:nvSpPr>
          <p:cNvPr id="32" name="Rounded Rectangle 31"/>
          <p:cNvSpPr/>
          <p:nvPr/>
        </p:nvSpPr>
        <p:spPr>
          <a:xfrm>
            <a:off x="566928" y="4749545"/>
            <a:ext cx="3140963" cy="1058799"/>
          </a:xfrm>
          <a:prstGeom prst="roundRect">
            <a:avLst>
              <a:gd name="adj" fmla="val 7772"/>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14115" y="4895849"/>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5014721"/>
            <a:ext cx="2848356" cy="199263"/>
          </a:xfrm>
          <a:prstGeom prst="rect">
            <a:avLst/>
          </a:prstGeom>
          <a:noFill/>
        </p:spPr>
        <p:txBody>
          <a:bodyPr wrap="square" lIns="0" rIns="0" tIns="0" bIns="0">
            <a:spAutoFit/>
          </a:bodyPr>
          <a:lstStyle/>
          <a:p>
            <a:pPr algn="r" rtl="1">
              <a:lnSpc>
                <a:spcPts val="1281"/>
              </a:lnSpc>
            </a:pPr>
            <a:r>
              <a:rPr sz="1050" b="0">
                <a:solidFill>
                  <a:srgbClr val="2A206A"/>
                </a:solidFill>
                <a:latin typeface="Diodrum Arabic SemiBold"/>
                <a:ea typeface="Diodrum Arabic SemiBold"/>
                <a:cs typeface="Diodrum Arabic SemiBold"/>
              </a:rPr>
              <a:t>8 · الاحتفاظ بالملكية الوطنية للعناصر المتراكمة</a:t>
            </a:r>
          </a:p>
        </p:txBody>
      </p:sp>
      <p:sp>
        <p:nvSpPr>
          <p:cNvPr id="35" name="TextBox 34"/>
          <p:cNvSpPr txBox="1"/>
          <p:nvPr/>
        </p:nvSpPr>
        <p:spPr>
          <a:xfrm>
            <a:off x="713232" y="5241416"/>
            <a:ext cx="2848356" cy="316991"/>
          </a:xfrm>
          <a:prstGeom prst="rect">
            <a:avLst/>
          </a:prstGeom>
          <a:noFill/>
        </p:spPr>
        <p:txBody>
          <a:bodyPr wrap="square" lIns="0" rIns="0" tIns="0" bIns="0">
            <a:spAutoFit/>
          </a:bodyPr>
          <a:lstStyle/>
          <a:p>
            <a:pPr algn="r" rtl="1">
              <a:lnSpc>
                <a:spcPts val="1104"/>
              </a:lnSpc>
            </a:pPr>
            <a:r>
              <a:rPr sz="800" b="0">
                <a:solidFill>
                  <a:srgbClr val="474956"/>
                </a:solidFill>
                <a:latin typeface="Diodrum Arabic"/>
                <a:ea typeface="Diodrum Arabic"/>
                <a:cs typeface="Diodrum Arabic"/>
              </a:rPr>
              <a:t>يُستفاد من الخبرة الدولية مع بقاء الحالات والبيانات والقياس ونموذج التشغيل ضمن الملكية السعودية وفق العقود [70].</a:t>
            </a:r>
          </a:p>
        </p:txBody>
      </p:sp>
      <p:sp>
        <p:nvSpPr>
          <p:cNvPr id="36" name="Rectangle 35"/>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38" name="TextBox 37"/>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القسم 06 · 6.3  الخطوات التالية</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ماذا يبدأ أولاً — وكيف يصحح النموذج نفسه</a:t>
            </a:r>
          </a:p>
        </p:txBody>
      </p:sp>
      <p:sp>
        <p:nvSpPr>
          <p:cNvPr id="4" name="Rounded Rectangle 3"/>
          <p:cNvSpPr/>
          <p:nvPr/>
        </p:nvSpPr>
        <p:spPr>
          <a:xfrm>
            <a:off x="3854196" y="1111758"/>
            <a:ext cx="3140963" cy="1234058"/>
          </a:xfrm>
          <a:prstGeom prst="roundRect">
            <a:avLst>
              <a:gd name="adj" fmla="val 666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01383" y="1258062"/>
            <a:ext cx="347472" cy="45720"/>
          </a:xfrm>
          <a:prstGeom prst="rect">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00500" y="1376934"/>
            <a:ext cx="2848356" cy="199263"/>
          </a:xfrm>
          <a:prstGeom prst="rect">
            <a:avLst/>
          </a:prstGeom>
          <a:noFill/>
        </p:spPr>
        <p:txBody>
          <a:bodyPr wrap="square" lIns="0" rIns="0" tIns="0" bIns="0">
            <a:spAutoFit/>
          </a:bodyPr>
          <a:lstStyle/>
          <a:p>
            <a:pPr algn="r" rtl="1">
              <a:lnSpc>
                <a:spcPts val="1281"/>
              </a:lnSpc>
            </a:pPr>
            <a:r>
              <a:rPr sz="1050" b="0">
                <a:solidFill>
                  <a:srgbClr val="7C32C9"/>
                </a:solidFill>
                <a:latin typeface="Diodrum Arabic SemiBold"/>
                <a:ea typeface="Diodrum Arabic SemiBold"/>
                <a:cs typeface="Diodrum Arabic SemiBold"/>
              </a:rPr>
              <a:t>بمَ أوصت الدراسة</a:t>
            </a:r>
          </a:p>
        </p:txBody>
      </p:sp>
      <p:sp>
        <p:nvSpPr>
          <p:cNvPr id="7" name="TextBox 6"/>
          <p:cNvSpPr txBox="1"/>
          <p:nvPr/>
        </p:nvSpPr>
        <p:spPr>
          <a:xfrm>
            <a:off x="4000500" y="1603629"/>
            <a:ext cx="2848356" cy="632460"/>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أربعة مسارات مترابطة تحت قيادة برنامج «قدراتك» — تختلف في البروتوكول والمحتوى والمخرج بحسب المستوى؛ وتشترك في نواة معرفية واحدة، وحالات سعودية، وإطار قياس موحد، وملكية وطنية للبيانات ونموذج التشغيل.</a:t>
            </a:r>
          </a:p>
        </p:txBody>
      </p:sp>
      <p:sp>
        <p:nvSpPr>
          <p:cNvPr id="8" name="Rounded Rectangle 7"/>
          <p:cNvSpPr/>
          <p:nvPr/>
        </p:nvSpPr>
        <p:spPr>
          <a:xfrm>
            <a:off x="566928" y="1111758"/>
            <a:ext cx="3140963" cy="1234058"/>
          </a:xfrm>
          <a:prstGeom prst="roundRect">
            <a:avLst>
              <a:gd name="adj" fmla="val 6668"/>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14115" y="1258062"/>
            <a:ext cx="347472" cy="45720"/>
          </a:xfrm>
          <a:prstGeom prst="rect">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376934"/>
            <a:ext cx="2848356" cy="199263"/>
          </a:xfrm>
          <a:prstGeom prst="rect">
            <a:avLst/>
          </a:prstGeom>
          <a:noFill/>
        </p:spPr>
        <p:txBody>
          <a:bodyPr wrap="square" lIns="0" rIns="0" tIns="0" bIns="0">
            <a:spAutoFit/>
          </a:bodyPr>
          <a:lstStyle/>
          <a:p>
            <a:pPr algn="r" rtl="1">
              <a:lnSpc>
                <a:spcPts val="1281"/>
              </a:lnSpc>
            </a:pPr>
            <a:r>
              <a:rPr sz="1050" b="0">
                <a:solidFill>
                  <a:srgbClr val="00ABAF"/>
                </a:solidFill>
                <a:latin typeface="Diodrum Arabic SemiBold"/>
                <a:ea typeface="Diodrum Arabic SemiBold"/>
                <a:cs typeface="Diodrum Arabic SemiBold"/>
              </a:rPr>
              <a:t>ماذا يبدأ أولاً</a:t>
            </a:r>
          </a:p>
        </p:txBody>
      </p:sp>
      <p:sp>
        <p:nvSpPr>
          <p:cNvPr id="11" name="TextBox 10"/>
          <p:cNvSpPr txBox="1"/>
          <p:nvPr/>
        </p:nvSpPr>
        <p:spPr>
          <a:xfrm>
            <a:off x="713232" y="1603629"/>
            <a:ext cx="2848356"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اعتماد التصنيف الرباعي مرجعاً للتسجيل والتصميم؛ وبناء مكتبة الحالات وإطار القياس قبل إطلاق الفوج الأول.</a:t>
            </a:r>
          </a:p>
        </p:txBody>
      </p:sp>
      <p:sp>
        <p:nvSpPr>
          <p:cNvPr id="12" name="Rounded Rectangle 11"/>
          <p:cNvSpPr/>
          <p:nvPr/>
        </p:nvSpPr>
        <p:spPr>
          <a:xfrm>
            <a:off x="3854196" y="2492120"/>
            <a:ext cx="3140963"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01383" y="2638425"/>
            <a:ext cx="347472" cy="45720"/>
          </a:xfrm>
          <a:prstGeom prst="rect">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00500" y="2757297"/>
            <a:ext cx="2848356" cy="199263"/>
          </a:xfrm>
          <a:prstGeom prst="rect">
            <a:avLst/>
          </a:prstGeom>
          <a:noFill/>
        </p:spPr>
        <p:txBody>
          <a:bodyPr wrap="square" lIns="0" rIns="0" tIns="0" bIns="0">
            <a:spAutoFit/>
          </a:bodyPr>
          <a:lstStyle/>
          <a:p>
            <a:pPr algn="r" rtl="1">
              <a:lnSpc>
                <a:spcPts val="1281"/>
              </a:lnSpc>
            </a:pPr>
            <a:r>
              <a:rPr sz="1050" b="0">
                <a:solidFill>
                  <a:srgbClr val="1CC182"/>
                </a:solidFill>
                <a:latin typeface="Diodrum Arabic SemiBold"/>
                <a:ea typeface="Diodrum Arabic SemiBold"/>
                <a:cs typeface="Diodrum Arabic SemiBold"/>
              </a:rPr>
              <a:t>ما الذي يبقى مملوكاً محلياً</a:t>
            </a:r>
          </a:p>
        </p:txBody>
      </p:sp>
      <p:sp>
        <p:nvSpPr>
          <p:cNvPr id="15" name="TextBox 14"/>
          <p:cNvSpPr txBox="1"/>
          <p:nvPr/>
        </p:nvSpPr>
        <p:spPr>
          <a:xfrm>
            <a:off x="4000500" y="2983991"/>
            <a:ext cx="2848356" cy="483488"/>
          </a:xfrm>
          <a:prstGeom prst="rect">
            <a:avLst/>
          </a:prstGeom>
          <a:noFill/>
        </p:spPr>
        <p:txBody>
          <a:bodyPr wrap="square" lIns="0" rIns="0" tIns="0" bIns="0">
            <a:spAutoFit/>
          </a:bodyPr>
          <a:lstStyle/>
          <a:p>
            <a:pPr algn="just" rtl="1">
              <a:lnSpc>
                <a:spcPts val="1172"/>
              </a:lnSpc>
            </a:pPr>
            <a:r>
              <a:rPr sz="850" b="0">
                <a:solidFill>
                  <a:srgbClr val="474956"/>
                </a:solidFill>
                <a:latin typeface="Diodrum Arabic"/>
                <a:ea typeface="Diodrum Arabic"/>
                <a:cs typeface="Diodrum Arabic"/>
              </a:rPr>
              <a:t>الحالات السعودية، وبيانات المشاركين، ونتائج القياس، ونموذج التشغيل، والمواد المحلية، والعلاقة مع الجهات الحكومية — وفق العقود.</a:t>
            </a:r>
          </a:p>
        </p:txBody>
      </p:sp>
      <p:sp>
        <p:nvSpPr>
          <p:cNvPr id="16" name="Rounded Rectangle 15"/>
          <p:cNvSpPr/>
          <p:nvPr/>
        </p:nvSpPr>
        <p:spPr>
          <a:xfrm>
            <a:off x="566928" y="2492120"/>
            <a:ext cx="3140963" cy="1085087"/>
          </a:xfrm>
          <a:prstGeom prst="roundRect">
            <a:avLst>
              <a:gd name="adj" fmla="val 7584"/>
            </a:avLst>
          </a:prstGeom>
          <a:solidFill>
            <a:srgbClr val="FFFFFF"/>
          </a:solidFill>
          <a:ln w="9525">
            <a:solidFill>
              <a:srgbClr val="E4E4EC"/>
            </a:solid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14115" y="2638425"/>
            <a:ext cx="347472" cy="45720"/>
          </a:xfrm>
          <a:prstGeom prst="rect">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757297"/>
            <a:ext cx="2848356" cy="199263"/>
          </a:xfrm>
          <a:prstGeom prst="rect">
            <a:avLst/>
          </a:prstGeom>
          <a:noFill/>
        </p:spPr>
        <p:txBody>
          <a:bodyPr wrap="square" lIns="0" rIns="0" tIns="0" bIns="0">
            <a:spAutoFit/>
          </a:bodyPr>
          <a:lstStyle/>
          <a:p>
            <a:pPr algn="r" rtl="1">
              <a:lnSpc>
                <a:spcPts val="1281"/>
              </a:lnSpc>
            </a:pPr>
            <a:r>
              <a:rPr sz="1050" b="0">
                <a:solidFill>
                  <a:srgbClr val="2A206A"/>
                </a:solidFill>
                <a:latin typeface="Diodrum Arabic SemiBold"/>
                <a:ea typeface="Diodrum Arabic SemiBold"/>
                <a:cs typeface="Diodrum Arabic SemiBold"/>
              </a:rPr>
              <a:t>كيف يُراجَع النموذج</a:t>
            </a:r>
          </a:p>
        </p:txBody>
      </p:sp>
      <p:sp>
        <p:nvSpPr>
          <p:cNvPr id="19" name="TextBox 18"/>
          <p:cNvSpPr txBox="1"/>
          <p:nvPr/>
        </p:nvSpPr>
        <p:spPr>
          <a:xfrm>
            <a:off x="713232" y="2983991"/>
            <a:ext cx="2848356" cy="334517"/>
          </a:xfrm>
          <a:prstGeom prst="rect">
            <a:avLst/>
          </a:prstGeom>
          <a:noFill/>
        </p:spPr>
        <p:txBody>
          <a:bodyPr wrap="square" lIns="0" rIns="0" tIns="0" bIns="0">
            <a:spAutoFit/>
          </a:bodyPr>
          <a:lstStyle/>
          <a:p>
            <a:pPr algn="r" rtl="1">
              <a:lnSpc>
                <a:spcPts val="1172"/>
              </a:lnSpc>
            </a:pPr>
            <a:r>
              <a:rPr sz="850" b="0">
                <a:solidFill>
                  <a:srgbClr val="474956"/>
                </a:solidFill>
                <a:latin typeface="Diodrum Arabic"/>
                <a:ea typeface="Diodrum Arabic"/>
                <a:cs typeface="Diodrum Arabic"/>
              </a:rPr>
              <a:t>تُراجَع قرارات الشراء والشراكة والترخيص لكل مستوى على ضوء ما يتراكم من أدلة مع كل فوج.</a:t>
            </a:r>
          </a:p>
        </p:txBody>
      </p:sp>
      <p:sp>
        <p:nvSpPr>
          <p:cNvPr id="20" name="Rounded Rectangle 19"/>
          <p:cNvSpPr/>
          <p:nvPr/>
        </p:nvSpPr>
        <p:spPr>
          <a:xfrm>
            <a:off x="566928" y="3833240"/>
            <a:ext cx="6428231" cy="944308"/>
          </a:xfrm>
          <a:prstGeom prst="roundRect">
            <a:avLst>
              <a:gd name="adj" fmla="val 9683"/>
            </a:avLst>
          </a:prstGeom>
          <a:gradFill rotWithShape="1">
            <a:gsLst>
              <a:gs pos="0">
                <a:srgbClr val="7C32C9"/>
              </a:gs>
              <a:gs pos="100000">
                <a:srgbClr val="2A206A"/>
              </a:gs>
            </a:gsLst>
            <a:lin scaled="0" ang="20400000"/>
          </a:gradFill>
          <a:ln>
            <a:noFill/>
          </a:ln>
          <a:effectLst>
            <a:outerShdw blurRad="90000" dist="30000" dir="5400000" rotWithShape="0">
              <a:srgbClr val="2A206A">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016120"/>
            <a:ext cx="6062471" cy="191262"/>
          </a:xfrm>
          <a:prstGeom prst="rect">
            <a:avLst/>
          </a:prstGeom>
          <a:noFill/>
        </p:spPr>
        <p:txBody>
          <a:bodyPr wrap="square" lIns="0" rIns="0" tIns="0" bIns="0">
            <a:spAutoFit/>
          </a:bodyPr>
          <a:lstStyle/>
          <a:p>
            <a:pPr algn="r" rtl="1">
              <a:lnSpc>
                <a:spcPts val="1218"/>
              </a:lnSpc>
            </a:pPr>
            <a:r>
              <a:rPr sz="1050" b="0">
                <a:solidFill>
                  <a:srgbClr val="D9F3EE"/>
                </a:solidFill>
                <a:latin typeface="Diodrum Arabic SemiBold"/>
                <a:ea typeface="Diodrum Arabic SemiBold"/>
                <a:cs typeface="Diodrum Arabic SemiBold"/>
              </a:rPr>
              <a:t>الالتزام الختامي</a:t>
            </a:r>
          </a:p>
        </p:txBody>
      </p:sp>
      <p:sp>
        <p:nvSpPr>
          <p:cNvPr id="22" name="TextBox 21"/>
          <p:cNvSpPr txBox="1"/>
          <p:nvPr/>
        </p:nvSpPr>
        <p:spPr>
          <a:xfrm>
            <a:off x="749808" y="4216526"/>
            <a:ext cx="6062471" cy="361187"/>
          </a:xfrm>
          <a:prstGeom prst="rect">
            <a:avLst/>
          </a:prstGeom>
          <a:noFill/>
        </p:spPr>
        <p:txBody>
          <a:bodyPr wrap="square" lIns="0" rIns="0" tIns="0" bIns="0">
            <a:spAutoFit/>
          </a:bodyPr>
          <a:lstStyle/>
          <a:p>
            <a:pPr algn="just" rtl="1">
              <a:lnSpc>
                <a:spcPts val="1278"/>
              </a:lnSpc>
            </a:pPr>
            <a:r>
              <a:rPr sz="900" b="0">
                <a:solidFill>
                  <a:srgbClr val="FFFFFF"/>
                </a:solidFill>
                <a:latin typeface="Diodrum Arabic"/>
                <a:ea typeface="Diodrum Arabic"/>
                <a:cs typeface="Diodrum Arabic"/>
              </a:rPr>
              <a:t>تظل قيمة هذا النموذج رهينة التحقق المستمر: فهو مقترح مبني على أدلة منشورة حتى تاريخ المراجعة، ويقوى أو يُعدَّل بما تسجله الأفواج الأولى من بيانات القياس التي افتُتح بها تصميمه.</a:t>
            </a:r>
          </a:p>
        </p:txBody>
      </p:sp>
      <p:sp>
        <p:nvSpPr>
          <p:cNvPr id="23" name="Rectangle 22"/>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25" name="TextBox 24"/>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المراجع</a:t>
            </a:r>
          </a:p>
        </p:txBody>
      </p:sp>
      <p:sp>
        <p:nvSpPr>
          <p:cNvPr id="3" name="TextBox 2"/>
          <p:cNvSpPr txBox="1"/>
          <p:nvPr/>
        </p:nvSpPr>
        <p:spPr>
          <a:xfrm>
            <a:off x="566928" y="730758"/>
            <a:ext cx="6428231" cy="326135"/>
          </a:xfrm>
          <a:prstGeom prst="rect">
            <a:avLst/>
          </a:prstGeom>
          <a:noFill/>
        </p:spPr>
        <p:txBody>
          <a:bodyPr wrap="square" lIns="0" rIns="0" tIns="0" bIns="0">
            <a:spAutoFit/>
          </a:bodyPr>
          <a:lstStyle/>
          <a:p>
            <a:pPr algn="r" rtl="1">
              <a:lnSpc>
                <a:spcPts val="2279"/>
              </a:lnSpc>
            </a:pPr>
            <a:r>
              <a:rPr sz="2000" b="1">
                <a:solidFill>
                  <a:srgbClr val="232046"/>
                </a:solidFill>
                <a:latin typeface="Diodrum Arabic"/>
                <a:ea typeface="Diodrum Arabic"/>
                <a:cs typeface="Diodrum Arabic"/>
              </a:rPr>
              <a:t>مصادر الدراسة [1] – [71]</a:t>
            </a:r>
          </a:p>
        </p:txBody>
      </p:sp>
      <p:sp>
        <p:nvSpPr>
          <p:cNvPr id="4" name="TextBox 3"/>
          <p:cNvSpPr txBox="1"/>
          <p:nvPr/>
        </p:nvSpPr>
        <p:spPr>
          <a:xfrm>
            <a:off x="566928" y="1111758"/>
            <a:ext cx="6428231" cy="543306"/>
          </a:xfrm>
          <a:prstGeom prst="rect">
            <a:avLst/>
          </a:prstGeom>
          <a:noFill/>
        </p:spPr>
        <p:txBody>
          <a:bodyPr wrap="square" lIns="0" rIns="0" tIns="0" bIns="0">
            <a:spAutoFit/>
          </a:bodyPr>
          <a:lstStyle/>
          <a:p>
            <a:pPr algn="r" rtl="1">
              <a:lnSpc>
                <a:spcPts val="1330"/>
              </a:lnSpc>
            </a:pPr>
            <a:r>
              <a:rPr sz="950" b="0">
                <a:solidFill>
                  <a:srgbClr val="6E7077"/>
                </a:solidFill>
                <a:latin typeface="Diodrum Arabic"/>
                <a:ea typeface="Diodrum Arabic"/>
                <a:cs typeface="Diodrum Arabic"/>
              </a:rPr>
              <a:t>مصادر مرقمة بوسوم أدلة؛ والروابط محفوظة كما وردت في ملفات المصدر، فُحصت بتاريخ 21 أغسطس 2026. الوسوم: S إحصاء/مسح · E تقييم مستقل · P إعلان مزوّد · R سجل رسمي · N مصدر صحفي موثوق · I مدخلات الجهة · J استنتاج تحليلي · T تقدير استرشادي.</a:t>
            </a:r>
          </a:p>
        </p:txBody>
      </p:sp>
      <p:sp>
        <p:nvSpPr>
          <p:cNvPr id="5" name="Rectangle 4"/>
          <p:cNvSpPr/>
          <p:nvPr/>
        </p:nvSpPr>
        <p:spPr>
          <a:xfrm>
            <a:off x="6492240" y="1709928"/>
            <a:ext cx="502920" cy="41148"/>
          </a:xfrm>
          <a:prstGeom prst="rect">
            <a:avLst/>
          </a:prstGeom>
          <a:gradFill rotWithShape="1">
            <a:gsLst>
              <a:gs pos="0">
                <a:srgbClr val="7C32C9"/>
              </a:gs>
              <a:gs pos="100000">
                <a:srgbClr val="00ABAF"/>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84264" y="1901951"/>
            <a:ext cx="310896" cy="173736"/>
          </a:xfrm>
          <a:prstGeom prst="roundRect">
            <a:avLst>
              <a:gd name="adj" fmla="val 26315"/>
            </a:avLst>
          </a:prstGeom>
          <a:solidFill>
            <a:srgbClr val="6E707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I</a:t>
            </a:r>
          </a:p>
        </p:txBody>
      </p:sp>
      <p:sp>
        <p:nvSpPr>
          <p:cNvPr id="7" name="TextBox 6"/>
          <p:cNvSpPr txBox="1"/>
          <p:nvPr/>
        </p:nvSpPr>
        <p:spPr>
          <a:xfrm>
            <a:off x="566928" y="1892807"/>
            <a:ext cx="6025896" cy="43281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 </a:t>
            </a:r>
            <a:r>
              <a:rPr sz="800" b="0">
                <a:solidFill>
                  <a:srgbClr val="474956"/>
                </a:solidFill>
                <a:latin typeface="Diodrum Arabic"/>
                <a:ea typeface="Diodrum Arabic"/>
                <a:cs typeface="Diodrum Arabic"/>
              </a:rPr>
              <a:t>لجنة الذكاء الاصطناعي (مسار التدريب) — طلب إجراء دراسة مقارنة معيارية حول تدريب القيادات الحكومية العليا على الذكاء الاصطناعي، موجّه إلى برنامج «قدراتك» في هيئة الحكومة الرقمية — مصدر داخلي غير منشور (لا رابط عام) — دون تاريخ نشر — فُحص بتاريخ 2026-08-21 — [I إدخال الجهة الطالبة].</a:t>
            </a:r>
          </a:p>
        </p:txBody>
      </p:sp>
      <p:sp>
        <p:nvSpPr>
          <p:cNvPr id="8" name="Rounded Rectangle 7"/>
          <p:cNvSpPr/>
          <p:nvPr/>
        </p:nvSpPr>
        <p:spPr>
          <a:xfrm>
            <a:off x="6684264" y="2380487"/>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9" name="TextBox 8"/>
          <p:cNvSpPr txBox="1"/>
          <p:nvPr/>
        </p:nvSpPr>
        <p:spPr>
          <a:xfrm>
            <a:off x="566928" y="237134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 </a:t>
            </a:r>
            <a:r>
              <a:rPr sz="800" b="0">
                <a:solidFill>
                  <a:srgbClr val="474956"/>
                </a:solidFill>
                <a:latin typeface="Diodrum Arabic"/>
                <a:ea typeface="Diodrum Arabic"/>
                <a:cs typeface="Diodrum Arabic"/>
              </a:rPr>
              <a:t>«ماكنزي»/«كوانتم بلاك» — «The state of AI: How organizations are rewiring to capture value» — — 2025-03-12 — فُحص بتاريخ 2026-08-21 — [S إحصاء/مسح].</a:t>
            </a:r>
          </a:p>
        </p:txBody>
      </p:sp>
      <p:sp>
        <p:nvSpPr>
          <p:cNvPr id="10" name="TextBox 9"/>
          <p:cNvSpPr txBox="1"/>
          <p:nvPr/>
        </p:nvSpPr>
        <p:spPr>
          <a:xfrm>
            <a:off x="566928" y="264922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2"/>
              </a:rPr>
              <a:t>https://www.mckinsey.com/capabilities/quantumblack/our-insights/the-state-of-ai-how-organizations-are-rewiring-to-capture-value</a:t>
            </a:r>
          </a:p>
        </p:txBody>
      </p:sp>
      <p:sp>
        <p:nvSpPr>
          <p:cNvPr id="11" name="Rounded Rectangle 10"/>
          <p:cNvSpPr/>
          <p:nvPr/>
        </p:nvSpPr>
        <p:spPr>
          <a:xfrm>
            <a:off x="6684264" y="2853690"/>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12" name="TextBox 11"/>
          <p:cNvSpPr txBox="1"/>
          <p:nvPr/>
        </p:nvSpPr>
        <p:spPr>
          <a:xfrm>
            <a:off x="566928" y="284454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 </a:t>
            </a:r>
            <a:r>
              <a:rPr sz="800" b="0">
                <a:solidFill>
                  <a:srgbClr val="474956"/>
                </a:solidFill>
                <a:latin typeface="Diodrum Arabic"/>
                <a:ea typeface="Diodrum Arabic"/>
                <a:cs typeface="Diodrum Arabic"/>
              </a:rPr>
              <a:t>«ماكنزي»/«كوانتم بلاك» — «The state of AI in 2025: Agents, innovation, and transformation» — — 2025-11-05 — فُحص بتاريخ 2026-08-21 — [S إحصاء/مسح].</a:t>
            </a:r>
          </a:p>
        </p:txBody>
      </p:sp>
      <p:sp>
        <p:nvSpPr>
          <p:cNvPr id="13" name="TextBox 12"/>
          <p:cNvSpPr txBox="1"/>
          <p:nvPr/>
        </p:nvSpPr>
        <p:spPr>
          <a:xfrm>
            <a:off x="566928" y="312242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3"/>
              </a:rPr>
              <a:t>https://www.mckinsey.com/capabilities/quantumblack/our-insights/the-state-of-ai</a:t>
            </a:r>
          </a:p>
        </p:txBody>
      </p:sp>
      <p:sp>
        <p:nvSpPr>
          <p:cNvPr id="14" name="Rounded Rectangle 13"/>
          <p:cNvSpPr/>
          <p:nvPr/>
        </p:nvSpPr>
        <p:spPr>
          <a:xfrm>
            <a:off x="6684264" y="3326892"/>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15" name="TextBox 14"/>
          <p:cNvSpPr txBox="1"/>
          <p:nvPr/>
        </p:nvSpPr>
        <p:spPr>
          <a:xfrm>
            <a:off x="566928" y="331774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 </a:t>
            </a:r>
            <a:r>
              <a:rPr sz="800" b="0">
                <a:solidFill>
                  <a:srgbClr val="474956"/>
                </a:solidFill>
                <a:latin typeface="Diodrum Arabic"/>
                <a:ea typeface="Diodrum Arabic"/>
                <a:cs typeface="Diodrum Arabic"/>
              </a:rPr>
              <a:t>«غارتنر» (غرفة الأخبار) — «Gartner Survey Reveals That CEOs Believe Their Executive Teams Lack AI Savviness» — — 2025-05-06 — فُحص بتاريخ 2026-08-21 — [S إحصاء/مسح].</a:t>
            </a:r>
          </a:p>
        </p:txBody>
      </p:sp>
      <p:sp>
        <p:nvSpPr>
          <p:cNvPr id="16" name="TextBox 15"/>
          <p:cNvSpPr txBox="1"/>
          <p:nvPr/>
        </p:nvSpPr>
        <p:spPr>
          <a:xfrm>
            <a:off x="566928" y="359562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4"/>
              </a:rPr>
              <a:t>https://www.gartner.com/en/newsroom/press-releases/2025-05-06-gartner-survey-reveals-that-ceos-believe-their-executive-teams-lack-ai-savviness</a:t>
            </a:r>
          </a:p>
        </p:txBody>
      </p:sp>
      <p:sp>
        <p:nvSpPr>
          <p:cNvPr id="17" name="Rounded Rectangle 16"/>
          <p:cNvSpPr/>
          <p:nvPr/>
        </p:nvSpPr>
        <p:spPr>
          <a:xfrm>
            <a:off x="6684264" y="3800094"/>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18" name="TextBox 17"/>
          <p:cNvSpPr txBox="1"/>
          <p:nvPr/>
        </p:nvSpPr>
        <p:spPr>
          <a:xfrm>
            <a:off x="566928" y="379095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 </a:t>
            </a:r>
            <a:r>
              <a:rPr sz="800" b="0">
                <a:solidFill>
                  <a:srgbClr val="474956"/>
                </a:solidFill>
                <a:latin typeface="Diodrum Arabic"/>
                <a:ea typeface="Diodrum Arabic"/>
                <a:cs typeface="Diodrum Arabic"/>
              </a:rPr>
              <a:t>«غارتنر» — «How CEOs Are Navigating 2025's Perfect Storm of Uncertainty» — — 2025-08-06 — فُحص بتاريخ 2026-08-21 — [S إحصاء/مسح].</a:t>
            </a:r>
          </a:p>
        </p:txBody>
      </p:sp>
      <p:sp>
        <p:nvSpPr>
          <p:cNvPr id="19" name="TextBox 18"/>
          <p:cNvSpPr txBox="1"/>
          <p:nvPr/>
        </p:nvSpPr>
        <p:spPr>
          <a:xfrm>
            <a:off x="566928" y="406882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5"/>
              </a:rPr>
              <a:t>https://www.gartner.com/en/articles/2025-ceo-challenges</a:t>
            </a:r>
          </a:p>
        </p:txBody>
      </p:sp>
      <p:sp>
        <p:nvSpPr>
          <p:cNvPr id="20" name="Rounded Rectangle 19"/>
          <p:cNvSpPr/>
          <p:nvPr/>
        </p:nvSpPr>
        <p:spPr>
          <a:xfrm>
            <a:off x="6684264" y="4273296"/>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21" name="TextBox 20"/>
          <p:cNvSpPr txBox="1"/>
          <p:nvPr/>
        </p:nvSpPr>
        <p:spPr>
          <a:xfrm>
            <a:off x="566928" y="426415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 </a:t>
            </a:r>
            <a:r>
              <a:rPr sz="800" b="0">
                <a:solidFill>
                  <a:srgbClr val="474956"/>
                </a:solidFill>
                <a:latin typeface="Diodrum Arabic"/>
                <a:ea typeface="Diodrum Arabic"/>
                <a:cs typeface="Diodrum Arabic"/>
              </a:rPr>
              <a:t>«غارتنر» (غرفة الأخبار) — «Gartner Survey Reveals 80% of CEOs Say AI Will Force Operational Capability Overhauls» — — 2026-04-23 — فُحص بتاريخ 2026-08-21 — [S إحصاء/مسح].</a:t>
            </a:r>
          </a:p>
        </p:txBody>
      </p:sp>
      <p:sp>
        <p:nvSpPr>
          <p:cNvPr id="22" name="TextBox 21"/>
          <p:cNvSpPr txBox="1"/>
          <p:nvPr/>
        </p:nvSpPr>
        <p:spPr>
          <a:xfrm>
            <a:off x="566928" y="454202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6"/>
              </a:rPr>
              <a:t>https://www.gartner.com/en/newsroom/press-releases/2026-04-23-gartner-survey-reveals-80-percent-of-ceos-say-artificial-intelligence-will-force-operational-capability-overhauls</a:t>
            </a:r>
          </a:p>
        </p:txBody>
      </p:sp>
      <p:sp>
        <p:nvSpPr>
          <p:cNvPr id="23" name="Rounded Rectangle 22"/>
          <p:cNvSpPr/>
          <p:nvPr/>
        </p:nvSpPr>
        <p:spPr>
          <a:xfrm>
            <a:off x="6684264" y="4746498"/>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24" name="TextBox 23"/>
          <p:cNvSpPr txBox="1"/>
          <p:nvPr/>
        </p:nvSpPr>
        <p:spPr>
          <a:xfrm>
            <a:off x="566928" y="473735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[7] </a:t>
            </a:r>
            <a:r>
              <a:rPr sz="800" b="0">
                <a:solidFill>
                  <a:srgbClr val="474956"/>
                </a:solidFill>
                <a:latin typeface="Diodrum Arabic"/>
                <a:ea typeface="Diodrum Arabic"/>
                <a:cs typeface="Diodrum Arabic"/>
              </a:rPr>
              <a:t>«ديلويت إنسايتس» — «Scaling gen AI in US state and local governments» — — 2025-05-16 — فُحص بتاريخ 2026-08-21 — [S إحصاء/مسح].</a:t>
            </a:r>
          </a:p>
        </p:txBody>
      </p:sp>
      <p:sp>
        <p:nvSpPr>
          <p:cNvPr id="25" name="TextBox 24"/>
          <p:cNvSpPr txBox="1"/>
          <p:nvPr/>
        </p:nvSpPr>
        <p:spPr>
          <a:xfrm>
            <a:off x="566928" y="501523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7"/>
              </a:rPr>
              <a:t>https://www.deloitte.com/us/en/insights/industry/public-sector/use-of-ai-in-government.html</a:t>
            </a:r>
          </a:p>
        </p:txBody>
      </p:sp>
      <p:sp>
        <p:nvSpPr>
          <p:cNvPr id="26" name="Rounded Rectangle 25"/>
          <p:cNvSpPr/>
          <p:nvPr/>
        </p:nvSpPr>
        <p:spPr>
          <a:xfrm>
            <a:off x="6684264" y="5219700"/>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27" name="TextBox 26"/>
          <p:cNvSpPr txBox="1"/>
          <p:nvPr/>
        </p:nvSpPr>
        <p:spPr>
          <a:xfrm>
            <a:off x="566928" y="521055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[8] </a:t>
            </a:r>
            <a:r>
              <a:rPr sz="800" b="0">
                <a:solidFill>
                  <a:srgbClr val="474956"/>
                </a:solidFill>
                <a:latin typeface="Diodrum Arabic"/>
                <a:ea typeface="Diodrum Arabic"/>
                <a:cs typeface="Diodrum Arabic"/>
              </a:rPr>
              <a:t>«أكسنتشر» — تقرير «Reimagining Public Services in the Age of AI» — (وملخصه لدى «Global Government Forum»:) — 2026-02-12 — فُحص بتاريخ 2026-08-21 — [S إحصاء/مسح].</a:t>
            </a:r>
          </a:p>
        </p:txBody>
      </p:sp>
      <p:sp>
        <p:nvSpPr>
          <p:cNvPr id="28" name="TextBox 27"/>
          <p:cNvSpPr txBox="1"/>
          <p:nvPr/>
        </p:nvSpPr>
        <p:spPr>
          <a:xfrm>
            <a:off x="566928" y="548843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8"/>
              </a:rPr>
              <a:t>https://www.accenture.com/sg-en/insights/public-service/experience-new-lens</a:t>
            </a:r>
          </a:p>
        </p:txBody>
      </p:sp>
      <p:sp>
        <p:nvSpPr>
          <p:cNvPr id="29" name="Rounded Rectangle 28"/>
          <p:cNvSpPr/>
          <p:nvPr/>
        </p:nvSpPr>
        <p:spPr>
          <a:xfrm>
            <a:off x="6684264" y="5692902"/>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0" name="TextBox 29"/>
          <p:cNvSpPr txBox="1"/>
          <p:nvPr/>
        </p:nvSpPr>
        <p:spPr>
          <a:xfrm>
            <a:off x="566928" y="5683758"/>
            <a:ext cx="6025896" cy="43281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[9] </a:t>
            </a:r>
            <a:r>
              <a:rPr sz="800" b="0">
                <a:solidFill>
                  <a:srgbClr val="474956"/>
                </a:solidFill>
                <a:latin typeface="Diodrum Arabic"/>
                <a:ea typeface="Diodrum Arabic"/>
                <a:cs typeface="Diodrum Arabic"/>
              </a:rPr>
              <a:t>وكالة الأنباء السعودية (واس) / مؤشر «تورتوس» العالمي للذكاء الاصطناعي 2024 — «Saudi Arabia Surges to 14th Position in Global AI Index, 1st in Arab World» (الخبر N2174231) — وصفحة المؤشر — 2024-09-19 — فُحص بتاريخ 2026-08-21 — [R سجل مؤسسي رسمي] / [N تغطية صحفية معتبرة].</a:t>
            </a:r>
          </a:p>
        </p:txBody>
      </p:sp>
      <p:sp>
        <p:nvSpPr>
          <p:cNvPr id="31" name="TextBox 30"/>
          <p:cNvSpPr txBox="1"/>
          <p:nvPr/>
        </p:nvSpPr>
        <p:spPr>
          <a:xfrm>
            <a:off x="566928" y="609371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9"/>
              </a:rPr>
              <a:t>https://www.spa.gov.sa/en/N2174231</a:t>
            </a:r>
          </a:p>
        </p:txBody>
      </p:sp>
      <p:sp>
        <p:nvSpPr>
          <p:cNvPr id="32" name="Rounded Rectangle 31"/>
          <p:cNvSpPr/>
          <p:nvPr/>
        </p:nvSpPr>
        <p:spPr>
          <a:xfrm>
            <a:off x="6684264" y="6298184"/>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3" name="TextBox 32"/>
          <p:cNvSpPr txBox="1"/>
          <p:nvPr/>
        </p:nvSpPr>
        <p:spPr>
          <a:xfrm>
            <a:off x="566928" y="6289040"/>
            <a:ext cx="6025896" cy="43281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[10] </a:t>
            </a:r>
            <a:r>
              <a:rPr sz="800" b="0">
                <a:solidFill>
                  <a:srgbClr val="474956"/>
                </a:solidFill>
                <a:latin typeface="Diodrum Arabic"/>
                <a:ea typeface="Diodrum Arabic"/>
                <a:cs typeface="Diodrum Arabic"/>
              </a:rPr>
              <a:t>وكالة الأنباء السعودية (واس) / مؤشر «أكسفورد إنسايتس» لجاهزية الحكومات للذكاء الاصطناعي 2025 — «Saudi Arabia Tops MENA in Oxford Insights Government AI Readiness Index 2025» (الخبر N2472986) — — 2025-12-21 — فُحص بتاريخ 2026-08-21 — [R سجل مؤسسي رسمي] / [N تغطية صحفية معتبرة].</a:t>
            </a:r>
          </a:p>
        </p:txBody>
      </p:sp>
      <p:sp>
        <p:nvSpPr>
          <p:cNvPr id="34" name="TextBox 33"/>
          <p:cNvSpPr txBox="1"/>
          <p:nvPr/>
        </p:nvSpPr>
        <p:spPr>
          <a:xfrm>
            <a:off x="566928" y="669899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0"/>
              </a:rPr>
              <a:t>https://www.spa.gov.sa/en/N2472986</a:t>
            </a:r>
          </a:p>
        </p:txBody>
      </p:sp>
      <p:sp>
        <p:nvSpPr>
          <p:cNvPr id="35" name="Rounded Rectangle 34"/>
          <p:cNvSpPr/>
          <p:nvPr/>
        </p:nvSpPr>
        <p:spPr>
          <a:xfrm>
            <a:off x="6684264" y="6903466"/>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36" name="TextBox 35"/>
          <p:cNvSpPr txBox="1"/>
          <p:nvPr/>
        </p:nvSpPr>
        <p:spPr>
          <a:xfrm>
            <a:off x="566928" y="689432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[11] </a:t>
            </a:r>
            <a:r>
              <a:rPr sz="800" b="0">
                <a:solidFill>
                  <a:srgbClr val="474956"/>
                </a:solidFill>
                <a:latin typeface="Diodrum Arabic"/>
                <a:ea typeface="Diodrum Arabic"/>
                <a:cs typeface="Diodrum Arabic"/>
              </a:rPr>
              <a:t>«غارتنر» — ملف مرفق لدى الجهة الطالبة حول تصميم برنامج إلمام القيادات العليا بالذكاء الاصطناعي (إفادة داخلية غير منشورة، لا رابط عام) — دون تاريخ نشر معلن — فُحص بتاريخ 2026-08-21 — [P إعلان مزوّد/جهة].</a:t>
            </a:r>
          </a:p>
        </p:txBody>
      </p:sp>
      <p:sp>
        <p:nvSpPr>
          <p:cNvPr id="37" name="Rounded Rectangle 36"/>
          <p:cNvSpPr/>
          <p:nvPr/>
        </p:nvSpPr>
        <p:spPr>
          <a:xfrm>
            <a:off x="6684264" y="7249922"/>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8" name="TextBox 37"/>
          <p:cNvSpPr txBox="1"/>
          <p:nvPr/>
        </p:nvSpPr>
        <p:spPr>
          <a:xfrm>
            <a:off x="566928" y="724077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[12] </a:t>
            </a:r>
            <a:r>
              <a:rPr sz="800" b="0">
                <a:solidFill>
                  <a:srgbClr val="474956"/>
                </a:solidFill>
                <a:latin typeface="Diodrum Arabic"/>
                <a:ea typeface="Diodrum Arabic"/>
                <a:cs typeface="Diodrum Arabic"/>
              </a:rPr>
              <a:t>منظمة التعاون الاقتصادي والتنمية (OECD) — Building an AI-Ready Public Workforce — — 2026 — فُحص بتاريخ 2026-08-21 — [R سجل مؤسسي رسمي].</a:t>
            </a:r>
          </a:p>
        </p:txBody>
      </p:sp>
      <p:sp>
        <p:nvSpPr>
          <p:cNvPr id="39" name="TextBox 38"/>
          <p:cNvSpPr txBox="1"/>
          <p:nvPr/>
        </p:nvSpPr>
        <p:spPr>
          <a:xfrm>
            <a:off x="566928" y="751865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1"/>
              </a:rPr>
              <a:t>https://www.oecd.org/en/publications/building-an-ai-ready-public-workforce_b89244c7-en/full-report.html</a:t>
            </a:r>
          </a:p>
        </p:txBody>
      </p:sp>
      <p:sp>
        <p:nvSpPr>
          <p:cNvPr id="40" name="Rounded Rectangle 39"/>
          <p:cNvSpPr/>
          <p:nvPr/>
        </p:nvSpPr>
        <p:spPr>
          <a:xfrm>
            <a:off x="6684264" y="7723124"/>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41" name="TextBox 40"/>
          <p:cNvSpPr txBox="1"/>
          <p:nvPr/>
        </p:nvSpPr>
        <p:spPr>
          <a:xfrm>
            <a:off x="566928" y="771398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[13] </a:t>
            </a:r>
            <a:r>
              <a:rPr sz="800" b="0">
                <a:solidFill>
                  <a:srgbClr val="474956"/>
                </a:solidFill>
                <a:latin typeface="Diodrum Arabic"/>
                <a:ea typeface="Diodrum Arabic"/>
                <a:cs typeface="Diodrum Arabic"/>
              </a:rPr>
              <a:t>حكم تحليلي للدراسة — تدرج المسارات الأربعة بتدرج الأقدمية ونوع القرار، وقاعدة التصميم «يختلف البرنامج بحسب نوع القرار لا طوله» — لا ينطبق رابط خارجي — فُحص بتاريخ 2026-08-21 — [J حكم تحليلي].</a:t>
            </a:r>
          </a:p>
        </p:txBody>
      </p:sp>
      <p:sp>
        <p:nvSpPr>
          <p:cNvPr id="42" name="Rounded Rectangle 41"/>
          <p:cNvSpPr/>
          <p:nvPr/>
        </p:nvSpPr>
        <p:spPr>
          <a:xfrm>
            <a:off x="6684264" y="8069580"/>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43" name="TextBox 42"/>
          <p:cNvSpPr txBox="1"/>
          <p:nvPr/>
        </p:nvSpPr>
        <p:spPr>
          <a:xfrm>
            <a:off x="566928" y="806043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[14] </a:t>
            </a:r>
            <a:r>
              <a:rPr sz="800" b="0">
                <a:solidFill>
                  <a:srgbClr val="474956"/>
                </a:solidFill>
                <a:latin typeface="Diodrum Arabic"/>
                <a:ea typeface="Diodrum Arabic"/>
                <a:cs typeface="Diodrum Arabic"/>
              </a:rPr>
              <a:t>منظمة التعاون الاقتصادي والتنمية (OECD) — Digital Government Outlook 2026: Adopting and Governing AI in Government — — 2026-06 — فُحص بتاريخ 2026-08-21 — [S إحصاء/مسح].</a:t>
            </a:r>
          </a:p>
        </p:txBody>
      </p:sp>
      <p:sp>
        <p:nvSpPr>
          <p:cNvPr id="44" name="TextBox 43"/>
          <p:cNvSpPr txBox="1"/>
          <p:nvPr/>
        </p:nvSpPr>
        <p:spPr>
          <a:xfrm>
            <a:off x="566928" y="833831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2"/>
              </a:rPr>
              <a:t>https://www.oecd.org/en/publications/2026/06/digital-government-outlook_4585678e/full-report/adopting-and-governing-ai-in-government_7ef312a9.html</a:t>
            </a:r>
          </a:p>
        </p:txBody>
      </p:sp>
      <p:sp>
        <p:nvSpPr>
          <p:cNvPr id="45" name="Rounded Rectangle 44"/>
          <p:cNvSpPr/>
          <p:nvPr/>
        </p:nvSpPr>
        <p:spPr>
          <a:xfrm>
            <a:off x="6684264" y="854278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46" name="TextBox 45"/>
          <p:cNvSpPr txBox="1"/>
          <p:nvPr/>
        </p:nvSpPr>
        <p:spPr>
          <a:xfrm>
            <a:off x="566928" y="853363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[15] </a:t>
            </a:r>
            <a:r>
              <a:rPr sz="800" b="0">
                <a:solidFill>
                  <a:srgbClr val="474956"/>
                </a:solidFill>
                <a:latin typeface="Diodrum Arabic"/>
                <a:ea typeface="Diodrum Arabic"/>
                <a:cs typeface="Diodrum Arabic"/>
              </a:rPr>
              <a:t>كلية كيلوغ للإدارة (جامعة نورثويسترن) — Senior Management Program in AI and Digital Transformation — — فُحص بتاريخ 2026-08-21 — [P إعلان مزوّد/جهة].</a:t>
            </a:r>
          </a:p>
        </p:txBody>
      </p:sp>
      <p:sp>
        <p:nvSpPr>
          <p:cNvPr id="47" name="TextBox 46"/>
          <p:cNvSpPr txBox="1"/>
          <p:nvPr/>
        </p:nvSpPr>
        <p:spPr>
          <a:xfrm>
            <a:off x="566928" y="881151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3"/>
              </a:rPr>
              <a:t>https://online.em.kellogg.northwestern.edu/c-suite-program-in-digital-transformation-and-ai</a:t>
            </a:r>
          </a:p>
        </p:txBody>
      </p:sp>
      <p:sp>
        <p:nvSpPr>
          <p:cNvPr id="48" name="Rounded Rectangle 47"/>
          <p:cNvSpPr/>
          <p:nvPr/>
        </p:nvSpPr>
        <p:spPr>
          <a:xfrm>
            <a:off x="6684264" y="901598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49" name="TextBox 48"/>
          <p:cNvSpPr txBox="1"/>
          <p:nvPr/>
        </p:nvSpPr>
        <p:spPr>
          <a:xfrm>
            <a:off x="566928" y="9006840"/>
            <a:ext cx="6025896" cy="16865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[16] </a:t>
            </a:r>
            <a:r>
              <a:rPr sz="800" b="0">
                <a:solidFill>
                  <a:srgbClr val="474956"/>
                </a:solidFill>
                <a:latin typeface="Diodrum Arabic"/>
                <a:ea typeface="Diodrum Arabic"/>
                <a:cs typeface="Diodrum Arabic"/>
              </a:rPr>
              <a:t>MIT xPRO — AI for Senior Executives Program — و — فُحص بتاريخ 2026-08-21 — [P إعلان مزوّد/جهة].</a:t>
            </a:r>
          </a:p>
        </p:txBody>
      </p:sp>
      <p:sp>
        <p:nvSpPr>
          <p:cNvPr id="50" name="TextBox 49"/>
          <p:cNvSpPr txBox="1"/>
          <p:nvPr/>
        </p:nvSpPr>
        <p:spPr>
          <a:xfrm>
            <a:off x="566928" y="915263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4"/>
              </a:rPr>
              <a:t>https://executive-ed.xpro.mit.edu/ai-for-senior-executives-program</a:t>
            </a:r>
          </a:p>
        </p:txBody>
      </p:sp>
      <p:sp>
        <p:nvSpPr>
          <p:cNvPr id="51" name="Rounded Rectangle 50"/>
          <p:cNvSpPr/>
          <p:nvPr/>
        </p:nvSpPr>
        <p:spPr>
          <a:xfrm>
            <a:off x="6684264" y="9357105"/>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2" name="TextBox 51"/>
          <p:cNvSpPr txBox="1"/>
          <p:nvPr/>
        </p:nvSpPr>
        <p:spPr>
          <a:xfrm>
            <a:off x="566928" y="9347961"/>
            <a:ext cx="6025896" cy="16865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[17] </a:t>
            </a:r>
            <a:r>
              <a:rPr sz="800" b="0">
                <a:solidFill>
                  <a:srgbClr val="474956"/>
                </a:solidFill>
                <a:latin typeface="Diodrum Arabic"/>
                <a:ea typeface="Diodrum Arabic"/>
                <a:cs typeface="Diodrum Arabic"/>
              </a:rPr>
              <a:t>كلية كامبريدج جادج للأعمال — Cambridge AI Leadership Programme — — فُحص بتاريخ 2026-08-21 — [P إعلان مزوّد/جهة].</a:t>
            </a:r>
          </a:p>
        </p:txBody>
      </p:sp>
      <p:sp>
        <p:nvSpPr>
          <p:cNvPr id="53" name="TextBox 52"/>
          <p:cNvSpPr txBox="1"/>
          <p:nvPr/>
        </p:nvSpPr>
        <p:spPr>
          <a:xfrm>
            <a:off x="566928" y="9493757"/>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5"/>
              </a:rPr>
              <a:t>https://www.jbs.cam.ac.uk/executive-education/artificial-intelligence-ai/cambridge-ai-leadership-programme/</a:t>
            </a:r>
          </a:p>
        </p:txBody>
      </p:sp>
      <p:sp>
        <p:nvSpPr>
          <p:cNvPr id="54" name="Rectangle 53"/>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56" name="TextBox 55"/>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المراجع — تتمة</a:t>
            </a:r>
          </a:p>
        </p:txBody>
      </p:sp>
      <p:sp>
        <p:nvSpPr>
          <p:cNvPr id="3" name="TextBox 2"/>
          <p:cNvSpPr txBox="1"/>
          <p:nvPr/>
        </p:nvSpPr>
        <p:spPr>
          <a:xfrm>
            <a:off x="566928" y="730758"/>
            <a:ext cx="6428231" cy="253745"/>
          </a:xfrm>
          <a:prstGeom prst="rect">
            <a:avLst/>
          </a:prstGeom>
          <a:noFill/>
        </p:spPr>
        <p:txBody>
          <a:bodyPr wrap="square" lIns="0" rIns="0" tIns="0" bIns="0">
            <a:spAutoFit/>
          </a:bodyPr>
          <a:lstStyle/>
          <a:p>
            <a:pPr algn="r" rtl="1">
              <a:lnSpc>
                <a:spcPts val="1709"/>
              </a:lnSpc>
            </a:pPr>
            <a:r>
              <a:rPr sz="1500" b="1">
                <a:solidFill>
                  <a:srgbClr val="232046"/>
                </a:solidFill>
                <a:latin typeface="Diodrum Arabic"/>
                <a:ea typeface="Diodrum Arabic"/>
                <a:cs typeface="Diodrum Arabic"/>
              </a:rPr>
              <a:t>مصادر الدراسة [1] – [71]</a:t>
            </a:r>
          </a:p>
        </p:txBody>
      </p:sp>
      <p:sp>
        <p:nvSpPr>
          <p:cNvPr id="4" name="Rounded Rectangle 3"/>
          <p:cNvSpPr/>
          <p:nvPr/>
        </p:nvSpPr>
        <p:spPr>
          <a:xfrm>
            <a:off x="6684264" y="109423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 name="TextBox 4"/>
          <p:cNvSpPr txBox="1"/>
          <p:nvPr/>
        </p:nvSpPr>
        <p:spPr>
          <a:xfrm>
            <a:off x="566928" y="108508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[18] </a:t>
            </a:r>
            <a:r>
              <a:rPr sz="800" b="0">
                <a:solidFill>
                  <a:srgbClr val="474956"/>
                </a:solidFill>
                <a:latin typeface="Diodrum Arabic"/>
                <a:ea typeface="Diodrum Arabic"/>
                <a:cs typeface="Diodrum Arabic"/>
              </a:rPr>
              <a:t>بارتنرشيب فور بابليك سيرفس / مركز الذكاء الاصطناعي للحكومة — AI Government Leadership Program — — فُحص بتاريخ 2026-08-21 — [P إعلان مزوّد/جهة].</a:t>
            </a:r>
          </a:p>
        </p:txBody>
      </p:sp>
      <p:sp>
        <p:nvSpPr>
          <p:cNvPr id="6" name="TextBox 5"/>
          <p:cNvSpPr txBox="1"/>
          <p:nvPr/>
        </p:nvSpPr>
        <p:spPr>
          <a:xfrm>
            <a:off x="566928" y="136296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2"/>
              </a:rPr>
              <a:t>https://aicenterforgovernment.org/ai-government-leadership-program/</a:t>
            </a:r>
          </a:p>
        </p:txBody>
      </p:sp>
      <p:sp>
        <p:nvSpPr>
          <p:cNvPr id="7" name="Rounded Rectangle 6"/>
          <p:cNvSpPr/>
          <p:nvPr/>
        </p:nvSpPr>
        <p:spPr>
          <a:xfrm>
            <a:off x="6684264" y="1567434"/>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8" name="TextBox 7"/>
          <p:cNvSpPr txBox="1"/>
          <p:nvPr/>
        </p:nvSpPr>
        <p:spPr>
          <a:xfrm>
            <a:off x="566928" y="155829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[19] </a:t>
            </a:r>
            <a:r>
              <a:rPr sz="800" b="0">
                <a:solidFill>
                  <a:srgbClr val="474956"/>
                </a:solidFill>
                <a:latin typeface="Diodrum Arabic"/>
                <a:ea typeface="Diodrum Arabic"/>
                <a:cs typeface="Diodrum Arabic"/>
              </a:rPr>
              <a:t>إدارة الخدمات العامة الأمريكية (GSA) — Empowering Responsible AI: The AI Training Series for Government Employees — وتفاصيل المسارات: — 2024-09-23 — فُحص بتاريخ 2026-08-21 — [R سجل مؤسسي رسمي].</a:t>
            </a:r>
          </a:p>
        </p:txBody>
      </p:sp>
      <p:sp>
        <p:nvSpPr>
          <p:cNvPr id="9" name="TextBox 8"/>
          <p:cNvSpPr txBox="1"/>
          <p:nvPr/>
        </p:nvSpPr>
        <p:spPr>
          <a:xfrm>
            <a:off x="566928" y="183616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3"/>
              </a:rPr>
              <a:t>https://www.gsa.gov/blog/2024/09/23/empowering-responsible-ai-the-ai-training-series-for-government-employees</a:t>
            </a:r>
          </a:p>
        </p:txBody>
      </p:sp>
      <p:sp>
        <p:nvSpPr>
          <p:cNvPr id="10" name="Rounded Rectangle 9"/>
          <p:cNvSpPr/>
          <p:nvPr/>
        </p:nvSpPr>
        <p:spPr>
          <a:xfrm>
            <a:off x="6684264" y="2040635"/>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11" name="TextBox 10"/>
          <p:cNvSpPr txBox="1"/>
          <p:nvPr/>
        </p:nvSpPr>
        <p:spPr>
          <a:xfrm>
            <a:off x="566928" y="203149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[20] </a:t>
            </a:r>
            <a:r>
              <a:rPr sz="800" b="0">
                <a:solidFill>
                  <a:srgbClr val="474956"/>
                </a:solidFill>
                <a:latin typeface="Diodrum Arabic"/>
                <a:ea typeface="Diodrum Arabic"/>
                <a:cs typeface="Diodrum Arabic"/>
              </a:rPr>
              <a:t>معهد الإدارة العامة (أيرلندا) — Artificial Intelligence Masterclass for Senior Public Service Leaders — — فُحص بتاريخ 2026-08-21 — [P إعلان مزوّد/جهة].</a:t>
            </a:r>
          </a:p>
        </p:txBody>
      </p:sp>
      <p:sp>
        <p:nvSpPr>
          <p:cNvPr id="12" name="TextBox 11"/>
          <p:cNvSpPr txBox="1"/>
          <p:nvPr/>
        </p:nvSpPr>
        <p:spPr>
          <a:xfrm>
            <a:off x="566928" y="230936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4"/>
              </a:rPr>
              <a:t>https://www.ipa.ie/courses/all-courses/artificial-intelligence-masterclass/</a:t>
            </a:r>
          </a:p>
        </p:txBody>
      </p:sp>
      <p:sp>
        <p:nvSpPr>
          <p:cNvPr id="13" name="Rounded Rectangle 12"/>
          <p:cNvSpPr/>
          <p:nvPr/>
        </p:nvSpPr>
        <p:spPr>
          <a:xfrm>
            <a:off x="6684264" y="2513838"/>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14" name="TextBox 13"/>
          <p:cNvSpPr txBox="1"/>
          <p:nvPr/>
        </p:nvSpPr>
        <p:spPr>
          <a:xfrm>
            <a:off x="566928" y="2504694"/>
            <a:ext cx="6025896" cy="16865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[21] </a:t>
            </a:r>
            <a:r>
              <a:rPr sz="800" b="0">
                <a:solidFill>
                  <a:srgbClr val="474956"/>
                </a:solidFill>
                <a:latin typeface="Diodrum Arabic"/>
                <a:ea typeface="Diodrum Arabic"/>
                <a:cs typeface="Diodrum Arabic"/>
              </a:rPr>
              <a:t>كلية دارن للأعمال، جامعة فرجينيا — AI Essentials for Government Leaders — — فُحص بتاريخ 2026-08-21 — [P إعلان مزوّد/جهة].</a:t>
            </a:r>
          </a:p>
        </p:txBody>
      </p:sp>
      <p:sp>
        <p:nvSpPr>
          <p:cNvPr id="15" name="TextBox 14"/>
          <p:cNvSpPr txBox="1"/>
          <p:nvPr/>
        </p:nvSpPr>
        <p:spPr>
          <a:xfrm>
            <a:off x="566928" y="265049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5"/>
              </a:rPr>
              <a:t>https://www.darden.virginia.edu/executive-education/ai-essentials-government-leaders</a:t>
            </a:r>
          </a:p>
        </p:txBody>
      </p:sp>
      <p:sp>
        <p:nvSpPr>
          <p:cNvPr id="16" name="Rounded Rectangle 15"/>
          <p:cNvSpPr/>
          <p:nvPr/>
        </p:nvSpPr>
        <p:spPr>
          <a:xfrm>
            <a:off x="6684264" y="2854960"/>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17" name="TextBox 16"/>
          <p:cNvSpPr txBox="1"/>
          <p:nvPr/>
        </p:nvSpPr>
        <p:spPr>
          <a:xfrm>
            <a:off x="566928" y="2845816"/>
            <a:ext cx="6025896" cy="43281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[22] </a:t>
            </a:r>
            <a:r>
              <a:rPr sz="800" b="0">
                <a:solidFill>
                  <a:srgbClr val="474956"/>
                </a:solidFill>
                <a:latin typeface="Diodrum Arabic"/>
                <a:ea typeface="Diodrum Arabic"/>
                <a:cs typeface="Diodrum Arabic"/>
              </a:rPr>
              <a:t>جامعة جونز هوبكنز، التعليم التنفيذي والمهني للهندسة — AI for Federal Government Senior Leaders — 10 أسابيع؛ السعر المعروض بتاريخ الفحص US$2,450 (سبق أن عرضت الصفحة نسخة أقصر من 4 أسابيع بسعر أدنى — يُعاد التأكد قبل أي التحاق) — — فُحص بتاريخ 2026-08-21 — [P إعلان مزوّد/جهة].</a:t>
            </a:r>
          </a:p>
        </p:txBody>
      </p:sp>
      <p:sp>
        <p:nvSpPr>
          <p:cNvPr id="18" name="TextBox 17"/>
          <p:cNvSpPr txBox="1"/>
          <p:nvPr/>
        </p:nvSpPr>
        <p:spPr>
          <a:xfrm>
            <a:off x="566928" y="325577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6"/>
              </a:rPr>
              <a:t>https://engineering.jhu.edu/ExecEd/course/ai-for-senior-leaders-online/</a:t>
            </a:r>
          </a:p>
        </p:txBody>
      </p:sp>
      <p:sp>
        <p:nvSpPr>
          <p:cNvPr id="19" name="Rounded Rectangle 18"/>
          <p:cNvSpPr/>
          <p:nvPr/>
        </p:nvSpPr>
        <p:spPr>
          <a:xfrm>
            <a:off x="6684264" y="346024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0" name="TextBox 19"/>
          <p:cNvSpPr txBox="1"/>
          <p:nvPr/>
        </p:nvSpPr>
        <p:spPr>
          <a:xfrm>
            <a:off x="566928" y="345109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[23] </a:t>
            </a:r>
            <a:r>
              <a:rPr sz="800" b="0">
                <a:solidFill>
                  <a:srgbClr val="474956"/>
                </a:solidFill>
                <a:latin typeface="Diodrum Arabic"/>
                <a:ea typeface="Diodrum Arabic"/>
                <a:cs typeface="Diodrum Arabic"/>
              </a:rPr>
              <a:t>مدرسة لي كوان يو للسياسة العامة، جامعة سنغافورة الوطنية — AI and Digital Transformation for Public Policy Leaders — — فُحص بتاريخ 2026-08-21 — [P إعلان مزوّد/جهة].</a:t>
            </a:r>
          </a:p>
        </p:txBody>
      </p:sp>
      <p:sp>
        <p:nvSpPr>
          <p:cNvPr id="21" name="TextBox 20"/>
          <p:cNvSpPr txBox="1"/>
          <p:nvPr/>
        </p:nvSpPr>
        <p:spPr>
          <a:xfrm>
            <a:off x="566928" y="372897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7"/>
              </a:rPr>
              <a:t>https://lkyspp.nus.edu.sg/executive-education/programmes/ai-and-digital-transformation-for-public-policy-leaders/</a:t>
            </a:r>
          </a:p>
        </p:txBody>
      </p:sp>
      <p:sp>
        <p:nvSpPr>
          <p:cNvPr id="22" name="Rounded Rectangle 21"/>
          <p:cNvSpPr/>
          <p:nvPr/>
        </p:nvSpPr>
        <p:spPr>
          <a:xfrm>
            <a:off x="6684264" y="3933444"/>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23" name="TextBox 22"/>
          <p:cNvSpPr txBox="1"/>
          <p:nvPr/>
        </p:nvSpPr>
        <p:spPr>
          <a:xfrm>
            <a:off x="566928" y="392430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[24] </a:t>
            </a:r>
            <a:r>
              <a:rPr sz="800" b="0">
                <a:solidFill>
                  <a:srgbClr val="474956"/>
                </a:solidFill>
                <a:latin typeface="Diodrum Arabic"/>
                <a:ea typeface="Diodrum Arabic"/>
                <a:cs typeface="Diodrum Arabic"/>
              </a:rPr>
              <a:t>GovExec — Partnership for Public Service Plans AI Training Center for Federal Employees (منحة Google.org بقيمة US$10 ملايين) — — 2024-10-17 — فُحص بتاريخ 2026-08-21 — [N تغطية صحفية معتبرة].</a:t>
            </a:r>
          </a:p>
        </p:txBody>
      </p:sp>
      <p:sp>
        <p:nvSpPr>
          <p:cNvPr id="24" name="TextBox 23"/>
          <p:cNvSpPr txBox="1"/>
          <p:nvPr/>
        </p:nvSpPr>
        <p:spPr>
          <a:xfrm>
            <a:off x="566928" y="420217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8"/>
              </a:rPr>
              <a:t>https://www.govexec.com/technology/2024/10/partnership-public-service-plans-ai-training-center-federal-employees-2025/400342/</a:t>
            </a:r>
          </a:p>
        </p:txBody>
      </p:sp>
      <p:sp>
        <p:nvSpPr>
          <p:cNvPr id="25" name="Rounded Rectangle 24"/>
          <p:cNvSpPr/>
          <p:nvPr/>
        </p:nvSpPr>
        <p:spPr>
          <a:xfrm>
            <a:off x="6684264" y="4406646"/>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6" name="TextBox 25"/>
          <p:cNvSpPr txBox="1"/>
          <p:nvPr/>
        </p:nvSpPr>
        <p:spPr>
          <a:xfrm>
            <a:off x="566928" y="439750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[25] </a:t>
            </a:r>
            <a:r>
              <a:rPr sz="800" b="0">
                <a:solidFill>
                  <a:srgbClr val="474956"/>
                </a:solidFill>
                <a:latin typeface="Diodrum Arabic"/>
                <a:ea typeface="Diodrum Arabic"/>
                <a:cs typeface="Diodrum Arabic"/>
              </a:rPr>
              <a:t>أبوليتيكال — «Apolitical receives $5 million grant from Google.org to train one million civil servants in AI» — — يونيو 2024 — فُحص بتاريخ 2026-08-21 — [P إعلان مزوّد/جهة].</a:t>
            </a:r>
          </a:p>
        </p:txBody>
      </p:sp>
      <p:sp>
        <p:nvSpPr>
          <p:cNvPr id="27" name="TextBox 26"/>
          <p:cNvSpPr txBox="1"/>
          <p:nvPr/>
        </p:nvSpPr>
        <p:spPr>
          <a:xfrm>
            <a:off x="566928" y="467537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9"/>
              </a:rPr>
              <a:t>https://apolitical.co/pages/apolitical-receives-5-million-grant-from-googleorg-to-train-one-million-civil-servants-in-ai</a:t>
            </a:r>
          </a:p>
        </p:txBody>
      </p:sp>
      <p:sp>
        <p:nvSpPr>
          <p:cNvPr id="28" name="Rounded Rectangle 27"/>
          <p:cNvSpPr/>
          <p:nvPr/>
        </p:nvSpPr>
        <p:spPr>
          <a:xfrm>
            <a:off x="6684264" y="4879848"/>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29" name="TextBox 28"/>
          <p:cNvSpPr txBox="1"/>
          <p:nvPr/>
        </p:nvSpPr>
        <p:spPr>
          <a:xfrm>
            <a:off x="566928" y="487070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[26] </a:t>
            </a:r>
            <a:r>
              <a:rPr sz="800" b="0">
                <a:solidFill>
                  <a:srgbClr val="474956"/>
                </a:solidFill>
                <a:latin typeface="Diodrum Arabic"/>
                <a:ea typeface="Diodrum Arabic"/>
                <a:cs typeface="Diodrum Arabic"/>
              </a:rPr>
              <a:t>صحيفة الخليج تايمز — UAE Approves Project to Train 80,000 Employees in Agentic AI — — 2026-05-18 — فُحص بتاريخ 2026-08-21 — [N تغطية صحفية معتبرة].</a:t>
            </a:r>
          </a:p>
        </p:txBody>
      </p:sp>
      <p:sp>
        <p:nvSpPr>
          <p:cNvPr id="30" name="TextBox 29"/>
          <p:cNvSpPr txBox="1"/>
          <p:nvPr/>
        </p:nvSpPr>
        <p:spPr>
          <a:xfrm>
            <a:off x="566928" y="514858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0"/>
              </a:rPr>
              <a:t>https://www.khaleejtimes.com/uae/approves-project-to-train-80000-employees-in-agentic-ai</a:t>
            </a:r>
          </a:p>
        </p:txBody>
      </p:sp>
      <p:sp>
        <p:nvSpPr>
          <p:cNvPr id="31" name="Rounded Rectangle 30"/>
          <p:cNvSpPr/>
          <p:nvPr/>
        </p:nvSpPr>
        <p:spPr>
          <a:xfrm>
            <a:off x="6684264" y="535305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2" name="TextBox 31"/>
          <p:cNvSpPr txBox="1"/>
          <p:nvPr/>
        </p:nvSpPr>
        <p:spPr>
          <a:xfrm>
            <a:off x="566928" y="534390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[27] </a:t>
            </a:r>
            <a:r>
              <a:rPr sz="800" b="0">
                <a:solidFill>
                  <a:srgbClr val="474956"/>
                </a:solidFill>
                <a:latin typeface="Diodrum Arabic"/>
                <a:ea typeface="Diodrum Arabic"/>
                <a:cs typeface="Diodrum Arabic"/>
              </a:rPr>
              <a:t>الهيئة الاتحادية للموارد البشرية الحكومية (الإمارات) — الإعلان عن شراكة معرفية استراتيجية مع جامعة محمد بن زايد للذكاء الاصطناعي — — 2026-05-21 — فُحص بتاريخ 2026-08-21 — [R سجل مؤسسي رسمي].</a:t>
            </a:r>
          </a:p>
        </p:txBody>
      </p:sp>
      <p:sp>
        <p:nvSpPr>
          <p:cNvPr id="33" name="TextBox 32"/>
          <p:cNvSpPr txBox="1"/>
          <p:nvPr/>
        </p:nvSpPr>
        <p:spPr>
          <a:xfrm>
            <a:off x="566928" y="562178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1"/>
              </a:rPr>
              <a:t>https://www.fahr.gov.ae/en/news/uae-government-announces-strategic-knowledge-partnership-with-mbzuai/</a:t>
            </a:r>
          </a:p>
        </p:txBody>
      </p:sp>
      <p:sp>
        <p:nvSpPr>
          <p:cNvPr id="34" name="Rounded Rectangle 33"/>
          <p:cNvSpPr/>
          <p:nvPr/>
        </p:nvSpPr>
        <p:spPr>
          <a:xfrm>
            <a:off x="6684264" y="5826252"/>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5" name="TextBox 34"/>
          <p:cNvSpPr txBox="1"/>
          <p:nvPr/>
        </p:nvSpPr>
        <p:spPr>
          <a:xfrm>
            <a:off x="566928" y="581710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[28] </a:t>
            </a:r>
            <a:r>
              <a:rPr sz="800" b="0">
                <a:solidFill>
                  <a:srgbClr val="474956"/>
                </a:solidFill>
                <a:latin typeface="Diodrum Arabic"/>
                <a:ea typeface="Diodrum Arabic"/>
                <a:cs typeface="Diodrum Arabic"/>
              </a:rPr>
              <a:t>المكتب الإعلامي لحكومة دبي — محمد بن راشد يحضر الملتقى الوطني لاستعراض مشاريع الذكاء الاصطناعي التوجيهي — — 2026-05-20 — فُحص بتاريخ 2026-08-21 — [R سجل مؤسسي رسمي].</a:t>
            </a:r>
          </a:p>
        </p:txBody>
      </p:sp>
      <p:sp>
        <p:nvSpPr>
          <p:cNvPr id="36" name="TextBox 35"/>
          <p:cNvSpPr txBox="1"/>
          <p:nvPr/>
        </p:nvSpPr>
        <p:spPr>
          <a:xfrm>
            <a:off x="566928" y="609498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2"/>
              </a:rPr>
              <a:t>https://mediaoffice.ae/en/news/2026/may/20-05/mohammed-bin-rashid-attends-national-retreat-showcasing-projects</a:t>
            </a:r>
          </a:p>
        </p:txBody>
      </p:sp>
      <p:sp>
        <p:nvSpPr>
          <p:cNvPr id="37" name="Rounded Rectangle 36"/>
          <p:cNvSpPr/>
          <p:nvPr/>
        </p:nvSpPr>
        <p:spPr>
          <a:xfrm>
            <a:off x="6684264" y="6299454"/>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8" name="TextBox 37"/>
          <p:cNvSpPr txBox="1"/>
          <p:nvPr/>
        </p:nvSpPr>
        <p:spPr>
          <a:xfrm>
            <a:off x="566928" y="629031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[29] </a:t>
            </a:r>
            <a:r>
              <a:rPr sz="800" b="0">
                <a:solidFill>
                  <a:srgbClr val="474956"/>
                </a:solidFill>
                <a:latin typeface="Diodrum Arabic"/>
                <a:ea typeface="Diodrum Arabic"/>
                <a:cs typeface="Diodrum Arabic"/>
              </a:rPr>
              <a:t>وزارة التنمية الرقمية والإعلام (سنغافورة) — Launch of Institute of Digital Government (صحيفة وقائع الإطلاق) — — 2026-03-02 — فُحص بتاريخ 2026-08-21 — [R سجل مؤسسي رسمي].</a:t>
            </a:r>
          </a:p>
        </p:txBody>
      </p:sp>
      <p:sp>
        <p:nvSpPr>
          <p:cNvPr id="39" name="TextBox 38"/>
          <p:cNvSpPr txBox="1"/>
          <p:nvPr/>
        </p:nvSpPr>
        <p:spPr>
          <a:xfrm>
            <a:off x="566928" y="656818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3"/>
              </a:rPr>
              <a:t>https://www.mddi.gov.sg/newsroom/launch-of-institute-of-digital-government/</a:t>
            </a:r>
          </a:p>
        </p:txBody>
      </p:sp>
      <p:sp>
        <p:nvSpPr>
          <p:cNvPr id="40" name="Rounded Rectangle 39"/>
          <p:cNvSpPr/>
          <p:nvPr/>
        </p:nvSpPr>
        <p:spPr>
          <a:xfrm>
            <a:off x="6684264" y="677265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41" name="TextBox 40"/>
          <p:cNvSpPr txBox="1"/>
          <p:nvPr/>
        </p:nvSpPr>
        <p:spPr>
          <a:xfrm>
            <a:off x="566928" y="676351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[30] </a:t>
            </a:r>
            <a:r>
              <a:rPr sz="800" b="0">
                <a:solidFill>
                  <a:srgbClr val="474956"/>
                </a:solidFill>
                <a:latin typeface="Diodrum Arabic"/>
                <a:ea typeface="Diodrum Arabic"/>
                <a:cs typeface="Diodrum Arabic"/>
              </a:rPr>
              <a:t>مدونة الخدمة المدنية الحديثة (مكتب مجلس الوزراء البريطاني) — Upskilling Senior Civil Servants with the Digital Excellence Programme — — 2024-09-02 — فُحص بتاريخ 2026-08-21 — [R سجل مؤسسي رسمي].</a:t>
            </a:r>
          </a:p>
        </p:txBody>
      </p:sp>
      <p:sp>
        <p:nvSpPr>
          <p:cNvPr id="42" name="TextBox 41"/>
          <p:cNvSpPr txBox="1"/>
          <p:nvPr/>
        </p:nvSpPr>
        <p:spPr>
          <a:xfrm>
            <a:off x="566928" y="704138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4"/>
              </a:rPr>
              <a:t>https://moderncivilservice.blog.gov.uk/2024/09/02/upskilling-senior-civil-servants-with-the-digital-excellence-programme/</a:t>
            </a:r>
          </a:p>
        </p:txBody>
      </p:sp>
      <p:sp>
        <p:nvSpPr>
          <p:cNvPr id="43" name="Rounded Rectangle 42"/>
          <p:cNvSpPr/>
          <p:nvPr/>
        </p:nvSpPr>
        <p:spPr>
          <a:xfrm>
            <a:off x="6684264" y="7245858"/>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44" name="TextBox 43"/>
          <p:cNvSpPr txBox="1"/>
          <p:nvPr/>
        </p:nvSpPr>
        <p:spPr>
          <a:xfrm>
            <a:off x="566928" y="723671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[31] </a:t>
            </a:r>
            <a:r>
              <a:rPr sz="800" b="0">
                <a:solidFill>
                  <a:srgbClr val="474956"/>
                </a:solidFill>
                <a:latin typeface="Diodrum Arabic"/>
                <a:ea typeface="Diodrum Arabic"/>
                <a:cs typeface="Diodrum Arabic"/>
              </a:rPr>
              <a:t>برنامج الأمم المتحدة الإنمائي (غانا) — Government of Ghana and UNDP Kick Off Ministerial AI Bootcamp — — 2025-07-25 — فُحص بتاريخ 2026-08-21 — [R سجل مؤسسي رسمي].</a:t>
            </a:r>
          </a:p>
        </p:txBody>
      </p:sp>
      <p:sp>
        <p:nvSpPr>
          <p:cNvPr id="45" name="TextBox 44"/>
          <p:cNvSpPr txBox="1"/>
          <p:nvPr/>
        </p:nvSpPr>
        <p:spPr>
          <a:xfrm>
            <a:off x="566928" y="751459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5"/>
              </a:rPr>
              <a:t>https://www.undp.org/ghana/press-releases/government-ghana-and-undp-kicks-ministerial-bootcamp-strengthen-ai-capacity-and-advance-ai-enabled-public-services</a:t>
            </a:r>
          </a:p>
        </p:txBody>
      </p:sp>
      <p:sp>
        <p:nvSpPr>
          <p:cNvPr id="46" name="Rounded Rectangle 45"/>
          <p:cNvSpPr/>
          <p:nvPr/>
        </p:nvSpPr>
        <p:spPr>
          <a:xfrm>
            <a:off x="6684264" y="7719060"/>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47" name="TextBox 46"/>
          <p:cNvSpPr txBox="1"/>
          <p:nvPr/>
        </p:nvSpPr>
        <p:spPr>
          <a:xfrm>
            <a:off x="566928" y="770991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[32] </a:t>
            </a:r>
            <a:r>
              <a:rPr sz="800" b="0">
                <a:solidFill>
                  <a:srgbClr val="474956"/>
                </a:solidFill>
                <a:latin typeface="Diodrum Arabic"/>
                <a:ea typeface="Diodrum Arabic"/>
                <a:cs typeface="Diodrum Arabic"/>
              </a:rPr>
              <a:t>الأكاديمية في جامعة محمد بن زايد للذكاء الاصطناعي — نشرة برنامج القيادة العالمي في الذكاء الاصطناعي (GAILP)، نسخة أبريل 2027 — — فُحص بتاريخ 2026-08-21 — [P إعلان مزوّد/جهة].</a:t>
            </a:r>
          </a:p>
        </p:txBody>
      </p:sp>
      <p:sp>
        <p:nvSpPr>
          <p:cNvPr id="48" name="TextBox 47"/>
          <p:cNvSpPr txBox="1"/>
          <p:nvPr/>
        </p:nvSpPr>
        <p:spPr>
          <a:xfrm>
            <a:off x="566928" y="798779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6"/>
              </a:rPr>
              <a:t>https://academy.mbzuai.ac.ae/wp-content/uploads/2026/04/GAILP-Prospectus-April-2027.pdf</a:t>
            </a:r>
          </a:p>
        </p:txBody>
      </p:sp>
      <p:sp>
        <p:nvSpPr>
          <p:cNvPr id="49" name="Rounded Rectangle 48"/>
          <p:cNvSpPr/>
          <p:nvPr/>
        </p:nvSpPr>
        <p:spPr>
          <a:xfrm>
            <a:off x="6684264" y="819226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0" name="TextBox 49"/>
          <p:cNvSpPr txBox="1"/>
          <p:nvPr/>
        </p:nvSpPr>
        <p:spPr>
          <a:xfrm>
            <a:off x="566928" y="818311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[33] </a:t>
            </a:r>
            <a:r>
              <a:rPr sz="800" b="0">
                <a:solidFill>
                  <a:srgbClr val="474956"/>
                </a:solidFill>
                <a:latin typeface="Diodrum Arabic"/>
                <a:ea typeface="Diodrum Arabic"/>
                <a:cs typeface="Diodrum Arabic"/>
              </a:rPr>
              <a:t>جامعة محمد بن زايد للذكاء الاصطناعي — عودة برنامج القيادة العالمي في الذكاء الاصطناعي بنسخة ثانية موسعة — — فُحص بتاريخ 2026-08-21 — [P إعلان مزوّد/جهة].</a:t>
            </a:r>
          </a:p>
        </p:txBody>
      </p:sp>
      <p:sp>
        <p:nvSpPr>
          <p:cNvPr id="51" name="TextBox 50"/>
          <p:cNvSpPr txBox="1"/>
          <p:nvPr/>
        </p:nvSpPr>
        <p:spPr>
          <a:xfrm>
            <a:off x="566928" y="846099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7"/>
              </a:rPr>
              <a:t>https://mbzuai.ac.ae/news/mbzuais-global-ai-leadership-program-returns-with-expanded-second-edition/</a:t>
            </a:r>
          </a:p>
        </p:txBody>
      </p:sp>
      <p:sp>
        <p:nvSpPr>
          <p:cNvPr id="52" name="Rounded Rectangle 51"/>
          <p:cNvSpPr/>
          <p:nvPr/>
        </p:nvSpPr>
        <p:spPr>
          <a:xfrm>
            <a:off x="6684264" y="866546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3" name="TextBox 52"/>
          <p:cNvSpPr txBox="1"/>
          <p:nvPr/>
        </p:nvSpPr>
        <p:spPr>
          <a:xfrm>
            <a:off x="566928" y="865632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[34] </a:t>
            </a:r>
            <a:r>
              <a:rPr sz="800" b="0">
                <a:solidFill>
                  <a:srgbClr val="474956"/>
                </a:solidFill>
                <a:latin typeface="Diodrum Arabic"/>
                <a:ea typeface="Diodrum Arabic"/>
                <a:cs typeface="Diodrum Arabic"/>
              </a:rPr>
              <a:t>جامعة محمد بن زايد للذكاء الاصطناعي — صفحة البرنامج التنفيذي (MEP) وخبر تخريج الفوج السادس — و — فُحص بتاريخ 2026-08-21 — [P إعلان مزوّد/جهة].</a:t>
            </a:r>
          </a:p>
        </p:txBody>
      </p:sp>
      <p:sp>
        <p:nvSpPr>
          <p:cNvPr id="54" name="TextBox 53"/>
          <p:cNvSpPr txBox="1"/>
          <p:nvPr/>
        </p:nvSpPr>
        <p:spPr>
          <a:xfrm>
            <a:off x="566928" y="893419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8"/>
              </a:rPr>
              <a:t>https://mbzuai.ac.ae/innovate/training-programs/mbzuai-executive-program/</a:t>
            </a:r>
          </a:p>
        </p:txBody>
      </p:sp>
      <p:sp>
        <p:nvSpPr>
          <p:cNvPr id="55" name="Rounded Rectangle 54"/>
          <p:cNvSpPr/>
          <p:nvPr/>
        </p:nvSpPr>
        <p:spPr>
          <a:xfrm>
            <a:off x="6684264" y="9138666"/>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6" name="TextBox 55"/>
          <p:cNvSpPr txBox="1"/>
          <p:nvPr/>
        </p:nvSpPr>
        <p:spPr>
          <a:xfrm>
            <a:off x="566928" y="9129522"/>
            <a:ext cx="6025896" cy="16865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[35] </a:t>
            </a:r>
            <a:r>
              <a:rPr sz="800" b="0">
                <a:solidFill>
                  <a:srgbClr val="474956"/>
                </a:solidFill>
                <a:latin typeface="Diodrum Arabic"/>
                <a:ea typeface="Diodrum Arabic"/>
                <a:cs typeface="Diodrum Arabic"/>
              </a:rPr>
              <a:t>كلية بلافاتنك للحكومة، جامعة أكسفورد — Leading AI through Co-Creation — — فُحص بتاريخ 2026-08-21 — [P إعلان مزوّد/جهة].</a:t>
            </a:r>
          </a:p>
        </p:txBody>
      </p:sp>
      <p:sp>
        <p:nvSpPr>
          <p:cNvPr id="57" name="TextBox 56"/>
          <p:cNvSpPr txBox="1"/>
          <p:nvPr/>
        </p:nvSpPr>
        <p:spPr>
          <a:xfrm>
            <a:off x="566928" y="927531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9"/>
              </a:rPr>
              <a:t>https://www.bsg.ox.ac.uk/course/leading-ai-through-co-creation</a:t>
            </a:r>
          </a:p>
        </p:txBody>
      </p:sp>
      <p:sp>
        <p:nvSpPr>
          <p:cNvPr id="58" name="Rounded Rectangle 57"/>
          <p:cNvSpPr/>
          <p:nvPr/>
        </p:nvSpPr>
        <p:spPr>
          <a:xfrm>
            <a:off x="6684264" y="9479788"/>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9" name="TextBox 58"/>
          <p:cNvSpPr txBox="1"/>
          <p:nvPr/>
        </p:nvSpPr>
        <p:spPr>
          <a:xfrm>
            <a:off x="566928" y="947064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[36] </a:t>
            </a:r>
            <a:r>
              <a:rPr sz="800" b="0">
                <a:solidFill>
                  <a:srgbClr val="474956"/>
                </a:solidFill>
                <a:latin typeface="Diodrum Arabic"/>
                <a:ea typeface="Diodrum Arabic"/>
                <a:cs typeface="Diodrum Arabic"/>
              </a:rPr>
              <a:t>كلية هارفارد كينيدي — Leading in Artificial Intelligence: Exploring Technology and Policy — — فُحص بتاريخ 2026-08-21 — [P إعلان مزوّد/جهة].</a:t>
            </a:r>
          </a:p>
        </p:txBody>
      </p:sp>
      <p:sp>
        <p:nvSpPr>
          <p:cNvPr id="60" name="TextBox 59"/>
          <p:cNvSpPr txBox="1"/>
          <p:nvPr/>
        </p:nvSpPr>
        <p:spPr>
          <a:xfrm>
            <a:off x="566928" y="974852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20"/>
              </a:rPr>
              <a:t>https://www.hks.harvard.edu/educational-programs/executive-education/leading-artificial-intelligence</a:t>
            </a:r>
          </a:p>
        </p:txBody>
      </p:sp>
      <p:sp>
        <p:nvSpPr>
          <p:cNvPr id="61" name="Rectangle 60"/>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63" name="TextBox 62"/>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المراجع — تتمة</a:t>
            </a:r>
          </a:p>
        </p:txBody>
      </p:sp>
      <p:sp>
        <p:nvSpPr>
          <p:cNvPr id="3" name="TextBox 2"/>
          <p:cNvSpPr txBox="1"/>
          <p:nvPr/>
        </p:nvSpPr>
        <p:spPr>
          <a:xfrm>
            <a:off x="566928" y="730758"/>
            <a:ext cx="6428231" cy="253745"/>
          </a:xfrm>
          <a:prstGeom prst="rect">
            <a:avLst/>
          </a:prstGeom>
          <a:noFill/>
        </p:spPr>
        <p:txBody>
          <a:bodyPr wrap="square" lIns="0" rIns="0" tIns="0" bIns="0">
            <a:spAutoFit/>
          </a:bodyPr>
          <a:lstStyle/>
          <a:p>
            <a:pPr algn="r" rtl="1">
              <a:lnSpc>
                <a:spcPts val="1709"/>
              </a:lnSpc>
            </a:pPr>
            <a:r>
              <a:rPr sz="1500" b="1">
                <a:solidFill>
                  <a:srgbClr val="232046"/>
                </a:solidFill>
                <a:latin typeface="Diodrum Arabic"/>
                <a:ea typeface="Diodrum Arabic"/>
                <a:cs typeface="Diodrum Arabic"/>
              </a:rPr>
              <a:t>مصادر الدراسة [1] – [71]</a:t>
            </a:r>
          </a:p>
        </p:txBody>
      </p:sp>
      <p:sp>
        <p:nvSpPr>
          <p:cNvPr id="4" name="Rounded Rectangle 3"/>
          <p:cNvSpPr/>
          <p:nvPr/>
        </p:nvSpPr>
        <p:spPr>
          <a:xfrm>
            <a:off x="6684264" y="109423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 name="TextBox 4"/>
          <p:cNvSpPr txBox="1"/>
          <p:nvPr/>
        </p:nvSpPr>
        <p:spPr>
          <a:xfrm>
            <a:off x="566928" y="1085088"/>
            <a:ext cx="6025896" cy="16865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[37] </a:t>
            </a:r>
            <a:r>
              <a:rPr sz="800" b="0">
                <a:solidFill>
                  <a:srgbClr val="474956"/>
                </a:solidFill>
                <a:latin typeface="Diodrum Arabic"/>
                <a:ea typeface="Diodrum Arabic"/>
                <a:cs typeface="Diodrum Arabic"/>
              </a:rPr>
              <a:t>إمبريال كوليدج لندن، منتدى السياسات — AI Policy Fellowship — — فُحص بتاريخ 2026-08-21 — [P إعلان مزوّد/جهة].</a:t>
            </a:r>
          </a:p>
        </p:txBody>
      </p:sp>
      <p:sp>
        <p:nvSpPr>
          <p:cNvPr id="6" name="TextBox 5"/>
          <p:cNvSpPr txBox="1"/>
          <p:nvPr/>
        </p:nvSpPr>
        <p:spPr>
          <a:xfrm>
            <a:off x="566928" y="123088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2"/>
              </a:rPr>
              <a:t>https://www.imperial.ac.uk/research-and-innovation/the-forum/courses-for-policymakers/fellowships/</a:t>
            </a:r>
          </a:p>
        </p:txBody>
      </p:sp>
      <p:sp>
        <p:nvSpPr>
          <p:cNvPr id="7" name="Rounded Rectangle 6"/>
          <p:cNvSpPr/>
          <p:nvPr/>
        </p:nvSpPr>
        <p:spPr>
          <a:xfrm>
            <a:off x="6684264" y="143535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8" name="TextBox 7"/>
          <p:cNvSpPr txBox="1"/>
          <p:nvPr/>
        </p:nvSpPr>
        <p:spPr>
          <a:xfrm>
            <a:off x="566928" y="142621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[38] </a:t>
            </a:r>
            <a:r>
              <a:rPr sz="800" b="0">
                <a:solidFill>
                  <a:srgbClr val="474956"/>
                </a:solidFill>
                <a:latin typeface="Diodrum Arabic"/>
                <a:ea typeface="Diodrum Arabic"/>
                <a:cs typeface="Diodrum Arabic"/>
              </a:rPr>
              <a:t>مدونة إمبريال كوليدج لندن — From Theory to Practice: How 20 Civil Servants Are Building AI Capability Across Government — — 2025-10-21 — فُحص بتاريخ 2026-08-21 — [P إعلان مزوّد/جهة].</a:t>
            </a:r>
          </a:p>
        </p:txBody>
      </p:sp>
      <p:sp>
        <p:nvSpPr>
          <p:cNvPr id="9" name="TextBox 8"/>
          <p:cNvSpPr txBox="1"/>
          <p:nvPr/>
        </p:nvSpPr>
        <p:spPr>
          <a:xfrm>
            <a:off x="566928" y="170408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3"/>
              </a:rPr>
              <a:t>https://blogs.imperial.ac.uk/the-forum/2025/10/21/from-theory-to-practice-how-20-civil-servants-are-building-ai-capability-across-government/</a:t>
            </a:r>
          </a:p>
        </p:txBody>
      </p:sp>
      <p:sp>
        <p:nvSpPr>
          <p:cNvPr id="10" name="Rounded Rectangle 9"/>
          <p:cNvSpPr/>
          <p:nvPr/>
        </p:nvSpPr>
        <p:spPr>
          <a:xfrm>
            <a:off x="6684264" y="1908555"/>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11" name="TextBox 10"/>
          <p:cNvSpPr txBox="1"/>
          <p:nvPr/>
        </p:nvSpPr>
        <p:spPr>
          <a:xfrm>
            <a:off x="566928" y="189941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[39] </a:t>
            </a:r>
            <a:r>
              <a:rPr sz="800" b="0">
                <a:solidFill>
                  <a:srgbClr val="474956"/>
                </a:solidFill>
                <a:latin typeface="Diodrum Arabic"/>
                <a:ea typeface="Diodrum Arabic"/>
                <a:cs typeface="Diodrum Arabic"/>
              </a:rPr>
              <a:t>Gradia — Open-Enrollment vs Custom Executive Education (دليل سوق: غياب بطاقات الأسعار المنشورة للبرامج المخصصة والحد الأدنى للفوج) — — فُحص بتاريخ 2026-08-21 — [N تغطية صحفية معتبرة].</a:t>
            </a:r>
          </a:p>
        </p:txBody>
      </p:sp>
      <p:sp>
        <p:nvSpPr>
          <p:cNvPr id="12" name="TextBox 11"/>
          <p:cNvSpPr txBox="1"/>
          <p:nvPr/>
        </p:nvSpPr>
        <p:spPr>
          <a:xfrm>
            <a:off x="566928" y="217728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4"/>
              </a:rPr>
              <a:t>https://www.gogradia.com/guides/open-enrollment-vs-custom-executive-education</a:t>
            </a:r>
          </a:p>
        </p:txBody>
      </p:sp>
      <p:sp>
        <p:nvSpPr>
          <p:cNvPr id="13" name="Rounded Rectangle 12"/>
          <p:cNvSpPr/>
          <p:nvPr/>
        </p:nvSpPr>
        <p:spPr>
          <a:xfrm>
            <a:off x="6684264" y="2381758"/>
            <a:ext cx="310896" cy="173736"/>
          </a:xfrm>
          <a:prstGeom prst="roundRect">
            <a:avLst>
              <a:gd name="adj" fmla="val 26315"/>
            </a:avLst>
          </a:prstGeom>
          <a:solidFill>
            <a:srgbClr val="1CC18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E</a:t>
            </a:r>
          </a:p>
        </p:txBody>
      </p:sp>
      <p:sp>
        <p:nvSpPr>
          <p:cNvPr id="14" name="TextBox 13"/>
          <p:cNvSpPr txBox="1"/>
          <p:nvPr/>
        </p:nvSpPr>
        <p:spPr>
          <a:xfrm>
            <a:off x="566928" y="237261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[40] </a:t>
            </a:r>
            <a:r>
              <a:rPr sz="800" b="0">
                <a:solidFill>
                  <a:srgbClr val="474956"/>
                </a:solidFill>
                <a:latin typeface="Diodrum Arabic"/>
                <a:ea typeface="Diodrum Arabic"/>
                <a:cs typeface="Diodrum Arabic"/>
              </a:rPr>
              <a:t>ICF (المُقيّم المكلف من مكتب مجلس الوزراء البريطاني) — Helping the UK Civil Service Evaluate Its Digital Excellence Programme — — بلا تاريخ نشر معلن — فُحص بتاريخ 2026-08-21 — [E تقييم مستقل].</a:t>
            </a:r>
          </a:p>
        </p:txBody>
      </p:sp>
      <p:sp>
        <p:nvSpPr>
          <p:cNvPr id="15" name="TextBox 14"/>
          <p:cNvSpPr txBox="1"/>
          <p:nvPr/>
        </p:nvSpPr>
        <p:spPr>
          <a:xfrm>
            <a:off x="566928" y="265049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5"/>
              </a:rPr>
              <a:t>https://www.icf.com/clients/workforce/uk-civil-service-digital-excellence-programme-evaluation</a:t>
            </a:r>
          </a:p>
        </p:txBody>
      </p:sp>
      <p:sp>
        <p:nvSpPr>
          <p:cNvPr id="16" name="Rounded Rectangle 15"/>
          <p:cNvSpPr/>
          <p:nvPr/>
        </p:nvSpPr>
        <p:spPr>
          <a:xfrm>
            <a:off x="6684264" y="285496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17" name="TextBox 16"/>
          <p:cNvSpPr txBox="1"/>
          <p:nvPr/>
        </p:nvSpPr>
        <p:spPr>
          <a:xfrm>
            <a:off x="566928" y="284581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[41] </a:t>
            </a:r>
            <a:r>
              <a:rPr sz="800" b="0">
                <a:solidFill>
                  <a:srgbClr val="474956"/>
                </a:solidFill>
                <a:latin typeface="Diodrum Arabic"/>
                <a:ea typeface="Diodrum Arabic"/>
                <a:cs typeface="Diodrum Arabic"/>
              </a:rPr>
              <a:t>المكتب الصحفي للحكومة الهندية (PIB) — إجابة مكتوبة أمام لوك سابها: «رسالة كارمايوغي وبناء القدرات الرقمية عبر منصة iGOT» — — 2026-08-05 — فُحص بتاريخ 2026-08-21 — [R سجل مؤسسي رسمي].</a:t>
            </a:r>
          </a:p>
        </p:txBody>
      </p:sp>
      <p:sp>
        <p:nvSpPr>
          <p:cNvPr id="18" name="TextBox 17"/>
          <p:cNvSpPr txBox="1"/>
          <p:nvPr/>
        </p:nvSpPr>
        <p:spPr>
          <a:xfrm>
            <a:off x="566928" y="312369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6"/>
              </a:rPr>
              <a:t>https://www.pib.gov.in/PressReleasePage.aspx?PRID=2294777&amp;reg=22&amp;lang=1</a:t>
            </a:r>
          </a:p>
        </p:txBody>
      </p:sp>
      <p:sp>
        <p:nvSpPr>
          <p:cNvPr id="19" name="Rounded Rectangle 18"/>
          <p:cNvSpPr/>
          <p:nvPr/>
        </p:nvSpPr>
        <p:spPr>
          <a:xfrm>
            <a:off x="6684264" y="3328162"/>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20" name="TextBox 19"/>
          <p:cNvSpPr txBox="1"/>
          <p:nvPr/>
        </p:nvSpPr>
        <p:spPr>
          <a:xfrm>
            <a:off x="566928" y="331901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[42] </a:t>
            </a:r>
            <a:r>
              <a:rPr sz="800" b="0">
                <a:solidFill>
                  <a:srgbClr val="474956"/>
                </a:solidFill>
                <a:latin typeface="Diodrum Arabic"/>
                <a:ea typeface="Diodrum Arabic"/>
                <a:cs typeface="Diodrum Arabic"/>
              </a:rPr>
              <a:t>وكالة كابار (عن وزارة الذكاء الاصطناعي والتنمية الرقمية الكازاخية) — «كازاخستان تبدأ تدريب الفوج الأول من مسؤولي الذكاء الاصطناعي للقطاع العام» — — 2026-01-20 — فُحص بتاريخ 2026-08-21 — [N تغطية صحفية معتبرة].</a:t>
            </a:r>
          </a:p>
        </p:txBody>
      </p:sp>
      <p:sp>
        <p:nvSpPr>
          <p:cNvPr id="21" name="TextBox 20"/>
          <p:cNvSpPr txBox="1"/>
          <p:nvPr/>
        </p:nvSpPr>
        <p:spPr>
          <a:xfrm>
            <a:off x="566928" y="359689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7"/>
              </a:rPr>
              <a:t>https://en.kabar.kg/news/kazakhstan-starts-training-1st-cohort-of-ai-officers-for-public-sector/</a:t>
            </a:r>
          </a:p>
        </p:txBody>
      </p:sp>
      <p:sp>
        <p:nvSpPr>
          <p:cNvPr id="22" name="Rounded Rectangle 21"/>
          <p:cNvSpPr/>
          <p:nvPr/>
        </p:nvSpPr>
        <p:spPr>
          <a:xfrm>
            <a:off x="6684264" y="380136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3" name="TextBox 22"/>
          <p:cNvSpPr txBox="1"/>
          <p:nvPr/>
        </p:nvSpPr>
        <p:spPr>
          <a:xfrm>
            <a:off x="566928" y="379222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[43] </a:t>
            </a:r>
            <a:r>
              <a:rPr sz="800" b="0">
                <a:solidFill>
                  <a:srgbClr val="474956"/>
                </a:solidFill>
                <a:latin typeface="Diodrum Arabic"/>
                <a:ea typeface="Diodrum Arabic"/>
                <a:cs typeface="Diodrum Arabic"/>
              </a:rPr>
              <a:t>EgyptInnovate (المنصة الرسمية لوزارة الاتصالات وتقنية المعلومات المصرية) — «إطلاق المبادرة الوطنية للذكاء الاصطناعي لقادة الجهات الحكومية بالشراكة مع الأكاديمية الوطنية للتدريب» — — 2026-06-18 — فُحص بتاريخ 2026-08-21 — [P إعلان مزوّد/جهة].</a:t>
            </a:r>
          </a:p>
        </p:txBody>
      </p:sp>
      <p:sp>
        <p:nvSpPr>
          <p:cNvPr id="24" name="TextBox 23"/>
          <p:cNvSpPr txBox="1"/>
          <p:nvPr/>
        </p:nvSpPr>
        <p:spPr>
          <a:xfrm>
            <a:off x="566928" y="407009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8"/>
              </a:rPr>
              <a:t>https://egyptinnovate.com/en/news/mcit-nta-co-launch-ai-for-government-organization-leaders-national-initiative</a:t>
            </a:r>
          </a:p>
        </p:txBody>
      </p:sp>
      <p:sp>
        <p:nvSpPr>
          <p:cNvPr id="25" name="Rounded Rectangle 24"/>
          <p:cNvSpPr/>
          <p:nvPr/>
        </p:nvSpPr>
        <p:spPr>
          <a:xfrm>
            <a:off x="6684264" y="427456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26" name="TextBox 25"/>
          <p:cNvSpPr txBox="1"/>
          <p:nvPr/>
        </p:nvSpPr>
        <p:spPr>
          <a:xfrm>
            <a:off x="566928" y="426542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[44] </a:t>
            </a:r>
            <a:r>
              <a:rPr sz="800" b="0">
                <a:solidFill>
                  <a:srgbClr val="474956"/>
                </a:solidFill>
                <a:latin typeface="Diodrum Arabic"/>
                <a:ea typeface="Diodrum Arabic"/>
                <a:cs typeface="Diodrum Arabic"/>
              </a:rPr>
              <a:t>وكالة التحول الرقمي الأسترالية (digital.gov.au) — «توجيه تدريب الموظفين على الذكاء الاصطناعي (الإصدار 2.0)» — — 2025-08-25 — فُحص بتاريخ 2026-08-21 — [R سجل مؤسسي رسمي].</a:t>
            </a:r>
          </a:p>
        </p:txBody>
      </p:sp>
      <p:sp>
        <p:nvSpPr>
          <p:cNvPr id="27" name="TextBox 26"/>
          <p:cNvSpPr txBox="1"/>
          <p:nvPr/>
        </p:nvSpPr>
        <p:spPr>
          <a:xfrm>
            <a:off x="566928" y="454329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9"/>
              </a:rPr>
              <a:t>https://www.digital.gov.au/ai/ai-in-government-policy/staff-training</a:t>
            </a:r>
          </a:p>
        </p:txBody>
      </p:sp>
      <p:sp>
        <p:nvSpPr>
          <p:cNvPr id="28" name="Rounded Rectangle 27"/>
          <p:cNvSpPr/>
          <p:nvPr/>
        </p:nvSpPr>
        <p:spPr>
          <a:xfrm>
            <a:off x="6684264" y="4747768"/>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9" name="TextBox 28"/>
          <p:cNvSpPr txBox="1"/>
          <p:nvPr/>
        </p:nvSpPr>
        <p:spPr>
          <a:xfrm>
            <a:off x="566928" y="473862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[45] </a:t>
            </a:r>
            <a:r>
              <a:rPr sz="800" b="0">
                <a:solidFill>
                  <a:srgbClr val="474956"/>
                </a:solidFill>
                <a:latin typeface="Diodrum Arabic"/>
                <a:ea typeface="Diodrum Arabic"/>
                <a:cs typeface="Diodrum Arabic"/>
              </a:rPr>
              <a:t>الإدارة العامة للتحول الرقمي (DINUM، فرنسا) — «الدولة تطلق منظومة Pix للوظيفة العامة» — — 2025 — فُحص بتاريخ 2026-08-21 — [P إعلان مزوّد/جهة].</a:t>
            </a:r>
          </a:p>
        </p:txBody>
      </p:sp>
      <p:sp>
        <p:nvSpPr>
          <p:cNvPr id="30" name="TextBox 29"/>
          <p:cNvSpPr txBox="1"/>
          <p:nvPr/>
        </p:nvSpPr>
        <p:spPr>
          <a:xfrm>
            <a:off x="566928" y="501650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0"/>
              </a:rPr>
              <a:t>https://numerique.gouv.fr/sinformer/espace-presse/formation-des-agents-publics-au-num%C3%A9rique--l%C3%A9tat-lance-le-dispositif-pix-pour-la-fonction-publique-d%C3%A9tat/</a:t>
            </a:r>
          </a:p>
        </p:txBody>
      </p:sp>
      <p:sp>
        <p:nvSpPr>
          <p:cNvPr id="31" name="Rounded Rectangle 30"/>
          <p:cNvSpPr/>
          <p:nvPr/>
        </p:nvSpPr>
        <p:spPr>
          <a:xfrm>
            <a:off x="6684264" y="522097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2" name="TextBox 31"/>
          <p:cNvSpPr txBox="1"/>
          <p:nvPr/>
        </p:nvSpPr>
        <p:spPr>
          <a:xfrm>
            <a:off x="566928" y="5211826"/>
            <a:ext cx="6025896" cy="43281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[46] </a:t>
            </a:r>
            <a:r>
              <a:rPr sz="800" b="0">
                <a:solidFill>
                  <a:srgbClr val="474956"/>
                </a:solidFill>
                <a:latin typeface="Diodrum Arabic"/>
                <a:ea typeface="Diodrum Arabic"/>
                <a:cs typeface="Diodrum Arabic"/>
              </a:rPr>
              <a:t>شروح قانونية للمادة 4 من قانون الذكاء الاصطناعي الأوروبي — «Lexara Advisory: Article 4 AI Literacy — In Force Since Feb 2025» — (محدث 2026-05-08) و«Travers Smith: The EU AI Act's AI Literacy Requirement» — (2025-07-29) — فُحص بتاريخ 2026-08-21 — [R سجل مؤسسي رسمي].</a:t>
            </a:r>
          </a:p>
        </p:txBody>
      </p:sp>
      <p:sp>
        <p:nvSpPr>
          <p:cNvPr id="33" name="TextBox 32"/>
          <p:cNvSpPr txBox="1"/>
          <p:nvPr/>
        </p:nvSpPr>
        <p:spPr>
          <a:xfrm>
            <a:off x="566928" y="562178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1"/>
              </a:rPr>
              <a:t>https://lexaraadvisory.com/article-4-ai-literacy-obligation.html</a:t>
            </a:r>
          </a:p>
        </p:txBody>
      </p:sp>
      <p:sp>
        <p:nvSpPr>
          <p:cNvPr id="34" name="Rounded Rectangle 33"/>
          <p:cNvSpPr/>
          <p:nvPr/>
        </p:nvSpPr>
        <p:spPr>
          <a:xfrm>
            <a:off x="6684264" y="5826252"/>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35" name="TextBox 34"/>
          <p:cNvSpPr txBox="1"/>
          <p:nvPr/>
        </p:nvSpPr>
        <p:spPr>
          <a:xfrm>
            <a:off x="566928" y="581710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[47] </a:t>
            </a:r>
            <a:r>
              <a:rPr sz="800" b="0">
                <a:solidFill>
                  <a:srgbClr val="474956"/>
                </a:solidFill>
                <a:latin typeface="Diodrum Arabic"/>
                <a:ea typeface="Diodrum Arabic"/>
                <a:cs typeface="Diodrum Arabic"/>
              </a:rPr>
              <a:t>Global Government Forum — «الإمارات تطلق برنامج تدريب مسؤولي الذكاء الاصطناعي الرئيسيين» — — 2025-06-09 — فُحص بتاريخ 2026-08-21 — [N تغطية صحفية معتبرة].</a:t>
            </a:r>
          </a:p>
        </p:txBody>
      </p:sp>
      <p:sp>
        <p:nvSpPr>
          <p:cNvPr id="36" name="TextBox 35"/>
          <p:cNvSpPr txBox="1"/>
          <p:nvPr/>
        </p:nvSpPr>
        <p:spPr>
          <a:xfrm>
            <a:off x="566928" y="609498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2"/>
              </a:rPr>
              <a:t>https://www.globalgovernmentforum.com/united-arab-emirates-launches-training-programme-for-chief-ai-officers/</a:t>
            </a:r>
          </a:p>
        </p:txBody>
      </p:sp>
      <p:sp>
        <p:nvSpPr>
          <p:cNvPr id="37" name="Rounded Rectangle 36"/>
          <p:cNvSpPr/>
          <p:nvPr/>
        </p:nvSpPr>
        <p:spPr>
          <a:xfrm>
            <a:off x="6684264" y="629945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38" name="TextBox 37"/>
          <p:cNvSpPr txBox="1"/>
          <p:nvPr/>
        </p:nvSpPr>
        <p:spPr>
          <a:xfrm>
            <a:off x="566928" y="629031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[48] </a:t>
            </a:r>
            <a:r>
              <a:rPr sz="800" b="0">
                <a:solidFill>
                  <a:srgbClr val="474956"/>
                </a:solidFill>
                <a:latin typeface="Diodrum Arabic"/>
                <a:ea typeface="Diodrum Arabic"/>
                <a:cs typeface="Diodrum Arabic"/>
              </a:rPr>
              <a:t>Apolitical — «تقرير الحرم الحكومي للذكاء الاصطناعي قيد العمل» (قرار الإمارات إلزام مقرر لعموم موظفيها الاتحاديين) — — 2025-07-07 — فُحص بتاريخ 2026-08-21 — [P إعلان مزوّد/جهة].</a:t>
            </a:r>
          </a:p>
        </p:txBody>
      </p:sp>
      <p:sp>
        <p:nvSpPr>
          <p:cNvPr id="39" name="TextBox 38"/>
          <p:cNvSpPr txBox="1"/>
          <p:nvPr/>
        </p:nvSpPr>
        <p:spPr>
          <a:xfrm>
            <a:off x="566928" y="656818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3"/>
              </a:rPr>
              <a:t>https://apolitical.co/en/pages/apolitical-releases-new-learnings-report-from-training-public-servants-for-ai-governance</a:t>
            </a:r>
          </a:p>
        </p:txBody>
      </p:sp>
      <p:sp>
        <p:nvSpPr>
          <p:cNvPr id="40" name="Rounded Rectangle 39"/>
          <p:cNvSpPr/>
          <p:nvPr/>
        </p:nvSpPr>
        <p:spPr>
          <a:xfrm>
            <a:off x="6684264" y="677265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41" name="TextBox 40"/>
          <p:cNvSpPr txBox="1"/>
          <p:nvPr/>
        </p:nvSpPr>
        <p:spPr>
          <a:xfrm>
            <a:off x="566928" y="676351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[49] </a:t>
            </a:r>
            <a:r>
              <a:rPr sz="800" b="0">
                <a:solidFill>
                  <a:srgbClr val="474956"/>
                </a:solidFill>
                <a:latin typeface="Diodrum Arabic"/>
                <a:ea typeface="Diodrum Arabic"/>
                <a:cs typeface="Diodrum Arabic"/>
              </a:rPr>
              <a:t>مدونة الخدمة المدنية الحديثة — «شيء واحد كبير: الذكاء الاصطناعي للجميع» — — 2025-10-14 — فُحص بتاريخ 2026-08-21 — [R سجل مؤسسي رسمي].</a:t>
            </a:r>
          </a:p>
        </p:txBody>
      </p:sp>
      <p:sp>
        <p:nvSpPr>
          <p:cNvPr id="42" name="TextBox 41"/>
          <p:cNvSpPr txBox="1"/>
          <p:nvPr/>
        </p:nvSpPr>
        <p:spPr>
          <a:xfrm>
            <a:off x="566928" y="704138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4"/>
              </a:rPr>
              <a:t>https://moderncivilservice.blog.gov.uk/2025/10/14/one-big-thing-ai-for-all-is-live/</a:t>
            </a:r>
          </a:p>
        </p:txBody>
      </p:sp>
      <p:sp>
        <p:nvSpPr>
          <p:cNvPr id="43" name="Rounded Rectangle 42"/>
          <p:cNvSpPr/>
          <p:nvPr/>
        </p:nvSpPr>
        <p:spPr>
          <a:xfrm>
            <a:off x="6684264" y="7245858"/>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44" name="TextBox 43"/>
          <p:cNvSpPr txBox="1"/>
          <p:nvPr/>
        </p:nvSpPr>
        <p:spPr>
          <a:xfrm>
            <a:off x="566928" y="723671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[50] </a:t>
            </a:r>
            <a:r>
              <a:rPr sz="800" b="0">
                <a:solidFill>
                  <a:srgbClr val="474956"/>
                </a:solidFill>
                <a:latin typeface="Diodrum Arabic"/>
                <a:ea typeface="Diodrum Arabic"/>
                <a:cs typeface="Diodrum Arabic"/>
              </a:rPr>
              <a:t>Ecofin Agency — «رواندا تلزم جميع موظفي الخدمة المدنية بالتدريب على الذكاء الاصطناعي» — — 2026-01-13 — فُحص بتاريخ 2026-08-21 — [N تغطية صحفية معتبرة].</a:t>
            </a:r>
          </a:p>
        </p:txBody>
      </p:sp>
      <p:sp>
        <p:nvSpPr>
          <p:cNvPr id="45" name="TextBox 44"/>
          <p:cNvSpPr txBox="1"/>
          <p:nvPr/>
        </p:nvSpPr>
        <p:spPr>
          <a:xfrm>
            <a:off x="566928" y="751459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5"/>
              </a:rPr>
              <a:t>https://www.ecofinagency.com/news-digital/1301-51886-rwanda-rolls-out-mandatory-ai-training-for-all-civil-servants</a:t>
            </a:r>
          </a:p>
        </p:txBody>
      </p:sp>
      <p:sp>
        <p:nvSpPr>
          <p:cNvPr id="46" name="Rounded Rectangle 45"/>
          <p:cNvSpPr/>
          <p:nvPr/>
        </p:nvSpPr>
        <p:spPr>
          <a:xfrm>
            <a:off x="6684264" y="7719060"/>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47" name="TextBox 46"/>
          <p:cNvSpPr txBox="1"/>
          <p:nvPr/>
        </p:nvSpPr>
        <p:spPr>
          <a:xfrm>
            <a:off x="566928" y="770991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[51] </a:t>
            </a:r>
            <a:r>
              <a:rPr sz="800" b="0">
                <a:solidFill>
                  <a:srgbClr val="474956"/>
                </a:solidFill>
                <a:latin typeface="Diodrum Arabic"/>
                <a:ea typeface="Diodrum Arabic"/>
                <a:cs typeface="Diodrum Arabic"/>
              </a:rPr>
              <a:t>حكم تحليلي للدراسة — غياب أدلة الأثر المنشورة على جودة القرار والأداء المؤسسي، وعدم إثبات فاعلية نموذج واحد للمستويات الأربعة (تركيب أدلة أقسام 3.2 إلى 3.4) — لا ينطبق رابط خارجي — فُحص بتاريخ 2026-08-21 — [J حكم تحليلي].</a:t>
            </a:r>
          </a:p>
        </p:txBody>
      </p:sp>
      <p:sp>
        <p:nvSpPr>
          <p:cNvPr id="48" name="Rounded Rectangle 47"/>
          <p:cNvSpPr/>
          <p:nvPr/>
        </p:nvSpPr>
        <p:spPr>
          <a:xfrm>
            <a:off x="6684264" y="806551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49" name="TextBox 48"/>
          <p:cNvSpPr txBox="1"/>
          <p:nvPr/>
        </p:nvSpPr>
        <p:spPr>
          <a:xfrm>
            <a:off x="566928" y="805637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[52] </a:t>
            </a:r>
            <a:r>
              <a:rPr sz="800" b="0">
                <a:solidFill>
                  <a:srgbClr val="474956"/>
                </a:solidFill>
                <a:latin typeface="Diodrum Arabic"/>
                <a:ea typeface="Diodrum Arabic"/>
                <a:cs typeface="Diodrum Arabic"/>
              </a:rPr>
              <a:t>وكالة الأنباء السعودية (واس) — «سدايا تقود حراك التطوير لتمكين القدرات الوطنية في البيانات والذكاء الاصطناعي» — — 2026-06-15 — فُحص بتاريخ 2026-08-21 — [R سجل مؤسسي رسمي].</a:t>
            </a:r>
          </a:p>
        </p:txBody>
      </p:sp>
      <p:sp>
        <p:nvSpPr>
          <p:cNvPr id="50" name="TextBox 49"/>
          <p:cNvSpPr txBox="1"/>
          <p:nvPr/>
        </p:nvSpPr>
        <p:spPr>
          <a:xfrm>
            <a:off x="566928" y="833424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6"/>
              </a:rPr>
              <a:t>https://www.spa.gov.sa/en/N2612574</a:t>
            </a:r>
          </a:p>
        </p:txBody>
      </p:sp>
      <p:sp>
        <p:nvSpPr>
          <p:cNvPr id="51" name="Rounded Rectangle 50"/>
          <p:cNvSpPr/>
          <p:nvPr/>
        </p:nvSpPr>
        <p:spPr>
          <a:xfrm>
            <a:off x="6684264" y="8538718"/>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52" name="TextBox 51"/>
          <p:cNvSpPr txBox="1"/>
          <p:nvPr/>
        </p:nvSpPr>
        <p:spPr>
          <a:xfrm>
            <a:off x="566928" y="852957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[53] </a:t>
            </a:r>
            <a:r>
              <a:rPr sz="800" b="0">
                <a:solidFill>
                  <a:srgbClr val="474956"/>
                </a:solidFill>
                <a:latin typeface="Diodrum Arabic"/>
                <a:ea typeface="Diodrum Arabic"/>
                <a:cs typeface="Diodrum Arabic"/>
              </a:rPr>
              <a:t>وكالة الأنباء السعودية (واس) — «سدايا تدرب أكثر من 779 ألف مواطن وتؤهل 260 خبيراً وتمكّن 80 قائداً حكومياً في البيانات والذكاء الاصطناعي» — — 2025-05-05 — فُحص بتاريخ 2026-08-21 — [R سجل مؤسسي رسمي].</a:t>
            </a:r>
          </a:p>
        </p:txBody>
      </p:sp>
      <p:sp>
        <p:nvSpPr>
          <p:cNvPr id="53" name="TextBox 52"/>
          <p:cNvSpPr txBox="1"/>
          <p:nvPr/>
        </p:nvSpPr>
        <p:spPr>
          <a:xfrm>
            <a:off x="566928" y="880745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7"/>
              </a:rPr>
              <a:t>https://www.spa.gov.sa/en/N2311819</a:t>
            </a:r>
          </a:p>
        </p:txBody>
      </p:sp>
      <p:sp>
        <p:nvSpPr>
          <p:cNvPr id="54" name="Rounded Rectangle 53"/>
          <p:cNvSpPr/>
          <p:nvPr/>
        </p:nvSpPr>
        <p:spPr>
          <a:xfrm>
            <a:off x="6684264" y="901192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55" name="TextBox 54"/>
          <p:cNvSpPr txBox="1"/>
          <p:nvPr/>
        </p:nvSpPr>
        <p:spPr>
          <a:xfrm>
            <a:off x="566928" y="900277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[54] </a:t>
            </a:r>
            <a:r>
              <a:rPr sz="800" b="0">
                <a:solidFill>
                  <a:srgbClr val="474956"/>
                </a:solidFill>
                <a:latin typeface="Diodrum Arabic"/>
                <a:ea typeface="Diodrum Arabic"/>
                <a:cs typeface="Diodrum Arabic"/>
              </a:rPr>
              <a:t>سعوديبيديا — «برنامج تنمية القدرات الحكومية الرقمية (قدراتك)» — — انطلق في 10 أكتوبر 2021 — فُحص بتاريخ 2026-08-21 — [R سجل مؤسسي رسمي].</a:t>
            </a:r>
          </a:p>
        </p:txBody>
      </p:sp>
      <p:sp>
        <p:nvSpPr>
          <p:cNvPr id="56" name="TextBox 55"/>
          <p:cNvSpPr txBox="1"/>
          <p:nvPr/>
        </p:nvSpPr>
        <p:spPr>
          <a:xfrm>
            <a:off x="566928" y="928065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8"/>
              </a:rPr>
              <a:t>https://saudipedia.com/en/digital-government-capacity-development-program</a:t>
            </a:r>
          </a:p>
        </p:txBody>
      </p:sp>
      <p:sp>
        <p:nvSpPr>
          <p:cNvPr id="57" name="Rounded Rectangle 56"/>
          <p:cNvSpPr/>
          <p:nvPr/>
        </p:nvSpPr>
        <p:spPr>
          <a:xfrm>
            <a:off x="6684264" y="9485121"/>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58" name="TextBox 57"/>
          <p:cNvSpPr txBox="1"/>
          <p:nvPr/>
        </p:nvSpPr>
        <p:spPr>
          <a:xfrm>
            <a:off x="566928" y="947597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[55] </a:t>
            </a:r>
            <a:r>
              <a:rPr sz="800" b="0">
                <a:solidFill>
                  <a:srgbClr val="474956"/>
                </a:solidFill>
                <a:latin typeface="Diodrum Arabic"/>
                <a:ea typeface="Diodrum Arabic"/>
                <a:cs typeface="Diodrum Arabic"/>
              </a:rPr>
              <a:t>وكالة الأنباء السعودية (واس) — «سدايا تشارك في برنامج بجامعة ستانفورد لتعزيز القيادة العالمية في الذكاء الاصطناعي» — — 2025-11-19 — فُحص بتاريخ 2026-08-21 — [R سجل مؤسسي رسمي].</a:t>
            </a:r>
          </a:p>
        </p:txBody>
      </p:sp>
      <p:sp>
        <p:nvSpPr>
          <p:cNvPr id="59" name="TextBox 58"/>
          <p:cNvSpPr txBox="1"/>
          <p:nvPr/>
        </p:nvSpPr>
        <p:spPr>
          <a:xfrm>
            <a:off x="566928" y="9753853"/>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9"/>
              </a:rPr>
              <a:t>https://www.spa.gov.sa/en/N2447957</a:t>
            </a:r>
          </a:p>
        </p:txBody>
      </p:sp>
      <p:sp>
        <p:nvSpPr>
          <p:cNvPr id="60" name="Rectangle 59"/>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62" name="TextBox 61"/>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02920"/>
            <a:ext cx="6428231" cy="191262"/>
          </a:xfrm>
          <a:prstGeom prst="rect">
            <a:avLst/>
          </a:prstGeom>
          <a:noFill/>
        </p:spPr>
        <p:txBody>
          <a:bodyPr wrap="square" lIns="0" rIns="0" tIns="0" bIns="0">
            <a:spAutoFit/>
          </a:bodyPr>
          <a:lstStyle/>
          <a:p>
            <a:pPr algn="r" rtl="1">
              <a:lnSpc>
                <a:spcPts val="1218"/>
              </a:lnSpc>
            </a:pPr>
            <a:r>
              <a:rPr sz="1050" b="0">
                <a:solidFill>
                  <a:srgbClr val="7C32C9"/>
                </a:solidFill>
                <a:latin typeface="Diodrum Arabic SemiBold"/>
                <a:ea typeface="Diodrum Arabic SemiBold"/>
                <a:cs typeface="Diodrum Arabic SemiBold"/>
              </a:rPr>
              <a:t>المراجع — تتمة</a:t>
            </a:r>
          </a:p>
        </p:txBody>
      </p:sp>
      <p:sp>
        <p:nvSpPr>
          <p:cNvPr id="3" name="TextBox 2"/>
          <p:cNvSpPr txBox="1"/>
          <p:nvPr/>
        </p:nvSpPr>
        <p:spPr>
          <a:xfrm>
            <a:off x="566928" y="730758"/>
            <a:ext cx="6428231" cy="253745"/>
          </a:xfrm>
          <a:prstGeom prst="rect">
            <a:avLst/>
          </a:prstGeom>
          <a:noFill/>
        </p:spPr>
        <p:txBody>
          <a:bodyPr wrap="square" lIns="0" rIns="0" tIns="0" bIns="0">
            <a:spAutoFit/>
          </a:bodyPr>
          <a:lstStyle/>
          <a:p>
            <a:pPr algn="r" rtl="1">
              <a:lnSpc>
                <a:spcPts val="1709"/>
              </a:lnSpc>
            </a:pPr>
            <a:r>
              <a:rPr sz="1500" b="1">
                <a:solidFill>
                  <a:srgbClr val="232046"/>
                </a:solidFill>
                <a:latin typeface="Diodrum Arabic"/>
                <a:ea typeface="Diodrum Arabic"/>
                <a:cs typeface="Diodrum Arabic"/>
              </a:rPr>
              <a:t>مصادر الدراسة [1] – [71]</a:t>
            </a:r>
          </a:p>
        </p:txBody>
      </p:sp>
      <p:sp>
        <p:nvSpPr>
          <p:cNvPr id="4" name="Rounded Rectangle 3"/>
          <p:cNvSpPr/>
          <p:nvPr/>
        </p:nvSpPr>
        <p:spPr>
          <a:xfrm>
            <a:off x="6684264" y="109423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5" name="TextBox 4"/>
          <p:cNvSpPr txBox="1"/>
          <p:nvPr/>
        </p:nvSpPr>
        <p:spPr>
          <a:xfrm>
            <a:off x="566928" y="108508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[56] </a:t>
            </a:r>
            <a:r>
              <a:rPr sz="800" b="0">
                <a:solidFill>
                  <a:srgbClr val="474956"/>
                </a:solidFill>
                <a:latin typeface="Diodrum Arabic"/>
                <a:ea typeface="Diodrum Arabic"/>
                <a:cs typeface="Diodrum Arabic"/>
              </a:rPr>
              <a:t>شركة رناد المجد التجارية — «ختام برنامج الذكاء الاصطناعي للقيادات وصناع القرار (نسخة استضافة جامعة الملك سعود)» — — 2026-04-16 — فُحص بتاريخ 2026-08-21 — [P إعلان مزوّد/جهة].</a:t>
            </a:r>
          </a:p>
        </p:txBody>
      </p:sp>
      <p:sp>
        <p:nvSpPr>
          <p:cNvPr id="6" name="TextBox 5"/>
          <p:cNvSpPr txBox="1"/>
          <p:nvPr/>
        </p:nvSpPr>
        <p:spPr>
          <a:xfrm>
            <a:off x="566928" y="136296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2"/>
              </a:rPr>
              <a:t>https://www.rmg-sa.com/en/conclusion-of-ai-for-leaders-and-decision-makers/</a:t>
            </a:r>
          </a:p>
        </p:txBody>
      </p:sp>
      <p:sp>
        <p:nvSpPr>
          <p:cNvPr id="7" name="Rounded Rectangle 6"/>
          <p:cNvSpPr/>
          <p:nvPr/>
        </p:nvSpPr>
        <p:spPr>
          <a:xfrm>
            <a:off x="6684264" y="1567434"/>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8" name="TextBox 7"/>
          <p:cNvSpPr txBox="1"/>
          <p:nvPr/>
        </p:nvSpPr>
        <p:spPr>
          <a:xfrm>
            <a:off x="566928" y="155829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[57] </a:t>
            </a:r>
            <a:r>
              <a:rPr sz="800" b="0">
                <a:solidFill>
                  <a:srgbClr val="474956"/>
                </a:solidFill>
                <a:latin typeface="Diodrum Arabic"/>
                <a:ea typeface="Diodrum Arabic"/>
                <a:cs typeface="Diodrum Arabic"/>
              </a:rPr>
              <a:t>شركة رناد المجد التجارية — «ختام النسخة الأولى من البرنامج التدريبي» — — 2025-05-06 — فُحص بتاريخ 2026-08-21 — [P إعلان مزوّد/جهة].</a:t>
            </a:r>
          </a:p>
        </p:txBody>
      </p:sp>
      <p:sp>
        <p:nvSpPr>
          <p:cNvPr id="9" name="TextBox 8"/>
          <p:cNvSpPr txBox="1"/>
          <p:nvPr/>
        </p:nvSpPr>
        <p:spPr>
          <a:xfrm>
            <a:off x="566928" y="183616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3"/>
              </a:rPr>
              <a:t>https://www.rmg-sa.com/en/concludes-the-first-of-its-kind-training-program/</a:t>
            </a:r>
          </a:p>
        </p:txBody>
      </p:sp>
      <p:sp>
        <p:nvSpPr>
          <p:cNvPr id="10" name="Rounded Rectangle 9"/>
          <p:cNvSpPr/>
          <p:nvPr/>
        </p:nvSpPr>
        <p:spPr>
          <a:xfrm>
            <a:off x="6684264" y="2040635"/>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11" name="TextBox 10"/>
          <p:cNvSpPr txBox="1"/>
          <p:nvPr/>
        </p:nvSpPr>
        <p:spPr>
          <a:xfrm>
            <a:off x="566928" y="203149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[58] </a:t>
            </a:r>
            <a:r>
              <a:rPr sz="800" b="0">
                <a:solidFill>
                  <a:srgbClr val="474956"/>
                </a:solidFill>
                <a:latin typeface="Diodrum Arabic"/>
                <a:ea typeface="Diodrum Arabic"/>
                <a:cs typeface="Diodrum Arabic"/>
              </a:rPr>
              <a:t>جامعة الأمير سلطان — «إطلاق مسار واعد لتطوير القيادات بالشراكة مع أكاديمية تطوير القيادات بمعهد الإدارة العامة» — — 2024-11-27 — فُحص بتاريخ 2026-08-21 — [R سجل مؤسسي رسمي].</a:t>
            </a:r>
          </a:p>
        </p:txBody>
      </p:sp>
      <p:sp>
        <p:nvSpPr>
          <p:cNvPr id="12" name="TextBox 11"/>
          <p:cNvSpPr txBox="1"/>
          <p:nvPr/>
        </p:nvSpPr>
        <p:spPr>
          <a:xfrm>
            <a:off x="566928" y="230936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4"/>
              </a:rPr>
              <a:t>https://www.psau.edu.sa/dhr/en/news/waed-track-program-leadership-development-has-been-launched-partnership-leadership-development</a:t>
            </a:r>
          </a:p>
        </p:txBody>
      </p:sp>
      <p:sp>
        <p:nvSpPr>
          <p:cNvPr id="13" name="Rounded Rectangle 12"/>
          <p:cNvSpPr/>
          <p:nvPr/>
        </p:nvSpPr>
        <p:spPr>
          <a:xfrm>
            <a:off x="6684264" y="2513838"/>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14" name="TextBox 13"/>
          <p:cNvSpPr txBox="1"/>
          <p:nvPr/>
        </p:nvSpPr>
        <p:spPr>
          <a:xfrm>
            <a:off x="566928" y="250469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[59] </a:t>
            </a:r>
            <a:r>
              <a:rPr sz="800" b="0">
                <a:solidFill>
                  <a:srgbClr val="474956"/>
                </a:solidFill>
                <a:latin typeface="Diodrum Arabic"/>
                <a:ea typeface="Diodrum Arabic"/>
                <a:cs typeface="Diodrum Arabic"/>
              </a:rPr>
              <a:t>هارفارد للتعلم المهني ومدى الحياة — AI in Action: Organizational Strategy for the Responsible Adoption of AI — — فُحص بتاريخ 2026-08-21 — [P إعلان مزوّد/جهة].</a:t>
            </a:r>
          </a:p>
        </p:txBody>
      </p:sp>
      <p:sp>
        <p:nvSpPr>
          <p:cNvPr id="15" name="TextBox 14"/>
          <p:cNvSpPr txBox="1"/>
          <p:nvPr/>
        </p:nvSpPr>
        <p:spPr>
          <a:xfrm>
            <a:off x="566928" y="278257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5"/>
              </a:rPr>
              <a:t>https://pll.harvard.edu/course/ai-action-organizational-strategy-responsible-adoption-ai</a:t>
            </a:r>
          </a:p>
        </p:txBody>
      </p:sp>
      <p:sp>
        <p:nvSpPr>
          <p:cNvPr id="16" name="Rounded Rectangle 15"/>
          <p:cNvSpPr/>
          <p:nvPr/>
        </p:nvSpPr>
        <p:spPr>
          <a:xfrm>
            <a:off x="6684264" y="2987040"/>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17" name="TextBox 16"/>
          <p:cNvSpPr txBox="1"/>
          <p:nvPr/>
        </p:nvSpPr>
        <p:spPr>
          <a:xfrm>
            <a:off x="566928" y="297789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[60] </a:t>
            </a:r>
            <a:r>
              <a:rPr sz="800" b="0">
                <a:solidFill>
                  <a:srgbClr val="474956"/>
                </a:solidFill>
                <a:latin typeface="Diodrum Arabic"/>
                <a:ea typeface="Diodrum Arabic"/>
                <a:cs typeface="Diodrum Arabic"/>
              </a:rPr>
              <a:t>المكتب الإعلامي لحكومة الإمارات — مدرسة محمد بن راشد للحكومة تطلق برنامج القيادة الحكومية «على درب محمد بن راشد» — — 2026-04-01 — فُحص بتاريخ 2026-08-21 — [R سجل مؤسسي رسمي].</a:t>
            </a:r>
          </a:p>
        </p:txBody>
      </p:sp>
      <p:sp>
        <p:nvSpPr>
          <p:cNvPr id="18" name="TextBox 17"/>
          <p:cNvSpPr txBox="1"/>
          <p:nvPr/>
        </p:nvSpPr>
        <p:spPr>
          <a:xfrm>
            <a:off x="566928" y="3255772"/>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6"/>
              </a:rPr>
              <a:t>https://www.mediaoffice.ae/en/news/2026/april/01-04/mbrsg-launches-government-leadership-programme-on-the-path-of-mohammed-bin-rashid</a:t>
            </a:r>
          </a:p>
        </p:txBody>
      </p:sp>
      <p:sp>
        <p:nvSpPr>
          <p:cNvPr id="19" name="Rounded Rectangle 18"/>
          <p:cNvSpPr/>
          <p:nvPr/>
        </p:nvSpPr>
        <p:spPr>
          <a:xfrm>
            <a:off x="6684264" y="3460242"/>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0" name="TextBox 19"/>
          <p:cNvSpPr txBox="1"/>
          <p:nvPr/>
        </p:nvSpPr>
        <p:spPr>
          <a:xfrm>
            <a:off x="566928" y="345109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[61] </a:t>
            </a:r>
            <a:r>
              <a:rPr sz="800" b="0">
                <a:solidFill>
                  <a:srgbClr val="474956"/>
                </a:solidFill>
                <a:latin typeface="Diodrum Arabic"/>
                <a:ea typeface="Diodrum Arabic"/>
                <a:cs typeface="Diodrum Arabic"/>
              </a:rPr>
              <a:t>ExecutiveCourses.com — قائمة التعليم التنفيذي بكلية أكسفورد سعيد (برنامج أكسفورد للذكاء الاصطناعي: 2,450 جنيهاً إسترلينياً) — — فُحص بتاريخ 2026-08-21 — [P إعلان مزوّد/جهة].</a:t>
            </a:r>
          </a:p>
        </p:txBody>
      </p:sp>
      <p:sp>
        <p:nvSpPr>
          <p:cNvPr id="21" name="TextBox 20"/>
          <p:cNvSpPr txBox="1"/>
          <p:nvPr/>
        </p:nvSpPr>
        <p:spPr>
          <a:xfrm>
            <a:off x="566928" y="372897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7"/>
              </a:rPr>
              <a:t>https://executivecourses.com/schools/uk-ireland/uk/university-of-oxford-said-business-school-executive-education</a:t>
            </a:r>
          </a:p>
        </p:txBody>
      </p:sp>
      <p:sp>
        <p:nvSpPr>
          <p:cNvPr id="22" name="Rounded Rectangle 21"/>
          <p:cNvSpPr/>
          <p:nvPr/>
        </p:nvSpPr>
        <p:spPr>
          <a:xfrm>
            <a:off x="6684264" y="3933444"/>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23" name="TextBox 22"/>
          <p:cNvSpPr txBox="1"/>
          <p:nvPr/>
        </p:nvSpPr>
        <p:spPr>
          <a:xfrm>
            <a:off x="566928" y="392430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[62] </a:t>
            </a:r>
            <a:r>
              <a:rPr sz="800" b="0">
                <a:solidFill>
                  <a:srgbClr val="474956"/>
                </a:solidFill>
                <a:latin typeface="Diodrum Arabic"/>
                <a:ea typeface="Diodrum Arabic"/>
                <a:cs typeface="Diodrum Arabic"/>
              </a:rPr>
              <a:t>حكم تحليلي للدراسة — حكم الفرضيات حول التوافر المتدرج وطبيعة الفجوة التقديمية (تركيب أدلة المقارنة الدولية وتجارب الدول) — لا ينطبق رابط خارجي — فُحص بتاريخ 2026-08-21 — [J حكم تحليلي].</a:t>
            </a:r>
          </a:p>
        </p:txBody>
      </p:sp>
      <p:sp>
        <p:nvSpPr>
          <p:cNvPr id="24" name="Rounded Rectangle 23"/>
          <p:cNvSpPr/>
          <p:nvPr/>
        </p:nvSpPr>
        <p:spPr>
          <a:xfrm>
            <a:off x="6684264" y="4279900"/>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25" name="TextBox 24"/>
          <p:cNvSpPr txBox="1"/>
          <p:nvPr/>
        </p:nvSpPr>
        <p:spPr>
          <a:xfrm>
            <a:off x="566928" y="427075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[63] </a:t>
            </a:r>
            <a:r>
              <a:rPr sz="800" b="0">
                <a:solidFill>
                  <a:srgbClr val="474956"/>
                </a:solidFill>
                <a:latin typeface="Diodrum Arabic"/>
                <a:ea typeface="Diodrum Arabic"/>
                <a:cs typeface="Diodrum Arabic"/>
              </a:rPr>
              <a:t>حكم تحليلي للدراسة — تدرج المسارات الأربعة، ومنطق النواة المشتركة، وإطار القياس من ست خطوات، وحجم الفوج الوزاري المقترح — لا ينطبق رابط خارجي — فُحص بتاريخ 2026-08-21 — [J حكم تحليلي].</a:t>
            </a:r>
          </a:p>
        </p:txBody>
      </p:sp>
      <p:sp>
        <p:nvSpPr>
          <p:cNvPr id="26" name="Rounded Rectangle 25"/>
          <p:cNvSpPr/>
          <p:nvPr/>
        </p:nvSpPr>
        <p:spPr>
          <a:xfrm>
            <a:off x="6684264" y="4626356"/>
            <a:ext cx="310896" cy="173736"/>
          </a:xfrm>
          <a:prstGeom prst="roundRect">
            <a:avLst>
              <a:gd name="adj" fmla="val 26315"/>
            </a:avLst>
          </a:prstGeom>
          <a:solidFill>
            <a:srgbClr val="7C32C9"/>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P</a:t>
            </a:r>
          </a:p>
        </p:txBody>
      </p:sp>
      <p:sp>
        <p:nvSpPr>
          <p:cNvPr id="27" name="TextBox 26"/>
          <p:cNvSpPr txBox="1"/>
          <p:nvPr/>
        </p:nvSpPr>
        <p:spPr>
          <a:xfrm>
            <a:off x="566928" y="461721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[64] </a:t>
            </a:r>
            <a:r>
              <a:rPr sz="800" b="0">
                <a:solidFill>
                  <a:srgbClr val="474956"/>
                </a:solidFill>
                <a:latin typeface="Diodrum Arabic"/>
                <a:ea typeface="Diodrum Arabic"/>
                <a:cs typeface="Diodrum Arabic"/>
              </a:rPr>
              <a:t>Windsor Leadership — «نظرة عامة على البرامج» (قاعدة تشاثام هاوس؛ مشارك واحد من كل جهة؛ متابعة حتى ستة أشهر) — — فُحص بتاريخ 2026-08-21 — [P إعلان مزوّد/جهة].</a:t>
            </a:r>
          </a:p>
        </p:txBody>
      </p:sp>
      <p:sp>
        <p:nvSpPr>
          <p:cNvPr id="28" name="TextBox 27"/>
          <p:cNvSpPr txBox="1"/>
          <p:nvPr/>
        </p:nvSpPr>
        <p:spPr>
          <a:xfrm>
            <a:off x="566928" y="489508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8"/>
              </a:rPr>
              <a:t>https://windsorleadership.org.uk/programmes-overview</a:t>
            </a:r>
          </a:p>
        </p:txBody>
      </p:sp>
      <p:sp>
        <p:nvSpPr>
          <p:cNvPr id="29" name="Rounded Rectangle 28"/>
          <p:cNvSpPr/>
          <p:nvPr/>
        </p:nvSpPr>
        <p:spPr>
          <a:xfrm>
            <a:off x="6684264" y="5099558"/>
            <a:ext cx="310896" cy="173736"/>
          </a:xfrm>
          <a:prstGeom prst="roundRect">
            <a:avLst>
              <a:gd name="adj" fmla="val 26315"/>
            </a:avLst>
          </a:prstGeom>
          <a:solidFill>
            <a:srgbClr val="C845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T</a:t>
            </a:r>
          </a:p>
        </p:txBody>
      </p:sp>
      <p:sp>
        <p:nvSpPr>
          <p:cNvPr id="30" name="TextBox 29"/>
          <p:cNvSpPr txBox="1"/>
          <p:nvPr/>
        </p:nvSpPr>
        <p:spPr>
          <a:xfrm>
            <a:off x="566928" y="509041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[65] </a:t>
            </a:r>
            <a:r>
              <a:rPr sz="800" b="0">
                <a:solidFill>
                  <a:srgbClr val="474956"/>
                </a:solidFill>
                <a:latin typeface="Diodrum Arabic"/>
                <a:ea typeface="Diodrum Arabic"/>
                <a:cs typeface="Diodrum Arabic"/>
              </a:rPr>
              <a:t>تقدير استرشادي للدراسة — هيكل كلفة البرنامج المخصص وحصص مكوناته وسيناريو فوج الثلاثين (من 45 ألفاً إلى 94 ألف ريال للمشارك؛ من 1.35 إلى 2.8 مليون ريال للفوج) وبند الحوكمة والسرية — لا ينطبق رابط خارجي — فُحص بتاريخ 2026-08-21 — [T تقدير استرشادي].</a:t>
            </a:r>
          </a:p>
        </p:txBody>
      </p:sp>
      <p:sp>
        <p:nvSpPr>
          <p:cNvPr id="31" name="Rounded Rectangle 30"/>
          <p:cNvSpPr/>
          <p:nvPr/>
        </p:nvSpPr>
        <p:spPr>
          <a:xfrm>
            <a:off x="6684264" y="5446014"/>
            <a:ext cx="310896" cy="173736"/>
          </a:xfrm>
          <a:prstGeom prst="roundRect">
            <a:avLst>
              <a:gd name="adj" fmla="val 26315"/>
            </a:avLst>
          </a:prstGeom>
          <a:solidFill>
            <a:srgbClr val="00ABA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S</a:t>
            </a:r>
          </a:p>
        </p:txBody>
      </p:sp>
      <p:sp>
        <p:nvSpPr>
          <p:cNvPr id="32" name="TextBox 31"/>
          <p:cNvSpPr txBox="1"/>
          <p:nvPr/>
        </p:nvSpPr>
        <p:spPr>
          <a:xfrm>
            <a:off x="566928" y="5436870"/>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[66] </a:t>
            </a:r>
            <a:r>
              <a:rPr sz="800" b="0">
                <a:solidFill>
                  <a:srgbClr val="474956"/>
                </a:solidFill>
                <a:latin typeface="Diodrum Arabic"/>
                <a:ea typeface="Diodrum Arabic"/>
                <a:cs typeface="Diodrum Arabic"/>
              </a:rPr>
              <a:t>جامعة ولاية بنسلفانيا — أطروحة دكتوراه (سبيرلي، 2006) تتضمن مسحاً لاستثمارات التعليم التنفيذي المخصص (من أقل من 100 ألف دولار إلى مليوني دولار للارتباط) — — فُحص بتاريخ 2026-08-21 — [S إحصاء/مسح].</a:t>
            </a:r>
          </a:p>
        </p:txBody>
      </p:sp>
      <p:sp>
        <p:nvSpPr>
          <p:cNvPr id="33" name="TextBox 32"/>
          <p:cNvSpPr txBox="1"/>
          <p:nvPr/>
        </p:nvSpPr>
        <p:spPr>
          <a:xfrm>
            <a:off x="566928" y="5714746"/>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9"/>
              </a:rPr>
              <a:t>https://etda.libraries.psu.edu/files/final_submissions/2804</a:t>
            </a:r>
          </a:p>
        </p:txBody>
      </p:sp>
      <p:sp>
        <p:nvSpPr>
          <p:cNvPr id="34" name="Rounded Rectangle 33"/>
          <p:cNvSpPr/>
          <p:nvPr/>
        </p:nvSpPr>
        <p:spPr>
          <a:xfrm>
            <a:off x="6684264" y="5919216"/>
            <a:ext cx="310896" cy="173736"/>
          </a:xfrm>
          <a:prstGeom prst="roundRect">
            <a:avLst>
              <a:gd name="adj" fmla="val 26315"/>
            </a:avLst>
          </a:prstGeom>
          <a:solidFill>
            <a:srgbClr val="2A206A"/>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R</a:t>
            </a:r>
          </a:p>
        </p:txBody>
      </p:sp>
      <p:sp>
        <p:nvSpPr>
          <p:cNvPr id="35" name="TextBox 34"/>
          <p:cNvSpPr txBox="1"/>
          <p:nvPr/>
        </p:nvSpPr>
        <p:spPr>
          <a:xfrm>
            <a:off x="566928" y="591007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[67] </a:t>
            </a:r>
            <a:r>
              <a:rPr sz="800" b="0">
                <a:solidFill>
                  <a:srgbClr val="474956"/>
                </a:solidFill>
                <a:latin typeface="Diodrum Arabic"/>
                <a:ea typeface="Diodrum Arabic"/>
                <a:cs typeface="Diodrum Arabic"/>
              </a:rPr>
              <a:t>XED Institute / Global Horizons — نشرة اكتتاب (DRHP): متوسط نطاق البرامج التنفيذية الجامعية العليا من 2,000 إلى 50,000 دولار للمشارك — — 2025-08 — فُحص بتاريخ 2026-08-21 — [R سجل مؤسسي رسمي].</a:t>
            </a:r>
          </a:p>
        </p:txBody>
      </p:sp>
      <p:sp>
        <p:nvSpPr>
          <p:cNvPr id="36" name="TextBox 35"/>
          <p:cNvSpPr txBox="1"/>
          <p:nvPr/>
        </p:nvSpPr>
        <p:spPr>
          <a:xfrm>
            <a:off x="566928" y="6187948"/>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0"/>
              </a:rPr>
              <a:t>https://xedinstitute.org/wp-content/uploads/2025/08/DRHP-Aug-Final-12.08.25.pdf</a:t>
            </a:r>
          </a:p>
        </p:txBody>
      </p:sp>
      <p:sp>
        <p:nvSpPr>
          <p:cNvPr id="37" name="Rounded Rectangle 36"/>
          <p:cNvSpPr/>
          <p:nvPr/>
        </p:nvSpPr>
        <p:spPr>
          <a:xfrm>
            <a:off x="6684264" y="6392418"/>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38" name="TextBox 37"/>
          <p:cNvSpPr txBox="1"/>
          <p:nvPr/>
        </p:nvSpPr>
        <p:spPr>
          <a:xfrm>
            <a:off x="566928" y="6383274"/>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[68] </a:t>
            </a:r>
            <a:r>
              <a:rPr sz="800" b="0">
                <a:solidFill>
                  <a:srgbClr val="474956"/>
                </a:solidFill>
                <a:latin typeface="Diodrum Arabic"/>
                <a:ea typeface="Diodrum Arabic"/>
                <a:cs typeface="Diodrum Arabic"/>
              </a:rPr>
              <a:t>Poets&amp;Quants For Execs — «IMD يعيد تصور الوضع الطبيعي الجديد» (البرنامج نفسه بـ10,900 فرنك سويسري حضورياً و4,900 افتراضياً) — — 2022-06-11 — فُحص بتاريخ 2026-08-21 — [N تغطية صحفية معتبرة].</a:t>
            </a:r>
          </a:p>
        </p:txBody>
      </p:sp>
      <p:sp>
        <p:nvSpPr>
          <p:cNvPr id="39" name="TextBox 38"/>
          <p:cNvSpPr txBox="1"/>
          <p:nvPr/>
        </p:nvSpPr>
        <p:spPr>
          <a:xfrm>
            <a:off x="566928" y="6661150"/>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1"/>
              </a:rPr>
              <a:t>https://poetsandquantsforexecs.com/exec-ed/imd-reimagines-a-new-normal-in-executive-education/</a:t>
            </a:r>
          </a:p>
        </p:txBody>
      </p:sp>
      <p:sp>
        <p:nvSpPr>
          <p:cNvPr id="40" name="Rounded Rectangle 39"/>
          <p:cNvSpPr/>
          <p:nvPr/>
        </p:nvSpPr>
        <p:spPr>
          <a:xfrm>
            <a:off x="6684264" y="6865620"/>
            <a:ext cx="310896" cy="173736"/>
          </a:xfrm>
          <a:prstGeom prst="roundRect">
            <a:avLst>
              <a:gd name="adj" fmla="val 26315"/>
            </a:avLst>
          </a:prstGeom>
          <a:solidFill>
            <a:srgbClr val="C845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T</a:t>
            </a:r>
          </a:p>
        </p:txBody>
      </p:sp>
      <p:sp>
        <p:nvSpPr>
          <p:cNvPr id="41" name="TextBox 40"/>
          <p:cNvSpPr txBox="1"/>
          <p:nvPr/>
        </p:nvSpPr>
        <p:spPr>
          <a:xfrm>
            <a:off x="566928" y="6856476"/>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[69] </a:t>
            </a:r>
            <a:r>
              <a:rPr sz="800" b="0">
                <a:solidFill>
                  <a:srgbClr val="474956"/>
                </a:solidFill>
                <a:latin typeface="Diodrum Arabic"/>
                <a:ea typeface="Diodrum Arabic"/>
                <a:cs typeface="Diodrum Arabic"/>
              </a:rPr>
              <a:t>تقدير استرشادي للدراسة — حساب اختبار المقاعد الأربعة (20,400 دولار سنغافوري، ما يعادل تقريباً 60 ألف ريال قبل الضريبة) والتنبيه المحاسبي بعدم ضرب رسوم المقعد في حجم الفوج — لا ينطبق رابط خارجي — فُحص بتاريخ 2026-08-21 — [T تقدير استرشادي].</a:t>
            </a:r>
          </a:p>
        </p:txBody>
      </p:sp>
      <p:sp>
        <p:nvSpPr>
          <p:cNvPr id="42" name="Rounded Rectangle 41"/>
          <p:cNvSpPr/>
          <p:nvPr/>
        </p:nvSpPr>
        <p:spPr>
          <a:xfrm>
            <a:off x="6684264" y="7212076"/>
            <a:ext cx="310896" cy="173736"/>
          </a:xfrm>
          <a:prstGeom prst="roundRect">
            <a:avLst>
              <a:gd name="adj" fmla="val 26315"/>
            </a:avLst>
          </a:prstGeom>
          <a:solidFill>
            <a:srgbClr val="232046"/>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J</a:t>
            </a:r>
          </a:p>
        </p:txBody>
      </p:sp>
      <p:sp>
        <p:nvSpPr>
          <p:cNvPr id="43" name="TextBox 42"/>
          <p:cNvSpPr txBox="1"/>
          <p:nvPr/>
        </p:nvSpPr>
        <p:spPr>
          <a:xfrm>
            <a:off x="566928" y="7202932"/>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[70] </a:t>
            </a:r>
            <a:r>
              <a:rPr sz="800" b="0">
                <a:solidFill>
                  <a:srgbClr val="474956"/>
                </a:solidFill>
                <a:latin typeface="Diodrum Arabic"/>
                <a:ea typeface="Diodrum Arabic"/>
                <a:cs typeface="Diodrum Arabic"/>
              </a:rPr>
              <a:t>حكم تحليلي للدراسة — تقسيم ما يُستفاد منه دولياً وما يبقى مملوكاً محلياً — لا ينطبق رابط خارجي — فُحص بتاريخ 2026-08-21 — [J حكم تحليلي].</a:t>
            </a:r>
          </a:p>
        </p:txBody>
      </p:sp>
      <p:sp>
        <p:nvSpPr>
          <p:cNvPr id="44" name="Rounded Rectangle 43"/>
          <p:cNvSpPr/>
          <p:nvPr/>
        </p:nvSpPr>
        <p:spPr>
          <a:xfrm>
            <a:off x="6684264" y="7558532"/>
            <a:ext cx="310896" cy="173736"/>
          </a:xfrm>
          <a:prstGeom prst="roundRect">
            <a:avLst>
              <a:gd name="adj" fmla="val 26315"/>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00" b="0">
                <a:solidFill>
                  <a:srgbClr val="FFFFFF"/>
                </a:solidFill>
                <a:latin typeface="Diodrum Arabic SemiBold"/>
                <a:ea typeface="Diodrum Arabic SemiBold"/>
                <a:cs typeface="Diodrum Arabic SemiBold"/>
              </a:rPr>
              <a:t>N</a:t>
            </a:r>
          </a:p>
        </p:txBody>
      </p:sp>
      <p:sp>
        <p:nvSpPr>
          <p:cNvPr id="45" name="TextBox 44"/>
          <p:cNvSpPr txBox="1"/>
          <p:nvPr/>
        </p:nvSpPr>
        <p:spPr>
          <a:xfrm>
            <a:off x="566928" y="7549388"/>
            <a:ext cx="6025896" cy="300736"/>
          </a:xfrm>
          <a:prstGeom prst="rect">
            <a:avLst/>
          </a:prstGeom>
          <a:noFill/>
        </p:spPr>
        <p:txBody>
          <a:bodyPr wrap="square" lIns="0" rIns="0" tIns="0" bIns="0">
            <a:spAutoFit/>
          </a:bodyPr>
          <a:lstStyle/>
          <a:p>
            <a:pPr algn="r" rtl="1">
              <a:lnSpc>
                <a:spcPts val="1040"/>
              </a:lnSpc>
            </a:pPr>
            <a:r>
              <a:rPr sz="800" b="0">
                <a:solidFill>
                  <a:srgbClr val="7C32C9"/>
                </a:solidFill>
                <a:latin typeface="Diodrum Arabic SemiBold"/>
                <a:ea typeface="Diodrum Arabic SemiBold"/>
                <a:cs typeface="Diodrum Arabic SemiBold"/>
              </a:rPr>
              <a:t>[71] </a:t>
            </a:r>
            <a:r>
              <a:rPr sz="800" b="0">
                <a:solidFill>
                  <a:srgbClr val="474956"/>
                </a:solidFill>
                <a:latin typeface="Diodrum Arabic"/>
                <a:ea typeface="Diodrum Arabic"/>
                <a:cs typeface="Diodrum Arabic"/>
              </a:rPr>
              <a:t>قازإنفورم — «كبار التنفيذيين الكازاخ يتدربون مع أساتذة من ستانفورد وأكاديمية OpenAI» — — 2026-04-09 — فُحص بتاريخ 2026-08-21 — [N تغطية صحفية معتبرة].</a:t>
            </a:r>
          </a:p>
        </p:txBody>
      </p:sp>
      <p:sp>
        <p:nvSpPr>
          <p:cNvPr id="46" name="TextBox 45"/>
          <p:cNvSpPr txBox="1"/>
          <p:nvPr/>
        </p:nvSpPr>
        <p:spPr>
          <a:xfrm>
            <a:off x="566928" y="7827264"/>
            <a:ext cx="6025896" cy="164592"/>
          </a:xfrm>
          <a:prstGeom prst="rect">
            <a:avLst/>
          </a:prstGeom>
          <a:noFill/>
        </p:spPr>
        <p:txBody>
          <a:bodyPr wrap="square" lIns="0" rIns="0" tIns="0" bIns="0">
            <a:spAutoFit/>
          </a:bodyPr>
          <a:lstStyle/>
          <a:p>
            <a:pPr algn="r">
              <a:lnSpc>
                <a:spcPts val="853"/>
              </a:lnSpc>
            </a:pPr>
            <a:r>
              <a:rPr sz="700" b="0">
                <a:solidFill>
                  <a:srgbClr val="00ABAF"/>
                </a:solidFill>
                <a:latin typeface="Diodrum Arabic"/>
                <a:ea typeface="Diodrum Arabic"/>
                <a:cs typeface="Diodrum Arabic"/>
                <a:hlinkClick r:id="rId12"/>
              </a:rPr>
              <a:t>https://qazinform.com/news/top-kazakhstani-executives-to-undergo-ai-training-with-professors-from-stanford-openai-academy-bf9f94</a:t>
            </a:r>
          </a:p>
        </p:txBody>
      </p:sp>
      <p:sp>
        <p:nvSpPr>
          <p:cNvPr id="47" name="Rectangle 46"/>
          <p:cNvSpPr/>
          <p:nvPr/>
        </p:nvSpPr>
        <p:spPr>
          <a:xfrm>
            <a:off x="566928" y="10149840"/>
            <a:ext cx="6428231" cy="7315"/>
          </a:xfrm>
          <a:prstGeom prst="rect">
            <a:avLst/>
          </a:prstGeom>
          <a:solidFill>
            <a:srgbClr val="E4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7559" y="10204704"/>
            <a:ext cx="3657600" cy="164592"/>
          </a:xfrm>
          <a:prstGeom prst="rect">
            <a:avLst/>
          </a:prstGeom>
          <a:noFill/>
        </p:spPr>
        <p:txBody>
          <a:bodyPr wrap="square" lIns="0" rIns="0" tIns="0" bIns="0">
            <a:spAutoFit/>
          </a:bodyPr>
          <a:lstStyle/>
          <a:p>
            <a:pPr algn="r" rtl="1">
              <a:lnSpc>
                <a:spcPts val="753"/>
              </a:lnSpc>
            </a:pPr>
            <a:r>
              <a:rPr sz="650" b="0">
                <a:solidFill>
                  <a:srgbClr val="8A8C94"/>
                </a:solidFill>
                <a:latin typeface="Diodrum Arabic"/>
                <a:ea typeface="Diodrum Arabic"/>
                <a:cs typeface="Diodrum Arabic"/>
              </a:rPr>
              <a:t>تطوير القيادات الحكومية العليا في الذكاء الاصطناعي</a:t>
            </a:r>
          </a:p>
        </p:txBody>
      </p:sp>
      <p:sp>
        <p:nvSpPr>
          <p:cNvPr id="49" name="TextBox 48"/>
          <p:cNvSpPr txBox="1"/>
          <p:nvPr/>
        </p:nvSpPr>
        <p:spPr>
          <a:xfrm>
            <a:off x="566928" y="10204704"/>
            <a:ext cx="548640" cy="164592"/>
          </a:xfrm>
          <a:prstGeom prst="rect">
            <a:avLst/>
          </a:prstGeom>
          <a:noFill/>
        </p:spPr>
        <p:txBody>
          <a:bodyPr wrap="square" lIns="0" rIns="0" tIns="0" bIns="0">
            <a:spAutoFit/>
          </a:bodyPr>
          <a:lstStyle/>
          <a:p>
            <a:pPr algn="l">
              <a:lnSpc>
                <a:spcPts val="811"/>
              </a:lnSpc>
            </a:pPr>
            <a:r>
              <a:rPr sz="700" b="0">
                <a:solidFill>
                  <a:srgbClr val="8A8C94"/>
                </a:solidFill>
                <a:latin typeface="Diodrum Arabic Medium"/>
                <a:ea typeface="Diodrum Arabic Medium"/>
                <a:cs typeface="Diodrum Arabic Medium"/>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