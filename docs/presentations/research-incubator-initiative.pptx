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51.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01.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3"/>
  </p:notesMasterIdLst>
  <p:handoutMasterIdLst>
    <p:handoutMasterId r:id="rId34"/>
  </p:handoutMasterIdLst>
  <p:sldIdLst>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 id="368" r:id="rId59"/>
    <p:sldId id="369" r:id="rId60"/>
    <p:sldId id="370" r:id="rId61"/>
    <p:sldId id="371" r:id="rId62"/>
    <p:sldId id="372" r:id="rId63"/>
    <p:sldId id="373" r:id="rId64"/>
    <p:sldId id="374" r:id="rId65"/>
    <p:sldId id="375" r:id="rId66"/>
    <p:sldId id="376" r:id="rId67"/>
    <p:sldId id="377" r:id="rId68"/>
    <p:sldId id="378" r:id="rId69"/>
    <p:sldId id="379" r:id="rId70"/>
    <p:sldId id="380" r:id="rId71"/>
    <p:sldId id="381" r:id="rId72"/>
  </p:sldIdLst>
  <p:sldSz cx="6858000" cy="3857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ns0:sectionLst xmlns:ns0="http://schemas.microsoft.com/office/powerpoint/2010/main">
        <ns0:section name="Default Section" id="{26AE289A-35DA-4CE3-8959-DBBC56DEA9DA}">
          <ns0:sldIdLst>
            <ns0:sldId id="350"/>
            <ns0:sldId id="351"/>
            <ns0:sldId id="352"/>
          </ns0:sldIdLst>
        </ns0:section>
        <ns0:section name="القسم الأول: حاضنة الأبحاث" id="{8E0DCF9C-05AC-4687-9C75-D33071168BCD}">
          <ns0:sldIdLst>
            <ns0:sldId id="353"/>
            <ns0:sldId id="354"/>
            <ns0:sldId id="355"/>
            <ns0:sldId id="356"/>
            <ns0:sldId id="357"/>
            <ns0:sldId id="358"/>
            <ns0:sldId id="359"/>
            <ns0:sldId id="360"/>
            <ns0:sldId id="361"/>
            <ns0:sldId id="362"/>
            <ns0:sldId id="363"/>
          </ns0:sldIdLst>
        </ns0:section>
        <ns0:section name="القسم الثاني: ملتقى البحث والابتكار الحكومي" id="{EB798F3C-7D5F-4688-8BAE-40D814914669}">
          <ns0:sldIdLst>
            <ns0:sldId id="364"/>
            <ns0:sldId id="365"/>
            <ns0:sldId id="366"/>
            <ns0:sldId id="367"/>
            <ns0:sldId id="368"/>
            <ns0:sldId id="369"/>
            <ns0:sldId id="370"/>
            <ns0:sldId id="371"/>
            <ns0:sldId id="372"/>
          </ns0:sldIdLst>
        </ns0:section>
        <ns0:section name="القسم الثالث: القرار المطلوب" id="{C4255B07-9565-4635-B8BA-25F274FA8BEF}">
          <ns0:sldIdLst>
            <ns0:sldId id="373"/>
            <ns0:sldId id="374"/>
          </ns0:sldIdLst>
        </ns0:section>
        <ns0:section name="الملحق" id="{9AECEE73-9E93-4185-B8E7-A24CAA00BB54}">
          <ns0:sldIdLst>
            <ns0:sldId id="375"/>
            <ns0:sldId id="376"/>
            <ns0:sldId id="377"/>
            <ns0:sldId id="378"/>
            <ns0:sldId id="379"/>
            <ns0:sldId id="380"/>
            <ns0:sldId id="381"/>
          </ns0:sldIdLst>
        </ns0:section>
      </ns0: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6167"/>
    <a:srgbClr val="F6F6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86304-53E1-4682-8189-1A37807AE294}" v="29" dt="2026-08-24T13:29:24.524"/>
    <p1510:client id="{9E01AC6D-07DA-436F-B12B-C8BADFAC179C}" v="2" dt="2026-08-24T15:45:11.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1" autoAdjust="0"/>
  </p:normalViewPr>
  <p:slideViewPr>
    <p:cSldViewPr snapToGrid="0" snapToObjects="1">
      <p:cViewPr varScale="1">
        <p:scale>
          <a:sx n="192" d="100"/>
          <a:sy n="192" d="100"/>
        </p:scale>
        <p:origin x="654" y="15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9" Type="http://schemas.microsoft.com/office/2016/11/relationships/changesInfo" Target="changesInfos/changesInfo1.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8" Type="http://schemas.openxmlformats.org/officeDocument/2006/relationships/tableStyles" Target="tableStyles.xml"/><Relationship Id="rId1" Type="http://schemas.openxmlformats.org/officeDocument/2006/relationships/slideMaster" Target="slideMasters/slideMaster1.xml"/><Relationship Id="rId37" Type="http://schemas.openxmlformats.org/officeDocument/2006/relationships/theme" Target="theme/theme1.xml"/><Relationship Id="rId40" Type="http://schemas.microsoft.com/office/2015/10/relationships/revisionInfo" Target="revisionInfo.xml"/><Relationship Id="rId36" Type="http://schemas.openxmlformats.org/officeDocument/2006/relationships/viewProps" Target="viewProps.xml"/><Relationship Id="rId35" Type="http://schemas.openxmlformats.org/officeDocument/2006/relationships/presProps" Target="presProps.xml"/><Relationship Id="rId41" Type="http://schemas.openxmlformats.org/officeDocument/2006/relationships/slide" Target="slides/slide101.xml"/><Relationship Id="rId42" Type="http://schemas.openxmlformats.org/officeDocument/2006/relationships/slide" Target="slides/slide102.xml"/><Relationship Id="rId43" Type="http://schemas.openxmlformats.org/officeDocument/2006/relationships/slide" Target="slides/slide103.xml"/><Relationship Id="rId44" Type="http://schemas.openxmlformats.org/officeDocument/2006/relationships/slide" Target="slides/slide104.xml"/><Relationship Id="rId45" Type="http://schemas.openxmlformats.org/officeDocument/2006/relationships/slide" Target="slides/slide105.xml"/><Relationship Id="rId46" Type="http://schemas.openxmlformats.org/officeDocument/2006/relationships/slide" Target="slides/slide1051.xml"/><Relationship Id="rId47" Type="http://schemas.openxmlformats.org/officeDocument/2006/relationships/slide" Target="slides/slide106.xml"/><Relationship Id="rId48" Type="http://schemas.openxmlformats.org/officeDocument/2006/relationships/slide" Target="slides/slide107.xml"/><Relationship Id="rId49" Type="http://schemas.openxmlformats.org/officeDocument/2006/relationships/slide" Target="slides/slide108.xml"/><Relationship Id="rId50" Type="http://schemas.openxmlformats.org/officeDocument/2006/relationships/slide" Target="slides/slide109.xml"/><Relationship Id="rId51" Type="http://schemas.openxmlformats.org/officeDocument/2006/relationships/slide" Target="slides/slide110.xml"/><Relationship Id="rId52" Type="http://schemas.openxmlformats.org/officeDocument/2006/relationships/slide" Target="slides/slide1101.xml"/><Relationship Id="rId53" Type="http://schemas.openxmlformats.org/officeDocument/2006/relationships/slide" Target="slides/slide111.xml"/><Relationship Id="rId54" Type="http://schemas.openxmlformats.org/officeDocument/2006/relationships/slide" Target="slides/slide112.xml"/><Relationship Id="rId55" Type="http://schemas.openxmlformats.org/officeDocument/2006/relationships/slide" Target="slides/slide113.xml"/><Relationship Id="rId56" Type="http://schemas.openxmlformats.org/officeDocument/2006/relationships/slide" Target="slides/slide114.xml"/><Relationship Id="rId57" Type="http://schemas.openxmlformats.org/officeDocument/2006/relationships/slide" Target="slides/slide115.xml"/><Relationship Id="rId58" Type="http://schemas.openxmlformats.org/officeDocument/2006/relationships/slide" Target="slides/slide116.xml"/><Relationship Id="rId59" Type="http://schemas.openxmlformats.org/officeDocument/2006/relationships/slide" Target="slides/slide117.xml"/><Relationship Id="rId60" Type="http://schemas.openxmlformats.org/officeDocument/2006/relationships/slide" Target="slides/slide118.xml"/><Relationship Id="rId61" Type="http://schemas.openxmlformats.org/officeDocument/2006/relationships/slide" Target="slides/slide119.xml"/><Relationship Id="rId62" Type="http://schemas.openxmlformats.org/officeDocument/2006/relationships/slide" Target="slides/slide120.xml"/><Relationship Id="rId63" Type="http://schemas.openxmlformats.org/officeDocument/2006/relationships/slide" Target="slides/slide121.xml"/><Relationship Id="rId64" Type="http://schemas.openxmlformats.org/officeDocument/2006/relationships/slide" Target="slides/slide122.xml"/><Relationship Id="rId65" Type="http://schemas.openxmlformats.org/officeDocument/2006/relationships/slide" Target="slides/slide123.xml"/><Relationship Id="rId66" Type="http://schemas.openxmlformats.org/officeDocument/2006/relationships/slide" Target="slides/slide124.xml"/><Relationship Id="rId67" Type="http://schemas.openxmlformats.org/officeDocument/2006/relationships/slide" Target="slides/slide125.xml"/><Relationship Id="rId68" Type="http://schemas.openxmlformats.org/officeDocument/2006/relationships/slide" Target="slides/slide126.xml"/><Relationship Id="rId69" Type="http://schemas.openxmlformats.org/officeDocument/2006/relationships/slide" Target="slides/slide127.xml"/><Relationship Id="rId70" Type="http://schemas.openxmlformats.org/officeDocument/2006/relationships/slide" Target="slides/slide128.xml"/><Relationship Id="rId71" Type="http://schemas.openxmlformats.org/officeDocument/2006/relationships/slide" Target="slides/slide129.xml"/><Relationship Id="rId72" Type="http://schemas.openxmlformats.org/officeDocument/2006/relationships/slide" Target="slides/slide1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Alomary" userId="76b0bf665ff091c5" providerId="LiveId" clId="{50056B30-86C0-4642-A456-66311E2E7021}"/>
    <pc:docChg chg="undo custSel modSld">
      <pc:chgData name="Mohammed Alomary" userId="76b0bf665ff091c5" providerId="LiveId" clId="{50056B30-86C0-4642-A456-66311E2E7021}" dt="2026-08-24T15:54:26.731" v="265" actId="478"/>
      <pc:docMkLst>
        <pc:docMk/>
      </pc:docMkLst>
      <pc:sldChg chg="modSp mod">
        <pc:chgData name="Mohammed Alomary" userId="76b0bf665ff091c5" providerId="LiveId" clId="{50056B30-86C0-4642-A456-66311E2E7021}" dt="2026-08-24T15:51:45.929" v="263" actId="20577"/>
        <pc:sldMkLst>
          <pc:docMk/>
          <pc:sldMk cId="1055231992" sldId="305"/>
        </pc:sldMkLst>
        <pc:spChg chg="mod">
          <ac:chgData name="Mohammed Alomary" userId="76b0bf665ff091c5" providerId="LiveId" clId="{50056B30-86C0-4642-A456-66311E2E7021}" dt="2026-08-24T15:49:37.595" v="41" actId="20577"/>
          <ac:spMkLst>
            <pc:docMk/>
            <pc:sldMk cId="1055231992" sldId="305"/>
            <ac:spMk id="14" creationId="{AA1848A1-1E95-888D-6830-018D98758B9B}"/>
          </ac:spMkLst>
        </pc:spChg>
        <pc:spChg chg="mod">
          <ac:chgData name="Mohammed Alomary" userId="76b0bf665ff091c5" providerId="LiveId" clId="{50056B30-86C0-4642-A456-66311E2E7021}" dt="2026-08-24T15:49:53.486" v="52" actId="20577"/>
          <ac:spMkLst>
            <pc:docMk/>
            <pc:sldMk cId="1055231992" sldId="305"/>
            <ac:spMk id="15" creationId="{C13C24D8-0F02-FACE-2E81-C0FC20FA3057}"/>
          </ac:spMkLst>
        </pc:spChg>
        <pc:spChg chg="mod">
          <ac:chgData name="Mohammed Alomary" userId="76b0bf665ff091c5" providerId="LiveId" clId="{50056B30-86C0-4642-A456-66311E2E7021}" dt="2026-08-24T15:51:45.929" v="263" actId="20577"/>
          <ac:spMkLst>
            <pc:docMk/>
            <pc:sldMk cId="1055231992" sldId="305"/>
            <ac:spMk id="19" creationId="{5C0F6DF7-4066-021B-FF4F-B32442BB366A}"/>
          </ac:spMkLst>
        </pc:spChg>
        <pc:spChg chg="mod">
          <ac:chgData name="Mohammed Alomary" userId="76b0bf665ff091c5" providerId="LiveId" clId="{50056B30-86C0-4642-A456-66311E2E7021}" dt="2026-08-24T15:51:43.444" v="262" actId="20577"/>
          <ac:spMkLst>
            <pc:docMk/>
            <pc:sldMk cId="1055231992" sldId="305"/>
            <ac:spMk id="24" creationId="{0B378990-0E07-9561-36F5-B84BF9095290}"/>
          </ac:spMkLst>
        </pc:spChg>
      </pc:sldChg>
      <pc:sldChg chg="modSp mod">
        <pc:chgData name="Mohammed Alomary" userId="76b0bf665ff091c5" providerId="LiveId" clId="{50056B30-86C0-4642-A456-66311E2E7021}" dt="2026-08-24T15:43:46.392" v="1" actId="20577"/>
        <pc:sldMkLst>
          <pc:docMk/>
          <pc:sldMk cId="787018199" sldId="324"/>
        </pc:sldMkLst>
        <pc:spChg chg="mod">
          <ac:chgData name="Mohammed Alomary" userId="76b0bf665ff091c5" providerId="LiveId" clId="{50056B30-86C0-4642-A456-66311E2E7021}" dt="2026-08-24T15:43:46.392" v="1" actId="20577"/>
          <ac:spMkLst>
            <pc:docMk/>
            <pc:sldMk cId="787018199" sldId="324"/>
            <ac:spMk id="37" creationId="{00000000-0000-0000-0000-000000000000}"/>
          </ac:spMkLst>
        </pc:spChg>
      </pc:sldChg>
      <pc:sldChg chg="modSp mod">
        <pc:chgData name="Mohammed Alomary" userId="76b0bf665ff091c5" providerId="LiveId" clId="{50056B30-86C0-4642-A456-66311E2E7021}" dt="2026-08-24T15:44:54.243" v="4" actId="20577"/>
        <pc:sldMkLst>
          <pc:docMk/>
          <pc:sldMk cId="3691105112" sldId="326"/>
        </pc:sldMkLst>
        <pc:spChg chg="mod">
          <ac:chgData name="Mohammed Alomary" userId="76b0bf665ff091c5" providerId="LiveId" clId="{50056B30-86C0-4642-A456-66311E2E7021}" dt="2026-08-24T15:44:48.325" v="3" actId="255"/>
          <ac:spMkLst>
            <pc:docMk/>
            <pc:sldMk cId="3691105112" sldId="326"/>
            <ac:spMk id="25" creationId="{00000000-0000-0000-0000-000000000000}"/>
          </ac:spMkLst>
        </pc:spChg>
        <pc:spChg chg="mod">
          <ac:chgData name="Mohammed Alomary" userId="76b0bf665ff091c5" providerId="LiveId" clId="{50056B30-86C0-4642-A456-66311E2E7021}" dt="2026-08-24T15:44:48.325" v="3" actId="255"/>
          <ac:spMkLst>
            <pc:docMk/>
            <pc:sldMk cId="3691105112" sldId="326"/>
            <ac:spMk id="27" creationId="{00000000-0000-0000-0000-000000000000}"/>
          </ac:spMkLst>
        </pc:spChg>
        <pc:spChg chg="mod">
          <ac:chgData name="Mohammed Alomary" userId="76b0bf665ff091c5" providerId="LiveId" clId="{50056B30-86C0-4642-A456-66311E2E7021}" dt="2026-08-24T15:44:54.243" v="4" actId="20577"/>
          <ac:spMkLst>
            <pc:docMk/>
            <pc:sldMk cId="3691105112" sldId="326"/>
            <ac:spMk id="29" creationId="{00000000-0000-0000-0000-000000000000}"/>
          </ac:spMkLst>
        </pc:spChg>
      </pc:sldChg>
      <pc:sldChg chg="modSp mod">
        <pc:chgData name="Mohammed Alomary" userId="76b0bf665ff091c5" providerId="LiveId" clId="{50056B30-86C0-4642-A456-66311E2E7021}" dt="2026-08-24T15:47:22.787" v="5" actId="207"/>
        <pc:sldMkLst>
          <pc:docMk/>
          <pc:sldMk cId="3779638087" sldId="333"/>
        </pc:sldMkLst>
        <pc:spChg chg="mod">
          <ac:chgData name="Mohammed Alomary" userId="76b0bf665ff091c5" providerId="LiveId" clId="{50056B30-86C0-4642-A456-66311E2E7021}" dt="2026-08-24T15:47:22.787" v="5" actId="207"/>
          <ac:spMkLst>
            <pc:docMk/>
            <pc:sldMk cId="3779638087" sldId="333"/>
            <ac:spMk id="23" creationId="{00000000-0000-0000-0000-000000000000}"/>
          </ac:spMkLst>
        </pc:spChg>
        <pc:spChg chg="mod">
          <ac:chgData name="Mohammed Alomary" userId="76b0bf665ff091c5" providerId="LiveId" clId="{50056B30-86C0-4642-A456-66311E2E7021}" dt="2026-08-24T15:47:22.787" v="5" actId="207"/>
          <ac:spMkLst>
            <pc:docMk/>
            <pc:sldMk cId="3779638087" sldId="333"/>
            <ac:spMk id="24" creationId="{00000000-0000-0000-0000-000000000000}"/>
          </ac:spMkLst>
        </pc:spChg>
        <pc:spChg chg="mod">
          <ac:chgData name="Mohammed Alomary" userId="76b0bf665ff091c5" providerId="LiveId" clId="{50056B30-86C0-4642-A456-66311E2E7021}" dt="2026-08-24T15:47:22.787" v="5" actId="207"/>
          <ac:spMkLst>
            <pc:docMk/>
            <pc:sldMk cId="3779638087" sldId="333"/>
            <ac:spMk id="25" creationId="{00000000-0000-0000-0000-000000000000}"/>
          </ac:spMkLst>
        </pc:spChg>
        <pc:spChg chg="mod">
          <ac:chgData name="Mohammed Alomary" userId="76b0bf665ff091c5" providerId="LiveId" clId="{50056B30-86C0-4642-A456-66311E2E7021}" dt="2026-08-24T15:47:22.787" v="5" actId="207"/>
          <ac:spMkLst>
            <pc:docMk/>
            <pc:sldMk cId="3779638087" sldId="333"/>
            <ac:spMk id="30" creationId="{00000000-0000-0000-0000-000000000000}"/>
          </ac:spMkLst>
        </pc:spChg>
      </pc:sldChg>
      <pc:sldChg chg="delSp mod">
        <pc:chgData name="Mohammed Alomary" userId="76b0bf665ff091c5" providerId="LiveId" clId="{50056B30-86C0-4642-A456-66311E2E7021}" dt="2026-08-24T15:52:06.783" v="264" actId="478"/>
        <pc:sldMkLst>
          <pc:docMk/>
          <pc:sldMk cId="4027010870" sldId="334"/>
        </pc:sldMkLst>
        <pc:spChg chg="del">
          <ac:chgData name="Mohammed Alomary" userId="76b0bf665ff091c5" providerId="LiveId" clId="{50056B30-86C0-4642-A456-66311E2E7021}" dt="2026-08-24T15:52:06.783" v="264" actId="478"/>
          <ac:spMkLst>
            <pc:docMk/>
            <pc:sldMk cId="4027010870" sldId="334"/>
            <ac:spMk id="14" creationId="{00000000-0000-0000-0000-000000000000}"/>
          </ac:spMkLst>
        </pc:spChg>
      </pc:sldChg>
      <pc:sldChg chg="delSp mod">
        <pc:chgData name="Mohammed Alomary" userId="76b0bf665ff091c5" providerId="LiveId" clId="{50056B30-86C0-4642-A456-66311E2E7021}" dt="2026-08-24T15:54:26.731" v="265" actId="478"/>
        <pc:sldMkLst>
          <pc:docMk/>
          <pc:sldMk cId="1289563119" sldId="340"/>
        </pc:sldMkLst>
        <pc:spChg chg="del">
          <ac:chgData name="Mohammed Alomary" userId="76b0bf665ff091c5" providerId="LiveId" clId="{50056B30-86C0-4642-A456-66311E2E7021}" dt="2026-08-24T15:54:26.731" v="265" actId="478"/>
          <ac:spMkLst>
            <pc:docMk/>
            <pc:sldMk cId="1289563119" sldId="340"/>
            <ac:spMk id="16" creationId="{00000000-0000-0000-0000-000000000000}"/>
          </ac:spMkLst>
        </pc:spChg>
      </pc:sldChg>
    </pc:docChg>
  </pc:docChgLst>
</pc:chgInfo>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28ED27-1427-44E0-835A-3B8ADCFB9F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3A51E0-5FFA-4598-B465-1954FFF91B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15C3D2-8231-44F2-BFD1-52D2BDC0CAAA}" type="datetimeFigureOut">
              <a:rPr lang="en-US" smtClean="0"/>
              <a:t>8/24/2026</a:t>
            </a:fld>
            <a:endParaRPr lang="en-US"/>
          </a:p>
        </p:txBody>
      </p:sp>
      <p:sp>
        <p:nvSpPr>
          <p:cNvPr id="4" name="SecloreFooter">
            <a:extLst>
              <a:ext uri="{FF2B5EF4-FFF2-40B4-BE49-F238E27FC236}">
                <a16:creationId xmlns:a16="http://schemas.microsoft.com/office/drawing/2014/main" id="{2F16FC97-2019-4D07-B084-00146FB1AEC4}"/>
              </a:ext>
            </a:extLst>
          </p:cNvPr>
          <p:cNvSpPr>
            <a:spLocks noGrp="1"/>
          </p:cNvSpPr>
          <p:nvPr>
            <p:ph type="ftr" sz="quarter" idx="2"/>
          </p:nvPr>
        </p:nvSpPr>
        <p:spPr>
          <a:xfrm>
            <a:off x="0" y="8685213"/>
            <a:ext cx="6858000" cy="458787"/>
          </a:xfrm>
          <a:prstGeom prst="rect">
            <a:avLst/>
          </a:prstGeom>
        </p:spPr>
        <p:txBody>
          <a:bodyPr vert="horz" lIns="91440" tIns="45720" rIns="91440" bIns="45720" rtlCol="0" anchor="b"/>
          <a:lstStyle>
            <a:lvl1pPr algn="l">
              <a:defRPr sz="1200"/>
            </a:lvl1pPr>
          </a:lstStyle>
          <a:p>
            <a:pPr algn="ctr"/>
            <a:r>
              <a:rPr lang="en-US">
                <a:solidFill>
                  <a:srgbClr val="F0C231"/>
                </a:solidFill>
              </a:rPr>
              <a:t>Restricted - </a:t>
            </a:r>
            <a:r>
              <a:rPr lang="ar-SA">
                <a:solidFill>
                  <a:srgbClr val="F0C231"/>
                </a:solidFill>
              </a:rPr>
              <a:t>مقيد</a:t>
            </a:r>
            <a:endParaRPr lang="en-US">
              <a:solidFill>
                <a:srgbClr val="F0C231"/>
              </a:solidFill>
            </a:endParaRPr>
          </a:p>
        </p:txBody>
      </p:sp>
      <p:sp>
        <p:nvSpPr>
          <p:cNvPr id="5" name="Slide Number Placeholder 4">
            <a:extLst>
              <a:ext uri="{FF2B5EF4-FFF2-40B4-BE49-F238E27FC236}">
                <a16:creationId xmlns:a16="http://schemas.microsoft.com/office/drawing/2014/main" id="{6D6C256D-DEBC-4A6B-8F27-56D64EEE9E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BCA73D-8CAD-452F-A637-60B5EE9FA3C9}" type="slidenum">
              <a:rPr lang="en-US" smtClean="0"/>
              <a:t>‹#›</a:t>
            </a:fld>
            <a:endParaRPr lang="en-US"/>
          </a:p>
        </p:txBody>
      </p:sp>
    </p:spTree>
    <p:extLst>
      <p:ext uri="{BB962C8B-B14F-4D97-AF65-F5344CB8AC3E}">
        <p14:creationId xmlns:p14="http://schemas.microsoft.com/office/powerpoint/2010/main" val="407205344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74E00-5CC4-4D6C-BF24-DE5C6A745B2D}"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ecloreFooter"/>
          <p:cNvSpPr>
            <a:spLocks noGrp="1"/>
          </p:cNvSpPr>
          <p:nvPr>
            <p:ph type="ftr" sz="quarter" idx="4"/>
          </p:nvPr>
        </p:nvSpPr>
        <p:spPr>
          <a:xfrm>
            <a:off x="0" y="8685213"/>
            <a:ext cx="6858000" cy="458787"/>
          </a:xfrm>
          <a:prstGeom prst="rect">
            <a:avLst/>
          </a:prstGeom>
        </p:spPr>
        <p:txBody>
          <a:bodyPr vert="horz" lIns="91440" tIns="45720" rIns="91440" bIns="45720" rtlCol="0" anchor="b"/>
          <a:lstStyle>
            <a:lvl1pPr algn="ctr">
              <a:defRPr sz="1200">
                <a:solidFill>
                  <a:srgbClr val="F0C231"/>
                </a:solidFill>
              </a:defRPr>
            </a:lvl1pPr>
          </a:lstStyle>
          <a:p>
            <a:r>
              <a:rPr lang="en-US"/>
              <a:t>Restricted - </a:t>
            </a:r>
            <a:r>
              <a:rPr lang="ar-SA"/>
              <a:t>مقيد</a:t>
            </a: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D74EBF-0156-40A1-8AD2-4719E675C44F}" type="slidenum">
              <a:rPr lang="en-US" smtClean="0"/>
              <a:t>‹#›</a:t>
            </a:fld>
            <a:endParaRPr lang="en-US"/>
          </a:p>
        </p:txBody>
      </p:sp>
    </p:spTree>
    <p:extLst>
      <p:ext uri="{BB962C8B-B14F-4D97-AF65-F5344CB8AC3E}">
        <p14:creationId xmlns:p14="http://schemas.microsoft.com/office/powerpoint/2010/main" val="22352037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accent4"/>
        </a:solidFill>
        <a:effectLst/>
      </p:bgPr>
    </p:bg>
    <p:spTree>
      <p:nvGrpSpPr>
        <p:cNvPr id="1" name=""/>
        <p:cNvGrpSpPr/>
        <p:nvPr/>
      </p:nvGrpSpPr>
      <p:grpSpPr>
        <a:xfrm>
          <a:off x="0" y="0"/>
          <a:ext cx="0" cy="0"/>
          <a:chOff x="0" y="0"/>
          <a:chExt cx="0" cy="0"/>
        </a:xfrm>
      </p:grpSpPr>
      <p:pic>
        <p:nvPicPr>
          <p:cNvPr id="7" name="bg-flat" descr="image-1.jpg">
            <a:extLst>
              <a:ext uri="{FF2B5EF4-FFF2-40B4-BE49-F238E27FC236}">
                <a16:creationId xmlns:a16="http://schemas.microsoft.com/office/drawing/2014/main" id="{584FDC5F-368D-4894-970C-3DBFD379BB95}"/>
              </a:ext>
            </a:extLst>
          </p:cNvPr>
          <p:cNvPicPr>
            <a:picLocks noChangeAspect="1"/>
          </p:cNvPicPr>
          <p:nvPr userDrawn="1"/>
        </p:nvPicPr>
        <p:blipFill>
          <a:blip r:embed="rId2"/>
          <a:srcRect l="8" r="8"/>
          <a:stretch>
            <a:fillRect/>
          </a:stretch>
        </p:blipFill>
        <p:spPr>
          <a:xfrm flipH="1">
            <a:off x="0" y="0"/>
            <a:ext cx="6858000" cy="3858260"/>
          </a:xfrm>
          <a:prstGeom prst="rect">
            <a:avLst/>
          </a:prstGeom>
        </p:spPr>
      </p:pic>
      <p:pic>
        <p:nvPicPr>
          <p:cNvPr id="8" name="logo-dga" descr="image-2.png">
            <a:extLst>
              <a:ext uri="{FF2B5EF4-FFF2-40B4-BE49-F238E27FC236}">
                <a16:creationId xmlns:a16="http://schemas.microsoft.com/office/drawing/2014/main" id="{D43EC58E-17CF-42FF-91F0-9039593B5463}"/>
              </a:ext>
            </a:extLst>
          </p:cNvPr>
          <p:cNvPicPr>
            <a:picLocks noChangeAspect="1"/>
          </p:cNvPicPr>
          <p:nvPr userDrawn="1"/>
        </p:nvPicPr>
        <p:blipFill>
          <a:blip r:embed="rId3"/>
          <a:srcRect t="69" b="69"/>
          <a:stretch>
            <a:fillRect/>
          </a:stretch>
        </p:blipFill>
        <p:spPr>
          <a:xfrm>
            <a:off x="5547360" y="299720"/>
            <a:ext cx="905510" cy="278130"/>
          </a:xfrm>
          <a:prstGeom prst="rect">
            <a:avLst/>
          </a:prstGeom>
        </p:spPr>
      </p:pic>
      <p:sp>
        <p:nvSpPr>
          <p:cNvPr id="19" name="SecloreFooter">
            <a:extLst>
              <a:ext uri="{FF2B5EF4-FFF2-40B4-BE49-F238E27FC236}">
                <a16:creationId xmlns:a16="http://schemas.microsoft.com/office/drawing/2014/main" id="{9DBA2678-E4D4-4F84-B96A-F699C24D4B0F}"/>
              </a:ext>
            </a:extLst>
          </p:cNvPr>
          <p:cNvSpPr>
            <a:spLocks noGrp="1"/>
          </p:cNvSpPr>
          <p:nvPr>
            <p:ph type="ftr" sz="quarter" idx="13"/>
          </p:nvPr>
        </p:nvSpPr>
        <p:spPr>
          <a:xfrm>
            <a:off x="0" y="3636346"/>
            <a:ext cx="6858000" cy="158275"/>
          </a:xfrm>
        </p:spPr>
        <p:txBody>
          <a:bodyPr/>
          <a:lstStyle>
            <a:lvl1pPr>
              <a:defRPr sz="1200"/>
            </a:lvl1pPr>
          </a:lstStyle>
          <a:p>
            <a:r>
              <a:rPr lang="en-US"/>
              <a:t>Restricted - </a:t>
            </a:r>
            <a:r>
              <a:rPr lang="ar-SA"/>
              <a:t>مقيد</a:t>
            </a:r>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Blank">
    <p:bg>
      <p:bgPr>
        <a:solidFill>
          <a:schemeClr val="accent4"/>
        </a:solidFill>
        <a:effectLst/>
      </p:bgPr>
    </p:bg>
    <p:spTree>
      <p:nvGrpSpPr>
        <p:cNvPr id="1" name=""/>
        <p:cNvGrpSpPr/>
        <p:nvPr/>
      </p:nvGrpSpPr>
      <p:grpSpPr>
        <a:xfrm>
          <a:off x="0" y="0"/>
          <a:ext cx="0" cy="0"/>
          <a:chOff x="0" y="0"/>
          <a:chExt cx="0" cy="0"/>
        </a:xfrm>
      </p:grpSpPr>
      <p:pic>
        <p:nvPicPr>
          <p:cNvPr id="6" name="bg-flat" descr="image-11.jpg">
            <a:extLst>
              <a:ext uri="{FF2B5EF4-FFF2-40B4-BE49-F238E27FC236}">
                <a16:creationId xmlns:a16="http://schemas.microsoft.com/office/drawing/2014/main" id="{7843F026-56CA-4A66-AF3C-4A6D47A47DA9}"/>
              </a:ext>
            </a:extLst>
          </p:cNvPr>
          <p:cNvPicPr>
            <a:picLocks noChangeAspect="1"/>
          </p:cNvPicPr>
          <p:nvPr userDrawn="1"/>
        </p:nvPicPr>
        <p:blipFill>
          <a:blip r:embed="rId2">
            <a:alphaModFix amt="25000"/>
          </a:blip>
          <a:srcRect l="8" r="8"/>
          <a:stretch>
            <a:fillRect/>
          </a:stretch>
        </p:blipFill>
        <p:spPr>
          <a:xfrm>
            <a:off x="0" y="0"/>
            <a:ext cx="6858000" cy="3858260"/>
          </a:xfrm>
          <a:prstGeom prst="rect">
            <a:avLst/>
          </a:prstGeom>
        </p:spPr>
      </p:pic>
      <p:sp>
        <p:nvSpPr>
          <p:cNvPr id="12" name="SecloreFooter">
            <a:extLst>
              <a:ext uri="{FF2B5EF4-FFF2-40B4-BE49-F238E27FC236}">
                <a16:creationId xmlns:a16="http://schemas.microsoft.com/office/drawing/2014/main" id="{683AB1CE-94CB-43B3-87DF-40DC3B6AE3F2}"/>
              </a:ext>
            </a:extLst>
          </p:cNvPr>
          <p:cNvSpPr>
            <a:spLocks noGrp="1"/>
          </p:cNvSpPr>
          <p:nvPr>
            <p:ph type="ftr" sz="quarter" idx="13"/>
          </p:nvPr>
        </p:nvSpPr>
        <p:spPr>
          <a:xfrm>
            <a:off x="0" y="3636346"/>
            <a:ext cx="6858000" cy="158275"/>
          </a:xfrm>
        </p:spPr>
        <p:txBody>
          <a:bodyPr/>
          <a:lstStyle>
            <a:lvl1pPr>
              <a:defRPr sz="1200">
                <a:latin typeface="DiodrumArabic-Medium" panose="00000600000000000000" pitchFamily="2" charset="-78"/>
                <a:cs typeface="DiodrumArabic-Medium" panose="00000600000000000000" pitchFamily="2" charset="-78"/>
              </a:defRPr>
            </a:lvl1pPr>
          </a:lstStyle>
          <a:p>
            <a:r>
              <a:rPr lang="en-US"/>
              <a:t>Restricted - </a:t>
            </a:r>
            <a:r>
              <a:rPr lang="ar-SA"/>
              <a:t>مقيد</a:t>
            </a:r>
            <a:endParaRPr lang="en-US" dirty="0"/>
          </a:p>
        </p:txBody>
      </p:sp>
      <p:sp>
        <p:nvSpPr>
          <p:cNvPr id="4" name="Title 1">
            <a:extLst>
              <a:ext uri="{FF2B5EF4-FFF2-40B4-BE49-F238E27FC236}">
                <a16:creationId xmlns:a16="http://schemas.microsoft.com/office/drawing/2014/main" id="{F3554D16-E81B-4DA3-8416-09B77FD1B6C4}"/>
              </a:ext>
            </a:extLst>
          </p:cNvPr>
          <p:cNvSpPr>
            <a:spLocks noGrp="1"/>
          </p:cNvSpPr>
          <p:nvPr>
            <p:ph type="title" hasCustomPrompt="1"/>
          </p:nvPr>
        </p:nvSpPr>
        <p:spPr>
          <a:xfrm>
            <a:off x="1905000" y="282864"/>
            <a:ext cx="4741983" cy="566771"/>
          </a:xfrm>
        </p:spPr>
        <p:txBody>
          <a:bodyPr>
            <a:normAutofit/>
          </a:bodyPr>
          <a:lstStyle>
            <a:lvl1pPr algn="r" rtl="1">
              <a:defRPr sz="2000" b="0">
                <a:ln w="12700">
                  <a:noFill/>
                </a:ln>
                <a:solidFill>
                  <a:schemeClr val="accent1"/>
                </a:solidFill>
                <a:latin typeface="DiodrumArabic-Bold" panose="00000800000000000000" pitchFamily="2" charset="-78"/>
                <a:cs typeface="DiodrumArabic-Bold" panose="00000800000000000000" pitchFamily="2" charset="-78"/>
              </a:defRPr>
            </a:lvl1pPr>
          </a:lstStyle>
          <a:p>
            <a:r>
              <a:rPr lang="ar-SA" dirty="0"/>
              <a:t>عنوان رئيسي</a:t>
            </a:r>
            <a:endParaRPr lang="en-PH" dirty="0"/>
          </a:p>
        </p:txBody>
      </p:sp>
    </p:spTree>
    <p:extLst>
      <p:ext uri="{BB962C8B-B14F-4D97-AF65-F5344CB8AC3E}">
        <p14:creationId xmlns:p14="http://schemas.microsoft.com/office/powerpoint/2010/main" val="2730977143"/>
      </p:ext>
    </p:extLst>
  </p:cSld>
  <p:clrMapOvr>
    <a:masterClrMapping/>
  </p:clrMapOvr>
  <p:extLst>
    <p:ext uri="{DCECCB84-F9BA-43D5-87BE-67443E8EF086}">
      <p15:sldGuideLst xmlns:p15="http://schemas.microsoft.com/office/powerpoint/2012/main">
        <p15:guide id="1" pos="192" userDrawn="1">
          <p15:clr>
            <a:srgbClr val="FBAE40"/>
          </p15:clr>
        </p15:guide>
        <p15:guide id="2" pos="4128" userDrawn="1">
          <p15:clr>
            <a:srgbClr val="FBAE40"/>
          </p15:clr>
        </p15:guide>
        <p15:guide id="3" orient="horz" pos="135" userDrawn="1">
          <p15:clr>
            <a:srgbClr val="FBAE40"/>
          </p15:clr>
        </p15:guide>
        <p15:guide id="4" orient="horz" pos="227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foot-left">
            <a:extLst>
              <a:ext uri="{FF2B5EF4-FFF2-40B4-BE49-F238E27FC236}">
                <a16:creationId xmlns:a16="http://schemas.microsoft.com/office/drawing/2014/main" id="{18A2B880-5C06-479F-8330-2DE03B08A0DE}"/>
              </a:ext>
            </a:extLst>
          </p:cNvPr>
          <p:cNvSpPr txBox="1"/>
          <p:nvPr userDrawn="1"/>
        </p:nvSpPr>
        <p:spPr>
          <a:xfrm>
            <a:off x="4674770" y="3687782"/>
            <a:ext cx="1399421" cy="61555"/>
          </a:xfrm>
          <a:prstGeom prst="rect">
            <a:avLst/>
          </a:prstGeom>
          <a:noFill/>
        </p:spPr>
        <p:txBody>
          <a:bodyPr wrap="square" lIns="0" tIns="0" rIns="0" bIns="0" anchor="ctr">
            <a:spAutoFit/>
          </a:bodyPr>
          <a:lstStyle/>
          <a:p>
            <a:pPr algn="ctr" rtl="1">
              <a:spcAft>
                <a:spcPts val="0"/>
              </a:spcAft>
            </a:pPr>
            <a:r>
              <a:rPr lang="ar-SA" sz="400" b="0" dirty="0">
                <a:solidFill>
                  <a:schemeClr val="tx1">
                    <a:alpha val="50000"/>
                  </a:schemeClr>
                </a:solidFill>
                <a:latin typeface="DiodrumArabic-Regular"/>
                <a:ea typeface="DiodrumArabic-Regular"/>
                <a:cs typeface="DiodrumArabic-Regular"/>
              </a:rPr>
              <a:t>مبادرة حاضنة الأبحاث</a:t>
            </a:r>
          </a:p>
        </p:txBody>
      </p:sp>
      <p:pic>
        <p:nvPicPr>
          <p:cNvPr id="9" name="Picture 8">
            <a:extLst>
              <a:ext uri="{FF2B5EF4-FFF2-40B4-BE49-F238E27FC236}">
                <a16:creationId xmlns:a16="http://schemas.microsoft.com/office/drawing/2014/main" id="{A85BFF15-1B1E-444C-B348-7FBFA5BD006F}"/>
              </a:ext>
            </a:extLst>
          </p:cNvPr>
          <p:cNvPicPr>
            <a:picLocks noChangeAspect="1"/>
          </p:cNvPicPr>
          <p:nvPr userDrawn="1"/>
        </p:nvPicPr>
        <p:blipFill>
          <a:blip r:embed="rId2"/>
          <a:stretch>
            <a:fillRect/>
          </a:stretch>
        </p:blipFill>
        <p:spPr>
          <a:xfrm>
            <a:off x="6175207" y="3627119"/>
            <a:ext cx="377993" cy="182880"/>
          </a:xfrm>
          <a:prstGeom prst="rect">
            <a:avLst/>
          </a:prstGeom>
        </p:spPr>
      </p:pic>
      <p:sp>
        <p:nvSpPr>
          <p:cNvPr id="13" name="Slide Number Placeholder 12">
            <a:extLst>
              <a:ext uri="{FF2B5EF4-FFF2-40B4-BE49-F238E27FC236}">
                <a16:creationId xmlns:a16="http://schemas.microsoft.com/office/drawing/2014/main" id="{A5D31568-2782-4533-816B-1FD73D12AACF}"/>
              </a:ext>
            </a:extLst>
          </p:cNvPr>
          <p:cNvSpPr>
            <a:spLocks noGrp="1"/>
          </p:cNvSpPr>
          <p:nvPr>
            <p:ph type="sldNum" sz="quarter" idx="12"/>
          </p:nvPr>
        </p:nvSpPr>
        <p:spPr>
          <a:xfrm>
            <a:off x="258183" y="3678872"/>
            <a:ext cx="94578" cy="73225"/>
          </a:xfrm>
          <a:noFill/>
        </p:spPr>
        <p:txBody>
          <a:bodyPr wrap="none" lIns="0" tIns="0" rIns="0" bIns="0" anchor="ctr">
            <a:spAutoFit/>
          </a:bodyPr>
          <a:lstStyle>
            <a:lvl1pPr>
              <a:defRPr lang="en-US" sz="476" b="0" smtClean="0">
                <a:solidFill>
                  <a:srgbClr val="753BBD"/>
                </a:solidFill>
                <a:latin typeface="DiodrumArabic-Bold"/>
                <a:ea typeface="DiodrumArabic-Bold"/>
                <a:cs typeface="DiodrumArabic-Bold"/>
              </a:defRPr>
            </a:lvl1pPr>
          </a:lstStyle>
          <a:p>
            <a:pPr algn="l"/>
            <a:fld id="{C1FF6DA9-008F-8B48-92A6-B652298478BF}" type="slidenum">
              <a:rPr lang="en-US" smtClean="0"/>
              <a:pPr algn="l"/>
              <a:t>‹#›</a:t>
            </a:fld>
            <a:endParaRPr lang="en-US" dirty="0"/>
          </a:p>
        </p:txBody>
      </p:sp>
      <p:sp>
        <p:nvSpPr>
          <p:cNvPr id="19" name="rule">
            <a:extLst>
              <a:ext uri="{FF2B5EF4-FFF2-40B4-BE49-F238E27FC236}">
                <a16:creationId xmlns:a16="http://schemas.microsoft.com/office/drawing/2014/main" id="{DEB63035-875F-44D5-B338-2E208EEB84FC}"/>
              </a:ext>
            </a:extLst>
          </p:cNvPr>
          <p:cNvSpPr/>
          <p:nvPr userDrawn="1"/>
        </p:nvSpPr>
        <p:spPr>
          <a:xfrm>
            <a:off x="304800" y="786130"/>
            <a:ext cx="6248400" cy="7620"/>
          </a:xfrm>
          <a:prstGeom prst="rect">
            <a:avLst/>
          </a:prstGeom>
          <a:solidFill>
            <a:srgbClr val="E0E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20" name="rule">
            <a:extLst>
              <a:ext uri="{FF2B5EF4-FFF2-40B4-BE49-F238E27FC236}">
                <a16:creationId xmlns:a16="http://schemas.microsoft.com/office/drawing/2014/main" id="{7B0BC02C-582B-42B8-A415-A9F6C9A4AA23}"/>
              </a:ext>
            </a:extLst>
          </p:cNvPr>
          <p:cNvSpPr/>
          <p:nvPr userDrawn="1"/>
        </p:nvSpPr>
        <p:spPr>
          <a:xfrm>
            <a:off x="304800" y="3610608"/>
            <a:ext cx="6248400" cy="7620"/>
          </a:xfrm>
          <a:prstGeom prst="rect">
            <a:avLst/>
          </a:prstGeom>
          <a:solidFill>
            <a:srgbClr val="E0E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23" name="SecloreFooter">
            <a:extLst>
              <a:ext uri="{FF2B5EF4-FFF2-40B4-BE49-F238E27FC236}">
                <a16:creationId xmlns:a16="http://schemas.microsoft.com/office/drawing/2014/main" id="{184EFBEE-87E8-45D1-90C8-DDF173E78AF2}"/>
              </a:ext>
            </a:extLst>
          </p:cNvPr>
          <p:cNvSpPr>
            <a:spLocks noGrp="1"/>
          </p:cNvSpPr>
          <p:nvPr>
            <p:ph type="ftr" sz="quarter" idx="13"/>
          </p:nvPr>
        </p:nvSpPr>
        <p:spPr>
          <a:xfrm>
            <a:off x="0" y="3636346"/>
            <a:ext cx="6858000" cy="158275"/>
          </a:xfrm>
        </p:spPr>
        <p:txBody>
          <a:bodyPr/>
          <a:lstStyle>
            <a:lvl1pPr>
              <a:defRPr sz="1200">
                <a:latin typeface="DiodrumArabic-Medium" panose="00000600000000000000" pitchFamily="2" charset="-78"/>
                <a:cs typeface="DiodrumArabic-Medium" panose="00000600000000000000" pitchFamily="2" charset="-78"/>
              </a:defRPr>
            </a:lvl1pPr>
          </a:lstStyle>
          <a:p>
            <a:r>
              <a:rPr lang="en-US"/>
              <a:t>Restricted - </a:t>
            </a:r>
            <a:r>
              <a:rPr lang="ar-SA"/>
              <a:t>مقيد</a:t>
            </a:r>
            <a:endParaRPr lang="en-US" dirty="0"/>
          </a:p>
        </p:txBody>
      </p:sp>
    </p:spTree>
    <p:extLst>
      <p:ext uri="{BB962C8B-B14F-4D97-AF65-F5344CB8AC3E}">
        <p14:creationId xmlns:p14="http://schemas.microsoft.com/office/powerpoint/2010/main" val="1212999818"/>
      </p:ext>
    </p:extLst>
  </p:cSld>
  <p:clrMapOvr>
    <a:masterClrMapping/>
  </p:clrMapOvr>
  <p:extLst>
    <p:ext uri="{DCECCB84-F9BA-43D5-87BE-67443E8EF086}">
      <p15:sldGuideLst xmlns:p15="http://schemas.microsoft.com/office/powerpoint/2012/main">
        <p15:guide id="1" pos="192" userDrawn="1">
          <p15:clr>
            <a:srgbClr val="FBAE40"/>
          </p15:clr>
        </p15:guide>
        <p15:guide id="2" pos="4128" userDrawn="1">
          <p15:clr>
            <a:srgbClr val="FBAE40"/>
          </p15:clr>
        </p15:guide>
        <p15:guide id="3" orient="horz" pos="135" userDrawn="1">
          <p15:clr>
            <a:srgbClr val="FBAE40"/>
          </p15:clr>
        </p15:guide>
        <p15:guide id="4" orient="horz" pos="227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accent4"/>
        </a:solidFill>
        <a:effectLst/>
      </p:bgPr>
    </p:bg>
    <p:spTree>
      <p:nvGrpSpPr>
        <p:cNvPr id="1" name=""/>
        <p:cNvGrpSpPr/>
        <p:nvPr/>
      </p:nvGrpSpPr>
      <p:grpSpPr>
        <a:xfrm>
          <a:off x="0" y="0"/>
          <a:ext cx="0" cy="0"/>
          <a:chOff x="0" y="0"/>
          <a:chExt cx="0" cy="0"/>
        </a:xfrm>
      </p:grpSpPr>
      <p:pic>
        <p:nvPicPr>
          <p:cNvPr id="11" name="bg-flat" descr="image-5.jpg">
            <a:extLst>
              <a:ext uri="{FF2B5EF4-FFF2-40B4-BE49-F238E27FC236}">
                <a16:creationId xmlns:a16="http://schemas.microsoft.com/office/drawing/2014/main" id="{A2D1F5AF-DF1E-424F-935C-7B217ED1DD56}"/>
              </a:ext>
            </a:extLst>
          </p:cNvPr>
          <p:cNvPicPr>
            <a:picLocks noChangeAspect="1"/>
          </p:cNvPicPr>
          <p:nvPr userDrawn="1"/>
        </p:nvPicPr>
        <p:blipFill>
          <a:blip r:embed="rId2"/>
          <a:srcRect l="8" r="8"/>
          <a:stretch>
            <a:fillRect/>
          </a:stretch>
        </p:blipFill>
        <p:spPr>
          <a:xfrm flipH="1">
            <a:off x="0" y="0"/>
            <a:ext cx="6858000" cy="3858260"/>
          </a:xfrm>
          <a:prstGeom prst="rect">
            <a:avLst/>
          </a:prstGeom>
        </p:spPr>
      </p:pic>
      <p:sp>
        <p:nvSpPr>
          <p:cNvPr id="14" name="SecloreFooter">
            <a:extLst>
              <a:ext uri="{FF2B5EF4-FFF2-40B4-BE49-F238E27FC236}">
                <a16:creationId xmlns:a16="http://schemas.microsoft.com/office/drawing/2014/main" id="{7DEA56E4-583F-4662-8F24-13C5CE347908}"/>
              </a:ext>
            </a:extLst>
          </p:cNvPr>
          <p:cNvSpPr>
            <a:spLocks noGrp="1"/>
          </p:cNvSpPr>
          <p:nvPr>
            <p:ph type="ftr" sz="quarter" idx="13"/>
          </p:nvPr>
        </p:nvSpPr>
        <p:spPr>
          <a:xfrm>
            <a:off x="0" y="3636346"/>
            <a:ext cx="6858000" cy="158275"/>
          </a:xfrm>
        </p:spPr>
        <p:txBody>
          <a:bodyPr/>
          <a:lstStyle>
            <a:lvl1pPr>
              <a:defRPr sz="1200">
                <a:latin typeface="DiodrumArabic-Medium" panose="00000600000000000000" pitchFamily="2" charset="-78"/>
                <a:cs typeface="DiodrumArabic-Medium" panose="00000600000000000000" pitchFamily="2" charset="-78"/>
              </a:defRPr>
            </a:lvl1pPr>
          </a:lstStyle>
          <a:p>
            <a:r>
              <a:rPr lang="en-US"/>
              <a:t>Restricted - </a:t>
            </a:r>
            <a:r>
              <a:rPr lang="ar-SA"/>
              <a:t>مقيد</a:t>
            </a:r>
            <a:endParaRPr lang="en-US" dirty="0"/>
          </a:p>
        </p:txBody>
      </p:sp>
    </p:spTree>
    <p:extLst>
      <p:ext uri="{BB962C8B-B14F-4D97-AF65-F5344CB8AC3E}">
        <p14:creationId xmlns:p14="http://schemas.microsoft.com/office/powerpoint/2010/main" val="182302359"/>
      </p:ext>
    </p:extLst>
  </p:cSld>
  <p:clrMapOvr>
    <a:masterClrMapping/>
  </p:clrMapOvr>
  <p:extLst>
    <p:ext uri="{DCECCB84-F9BA-43D5-87BE-67443E8EF086}">
      <p15:sldGuideLst xmlns:p15="http://schemas.microsoft.com/office/powerpoint/2012/main">
        <p15:guide id="1" pos="192" userDrawn="1">
          <p15:clr>
            <a:srgbClr val="FBAE40"/>
          </p15:clr>
        </p15:guide>
        <p15:guide id="2" pos="4128" userDrawn="1">
          <p15:clr>
            <a:srgbClr val="FBAE40"/>
          </p15:clr>
        </p15:guide>
        <p15:guide id="3" orient="horz" pos="135" userDrawn="1">
          <p15:clr>
            <a:srgbClr val="FBAE40"/>
          </p15:clr>
        </p15:guide>
        <p15:guide id="4" orient="horz" pos="227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accent4"/>
        </a:solidFill>
        <a:effectLst/>
      </p:bgPr>
    </p:bg>
    <p:spTree>
      <p:nvGrpSpPr>
        <p:cNvPr id="1" name=""/>
        <p:cNvGrpSpPr/>
        <p:nvPr/>
      </p:nvGrpSpPr>
      <p:grpSpPr>
        <a:xfrm>
          <a:off x="0" y="0"/>
          <a:ext cx="0" cy="0"/>
          <a:chOff x="0" y="0"/>
          <a:chExt cx="0" cy="0"/>
        </a:xfrm>
      </p:grpSpPr>
      <p:pic>
        <p:nvPicPr>
          <p:cNvPr id="5" name="bg-flat" descr="image-11.jpg">
            <a:extLst>
              <a:ext uri="{FF2B5EF4-FFF2-40B4-BE49-F238E27FC236}">
                <a16:creationId xmlns:a16="http://schemas.microsoft.com/office/drawing/2014/main" id="{75C2318A-DD61-402B-A367-A6B85726FE11}"/>
              </a:ext>
            </a:extLst>
          </p:cNvPr>
          <p:cNvPicPr>
            <a:picLocks noChangeAspect="1"/>
          </p:cNvPicPr>
          <p:nvPr userDrawn="1"/>
        </p:nvPicPr>
        <p:blipFill>
          <a:blip r:embed="rId2"/>
          <a:srcRect l="8" r="8"/>
          <a:stretch>
            <a:fillRect/>
          </a:stretch>
        </p:blipFill>
        <p:spPr>
          <a:xfrm>
            <a:off x="0" y="0"/>
            <a:ext cx="6858000" cy="3858260"/>
          </a:xfrm>
          <a:prstGeom prst="rect">
            <a:avLst/>
          </a:prstGeom>
        </p:spPr>
      </p:pic>
      <p:pic>
        <p:nvPicPr>
          <p:cNvPr id="6" name="logo-dga" descr="image-2.png">
            <a:extLst>
              <a:ext uri="{FF2B5EF4-FFF2-40B4-BE49-F238E27FC236}">
                <a16:creationId xmlns:a16="http://schemas.microsoft.com/office/drawing/2014/main" id="{9A072CD7-65CE-4C94-98D9-CDFC4DF4D6AF}"/>
              </a:ext>
            </a:extLst>
          </p:cNvPr>
          <p:cNvPicPr>
            <a:picLocks noChangeAspect="1"/>
          </p:cNvPicPr>
          <p:nvPr userDrawn="1"/>
        </p:nvPicPr>
        <p:blipFill>
          <a:blip r:embed="rId3"/>
          <a:srcRect l="48" r="48"/>
          <a:stretch>
            <a:fillRect/>
          </a:stretch>
        </p:blipFill>
        <p:spPr>
          <a:xfrm>
            <a:off x="2518410" y="1680210"/>
            <a:ext cx="1612900" cy="496570"/>
          </a:xfrm>
          <a:prstGeom prst="rect">
            <a:avLst/>
          </a:prstGeom>
        </p:spPr>
      </p:pic>
      <p:sp>
        <p:nvSpPr>
          <p:cNvPr id="11" name="SecloreFooter">
            <a:extLst>
              <a:ext uri="{FF2B5EF4-FFF2-40B4-BE49-F238E27FC236}">
                <a16:creationId xmlns:a16="http://schemas.microsoft.com/office/drawing/2014/main" id="{7C94650F-36DD-4EEE-A432-E7AEE3904FC4}"/>
              </a:ext>
            </a:extLst>
          </p:cNvPr>
          <p:cNvSpPr>
            <a:spLocks noGrp="1"/>
          </p:cNvSpPr>
          <p:nvPr>
            <p:ph type="ftr" sz="quarter" idx="13"/>
          </p:nvPr>
        </p:nvSpPr>
        <p:spPr>
          <a:xfrm>
            <a:off x="0" y="3636346"/>
            <a:ext cx="6858000" cy="158275"/>
          </a:xfrm>
        </p:spPr>
        <p:txBody>
          <a:bodyPr/>
          <a:lstStyle>
            <a:lvl1pPr>
              <a:defRPr sz="1200">
                <a:latin typeface="DiodrumArabic-Medium" panose="00000600000000000000" pitchFamily="2" charset="-78"/>
                <a:cs typeface="DiodrumArabic-Medium" panose="00000600000000000000" pitchFamily="2" charset="-78"/>
              </a:defRPr>
            </a:lvl1pPr>
          </a:lstStyle>
          <a:p>
            <a:r>
              <a:rPr lang="en-US"/>
              <a:t>Restricted - </a:t>
            </a:r>
            <a:r>
              <a:rPr lang="ar-SA"/>
              <a:t>مقيد</a:t>
            </a:r>
            <a:endParaRPr lang="en-US" dirty="0"/>
          </a:p>
        </p:txBody>
      </p:sp>
    </p:spTree>
    <p:extLst>
      <p:ext uri="{BB962C8B-B14F-4D97-AF65-F5344CB8AC3E}">
        <p14:creationId xmlns:p14="http://schemas.microsoft.com/office/powerpoint/2010/main" val="112701870"/>
      </p:ext>
    </p:extLst>
  </p:cSld>
  <p:clrMapOvr>
    <a:masterClrMapping/>
  </p:clrMapOvr>
  <p:extLst>
    <p:ext uri="{DCECCB84-F9BA-43D5-87BE-67443E8EF086}">
      <p15:sldGuideLst xmlns:p15="http://schemas.microsoft.com/office/powerpoint/2012/main">
        <p15:guide id="1" pos="192" userDrawn="1">
          <p15:clr>
            <a:srgbClr val="FBAE40"/>
          </p15:clr>
        </p15:guide>
        <p15:guide id="2" pos="4128" userDrawn="1">
          <p15:clr>
            <a:srgbClr val="FBAE40"/>
          </p15:clr>
        </p15:guide>
        <p15:guide id="3" orient="horz" pos="135" userDrawn="1">
          <p15:clr>
            <a:srgbClr val="FBAE40"/>
          </p15:clr>
        </p15:guide>
        <p15:guide id="4" orient="horz" pos="2277" userDrawn="1">
          <p15:clr>
            <a:srgbClr val="FBAE40"/>
          </p15:clr>
        </p15:guide>
      </p15:sldGuideLst>
    </p:ext>
  </p:extLst>
</p:sldLayout>
</file>

<file path=ppt/slideMasters/_rels/slideMaster1.xml.rels><?xml version="1.0" encoding="UTF-8"?><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60960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600201"/>
            <a:ext cx="6096000" cy="13182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3203257"/>
            <a:ext cx="1117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SecloreFooter"/>
          <p:cNvSpPr>
            <a:spLocks noGrp="1"/>
          </p:cNvSpPr>
          <p:nvPr>
            <p:ph type="ftr" sz="quarter" idx="3"/>
          </p:nvPr>
        </p:nvSpPr>
        <p:spPr>
          <a:xfrm>
            <a:off x="457200" y="3203257"/>
            <a:ext cx="6858000" cy="365125"/>
          </a:xfrm>
          <a:prstGeom prst="rect">
            <a:avLst/>
          </a:prstGeom>
        </p:spPr>
        <p:txBody>
          <a:bodyPr vert="horz" lIns="91440" tIns="45720" rIns="91440" bIns="45720" rtlCol="0" anchor="ctr"/>
          <a:lstStyle>
            <a:lvl1pPr algn="ctr">
              <a:defRPr sz="1200">
                <a:solidFill>
                  <a:srgbClr val="F0C231"/>
                </a:solidFill>
              </a:defRPr>
            </a:lvl1pPr>
          </a:lstStyle>
          <a:p>
            <a:r>
              <a:rPr lang="en-US"/>
              <a:t>Restricted - </a:t>
            </a:r>
            <a:r>
              <a:rPr lang="ar-SA"/>
              <a:t>مقيد</a:t>
            </a:r>
            <a:endParaRPr lang="en-US" dirty="0"/>
          </a:p>
        </p:txBody>
      </p:sp>
      <p:sp>
        <p:nvSpPr>
          <p:cNvPr id="6" name="Slide Number Placeholder 5"/>
          <p:cNvSpPr>
            <a:spLocks noGrp="1"/>
          </p:cNvSpPr>
          <p:nvPr>
            <p:ph type="sldNum" sz="quarter" idx="4"/>
          </p:nvPr>
        </p:nvSpPr>
        <p:spPr>
          <a:xfrm>
            <a:off x="5873750" y="3203257"/>
            <a:ext cx="6794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1" r:id="rId1"/>
    <p:sldLayoutId id="2147483674" r:id="rId2"/>
    <p:sldLayoutId id="2147483667" r:id="rId3"/>
    <p:sldLayoutId id="2147483672" r:id="rId4"/>
    <p:sldLayoutId id="2147483673" r:id="rId5"/>
  </p:sldLayoutIdLst>
  <p:hf hdr="0" ftr="0" dt="0"/>
  <p:txStyles>
    <p:titleStyle>
      <a:lvl1pPr algn="ctr" defTabSz="457200" rtl="0" eaLnBrk="1" latinLnBrk="0" hangingPunct="1">
        <a:spcBef>
          <a:spcPct val="0"/>
        </a:spcBef>
        <a:buNone/>
        <a:defRPr sz="2400" kern="1200">
          <a:solidFill>
            <a:schemeClr val="tx1"/>
          </a:solidFill>
          <a:latin typeface="DiodrumArabic-Bold"/>
          <a:ea typeface="DiodrumArabic-Bold"/>
          <a:cs typeface="DiodrumArabic-Bold"/>
        </a:defRPr>
      </a:lvl1pPr>
    </p:titleStyle>
    <p:bodyStyle>
      <a:lvl1pPr marL="342900" indent="-342900" algn="l" defTabSz="457200" rtl="0" eaLnBrk="1" latinLnBrk="0" hangingPunct="1">
        <a:spcBef>
          <a:spcPct val="20000"/>
        </a:spcBef>
        <a:buFont typeface="Arial"/>
        <a:buChar char="•"/>
        <a:defRPr sz="1600" kern="1200">
          <a:solidFill>
            <a:schemeClr val="tx1"/>
          </a:solidFill>
          <a:latin typeface="DiodrumArabic-Regular"/>
          <a:ea typeface="DiodrumArabic-Regular"/>
          <a:cs typeface="DiodrumArabic-Regular"/>
        </a:defRPr>
      </a:lvl1pPr>
      <a:lvl2pPr marL="742950" indent="-285750" algn="l" defTabSz="457200" rtl="0" eaLnBrk="1" latinLnBrk="0" hangingPunct="1">
        <a:spcBef>
          <a:spcPct val="20000"/>
        </a:spcBef>
        <a:buFont typeface="Arial"/>
        <a:buChar char="–"/>
        <a:defRPr sz="1400" kern="1200">
          <a:solidFill>
            <a:schemeClr val="tx1"/>
          </a:solidFill>
          <a:latin typeface="DiodrumArabic-Regular"/>
          <a:ea typeface="DiodrumArabic-Regular"/>
          <a:cs typeface="DiodrumArabic-Regular"/>
        </a:defRPr>
      </a:lvl2pPr>
      <a:lvl3pPr marL="1143000" indent="-228600" algn="l" defTabSz="457200" rtl="0" eaLnBrk="1" latinLnBrk="0" hangingPunct="1">
        <a:spcBef>
          <a:spcPct val="20000"/>
        </a:spcBef>
        <a:buFont typeface="Arial"/>
        <a:buChar char="•"/>
        <a:defRPr sz="1200" kern="1200">
          <a:solidFill>
            <a:schemeClr val="tx1"/>
          </a:solidFill>
          <a:latin typeface="DiodrumArabic-Regular"/>
          <a:ea typeface="DiodrumArabic-Regular"/>
          <a:cs typeface="DiodrumArabic-Regular"/>
        </a:defRPr>
      </a:lvl3pPr>
      <a:lvl4pPr marL="1600200" indent="-228600" algn="l" defTabSz="457200" rtl="0" eaLnBrk="1" latinLnBrk="0" hangingPunct="1">
        <a:spcBef>
          <a:spcPct val="20000"/>
        </a:spcBef>
        <a:buFont typeface="Arial"/>
        <a:buChar char="–"/>
        <a:defRPr sz="1100" kern="1200">
          <a:solidFill>
            <a:schemeClr val="tx1"/>
          </a:solidFill>
          <a:latin typeface="DiodrumArabic-Regular"/>
          <a:ea typeface="DiodrumArabic-Regular"/>
          <a:cs typeface="DiodrumArabic-Regular"/>
        </a:defRPr>
      </a:lvl4pPr>
      <a:lvl5pPr marL="2057400" indent="-228600" algn="l" defTabSz="457200" rtl="0" eaLnBrk="1" latinLnBrk="0" hangingPunct="1">
        <a:spcBef>
          <a:spcPct val="20000"/>
        </a:spcBef>
        <a:buFont typeface="Arial"/>
        <a:buChar char="»"/>
        <a:defRPr sz="1100" kern="1200">
          <a:solidFill>
            <a:schemeClr val="tx1"/>
          </a:solidFill>
          <a:latin typeface="DiodrumArabic-Regular"/>
          <a:ea typeface="DiodrumArabic-Regular"/>
          <a:cs typeface="DiodrumArabic-Regular"/>
        </a:defRPr>
      </a:lvl5pPr>
      <a:lvl6pPr marL="2514600" indent="-228600" algn="l" defTabSz="457200" rtl="0" eaLnBrk="1" latinLnBrk="0" hangingPunct="1">
        <a:spcBef>
          <a:spcPct val="20000"/>
        </a:spcBef>
        <a:buFont typeface="Arial"/>
        <a:buChar char="•"/>
        <a:defRPr sz="2000" kern="1200">
          <a:solidFill>
            <a:schemeClr val="tx1"/>
          </a:solidFill>
          <a:latin typeface="DiodrumArabic-Regular"/>
          <a:ea typeface="DiodrumArabic-Regular"/>
          <a:cs typeface="DiodrumArabic-Regular"/>
        </a:defRPr>
      </a:lvl6pPr>
      <a:lvl7pPr marL="2971800" indent="-228600" algn="l" defTabSz="457200" rtl="0" eaLnBrk="1" latinLnBrk="0" hangingPunct="1">
        <a:spcBef>
          <a:spcPct val="20000"/>
        </a:spcBef>
        <a:buFont typeface="Arial"/>
        <a:buChar char="•"/>
        <a:defRPr sz="2000" kern="1200">
          <a:solidFill>
            <a:schemeClr val="tx1"/>
          </a:solidFill>
          <a:latin typeface="DiodrumArabic-Regular"/>
          <a:ea typeface="DiodrumArabic-Regular"/>
          <a:cs typeface="DiodrumArabic-Regular"/>
        </a:defRPr>
      </a:lvl7pPr>
      <a:lvl8pPr marL="3429000" indent="-228600" algn="l" defTabSz="457200" rtl="0" eaLnBrk="1" latinLnBrk="0" hangingPunct="1">
        <a:spcBef>
          <a:spcPct val="20000"/>
        </a:spcBef>
        <a:buFont typeface="Arial"/>
        <a:buChar char="•"/>
        <a:defRPr sz="2000" kern="1200">
          <a:solidFill>
            <a:schemeClr val="tx1"/>
          </a:solidFill>
          <a:latin typeface="DiodrumArabic-Regular"/>
          <a:ea typeface="DiodrumArabic-Regular"/>
          <a:cs typeface="DiodrumArabic-Regular"/>
        </a:defRPr>
      </a:lvl8pPr>
      <a:lvl9pPr marL="3886200" indent="-228600" algn="l" defTabSz="457200" rtl="0" eaLnBrk="1" latinLnBrk="0" hangingPunct="1">
        <a:spcBef>
          <a:spcPct val="20000"/>
        </a:spcBef>
        <a:buFont typeface="Arial"/>
        <a:buChar char="•"/>
        <a:defRPr sz="2000" kern="1200">
          <a:solidFill>
            <a:schemeClr val="tx1"/>
          </a:solidFill>
          <a:latin typeface="DiodrumArabic-Regular"/>
          <a:ea typeface="DiodrumArabic-Regular"/>
          <a:cs typeface="DiodrumArabic-Regular"/>
        </a:defRPr>
      </a:lvl9pPr>
    </p:bodyStyle>
    <p:otherStyle>
      <a:defPPr>
        <a:defRPr lang="en-US">
          <a:latin typeface="DiodrumArabic-Regular"/>
          <a:cs typeface="DiodrumArabic-Regular"/>
        </a:defRPr>
      </a:defPPr>
      <a:lvl1pPr marL="0" algn="l" defTabSz="457200" rtl="0" eaLnBrk="1" latinLnBrk="0" hangingPunct="1">
        <a:defRPr sz="1800" kern="1200">
          <a:solidFill>
            <a:schemeClr val="tx1"/>
          </a:solidFill>
          <a:latin typeface="DiodrumArabic-Regular"/>
          <a:ea typeface="DiodrumArabic-Regular"/>
          <a:cs typeface="DiodrumArabic-Regular"/>
        </a:defRPr>
      </a:lvl1pPr>
      <a:lvl2pPr marL="457200" algn="l" defTabSz="457200" rtl="0" eaLnBrk="1" latinLnBrk="0" hangingPunct="1">
        <a:defRPr sz="1800" kern="1200">
          <a:solidFill>
            <a:schemeClr val="tx1"/>
          </a:solidFill>
          <a:latin typeface="DiodrumArabic-Regular"/>
          <a:ea typeface="DiodrumArabic-Regular"/>
          <a:cs typeface="DiodrumArabic-Regular"/>
        </a:defRPr>
      </a:lvl2pPr>
      <a:lvl3pPr marL="914400" algn="l" defTabSz="457200" rtl="0" eaLnBrk="1" latinLnBrk="0" hangingPunct="1">
        <a:defRPr sz="1800" kern="1200">
          <a:solidFill>
            <a:schemeClr val="tx1"/>
          </a:solidFill>
          <a:latin typeface="DiodrumArabic-Regular"/>
          <a:ea typeface="DiodrumArabic-Regular"/>
          <a:cs typeface="DiodrumArabic-Regular"/>
        </a:defRPr>
      </a:lvl3pPr>
      <a:lvl4pPr marL="1371600" algn="l" defTabSz="457200" rtl="0" eaLnBrk="1" latinLnBrk="0" hangingPunct="1">
        <a:defRPr sz="1800" kern="1200">
          <a:solidFill>
            <a:schemeClr val="tx1"/>
          </a:solidFill>
          <a:latin typeface="DiodrumArabic-Regular"/>
          <a:ea typeface="DiodrumArabic-Regular"/>
          <a:cs typeface="DiodrumArabic-Regular"/>
        </a:defRPr>
      </a:lvl4pPr>
      <a:lvl5pPr marL="1828800" algn="l" defTabSz="457200" rtl="0" eaLnBrk="1" latinLnBrk="0" hangingPunct="1">
        <a:defRPr sz="1800" kern="1200">
          <a:solidFill>
            <a:schemeClr val="tx1"/>
          </a:solidFill>
          <a:latin typeface="DiodrumArabic-Regular"/>
          <a:ea typeface="DiodrumArabic-Regular"/>
          <a:cs typeface="DiodrumArabic-Regular"/>
        </a:defRPr>
      </a:lvl5pPr>
      <a:lvl6pPr marL="2286000" algn="l" defTabSz="457200" rtl="0" eaLnBrk="1" latinLnBrk="0" hangingPunct="1">
        <a:defRPr sz="1800" kern="1200">
          <a:solidFill>
            <a:schemeClr val="tx1"/>
          </a:solidFill>
          <a:latin typeface="DiodrumArabic-Regular"/>
          <a:ea typeface="DiodrumArabic-Regular"/>
          <a:cs typeface="DiodrumArabic-Regular"/>
        </a:defRPr>
      </a:lvl6pPr>
      <a:lvl7pPr marL="2743200" algn="l" defTabSz="457200" rtl="0" eaLnBrk="1" latinLnBrk="0" hangingPunct="1">
        <a:defRPr sz="1800" kern="1200">
          <a:solidFill>
            <a:schemeClr val="tx1"/>
          </a:solidFill>
          <a:latin typeface="DiodrumArabic-Regular"/>
          <a:ea typeface="DiodrumArabic-Regular"/>
          <a:cs typeface="DiodrumArabic-Regular"/>
        </a:defRPr>
      </a:lvl7pPr>
      <a:lvl8pPr marL="3200400" algn="l" defTabSz="457200" rtl="0" eaLnBrk="1" latinLnBrk="0" hangingPunct="1">
        <a:defRPr sz="1800" kern="1200">
          <a:solidFill>
            <a:schemeClr val="tx1"/>
          </a:solidFill>
          <a:latin typeface="DiodrumArabic-Regular"/>
          <a:ea typeface="DiodrumArabic-Regular"/>
          <a:cs typeface="DiodrumArabic-Regular"/>
        </a:defRPr>
      </a:lvl8pPr>
      <a:lvl9pPr marL="3657600" algn="l" defTabSz="457200" rtl="0" eaLnBrk="1" latinLnBrk="0" hangingPunct="1">
        <a:defRPr sz="1800" kern="1200">
          <a:solidFill>
            <a:schemeClr val="tx1"/>
          </a:solidFill>
          <a:latin typeface="DiodrumArabic-Regular"/>
          <a:ea typeface="DiodrumArabic-Regular"/>
          <a:cs typeface="DiodrumArabic-Regular"/>
        </a:defRPr>
      </a:lvl9pPr>
    </p:otherStyle>
  </p:txStyles>
</p:sldMaster>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kku.png"/><Relationship Id="rId3" Type="http://schemas.openxmlformats.org/officeDocument/2006/relationships/image" Target="../media/kacst.png"/><Relationship Id="rId4" Type="http://schemas.openxmlformats.org/officeDocument/2006/relationships/image" Target="../media/kfupm.png"/><Relationship Id="rId5" Type="http://schemas.openxmlformats.org/officeDocument/2006/relationships/image" Target="../media/shaqra.png"/><Relationship Id="rId6" Type="http://schemas.openxmlformats.org/officeDocument/2006/relationships/image" Target="../media/unident_teal.png"/><Relationship Id="rId7" Type="http://schemas.openxmlformats.org/officeDocument/2006/relationships/image" Target="../media/rdia.png"/><Relationship Id="rId8" Type="http://schemas.openxmlformats.org/officeDocument/2006/relationships/image" Target="../media/dco.png"/><Relationship Id="rId9" Type="http://schemas.openxmlformats.org/officeDocument/2006/relationships/image" Target="../media/unident_1998.png"/><Relationship Id="rId10" Type="http://schemas.openxmlformats.org/officeDocument/2006/relationships/image" Target="../media/imam.png"/><Relationship Id="rId11" Type="http://schemas.openxmlformats.org/officeDocument/2006/relationships/image" Target="../media/ksu.png"/><Relationship Id="rId12" Type="http://schemas.openxmlformats.org/officeDocument/2006/relationships/image" Target="../media/alfaisal.png"/><Relationship Id="rId13" Type="http://schemas.openxmlformats.org/officeDocument/2006/relationships/image" Target="../media/seu.png"/><Relationship Id="rId14" Type="http://schemas.openxmlformats.org/officeDocument/2006/relationships/image" Target="../media/kaust.png"/><Relationship Id="rId15" Type="http://schemas.openxmlformats.org/officeDocument/2006/relationships/image" Target="../media/kau.png"/></Relationships>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badge"/>
          <p:cNvSpPr/>
          <p:nvPr/>
        </p:nvSpPr>
        <p:spPr>
          <a:xfrm>
            <a:off x="5349240" y="1188720"/>
            <a:ext cx="566928" cy="182880"/>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02" name="badge-text"/>
          <p:cNvSpPr txBox="1"/>
          <p:nvPr/>
        </p:nvSpPr>
        <p:spPr>
          <a:xfrm>
            <a:off x="5349240" y="1225296"/>
            <a:ext cx="566928" cy="118872"/>
          </a:xfrm>
          <a:prstGeom prst="rect">
            <a:avLst/>
          </a:prstGeom>
          <a:noFill/>
        </p:spPr>
        <p:txBody>
          <a:bodyPr wrap="square" lIns="0" tIns="0" rIns="0" bIns="0" anchor="ctr"/>
          <a:lstStyle/>
          <a:p>
            <a:pPr algn="ctr" rtl="1">
              <a:spcAft>
                <a:spcPts val="0"/>
              </a:spcAft>
            </a:pPr>
            <a:r>
              <a:rPr lang="ar-SA" sz="562" b="0" dirty="0">
                <a:solidFill>
                  <a:srgbClr val="24135F"/>
                </a:solidFill>
                <a:latin typeface="DiodrumArabic-Bold"/>
                <a:ea typeface="DiodrumArabic-Bold"/>
                <a:cs typeface="DiodrumArabic-Bold"/>
              </a:rPr>
              <a:t>مبادرة</a:t>
            </a:r>
          </a:p>
        </p:txBody>
      </p:sp>
      <p:sp>
        <p:nvSpPr>
          <p:cNvPr id="1003" name="title"/>
          <p:cNvSpPr txBox="1"/>
          <p:nvPr/>
        </p:nvSpPr>
        <p:spPr>
          <a:xfrm>
            <a:off x="3566160" y="1481328"/>
            <a:ext cx="2624328" cy="566928"/>
          </a:xfrm>
          <a:prstGeom prst="rect">
            <a:avLst/>
          </a:prstGeom>
          <a:noFill/>
        </p:spPr>
        <p:txBody>
          <a:bodyPr wrap="square" lIns="0" tIns="0" rIns="0" bIns="0" anchor="t"/>
          <a:lstStyle/>
          <a:p>
            <a:pPr algn="r" rtl="1">
              <a:lnSpc>
                <a:spcPct val="118000"/>
              </a:lnSpc>
              <a:spcAft>
                <a:spcPts val="0"/>
              </a:spcAft>
            </a:pPr>
            <a:r>
              <a:rPr lang="ar-SA" sz="2200" b="0" dirty="0">
                <a:solidFill>
                  <a:srgbClr val="FFFFFF"/>
                </a:solidFill>
                <a:latin typeface="DiodrumArabic-Bold"/>
                <a:ea typeface="DiodrumArabic-Bold"/>
                <a:cs typeface="DiodrumArabic-Bold"/>
              </a:rPr>
              <a:t>حاضنة الأبحاث</a:t>
            </a:r>
          </a:p>
        </p:txBody>
      </p:sp>
      <p:sp>
        <p:nvSpPr>
          <p:cNvPr id="1004" name="identity"/>
          <p:cNvSpPr txBox="1"/>
          <p:nvPr/>
        </p:nvSpPr>
        <p:spPr>
          <a:xfrm>
            <a:off x="3566160" y="1956816"/>
            <a:ext cx="2624328" cy="146304"/>
          </a:xfrm>
          <a:prstGeom prst="rect">
            <a:avLst/>
          </a:prstGeom>
          <a:noFill/>
        </p:spPr>
        <p:txBody>
          <a:bodyPr wrap="square" lIns="0" tIns="0" rIns="0" bIns="0" anchor="t"/>
          <a:lstStyle/>
          <a:p>
            <a:pPr algn="r" rtl="1">
              <a:spcAft>
                <a:spcPts val="0"/>
              </a:spcAft>
            </a:pPr>
            <a:r>
              <a:rPr lang="ar-SA" sz="740" b="0" dirty="0">
                <a:solidFill>
                  <a:srgbClr val="1CC182"/>
                </a:solidFill>
                <a:latin typeface="DiodrumArabic-Semibold"/>
                <a:ea typeface="DiodrumArabic-Semibold"/>
                <a:cs typeface="DiodrumArabic-Semibold"/>
              </a:rPr>
              <a:t>مركز المعرفة الذي يربط البحث بالتطبيق</a:t>
            </a:r>
          </a:p>
        </p:txBody>
      </p:sp>
      <p:sp>
        <p:nvSpPr>
          <p:cNvPr id="1005" name="accent-bar"/>
          <p:cNvSpPr/>
          <p:nvPr/>
        </p:nvSpPr>
        <p:spPr>
          <a:xfrm>
            <a:off x="5815584" y="2157984"/>
            <a:ext cx="214884" cy="29261"/>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06" name="subtitle"/>
          <p:cNvSpPr txBox="1"/>
          <p:nvPr/>
        </p:nvSpPr>
        <p:spPr>
          <a:xfrm>
            <a:off x="1828800" y="2304288"/>
            <a:ext cx="4361688" cy="502920"/>
          </a:xfrm>
          <a:prstGeom prst="rect">
            <a:avLst/>
          </a:prstGeom>
          <a:noFill/>
        </p:spPr>
        <p:txBody>
          <a:bodyPr wrap="square" lIns="0" tIns="0" rIns="0" bIns="0" anchor="t"/>
          <a:lstStyle/>
          <a:p>
            <a:pPr algn="r" rtl="1">
              <a:lnSpc>
                <a:spcPct val="140000"/>
              </a:lnSpc>
              <a:spcAft>
                <a:spcPts val="0"/>
              </a:spcAft>
            </a:pPr>
            <a:r>
              <a:rPr lang="ar-SA" sz="720" b="0" dirty="0">
                <a:solidFill>
                  <a:srgbClr val="FFFFFF"/>
                </a:solidFill>
                <a:latin typeface="DiodrumArabic-Semibold"/>
                <a:ea typeface="DiodrumArabic-Semibold"/>
                <a:cs typeface="DiodrumArabic-Semibold"/>
              </a:rPr>
              <a:t>من الفكرة إلى التطبيق: ربط الأبحاث والدراسات بأولويات الحكومة الرقمية، وتمكين تحويل مخرجاتها إلى حلول ومعرفة قابلة للاستفادة</a:t>
            </a:r>
          </a:p>
        </p:txBody>
      </p:sp>
      <p:sp>
        <p:nvSpPr>
          <p:cNvPr id="1007" name="srcline"/>
          <p:cNvSpPr txBox="1"/>
          <p:nvPr/>
        </p:nvSpPr>
        <p:spPr>
          <a:xfrm>
            <a:off x="5212080" y="3017520"/>
            <a:ext cx="713232" cy="91440"/>
          </a:xfrm>
          <a:prstGeom prst="rect">
            <a:avLst/>
          </a:prstGeom>
          <a:noFill/>
        </p:spPr>
        <p:txBody>
          <a:bodyPr wrap="square" lIns="0" tIns="0" rIns="0" bIns="0" anchor="t"/>
          <a:lstStyle/>
          <a:p>
            <a:pPr algn="r" rtl="1">
              <a:spcAft>
                <a:spcPts val="0"/>
              </a:spcAft>
            </a:pPr>
            <a:r>
              <a:rPr lang="ar-SA" sz="460" b="0" dirty="0">
                <a:solidFill>
                  <a:srgbClr val="FFFFFF">
                    <a:alpha val="50000"/>
                  </a:srgbClr>
                </a:solidFill>
                <a:latin typeface="DiodrumArabic-Regular"/>
                <a:ea typeface="DiodrumArabic-Regular"/>
                <a:cs typeface="DiodrumArabic-Regular"/>
              </a:rPr>
              <a:t>هيئة الحكومة الرقمية · 2026</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title"/>
          <p:cNvSpPr txBox="1"/>
          <p:nvPr/>
        </p:nvSpPr>
        <p:spPr>
          <a:xfrm>
            <a:off x="5212080" y="457200"/>
            <a:ext cx="1042416" cy="164592"/>
          </a:xfrm>
          <a:prstGeom prst="rect">
            <a:avLst/>
          </a:prstGeom>
          <a:noFill/>
        </p:spPr>
        <p:txBody>
          <a:bodyPr wrap="square" lIns="0" tIns="0" rIns="0" bIns="0" anchor="t"/>
          <a:lstStyle/>
          <a:p>
            <a:pPr algn="r" rtl="1">
              <a:spcAft>
                <a:spcPts val="0"/>
              </a:spcAft>
            </a:pPr>
            <a:r>
              <a:rPr lang="ar-SA" sz="950" b="0" dirty="0">
                <a:solidFill>
                  <a:srgbClr val="FFFFFF"/>
                </a:solidFill>
                <a:latin typeface="DiodrumArabic-Bold"/>
                <a:ea typeface="DiodrumArabic-Bold"/>
                <a:cs typeface="DiodrumArabic-Bold"/>
              </a:rPr>
              <a:t>المحتويات</a:t>
            </a:r>
          </a:p>
        </p:txBody>
      </p:sp>
      <p:sp>
        <p:nvSpPr>
          <p:cNvPr id="1009" name="s0"/>
          <p:cNvSpPr/>
          <p:nvPr/>
        </p:nvSpPr>
        <p:spPr>
          <a:xfrm>
            <a:off x="3483864" y="969264"/>
            <a:ext cx="3063240" cy="740664"/>
          </a:xfrm>
          <a:prstGeom prst="roundRect">
            <a:avLst>
              <a:gd name="adj" fmla="val 6419"/>
            </a:avLst>
          </a:prstGeom>
          <a:solidFill>
            <a:schemeClr val="tx1">
              <a:alpha val="25000"/>
            </a:schemeClr>
          </a:solidFill>
          <a:ln w="7144">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10" name="s0-badge"/>
          <p:cNvSpPr/>
          <p:nvPr/>
        </p:nvSpPr>
        <p:spPr>
          <a:xfrm>
            <a:off x="6163056" y="1088136"/>
            <a:ext cx="274320" cy="265176"/>
          </a:xfrm>
          <a:prstGeom prst="roundRect">
            <a:avLst>
              <a:gd name="adj" fmla="val 28599"/>
            </a:avLst>
          </a:prstGeom>
          <a:gradFill>
            <a:gsLst>
              <a:gs pos="0">
                <a:srgbClr val="24135F"/>
              </a:gs>
              <a:gs pos="100000">
                <a:srgbClr val="1CC182"/>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11" name="s0-num"/>
          <p:cNvSpPr txBox="1"/>
          <p:nvPr/>
        </p:nvSpPr>
        <p:spPr>
          <a:xfrm>
            <a:off x="6163056" y="1088136"/>
            <a:ext cx="274320" cy="256032"/>
          </a:xfrm>
          <a:prstGeom prst="rect">
            <a:avLst/>
          </a:prstGeom>
          <a:noFill/>
        </p:spPr>
        <p:txBody>
          <a:bodyPr wrap="square" lIns="0" tIns="0" rIns="0" bIns="0" anchor="ctr"/>
          <a:lstStyle/>
          <a:p>
            <a:pPr algn="ctr">
              <a:spcAft>
                <a:spcPts val="0"/>
              </a:spcAft>
            </a:pPr>
            <a:r>
              <a:rPr lang="en-US" sz="660" b="0" dirty="0">
                <a:solidFill>
                  <a:srgbClr val="FFFFFF"/>
                </a:solidFill>
                <a:latin typeface="DiodrumArabic-Bold"/>
                <a:ea typeface="DiodrumArabic-Bold"/>
                <a:cs typeface="DiodrumArabic-Bold"/>
              </a:rPr>
              <a:t>01</a:t>
            </a:r>
          </a:p>
        </p:txBody>
      </p:sp>
      <p:sp>
        <p:nvSpPr>
          <p:cNvPr id="1012" name="s0-title"/>
          <p:cNvSpPr txBox="1"/>
          <p:nvPr/>
        </p:nvSpPr>
        <p:spPr>
          <a:xfrm>
            <a:off x="3648456" y="1069848"/>
            <a:ext cx="2148840" cy="274320"/>
          </a:xfrm>
          <a:prstGeom prst="rect">
            <a:avLst/>
          </a:prstGeom>
          <a:noFill/>
        </p:spPr>
        <p:txBody>
          <a:bodyPr wrap="square" lIns="0" tIns="0" rIns="0" bIns="0" anchor="t"/>
          <a:lstStyle/>
          <a:p>
            <a:pPr algn="r" rtl="1">
              <a:lnSpc>
                <a:spcPct val="115000"/>
              </a:lnSpc>
              <a:spcAft>
                <a:spcPts val="0"/>
              </a:spcAft>
            </a:pPr>
            <a:r>
              <a:rPr lang="ar-SA" sz="680" b="0" dirty="0">
                <a:solidFill>
                  <a:srgbClr val="FFFFFF"/>
                </a:solidFill>
                <a:latin typeface="DiodrumArabic-Bold"/>
                <a:ea typeface="DiodrumArabic-Bold"/>
                <a:cs typeface="DiodrumArabic-Bold"/>
              </a:rPr>
              <a:t>حاضنة الأبحاث</a:t>
            </a:r>
          </a:p>
        </p:txBody>
      </p:sp>
      <p:sp>
        <p:nvSpPr>
          <p:cNvPr id="1013" name="s0-desc"/>
          <p:cNvSpPr txBox="1"/>
          <p:nvPr/>
        </p:nvSpPr>
        <p:spPr>
          <a:xfrm>
            <a:off x="3648456" y="1353312"/>
            <a:ext cx="2752344" cy="292608"/>
          </a:xfrm>
          <a:prstGeom prst="rect">
            <a:avLst/>
          </a:prstGeom>
          <a:noFill/>
        </p:spPr>
        <p:txBody>
          <a:bodyPr wrap="square" lIns="0" tIns="0" rIns="0" bIns="0" anchor="t"/>
          <a:lstStyle/>
          <a:p>
            <a:pPr algn="r" rtl="1">
              <a:lnSpc>
                <a:spcPct val="125000"/>
              </a:lnSpc>
              <a:spcAft>
                <a:spcPts val="0"/>
              </a:spcAft>
            </a:pPr>
            <a:r>
              <a:rPr lang="ar-SA" sz="500" b="0" dirty="0">
                <a:solidFill>
                  <a:srgbClr val="DCD3F0"/>
                </a:solidFill>
                <a:latin typeface="DiodrumArabic-Medium"/>
                <a:ea typeface="DiodrumArabic-Medium"/>
                <a:cs typeface="DiodrumArabic-Medium"/>
              </a:rPr>
              <a:t>التعريف، الأهداف، نموذج العمل، الشراكات، وقنوات التفعيل</a:t>
            </a:r>
          </a:p>
        </p:txBody>
      </p:sp>
      <p:sp>
        <p:nvSpPr>
          <p:cNvPr id="1014" name="s0-page-pill"/>
          <p:cNvSpPr/>
          <p:nvPr/>
        </p:nvSpPr>
        <p:spPr>
          <a:xfrm>
            <a:off x="3575304" y="1060704"/>
            <a:ext cx="475488" cy="137160"/>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15" name="s0-page"/>
          <p:cNvSpPr txBox="1"/>
          <p:nvPr/>
        </p:nvSpPr>
        <p:spPr>
          <a:xfrm>
            <a:off x="3575304" y="1060704"/>
            <a:ext cx="475488" cy="137160"/>
          </a:xfrm>
          <a:prstGeom prst="rect">
            <a:avLst/>
          </a:prstGeom>
          <a:noFill/>
        </p:spPr>
        <p:txBody>
          <a:bodyPr wrap="square" lIns="0" tIns="0" rIns="0" bIns="0" anchor="ctr"/>
          <a:lstStyle/>
          <a:p>
            <a:pPr algn="ctr" rtl="1">
              <a:spcAft>
                <a:spcPts val="0"/>
              </a:spcAft>
            </a:pPr>
            <a:r>
              <a:rPr lang="ar-SA" sz="420" b="0" dirty="0">
                <a:solidFill>
                  <a:srgbClr val="753BBD"/>
                </a:solidFill>
                <a:latin typeface="DiodrumArabic-Semibold"/>
                <a:ea typeface="DiodrumArabic-Semibold"/>
                <a:cs typeface="DiodrumArabic-Semibold"/>
              </a:rPr>
              <a:t>صفحة 05</a:t>
            </a:r>
          </a:p>
        </p:txBody>
      </p:sp>
      <p:sp>
        <p:nvSpPr>
          <p:cNvPr id="1016" name="s1"/>
          <p:cNvSpPr/>
          <p:nvPr/>
        </p:nvSpPr>
        <p:spPr>
          <a:xfrm>
            <a:off x="3483864" y="1819656"/>
            <a:ext cx="3063240" cy="740664"/>
          </a:xfrm>
          <a:prstGeom prst="roundRect">
            <a:avLst>
              <a:gd name="adj" fmla="val 6419"/>
            </a:avLst>
          </a:prstGeom>
          <a:solidFill>
            <a:schemeClr val="tx1">
              <a:alpha val="25000"/>
            </a:schemeClr>
          </a:solidFill>
          <a:ln w="7144">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17" name="s1-badge"/>
          <p:cNvSpPr/>
          <p:nvPr/>
        </p:nvSpPr>
        <p:spPr>
          <a:xfrm>
            <a:off x="6163056" y="1938528"/>
            <a:ext cx="274320" cy="265176"/>
          </a:xfrm>
          <a:prstGeom prst="roundRect">
            <a:avLst>
              <a:gd name="adj" fmla="val 28599"/>
            </a:avLst>
          </a:prstGeom>
          <a:gradFill>
            <a:gsLst>
              <a:gs pos="0">
                <a:srgbClr val="24135F"/>
              </a:gs>
              <a:gs pos="100000">
                <a:srgbClr val="1CC182"/>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18" name="s1-num"/>
          <p:cNvSpPr txBox="1"/>
          <p:nvPr/>
        </p:nvSpPr>
        <p:spPr>
          <a:xfrm>
            <a:off x="6163056" y="1938528"/>
            <a:ext cx="274320" cy="256032"/>
          </a:xfrm>
          <a:prstGeom prst="rect">
            <a:avLst/>
          </a:prstGeom>
          <a:noFill/>
        </p:spPr>
        <p:txBody>
          <a:bodyPr wrap="square" lIns="0" tIns="0" rIns="0" bIns="0" anchor="ctr"/>
          <a:lstStyle/>
          <a:p>
            <a:pPr algn="ctr">
              <a:spcAft>
                <a:spcPts val="0"/>
              </a:spcAft>
            </a:pPr>
            <a:r>
              <a:rPr lang="en-US" sz="660" b="0" dirty="0">
                <a:solidFill>
                  <a:srgbClr val="FFFFFF"/>
                </a:solidFill>
                <a:latin typeface="DiodrumArabic-Bold"/>
                <a:ea typeface="DiodrumArabic-Bold"/>
                <a:cs typeface="DiodrumArabic-Bold"/>
              </a:rPr>
              <a:t>02</a:t>
            </a:r>
          </a:p>
        </p:txBody>
      </p:sp>
      <p:sp>
        <p:nvSpPr>
          <p:cNvPr id="1019" name="s1-title"/>
          <p:cNvSpPr txBox="1"/>
          <p:nvPr/>
        </p:nvSpPr>
        <p:spPr>
          <a:xfrm>
            <a:off x="3648456" y="1920240"/>
            <a:ext cx="2148840" cy="274320"/>
          </a:xfrm>
          <a:prstGeom prst="rect">
            <a:avLst/>
          </a:prstGeom>
          <a:noFill/>
        </p:spPr>
        <p:txBody>
          <a:bodyPr wrap="square" lIns="0" tIns="0" rIns="0" bIns="0" anchor="t"/>
          <a:lstStyle/>
          <a:p>
            <a:pPr algn="r" rtl="1">
              <a:lnSpc>
                <a:spcPct val="115000"/>
              </a:lnSpc>
              <a:spcAft>
                <a:spcPts val="0"/>
              </a:spcAft>
            </a:pPr>
            <a:r>
              <a:rPr lang="ar-SA" sz="680" b="0" dirty="0">
                <a:solidFill>
                  <a:srgbClr val="FFFFFF"/>
                </a:solidFill>
                <a:latin typeface="DiodrumArabic-Bold"/>
                <a:ea typeface="DiodrumArabic-Bold"/>
                <a:cs typeface="DiodrumArabic-Bold"/>
              </a:rPr>
              <a:t>ملتقى البحث والابتكار الحكومي</a:t>
            </a:r>
          </a:p>
        </p:txBody>
      </p:sp>
      <p:sp>
        <p:nvSpPr>
          <p:cNvPr id="1020" name="s1-desc"/>
          <p:cNvSpPr txBox="1"/>
          <p:nvPr/>
        </p:nvSpPr>
        <p:spPr>
          <a:xfrm>
            <a:off x="3648456" y="2203704"/>
            <a:ext cx="2752344" cy="292608"/>
          </a:xfrm>
          <a:prstGeom prst="rect">
            <a:avLst/>
          </a:prstGeom>
          <a:noFill/>
        </p:spPr>
        <p:txBody>
          <a:bodyPr wrap="square" lIns="0" tIns="0" rIns="0" bIns="0" anchor="t"/>
          <a:lstStyle/>
          <a:p>
            <a:pPr algn="r" rtl="1">
              <a:lnSpc>
                <a:spcPct val="125000"/>
              </a:lnSpc>
              <a:spcAft>
                <a:spcPts val="0"/>
              </a:spcAft>
            </a:pPr>
            <a:r>
              <a:rPr lang="ar-SA" sz="500" b="0" dirty="0">
                <a:solidFill>
                  <a:srgbClr val="DCD3F0"/>
                </a:solidFill>
                <a:latin typeface="DiodrumArabic-Medium"/>
                <a:ea typeface="DiodrumArabic-Medium"/>
                <a:cs typeface="DiodrumArabic-Medium"/>
              </a:rPr>
              <a:t>أداة التفعيل الأولى — من الفكرة إلى التأثير</a:t>
            </a:r>
          </a:p>
        </p:txBody>
      </p:sp>
      <p:sp>
        <p:nvSpPr>
          <p:cNvPr id="1021" name="s1-page-pill"/>
          <p:cNvSpPr/>
          <p:nvPr/>
        </p:nvSpPr>
        <p:spPr>
          <a:xfrm>
            <a:off x="3575304" y="1911096"/>
            <a:ext cx="475488" cy="137160"/>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22" name="s1-page"/>
          <p:cNvSpPr txBox="1"/>
          <p:nvPr/>
        </p:nvSpPr>
        <p:spPr>
          <a:xfrm>
            <a:off x="3575304" y="1911096"/>
            <a:ext cx="475488" cy="137160"/>
          </a:xfrm>
          <a:prstGeom prst="rect">
            <a:avLst/>
          </a:prstGeom>
          <a:noFill/>
        </p:spPr>
        <p:txBody>
          <a:bodyPr wrap="square" lIns="0" tIns="0" rIns="0" bIns="0" anchor="ctr"/>
          <a:lstStyle/>
          <a:p>
            <a:pPr algn="ctr" rtl="1">
              <a:spcAft>
                <a:spcPts val="0"/>
              </a:spcAft>
            </a:pPr>
            <a:r>
              <a:rPr lang="ar-SA" sz="420" b="0" dirty="0">
                <a:solidFill>
                  <a:srgbClr val="753BBD"/>
                </a:solidFill>
                <a:latin typeface="DiodrumArabic-Semibold"/>
                <a:ea typeface="DiodrumArabic-Semibold"/>
                <a:cs typeface="DiodrumArabic-Semibold"/>
              </a:rPr>
              <a:t>صفحة 16</a:t>
            </a:r>
          </a:p>
        </p:txBody>
      </p:sp>
      <p:sp>
        <p:nvSpPr>
          <p:cNvPr id="1023" name="s2"/>
          <p:cNvSpPr/>
          <p:nvPr/>
        </p:nvSpPr>
        <p:spPr>
          <a:xfrm>
            <a:off x="3483864" y="2670048"/>
            <a:ext cx="3063240" cy="740664"/>
          </a:xfrm>
          <a:prstGeom prst="roundRect">
            <a:avLst>
              <a:gd name="adj" fmla="val 6419"/>
            </a:avLst>
          </a:prstGeom>
          <a:solidFill>
            <a:schemeClr val="tx1">
              <a:alpha val="25000"/>
            </a:schemeClr>
          </a:solidFill>
          <a:ln w="7144">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24" name="s2-badge"/>
          <p:cNvSpPr/>
          <p:nvPr/>
        </p:nvSpPr>
        <p:spPr>
          <a:xfrm>
            <a:off x="6163056" y="2788920"/>
            <a:ext cx="274320" cy="265176"/>
          </a:xfrm>
          <a:prstGeom prst="roundRect">
            <a:avLst>
              <a:gd name="adj" fmla="val 28599"/>
            </a:avLst>
          </a:prstGeom>
          <a:gradFill>
            <a:gsLst>
              <a:gs pos="0">
                <a:srgbClr val="24135F"/>
              </a:gs>
              <a:gs pos="100000">
                <a:srgbClr val="1CC182"/>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25" name="s2-num"/>
          <p:cNvSpPr txBox="1"/>
          <p:nvPr/>
        </p:nvSpPr>
        <p:spPr>
          <a:xfrm>
            <a:off x="6163056" y="2788920"/>
            <a:ext cx="274320" cy="256032"/>
          </a:xfrm>
          <a:prstGeom prst="rect">
            <a:avLst/>
          </a:prstGeom>
          <a:noFill/>
        </p:spPr>
        <p:txBody>
          <a:bodyPr wrap="square" lIns="0" tIns="0" rIns="0" bIns="0" anchor="ctr"/>
          <a:lstStyle/>
          <a:p>
            <a:pPr algn="ctr">
              <a:spcAft>
                <a:spcPts val="0"/>
              </a:spcAft>
            </a:pPr>
            <a:r>
              <a:rPr lang="en-US" sz="660" b="0" dirty="0">
                <a:solidFill>
                  <a:srgbClr val="FFFFFF"/>
                </a:solidFill>
                <a:latin typeface="DiodrumArabic-Bold"/>
                <a:ea typeface="DiodrumArabic-Bold"/>
                <a:cs typeface="DiodrumArabic-Bold"/>
              </a:rPr>
              <a:t>03</a:t>
            </a:r>
          </a:p>
        </p:txBody>
      </p:sp>
      <p:sp>
        <p:nvSpPr>
          <p:cNvPr id="1026" name="s2-title"/>
          <p:cNvSpPr txBox="1"/>
          <p:nvPr/>
        </p:nvSpPr>
        <p:spPr>
          <a:xfrm>
            <a:off x="3648456" y="2770632"/>
            <a:ext cx="2148840" cy="274320"/>
          </a:xfrm>
          <a:prstGeom prst="rect">
            <a:avLst/>
          </a:prstGeom>
          <a:noFill/>
        </p:spPr>
        <p:txBody>
          <a:bodyPr wrap="square" lIns="0" tIns="0" rIns="0" bIns="0" anchor="t"/>
          <a:lstStyle/>
          <a:p>
            <a:pPr algn="r" rtl="1">
              <a:lnSpc>
                <a:spcPct val="115000"/>
              </a:lnSpc>
              <a:spcAft>
                <a:spcPts val="0"/>
              </a:spcAft>
            </a:pPr>
            <a:r>
              <a:rPr lang="ar-SA" sz="680" b="0" dirty="0">
                <a:solidFill>
                  <a:srgbClr val="FFFFFF"/>
                </a:solidFill>
                <a:latin typeface="DiodrumArabic-Bold"/>
                <a:ea typeface="DiodrumArabic-Bold"/>
                <a:cs typeface="DiodrumArabic-Bold"/>
              </a:rPr>
              <a:t>القرار المطلوب</a:t>
            </a:r>
          </a:p>
        </p:txBody>
      </p:sp>
      <p:sp>
        <p:nvSpPr>
          <p:cNvPr id="1027" name="s2-desc"/>
          <p:cNvSpPr txBox="1"/>
          <p:nvPr/>
        </p:nvSpPr>
        <p:spPr>
          <a:xfrm>
            <a:off x="3648456" y="3054096"/>
            <a:ext cx="2752344" cy="292608"/>
          </a:xfrm>
          <a:prstGeom prst="rect">
            <a:avLst/>
          </a:prstGeom>
          <a:noFill/>
        </p:spPr>
        <p:txBody>
          <a:bodyPr wrap="square" lIns="0" tIns="0" rIns="0" bIns="0" anchor="t"/>
          <a:lstStyle/>
          <a:p>
            <a:pPr algn="r" rtl="1">
              <a:lnSpc>
                <a:spcPct val="125000"/>
              </a:lnSpc>
              <a:spcAft>
                <a:spcPts val="0"/>
              </a:spcAft>
            </a:pPr>
            <a:r>
              <a:rPr lang="ar-SA" sz="500" b="0" dirty="0">
                <a:solidFill>
                  <a:srgbClr val="DCD3F0"/>
                </a:solidFill>
                <a:latin typeface="DiodrumArabic-Medium"/>
                <a:ea typeface="DiodrumArabic-Medium"/>
                <a:cs typeface="DiodrumArabic-Medium"/>
              </a:rPr>
              <a:t>الانتقال المنظم من التصور إلى التنفيذ</a:t>
            </a:r>
          </a:p>
        </p:txBody>
      </p:sp>
      <p:sp>
        <p:nvSpPr>
          <p:cNvPr id="1028" name="s2-page-pill"/>
          <p:cNvSpPr/>
          <p:nvPr/>
        </p:nvSpPr>
        <p:spPr>
          <a:xfrm>
            <a:off x="3575304" y="2761488"/>
            <a:ext cx="475488" cy="137160"/>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29" name="s2-page"/>
          <p:cNvSpPr txBox="1"/>
          <p:nvPr/>
        </p:nvSpPr>
        <p:spPr>
          <a:xfrm>
            <a:off x="3575304" y="2761488"/>
            <a:ext cx="475488" cy="137160"/>
          </a:xfrm>
          <a:prstGeom prst="rect">
            <a:avLst/>
          </a:prstGeom>
          <a:noFill/>
        </p:spPr>
        <p:txBody>
          <a:bodyPr wrap="square" lIns="0" tIns="0" rIns="0" bIns="0" anchor="ctr"/>
          <a:lstStyle/>
          <a:p>
            <a:pPr algn="ctr" rtl="1">
              <a:spcAft>
                <a:spcPts val="0"/>
              </a:spcAft>
            </a:pPr>
            <a:r>
              <a:rPr lang="ar-SA" sz="420" b="0" dirty="0">
                <a:solidFill>
                  <a:srgbClr val="753BBD"/>
                </a:solidFill>
                <a:latin typeface="DiodrumArabic-Semibold"/>
                <a:ea typeface="DiodrumArabic-Semibold"/>
                <a:cs typeface="DiodrumArabic-Semibold"/>
              </a:rPr>
              <a:t>صفحة 25</a:t>
            </a:r>
          </a:p>
        </p:txBody>
      </p:sp>
      <p:sp>
        <p:nvSpPr>
          <p:cNvPr id="1030" name="notice"/>
          <p:cNvSpPr txBox="1"/>
          <p:nvPr/>
        </p:nvSpPr>
        <p:spPr>
          <a:xfrm>
            <a:off x="301752" y="3483864"/>
            <a:ext cx="6254496" cy="274320"/>
          </a:xfrm>
          <a:prstGeom prst="rect">
            <a:avLst/>
          </a:prstGeom>
          <a:noFill/>
        </p:spPr>
        <p:txBody>
          <a:bodyPr wrap="square" lIns="0" tIns="0" rIns="0" bIns="0" anchor="t"/>
          <a:lstStyle/>
          <a:p>
            <a:pPr algn="ctr" rtl="1">
              <a:lnSpc>
                <a:spcPct val="130000"/>
              </a:lnSpc>
              <a:spcAft>
                <a:spcPts val="0"/>
              </a:spcAft>
            </a:pPr>
            <a:r>
              <a:rPr lang="ar-SA" sz="460" b="0" dirty="0">
                <a:solidFill>
                  <a:srgbClr val="DCD3F0"/>
                </a:solidFill>
                <a:latin typeface="DiodrumArabic-Regular"/>
                <a:ea typeface="DiodrumArabic-Regular"/>
                <a:cs typeface="DiodrumArabic-Regular"/>
              </a:rPr>
              <a:t>الملحق (صفحة 26) يضم التفاصيل التشغيلية الداعمة — الأجندة الكاملة، نطاق الأبحاث بالتفصيل، ومنظومة الشراكات.</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الملخص التنفيذي</a:t>
            </a:r>
          </a:p>
        </p:txBody>
      </p:sp>
      <p:sp>
        <p:nvSpPr>
          <p:cNvPr id="1032" name="title"/>
          <p:cNvSpPr txBox="1"/>
          <p:nvPr/>
        </p:nvSpPr>
        <p:spPr>
          <a:xfrm>
            <a:off x="301752" y="329184"/>
            <a:ext cx="6254496" cy="402336"/>
          </a:xfrm>
          <a:prstGeom prst="rect">
            <a:avLst/>
          </a:prstGeom>
          <a:noFill/>
        </p:spPr>
        <p:txBody>
          <a:bodyPr wrap="square" lIns="0" tIns="0" rIns="0" bIns="0" anchor="t"/>
          <a:lstStyle/>
          <a:p>
            <a:pPr algn="r" rtl="1">
              <a:lnSpc>
                <a:spcPct val="118000"/>
              </a:lnSpc>
              <a:spcAft>
                <a:spcPts val="0"/>
              </a:spcAft>
            </a:pPr>
            <a:r>
              <a:rPr lang="ar-SA" sz="1220" b="0" dirty="0">
                <a:solidFill>
                  <a:srgbClr val="24135F"/>
                </a:solidFill>
                <a:latin typeface="DiodrumArabic-Bold"/>
                <a:ea typeface="DiodrumArabic-Bold"/>
                <a:cs typeface="DiodrumArabic-Bold"/>
              </a:rPr>
              <a:t>الحاضنة تربط أولويات الحكومة الرقمية بالمعرفة البحثية، وملتقاها الأول أداة تفعيلها</a:t>
            </a:r>
          </a:p>
        </p:txBody>
      </p:sp>
      <p:sp>
        <p:nvSpPr>
          <p:cNvPr id="1033"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034" name="ctx"/>
          <p:cNvSpPr/>
          <p:nvPr/>
        </p:nvSpPr>
        <p:spPr>
          <a:xfrm>
            <a:off x="4568952" y="1051560"/>
            <a:ext cx="1987296" cy="2331720"/>
          </a:xfrm>
          <a:prstGeom prst="roundRect">
            <a:avLst>
              <a:gd name="adj" fmla="val 2355"/>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35" name="ctx-bar"/>
          <p:cNvSpPr/>
          <p:nvPr/>
        </p:nvSpPr>
        <p:spPr>
          <a:xfrm>
            <a:off x="4642104" y="1051560"/>
            <a:ext cx="1840992" cy="29261"/>
          </a:xfrm>
          <a:prstGeom prst="roundRect">
            <a:avLst>
              <a:gd name="adj" fmla="val 50000"/>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36" name="ctx-eye"/>
          <p:cNvSpPr txBox="1"/>
          <p:nvPr/>
        </p:nvSpPr>
        <p:spPr>
          <a:xfrm>
            <a:off x="4696968" y="1179576"/>
            <a:ext cx="1731264" cy="109728"/>
          </a:xfrm>
          <a:prstGeom prst="rect">
            <a:avLst/>
          </a:prstGeom>
          <a:noFill/>
        </p:spPr>
        <p:txBody>
          <a:bodyPr wrap="square" lIns="0" tIns="0" rIns="0" bIns="0" anchor="t"/>
          <a:lstStyle/>
          <a:p>
            <a:pPr algn="r" rtl="1">
              <a:spcAft>
                <a:spcPts val="0"/>
              </a:spcAft>
            </a:pPr>
            <a:r>
              <a:rPr lang="ar-SA" sz="460" b="0" dirty="0">
                <a:solidFill>
                  <a:srgbClr val="00ABAF"/>
                </a:solidFill>
                <a:latin typeface="DiodrumArabic-Semibold"/>
                <a:ea typeface="DiodrumArabic-Semibold"/>
                <a:cs typeface="DiodrumArabic-Semibold"/>
              </a:rPr>
              <a:t>السياق</a:t>
            </a:r>
          </a:p>
        </p:txBody>
      </p:sp>
      <p:sp>
        <p:nvSpPr>
          <p:cNvPr id="1037" name="ctx-3 مراحل تأسيس"/>
          <p:cNvSpPr txBox="1"/>
          <p:nvPr/>
        </p:nvSpPr>
        <p:spPr>
          <a:xfrm>
            <a:off x="4696968" y="1362456"/>
            <a:ext cx="1731264" cy="118872"/>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3 مراحل تأسيس</a:t>
            </a:r>
          </a:p>
        </p:txBody>
      </p:sp>
      <p:sp>
        <p:nvSpPr>
          <p:cNvPr id="1038" name="ctx-3 مراحل تأسيس-d"/>
          <p:cNvSpPr txBox="1"/>
          <p:nvPr/>
        </p:nvSpPr>
        <p:spPr>
          <a:xfrm>
            <a:off x="4696968" y="1499616"/>
            <a:ext cx="1731264" cy="320040"/>
          </a:xfrm>
          <a:prstGeom prst="rect">
            <a:avLst/>
          </a:prstGeom>
          <a:noFill/>
        </p:spPr>
        <p:txBody>
          <a:bodyPr wrap="square" lIns="0" tIns="0" rIns="0" bIns="0" anchor="t"/>
          <a:lstStyle/>
          <a:p>
            <a:pPr algn="r" rtl="1">
              <a:lnSpc>
                <a:spcPct val="122000"/>
              </a:lnSpc>
              <a:spcAft>
                <a:spcPts val="0"/>
              </a:spcAft>
            </a:pPr>
            <a:r>
              <a:rPr lang="ar-SA" sz="480" b="0" dirty="0">
                <a:solidFill>
                  <a:srgbClr val="5D6167"/>
                </a:solidFill>
                <a:latin typeface="DiodrumArabic-Medium"/>
                <a:ea typeface="DiodrumArabic-Medium"/>
                <a:cs typeface="DiodrumArabic-Medium"/>
              </a:rPr>
              <a:t>اعتماد 2024 · تخطيط 2025 · تفعيل 2026</a:t>
            </a:r>
          </a:p>
        </p:txBody>
      </p:sp>
      <p:sp>
        <p:nvSpPr>
          <p:cNvPr id="1039" name="ctx-5 مراحل عمل"/>
          <p:cNvSpPr txBox="1"/>
          <p:nvPr/>
        </p:nvSpPr>
        <p:spPr>
          <a:xfrm>
            <a:off x="4696968" y="1984248"/>
            <a:ext cx="1731264" cy="118872"/>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5 مراحل عمل</a:t>
            </a:r>
          </a:p>
        </p:txBody>
      </p:sp>
      <p:sp>
        <p:nvSpPr>
          <p:cNvPr id="1040" name="ctx-5 مراحل عمل-d"/>
          <p:cNvSpPr txBox="1"/>
          <p:nvPr/>
        </p:nvSpPr>
        <p:spPr>
          <a:xfrm>
            <a:off x="4696968" y="2121408"/>
            <a:ext cx="1731264" cy="320040"/>
          </a:xfrm>
          <a:prstGeom prst="rect">
            <a:avLst/>
          </a:prstGeom>
          <a:noFill/>
        </p:spPr>
        <p:txBody>
          <a:bodyPr wrap="square" lIns="0" tIns="0" rIns="0" bIns="0" anchor="t"/>
          <a:lstStyle/>
          <a:p>
            <a:pPr algn="r" rtl="1">
              <a:lnSpc>
                <a:spcPct val="122000"/>
              </a:lnSpc>
              <a:spcAft>
                <a:spcPts val="0"/>
              </a:spcAft>
            </a:pPr>
            <a:r>
              <a:rPr lang="ar-SA" sz="480" b="0" dirty="0">
                <a:solidFill>
                  <a:srgbClr val="5D6167"/>
                </a:solidFill>
                <a:latin typeface="DiodrumArabic-Medium"/>
                <a:ea typeface="DiodrumArabic-Medium"/>
                <a:cs typeface="DiodrumArabic-Medium"/>
              </a:rPr>
              <a:t>من رصد الأولويات إلى التبني ونقل المعرفة</a:t>
            </a:r>
          </a:p>
        </p:txBody>
      </p:sp>
      <p:sp>
        <p:nvSpPr>
          <p:cNvPr id="1041" name="ctx-5 فئات شراكة"/>
          <p:cNvSpPr txBox="1"/>
          <p:nvPr/>
        </p:nvSpPr>
        <p:spPr>
          <a:xfrm>
            <a:off x="4696968" y="2606040"/>
            <a:ext cx="1731264" cy="118872"/>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5 فئات شراكة</a:t>
            </a:r>
          </a:p>
        </p:txBody>
      </p:sp>
      <p:sp>
        <p:nvSpPr>
          <p:cNvPr id="1042" name="ctx-5 فئات شراكة-d"/>
          <p:cNvSpPr txBox="1"/>
          <p:nvPr/>
        </p:nvSpPr>
        <p:spPr>
          <a:xfrm>
            <a:off x="4696968" y="2743200"/>
            <a:ext cx="1731264" cy="320040"/>
          </a:xfrm>
          <a:prstGeom prst="rect">
            <a:avLst/>
          </a:prstGeom>
          <a:noFill/>
        </p:spPr>
        <p:txBody>
          <a:bodyPr wrap="square" lIns="0" tIns="0" rIns="0" bIns="0" anchor="t"/>
          <a:lstStyle/>
          <a:p>
            <a:pPr algn="r" rtl="1">
              <a:lnSpc>
                <a:spcPct val="122000"/>
              </a:lnSpc>
              <a:spcAft>
                <a:spcPts val="0"/>
              </a:spcAft>
            </a:pPr>
            <a:r>
              <a:rPr lang="ar-SA" sz="480" b="0" dirty="0">
                <a:solidFill>
                  <a:srgbClr val="5D6167"/>
                </a:solidFill>
                <a:latin typeface="DiodrumArabic-Medium"/>
                <a:ea typeface="DiodrumArabic-Medium"/>
                <a:cs typeface="DiodrumArabic-Medium"/>
              </a:rPr>
              <a:t>جهات حكومية، باحثون، جامعات، مبتكرون، قطاع خاص</a:t>
            </a:r>
          </a:p>
        </p:txBody>
      </p:sp>
      <p:sp>
        <p:nvSpPr>
          <p:cNvPr id="1043" name="cnc"/>
          <p:cNvSpPr/>
          <p:nvPr/>
        </p:nvSpPr>
        <p:spPr>
          <a:xfrm>
            <a:off x="2435352" y="1051560"/>
            <a:ext cx="1987296" cy="2331720"/>
          </a:xfrm>
          <a:prstGeom prst="roundRect">
            <a:avLst>
              <a:gd name="adj" fmla="val 2355"/>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44" name="cnc-bar"/>
          <p:cNvSpPr/>
          <p:nvPr/>
        </p:nvSpPr>
        <p:spPr>
          <a:xfrm>
            <a:off x="2508504" y="1051560"/>
            <a:ext cx="1840992"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45" name="cnc-eye"/>
          <p:cNvSpPr txBox="1"/>
          <p:nvPr/>
        </p:nvSpPr>
        <p:spPr>
          <a:xfrm>
            <a:off x="2563368" y="1179576"/>
            <a:ext cx="1731264" cy="109728"/>
          </a:xfrm>
          <a:prstGeom prst="rect">
            <a:avLst/>
          </a:prstGeom>
          <a:noFill/>
        </p:spPr>
        <p:txBody>
          <a:bodyPr wrap="square" lIns="0" tIns="0" rIns="0" bIns="0" anchor="t"/>
          <a:lstStyle/>
          <a:p>
            <a:pPr algn="r" rtl="1">
              <a:spcAft>
                <a:spcPts val="0"/>
              </a:spcAft>
            </a:pPr>
            <a:r>
              <a:rPr lang="ar-SA" sz="460" b="0" dirty="0">
                <a:solidFill>
                  <a:srgbClr val="753BBD"/>
                </a:solidFill>
                <a:latin typeface="DiodrumArabic-Semibold"/>
                <a:ea typeface="DiodrumArabic-Semibold"/>
                <a:cs typeface="DiodrumArabic-Semibold"/>
              </a:rPr>
              <a:t>الاستنتاج</a:t>
            </a:r>
          </a:p>
        </p:txBody>
      </p:sp>
      <p:sp>
        <p:nvSpPr>
          <p:cNvPr id="1046" name="cnc-body"/>
          <p:cNvSpPr txBox="1"/>
          <p:nvPr/>
        </p:nvSpPr>
        <p:spPr>
          <a:xfrm>
            <a:off x="2563368" y="1362456"/>
            <a:ext cx="1731264" cy="1874520"/>
          </a:xfrm>
          <a:prstGeom prst="rect">
            <a:avLst/>
          </a:prstGeom>
          <a:noFill/>
        </p:spPr>
        <p:txBody>
          <a:bodyPr wrap="square" lIns="0" tIns="0" rIns="0" bIns="0" anchor="t"/>
          <a:lstStyle/>
          <a:p>
            <a:pPr algn="r" rtl="1">
              <a:lnSpc>
                <a:spcPct val="135000"/>
              </a:lnSpc>
              <a:spcAft>
                <a:spcPts val="0"/>
              </a:spcAft>
            </a:pPr>
            <a:r>
              <a:rPr lang="ar-SA" sz="540" b="0" dirty="0">
                <a:solidFill>
                  <a:srgbClr val="5D6167"/>
                </a:solidFill>
                <a:latin typeface="DiodrumArabic-Medium"/>
                <a:ea typeface="DiodrumArabic-Medium"/>
                <a:cs typeface="DiodrumArabic-Medium"/>
              </a:rPr>
              <a:t>تتحوّل الحاضنة إلى مركز المعرفة الذي يربط البحث بالأولوية الحكومية بشكل مؤسسي، فينتقل البحث عبره من الفكرة إلى التطبيق، وينتهي بأثر قابل للقياس. ويأتي ملتقى البحث والابتكار الحكومي كأول أدوات تفعيل هذا المسار.</a:t>
            </a:r>
          </a:p>
        </p:txBody>
      </p:sp>
      <p:sp>
        <p:nvSpPr>
          <p:cNvPr id="1047" name="dec"/>
          <p:cNvSpPr/>
          <p:nvPr/>
        </p:nvSpPr>
        <p:spPr>
          <a:xfrm>
            <a:off x="301752" y="1051560"/>
            <a:ext cx="1987296" cy="2331720"/>
          </a:xfrm>
          <a:prstGeom prst="roundRect">
            <a:avLst>
              <a:gd name="adj" fmla="val 2355"/>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48" name="dec-eye"/>
          <p:cNvSpPr txBox="1"/>
          <p:nvPr/>
        </p:nvSpPr>
        <p:spPr>
          <a:xfrm>
            <a:off x="429768" y="1179576"/>
            <a:ext cx="1731264" cy="109728"/>
          </a:xfrm>
          <a:prstGeom prst="rect">
            <a:avLst/>
          </a:prstGeom>
          <a:noFill/>
        </p:spPr>
        <p:txBody>
          <a:bodyPr wrap="square" lIns="0" tIns="0" rIns="0" bIns="0" anchor="t"/>
          <a:lstStyle/>
          <a:p>
            <a:pPr algn="r" rtl="1">
              <a:spcAft>
                <a:spcPts val="0"/>
              </a:spcAft>
            </a:pPr>
            <a:r>
              <a:rPr lang="ar-SA" sz="460" b="0" dirty="0">
                <a:solidFill>
                  <a:srgbClr val="1CC182"/>
                </a:solidFill>
                <a:latin typeface="DiodrumArabic-Semibold"/>
                <a:ea typeface="DiodrumArabic-Semibold"/>
                <a:cs typeface="DiodrumArabic-Semibold"/>
              </a:rPr>
              <a:t>القرار المطلوب</a:t>
            </a:r>
          </a:p>
        </p:txBody>
      </p:sp>
      <p:sp>
        <p:nvSpPr>
          <p:cNvPr id="1049" name="dec-body"/>
          <p:cNvSpPr txBox="1"/>
          <p:nvPr/>
        </p:nvSpPr>
        <p:spPr>
          <a:xfrm>
            <a:off x="429768" y="1362456"/>
            <a:ext cx="1731264" cy="1874520"/>
          </a:xfrm>
          <a:prstGeom prst="rect">
            <a:avLst/>
          </a:prstGeom>
          <a:noFill/>
        </p:spPr>
        <p:txBody>
          <a:bodyPr wrap="square" lIns="0" tIns="0" rIns="0" bIns="0" anchor="t"/>
          <a:lstStyle/>
          <a:p>
            <a:pPr algn="r" rtl="1">
              <a:lnSpc>
                <a:spcPct val="135000"/>
              </a:lnSpc>
              <a:spcAft>
                <a:spcPts val="0"/>
              </a:spcAft>
            </a:pPr>
            <a:r>
              <a:rPr lang="ar-SA" sz="560" b="0" dirty="0">
                <a:solidFill>
                  <a:srgbClr val="FFFFFF"/>
                </a:solidFill>
                <a:latin typeface="DiodrumArabic-Semibold"/>
                <a:ea typeface="DiodrumArabic-Semibold"/>
                <a:cs typeface="DiodrumArabic-Semibold"/>
              </a:rPr>
              <a:t>الموافقة المبدئية على تفعيل ملتقى البحث والابتكار الحكومي في 28 أكتوبر 2026، بوصفه أول أدوات تفعيل حاضنة الأبحاث.</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 name="big-num"/>
          <p:cNvSpPr txBox="1"/>
          <p:nvPr/>
        </p:nvSpPr>
        <p:spPr>
          <a:xfrm>
            <a:off x="146304" y="1188720"/>
            <a:ext cx="1316736" cy="1463040"/>
          </a:xfrm>
          <a:prstGeom prst="rect">
            <a:avLst/>
          </a:prstGeom>
          <a:noFill/>
        </p:spPr>
        <p:txBody>
          <a:bodyPr wrap="square" lIns="0" tIns="0" rIns="0" bIns="0" anchor="ctr"/>
          <a:lstStyle/>
          <a:p>
            <a:pPr algn="l">
              <a:spcAft>
                <a:spcPts val="0"/>
              </a:spcAft>
            </a:pPr>
            <a:r>
              <a:rPr lang="en-US" sz="8800" b="0" dirty="0">
                <a:solidFill>
                  <a:srgbClr val="FFFFFF"/>
                </a:solidFill>
                <a:latin typeface="DiodrumArabic-Bold"/>
                <a:ea typeface="DiodrumArabic-Bold"/>
                <a:cs typeface="DiodrumArabic-Bold"/>
              </a:rPr>
              <a:t>01</a:t>
            </a:r>
          </a:p>
        </p:txBody>
      </p:sp>
      <p:sp>
        <p:nvSpPr>
          <p:cNvPr id="1051" name="kicker"/>
          <p:cNvSpPr txBox="1"/>
          <p:nvPr/>
        </p:nvSpPr>
        <p:spPr>
          <a:xfrm>
            <a:off x="4937760" y="1572768"/>
            <a:ext cx="1316736" cy="128016"/>
          </a:xfrm>
          <a:prstGeom prst="rect">
            <a:avLst/>
          </a:prstGeom>
          <a:noFill/>
        </p:spPr>
        <p:txBody>
          <a:bodyPr wrap="square" lIns="0" tIns="0" rIns="0" bIns="0" anchor="t"/>
          <a:lstStyle/>
          <a:p>
            <a:pPr algn="r" rtl="1">
              <a:spcAft>
                <a:spcPts val="0"/>
              </a:spcAft>
            </a:pPr>
            <a:r>
              <a:rPr lang="ar-SA" sz="618" b="0" dirty="0">
                <a:solidFill>
                  <a:srgbClr val="1CC182"/>
                </a:solidFill>
                <a:latin typeface="DiodrumArabic-Semibold"/>
                <a:ea typeface="DiodrumArabic-Semibold"/>
                <a:cs typeface="DiodrumArabic-Semibold"/>
              </a:rPr>
              <a:t>القسم الأول</a:t>
            </a:r>
          </a:p>
        </p:txBody>
      </p:sp>
      <p:sp>
        <p:nvSpPr>
          <p:cNvPr id="1052" name="title"/>
          <p:cNvSpPr txBox="1"/>
          <p:nvPr/>
        </p:nvSpPr>
        <p:spPr>
          <a:xfrm>
            <a:off x="2377440" y="1764792"/>
            <a:ext cx="3877056" cy="502920"/>
          </a:xfrm>
          <a:prstGeom prst="rect">
            <a:avLst/>
          </a:prstGeom>
          <a:noFill/>
        </p:spPr>
        <p:txBody>
          <a:bodyPr wrap="square" lIns="0" tIns="0" rIns="0" bIns="0" anchor="t"/>
          <a:lstStyle/>
          <a:p>
            <a:pPr algn="r" rtl="1">
              <a:lnSpc>
                <a:spcPct val="115000"/>
              </a:lnSpc>
              <a:spcAft>
                <a:spcPts val="0"/>
              </a:spcAft>
            </a:pPr>
            <a:r>
              <a:rPr lang="ar-SA" sz="1550" b="0" dirty="0">
                <a:solidFill>
                  <a:srgbClr val="FFFFFF"/>
                </a:solidFill>
                <a:latin typeface="DiodrumArabic-Bold"/>
                <a:ea typeface="DiodrumArabic-Bold"/>
                <a:cs typeface="DiodrumArabic-Bold"/>
              </a:rPr>
              <a:t>حاضنة الأبحاث</a:t>
            </a:r>
          </a:p>
        </p:txBody>
      </p:sp>
      <p:sp>
        <p:nvSpPr>
          <p:cNvPr id="1053" name="desc"/>
          <p:cNvSpPr txBox="1"/>
          <p:nvPr/>
        </p:nvSpPr>
        <p:spPr>
          <a:xfrm>
            <a:off x="2377440" y="2331720"/>
            <a:ext cx="3877056" cy="274320"/>
          </a:xfrm>
          <a:prstGeom prst="rect">
            <a:avLst/>
          </a:prstGeom>
          <a:noFill/>
        </p:spPr>
        <p:txBody>
          <a:bodyPr wrap="square" lIns="0" tIns="0" rIns="0" bIns="0" anchor="t"/>
          <a:lstStyle/>
          <a:p>
            <a:pPr algn="r" rtl="1">
              <a:lnSpc>
                <a:spcPct val="130000"/>
              </a:lnSpc>
              <a:spcAft>
                <a:spcPts val="0"/>
              </a:spcAft>
            </a:pPr>
            <a:r>
              <a:rPr lang="ar-SA" sz="620" b="0" dirty="0">
                <a:solidFill>
                  <a:srgbClr val="DCD3F0"/>
                </a:solidFill>
                <a:latin typeface="DiodrumArabic-Regular"/>
                <a:ea typeface="DiodrumArabic-Regular"/>
                <a:cs typeface="DiodrumArabic-Regular"/>
              </a:rPr>
              <a:t>التعريف  -  الأهداف  -  نموذج العمل  -  الشراكات  -  قنوات التفعيل</a:t>
            </a:r>
          </a:p>
        </p:txBody>
      </p:sp>
      <p:sp>
        <p:nvSpPr>
          <p:cNvPr id="1054" name="prog1"/>
          <p:cNvSpPr/>
          <p:nvPr/>
        </p:nvSpPr>
        <p:spPr>
          <a:xfrm>
            <a:off x="6172200" y="1216152"/>
            <a:ext cx="283464" cy="36576"/>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55" name="prog2"/>
          <p:cNvSpPr/>
          <p:nvPr/>
        </p:nvSpPr>
        <p:spPr>
          <a:xfrm>
            <a:off x="58293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56" name="prog3"/>
          <p:cNvSpPr/>
          <p:nvPr/>
        </p:nvSpPr>
        <p:spPr>
          <a:xfrm>
            <a:off x="54864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058"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عندما يرتبط البحث بالأولوية تتحول المعرفة إلى أثر</a:t>
            </a:r>
          </a:p>
        </p:txBody>
      </p:sp>
      <p:sp>
        <p:nvSpPr>
          <p:cNvPr id="1059"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القيمة الحقيقية للأبحاث لا تتحقق عند إنتاج المعرفة فقط، بل عندما ترتبط باحتياج حكومي واضح، ويتم تطوير مخرجاتها لتصبح قابلة للتطبيق أو الاستفادة.</a:t>
            </a:r>
          </a:p>
        </p:txBody>
      </p:sp>
      <p:sp>
        <p:nvSpPr>
          <p:cNvPr id="1060"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061" name="ps0"/>
          <p:cNvSpPr/>
          <p:nvPr/>
        </p:nvSpPr>
        <p:spPr>
          <a:xfrm>
            <a:off x="4556760" y="1234440"/>
            <a:ext cx="1999488" cy="1051560"/>
          </a:xfrm>
          <a:prstGeom prst="roundRect">
            <a:avLst>
              <a:gd name="adj" fmla="val 452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62" name="ps0-badge"/>
          <p:cNvSpPr/>
          <p:nvPr/>
        </p:nvSpPr>
        <p:spPr>
          <a:xfrm>
            <a:off x="5446776" y="115763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63" name="ps0-badgenum"/>
          <p:cNvSpPr txBox="1"/>
          <p:nvPr/>
        </p:nvSpPr>
        <p:spPr>
          <a:xfrm>
            <a:off x="5446776" y="115763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1</a:t>
            </a:r>
          </a:p>
        </p:txBody>
      </p:sp>
      <p:sp>
        <p:nvSpPr>
          <p:cNvPr id="1064" name="ps0-title"/>
          <p:cNvSpPr txBox="1"/>
          <p:nvPr/>
        </p:nvSpPr>
        <p:spPr>
          <a:xfrm>
            <a:off x="4629912" y="1380744"/>
            <a:ext cx="1853184" cy="128016"/>
          </a:xfrm>
          <a:prstGeom prst="rect">
            <a:avLst/>
          </a:prstGeom>
          <a:noFill/>
        </p:spPr>
        <p:txBody>
          <a:bodyPr wrap="square" lIns="0" tIns="0" rIns="0" bIns="0" anchor="t"/>
          <a:lstStyle/>
          <a:p>
            <a:pPr algn="ctr" rtl="1">
              <a:lnSpc>
                <a:spcPct val="112000"/>
              </a:lnSpc>
              <a:spcAft>
                <a:spcPts val="0"/>
              </a:spcAft>
            </a:pPr>
            <a:r>
              <a:rPr lang="ar-SA" sz="720" b="0" dirty="0">
                <a:solidFill>
                  <a:srgbClr val="24135F"/>
                </a:solidFill>
                <a:latin typeface="DiodrumArabic-Bold"/>
                <a:ea typeface="DiodrumArabic-Bold"/>
                <a:cs typeface="DiodrumArabic-Bold"/>
              </a:rPr>
              <a:t>الأولوية الحكومية</a:t>
            </a:r>
          </a:p>
        </p:txBody>
      </p:sp>
      <p:sp>
        <p:nvSpPr>
          <p:cNvPr id="1065" name="ps0-body"/>
          <p:cNvSpPr txBox="1"/>
          <p:nvPr/>
        </p:nvSpPr>
        <p:spPr>
          <a:xfrm>
            <a:off x="4629912" y="1636776"/>
            <a:ext cx="1853184" cy="594360"/>
          </a:xfrm>
          <a:prstGeom prst="rect">
            <a:avLst/>
          </a:prstGeom>
          <a:noFill/>
        </p:spPr>
        <p:txBody>
          <a:bodyPr wrap="square" lIns="0" tIns="0" rIns="0" bIns="0" anchor="t"/>
          <a:lstStyle/>
          <a:p>
            <a:pPr algn="ctr" rtl="1">
              <a:lnSpc>
                <a:spcPct val="122000"/>
              </a:lnSpc>
              <a:spcAft>
                <a:spcPts val="0"/>
              </a:spcAft>
            </a:pPr>
            <a:r>
              <a:rPr lang="ar-SA" sz="560" b="0" dirty="0">
                <a:solidFill>
                  <a:srgbClr val="5D6167"/>
                </a:solidFill>
                <a:latin typeface="DiodrumArabic-Medium"/>
                <a:ea typeface="DiodrumArabic-Medium"/>
                <a:cs typeface="DiodrumArabic-Medium"/>
              </a:rPr>
              <a:t>تحديات وفرص تحتاج إلى معرفة أو حلول بحثية.</a:t>
            </a:r>
          </a:p>
        </p:txBody>
      </p:sp>
      <p:sp>
        <p:nvSpPr>
          <p:cNvPr id="1066" name="ps0-chev"/>
          <p:cNvSpPr/>
          <p:nvPr/>
        </p:nvSpPr>
        <p:spPr>
          <a:xfrm flipH="1">
            <a:off x="4419600" y="167792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67" name="ps1"/>
          <p:cNvSpPr/>
          <p:nvPr/>
        </p:nvSpPr>
        <p:spPr>
          <a:xfrm>
            <a:off x="2429256" y="1234440"/>
            <a:ext cx="1999488" cy="1051560"/>
          </a:xfrm>
          <a:prstGeom prst="roundRect">
            <a:avLst>
              <a:gd name="adj" fmla="val 452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68" name="ps1-badge"/>
          <p:cNvSpPr/>
          <p:nvPr/>
        </p:nvSpPr>
        <p:spPr>
          <a:xfrm>
            <a:off x="3319272" y="115763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69" name="ps1-badgenum"/>
          <p:cNvSpPr txBox="1"/>
          <p:nvPr/>
        </p:nvSpPr>
        <p:spPr>
          <a:xfrm>
            <a:off x="3319272" y="115763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2</a:t>
            </a:r>
          </a:p>
        </p:txBody>
      </p:sp>
      <p:sp>
        <p:nvSpPr>
          <p:cNvPr id="1070" name="ps1-title"/>
          <p:cNvSpPr txBox="1"/>
          <p:nvPr/>
        </p:nvSpPr>
        <p:spPr>
          <a:xfrm>
            <a:off x="2502408" y="1380744"/>
            <a:ext cx="1853184" cy="128016"/>
          </a:xfrm>
          <a:prstGeom prst="rect">
            <a:avLst/>
          </a:prstGeom>
          <a:noFill/>
        </p:spPr>
        <p:txBody>
          <a:bodyPr wrap="square" lIns="0" tIns="0" rIns="0" bIns="0" anchor="t"/>
          <a:lstStyle/>
          <a:p>
            <a:pPr algn="ctr" rtl="1">
              <a:lnSpc>
                <a:spcPct val="112000"/>
              </a:lnSpc>
              <a:spcAft>
                <a:spcPts val="0"/>
              </a:spcAft>
            </a:pPr>
            <a:r>
              <a:rPr lang="ar-SA" sz="720" b="0" dirty="0">
                <a:solidFill>
                  <a:srgbClr val="24135F"/>
                </a:solidFill>
                <a:latin typeface="DiodrumArabic-Bold"/>
                <a:ea typeface="DiodrumArabic-Bold"/>
                <a:cs typeface="DiodrumArabic-Bold"/>
              </a:rPr>
              <a:t>المعرفة البحثية</a:t>
            </a:r>
          </a:p>
        </p:txBody>
      </p:sp>
      <p:sp>
        <p:nvSpPr>
          <p:cNvPr id="1071" name="ps1-body"/>
          <p:cNvSpPr txBox="1"/>
          <p:nvPr/>
        </p:nvSpPr>
        <p:spPr>
          <a:xfrm>
            <a:off x="2502408" y="1517904"/>
            <a:ext cx="1853184" cy="713232"/>
          </a:xfrm>
          <a:prstGeom prst="rect">
            <a:avLst/>
          </a:prstGeom>
          <a:noFill/>
        </p:spPr>
        <p:txBody>
          <a:bodyPr wrap="square" lIns="0" tIns="0" rIns="0" bIns="0" anchor="t"/>
          <a:lstStyle/>
          <a:p>
            <a:pPr algn="ctr" rtl="1">
              <a:lnSpc>
                <a:spcPct val="122000"/>
              </a:lnSpc>
              <a:spcAft>
                <a:spcPts val="0"/>
              </a:spcAft>
            </a:pPr>
            <a:r>
              <a:rPr lang="ar-SA" sz="560" b="0" dirty="0">
                <a:solidFill>
                  <a:srgbClr val="5D6167"/>
                </a:solidFill>
                <a:latin typeface="DiodrumArabic-Medium"/>
                <a:ea typeface="DiodrumArabic-Medium"/>
                <a:cs typeface="DiodrumArabic-Medium"/>
              </a:rPr>
              <a:t>أبحاث ودراسات تقدم فهمًا أعمق أو حلولًا محتملة.</a:t>
            </a:r>
          </a:p>
        </p:txBody>
      </p:sp>
      <p:sp>
        <p:nvSpPr>
          <p:cNvPr id="1072" name="ps1-chev"/>
          <p:cNvSpPr/>
          <p:nvPr/>
        </p:nvSpPr>
        <p:spPr>
          <a:xfrm flipH="1">
            <a:off x="2292096" y="167792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73" name="ps2"/>
          <p:cNvSpPr/>
          <p:nvPr/>
        </p:nvSpPr>
        <p:spPr>
          <a:xfrm>
            <a:off x="301752" y="1234440"/>
            <a:ext cx="1999488" cy="1051560"/>
          </a:xfrm>
          <a:prstGeom prst="roundRect">
            <a:avLst>
              <a:gd name="adj" fmla="val 4521"/>
            </a:avLst>
          </a:prstGeom>
          <a:solidFill>
            <a:srgbClr val="1CC182">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74" name="ps2-badge"/>
          <p:cNvSpPr/>
          <p:nvPr/>
        </p:nvSpPr>
        <p:spPr>
          <a:xfrm>
            <a:off x="1191768" y="115763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75" name="ps2-badgenum"/>
          <p:cNvSpPr txBox="1"/>
          <p:nvPr/>
        </p:nvSpPr>
        <p:spPr>
          <a:xfrm>
            <a:off x="1191768" y="115763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3</a:t>
            </a:r>
          </a:p>
        </p:txBody>
      </p:sp>
      <p:sp>
        <p:nvSpPr>
          <p:cNvPr id="1076" name="ps2-title"/>
          <p:cNvSpPr txBox="1"/>
          <p:nvPr/>
        </p:nvSpPr>
        <p:spPr>
          <a:xfrm>
            <a:off x="374904" y="1380744"/>
            <a:ext cx="1853184" cy="128016"/>
          </a:xfrm>
          <a:prstGeom prst="rect">
            <a:avLst/>
          </a:prstGeom>
          <a:noFill/>
        </p:spPr>
        <p:txBody>
          <a:bodyPr wrap="square" lIns="0" tIns="0" rIns="0" bIns="0" anchor="t"/>
          <a:lstStyle/>
          <a:p>
            <a:pPr algn="ctr" rtl="1">
              <a:lnSpc>
                <a:spcPct val="112000"/>
              </a:lnSpc>
              <a:spcAft>
                <a:spcPts val="0"/>
              </a:spcAft>
            </a:pPr>
            <a:r>
              <a:rPr lang="ar-SA" sz="720" b="0" dirty="0">
                <a:solidFill>
                  <a:srgbClr val="24135F"/>
                </a:solidFill>
                <a:latin typeface="DiodrumArabic-Bold"/>
                <a:ea typeface="DiodrumArabic-Bold"/>
                <a:cs typeface="DiodrumArabic-Bold"/>
              </a:rPr>
              <a:t>التطبيق والاستفادة</a:t>
            </a:r>
          </a:p>
        </p:txBody>
      </p:sp>
      <p:sp>
        <p:nvSpPr>
          <p:cNvPr id="1077" name="ps2-body"/>
          <p:cNvSpPr txBox="1"/>
          <p:nvPr/>
        </p:nvSpPr>
        <p:spPr>
          <a:xfrm>
            <a:off x="374904" y="1636776"/>
            <a:ext cx="1853184" cy="594360"/>
          </a:xfrm>
          <a:prstGeom prst="rect">
            <a:avLst/>
          </a:prstGeom>
          <a:noFill/>
        </p:spPr>
        <p:txBody>
          <a:bodyPr wrap="square" lIns="0" tIns="0" rIns="0" bIns="0" anchor="t"/>
          <a:lstStyle/>
          <a:p>
            <a:pPr algn="ctr" rtl="1">
              <a:lnSpc>
                <a:spcPct val="122000"/>
              </a:lnSpc>
              <a:spcAft>
                <a:spcPts val="0"/>
              </a:spcAft>
            </a:pPr>
            <a:r>
              <a:rPr lang="ar-SA" sz="560" b="0" dirty="0">
                <a:solidFill>
                  <a:srgbClr val="5D6167"/>
                </a:solidFill>
                <a:latin typeface="DiodrumArabic-Medium"/>
                <a:ea typeface="DiodrumArabic-Medium"/>
                <a:cs typeface="DiodrumArabic-Medium"/>
              </a:rPr>
              <a:t>تحويل المخرجات الواعدة إلى نماذج أو توصيات أو حلول يمكن اختبارها أو تبنيها.</a:t>
            </a:r>
          </a:p>
        </p:txBody>
      </p:sp>
      <p:sp>
        <p:nvSpPr>
          <p:cNvPr id="1078" name="cb"/>
          <p:cNvSpPr/>
          <p:nvPr/>
        </p:nvSpPr>
        <p:spPr>
          <a:xfrm>
            <a:off x="301752" y="2880360"/>
            <a:ext cx="6254496" cy="365760"/>
          </a:xfrm>
          <a:prstGeom prst="roundRect">
            <a:avLst>
              <a:gd name="adj" fmla="val 13000"/>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79" name="cb-t"/>
          <p:cNvSpPr txBox="1"/>
          <p:nvPr/>
        </p:nvSpPr>
        <p:spPr>
          <a:xfrm>
            <a:off x="484632" y="2880360"/>
            <a:ext cx="5888736" cy="365760"/>
          </a:xfrm>
          <a:prstGeom prst="rect">
            <a:avLst/>
          </a:prstGeom>
          <a:noFill/>
        </p:spPr>
        <p:txBody>
          <a:bodyPr wrap="square" lIns="0" tIns="0" rIns="0" bIns="0" anchor="ctr"/>
          <a:lstStyle/>
          <a:p>
            <a:pPr algn="ctr" rtl="1">
              <a:spcAft>
                <a:spcPts val="0"/>
              </a:spcAft>
            </a:pPr>
            <a:r>
              <a:rPr lang="ar-SA" sz="620" b="0" dirty="0">
                <a:solidFill>
                  <a:srgbClr val="FFFFFF"/>
                </a:solidFill>
                <a:latin typeface="DiodrumArabic-Semibold"/>
                <a:ea typeface="DiodrumArabic-Semibold"/>
                <a:cs typeface="DiodrumArabic-Semibold"/>
              </a:rPr>
              <a:t>هنا يأتي دور حاضنة الأبحاث: ربط هذه العناصر في مسار واحد متكامل.</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101" name="title"/>
          <p:cNvSpPr txBox="1"/>
          <p:nvPr/>
        </p:nvSpPr>
        <p:spPr>
          <a:xfrm>
            <a:off x="301752" y="329184"/>
            <a:ext cx="6254496" cy="402336"/>
          </a:xfrm>
          <a:prstGeom prst="rect">
            <a:avLst/>
          </a:prstGeom>
          <a:noFill/>
        </p:spPr>
        <p:txBody>
          <a:bodyPr wrap="square" lIns="0" tIns="0" rIns="0" bIns="0" anchor="t"/>
          <a:lstStyle/>
          <a:p>
            <a:pPr algn="r" rtl="1">
              <a:lnSpc>
                <a:spcPct val="118000"/>
              </a:lnSpc>
              <a:spcAft>
                <a:spcPts val="0"/>
              </a:spcAft>
            </a:pPr>
            <a:r>
              <a:rPr lang="ar-SA" sz="1160" b="0" dirty="0">
                <a:solidFill>
                  <a:srgbClr val="24135F"/>
                </a:solidFill>
                <a:latin typeface="DiodrumArabic-Bold"/>
                <a:ea typeface="DiodrumArabic-Bold"/>
                <a:cs typeface="DiodrumArabic-Bold"/>
              </a:rPr>
              <a:t>مركز المعرفة الذي يحوّل المخرجات البحثية إلى قيمة قابلة للاستفادة</a:t>
            </a:r>
          </a:p>
        </p:txBody>
      </p:sp>
      <p:sp>
        <p:nvSpPr>
          <p:cNvPr id="1102" name="subtitle"/>
          <p:cNvSpPr txBox="1"/>
          <p:nvPr/>
        </p:nvSpPr>
        <p:spPr>
          <a:xfrm>
            <a:off x="301752" y="640080"/>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حاضنة الأبحاث هي مركز المعرفة الذي يجمع الباحثين والجهات الحكومية والقطاع الخاص والمستثمرين، بهدف دعم الأبحاث والدراسات المرتبطة بالحكومة الرقمية وتطوير مخرجاتها نحو حلول ومنتجات وخدمات ذات أثر.</a:t>
            </a:r>
          </a:p>
        </p:txBody>
      </p:sp>
      <p:sp>
        <p:nvSpPr>
          <p:cNvPr id="1103"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104" name="wc0"/>
          <p:cNvSpPr/>
          <p:nvPr/>
        </p:nvSpPr>
        <p:spPr>
          <a:xfrm>
            <a:off x="4532376" y="1417320"/>
            <a:ext cx="2023872" cy="1234440"/>
          </a:xfrm>
          <a:prstGeom prst="roundRect">
            <a:avLst>
              <a:gd name="adj" fmla="val 38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05" name="wc0-bar"/>
          <p:cNvSpPr/>
          <p:nvPr/>
        </p:nvSpPr>
        <p:spPr>
          <a:xfrm>
            <a:off x="4605528" y="14173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06" name="wc0-title"/>
          <p:cNvSpPr txBox="1"/>
          <p:nvPr/>
        </p:nvSpPr>
        <p:spPr>
          <a:xfrm>
            <a:off x="4651248" y="1563624"/>
            <a:ext cx="1786128" cy="146304"/>
          </a:xfrm>
          <a:prstGeom prst="rect">
            <a:avLst/>
          </a:prstGeom>
          <a:noFill/>
        </p:spPr>
        <p:txBody>
          <a:bodyPr wrap="square" lIns="0" tIns="0" rIns="0" bIns="0" anchor="t"/>
          <a:lstStyle/>
          <a:p>
            <a:pPr algn="r" rtl="1">
              <a:lnSpc>
                <a:spcPct val="118000"/>
              </a:lnSpc>
              <a:spcAft>
                <a:spcPts val="0"/>
              </a:spcAft>
            </a:pPr>
            <a:r>
              <a:rPr lang="ar-SA" sz="700" b="0" dirty="0">
                <a:solidFill>
                  <a:srgbClr val="24135F"/>
                </a:solidFill>
                <a:latin typeface="DiodrumArabic-Bold"/>
                <a:ea typeface="DiodrumArabic-Bold"/>
                <a:cs typeface="DiodrumArabic-Bold"/>
              </a:rPr>
              <a:t>الدعم والتمكين</a:t>
            </a:r>
          </a:p>
        </p:txBody>
      </p:sp>
      <p:sp>
        <p:nvSpPr>
          <p:cNvPr id="1107" name="wc0-body"/>
          <p:cNvSpPr txBox="1"/>
          <p:nvPr/>
        </p:nvSpPr>
        <p:spPr>
          <a:xfrm>
            <a:off x="4651248" y="1700784"/>
            <a:ext cx="1786128" cy="832104"/>
          </a:xfrm>
          <a:prstGeom prst="rect">
            <a:avLst/>
          </a:prstGeom>
          <a:noFill/>
        </p:spPr>
        <p:txBody>
          <a:bodyPr wrap="square" lIns="0" tIns="0" rIns="0" bIns="0" anchor="t"/>
          <a:lstStyle/>
          <a:p>
            <a:pPr algn="r" rtl="1">
              <a:lnSpc>
                <a:spcPct val="125000"/>
              </a:lnSpc>
              <a:spcAft>
                <a:spcPts val="0"/>
              </a:spcAft>
            </a:pPr>
            <a:r>
              <a:rPr lang="ar-SA" sz="540" b="0" dirty="0">
                <a:solidFill>
                  <a:srgbClr val="5D6167"/>
                </a:solidFill>
                <a:latin typeface="DiodrumArabic-Medium"/>
                <a:ea typeface="DiodrumArabic-Medium"/>
                <a:cs typeface="DiodrumArabic-Medium"/>
              </a:rPr>
              <a:t>توفير الخبرات والمساندة والشراكات اللازمة لتطوير المخرجات البحثية.</a:t>
            </a:r>
          </a:p>
        </p:txBody>
      </p:sp>
      <p:sp>
        <p:nvSpPr>
          <p:cNvPr id="1108" name="wc1"/>
          <p:cNvSpPr/>
          <p:nvPr/>
        </p:nvSpPr>
        <p:spPr>
          <a:xfrm>
            <a:off x="2417064" y="1417320"/>
            <a:ext cx="2023872" cy="1234440"/>
          </a:xfrm>
          <a:prstGeom prst="roundRect">
            <a:avLst>
              <a:gd name="adj" fmla="val 38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09" name="wc1-bar"/>
          <p:cNvSpPr/>
          <p:nvPr/>
        </p:nvSpPr>
        <p:spPr>
          <a:xfrm>
            <a:off x="2490216" y="14173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10" name="wc1-title"/>
          <p:cNvSpPr txBox="1"/>
          <p:nvPr/>
        </p:nvSpPr>
        <p:spPr>
          <a:xfrm>
            <a:off x="2535936" y="1563624"/>
            <a:ext cx="1786128" cy="146304"/>
          </a:xfrm>
          <a:prstGeom prst="rect">
            <a:avLst/>
          </a:prstGeom>
          <a:noFill/>
        </p:spPr>
        <p:txBody>
          <a:bodyPr wrap="square" lIns="0" tIns="0" rIns="0" bIns="0" anchor="t"/>
          <a:lstStyle/>
          <a:p>
            <a:pPr algn="r" rtl="1">
              <a:lnSpc>
                <a:spcPct val="118000"/>
              </a:lnSpc>
              <a:spcAft>
                <a:spcPts val="0"/>
              </a:spcAft>
            </a:pPr>
            <a:r>
              <a:rPr lang="ar-SA" sz="700" b="0" dirty="0">
                <a:solidFill>
                  <a:srgbClr val="24135F"/>
                </a:solidFill>
                <a:latin typeface="DiodrumArabic-Bold"/>
                <a:ea typeface="DiodrumArabic-Bold"/>
                <a:cs typeface="DiodrumArabic-Bold"/>
              </a:rPr>
              <a:t>حماية الملكية الفكرية</a:t>
            </a:r>
          </a:p>
        </p:txBody>
      </p:sp>
      <p:sp>
        <p:nvSpPr>
          <p:cNvPr id="1111" name="wc1-body"/>
          <p:cNvSpPr txBox="1"/>
          <p:nvPr/>
        </p:nvSpPr>
        <p:spPr>
          <a:xfrm>
            <a:off x="2535936" y="1819656"/>
            <a:ext cx="1786128" cy="713232"/>
          </a:xfrm>
          <a:prstGeom prst="rect">
            <a:avLst/>
          </a:prstGeom>
          <a:noFill/>
        </p:spPr>
        <p:txBody>
          <a:bodyPr wrap="square" lIns="0" tIns="0" rIns="0" bIns="0" anchor="t"/>
          <a:lstStyle/>
          <a:p>
            <a:pPr algn="r" rtl="1">
              <a:lnSpc>
                <a:spcPct val="125000"/>
              </a:lnSpc>
              <a:spcAft>
                <a:spcPts val="0"/>
              </a:spcAft>
            </a:pPr>
            <a:r>
              <a:rPr lang="ar-SA" sz="540" b="0" dirty="0">
                <a:solidFill>
                  <a:srgbClr val="5D6167"/>
                </a:solidFill>
                <a:latin typeface="DiodrumArabic-Medium"/>
                <a:ea typeface="DiodrumArabic-Medium"/>
                <a:cs typeface="DiodrumArabic-Medium"/>
              </a:rPr>
              <a:t>دعم حماية المخرجات والأفكار البحثية ضمن مسار الاحتضان.</a:t>
            </a:r>
          </a:p>
        </p:txBody>
      </p:sp>
      <p:sp>
        <p:nvSpPr>
          <p:cNvPr id="1112" name="wc2"/>
          <p:cNvSpPr/>
          <p:nvPr/>
        </p:nvSpPr>
        <p:spPr>
          <a:xfrm>
            <a:off x="301752" y="1417320"/>
            <a:ext cx="2023872" cy="1234440"/>
          </a:xfrm>
          <a:prstGeom prst="roundRect">
            <a:avLst>
              <a:gd name="adj" fmla="val 38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13" name="wc2-bar"/>
          <p:cNvSpPr/>
          <p:nvPr/>
        </p:nvSpPr>
        <p:spPr>
          <a:xfrm>
            <a:off x="374904" y="14173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14" name="wc2-title"/>
          <p:cNvSpPr txBox="1"/>
          <p:nvPr/>
        </p:nvSpPr>
        <p:spPr>
          <a:xfrm>
            <a:off x="420624" y="1563624"/>
            <a:ext cx="1786128" cy="146304"/>
          </a:xfrm>
          <a:prstGeom prst="rect">
            <a:avLst/>
          </a:prstGeom>
          <a:noFill/>
        </p:spPr>
        <p:txBody>
          <a:bodyPr wrap="square" lIns="0" tIns="0" rIns="0" bIns="0" anchor="t"/>
          <a:lstStyle/>
          <a:p>
            <a:pPr algn="r" rtl="1">
              <a:lnSpc>
                <a:spcPct val="118000"/>
              </a:lnSpc>
              <a:spcAft>
                <a:spcPts val="0"/>
              </a:spcAft>
            </a:pPr>
            <a:r>
              <a:rPr lang="ar-SA" sz="700" b="0" dirty="0">
                <a:solidFill>
                  <a:srgbClr val="24135F"/>
                </a:solidFill>
                <a:latin typeface="DiodrumArabic-Bold"/>
                <a:ea typeface="DiodrumArabic-Bold"/>
                <a:cs typeface="DiodrumArabic-Bold"/>
              </a:rPr>
              <a:t>تطوير النماذج الأولية</a:t>
            </a:r>
          </a:p>
        </p:txBody>
      </p:sp>
      <p:sp>
        <p:nvSpPr>
          <p:cNvPr id="1115" name="wc2-body"/>
          <p:cNvSpPr txBox="1"/>
          <p:nvPr/>
        </p:nvSpPr>
        <p:spPr>
          <a:xfrm>
            <a:off x="420624" y="1819656"/>
            <a:ext cx="1786128" cy="713232"/>
          </a:xfrm>
          <a:prstGeom prst="rect">
            <a:avLst/>
          </a:prstGeom>
          <a:noFill/>
        </p:spPr>
        <p:txBody>
          <a:bodyPr wrap="square" lIns="0" tIns="0" rIns="0" bIns="0" anchor="t"/>
          <a:lstStyle/>
          <a:p>
            <a:pPr algn="r" rtl="1">
              <a:lnSpc>
                <a:spcPct val="125000"/>
              </a:lnSpc>
              <a:spcAft>
                <a:spcPts val="0"/>
              </a:spcAft>
            </a:pPr>
            <a:r>
              <a:rPr lang="ar-SA" sz="540" b="0" dirty="0">
                <a:solidFill>
                  <a:srgbClr val="5D6167"/>
                </a:solidFill>
                <a:latin typeface="DiodrumArabic-Medium"/>
                <a:ea typeface="DiodrumArabic-Medium"/>
                <a:cs typeface="DiodrumArabic-Medium"/>
              </a:rPr>
              <a:t>تمكين انتقال البحث من الفكرة أو الدراسة إلى مخرج يمكن اختباره.</a:t>
            </a:r>
          </a:p>
        </p:txBody>
      </p:sp>
      <p:sp>
        <p:nvSpPr>
          <p:cNvPr id="1116" name="cb"/>
          <p:cNvSpPr/>
          <p:nvPr/>
        </p:nvSpPr>
        <p:spPr>
          <a:xfrm>
            <a:off x="301752" y="2880360"/>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17" name="cb-t"/>
          <p:cNvSpPr txBox="1"/>
          <p:nvPr/>
        </p:nvSpPr>
        <p:spPr>
          <a:xfrm>
            <a:off x="484632" y="2880360"/>
            <a:ext cx="5888736" cy="292608"/>
          </a:xfrm>
          <a:prstGeom prst="rect">
            <a:avLst/>
          </a:prstGeom>
          <a:noFill/>
        </p:spPr>
        <p:txBody>
          <a:bodyPr wrap="square" lIns="0" tIns="0" rIns="0" bIns="0" anchor="ctr"/>
          <a:lstStyle/>
          <a:p>
            <a:pPr algn="ctr" rtl="1">
              <a:spcAft>
                <a:spcPts val="0"/>
              </a:spcAft>
            </a:pPr>
            <a:r>
              <a:rPr lang="ar-SA" sz="580" b="0" dirty="0">
                <a:solidFill>
                  <a:srgbClr val="FFFFFF"/>
                </a:solidFill>
                <a:latin typeface="DiodrumArabic-Semibold"/>
                <a:ea typeface="DiodrumArabic-Semibold"/>
                <a:cs typeface="DiodrumArabic-Semibold"/>
              </a:rPr>
              <a:t>الغاية ليست إنتاج المزيد من الأبحاث، بل زيادة الاستفادة من الأبحاث وتحويل المعرفة إلى قيمة.</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119"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أربعة أهداف توجّه عمل الحاضنة</a:t>
            </a:r>
          </a:p>
        </p:txBody>
      </p:sp>
      <p:sp>
        <p:nvSpPr>
          <p:cNvPr id="1120"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121" name="gc0"/>
          <p:cNvSpPr/>
          <p:nvPr/>
        </p:nvSpPr>
        <p:spPr>
          <a:xfrm>
            <a:off x="5061204" y="1051560"/>
            <a:ext cx="1495044"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22" name="gc0-bar"/>
          <p:cNvSpPr/>
          <p:nvPr/>
        </p:nvSpPr>
        <p:spPr>
          <a:xfrm>
            <a:off x="5134356" y="10515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23" name="gc0-title"/>
          <p:cNvSpPr txBox="1"/>
          <p:nvPr/>
        </p:nvSpPr>
        <p:spPr>
          <a:xfrm>
            <a:off x="5180076" y="154990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توجيه البحث نحو الأولويات الحكومية</a:t>
            </a:r>
          </a:p>
        </p:txBody>
      </p:sp>
      <p:sp>
        <p:nvSpPr>
          <p:cNvPr id="1124" name="gc0-body"/>
          <p:cNvSpPr txBox="1"/>
          <p:nvPr/>
        </p:nvSpPr>
        <p:spPr>
          <a:xfrm>
            <a:off x="5180076" y="1805940"/>
            <a:ext cx="1257300" cy="544068"/>
          </a:xfrm>
          <a:prstGeom prst="rect">
            <a:avLst/>
          </a:prstGeom>
          <a:noFill/>
        </p:spPr>
        <p:txBody>
          <a:bodyPr wrap="square" lIns="0" tIns="0" rIns="0" bIns="0" anchor="t"/>
          <a:lstStyle/>
          <a:p>
            <a:pPr algn="r" rtl="1">
              <a:lnSpc>
                <a:spcPct val="125000"/>
              </a:lnSpc>
              <a:spcAft>
                <a:spcPts val="0"/>
              </a:spcAft>
            </a:pPr>
            <a:r>
              <a:rPr lang="ar-SA" sz="520" b="0" dirty="0">
                <a:solidFill>
                  <a:srgbClr val="5D6167"/>
                </a:solidFill>
                <a:latin typeface="DiodrumArabic-Medium"/>
                <a:ea typeface="DiodrumArabic-Medium"/>
                <a:cs typeface="DiodrumArabic-Medium"/>
              </a:rPr>
              <a:t>ربط الموضوعات البحثية بالتحديات والفرص ذات الأولوية في الحكومة الرقمية.</a:t>
            </a:r>
          </a:p>
        </p:txBody>
      </p:sp>
      <p:sp>
        <p:nvSpPr>
          <p:cNvPr id="1125" name="gc1"/>
          <p:cNvSpPr/>
          <p:nvPr/>
        </p:nvSpPr>
        <p:spPr>
          <a:xfrm>
            <a:off x="3474720" y="1051560"/>
            <a:ext cx="1495044"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26" name="gc1-bar"/>
          <p:cNvSpPr/>
          <p:nvPr/>
        </p:nvSpPr>
        <p:spPr>
          <a:xfrm>
            <a:off x="3547872" y="10515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27" name="gc1-title"/>
          <p:cNvSpPr txBox="1"/>
          <p:nvPr/>
        </p:nvSpPr>
        <p:spPr>
          <a:xfrm>
            <a:off x="3593592" y="154990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تمكين الابتكار القائم على المعرفة</a:t>
            </a:r>
          </a:p>
        </p:txBody>
      </p:sp>
      <p:sp>
        <p:nvSpPr>
          <p:cNvPr id="1128" name="gc1-body"/>
          <p:cNvSpPr txBox="1"/>
          <p:nvPr/>
        </p:nvSpPr>
        <p:spPr>
          <a:xfrm>
            <a:off x="3593592" y="1805940"/>
            <a:ext cx="1257300" cy="544068"/>
          </a:xfrm>
          <a:prstGeom prst="rect">
            <a:avLst/>
          </a:prstGeom>
          <a:noFill/>
        </p:spPr>
        <p:txBody>
          <a:bodyPr wrap="square" lIns="0" tIns="0" rIns="0" bIns="0" anchor="t"/>
          <a:lstStyle/>
          <a:p>
            <a:pPr algn="r" rtl="1">
              <a:lnSpc>
                <a:spcPct val="125000"/>
              </a:lnSpc>
              <a:spcAft>
                <a:spcPts val="0"/>
              </a:spcAft>
            </a:pPr>
            <a:r>
              <a:rPr lang="ar-SA" sz="520" b="0" dirty="0">
                <a:solidFill>
                  <a:srgbClr val="5D6167"/>
                </a:solidFill>
                <a:latin typeface="DiodrumArabic-Medium"/>
                <a:ea typeface="DiodrumArabic-Medium"/>
                <a:cs typeface="DiodrumArabic-Medium"/>
              </a:rPr>
              <a:t>تسريع تطوير المخرجات البحثية ودعم تبني التقنيات الحديثة.</a:t>
            </a:r>
          </a:p>
        </p:txBody>
      </p:sp>
      <p:sp>
        <p:nvSpPr>
          <p:cNvPr id="1129" name="gc2"/>
          <p:cNvSpPr/>
          <p:nvPr/>
        </p:nvSpPr>
        <p:spPr>
          <a:xfrm>
            <a:off x="1888236" y="1051560"/>
            <a:ext cx="1495044"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30" name="gc2-bar"/>
          <p:cNvSpPr/>
          <p:nvPr/>
        </p:nvSpPr>
        <p:spPr>
          <a:xfrm>
            <a:off x="1961388" y="10515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31" name="gc2-title"/>
          <p:cNvSpPr txBox="1"/>
          <p:nvPr/>
        </p:nvSpPr>
        <p:spPr>
          <a:xfrm>
            <a:off x="2007108" y="154990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دعم القرارات المبنية على المعرفة</a:t>
            </a:r>
          </a:p>
        </p:txBody>
      </p:sp>
      <p:sp>
        <p:nvSpPr>
          <p:cNvPr id="1132" name="gc2-body"/>
          <p:cNvSpPr txBox="1"/>
          <p:nvPr/>
        </p:nvSpPr>
        <p:spPr>
          <a:xfrm>
            <a:off x="2007108" y="1805940"/>
            <a:ext cx="1257300" cy="544068"/>
          </a:xfrm>
          <a:prstGeom prst="rect">
            <a:avLst/>
          </a:prstGeom>
          <a:noFill/>
        </p:spPr>
        <p:txBody>
          <a:bodyPr wrap="square" lIns="0" tIns="0" rIns="0" bIns="0" anchor="t"/>
          <a:lstStyle/>
          <a:p>
            <a:pPr algn="r" rtl="1">
              <a:lnSpc>
                <a:spcPct val="125000"/>
              </a:lnSpc>
              <a:spcAft>
                <a:spcPts val="0"/>
              </a:spcAft>
            </a:pPr>
            <a:r>
              <a:rPr lang="ar-SA" sz="520" b="0" dirty="0">
                <a:solidFill>
                  <a:srgbClr val="5D6167"/>
                </a:solidFill>
                <a:latin typeface="DiodrumArabic-Medium"/>
                <a:ea typeface="DiodrumArabic-Medium"/>
                <a:cs typeface="DiodrumArabic-Medium"/>
              </a:rPr>
              <a:t>تعظيم الاستفادة من نتائج الأبحاث في تطوير الخدمات والسياسات والممارسات الحكومية.</a:t>
            </a:r>
          </a:p>
        </p:txBody>
      </p:sp>
      <p:sp>
        <p:nvSpPr>
          <p:cNvPr id="1133" name="gc3"/>
          <p:cNvSpPr/>
          <p:nvPr/>
        </p:nvSpPr>
        <p:spPr>
          <a:xfrm>
            <a:off x="301752" y="1051560"/>
            <a:ext cx="1495044"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34" name="gc3-bar"/>
          <p:cNvSpPr/>
          <p:nvPr/>
        </p:nvSpPr>
        <p:spPr>
          <a:xfrm>
            <a:off x="374904" y="10515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35" name="gc3-title"/>
          <p:cNvSpPr txBox="1"/>
          <p:nvPr/>
        </p:nvSpPr>
        <p:spPr>
          <a:xfrm>
            <a:off x="420624" y="154990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تعزيز الأثر الاقتصادي والاجتماعي والبيئي</a:t>
            </a:r>
          </a:p>
        </p:txBody>
      </p:sp>
      <p:sp>
        <p:nvSpPr>
          <p:cNvPr id="1136" name="gc3-body"/>
          <p:cNvSpPr txBox="1"/>
          <p:nvPr/>
        </p:nvSpPr>
        <p:spPr>
          <a:xfrm>
            <a:off x="420624" y="1805940"/>
            <a:ext cx="1257300" cy="544068"/>
          </a:xfrm>
          <a:prstGeom prst="rect">
            <a:avLst/>
          </a:prstGeom>
          <a:noFill/>
        </p:spPr>
        <p:txBody>
          <a:bodyPr wrap="square" lIns="0" tIns="0" rIns="0" bIns="0" anchor="t"/>
          <a:lstStyle/>
          <a:p>
            <a:pPr algn="r" rtl="1">
              <a:lnSpc>
                <a:spcPct val="125000"/>
              </a:lnSpc>
              <a:spcAft>
                <a:spcPts val="0"/>
              </a:spcAft>
            </a:pPr>
            <a:r>
              <a:rPr lang="ar-SA" sz="520" b="0" dirty="0">
                <a:solidFill>
                  <a:srgbClr val="5D6167"/>
                </a:solidFill>
                <a:latin typeface="DiodrumArabic-Medium"/>
                <a:ea typeface="DiodrumArabic-Medium"/>
                <a:cs typeface="DiodrumArabic-Medium"/>
              </a:rPr>
              <a:t>دعم توظيف المخرجات البحثية بما يحقق قيمة مستدامة.</a:t>
            </a:r>
          </a:p>
        </p:txBody>
      </p:sp>
      <p:sp>
        <p:nvSpPr>
          <p:cNvPr id="1137" name="cb"/>
          <p:cNvSpPr/>
          <p:nvPr/>
        </p:nvSpPr>
        <p:spPr>
          <a:xfrm>
            <a:off x="301752" y="2651760"/>
            <a:ext cx="6254496" cy="310896"/>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38" name="cb-t"/>
          <p:cNvSpPr txBox="1"/>
          <p:nvPr/>
        </p:nvSpPr>
        <p:spPr>
          <a:xfrm>
            <a:off x="484632" y="2651760"/>
            <a:ext cx="5888736" cy="310896"/>
          </a:xfrm>
          <a:prstGeom prst="rect">
            <a:avLst/>
          </a:prstGeom>
          <a:noFill/>
        </p:spPr>
        <p:txBody>
          <a:bodyPr wrap="square" lIns="0" tIns="0" rIns="0" bIns="0" anchor="ctr"/>
          <a:lstStyle/>
          <a:p>
            <a:pPr algn="ctr" rtl="1">
              <a:spcAft>
                <a:spcPts val="0"/>
              </a:spcAft>
            </a:pPr>
            <a:r>
              <a:rPr lang="ar-SA" sz="580" b="0" dirty="0">
                <a:solidFill>
                  <a:srgbClr val="FFFFFF"/>
                </a:solidFill>
                <a:latin typeface="DiodrumArabic-Semibold"/>
                <a:ea typeface="DiodrumArabic-Semibold"/>
                <a:cs typeface="DiodrumArabic-Semibold"/>
              </a:rPr>
              <a:t>الحاضنة تربط المعرفة بالأولوية، ثم تقودها نحو التطبيق والاستفادة.</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140"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رحلة متكاملة من الأولوية إلى التبني</a:t>
            </a:r>
          </a:p>
        </p:txBody>
      </p:sp>
      <p:sp>
        <p:nvSpPr>
          <p:cNvPr id="1141"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142" name="ms0"/>
          <p:cNvSpPr/>
          <p:nvPr/>
        </p:nvSpPr>
        <p:spPr>
          <a:xfrm>
            <a:off x="5378501" y="1188720"/>
            <a:ext cx="1177747" cy="1417320"/>
          </a:xfrm>
          <a:prstGeom prst="roundRect">
            <a:avLst>
              <a:gd name="adj" fmla="val 3354"/>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43" name="ms0-badge"/>
          <p:cNvSpPr/>
          <p:nvPr/>
        </p:nvSpPr>
        <p:spPr>
          <a:xfrm>
            <a:off x="5857646" y="111191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44" name="ms0-badgenum"/>
          <p:cNvSpPr txBox="1"/>
          <p:nvPr/>
        </p:nvSpPr>
        <p:spPr>
          <a:xfrm>
            <a:off x="5857646" y="111191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1</a:t>
            </a:r>
          </a:p>
        </p:txBody>
      </p:sp>
      <p:sp>
        <p:nvSpPr>
          <p:cNvPr id="1145" name="ms0-title"/>
          <p:cNvSpPr txBox="1"/>
          <p:nvPr/>
        </p:nvSpPr>
        <p:spPr>
          <a:xfrm>
            <a:off x="5451653" y="1335024"/>
            <a:ext cx="1031443" cy="128016"/>
          </a:xfrm>
          <a:prstGeom prst="rect">
            <a:avLst/>
          </a:prstGeom>
          <a:noFill/>
        </p:spPr>
        <p:txBody>
          <a:bodyPr wrap="square" lIns="0" tIns="0" rIns="0" bIns="0" anchor="t"/>
          <a:lstStyle/>
          <a:p>
            <a:pPr algn="ctr" rtl="1">
              <a:lnSpc>
                <a:spcPct val="112000"/>
              </a:lnSpc>
              <a:spcAft>
                <a:spcPts val="0"/>
              </a:spcAft>
            </a:pPr>
            <a:r>
              <a:rPr lang="ar-SA" sz="620" b="0" dirty="0">
                <a:solidFill>
                  <a:srgbClr val="24135F"/>
                </a:solidFill>
                <a:latin typeface="DiodrumArabic-Bold"/>
                <a:ea typeface="DiodrumArabic-Bold"/>
                <a:cs typeface="DiodrumArabic-Bold"/>
              </a:rPr>
              <a:t>رصد الأولويات</a:t>
            </a:r>
          </a:p>
        </p:txBody>
      </p:sp>
      <p:sp>
        <p:nvSpPr>
          <p:cNvPr id="1146" name="ms0-body"/>
          <p:cNvSpPr txBox="1"/>
          <p:nvPr/>
        </p:nvSpPr>
        <p:spPr>
          <a:xfrm>
            <a:off x="5451653" y="1472184"/>
            <a:ext cx="1031443" cy="1078992"/>
          </a:xfrm>
          <a:prstGeom prst="rect">
            <a:avLst/>
          </a:prstGeom>
          <a:noFill/>
        </p:spPr>
        <p:txBody>
          <a:bodyPr wrap="square" lIns="0" tIns="0" rIns="0" bIns="0" anchor="t"/>
          <a:lstStyle/>
          <a:p>
            <a:pPr algn="ctr" rtl="1">
              <a:lnSpc>
                <a:spcPct val="122000"/>
              </a:lnSpc>
              <a:spcAft>
                <a:spcPts val="0"/>
              </a:spcAft>
            </a:pPr>
            <a:r>
              <a:rPr lang="ar-SA" sz="490" b="0" dirty="0">
                <a:solidFill>
                  <a:srgbClr val="5D6167"/>
                </a:solidFill>
                <a:latin typeface="DiodrumArabic-Medium"/>
                <a:ea typeface="DiodrumArabic-Medium"/>
                <a:cs typeface="DiodrumArabic-Medium"/>
              </a:rPr>
              <a:t>تحديد التوجهات والتحديات والموضوعات البحثية ذات الأولوية.</a:t>
            </a:r>
          </a:p>
        </p:txBody>
      </p:sp>
      <p:sp>
        <p:nvSpPr>
          <p:cNvPr id="1147" name="ms0-chev"/>
          <p:cNvSpPr/>
          <p:nvPr/>
        </p:nvSpPr>
        <p:spPr>
          <a:xfrm flipH="1">
            <a:off x="5259629" y="181508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48" name="ms1"/>
          <p:cNvSpPr/>
          <p:nvPr/>
        </p:nvSpPr>
        <p:spPr>
          <a:xfrm>
            <a:off x="4109314" y="1188720"/>
            <a:ext cx="1177747" cy="1417320"/>
          </a:xfrm>
          <a:prstGeom prst="roundRect">
            <a:avLst>
              <a:gd name="adj" fmla="val 3354"/>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49" name="ms1-badge"/>
          <p:cNvSpPr/>
          <p:nvPr/>
        </p:nvSpPr>
        <p:spPr>
          <a:xfrm>
            <a:off x="4588459" y="111191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50" name="ms1-badgenum"/>
          <p:cNvSpPr txBox="1"/>
          <p:nvPr/>
        </p:nvSpPr>
        <p:spPr>
          <a:xfrm>
            <a:off x="4588459" y="111191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2</a:t>
            </a:r>
          </a:p>
        </p:txBody>
      </p:sp>
      <p:sp>
        <p:nvSpPr>
          <p:cNvPr id="1151" name="ms1-title"/>
          <p:cNvSpPr txBox="1"/>
          <p:nvPr/>
        </p:nvSpPr>
        <p:spPr>
          <a:xfrm>
            <a:off x="4182466" y="1335024"/>
            <a:ext cx="1031443" cy="128016"/>
          </a:xfrm>
          <a:prstGeom prst="rect">
            <a:avLst/>
          </a:prstGeom>
          <a:noFill/>
        </p:spPr>
        <p:txBody>
          <a:bodyPr wrap="square" lIns="0" tIns="0" rIns="0" bIns="0" anchor="t"/>
          <a:lstStyle/>
          <a:p>
            <a:pPr algn="ctr" rtl="1">
              <a:lnSpc>
                <a:spcPct val="112000"/>
              </a:lnSpc>
              <a:spcAft>
                <a:spcPts val="0"/>
              </a:spcAft>
            </a:pPr>
            <a:r>
              <a:rPr lang="ar-SA" sz="620" b="0" dirty="0">
                <a:solidFill>
                  <a:srgbClr val="24135F"/>
                </a:solidFill>
                <a:latin typeface="DiodrumArabic-Bold"/>
                <a:ea typeface="DiodrumArabic-Bold"/>
                <a:cs typeface="DiodrumArabic-Bold"/>
              </a:rPr>
              <a:t>الاستقطاب والاختيار</a:t>
            </a:r>
          </a:p>
        </p:txBody>
      </p:sp>
      <p:sp>
        <p:nvSpPr>
          <p:cNvPr id="1152" name="ms1-body"/>
          <p:cNvSpPr txBox="1"/>
          <p:nvPr/>
        </p:nvSpPr>
        <p:spPr>
          <a:xfrm>
            <a:off x="4182466" y="1591056"/>
            <a:ext cx="1031443" cy="960120"/>
          </a:xfrm>
          <a:prstGeom prst="rect">
            <a:avLst/>
          </a:prstGeom>
          <a:noFill/>
        </p:spPr>
        <p:txBody>
          <a:bodyPr wrap="square" lIns="0" tIns="0" rIns="0" bIns="0" anchor="t"/>
          <a:lstStyle/>
          <a:p>
            <a:pPr algn="ctr" rtl="1">
              <a:lnSpc>
                <a:spcPct val="122000"/>
              </a:lnSpc>
              <a:spcAft>
                <a:spcPts val="0"/>
              </a:spcAft>
            </a:pPr>
            <a:r>
              <a:rPr lang="ar-SA" sz="490" b="0" dirty="0">
                <a:solidFill>
                  <a:srgbClr val="5D6167"/>
                </a:solidFill>
                <a:latin typeface="DiodrumArabic-Medium"/>
                <a:ea typeface="DiodrumArabic-Medium"/>
                <a:cs typeface="DiodrumArabic-Medium"/>
              </a:rPr>
              <a:t>استقبال الأفكار والأبحاث وتقييمها واختيار المشروعات الواعدة.</a:t>
            </a:r>
          </a:p>
        </p:txBody>
      </p:sp>
      <p:sp>
        <p:nvSpPr>
          <p:cNvPr id="1153" name="ms1-chev"/>
          <p:cNvSpPr/>
          <p:nvPr/>
        </p:nvSpPr>
        <p:spPr>
          <a:xfrm flipH="1">
            <a:off x="3990442" y="181508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54" name="ms2"/>
          <p:cNvSpPr/>
          <p:nvPr/>
        </p:nvSpPr>
        <p:spPr>
          <a:xfrm>
            <a:off x="2840126" y="1188720"/>
            <a:ext cx="1177747" cy="1417320"/>
          </a:xfrm>
          <a:prstGeom prst="roundRect">
            <a:avLst>
              <a:gd name="adj" fmla="val 3354"/>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55" name="ms2-badge"/>
          <p:cNvSpPr/>
          <p:nvPr/>
        </p:nvSpPr>
        <p:spPr>
          <a:xfrm>
            <a:off x="3319272" y="111191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56" name="ms2-badgenum"/>
          <p:cNvSpPr txBox="1"/>
          <p:nvPr/>
        </p:nvSpPr>
        <p:spPr>
          <a:xfrm>
            <a:off x="3319272" y="111191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3</a:t>
            </a:r>
          </a:p>
        </p:txBody>
      </p:sp>
      <p:sp>
        <p:nvSpPr>
          <p:cNvPr id="1157" name="ms2-title"/>
          <p:cNvSpPr txBox="1"/>
          <p:nvPr/>
        </p:nvSpPr>
        <p:spPr>
          <a:xfrm>
            <a:off x="2913278" y="1335024"/>
            <a:ext cx="1031443" cy="128016"/>
          </a:xfrm>
          <a:prstGeom prst="rect">
            <a:avLst/>
          </a:prstGeom>
          <a:noFill/>
        </p:spPr>
        <p:txBody>
          <a:bodyPr wrap="square" lIns="0" tIns="0" rIns="0" bIns="0" anchor="t"/>
          <a:lstStyle/>
          <a:p>
            <a:pPr algn="ctr" rtl="1">
              <a:lnSpc>
                <a:spcPct val="112000"/>
              </a:lnSpc>
              <a:spcAft>
                <a:spcPts val="0"/>
              </a:spcAft>
            </a:pPr>
            <a:r>
              <a:rPr lang="ar-SA" sz="620" b="0" dirty="0">
                <a:solidFill>
                  <a:srgbClr val="24135F"/>
                </a:solidFill>
                <a:latin typeface="DiodrumArabic-Bold"/>
                <a:ea typeface="DiodrumArabic-Bold"/>
                <a:cs typeface="DiodrumArabic-Bold"/>
              </a:rPr>
              <a:t>الاحتضان والتطوير</a:t>
            </a:r>
          </a:p>
        </p:txBody>
      </p:sp>
      <p:sp>
        <p:nvSpPr>
          <p:cNvPr id="1158" name="ms2-body"/>
          <p:cNvSpPr txBox="1"/>
          <p:nvPr/>
        </p:nvSpPr>
        <p:spPr>
          <a:xfrm>
            <a:off x="2913278" y="1591056"/>
            <a:ext cx="1031443" cy="960120"/>
          </a:xfrm>
          <a:prstGeom prst="rect">
            <a:avLst/>
          </a:prstGeom>
          <a:noFill/>
        </p:spPr>
        <p:txBody>
          <a:bodyPr wrap="square" lIns="0" tIns="0" rIns="0" bIns="0" anchor="t"/>
          <a:lstStyle/>
          <a:p>
            <a:pPr algn="ctr" rtl="1">
              <a:lnSpc>
                <a:spcPct val="122000"/>
              </a:lnSpc>
              <a:spcAft>
                <a:spcPts val="0"/>
              </a:spcAft>
            </a:pPr>
            <a:r>
              <a:rPr lang="ar-SA" sz="490" b="0" dirty="0">
                <a:solidFill>
                  <a:srgbClr val="5D6167"/>
                </a:solidFill>
                <a:latin typeface="DiodrumArabic-Medium"/>
                <a:ea typeface="DiodrumArabic-Medium"/>
                <a:cs typeface="DiodrumArabic-Medium"/>
              </a:rPr>
              <a:t>توفير الدعم والخبرات والشراكات وتطوير المخرجات والنماذج الأولية.</a:t>
            </a:r>
          </a:p>
        </p:txBody>
      </p:sp>
      <p:sp>
        <p:nvSpPr>
          <p:cNvPr id="1159" name="ms2-chev"/>
          <p:cNvSpPr/>
          <p:nvPr/>
        </p:nvSpPr>
        <p:spPr>
          <a:xfrm flipH="1">
            <a:off x="2721254" y="181508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0" name="ms3"/>
          <p:cNvSpPr/>
          <p:nvPr/>
        </p:nvSpPr>
        <p:spPr>
          <a:xfrm>
            <a:off x="1570939" y="1188720"/>
            <a:ext cx="1177747" cy="1417320"/>
          </a:xfrm>
          <a:prstGeom prst="roundRect">
            <a:avLst>
              <a:gd name="adj" fmla="val 3354"/>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1" name="ms3-badge"/>
          <p:cNvSpPr/>
          <p:nvPr/>
        </p:nvSpPr>
        <p:spPr>
          <a:xfrm>
            <a:off x="2050085" y="111191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2" name="ms3-badgenum"/>
          <p:cNvSpPr txBox="1"/>
          <p:nvPr/>
        </p:nvSpPr>
        <p:spPr>
          <a:xfrm>
            <a:off x="2050085" y="111191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4</a:t>
            </a:r>
          </a:p>
        </p:txBody>
      </p:sp>
      <p:sp>
        <p:nvSpPr>
          <p:cNvPr id="1163" name="ms3-title"/>
          <p:cNvSpPr txBox="1"/>
          <p:nvPr/>
        </p:nvSpPr>
        <p:spPr>
          <a:xfrm>
            <a:off x="1644091" y="1335024"/>
            <a:ext cx="1031443" cy="128016"/>
          </a:xfrm>
          <a:prstGeom prst="rect">
            <a:avLst/>
          </a:prstGeom>
          <a:noFill/>
        </p:spPr>
        <p:txBody>
          <a:bodyPr wrap="square" lIns="0" tIns="0" rIns="0" bIns="0" anchor="t"/>
          <a:lstStyle/>
          <a:p>
            <a:pPr algn="ctr" rtl="1">
              <a:lnSpc>
                <a:spcPct val="112000"/>
              </a:lnSpc>
              <a:spcAft>
                <a:spcPts val="0"/>
              </a:spcAft>
            </a:pPr>
            <a:r>
              <a:rPr lang="ar-SA" sz="620" b="0" dirty="0">
                <a:solidFill>
                  <a:srgbClr val="24135F"/>
                </a:solidFill>
                <a:latin typeface="DiodrumArabic-Bold"/>
                <a:ea typeface="DiodrumArabic-Bold"/>
                <a:cs typeface="DiodrumArabic-Bold"/>
              </a:rPr>
              <a:t>التجربة والربط بالجهات</a:t>
            </a:r>
          </a:p>
        </p:txBody>
      </p:sp>
      <p:sp>
        <p:nvSpPr>
          <p:cNvPr id="1164" name="ms3-body"/>
          <p:cNvSpPr txBox="1"/>
          <p:nvPr/>
        </p:nvSpPr>
        <p:spPr>
          <a:xfrm>
            <a:off x="1644091" y="1591056"/>
            <a:ext cx="1031443" cy="960120"/>
          </a:xfrm>
          <a:prstGeom prst="rect">
            <a:avLst/>
          </a:prstGeom>
          <a:noFill/>
        </p:spPr>
        <p:txBody>
          <a:bodyPr wrap="square" lIns="0" tIns="0" rIns="0" bIns="0" anchor="t"/>
          <a:lstStyle/>
          <a:p>
            <a:pPr algn="ctr" rtl="1">
              <a:lnSpc>
                <a:spcPct val="122000"/>
              </a:lnSpc>
              <a:spcAft>
                <a:spcPts val="0"/>
              </a:spcAft>
            </a:pPr>
            <a:r>
              <a:rPr lang="ar-SA" sz="490" b="0" dirty="0">
                <a:solidFill>
                  <a:srgbClr val="5D6167"/>
                </a:solidFill>
                <a:latin typeface="DiodrumArabic-Medium"/>
                <a:ea typeface="DiodrumArabic-Medium"/>
                <a:cs typeface="DiodrumArabic-Medium"/>
              </a:rPr>
              <a:t>مواءمة المخرجات مع احتياجات الجهات الحكومية واختبار قابليتها للتطبيق.</a:t>
            </a:r>
          </a:p>
        </p:txBody>
      </p:sp>
      <p:sp>
        <p:nvSpPr>
          <p:cNvPr id="1165" name="ms3-chev"/>
          <p:cNvSpPr/>
          <p:nvPr/>
        </p:nvSpPr>
        <p:spPr>
          <a:xfrm flipH="1">
            <a:off x="1452067" y="1815084"/>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6" name="ms4"/>
          <p:cNvSpPr/>
          <p:nvPr/>
        </p:nvSpPr>
        <p:spPr>
          <a:xfrm>
            <a:off x="301752" y="1188720"/>
            <a:ext cx="1177747" cy="1417320"/>
          </a:xfrm>
          <a:prstGeom prst="roundRect">
            <a:avLst>
              <a:gd name="adj" fmla="val 3354"/>
            </a:avLst>
          </a:prstGeom>
          <a:solidFill>
            <a:srgbClr val="1CC182">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7" name="ms4-badge"/>
          <p:cNvSpPr/>
          <p:nvPr/>
        </p:nvSpPr>
        <p:spPr>
          <a:xfrm>
            <a:off x="780898" y="1111910"/>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68" name="ms4-badgenum"/>
          <p:cNvSpPr txBox="1"/>
          <p:nvPr/>
        </p:nvSpPr>
        <p:spPr>
          <a:xfrm>
            <a:off x="780898" y="1111910"/>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5</a:t>
            </a:r>
          </a:p>
        </p:txBody>
      </p:sp>
      <p:sp>
        <p:nvSpPr>
          <p:cNvPr id="1169" name="ms4-title"/>
          <p:cNvSpPr txBox="1"/>
          <p:nvPr/>
        </p:nvSpPr>
        <p:spPr>
          <a:xfrm>
            <a:off x="374904" y="1335024"/>
            <a:ext cx="1031443" cy="128016"/>
          </a:xfrm>
          <a:prstGeom prst="rect">
            <a:avLst/>
          </a:prstGeom>
          <a:noFill/>
        </p:spPr>
        <p:txBody>
          <a:bodyPr wrap="square" lIns="0" tIns="0" rIns="0" bIns="0" anchor="t"/>
          <a:lstStyle/>
          <a:p>
            <a:pPr algn="ctr" rtl="1">
              <a:lnSpc>
                <a:spcPct val="112000"/>
              </a:lnSpc>
              <a:spcAft>
                <a:spcPts val="0"/>
              </a:spcAft>
            </a:pPr>
            <a:r>
              <a:rPr lang="ar-SA" sz="620" b="0" dirty="0">
                <a:solidFill>
                  <a:srgbClr val="24135F"/>
                </a:solidFill>
                <a:latin typeface="DiodrumArabic-Bold"/>
                <a:ea typeface="DiodrumArabic-Bold"/>
                <a:cs typeface="DiodrumArabic-Bold"/>
              </a:rPr>
              <a:t>التبني ونقل المعرفة</a:t>
            </a:r>
          </a:p>
        </p:txBody>
      </p:sp>
      <p:sp>
        <p:nvSpPr>
          <p:cNvPr id="1170" name="ms4-body"/>
          <p:cNvSpPr txBox="1"/>
          <p:nvPr/>
        </p:nvSpPr>
        <p:spPr>
          <a:xfrm>
            <a:off x="374904" y="1591056"/>
            <a:ext cx="1031443" cy="960120"/>
          </a:xfrm>
          <a:prstGeom prst="rect">
            <a:avLst/>
          </a:prstGeom>
          <a:noFill/>
        </p:spPr>
        <p:txBody>
          <a:bodyPr wrap="square" lIns="0" tIns="0" rIns="0" bIns="0" anchor="t"/>
          <a:lstStyle/>
          <a:p>
            <a:pPr algn="ctr" rtl="1">
              <a:lnSpc>
                <a:spcPct val="122000"/>
              </a:lnSpc>
              <a:spcAft>
                <a:spcPts val="0"/>
              </a:spcAft>
            </a:pPr>
            <a:r>
              <a:rPr lang="ar-SA" sz="490" b="0" dirty="0">
                <a:solidFill>
                  <a:srgbClr val="5D6167"/>
                </a:solidFill>
                <a:latin typeface="DiodrumArabic-Medium"/>
                <a:ea typeface="DiodrumArabic-Medium"/>
                <a:cs typeface="DiodrumArabic-Medium"/>
              </a:rPr>
              <a:t>دعم الاستفادة من المخرجات ونشر المعرفة وبناء المجتمعات البحثية.</a:t>
            </a:r>
          </a:p>
        </p:txBody>
      </p:sp>
      <p:sp>
        <p:nvSpPr>
          <p:cNvPr id="1171" name="out"/>
          <p:cNvSpPr/>
          <p:nvPr/>
        </p:nvSpPr>
        <p:spPr>
          <a:xfrm>
            <a:off x="301752" y="2880360"/>
            <a:ext cx="6254496" cy="420624"/>
          </a:xfrm>
          <a:prstGeom prst="roundRect">
            <a:avLst>
              <a:gd name="adj" fmla="val 11304"/>
            </a:avLst>
          </a:prstGeom>
          <a:solidFill>
            <a:srgbClr val="241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72" name="out-label"/>
          <p:cNvSpPr txBox="1"/>
          <p:nvPr/>
        </p:nvSpPr>
        <p:spPr>
          <a:xfrm>
            <a:off x="4672584" y="2880360"/>
            <a:ext cx="1737360" cy="420624"/>
          </a:xfrm>
          <a:prstGeom prst="rect">
            <a:avLst/>
          </a:prstGeom>
          <a:noFill/>
        </p:spPr>
        <p:txBody>
          <a:bodyPr wrap="square" lIns="0" tIns="0" rIns="0" bIns="0" anchor="ctr"/>
          <a:lstStyle/>
          <a:p>
            <a:pPr algn="r" rtl="1">
              <a:spcAft>
                <a:spcPts val="0"/>
              </a:spcAft>
            </a:pPr>
            <a:r>
              <a:rPr lang="ar-SA" sz="640" b="0" dirty="0">
                <a:solidFill>
                  <a:srgbClr val="FFFFFF"/>
                </a:solidFill>
                <a:latin typeface="DiodrumArabic-Bold"/>
                <a:ea typeface="DiodrumArabic-Bold"/>
                <a:cs typeface="DiodrumArabic-Bold"/>
              </a:rPr>
              <a:t>المخرجات المتوقعة</a:t>
            </a:r>
          </a:p>
        </p:txBody>
      </p:sp>
      <p:sp>
        <p:nvSpPr>
          <p:cNvPr id="1173" name="out-c0"/>
          <p:cNvSpPr txBox="1"/>
          <p:nvPr/>
        </p:nvSpPr>
        <p:spPr>
          <a:xfrm>
            <a:off x="3575304" y="2880360"/>
            <a:ext cx="1060704" cy="420624"/>
          </a:xfrm>
          <a:prstGeom prst="rect">
            <a:avLst/>
          </a:prstGeom>
          <a:noFill/>
        </p:spPr>
        <p:txBody>
          <a:bodyPr wrap="square" lIns="0" tIns="0" rIns="0" bIns="0" anchor="ctr"/>
          <a:lstStyle/>
          <a:p>
            <a:pPr algn="ctr" rtl="1">
              <a:lnSpc>
                <a:spcPct val="112000"/>
              </a:lnSpc>
              <a:spcAft>
                <a:spcPts val="0"/>
              </a:spcAft>
            </a:pPr>
            <a:r>
              <a:rPr lang="ar-SA" sz="480" b="0" dirty="0">
                <a:solidFill>
                  <a:srgbClr val="EDE7FA"/>
                </a:solidFill>
                <a:latin typeface="DiodrumArabic-Medium"/>
                <a:ea typeface="DiodrumArabic-Medium"/>
                <a:cs typeface="DiodrumArabic-Medium"/>
              </a:rPr>
              <a:t>معرفة قابلة للنشر</a:t>
            </a:r>
          </a:p>
        </p:txBody>
      </p:sp>
      <p:sp>
        <p:nvSpPr>
          <p:cNvPr id="1174" name="out-c1"/>
          <p:cNvSpPr txBox="1"/>
          <p:nvPr/>
        </p:nvSpPr>
        <p:spPr>
          <a:xfrm>
            <a:off x="2514600" y="2880360"/>
            <a:ext cx="1060704" cy="420624"/>
          </a:xfrm>
          <a:prstGeom prst="rect">
            <a:avLst/>
          </a:prstGeom>
          <a:noFill/>
        </p:spPr>
        <p:txBody>
          <a:bodyPr wrap="square" lIns="0" tIns="0" rIns="0" bIns="0" anchor="ctr"/>
          <a:lstStyle/>
          <a:p>
            <a:pPr algn="ctr" rtl="1">
              <a:lnSpc>
                <a:spcPct val="112000"/>
              </a:lnSpc>
              <a:spcAft>
                <a:spcPts val="0"/>
              </a:spcAft>
            </a:pPr>
            <a:r>
              <a:rPr lang="ar-SA" sz="480" b="0" dirty="0">
                <a:solidFill>
                  <a:srgbClr val="EDE7FA"/>
                </a:solidFill>
                <a:latin typeface="DiodrumArabic-Medium"/>
                <a:ea typeface="DiodrumArabic-Medium"/>
                <a:cs typeface="DiodrumArabic-Medium"/>
              </a:rPr>
              <a:t>توصيات وسياسات</a:t>
            </a:r>
          </a:p>
        </p:txBody>
      </p:sp>
      <p:sp>
        <p:nvSpPr>
          <p:cNvPr id="1175" name="out-c2"/>
          <p:cNvSpPr txBox="1"/>
          <p:nvPr/>
        </p:nvSpPr>
        <p:spPr>
          <a:xfrm>
            <a:off x="1453896" y="2880360"/>
            <a:ext cx="1060704" cy="420624"/>
          </a:xfrm>
          <a:prstGeom prst="rect">
            <a:avLst/>
          </a:prstGeom>
          <a:noFill/>
        </p:spPr>
        <p:txBody>
          <a:bodyPr wrap="square" lIns="0" tIns="0" rIns="0" bIns="0" anchor="ctr"/>
          <a:lstStyle/>
          <a:p>
            <a:pPr algn="ctr" rtl="1">
              <a:lnSpc>
                <a:spcPct val="112000"/>
              </a:lnSpc>
              <a:spcAft>
                <a:spcPts val="0"/>
              </a:spcAft>
            </a:pPr>
            <a:r>
              <a:rPr lang="ar-SA" sz="480" b="0" dirty="0">
                <a:solidFill>
                  <a:srgbClr val="EDE7FA"/>
                </a:solidFill>
                <a:latin typeface="DiodrumArabic-Medium"/>
                <a:ea typeface="DiodrumArabic-Medium"/>
                <a:cs typeface="DiodrumArabic-Medium"/>
              </a:rPr>
              <a:t>نماذج أولية</a:t>
            </a:r>
          </a:p>
        </p:txBody>
      </p:sp>
      <p:sp>
        <p:nvSpPr>
          <p:cNvPr id="1176" name="out-c3"/>
          <p:cNvSpPr txBox="1"/>
          <p:nvPr/>
        </p:nvSpPr>
        <p:spPr>
          <a:xfrm>
            <a:off x="393192" y="2880360"/>
            <a:ext cx="1060704" cy="420624"/>
          </a:xfrm>
          <a:prstGeom prst="rect">
            <a:avLst/>
          </a:prstGeom>
          <a:noFill/>
        </p:spPr>
        <p:txBody>
          <a:bodyPr wrap="square" lIns="0" tIns="0" rIns="0" bIns="0" anchor="ctr"/>
          <a:lstStyle/>
          <a:p>
            <a:pPr algn="ctr" rtl="1">
              <a:lnSpc>
                <a:spcPct val="112000"/>
              </a:lnSpc>
              <a:spcAft>
                <a:spcPts val="0"/>
              </a:spcAft>
            </a:pPr>
            <a:r>
              <a:rPr lang="ar-SA" sz="480" b="0" dirty="0">
                <a:solidFill>
                  <a:srgbClr val="EDE7FA"/>
                </a:solidFill>
                <a:latin typeface="DiodrumArabic-Medium"/>
                <a:ea typeface="DiodrumArabic-Medium"/>
                <a:cs typeface="DiodrumArabic-Medium"/>
              </a:rPr>
              <a:t>حلول قابلة للتبني</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178"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40" b="0" dirty="0">
                <a:solidFill>
                  <a:srgbClr val="24135F"/>
                </a:solidFill>
                <a:latin typeface="DiodrumArabic-Bold"/>
                <a:ea typeface="DiodrumArabic-Bold"/>
                <a:cs typeface="DiodrumArabic-Bold"/>
              </a:rPr>
              <a:t>نطاق بحثي متنوع تحكمه الأولوية ودرجة النضج</a:t>
            </a:r>
          </a:p>
        </p:txBody>
      </p:sp>
      <p:sp>
        <p:nvSpPr>
          <p:cNvPr id="1179"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تستهدف الحاضنة الأبحاث والدراسات ذات الصلة بأولويات الحكومة الرقمية وفق طبيعة الموضوع، ودرجة نضجه، والمخرج المتوقع.</a:t>
            </a:r>
          </a:p>
        </p:txBody>
      </p:sp>
      <p:sp>
        <p:nvSpPr>
          <p:cNvPr id="1180"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181" name="col0"/>
          <p:cNvSpPr/>
          <p:nvPr/>
        </p:nvSpPr>
        <p:spPr>
          <a:xfrm>
            <a:off x="4568952" y="1234440"/>
            <a:ext cx="1987296"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82" name="col0-bar"/>
          <p:cNvSpPr/>
          <p:nvPr/>
        </p:nvSpPr>
        <p:spPr>
          <a:xfrm>
            <a:off x="4660392" y="1234440"/>
            <a:ext cx="1804416"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83" name="col0-t"/>
          <p:cNvSpPr txBox="1"/>
          <p:nvPr/>
        </p:nvSpPr>
        <p:spPr>
          <a:xfrm>
            <a:off x="4660392" y="1353312"/>
            <a:ext cx="1804416" cy="146304"/>
          </a:xfrm>
          <a:prstGeom prst="rect">
            <a:avLst/>
          </a:prstGeom>
          <a:noFill/>
        </p:spPr>
        <p:txBody>
          <a:bodyPr wrap="square" lIns="0" tIns="0" rIns="0" bIns="0" anchor="t"/>
          <a:lstStyle/>
          <a:p>
            <a:pPr algn="ctr" rtl="1">
              <a:spcAft>
                <a:spcPts val="0"/>
              </a:spcAft>
            </a:pPr>
            <a:r>
              <a:rPr lang="ar-SA" sz="740" b="0" dirty="0">
                <a:solidFill>
                  <a:srgbClr val="24135F"/>
                </a:solidFill>
                <a:latin typeface="DiodrumArabic-Bold"/>
                <a:ea typeface="DiodrumArabic-Bold"/>
                <a:cs typeface="DiodrumArabic-Bold"/>
              </a:rPr>
              <a:t>الأبحاث العلمية</a:t>
            </a:r>
          </a:p>
        </p:txBody>
      </p:sp>
      <p:sp>
        <p:nvSpPr>
          <p:cNvPr id="1184" name="col0-أبحاث نظرية"/>
          <p:cNvSpPr/>
          <p:nvPr/>
        </p:nvSpPr>
        <p:spPr>
          <a:xfrm>
            <a:off x="4696968" y="1604772"/>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85" name="col0-أبحاث نظرية-t"/>
          <p:cNvSpPr txBox="1"/>
          <p:nvPr/>
        </p:nvSpPr>
        <p:spPr>
          <a:xfrm>
            <a:off x="4696968" y="1604772"/>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أبحاث نظرية</a:t>
            </a:r>
          </a:p>
        </p:txBody>
      </p:sp>
      <p:sp>
        <p:nvSpPr>
          <p:cNvPr id="1186" name="col0-أبحاث تطبيقية"/>
          <p:cNvSpPr/>
          <p:nvPr/>
        </p:nvSpPr>
        <p:spPr>
          <a:xfrm>
            <a:off x="4696968" y="1824228"/>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87" name="col0-أبحاث تطبيقية-t"/>
          <p:cNvSpPr txBox="1"/>
          <p:nvPr/>
        </p:nvSpPr>
        <p:spPr>
          <a:xfrm>
            <a:off x="4696968" y="1824228"/>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أبحاث تطبيقية</a:t>
            </a:r>
          </a:p>
        </p:txBody>
      </p:sp>
      <p:sp>
        <p:nvSpPr>
          <p:cNvPr id="1188" name="col0-أبحاث تطويرية"/>
          <p:cNvSpPr/>
          <p:nvPr/>
        </p:nvSpPr>
        <p:spPr>
          <a:xfrm>
            <a:off x="4696968" y="2043684"/>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89" name="col0-أبحاث تطويرية-t"/>
          <p:cNvSpPr txBox="1"/>
          <p:nvPr/>
        </p:nvSpPr>
        <p:spPr>
          <a:xfrm>
            <a:off x="4696968" y="2043684"/>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أبحاث تطويرية</a:t>
            </a:r>
          </a:p>
        </p:txBody>
      </p:sp>
      <p:sp>
        <p:nvSpPr>
          <p:cNvPr id="1190" name="col0-أبحاث ابتكار"/>
          <p:cNvSpPr/>
          <p:nvPr/>
        </p:nvSpPr>
        <p:spPr>
          <a:xfrm>
            <a:off x="4696968" y="2263140"/>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91" name="col0-أبحاث ابتكار-t"/>
          <p:cNvSpPr txBox="1"/>
          <p:nvPr/>
        </p:nvSpPr>
        <p:spPr>
          <a:xfrm>
            <a:off x="4696968" y="2263140"/>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أبحاث ابتكار</a:t>
            </a:r>
          </a:p>
        </p:txBody>
      </p:sp>
      <p:sp>
        <p:nvSpPr>
          <p:cNvPr id="1192" name="col1"/>
          <p:cNvSpPr/>
          <p:nvPr/>
        </p:nvSpPr>
        <p:spPr>
          <a:xfrm>
            <a:off x="2435352" y="1234440"/>
            <a:ext cx="1987296"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93" name="col1-bar"/>
          <p:cNvSpPr/>
          <p:nvPr/>
        </p:nvSpPr>
        <p:spPr>
          <a:xfrm>
            <a:off x="2526792" y="1234440"/>
            <a:ext cx="1804416"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94" name="col1-t"/>
          <p:cNvSpPr txBox="1"/>
          <p:nvPr/>
        </p:nvSpPr>
        <p:spPr>
          <a:xfrm>
            <a:off x="2526792" y="1353312"/>
            <a:ext cx="1804416" cy="146304"/>
          </a:xfrm>
          <a:prstGeom prst="rect">
            <a:avLst/>
          </a:prstGeom>
          <a:noFill/>
        </p:spPr>
        <p:txBody>
          <a:bodyPr wrap="square" lIns="0" tIns="0" rIns="0" bIns="0" anchor="t"/>
          <a:lstStyle/>
          <a:p>
            <a:pPr algn="ctr" rtl="1">
              <a:spcAft>
                <a:spcPts val="0"/>
              </a:spcAft>
            </a:pPr>
            <a:r>
              <a:rPr lang="ar-SA" sz="740" b="0" dirty="0">
                <a:solidFill>
                  <a:srgbClr val="24135F"/>
                </a:solidFill>
                <a:latin typeface="DiodrumArabic-Bold"/>
                <a:ea typeface="DiodrumArabic-Bold"/>
                <a:cs typeface="DiodrumArabic-Bold"/>
              </a:rPr>
              <a:t>الدراسات</a:t>
            </a:r>
          </a:p>
        </p:txBody>
      </p:sp>
      <p:sp>
        <p:nvSpPr>
          <p:cNvPr id="1195" name="col1-دراسات استشرافية"/>
          <p:cNvSpPr/>
          <p:nvPr/>
        </p:nvSpPr>
        <p:spPr>
          <a:xfrm>
            <a:off x="2563368" y="1714500"/>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96" name="col1-دراسات استشرافية-t"/>
          <p:cNvSpPr txBox="1"/>
          <p:nvPr/>
        </p:nvSpPr>
        <p:spPr>
          <a:xfrm>
            <a:off x="2563368" y="1714500"/>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دراسات استشرافية</a:t>
            </a:r>
          </a:p>
        </p:txBody>
      </p:sp>
      <p:sp>
        <p:nvSpPr>
          <p:cNvPr id="1197" name="col1-دراسات معيارية"/>
          <p:cNvSpPr/>
          <p:nvPr/>
        </p:nvSpPr>
        <p:spPr>
          <a:xfrm>
            <a:off x="2563368" y="1933956"/>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198" name="col1-دراسات معيارية-t"/>
          <p:cNvSpPr txBox="1"/>
          <p:nvPr/>
        </p:nvSpPr>
        <p:spPr>
          <a:xfrm>
            <a:off x="2563368" y="1933956"/>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دراسات معيارية</a:t>
            </a:r>
          </a:p>
        </p:txBody>
      </p:sp>
      <p:sp>
        <p:nvSpPr>
          <p:cNvPr id="1199" name="col1-دراسات موجزة"/>
          <p:cNvSpPr/>
          <p:nvPr/>
        </p:nvSpPr>
        <p:spPr>
          <a:xfrm>
            <a:off x="2563368" y="2153412"/>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0" name="col1-دراسات موجزة-t"/>
          <p:cNvSpPr txBox="1"/>
          <p:nvPr/>
        </p:nvSpPr>
        <p:spPr>
          <a:xfrm>
            <a:off x="2563368" y="2153412"/>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دراسات موجزة</a:t>
            </a:r>
          </a:p>
        </p:txBody>
      </p:sp>
      <p:sp>
        <p:nvSpPr>
          <p:cNvPr id="1201" name="col2"/>
          <p:cNvSpPr/>
          <p:nvPr/>
        </p:nvSpPr>
        <p:spPr>
          <a:xfrm>
            <a:off x="301752" y="1234440"/>
            <a:ext cx="1987296"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2" name="col2-bar"/>
          <p:cNvSpPr/>
          <p:nvPr/>
        </p:nvSpPr>
        <p:spPr>
          <a:xfrm>
            <a:off x="393192" y="1234440"/>
            <a:ext cx="1804416"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3" name="col2-t"/>
          <p:cNvSpPr txBox="1"/>
          <p:nvPr/>
        </p:nvSpPr>
        <p:spPr>
          <a:xfrm>
            <a:off x="393192" y="1353312"/>
            <a:ext cx="1804416" cy="146304"/>
          </a:xfrm>
          <a:prstGeom prst="rect">
            <a:avLst/>
          </a:prstGeom>
          <a:noFill/>
        </p:spPr>
        <p:txBody>
          <a:bodyPr wrap="square" lIns="0" tIns="0" rIns="0" bIns="0" anchor="t"/>
          <a:lstStyle/>
          <a:p>
            <a:pPr algn="ctr" rtl="1">
              <a:spcAft>
                <a:spcPts val="0"/>
              </a:spcAft>
            </a:pPr>
            <a:r>
              <a:rPr lang="ar-SA" sz="740" b="0" dirty="0">
                <a:solidFill>
                  <a:srgbClr val="24135F"/>
                </a:solidFill>
                <a:latin typeface="DiodrumArabic-Bold"/>
                <a:ea typeface="DiodrumArabic-Bold"/>
                <a:cs typeface="DiodrumArabic-Bold"/>
              </a:rPr>
              <a:t>التقارير</a:t>
            </a:r>
          </a:p>
        </p:txBody>
      </p:sp>
      <p:sp>
        <p:nvSpPr>
          <p:cNvPr id="1204" name="col2-أوراق وتقارير معرفية"/>
          <p:cNvSpPr/>
          <p:nvPr/>
        </p:nvSpPr>
        <p:spPr>
          <a:xfrm>
            <a:off x="429768" y="1824228"/>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5" name="col2-أوراق وتقارير معرفية-t"/>
          <p:cNvSpPr txBox="1"/>
          <p:nvPr/>
        </p:nvSpPr>
        <p:spPr>
          <a:xfrm>
            <a:off x="429768" y="1824228"/>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أوراق وتقارير معرفية</a:t>
            </a:r>
          </a:p>
        </p:txBody>
      </p:sp>
      <p:sp>
        <p:nvSpPr>
          <p:cNvPr id="1206" name="col2-White Papers"/>
          <p:cNvSpPr/>
          <p:nvPr/>
        </p:nvSpPr>
        <p:spPr>
          <a:xfrm>
            <a:off x="429768" y="2043684"/>
            <a:ext cx="1731264" cy="164592"/>
          </a:xfrm>
          <a:prstGeom prst="roundRect">
            <a:avLst>
              <a:gd name="adj" fmla="val 50000"/>
            </a:avLst>
          </a:prstGeom>
          <a:solidFill>
            <a:srgbClr val="F0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7" name="col2-White Papers-t"/>
          <p:cNvSpPr txBox="1"/>
          <p:nvPr/>
        </p:nvSpPr>
        <p:spPr>
          <a:xfrm>
            <a:off x="429768" y="2043684"/>
            <a:ext cx="1731264" cy="164592"/>
          </a:xfrm>
          <a:prstGeom prst="rect">
            <a:avLst/>
          </a:prstGeom>
          <a:noFill/>
        </p:spPr>
        <p:txBody>
          <a:bodyPr wrap="square" lIns="0" tIns="0" rIns="0" bIns="0" anchor="ctr"/>
          <a:lstStyle/>
          <a:p>
            <a:pPr algn="ctr" rtl="1">
              <a:spcAft>
                <a:spcPts val="0"/>
              </a:spcAft>
            </a:pPr>
            <a:r>
              <a:rPr lang="ar-SA" sz="480" b="0" dirty="0">
                <a:solidFill>
                  <a:srgbClr val="7E37C4"/>
                </a:solidFill>
                <a:latin typeface="DiodrumArabic-Medium"/>
                <a:ea typeface="DiodrumArabic-Medium"/>
                <a:cs typeface="DiodrumArabic-Medium"/>
              </a:rPr>
              <a:t>White Papers</a:t>
            </a:r>
          </a:p>
        </p:txBody>
      </p:sp>
      <p:sp>
        <p:nvSpPr>
          <p:cNvPr id="1208" name="cb"/>
          <p:cNvSpPr/>
          <p:nvPr/>
        </p:nvSpPr>
        <p:spPr>
          <a:xfrm>
            <a:off x="301752" y="2880360"/>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09" name="cb-t"/>
          <p:cNvSpPr txBox="1"/>
          <p:nvPr/>
        </p:nvSpPr>
        <p:spPr>
          <a:xfrm>
            <a:off x="484632" y="2880360"/>
            <a:ext cx="5888736" cy="292608"/>
          </a:xfrm>
          <a:prstGeom prst="rect">
            <a:avLst/>
          </a:prstGeom>
          <a:noFill/>
        </p:spPr>
        <p:txBody>
          <a:bodyPr wrap="square" lIns="0" tIns="0" rIns="0" bIns="0" anchor="ctr"/>
          <a:lstStyle/>
          <a:p>
            <a:pPr algn="ctr" rtl="1">
              <a:spcAft>
                <a:spcPts val="0"/>
              </a:spcAft>
            </a:pPr>
            <a:r>
              <a:rPr lang="ar-SA" sz="540" b="0" dirty="0">
                <a:solidFill>
                  <a:srgbClr val="FFFFFF"/>
                </a:solidFill>
                <a:latin typeface="DiodrumArabic-Semibold"/>
                <a:ea typeface="DiodrumArabic-Semibold"/>
                <a:cs typeface="DiodrumArabic-Semibold"/>
              </a:rPr>
              <a:t>لا يوجد نموذج واحد لجميع الأبحاث؛ يُحدَّد المسار المناسب بحسب طبيعة المخرج ودرجة نضجه.</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211"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منظومة تجمع أصحاب الاحتياج بأصحاب المعرفة</a:t>
            </a:r>
          </a:p>
        </p:txBody>
      </p:sp>
      <p:sp>
        <p:nvSpPr>
          <p:cNvPr id="1212"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cxnSp>
        <p:nvCxnSpPr>
          <p:cNvPr id="1213" name="spoke0"/>
          <p:cNvCxnSpPr/>
          <p:nvPr/>
        </p:nvCxnSpPr>
        <p:spPr>
          <a:xfrm flipV="0">
            <a:off x="3429000" y="1188720"/>
            <a:ext cx="914" cy="1051560"/>
          </a:xfrm>
          <a:prstGeom prst="line">
            <a:avLst/>
          </a:prstGeom>
          <a:ln w="6858">
            <a:solidFill>
              <a:srgbClr val="753BBD">
                <a:alpha val="25000"/>
              </a:srgbClr>
            </a:solidFill>
          </a:ln>
        </p:spPr>
      </p:cxnSp>
      <p:cxnSp>
        <p:nvCxnSpPr>
          <p:cNvPr id="1214" name="spoke1"/>
          <p:cNvCxnSpPr/>
          <p:nvPr/>
        </p:nvCxnSpPr>
        <p:spPr>
          <a:xfrm flipV="1">
            <a:off x="3429000" y="1915330"/>
            <a:ext cx="2217598" cy="324950"/>
          </a:xfrm>
          <a:prstGeom prst="line">
            <a:avLst/>
          </a:prstGeom>
          <a:ln w="6858">
            <a:solidFill>
              <a:srgbClr val="753BBD">
                <a:alpha val="25000"/>
              </a:srgbClr>
            </a:solidFill>
          </a:ln>
        </p:spPr>
      </p:cxnSp>
      <p:cxnSp>
        <p:nvCxnSpPr>
          <p:cNvPr id="1215" name="spoke2"/>
          <p:cNvCxnSpPr/>
          <p:nvPr/>
        </p:nvCxnSpPr>
        <p:spPr>
          <a:xfrm flipV="0">
            <a:off x="3429000" y="2240280"/>
            <a:ext cx="1370551" cy="850730"/>
          </a:xfrm>
          <a:prstGeom prst="line">
            <a:avLst/>
          </a:prstGeom>
          <a:ln w="6858">
            <a:solidFill>
              <a:srgbClr val="753BBD">
                <a:alpha val="25000"/>
              </a:srgbClr>
            </a:solidFill>
          </a:ln>
        </p:spPr>
      </p:cxnSp>
      <p:cxnSp>
        <p:nvCxnSpPr>
          <p:cNvPr id="1216" name="spoke3"/>
          <p:cNvCxnSpPr/>
          <p:nvPr/>
        </p:nvCxnSpPr>
        <p:spPr>
          <a:xfrm flipV="1">
            <a:off x="2058449" y="2240280"/>
            <a:ext cx="1370551" cy="850730"/>
          </a:xfrm>
          <a:prstGeom prst="line">
            <a:avLst/>
          </a:prstGeom>
          <a:ln w="6858">
            <a:solidFill>
              <a:srgbClr val="753BBD">
                <a:alpha val="25000"/>
              </a:srgbClr>
            </a:solidFill>
          </a:ln>
        </p:spPr>
      </p:cxnSp>
      <p:cxnSp>
        <p:nvCxnSpPr>
          <p:cNvPr id="1217" name="spoke4"/>
          <p:cNvCxnSpPr/>
          <p:nvPr/>
        </p:nvCxnSpPr>
        <p:spPr>
          <a:xfrm flipV="0">
            <a:off x="1211402" y="1915330"/>
            <a:ext cx="2217598" cy="324950"/>
          </a:xfrm>
          <a:prstGeom prst="line">
            <a:avLst/>
          </a:prstGeom>
          <a:ln w="6858">
            <a:solidFill>
              <a:srgbClr val="753BBD">
                <a:alpha val="25000"/>
              </a:srgbClr>
            </a:solidFill>
          </a:ln>
        </p:spPr>
      </p:cxnSp>
      <p:sp>
        <p:nvSpPr>
          <p:cNvPr id="1218" name="hub"/>
          <p:cNvSpPr/>
          <p:nvPr/>
        </p:nvSpPr>
        <p:spPr>
          <a:xfrm>
            <a:off x="2971800" y="1783080"/>
            <a:ext cx="914400" cy="914400"/>
          </a:xfrm>
          <a:prstGeom prst="ellipse">
            <a:avLst/>
          </a:prstGeom>
          <a:gradFill>
            <a:gsLst>
              <a:gs pos="0">
                <a:srgbClr val="24135F"/>
              </a:gs>
              <a:gs pos="100000">
                <a:srgbClr val="753BBD"/>
              </a:gs>
            </a:gsLst>
            <a:lin ang="8100000" scaled="1"/>
          </a:gradFill>
          <a:ln>
            <a:no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19" name="hub-t"/>
          <p:cNvSpPr txBox="1"/>
          <p:nvPr/>
        </p:nvSpPr>
        <p:spPr>
          <a:xfrm>
            <a:off x="2971800" y="2157984"/>
            <a:ext cx="914400" cy="219456"/>
          </a:xfrm>
          <a:prstGeom prst="rect">
            <a:avLst/>
          </a:prstGeom>
          <a:noFill/>
        </p:spPr>
        <p:txBody>
          <a:bodyPr wrap="square" lIns="0" tIns="0" rIns="0" bIns="0" anchor="ctr"/>
          <a:lstStyle/>
          <a:p>
            <a:pPr algn="ctr" rtl="1">
              <a:lnSpc>
                <a:spcPct val="110000"/>
              </a:lnSpc>
              <a:spcAft>
                <a:spcPts val="0"/>
              </a:spcAft>
            </a:pPr>
            <a:r>
              <a:rPr lang="ar-SA" sz="600" b="0" dirty="0">
                <a:solidFill>
                  <a:srgbClr val="FFFFFF"/>
                </a:solidFill>
                <a:latin typeface="DiodrumArabic-Semibold"/>
                <a:ea typeface="DiodrumArabic-Semibold"/>
                <a:cs typeface="DiodrumArabic-Semibold"/>
              </a:rPr>
              <a:t>حاضنة</a:t>
            </a:r>
          </a:p>
          <a:p>
            <a:pPr algn="ctr" rtl="1">
              <a:lnSpc>
                <a:spcPct val="110000"/>
              </a:lnSpc>
              <a:spcAft>
                <a:spcPts val="0"/>
              </a:spcAft>
            </a:pPr>
            <a:r>
              <a:rPr lang="ar-SA" sz="600" b="0" dirty="0">
                <a:solidFill>
                  <a:srgbClr val="FFFFFF"/>
                </a:solidFill>
                <a:latin typeface="DiodrumArabic-Semibold"/>
                <a:ea typeface="DiodrumArabic-Semibold"/>
                <a:cs typeface="DiodrumArabic-Semibold"/>
              </a:rPr>
              <a:t>الأبحاث</a:t>
            </a:r>
          </a:p>
        </p:txBody>
      </p:sp>
      <p:sp>
        <p:nvSpPr>
          <p:cNvPr id="1220" name="node0"/>
          <p:cNvSpPr/>
          <p:nvPr/>
        </p:nvSpPr>
        <p:spPr>
          <a:xfrm>
            <a:off x="2811780" y="1042416"/>
            <a:ext cx="1234440" cy="292608"/>
          </a:xfrm>
          <a:prstGeom prst="roundRect">
            <a:avLst>
              <a:gd name="adj" fmla="val 135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21" name="node0-t"/>
          <p:cNvSpPr txBox="1"/>
          <p:nvPr/>
        </p:nvSpPr>
        <p:spPr>
          <a:xfrm>
            <a:off x="2857500" y="1042416"/>
            <a:ext cx="1143000" cy="292608"/>
          </a:xfrm>
          <a:prstGeom prst="rect">
            <a:avLst/>
          </a:prstGeom>
          <a:noFill/>
        </p:spPr>
        <p:txBody>
          <a:bodyPr wrap="square" lIns="0" tIns="0" rIns="0" bIns="0" anchor="ctr"/>
          <a:lstStyle/>
          <a:p>
            <a:pPr algn="ctr" rtl="1">
              <a:lnSpc>
                <a:spcPct val="112000"/>
              </a:lnSpc>
              <a:spcAft>
                <a:spcPts val="0"/>
              </a:spcAft>
            </a:pPr>
            <a:r>
              <a:rPr lang="ar-SA" sz="560" b="0" dirty="0">
                <a:solidFill>
                  <a:srgbClr val="24135F"/>
                </a:solidFill>
                <a:latin typeface="DiodrumArabic-Bold"/>
                <a:ea typeface="DiodrumArabic-Bold"/>
                <a:cs typeface="DiodrumArabic-Bold"/>
              </a:rPr>
              <a:t>الجهات الحكومية</a:t>
            </a:r>
          </a:p>
        </p:txBody>
      </p:sp>
      <p:sp>
        <p:nvSpPr>
          <p:cNvPr id="1222" name="node1"/>
          <p:cNvSpPr/>
          <p:nvPr/>
        </p:nvSpPr>
        <p:spPr>
          <a:xfrm>
            <a:off x="5029378" y="1769026"/>
            <a:ext cx="1234440" cy="292608"/>
          </a:xfrm>
          <a:prstGeom prst="roundRect">
            <a:avLst>
              <a:gd name="adj" fmla="val 135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23" name="node1-t"/>
          <p:cNvSpPr txBox="1"/>
          <p:nvPr/>
        </p:nvSpPr>
        <p:spPr>
          <a:xfrm>
            <a:off x="5075098" y="1769026"/>
            <a:ext cx="1143000" cy="292608"/>
          </a:xfrm>
          <a:prstGeom prst="rect">
            <a:avLst/>
          </a:prstGeom>
          <a:noFill/>
        </p:spPr>
        <p:txBody>
          <a:bodyPr wrap="square" lIns="0" tIns="0" rIns="0" bIns="0" anchor="ctr"/>
          <a:lstStyle/>
          <a:p>
            <a:pPr algn="ctr" rtl="1">
              <a:lnSpc>
                <a:spcPct val="112000"/>
              </a:lnSpc>
              <a:spcAft>
                <a:spcPts val="0"/>
              </a:spcAft>
            </a:pPr>
            <a:r>
              <a:rPr lang="ar-SA" sz="560" b="0" dirty="0">
                <a:solidFill>
                  <a:srgbClr val="24135F"/>
                </a:solidFill>
                <a:latin typeface="DiodrumArabic-Bold"/>
                <a:ea typeface="DiodrumArabic-Bold"/>
                <a:cs typeface="DiodrumArabic-Bold"/>
              </a:rPr>
              <a:t>الباحثون والأكاديميون</a:t>
            </a:r>
          </a:p>
        </p:txBody>
      </p:sp>
      <p:sp>
        <p:nvSpPr>
          <p:cNvPr id="1224" name="node2"/>
          <p:cNvSpPr/>
          <p:nvPr/>
        </p:nvSpPr>
        <p:spPr>
          <a:xfrm>
            <a:off x="4182331" y="2944706"/>
            <a:ext cx="1234440" cy="292608"/>
          </a:xfrm>
          <a:prstGeom prst="roundRect">
            <a:avLst>
              <a:gd name="adj" fmla="val 135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25" name="node2-t"/>
          <p:cNvSpPr txBox="1"/>
          <p:nvPr/>
        </p:nvSpPr>
        <p:spPr>
          <a:xfrm>
            <a:off x="4228051" y="2944706"/>
            <a:ext cx="1143000" cy="292608"/>
          </a:xfrm>
          <a:prstGeom prst="rect">
            <a:avLst/>
          </a:prstGeom>
          <a:noFill/>
        </p:spPr>
        <p:txBody>
          <a:bodyPr wrap="square" lIns="0" tIns="0" rIns="0" bIns="0" anchor="ctr"/>
          <a:lstStyle/>
          <a:p>
            <a:pPr algn="ctr" rtl="1">
              <a:lnSpc>
                <a:spcPct val="112000"/>
              </a:lnSpc>
              <a:spcAft>
                <a:spcPts val="0"/>
              </a:spcAft>
            </a:pPr>
            <a:r>
              <a:rPr lang="ar-SA" sz="560" b="0" dirty="0">
                <a:solidFill>
                  <a:srgbClr val="24135F"/>
                </a:solidFill>
                <a:latin typeface="DiodrumArabic-Bold"/>
                <a:ea typeface="DiodrumArabic-Bold"/>
                <a:cs typeface="DiodrumArabic-Bold"/>
              </a:rPr>
              <a:t>الجامعات ومراكز الأبحاث</a:t>
            </a:r>
          </a:p>
        </p:txBody>
      </p:sp>
      <p:sp>
        <p:nvSpPr>
          <p:cNvPr id="1226" name="node3"/>
          <p:cNvSpPr/>
          <p:nvPr/>
        </p:nvSpPr>
        <p:spPr>
          <a:xfrm>
            <a:off x="1441229" y="2944706"/>
            <a:ext cx="1234440" cy="292608"/>
          </a:xfrm>
          <a:prstGeom prst="roundRect">
            <a:avLst>
              <a:gd name="adj" fmla="val 135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27" name="node3-t"/>
          <p:cNvSpPr txBox="1"/>
          <p:nvPr/>
        </p:nvSpPr>
        <p:spPr>
          <a:xfrm>
            <a:off x="1486949" y="2944706"/>
            <a:ext cx="1143000" cy="292608"/>
          </a:xfrm>
          <a:prstGeom prst="rect">
            <a:avLst/>
          </a:prstGeom>
          <a:noFill/>
        </p:spPr>
        <p:txBody>
          <a:bodyPr wrap="square" lIns="0" tIns="0" rIns="0" bIns="0" anchor="ctr"/>
          <a:lstStyle/>
          <a:p>
            <a:pPr algn="ctr" rtl="1">
              <a:lnSpc>
                <a:spcPct val="112000"/>
              </a:lnSpc>
              <a:spcAft>
                <a:spcPts val="0"/>
              </a:spcAft>
            </a:pPr>
            <a:r>
              <a:rPr lang="ar-SA" sz="560" b="0" dirty="0">
                <a:solidFill>
                  <a:srgbClr val="24135F"/>
                </a:solidFill>
                <a:latin typeface="DiodrumArabic-Bold"/>
                <a:ea typeface="DiodrumArabic-Bold"/>
                <a:cs typeface="DiodrumArabic-Bold"/>
              </a:rPr>
              <a:t>المبتكرون ورواد الأعمال</a:t>
            </a:r>
          </a:p>
        </p:txBody>
      </p:sp>
      <p:sp>
        <p:nvSpPr>
          <p:cNvPr id="1228" name="node4"/>
          <p:cNvSpPr/>
          <p:nvPr/>
        </p:nvSpPr>
        <p:spPr>
          <a:xfrm>
            <a:off x="594182" y="1769026"/>
            <a:ext cx="1234440" cy="292608"/>
          </a:xfrm>
          <a:prstGeom prst="roundRect">
            <a:avLst>
              <a:gd name="adj" fmla="val 135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29" name="node4-t"/>
          <p:cNvSpPr txBox="1"/>
          <p:nvPr/>
        </p:nvSpPr>
        <p:spPr>
          <a:xfrm>
            <a:off x="639902" y="1769026"/>
            <a:ext cx="1143000" cy="292608"/>
          </a:xfrm>
          <a:prstGeom prst="rect">
            <a:avLst/>
          </a:prstGeom>
          <a:noFill/>
        </p:spPr>
        <p:txBody>
          <a:bodyPr wrap="square" lIns="0" tIns="0" rIns="0" bIns="0" anchor="ctr"/>
          <a:lstStyle/>
          <a:p>
            <a:pPr algn="ctr" rtl="1">
              <a:lnSpc>
                <a:spcPct val="112000"/>
              </a:lnSpc>
              <a:spcAft>
                <a:spcPts val="0"/>
              </a:spcAft>
            </a:pPr>
            <a:r>
              <a:rPr lang="ar-SA" sz="560" b="0" dirty="0">
                <a:solidFill>
                  <a:srgbClr val="24135F"/>
                </a:solidFill>
                <a:latin typeface="DiodrumArabic-Bold"/>
                <a:ea typeface="DiodrumArabic-Bold"/>
                <a:cs typeface="DiodrumArabic-Bold"/>
              </a:rPr>
              <a:t>القطاع الخاص</a:t>
            </a:r>
          </a:p>
        </p:txBody>
      </p:sp>
      <p:sp>
        <p:nvSpPr>
          <p:cNvPr id="1230" name="cb"/>
          <p:cNvSpPr/>
          <p:nvPr/>
        </p:nvSpPr>
        <p:spPr>
          <a:xfrm>
            <a:off x="301752" y="3337560"/>
            <a:ext cx="6254496" cy="274320"/>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31" name="cb-t"/>
          <p:cNvSpPr txBox="1"/>
          <p:nvPr/>
        </p:nvSpPr>
        <p:spPr>
          <a:xfrm>
            <a:off x="484632" y="3337560"/>
            <a:ext cx="5888736" cy="274320"/>
          </a:xfrm>
          <a:prstGeom prst="rect">
            <a:avLst/>
          </a:prstGeom>
          <a:noFill/>
        </p:spPr>
        <p:txBody>
          <a:bodyPr wrap="square" lIns="0" tIns="0" rIns="0" bIns="0" anchor="ctr"/>
          <a:lstStyle/>
          <a:p>
            <a:pPr algn="ctr" rtl="1">
              <a:spcAft>
                <a:spcPts val="0"/>
              </a:spcAft>
            </a:pPr>
            <a:r>
              <a:rPr lang="ar-SA" sz="540" b="0" dirty="0">
                <a:solidFill>
                  <a:srgbClr val="FFFFFF"/>
                </a:solidFill>
                <a:latin typeface="DiodrumArabic-Semibold"/>
                <a:ea typeface="DiodrumArabic-Semibold"/>
                <a:cs typeface="DiodrumArabic-Semibold"/>
              </a:rPr>
              <a:t>الحاضنة تعمل كحلقة وصل بين هذه الأطراف حول أولويات مشتركة.</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5"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266"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من التأسيس إلى التفعيل</a:t>
            </a:r>
          </a:p>
        </p:txBody>
      </p:sp>
      <p:sp>
        <p:nvSpPr>
          <p:cNvPr id="1267"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cxnSp>
        <p:nvCxnSpPr>
          <p:cNvPr id="1268" name="mt-axis"/>
          <p:cNvCxnSpPr/>
          <p:nvPr/>
        </p:nvCxnSpPr>
        <p:spPr>
          <a:xfrm flipV="0">
            <a:off x="301752" y="1554480"/>
            <a:ext cx="6254496" cy="914"/>
          </a:xfrm>
          <a:prstGeom prst="line">
            <a:avLst/>
          </a:prstGeom>
          <a:ln w="9525">
            <a:solidFill>
              <a:srgbClr val="E0E0E2"/>
            </a:solidFill>
          </a:ln>
        </p:spPr>
      </p:cxnSp>
      <p:sp>
        <p:nvSpPr>
          <p:cNvPr id="1269" name="mt0-ring"/>
          <p:cNvSpPr/>
          <p:nvPr/>
        </p:nvSpPr>
        <p:spPr>
          <a:xfrm>
            <a:off x="5445252" y="1485900"/>
            <a:ext cx="137160" cy="137160"/>
          </a:xfrm>
          <a:prstGeom prst="ellipse">
            <a:avLst/>
          </a:prstGeom>
          <a:solidFill>
            <a:srgbClr val="FFFFFF"/>
          </a:solidFill>
          <a:ln>
            <a:solidFill>
              <a:srgbClr val="E0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70" name="mt0-dot"/>
          <p:cNvSpPr/>
          <p:nvPr/>
        </p:nvSpPr>
        <p:spPr>
          <a:xfrm>
            <a:off x="5479542" y="1520190"/>
            <a:ext cx="68580" cy="68580"/>
          </a:xfrm>
          <a:prstGeom prst="ellipse">
            <a:avLst/>
          </a:prstGeom>
          <a:solidFill>
            <a:srgbClr val="241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71" name="mt0-label"/>
          <p:cNvSpPr txBox="1"/>
          <p:nvPr/>
        </p:nvSpPr>
        <p:spPr>
          <a:xfrm>
            <a:off x="4517136" y="1170432"/>
            <a:ext cx="1993392" cy="201168"/>
          </a:xfrm>
          <a:prstGeom prst="rect">
            <a:avLst/>
          </a:prstGeom>
          <a:noFill/>
        </p:spPr>
        <p:txBody>
          <a:bodyPr wrap="square" lIns="0" tIns="0" rIns="0" bIns="0" anchor="b"/>
          <a:lstStyle/>
          <a:p>
            <a:pPr algn="ctr" rtl="1">
              <a:spcAft>
                <a:spcPts val="0"/>
              </a:spcAft>
            </a:pPr>
            <a:r>
              <a:rPr lang="ar-SA" sz="1050" b="0" dirty="0">
                <a:solidFill>
                  <a:srgbClr val="24135F"/>
                </a:solidFill>
                <a:latin typeface="DiodrumArabic-Bold"/>
                <a:ea typeface="DiodrumArabic-Bold"/>
                <a:cs typeface="DiodrumArabic-Bold"/>
              </a:rPr>
              <a:t>2024</a:t>
            </a:r>
          </a:p>
        </p:txBody>
      </p:sp>
      <p:sp>
        <p:nvSpPr>
          <p:cNvPr id="1272" name="mt0-title"/>
          <p:cNvSpPr txBox="1"/>
          <p:nvPr/>
        </p:nvSpPr>
        <p:spPr>
          <a:xfrm>
            <a:off x="4517136" y="1682496"/>
            <a:ext cx="1993392" cy="137160"/>
          </a:xfrm>
          <a:prstGeom prst="rect">
            <a:avLst/>
          </a:prstGeom>
          <a:noFill/>
        </p:spPr>
        <p:txBody>
          <a:bodyPr wrap="square" lIns="0" tIns="0" rIns="0" bIns="0" anchor="t"/>
          <a:lstStyle/>
          <a:p>
            <a:pPr algn="ctr" rtl="1">
              <a:spcAft>
                <a:spcPts val="0"/>
              </a:spcAft>
            </a:pPr>
            <a:r>
              <a:rPr lang="ar-SA" sz="660" b="0" dirty="0">
                <a:solidFill>
                  <a:srgbClr val="24135F"/>
                </a:solidFill>
                <a:latin typeface="DiodrumArabic-Bold"/>
                <a:ea typeface="DiodrumArabic-Bold"/>
                <a:cs typeface="DiodrumArabic-Bold"/>
              </a:rPr>
              <a:t>الاعتماد والانطلاق</a:t>
            </a:r>
          </a:p>
        </p:txBody>
      </p:sp>
      <p:sp>
        <p:nvSpPr>
          <p:cNvPr id="1273" name="mt0-body"/>
          <p:cNvSpPr txBox="1"/>
          <p:nvPr/>
        </p:nvSpPr>
        <p:spPr>
          <a:xfrm>
            <a:off x="4517136" y="1828800"/>
            <a:ext cx="1993392" cy="457200"/>
          </a:xfrm>
          <a:prstGeom prst="rect">
            <a:avLst/>
          </a:prstGeom>
          <a:noFill/>
        </p:spPr>
        <p:txBody>
          <a:bodyPr wrap="square" lIns="0" tIns="0" rIns="0" bIns="0" anchor="t"/>
          <a:lstStyle/>
          <a:p>
            <a:pPr algn="ctr" rtl="1">
              <a:lnSpc>
                <a:spcPct val="122000"/>
              </a:lnSpc>
              <a:spcAft>
                <a:spcPts val="0"/>
              </a:spcAft>
            </a:pPr>
            <a:r>
              <a:rPr lang="ar-SA" sz="500" b="0" dirty="0">
                <a:solidFill>
                  <a:srgbClr val="5D6167"/>
                </a:solidFill>
                <a:latin typeface="DiodrumArabic-Medium"/>
                <a:ea typeface="DiodrumArabic-Medium"/>
                <a:cs typeface="DiodrumArabic-Medium"/>
              </a:rPr>
              <a:t>اعتماد مبادرة حاضنة الأبحاث وبدء العمل على تأسيسها والتعريف بها مع الجهات ذات العلاقة.</a:t>
            </a:r>
          </a:p>
        </p:txBody>
      </p:sp>
      <p:sp>
        <p:nvSpPr>
          <p:cNvPr id="1274" name="mt1-ring"/>
          <p:cNvSpPr/>
          <p:nvPr/>
        </p:nvSpPr>
        <p:spPr>
          <a:xfrm>
            <a:off x="3360420" y="1485900"/>
            <a:ext cx="137160" cy="137160"/>
          </a:xfrm>
          <a:prstGeom prst="ellipse">
            <a:avLst/>
          </a:prstGeom>
          <a:solidFill>
            <a:srgbClr val="FFFFFF"/>
          </a:solidFill>
          <a:ln>
            <a:solidFill>
              <a:srgbClr val="E0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75" name="mt1-dot"/>
          <p:cNvSpPr/>
          <p:nvPr/>
        </p:nvSpPr>
        <p:spPr>
          <a:xfrm>
            <a:off x="3394710" y="1520190"/>
            <a:ext cx="68580" cy="68580"/>
          </a:xfrm>
          <a:prstGeom prst="ellipse">
            <a:avLst/>
          </a:prstGeom>
          <a:solidFill>
            <a:srgbClr val="241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76" name="mt1-label"/>
          <p:cNvSpPr txBox="1"/>
          <p:nvPr/>
        </p:nvSpPr>
        <p:spPr>
          <a:xfrm>
            <a:off x="2432304" y="1170432"/>
            <a:ext cx="1993392" cy="201168"/>
          </a:xfrm>
          <a:prstGeom prst="rect">
            <a:avLst/>
          </a:prstGeom>
          <a:noFill/>
        </p:spPr>
        <p:txBody>
          <a:bodyPr wrap="square" lIns="0" tIns="0" rIns="0" bIns="0" anchor="b"/>
          <a:lstStyle/>
          <a:p>
            <a:pPr algn="ctr" rtl="1">
              <a:spcAft>
                <a:spcPts val="0"/>
              </a:spcAft>
            </a:pPr>
            <a:r>
              <a:rPr lang="ar-SA" sz="1050" b="0" dirty="0">
                <a:solidFill>
                  <a:srgbClr val="24135F"/>
                </a:solidFill>
                <a:latin typeface="DiodrumArabic-Bold"/>
                <a:ea typeface="DiodrumArabic-Bold"/>
                <a:cs typeface="DiodrumArabic-Bold"/>
              </a:rPr>
              <a:t>2025</a:t>
            </a:r>
          </a:p>
        </p:txBody>
      </p:sp>
      <p:sp>
        <p:nvSpPr>
          <p:cNvPr id="1277" name="mt1-title"/>
          <p:cNvSpPr txBox="1"/>
          <p:nvPr/>
        </p:nvSpPr>
        <p:spPr>
          <a:xfrm>
            <a:off x="2432304" y="1682496"/>
            <a:ext cx="1993392" cy="137160"/>
          </a:xfrm>
          <a:prstGeom prst="rect">
            <a:avLst/>
          </a:prstGeom>
          <a:noFill/>
        </p:spPr>
        <p:txBody>
          <a:bodyPr wrap="square" lIns="0" tIns="0" rIns="0" bIns="0" anchor="t"/>
          <a:lstStyle/>
          <a:p>
            <a:pPr algn="ctr" rtl="1">
              <a:spcAft>
                <a:spcPts val="0"/>
              </a:spcAft>
            </a:pPr>
            <a:r>
              <a:rPr lang="ar-SA" sz="660" b="0" dirty="0">
                <a:solidFill>
                  <a:srgbClr val="24135F"/>
                </a:solidFill>
                <a:latin typeface="DiodrumArabic-Bold"/>
                <a:ea typeface="DiodrumArabic-Bold"/>
                <a:cs typeface="DiodrumArabic-Bold"/>
              </a:rPr>
              <a:t>التخطيط وبناء الشراكات</a:t>
            </a:r>
          </a:p>
        </p:txBody>
      </p:sp>
      <p:sp>
        <p:nvSpPr>
          <p:cNvPr id="1278" name="mt1-body"/>
          <p:cNvSpPr txBox="1"/>
          <p:nvPr/>
        </p:nvSpPr>
        <p:spPr>
          <a:xfrm>
            <a:off x="2432304" y="1828800"/>
            <a:ext cx="1993392" cy="457200"/>
          </a:xfrm>
          <a:prstGeom prst="rect">
            <a:avLst/>
          </a:prstGeom>
          <a:noFill/>
        </p:spPr>
        <p:txBody>
          <a:bodyPr wrap="square" lIns="0" tIns="0" rIns="0" bIns="0" anchor="t"/>
          <a:lstStyle/>
          <a:p>
            <a:pPr algn="ctr" rtl="1">
              <a:lnSpc>
                <a:spcPct val="122000"/>
              </a:lnSpc>
              <a:spcAft>
                <a:spcPts val="0"/>
              </a:spcAft>
            </a:pPr>
            <a:r>
              <a:rPr lang="ar-SA" sz="500" b="0" dirty="0">
                <a:solidFill>
                  <a:srgbClr val="5D6167"/>
                </a:solidFill>
                <a:latin typeface="DiodrumArabic-Medium"/>
                <a:ea typeface="DiodrumArabic-Medium"/>
                <a:cs typeface="DiodrumArabic-Medium"/>
              </a:rPr>
              <a:t>تطوير التصور التشغيلي، وتحديد المتطلبات، وبناء شراكات النجاح اللازمة للحاضنة.</a:t>
            </a:r>
          </a:p>
        </p:txBody>
      </p:sp>
      <p:sp>
        <p:nvSpPr>
          <p:cNvPr id="1279" name="mt2-ring"/>
          <p:cNvSpPr/>
          <p:nvPr/>
        </p:nvSpPr>
        <p:spPr>
          <a:xfrm>
            <a:off x="1275588" y="1485900"/>
            <a:ext cx="137160" cy="137160"/>
          </a:xfrm>
          <a:prstGeom prst="ellipse">
            <a:avLst/>
          </a:prstGeom>
          <a:solidFill>
            <a:srgbClr val="FFFFFF"/>
          </a:solidFill>
          <a:ln>
            <a:solidFill>
              <a:srgbClr val="E0E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80" name="mt2-dot"/>
          <p:cNvSpPr/>
          <p:nvPr/>
        </p:nvSpPr>
        <p:spPr>
          <a:xfrm>
            <a:off x="1309878" y="1520190"/>
            <a:ext cx="68580" cy="68580"/>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81" name="mt2-label"/>
          <p:cNvSpPr txBox="1"/>
          <p:nvPr/>
        </p:nvSpPr>
        <p:spPr>
          <a:xfrm>
            <a:off x="347472" y="1170432"/>
            <a:ext cx="1993392" cy="201168"/>
          </a:xfrm>
          <a:prstGeom prst="rect">
            <a:avLst/>
          </a:prstGeom>
          <a:noFill/>
        </p:spPr>
        <p:txBody>
          <a:bodyPr wrap="square" lIns="0" tIns="0" rIns="0" bIns="0" anchor="b"/>
          <a:lstStyle/>
          <a:p>
            <a:pPr algn="ctr" rtl="1">
              <a:spcAft>
                <a:spcPts val="0"/>
              </a:spcAft>
            </a:pPr>
            <a:r>
              <a:rPr lang="ar-SA" sz="1050" b="0" dirty="0">
                <a:solidFill>
                  <a:srgbClr val="1CC182"/>
                </a:solidFill>
                <a:latin typeface="DiodrumArabic-Bold"/>
                <a:ea typeface="DiodrumArabic-Bold"/>
                <a:cs typeface="DiodrumArabic-Bold"/>
              </a:rPr>
              <a:t>2026</a:t>
            </a:r>
          </a:p>
        </p:txBody>
      </p:sp>
      <p:sp>
        <p:nvSpPr>
          <p:cNvPr id="1282" name="mt2-title"/>
          <p:cNvSpPr txBox="1"/>
          <p:nvPr/>
        </p:nvSpPr>
        <p:spPr>
          <a:xfrm>
            <a:off x="347472" y="1682496"/>
            <a:ext cx="1993392" cy="137160"/>
          </a:xfrm>
          <a:prstGeom prst="rect">
            <a:avLst/>
          </a:prstGeom>
          <a:noFill/>
        </p:spPr>
        <p:txBody>
          <a:bodyPr wrap="square" lIns="0" tIns="0" rIns="0" bIns="0" anchor="t"/>
          <a:lstStyle/>
          <a:p>
            <a:pPr algn="ctr" rtl="1">
              <a:spcAft>
                <a:spcPts val="0"/>
              </a:spcAft>
            </a:pPr>
            <a:r>
              <a:rPr lang="ar-SA" sz="660" b="0" dirty="0">
                <a:solidFill>
                  <a:srgbClr val="24135F"/>
                </a:solidFill>
                <a:latin typeface="DiodrumArabic-Bold"/>
                <a:ea typeface="DiodrumArabic-Bold"/>
                <a:cs typeface="DiodrumArabic-Bold"/>
              </a:rPr>
              <a:t>التفعيل</a:t>
            </a:r>
          </a:p>
        </p:txBody>
      </p:sp>
      <p:sp>
        <p:nvSpPr>
          <p:cNvPr id="1283" name="mt2-body"/>
          <p:cNvSpPr txBox="1"/>
          <p:nvPr/>
        </p:nvSpPr>
        <p:spPr>
          <a:xfrm>
            <a:off x="347472" y="1828800"/>
            <a:ext cx="1993392" cy="457200"/>
          </a:xfrm>
          <a:prstGeom prst="rect">
            <a:avLst/>
          </a:prstGeom>
          <a:noFill/>
        </p:spPr>
        <p:txBody>
          <a:bodyPr wrap="square" lIns="0" tIns="0" rIns="0" bIns="0" anchor="t"/>
          <a:lstStyle/>
          <a:p>
            <a:pPr algn="ctr" rtl="1">
              <a:lnSpc>
                <a:spcPct val="122000"/>
              </a:lnSpc>
              <a:spcAft>
                <a:spcPts val="0"/>
              </a:spcAft>
            </a:pPr>
            <a:r>
              <a:rPr lang="ar-SA" sz="500" b="0" dirty="0">
                <a:solidFill>
                  <a:srgbClr val="5D6167"/>
                </a:solidFill>
                <a:latin typeface="DiodrumArabic-Medium"/>
                <a:ea typeface="DiodrumArabic-Medium"/>
                <a:cs typeface="DiodrumArabic-Medium"/>
              </a:rPr>
              <a:t>بدء تنفيذ أعمال الحاضنة وتفعيل مساراتها وقنواتها.</a:t>
            </a:r>
          </a:p>
        </p:txBody>
      </p:sp>
      <p:sp>
        <p:nvSpPr>
          <p:cNvPr id="1284" name="cb"/>
          <p:cNvSpPr/>
          <p:nvPr/>
        </p:nvSpPr>
        <p:spPr>
          <a:xfrm>
            <a:off x="301752" y="2697480"/>
            <a:ext cx="6254496" cy="310896"/>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85" name="cb-t"/>
          <p:cNvSpPr txBox="1"/>
          <p:nvPr/>
        </p:nvSpPr>
        <p:spPr>
          <a:xfrm>
            <a:off x="484632" y="2697480"/>
            <a:ext cx="5888736" cy="310896"/>
          </a:xfrm>
          <a:prstGeom prst="rect">
            <a:avLst/>
          </a:prstGeom>
          <a:noFill/>
        </p:spPr>
        <p:txBody>
          <a:bodyPr wrap="square" lIns="0" tIns="0" rIns="0" bIns="0" anchor="ctr"/>
          <a:lstStyle/>
          <a:p>
            <a:pPr algn="ctr" rtl="1">
              <a:spcAft>
                <a:spcPts val="0"/>
              </a:spcAft>
            </a:pPr>
            <a:r>
              <a:rPr lang="ar-SA" sz="540" b="0" dirty="0">
                <a:solidFill>
                  <a:srgbClr val="FFFFFF"/>
                </a:solidFill>
                <a:latin typeface="DiodrumArabic-Semibold"/>
                <a:ea typeface="DiodrumArabic-Semibold"/>
                <a:cs typeface="DiodrumArabic-Semibold"/>
              </a:rPr>
              <a:t>2026 تمثل مرحلة الانتقال من بناء النموذج إلى تفعيل أعمال الحاضنة.</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287"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قنوات متعددة… بهدف واحد: تحويل المعرفة إلى أثر</a:t>
            </a:r>
          </a:p>
        </p:txBody>
      </p:sp>
      <p:sp>
        <p:nvSpPr>
          <p:cNvPr id="1288"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289" name="ch0-0"/>
          <p:cNvSpPr/>
          <p:nvPr/>
        </p:nvSpPr>
        <p:spPr>
          <a:xfrm>
            <a:off x="4532376" y="1188720"/>
            <a:ext cx="2023872" cy="896112"/>
          </a:xfrm>
          <a:prstGeom prst="roundRect">
            <a:avLst>
              <a:gd name="adj" fmla="val 530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0" name="ch0-0-bar"/>
          <p:cNvSpPr/>
          <p:nvPr/>
        </p:nvSpPr>
        <p:spPr>
          <a:xfrm>
            <a:off x="4605528" y="11887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1" name="ch0-0-title"/>
          <p:cNvSpPr txBox="1"/>
          <p:nvPr/>
        </p:nvSpPr>
        <p:spPr>
          <a:xfrm>
            <a:off x="4651248" y="1335024"/>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الاحتضان والتطوير</a:t>
            </a:r>
          </a:p>
        </p:txBody>
      </p:sp>
      <p:sp>
        <p:nvSpPr>
          <p:cNvPr id="1292" name="ch0-0-body"/>
          <p:cNvSpPr txBox="1"/>
          <p:nvPr/>
        </p:nvSpPr>
        <p:spPr>
          <a:xfrm>
            <a:off x="4651248" y="1472184"/>
            <a:ext cx="1786128" cy="493776"/>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دعم الأبحاث الواعدة وتطوير مخرجاتها ونماذجها.</a:t>
            </a:r>
          </a:p>
        </p:txBody>
      </p:sp>
      <p:sp>
        <p:nvSpPr>
          <p:cNvPr id="1293" name="ch0-1"/>
          <p:cNvSpPr/>
          <p:nvPr/>
        </p:nvSpPr>
        <p:spPr>
          <a:xfrm>
            <a:off x="2417064" y="1188720"/>
            <a:ext cx="2023872" cy="896112"/>
          </a:xfrm>
          <a:prstGeom prst="roundRect">
            <a:avLst>
              <a:gd name="adj" fmla="val 530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4" name="ch0-1-bar"/>
          <p:cNvSpPr/>
          <p:nvPr/>
        </p:nvSpPr>
        <p:spPr>
          <a:xfrm>
            <a:off x="2490216" y="11887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5" name="ch0-1-title"/>
          <p:cNvSpPr txBox="1"/>
          <p:nvPr/>
        </p:nvSpPr>
        <p:spPr>
          <a:xfrm>
            <a:off x="2535936" y="1335024"/>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الربط بالجهات الحكومية</a:t>
            </a:r>
          </a:p>
        </p:txBody>
      </p:sp>
      <p:sp>
        <p:nvSpPr>
          <p:cNvPr id="1296" name="ch0-1-body"/>
          <p:cNvSpPr txBox="1"/>
          <p:nvPr/>
        </p:nvSpPr>
        <p:spPr>
          <a:xfrm>
            <a:off x="2535936" y="1591056"/>
            <a:ext cx="1786128"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مواءمة الأبحاث مع التحديات والفرص الفعلية في الجهات.</a:t>
            </a:r>
          </a:p>
        </p:txBody>
      </p:sp>
      <p:sp>
        <p:nvSpPr>
          <p:cNvPr id="1297" name="ch0-2"/>
          <p:cNvSpPr/>
          <p:nvPr/>
        </p:nvSpPr>
        <p:spPr>
          <a:xfrm>
            <a:off x="301752" y="1188720"/>
            <a:ext cx="2023872" cy="896112"/>
          </a:xfrm>
          <a:prstGeom prst="roundRect">
            <a:avLst>
              <a:gd name="adj" fmla="val 530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8" name="ch0-2-bar"/>
          <p:cNvSpPr/>
          <p:nvPr/>
        </p:nvSpPr>
        <p:spPr>
          <a:xfrm>
            <a:off x="374904" y="118872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99" name="ch0-2-title"/>
          <p:cNvSpPr txBox="1"/>
          <p:nvPr/>
        </p:nvSpPr>
        <p:spPr>
          <a:xfrm>
            <a:off x="420624" y="1335024"/>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النشر ونقل المعرفة</a:t>
            </a:r>
          </a:p>
        </p:txBody>
      </p:sp>
      <p:sp>
        <p:nvSpPr>
          <p:cNvPr id="1300" name="ch0-2-body"/>
          <p:cNvSpPr txBox="1"/>
          <p:nvPr/>
        </p:nvSpPr>
        <p:spPr>
          <a:xfrm>
            <a:off x="420624" y="1472184"/>
            <a:ext cx="1786128" cy="493776"/>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نشر الأوراق والمخرجات البحثية عبر القنوات المناسبة.</a:t>
            </a:r>
          </a:p>
        </p:txBody>
      </p:sp>
      <p:sp>
        <p:nvSpPr>
          <p:cNvPr id="1301" name="ch1-0"/>
          <p:cNvSpPr/>
          <p:nvPr/>
        </p:nvSpPr>
        <p:spPr>
          <a:xfrm>
            <a:off x="4532376" y="2194560"/>
            <a:ext cx="2023872" cy="896112"/>
          </a:xfrm>
          <a:prstGeom prst="roundRect">
            <a:avLst>
              <a:gd name="adj" fmla="val 530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02" name="ch1-0-bar"/>
          <p:cNvSpPr/>
          <p:nvPr/>
        </p:nvSpPr>
        <p:spPr>
          <a:xfrm>
            <a:off x="4605528" y="219456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03" name="ch1-0-title"/>
          <p:cNvSpPr txBox="1"/>
          <p:nvPr/>
        </p:nvSpPr>
        <p:spPr>
          <a:xfrm>
            <a:off x="4651248" y="2340864"/>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 العمل</a:t>
            </a:r>
          </a:p>
        </p:txBody>
      </p:sp>
      <p:sp>
        <p:nvSpPr>
          <p:cNvPr id="1304" name="ch1-0-body"/>
          <p:cNvSpPr txBox="1"/>
          <p:nvPr/>
        </p:nvSpPr>
        <p:spPr>
          <a:xfrm>
            <a:off x="4651248" y="2478024"/>
            <a:ext cx="1786128" cy="493776"/>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رفع الوعي وتمكين الباحثين والجهات في موضوعات مختارة.</a:t>
            </a:r>
          </a:p>
        </p:txBody>
      </p:sp>
      <p:sp>
        <p:nvSpPr>
          <p:cNvPr id="1305" name="ch1-1"/>
          <p:cNvSpPr/>
          <p:nvPr/>
        </p:nvSpPr>
        <p:spPr>
          <a:xfrm>
            <a:off x="2417064" y="2194560"/>
            <a:ext cx="2023872" cy="896112"/>
          </a:xfrm>
          <a:prstGeom prst="roundRect">
            <a:avLst>
              <a:gd name="adj" fmla="val 530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06" name="ch1-1-bar"/>
          <p:cNvSpPr/>
          <p:nvPr/>
        </p:nvSpPr>
        <p:spPr>
          <a:xfrm>
            <a:off x="2490216" y="2194560"/>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07" name="ch1-1-title"/>
          <p:cNvSpPr txBox="1"/>
          <p:nvPr/>
        </p:nvSpPr>
        <p:spPr>
          <a:xfrm>
            <a:off x="2535936" y="2340864"/>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المجتمعات البحثية</a:t>
            </a:r>
          </a:p>
        </p:txBody>
      </p:sp>
      <p:sp>
        <p:nvSpPr>
          <p:cNvPr id="1308" name="ch1-1-body"/>
          <p:cNvSpPr txBox="1"/>
          <p:nvPr/>
        </p:nvSpPr>
        <p:spPr>
          <a:xfrm>
            <a:off x="2535936" y="2478024"/>
            <a:ext cx="1786128" cy="493776"/>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بناء شبكة مستمرة للتواصل وتبادل المعرفة.</a:t>
            </a:r>
          </a:p>
        </p:txBody>
      </p:sp>
      <p:sp>
        <p:nvSpPr>
          <p:cNvPr id="1309" name="ch1-2"/>
          <p:cNvSpPr/>
          <p:nvPr/>
        </p:nvSpPr>
        <p:spPr>
          <a:xfrm>
            <a:off x="301752" y="2194560"/>
            <a:ext cx="2023872" cy="896112"/>
          </a:xfrm>
          <a:prstGeom prst="roundRect">
            <a:avLst>
              <a:gd name="adj" fmla="val 5306"/>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10" name="ch1-2-title"/>
          <p:cNvSpPr txBox="1"/>
          <p:nvPr/>
        </p:nvSpPr>
        <p:spPr>
          <a:xfrm>
            <a:off x="420624" y="2359152"/>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FFFFFF"/>
                </a:solidFill>
                <a:latin typeface="DiodrumArabic-Bold"/>
                <a:ea typeface="DiodrumArabic-Bold"/>
                <a:cs typeface="DiodrumArabic-Bold"/>
              </a:rPr>
              <a:t>الملتقيات والفعاليات</a:t>
            </a:r>
          </a:p>
        </p:txBody>
      </p:sp>
      <p:sp>
        <p:nvSpPr>
          <p:cNvPr id="1311" name="ch1-2-body"/>
          <p:cNvSpPr txBox="1"/>
          <p:nvPr/>
        </p:nvSpPr>
        <p:spPr>
          <a:xfrm>
            <a:off x="420624" y="2615184"/>
            <a:ext cx="1786128" cy="356616"/>
          </a:xfrm>
          <a:prstGeom prst="rect">
            <a:avLst/>
          </a:prstGeom>
          <a:noFill/>
        </p:spPr>
        <p:txBody>
          <a:bodyPr wrap="square" lIns="0" tIns="0" rIns="0" bIns="0" anchor="t"/>
          <a:lstStyle/>
          <a:p>
            <a:pPr algn="r" rtl="1">
              <a:lnSpc>
                <a:spcPct val="125000"/>
              </a:lnSpc>
              <a:spcAft>
                <a:spcPts val="0"/>
              </a:spcAft>
            </a:pPr>
            <a:r>
              <a:rPr lang="ar-SA" sz="500" b="0" dirty="0">
                <a:solidFill>
                  <a:srgbClr val="EDE7FA"/>
                </a:solidFill>
                <a:latin typeface="DiodrumArabic-Medium"/>
                <a:ea typeface="DiodrumArabic-Medium"/>
                <a:cs typeface="DiodrumArabic-Medium"/>
              </a:rPr>
              <a:t>استقطاب الباحثين والشركاء، وعرض الأبحاث، وبناء فرص التعاون.</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 name="big-num"/>
          <p:cNvSpPr txBox="1"/>
          <p:nvPr/>
        </p:nvSpPr>
        <p:spPr>
          <a:xfrm>
            <a:off x="146304" y="1188720"/>
            <a:ext cx="1316736" cy="1463040"/>
          </a:xfrm>
          <a:prstGeom prst="rect">
            <a:avLst/>
          </a:prstGeom>
          <a:noFill/>
        </p:spPr>
        <p:txBody>
          <a:bodyPr wrap="square" lIns="0" tIns="0" rIns="0" bIns="0" anchor="ctr"/>
          <a:lstStyle/>
          <a:p>
            <a:pPr algn="l">
              <a:spcAft>
                <a:spcPts val="0"/>
              </a:spcAft>
            </a:pPr>
            <a:r>
              <a:rPr lang="en-US" sz="8800" b="0" dirty="0">
                <a:solidFill>
                  <a:srgbClr val="FFFFFF"/>
                </a:solidFill>
                <a:latin typeface="DiodrumArabic-Bold"/>
                <a:ea typeface="DiodrumArabic-Bold"/>
                <a:cs typeface="DiodrumArabic-Bold"/>
              </a:rPr>
              <a:t>02</a:t>
            </a:r>
          </a:p>
        </p:txBody>
      </p:sp>
      <p:sp>
        <p:nvSpPr>
          <p:cNvPr id="1313" name="kicker"/>
          <p:cNvSpPr txBox="1"/>
          <p:nvPr/>
        </p:nvSpPr>
        <p:spPr>
          <a:xfrm>
            <a:off x="4937760" y="1572768"/>
            <a:ext cx="1316736" cy="128016"/>
          </a:xfrm>
          <a:prstGeom prst="rect">
            <a:avLst/>
          </a:prstGeom>
          <a:noFill/>
        </p:spPr>
        <p:txBody>
          <a:bodyPr wrap="square" lIns="0" tIns="0" rIns="0" bIns="0" anchor="t"/>
          <a:lstStyle/>
          <a:p>
            <a:pPr algn="r" rtl="1">
              <a:spcAft>
                <a:spcPts val="0"/>
              </a:spcAft>
            </a:pPr>
            <a:r>
              <a:rPr lang="ar-SA" sz="618" b="0" dirty="0">
                <a:solidFill>
                  <a:srgbClr val="1CC182"/>
                </a:solidFill>
                <a:latin typeface="DiodrumArabic-Semibold"/>
                <a:ea typeface="DiodrumArabic-Semibold"/>
                <a:cs typeface="DiodrumArabic-Semibold"/>
              </a:rPr>
              <a:t>القسم الثاني</a:t>
            </a:r>
          </a:p>
        </p:txBody>
      </p:sp>
      <p:sp>
        <p:nvSpPr>
          <p:cNvPr id="1314" name="title"/>
          <p:cNvSpPr txBox="1"/>
          <p:nvPr/>
        </p:nvSpPr>
        <p:spPr>
          <a:xfrm>
            <a:off x="2377440" y="1764792"/>
            <a:ext cx="3877056" cy="502920"/>
          </a:xfrm>
          <a:prstGeom prst="rect">
            <a:avLst/>
          </a:prstGeom>
          <a:noFill/>
        </p:spPr>
        <p:txBody>
          <a:bodyPr wrap="square" lIns="0" tIns="0" rIns="0" bIns="0" anchor="t"/>
          <a:lstStyle/>
          <a:p>
            <a:pPr algn="r" rtl="1">
              <a:lnSpc>
                <a:spcPct val="115000"/>
              </a:lnSpc>
              <a:spcAft>
                <a:spcPts val="0"/>
              </a:spcAft>
            </a:pPr>
            <a:r>
              <a:rPr lang="ar-SA" sz="1550" b="0" dirty="0">
                <a:solidFill>
                  <a:srgbClr val="FFFFFF"/>
                </a:solidFill>
                <a:latin typeface="DiodrumArabic-Bold"/>
                <a:ea typeface="DiodrumArabic-Bold"/>
                <a:cs typeface="DiodrumArabic-Bold"/>
              </a:rPr>
              <a:t>ملتقى البحث والابتكار الحكومي</a:t>
            </a:r>
          </a:p>
        </p:txBody>
      </p:sp>
      <p:sp>
        <p:nvSpPr>
          <p:cNvPr id="1315" name="desc"/>
          <p:cNvSpPr txBox="1"/>
          <p:nvPr/>
        </p:nvSpPr>
        <p:spPr>
          <a:xfrm>
            <a:off x="2377440" y="2331720"/>
            <a:ext cx="3877056" cy="274320"/>
          </a:xfrm>
          <a:prstGeom prst="rect">
            <a:avLst/>
          </a:prstGeom>
          <a:noFill/>
        </p:spPr>
        <p:txBody>
          <a:bodyPr wrap="square" lIns="0" tIns="0" rIns="0" bIns="0" anchor="t"/>
          <a:lstStyle/>
          <a:p>
            <a:pPr algn="r" rtl="1">
              <a:lnSpc>
                <a:spcPct val="130000"/>
              </a:lnSpc>
              <a:spcAft>
                <a:spcPts val="0"/>
              </a:spcAft>
            </a:pPr>
            <a:r>
              <a:rPr lang="ar-SA" sz="620" b="0" dirty="0">
                <a:solidFill>
                  <a:srgbClr val="DCD3F0"/>
                </a:solidFill>
                <a:latin typeface="DiodrumArabic-Regular"/>
                <a:ea typeface="DiodrumArabic-Regular"/>
                <a:cs typeface="DiodrumArabic-Regular"/>
              </a:rPr>
              <a:t>من الفكرة إلى التأثير</a:t>
            </a:r>
          </a:p>
        </p:txBody>
      </p:sp>
      <p:sp>
        <p:nvSpPr>
          <p:cNvPr id="1316" name="prog1"/>
          <p:cNvSpPr/>
          <p:nvPr/>
        </p:nvSpPr>
        <p:spPr>
          <a:xfrm>
            <a:off x="61722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17" name="prog2"/>
          <p:cNvSpPr/>
          <p:nvPr/>
        </p:nvSpPr>
        <p:spPr>
          <a:xfrm>
            <a:off x="5829300" y="1216152"/>
            <a:ext cx="283464" cy="36576"/>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18" name="prog3"/>
          <p:cNvSpPr/>
          <p:nvPr/>
        </p:nvSpPr>
        <p:spPr>
          <a:xfrm>
            <a:off x="54864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320" name="title"/>
          <p:cNvSpPr txBox="1"/>
          <p:nvPr/>
        </p:nvSpPr>
        <p:spPr>
          <a:xfrm>
            <a:off x="301752" y="329184"/>
            <a:ext cx="6254496" cy="402336"/>
          </a:xfrm>
          <a:prstGeom prst="rect">
            <a:avLst/>
          </a:prstGeom>
          <a:noFill/>
        </p:spPr>
        <p:txBody>
          <a:bodyPr wrap="square" lIns="0" tIns="0" rIns="0" bIns="0" anchor="t"/>
          <a:lstStyle/>
          <a:p>
            <a:pPr algn="r" rtl="1">
              <a:lnSpc>
                <a:spcPct val="118000"/>
              </a:lnSpc>
              <a:spcAft>
                <a:spcPts val="0"/>
              </a:spcAft>
            </a:pPr>
            <a:r>
              <a:rPr lang="ar-SA" sz="1240" b="0" dirty="0">
                <a:solidFill>
                  <a:srgbClr val="24135F"/>
                </a:solidFill>
                <a:latin typeface="DiodrumArabic-Bold"/>
                <a:ea typeface="DiodrumArabic-Bold"/>
                <a:cs typeface="DiodrumArabic-Bold"/>
              </a:rPr>
              <a:t>ملتقى يجمع البحث بالاحتياج الحكومي</a:t>
            </a:r>
          </a:p>
        </p:txBody>
      </p:sp>
      <p:sp>
        <p:nvSpPr>
          <p:cNvPr id="1321" name="subtitle"/>
          <p:cNvSpPr txBox="1"/>
          <p:nvPr/>
        </p:nvSpPr>
        <p:spPr>
          <a:xfrm>
            <a:off x="301752" y="640080"/>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فعالية تهدف إلى تعزيز ثقافة البحث والابتكار في الحكومة الرقمية من خلال استعراض الأبحاث والمبادرات النوعية، وتشجيع تبادل المعرفة، وبناء شراكات تسهم في تطوير الخدمات الحكومية الرقمية ودعم التحول الرقمي.</a:t>
            </a:r>
          </a:p>
        </p:txBody>
      </p:sp>
      <p:sp>
        <p:nvSpPr>
          <p:cNvPr id="1322"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323" name="fg0"/>
          <p:cNvSpPr/>
          <p:nvPr/>
        </p:nvSpPr>
        <p:spPr>
          <a:xfrm>
            <a:off x="5061204" y="1508760"/>
            <a:ext cx="1495044" cy="1325880"/>
          </a:xfrm>
          <a:prstGeom prst="roundRect">
            <a:avLst>
              <a:gd name="adj" fmla="val 358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24" name="fg0-bar"/>
          <p:cNvSpPr/>
          <p:nvPr/>
        </p:nvSpPr>
        <p:spPr>
          <a:xfrm>
            <a:off x="5134356" y="15087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25" name="fg0-title"/>
          <p:cNvSpPr txBox="1"/>
          <p:nvPr/>
        </p:nvSpPr>
        <p:spPr>
          <a:xfrm>
            <a:off x="5180076" y="2007108"/>
            <a:ext cx="1257300" cy="146304"/>
          </a:xfrm>
          <a:prstGeom prst="rect">
            <a:avLst/>
          </a:prstGeom>
          <a:noFill/>
        </p:spPr>
        <p:txBody>
          <a:bodyPr wrap="square" lIns="0" tIns="0" rIns="0" bIns="0" anchor="t"/>
          <a:lstStyle/>
          <a:p>
            <a:pPr algn="r" rtl="1">
              <a:lnSpc>
                <a:spcPct val="118000"/>
              </a:lnSpc>
              <a:spcAft>
                <a:spcPts val="0"/>
              </a:spcAft>
            </a:pPr>
            <a:r>
              <a:rPr lang="ar-SA" sz="640" b="0" dirty="0">
                <a:solidFill>
                  <a:srgbClr val="24135F"/>
                </a:solidFill>
                <a:latin typeface="DiodrumArabic-Bold"/>
                <a:ea typeface="DiodrumArabic-Bold"/>
                <a:cs typeface="DiodrumArabic-Bold"/>
              </a:rPr>
              <a:t>تعزيز ثقافة البحث العلمي والابتكار</a:t>
            </a:r>
          </a:p>
        </p:txBody>
      </p:sp>
      <p:sp>
        <p:nvSpPr>
          <p:cNvPr id="1326" name="fg0-body"/>
          <p:cNvSpPr txBox="1"/>
          <p:nvPr/>
        </p:nvSpPr>
        <p:spPr>
          <a:xfrm>
            <a:off x="5180076" y="2263140"/>
            <a:ext cx="1257300" cy="452628"/>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رفع الوعي بأهمية البحث والتطوير في الحكومة الرقمية.</a:t>
            </a:r>
          </a:p>
        </p:txBody>
      </p:sp>
      <p:sp>
        <p:nvSpPr>
          <p:cNvPr id="1327" name="fg1"/>
          <p:cNvSpPr/>
          <p:nvPr/>
        </p:nvSpPr>
        <p:spPr>
          <a:xfrm>
            <a:off x="3474720" y="1508760"/>
            <a:ext cx="1495044" cy="1325880"/>
          </a:xfrm>
          <a:prstGeom prst="roundRect">
            <a:avLst>
              <a:gd name="adj" fmla="val 358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28" name="fg1-bar"/>
          <p:cNvSpPr/>
          <p:nvPr/>
        </p:nvSpPr>
        <p:spPr>
          <a:xfrm>
            <a:off x="3547872" y="15087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29" name="fg1-title"/>
          <p:cNvSpPr txBox="1"/>
          <p:nvPr/>
        </p:nvSpPr>
        <p:spPr>
          <a:xfrm>
            <a:off x="3593592" y="2007108"/>
            <a:ext cx="1257300" cy="146304"/>
          </a:xfrm>
          <a:prstGeom prst="rect">
            <a:avLst/>
          </a:prstGeom>
          <a:noFill/>
        </p:spPr>
        <p:txBody>
          <a:bodyPr wrap="square" lIns="0" tIns="0" rIns="0" bIns="0" anchor="t"/>
          <a:lstStyle/>
          <a:p>
            <a:pPr algn="r" rtl="1">
              <a:lnSpc>
                <a:spcPct val="118000"/>
              </a:lnSpc>
              <a:spcAft>
                <a:spcPts val="0"/>
              </a:spcAft>
            </a:pPr>
            <a:r>
              <a:rPr lang="ar-SA" sz="640" b="0" dirty="0">
                <a:solidFill>
                  <a:srgbClr val="24135F"/>
                </a:solidFill>
                <a:latin typeface="DiodrumArabic-Bold"/>
                <a:ea typeface="DiodrumArabic-Bold"/>
                <a:cs typeface="DiodrumArabic-Bold"/>
              </a:rPr>
              <a:t>توفير منصة للباحثين</a:t>
            </a:r>
          </a:p>
        </p:txBody>
      </p:sp>
      <p:sp>
        <p:nvSpPr>
          <p:cNvPr id="1330" name="fg1-body"/>
          <p:cNvSpPr txBox="1"/>
          <p:nvPr/>
        </p:nvSpPr>
        <p:spPr>
          <a:xfrm>
            <a:off x="3593592" y="2144268"/>
            <a:ext cx="1257300" cy="571500"/>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إتاحة مساحة لعرض ومناقشة الأبحاث.</a:t>
            </a:r>
          </a:p>
        </p:txBody>
      </p:sp>
      <p:sp>
        <p:nvSpPr>
          <p:cNvPr id="1331" name="fg2"/>
          <p:cNvSpPr/>
          <p:nvPr/>
        </p:nvSpPr>
        <p:spPr>
          <a:xfrm>
            <a:off x="1888236" y="1508760"/>
            <a:ext cx="1495044" cy="1325880"/>
          </a:xfrm>
          <a:prstGeom prst="roundRect">
            <a:avLst>
              <a:gd name="adj" fmla="val 358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32" name="fg2-bar"/>
          <p:cNvSpPr/>
          <p:nvPr/>
        </p:nvSpPr>
        <p:spPr>
          <a:xfrm>
            <a:off x="1961388" y="15087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33" name="fg2-title"/>
          <p:cNvSpPr txBox="1"/>
          <p:nvPr/>
        </p:nvSpPr>
        <p:spPr>
          <a:xfrm>
            <a:off x="2007108" y="2007108"/>
            <a:ext cx="1257300" cy="146304"/>
          </a:xfrm>
          <a:prstGeom prst="rect">
            <a:avLst/>
          </a:prstGeom>
          <a:noFill/>
        </p:spPr>
        <p:txBody>
          <a:bodyPr wrap="square" lIns="0" tIns="0" rIns="0" bIns="0" anchor="t"/>
          <a:lstStyle/>
          <a:p>
            <a:pPr algn="r" rtl="1">
              <a:lnSpc>
                <a:spcPct val="118000"/>
              </a:lnSpc>
              <a:spcAft>
                <a:spcPts val="0"/>
              </a:spcAft>
            </a:pPr>
            <a:r>
              <a:rPr lang="ar-SA" sz="640" b="0" dirty="0">
                <a:solidFill>
                  <a:srgbClr val="24135F"/>
                </a:solidFill>
                <a:latin typeface="DiodrumArabic-Bold"/>
                <a:ea typeface="DiodrumArabic-Bold"/>
                <a:cs typeface="DiodrumArabic-Bold"/>
              </a:rPr>
              <a:t>تمكين الباحثين والمبتكرين</a:t>
            </a:r>
          </a:p>
        </p:txBody>
      </p:sp>
      <p:sp>
        <p:nvSpPr>
          <p:cNvPr id="1334" name="fg2-body"/>
          <p:cNvSpPr txBox="1"/>
          <p:nvPr/>
        </p:nvSpPr>
        <p:spPr>
          <a:xfrm>
            <a:off x="2007108" y="2263140"/>
            <a:ext cx="1257300" cy="452628"/>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توسيع فرص التواصل والتعاون.</a:t>
            </a:r>
          </a:p>
        </p:txBody>
      </p:sp>
      <p:sp>
        <p:nvSpPr>
          <p:cNvPr id="1335" name="fg3"/>
          <p:cNvSpPr/>
          <p:nvPr/>
        </p:nvSpPr>
        <p:spPr>
          <a:xfrm>
            <a:off x="301752" y="1508760"/>
            <a:ext cx="1495044" cy="1325880"/>
          </a:xfrm>
          <a:prstGeom prst="roundRect">
            <a:avLst>
              <a:gd name="adj" fmla="val 358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36" name="fg3-bar"/>
          <p:cNvSpPr/>
          <p:nvPr/>
        </p:nvSpPr>
        <p:spPr>
          <a:xfrm>
            <a:off x="374904" y="150876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37" name="fg3-title"/>
          <p:cNvSpPr txBox="1"/>
          <p:nvPr/>
        </p:nvSpPr>
        <p:spPr>
          <a:xfrm>
            <a:off x="420624" y="2007108"/>
            <a:ext cx="1257300" cy="146304"/>
          </a:xfrm>
          <a:prstGeom prst="rect">
            <a:avLst/>
          </a:prstGeom>
          <a:noFill/>
        </p:spPr>
        <p:txBody>
          <a:bodyPr wrap="square" lIns="0" tIns="0" rIns="0" bIns="0" anchor="t"/>
          <a:lstStyle/>
          <a:p>
            <a:pPr algn="r" rtl="1">
              <a:lnSpc>
                <a:spcPct val="118000"/>
              </a:lnSpc>
              <a:spcAft>
                <a:spcPts val="0"/>
              </a:spcAft>
            </a:pPr>
            <a:r>
              <a:rPr lang="ar-SA" sz="640" b="0" dirty="0">
                <a:solidFill>
                  <a:srgbClr val="24135F"/>
                </a:solidFill>
                <a:latin typeface="DiodrumArabic-Bold"/>
                <a:ea typeface="DiodrumArabic-Bold"/>
                <a:cs typeface="DiodrumArabic-Bold"/>
              </a:rPr>
              <a:t>الإسهام في تطوير الحلول الرقمية</a:t>
            </a:r>
          </a:p>
        </p:txBody>
      </p:sp>
      <p:sp>
        <p:nvSpPr>
          <p:cNvPr id="1338" name="fg3-body"/>
          <p:cNvSpPr txBox="1"/>
          <p:nvPr/>
        </p:nvSpPr>
        <p:spPr>
          <a:xfrm>
            <a:off x="420624" y="2263140"/>
            <a:ext cx="1257300" cy="452628"/>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ربط المعرفة البحثية بفرص التطبيق.</a:t>
            </a:r>
          </a:p>
        </p:txBody>
      </p:sp>
      <p:sp>
        <p:nvSpPr>
          <p:cNvPr id="1339" name="cb"/>
          <p:cNvSpPr/>
          <p:nvPr/>
        </p:nvSpPr>
        <p:spPr>
          <a:xfrm>
            <a:off x="301752" y="2971800"/>
            <a:ext cx="6254496" cy="310896"/>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40" name="cb-t"/>
          <p:cNvSpPr txBox="1"/>
          <p:nvPr/>
        </p:nvSpPr>
        <p:spPr>
          <a:xfrm>
            <a:off x="484632" y="2971800"/>
            <a:ext cx="5888736" cy="310896"/>
          </a:xfrm>
          <a:prstGeom prst="rect">
            <a:avLst/>
          </a:prstGeom>
          <a:noFill/>
        </p:spPr>
        <p:txBody>
          <a:bodyPr wrap="square" lIns="0" tIns="0" rIns="0" bIns="0" anchor="ctr"/>
          <a:lstStyle/>
          <a:p>
            <a:pPr algn="ctr" rtl="1">
              <a:spcAft>
                <a:spcPts val="0"/>
              </a:spcAft>
            </a:pPr>
            <a:r>
              <a:rPr lang="ar-SA" sz="580" b="0" dirty="0">
                <a:solidFill>
                  <a:srgbClr val="FFFFFF"/>
                </a:solidFill>
                <a:latin typeface="DiodrumArabic-Semibold"/>
                <a:ea typeface="DiodrumArabic-Semibold"/>
                <a:cs typeface="DiodrumArabic-Semibold"/>
              </a:rPr>
              <a:t>الأهداف الأربعة تلتقي عند غاية واحدة: تحويل التبادل المعرفي داخل الملتقى إلى فرص تعاون وتطبيق فعلية.</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342"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الفعالية المقترحة</a:t>
            </a:r>
          </a:p>
        </p:txBody>
      </p:sp>
      <p:sp>
        <p:nvSpPr>
          <p:cNvPr id="1343"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344" name="info"/>
          <p:cNvSpPr/>
          <p:nvPr/>
        </p:nvSpPr>
        <p:spPr>
          <a:xfrm>
            <a:off x="3246120" y="1051560"/>
            <a:ext cx="3008376" cy="2331720"/>
          </a:xfrm>
          <a:prstGeom prst="roundRect">
            <a:avLst>
              <a:gd name="adj" fmla="val 2355"/>
            </a:avLst>
          </a:prstGeom>
          <a:solidFill>
            <a:srgbClr val="241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45" name="info-التاريخ"/>
          <p:cNvSpPr txBox="1"/>
          <p:nvPr/>
        </p:nvSpPr>
        <p:spPr>
          <a:xfrm>
            <a:off x="3429000" y="1216152"/>
            <a:ext cx="2642616" cy="109728"/>
          </a:xfrm>
          <a:prstGeom prst="rect">
            <a:avLst/>
          </a:prstGeom>
          <a:noFill/>
        </p:spPr>
        <p:txBody>
          <a:bodyPr wrap="square" lIns="0" tIns="0" rIns="0" bIns="0" anchor="t"/>
          <a:lstStyle/>
          <a:p>
            <a:pPr algn="r" rtl="1">
              <a:spcAft>
                <a:spcPts val="0"/>
              </a:spcAft>
            </a:pPr>
            <a:r>
              <a:rPr lang="ar-SA" sz="460" b="0" dirty="0">
                <a:solidFill>
                  <a:srgbClr val="9E90CB"/>
                </a:solidFill>
                <a:latin typeface="DiodrumArabic-Medium"/>
                <a:ea typeface="DiodrumArabic-Medium"/>
                <a:cs typeface="DiodrumArabic-Medium"/>
              </a:rPr>
              <a:t>التاريخ</a:t>
            </a:r>
          </a:p>
        </p:txBody>
      </p:sp>
      <p:sp>
        <p:nvSpPr>
          <p:cNvPr id="1346" name="info-التاريخ-v"/>
          <p:cNvSpPr txBox="1"/>
          <p:nvPr/>
        </p:nvSpPr>
        <p:spPr>
          <a:xfrm>
            <a:off x="3429000" y="1353312"/>
            <a:ext cx="2642616" cy="146304"/>
          </a:xfrm>
          <a:prstGeom prst="rect">
            <a:avLst/>
          </a:prstGeom>
          <a:noFill/>
        </p:spPr>
        <p:txBody>
          <a:bodyPr wrap="square" lIns="0" tIns="0" rIns="0" bIns="0" anchor="t"/>
          <a:lstStyle/>
          <a:p>
            <a:pPr algn="r" rtl="1">
              <a:spcAft>
                <a:spcPts val="0"/>
              </a:spcAft>
            </a:pPr>
            <a:r>
              <a:rPr lang="ar-SA" sz="640" b="0" dirty="0">
                <a:solidFill>
                  <a:srgbClr val="FFFFFF"/>
                </a:solidFill>
                <a:latin typeface="DiodrumArabic-Bold"/>
                <a:ea typeface="DiodrumArabic-Bold"/>
                <a:cs typeface="DiodrumArabic-Bold"/>
              </a:rPr>
              <a:t>28 أكتوبر 2026</a:t>
            </a:r>
          </a:p>
        </p:txBody>
      </p:sp>
      <p:sp>
        <p:nvSpPr>
          <p:cNvPr id="1347" name="info-الوقت"/>
          <p:cNvSpPr txBox="1"/>
          <p:nvPr/>
        </p:nvSpPr>
        <p:spPr>
          <a:xfrm>
            <a:off x="3429000" y="1636776"/>
            <a:ext cx="2642616" cy="109728"/>
          </a:xfrm>
          <a:prstGeom prst="rect">
            <a:avLst/>
          </a:prstGeom>
          <a:noFill/>
        </p:spPr>
        <p:txBody>
          <a:bodyPr wrap="square" lIns="0" tIns="0" rIns="0" bIns="0" anchor="t"/>
          <a:lstStyle/>
          <a:p>
            <a:pPr algn="r" rtl="1">
              <a:spcAft>
                <a:spcPts val="0"/>
              </a:spcAft>
            </a:pPr>
            <a:r>
              <a:rPr lang="ar-SA" sz="460" b="0" dirty="0">
                <a:solidFill>
                  <a:srgbClr val="9E90CB"/>
                </a:solidFill>
                <a:latin typeface="DiodrumArabic-Medium"/>
                <a:ea typeface="DiodrumArabic-Medium"/>
                <a:cs typeface="DiodrumArabic-Medium"/>
              </a:rPr>
              <a:t>الوقت</a:t>
            </a:r>
          </a:p>
        </p:txBody>
      </p:sp>
      <p:sp>
        <p:nvSpPr>
          <p:cNvPr id="1348" name="info-الوقت-v"/>
          <p:cNvSpPr txBox="1"/>
          <p:nvPr/>
        </p:nvSpPr>
        <p:spPr>
          <a:xfrm>
            <a:off x="3429000" y="1773936"/>
            <a:ext cx="2642616" cy="146304"/>
          </a:xfrm>
          <a:prstGeom prst="rect">
            <a:avLst/>
          </a:prstGeom>
          <a:noFill/>
        </p:spPr>
        <p:txBody>
          <a:bodyPr wrap="square" lIns="0" tIns="0" rIns="0" bIns="0" anchor="t"/>
          <a:lstStyle/>
          <a:p>
            <a:pPr algn="r" rtl="1">
              <a:spcAft>
                <a:spcPts val="0"/>
              </a:spcAft>
            </a:pPr>
            <a:r>
              <a:rPr lang="ar-SA" sz="640" b="0" dirty="0">
                <a:solidFill>
                  <a:srgbClr val="FFFFFF"/>
                </a:solidFill>
                <a:latin typeface="DiodrumArabic-Bold"/>
                <a:ea typeface="DiodrumArabic-Bold"/>
                <a:cs typeface="DiodrumArabic-Bold"/>
              </a:rPr>
              <a:t>9:30 صباحًا – 4:00 مساءً</a:t>
            </a:r>
          </a:p>
        </p:txBody>
      </p:sp>
      <p:sp>
        <p:nvSpPr>
          <p:cNvPr id="1349" name="info-الموقع"/>
          <p:cNvSpPr txBox="1"/>
          <p:nvPr/>
        </p:nvSpPr>
        <p:spPr>
          <a:xfrm>
            <a:off x="3429000" y="2057400"/>
            <a:ext cx="2642616" cy="109728"/>
          </a:xfrm>
          <a:prstGeom prst="rect">
            <a:avLst/>
          </a:prstGeom>
          <a:noFill/>
        </p:spPr>
        <p:txBody>
          <a:bodyPr wrap="square" lIns="0" tIns="0" rIns="0" bIns="0" anchor="t"/>
          <a:lstStyle/>
          <a:p>
            <a:pPr algn="r" rtl="1">
              <a:spcAft>
                <a:spcPts val="0"/>
              </a:spcAft>
            </a:pPr>
            <a:r>
              <a:rPr lang="ar-SA" sz="460" b="0" dirty="0">
                <a:solidFill>
                  <a:srgbClr val="9E90CB"/>
                </a:solidFill>
                <a:latin typeface="DiodrumArabic-Medium"/>
                <a:ea typeface="DiodrumArabic-Medium"/>
                <a:cs typeface="DiodrumArabic-Medium"/>
              </a:rPr>
              <a:t>الموقع</a:t>
            </a:r>
          </a:p>
        </p:txBody>
      </p:sp>
      <p:sp>
        <p:nvSpPr>
          <p:cNvPr id="1350" name="info-الموقع-v"/>
          <p:cNvSpPr txBox="1"/>
          <p:nvPr/>
        </p:nvSpPr>
        <p:spPr>
          <a:xfrm>
            <a:off x="3429000" y="2194560"/>
            <a:ext cx="2642616" cy="146304"/>
          </a:xfrm>
          <a:prstGeom prst="rect">
            <a:avLst/>
          </a:prstGeom>
          <a:noFill/>
        </p:spPr>
        <p:txBody>
          <a:bodyPr wrap="square" lIns="0" tIns="0" rIns="0" bIns="0" anchor="t"/>
          <a:lstStyle/>
          <a:p>
            <a:pPr algn="r" rtl="1">
              <a:spcAft>
                <a:spcPts val="0"/>
              </a:spcAft>
            </a:pPr>
            <a:r>
              <a:rPr lang="ar-SA" sz="640" b="0" dirty="0">
                <a:solidFill>
                  <a:srgbClr val="FFFFFF"/>
                </a:solidFill>
                <a:latin typeface="DiodrumArabic-Bold"/>
                <a:ea typeface="DiodrumArabic-Bold"/>
                <a:cs typeface="DiodrumArabic-Bold"/>
              </a:rPr>
              <a:t>مركز الابتكار — هيئة الحكومة الرقمية</a:t>
            </a:r>
          </a:p>
        </p:txBody>
      </p:sp>
      <p:cxnSp>
        <p:nvCxnSpPr>
          <p:cNvPr id="1351" name="info-rule"/>
          <p:cNvCxnSpPr/>
          <p:nvPr/>
        </p:nvCxnSpPr>
        <p:spPr>
          <a:xfrm flipV="0">
            <a:off x="3429000" y="2496312"/>
            <a:ext cx="2642616" cy="914"/>
          </a:xfrm>
          <a:prstGeom prst="line">
            <a:avLst/>
          </a:prstGeom>
          <a:ln w="6858">
            <a:solidFill>
              <a:srgbClr val="4A3E9C"/>
            </a:solidFill>
          </a:ln>
        </p:spPr>
      </p:cxnSp>
      <p:sp>
        <p:nvSpPr>
          <p:cNvPr id="1352" name="info-aud"/>
          <p:cNvSpPr txBox="1"/>
          <p:nvPr/>
        </p:nvSpPr>
        <p:spPr>
          <a:xfrm>
            <a:off x="3429000" y="2606040"/>
            <a:ext cx="2642616" cy="109728"/>
          </a:xfrm>
          <a:prstGeom prst="rect">
            <a:avLst/>
          </a:prstGeom>
          <a:noFill/>
        </p:spPr>
        <p:txBody>
          <a:bodyPr wrap="square" lIns="0" tIns="0" rIns="0" bIns="0" anchor="t"/>
          <a:lstStyle/>
          <a:p>
            <a:pPr algn="r" rtl="1">
              <a:spcAft>
                <a:spcPts val="0"/>
              </a:spcAft>
            </a:pPr>
            <a:r>
              <a:rPr lang="ar-SA" sz="460" b="0" dirty="0">
                <a:solidFill>
                  <a:srgbClr val="9E90CB"/>
                </a:solidFill>
                <a:latin typeface="DiodrumArabic-Medium"/>
                <a:ea typeface="DiodrumArabic-Medium"/>
                <a:cs typeface="DiodrumArabic-Medium"/>
              </a:rPr>
              <a:t>الفئات المستهدفة</a:t>
            </a:r>
          </a:p>
        </p:txBody>
      </p:sp>
      <p:sp>
        <p:nvSpPr>
          <p:cNvPr id="1353" name="info-aud-v"/>
          <p:cNvSpPr txBox="1"/>
          <p:nvPr/>
        </p:nvSpPr>
        <p:spPr>
          <a:xfrm>
            <a:off x="3429000" y="2743200"/>
            <a:ext cx="2642616" cy="320040"/>
          </a:xfrm>
          <a:prstGeom prst="rect">
            <a:avLst/>
          </a:prstGeom>
          <a:noFill/>
        </p:spPr>
        <p:txBody>
          <a:bodyPr wrap="square" lIns="0" tIns="0" rIns="0" bIns="0" anchor="t"/>
          <a:lstStyle/>
          <a:p>
            <a:pPr algn="r" rtl="1">
              <a:lnSpc>
                <a:spcPct val="130000"/>
              </a:lnSpc>
              <a:spcAft>
                <a:spcPts val="0"/>
              </a:spcAft>
            </a:pPr>
            <a:r>
              <a:rPr lang="ar-SA" sz="540" b="0" dirty="0">
                <a:solidFill>
                  <a:srgbClr val="FFFFFF"/>
                </a:solidFill>
                <a:latin typeface="DiodrumArabic-Medium"/>
                <a:ea typeface="DiodrumArabic-Medium"/>
                <a:cs typeface="DiodrumArabic-Medium"/>
              </a:rPr>
              <a:t>القطاع الحكومي  ·  القطاع الخاص  ·  الجامعات  ·  مراكز الأبحاث</a:t>
            </a:r>
          </a:p>
        </p:txBody>
      </p:sp>
      <p:sp>
        <p:nvSpPr>
          <p:cNvPr id="1354" name="stat-lbl"/>
          <p:cNvSpPr txBox="1"/>
          <p:nvPr/>
        </p:nvSpPr>
        <p:spPr>
          <a:xfrm>
            <a:off x="301752" y="1097280"/>
            <a:ext cx="2715768" cy="128016"/>
          </a:xfrm>
          <a:prstGeom prst="rect">
            <a:avLst/>
          </a:prstGeom>
          <a:noFill/>
        </p:spPr>
        <p:txBody>
          <a:bodyPr wrap="square" lIns="0" tIns="0" rIns="0" bIns="0" anchor="t"/>
          <a:lstStyle/>
          <a:p>
            <a:pPr algn="r" rtl="1">
              <a:spcAft>
                <a:spcPts val="0"/>
              </a:spcAft>
            </a:pPr>
            <a:r>
              <a:rPr lang="ar-SA" sz="500" b="0" dirty="0">
                <a:solidFill>
                  <a:srgbClr val="00ABAF"/>
                </a:solidFill>
                <a:latin typeface="DiodrumArabic-Medium"/>
                <a:ea typeface="DiodrumArabic-Medium"/>
                <a:cs typeface="DiodrumArabic-Medium"/>
              </a:rPr>
              <a:t>أرقام مستهدفة</a:t>
            </a:r>
          </a:p>
        </p:txBody>
      </p:sp>
      <p:sp>
        <p:nvSpPr>
          <p:cNvPr id="1355" name="stat1"/>
          <p:cNvSpPr txBox="1"/>
          <p:nvPr/>
        </p:nvSpPr>
        <p:spPr>
          <a:xfrm>
            <a:off x="301752" y="1271016"/>
            <a:ext cx="2715768" cy="502920"/>
          </a:xfrm>
          <a:prstGeom prst="rect">
            <a:avLst/>
          </a:prstGeom>
          <a:noFill/>
        </p:spPr>
        <p:txBody>
          <a:bodyPr wrap="square" lIns="0" tIns="0" rIns="0" bIns="0" anchor="t"/>
          <a:lstStyle/>
          <a:p>
            <a:pPr algn="r">
              <a:spcAft>
                <a:spcPts val="0"/>
              </a:spcAft>
            </a:pPr>
            <a:r>
              <a:rPr lang="en-US" sz="2600" b="0" dirty="0">
                <a:solidFill>
                  <a:srgbClr val="753BBD"/>
                </a:solidFill>
                <a:latin typeface="DiodrumArabic-Bold"/>
                <a:ea typeface="DiodrumArabic-Bold"/>
                <a:cs typeface="DiodrumArabic-Bold"/>
              </a:rPr>
              <a:t>100-150</a:t>
            </a:r>
          </a:p>
        </p:txBody>
      </p:sp>
      <p:sp>
        <p:nvSpPr>
          <p:cNvPr id="1356" name="stat1-l"/>
          <p:cNvSpPr txBox="1"/>
          <p:nvPr/>
        </p:nvSpPr>
        <p:spPr>
          <a:xfrm>
            <a:off x="301752" y="1737360"/>
            <a:ext cx="2715768" cy="146304"/>
          </a:xfrm>
          <a:prstGeom prst="rect">
            <a:avLst/>
          </a:prstGeom>
          <a:noFill/>
        </p:spPr>
        <p:txBody>
          <a:bodyPr wrap="square" lIns="0" tIns="0" rIns="0" bIns="0" anchor="t"/>
          <a:lstStyle/>
          <a:p>
            <a:pPr algn="r" rtl="1">
              <a:spcAft>
                <a:spcPts val="0"/>
              </a:spcAft>
            </a:pPr>
            <a:r>
              <a:rPr lang="ar-SA" sz="560" b="0" dirty="0">
                <a:solidFill>
                  <a:srgbClr val="5D6167"/>
                </a:solidFill>
                <a:latin typeface="DiodrumArabic-Medium"/>
                <a:ea typeface="DiodrumArabic-Medium"/>
                <a:cs typeface="DiodrumArabic-Medium"/>
              </a:rPr>
              <a:t>مشاركًا متوقعًا</a:t>
            </a:r>
          </a:p>
        </p:txBody>
      </p:sp>
      <p:sp>
        <p:nvSpPr>
          <p:cNvPr id="1357" name="stat2"/>
          <p:cNvSpPr txBox="1"/>
          <p:nvPr/>
        </p:nvSpPr>
        <p:spPr>
          <a:xfrm>
            <a:off x="301752" y="2103120"/>
            <a:ext cx="2715768" cy="502920"/>
          </a:xfrm>
          <a:prstGeom prst="rect">
            <a:avLst/>
          </a:prstGeom>
          <a:noFill/>
        </p:spPr>
        <p:txBody>
          <a:bodyPr wrap="square" lIns="0" tIns="0" rIns="0" bIns="0" anchor="t"/>
          <a:lstStyle/>
          <a:p>
            <a:pPr algn="r">
              <a:spcAft>
                <a:spcPts val="0"/>
              </a:spcAft>
            </a:pPr>
            <a:r>
              <a:rPr lang="en-US" sz="2600" b="0" dirty="0">
                <a:solidFill>
                  <a:srgbClr val="1CC182"/>
                </a:solidFill>
                <a:latin typeface="DiodrumArabic-Bold"/>
                <a:ea typeface="DiodrumArabic-Bold"/>
                <a:cs typeface="DiodrumArabic-Bold"/>
              </a:rPr>
              <a:t>+50</a:t>
            </a:r>
          </a:p>
        </p:txBody>
      </p:sp>
      <p:sp>
        <p:nvSpPr>
          <p:cNvPr id="1358" name="stat2-l"/>
          <p:cNvSpPr txBox="1"/>
          <p:nvPr/>
        </p:nvSpPr>
        <p:spPr>
          <a:xfrm>
            <a:off x="301752" y="2569464"/>
            <a:ext cx="2715768" cy="146304"/>
          </a:xfrm>
          <a:prstGeom prst="rect">
            <a:avLst/>
          </a:prstGeom>
          <a:noFill/>
        </p:spPr>
        <p:txBody>
          <a:bodyPr wrap="square" lIns="0" tIns="0" rIns="0" bIns="0" anchor="t"/>
          <a:lstStyle/>
          <a:p>
            <a:pPr algn="r" rtl="1">
              <a:spcAft>
                <a:spcPts val="0"/>
              </a:spcAft>
            </a:pPr>
            <a:r>
              <a:rPr lang="ar-SA" sz="560" b="0" dirty="0">
                <a:solidFill>
                  <a:srgbClr val="5D6167"/>
                </a:solidFill>
                <a:latin typeface="DiodrumArabic-Medium"/>
                <a:ea typeface="DiodrumArabic-Medium"/>
                <a:cs typeface="DiodrumArabic-Medium"/>
              </a:rPr>
              <a:t>جهة حكومية مستهدفة</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360"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تجربة تجمع المعرفة والنقاش والتطبيق</a:t>
            </a:r>
          </a:p>
        </p:txBody>
      </p:sp>
      <p:sp>
        <p:nvSpPr>
          <p:cNvPr id="1361"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362" name="ez0"/>
          <p:cNvSpPr/>
          <p:nvPr/>
        </p:nvSpPr>
        <p:spPr>
          <a:xfrm>
            <a:off x="5061204" y="1417320"/>
            <a:ext cx="1495044" cy="1554480"/>
          </a:xfrm>
          <a:prstGeom prst="roundRect">
            <a:avLst>
              <a:gd name="adj" fmla="val 3058"/>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63" name="ez0-title"/>
          <p:cNvSpPr txBox="1"/>
          <p:nvPr/>
        </p:nvSpPr>
        <p:spPr>
          <a:xfrm>
            <a:off x="5180076" y="1581912"/>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FFFFFF"/>
                </a:solidFill>
                <a:latin typeface="DiodrumArabic-Bold"/>
                <a:ea typeface="DiodrumArabic-Bold"/>
                <a:cs typeface="DiodrumArabic-Bold"/>
              </a:rPr>
              <a:t>المسرح الرئيسي</a:t>
            </a:r>
          </a:p>
        </p:txBody>
      </p:sp>
      <p:sp>
        <p:nvSpPr>
          <p:cNvPr id="1364" name="ez0-body"/>
          <p:cNvSpPr txBox="1"/>
          <p:nvPr/>
        </p:nvSpPr>
        <p:spPr>
          <a:xfrm>
            <a:off x="5180076" y="1719072"/>
            <a:ext cx="1257300" cy="1133856"/>
          </a:xfrm>
          <a:prstGeom prst="rect">
            <a:avLst/>
          </a:prstGeom>
          <a:noFill/>
        </p:spPr>
        <p:txBody>
          <a:bodyPr wrap="square" lIns="0" tIns="0" rIns="0" bIns="0" anchor="t"/>
          <a:lstStyle/>
          <a:p>
            <a:pPr algn="r" rtl="1">
              <a:lnSpc>
                <a:spcPct val="125000"/>
              </a:lnSpc>
              <a:spcAft>
                <a:spcPts val="0"/>
              </a:spcAft>
            </a:pPr>
            <a:r>
              <a:rPr lang="ar-SA" sz="490" b="0" dirty="0">
                <a:solidFill>
                  <a:srgbClr val="EDE7FA"/>
                </a:solidFill>
                <a:latin typeface="DiodrumArabic-Medium"/>
                <a:ea typeface="DiodrumArabic-Medium"/>
                <a:cs typeface="DiodrumArabic-Medium"/>
              </a:rPr>
              <a:t>كلمات وجلسات حوارية حول البحث والحكومة الرقمية، وانتقال البحث من الورق إلى التطبيق، والتقنيات المستقبلية، والذكاء الاصطناعي، والتحديات الوطنية.</a:t>
            </a:r>
          </a:p>
        </p:txBody>
      </p:sp>
      <p:sp>
        <p:nvSpPr>
          <p:cNvPr id="1365" name="ez1"/>
          <p:cNvSpPr/>
          <p:nvPr/>
        </p:nvSpPr>
        <p:spPr>
          <a:xfrm>
            <a:off x="3474720" y="1417320"/>
            <a:ext cx="1495044" cy="1554480"/>
          </a:xfrm>
          <a:prstGeom prst="roundRect">
            <a:avLst>
              <a:gd name="adj" fmla="val 3058"/>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66" name="ez1-bar"/>
          <p:cNvSpPr/>
          <p:nvPr/>
        </p:nvSpPr>
        <p:spPr>
          <a:xfrm>
            <a:off x="3547872"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67" name="ez1-title"/>
          <p:cNvSpPr txBox="1"/>
          <p:nvPr/>
        </p:nvSpPr>
        <p:spPr>
          <a:xfrm>
            <a:off x="3593592" y="202082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 العمل</a:t>
            </a:r>
          </a:p>
        </p:txBody>
      </p:sp>
      <p:sp>
        <p:nvSpPr>
          <p:cNvPr id="1368" name="ez1-body"/>
          <p:cNvSpPr txBox="1"/>
          <p:nvPr/>
        </p:nvSpPr>
        <p:spPr>
          <a:xfrm>
            <a:off x="3593592" y="2157984"/>
            <a:ext cx="1257300" cy="694944"/>
          </a:xfrm>
          <a:prstGeom prst="rect">
            <a:avLst/>
          </a:prstGeom>
          <a:noFill/>
        </p:spPr>
        <p:txBody>
          <a:bodyPr wrap="square" lIns="0" tIns="0" rIns="0" bIns="0" anchor="t"/>
          <a:lstStyle/>
          <a:p>
            <a:pPr algn="r" rtl="1">
              <a:lnSpc>
                <a:spcPct val="125000"/>
              </a:lnSpc>
              <a:spcAft>
                <a:spcPts val="0"/>
              </a:spcAft>
            </a:pPr>
            <a:r>
              <a:rPr lang="ar-SA" sz="490" b="0" dirty="0">
                <a:solidFill>
                  <a:srgbClr val="5D6167"/>
                </a:solidFill>
                <a:latin typeface="DiodrumArabic-Medium"/>
                <a:ea typeface="DiodrumArabic-Medium"/>
                <a:cs typeface="DiodrumArabic-Medium"/>
              </a:rPr>
              <a:t>ورش قصيرة ومتخصصة في موضوعات بحثية وتقنية مختارة.</a:t>
            </a:r>
          </a:p>
        </p:txBody>
      </p:sp>
      <p:sp>
        <p:nvSpPr>
          <p:cNvPr id="1369" name="ez2"/>
          <p:cNvSpPr/>
          <p:nvPr/>
        </p:nvSpPr>
        <p:spPr>
          <a:xfrm>
            <a:off x="1888236" y="1417320"/>
            <a:ext cx="1495044" cy="1554480"/>
          </a:xfrm>
          <a:prstGeom prst="roundRect">
            <a:avLst>
              <a:gd name="adj" fmla="val 3058"/>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70" name="ez2-bar"/>
          <p:cNvSpPr/>
          <p:nvPr/>
        </p:nvSpPr>
        <p:spPr>
          <a:xfrm>
            <a:off x="1961388"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71" name="ez2-title"/>
          <p:cNvSpPr txBox="1"/>
          <p:nvPr/>
        </p:nvSpPr>
        <p:spPr>
          <a:xfrm>
            <a:off x="2007108" y="202082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المعرض</a:t>
            </a:r>
          </a:p>
        </p:txBody>
      </p:sp>
      <p:sp>
        <p:nvSpPr>
          <p:cNvPr id="1372" name="ez2-body"/>
          <p:cNvSpPr txBox="1"/>
          <p:nvPr/>
        </p:nvSpPr>
        <p:spPr>
          <a:xfrm>
            <a:off x="2007108" y="2157984"/>
            <a:ext cx="1257300" cy="694944"/>
          </a:xfrm>
          <a:prstGeom prst="rect">
            <a:avLst/>
          </a:prstGeom>
          <a:noFill/>
        </p:spPr>
        <p:txBody>
          <a:bodyPr wrap="square" lIns="0" tIns="0" rIns="0" bIns="0" anchor="t"/>
          <a:lstStyle/>
          <a:p>
            <a:pPr algn="r" rtl="1">
              <a:lnSpc>
                <a:spcPct val="125000"/>
              </a:lnSpc>
              <a:spcAft>
                <a:spcPts val="0"/>
              </a:spcAft>
            </a:pPr>
            <a:r>
              <a:rPr lang="ar-SA" sz="490" b="0" dirty="0">
                <a:solidFill>
                  <a:srgbClr val="5D6167"/>
                </a:solidFill>
                <a:latin typeface="DiodrumArabic-Medium"/>
                <a:ea typeface="DiodrumArabic-Medium"/>
                <a:cs typeface="DiodrumArabic-Medium"/>
              </a:rPr>
              <a:t>عرض أبحاث ومنتجات وحلول من الجامعات والقطاع الخاص والجهات المشاركة.</a:t>
            </a:r>
          </a:p>
        </p:txBody>
      </p:sp>
      <p:sp>
        <p:nvSpPr>
          <p:cNvPr id="1373" name="ez3"/>
          <p:cNvSpPr/>
          <p:nvPr/>
        </p:nvSpPr>
        <p:spPr>
          <a:xfrm>
            <a:off x="301752" y="1417320"/>
            <a:ext cx="1495044" cy="1554480"/>
          </a:xfrm>
          <a:prstGeom prst="roundRect">
            <a:avLst>
              <a:gd name="adj" fmla="val 3058"/>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74" name="ez3-bar"/>
          <p:cNvSpPr/>
          <p:nvPr/>
        </p:nvSpPr>
        <p:spPr>
          <a:xfrm>
            <a:off x="374904"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75" name="ez3-title"/>
          <p:cNvSpPr txBox="1"/>
          <p:nvPr/>
        </p:nvSpPr>
        <p:spPr>
          <a:xfrm>
            <a:off x="420624" y="202082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المساحات الإضافية</a:t>
            </a:r>
          </a:p>
        </p:txBody>
      </p:sp>
      <p:sp>
        <p:nvSpPr>
          <p:cNvPr id="1376" name="ez3-body"/>
          <p:cNvSpPr txBox="1"/>
          <p:nvPr/>
        </p:nvSpPr>
        <p:spPr>
          <a:xfrm>
            <a:off x="420624" y="2157984"/>
            <a:ext cx="1257300" cy="694944"/>
          </a:xfrm>
          <a:prstGeom prst="rect">
            <a:avLst/>
          </a:prstGeom>
          <a:noFill/>
        </p:spPr>
        <p:txBody>
          <a:bodyPr wrap="square" lIns="0" tIns="0" rIns="0" bIns="0" anchor="t"/>
          <a:lstStyle/>
          <a:p>
            <a:pPr algn="r" rtl="1">
              <a:lnSpc>
                <a:spcPct val="125000"/>
              </a:lnSpc>
              <a:spcAft>
                <a:spcPts val="0"/>
              </a:spcAft>
            </a:pPr>
            <a:r>
              <a:rPr lang="ar-SA" sz="490" b="0" dirty="0">
                <a:solidFill>
                  <a:srgbClr val="5D6167"/>
                </a:solidFill>
                <a:latin typeface="DiodrumArabic-Medium"/>
                <a:ea typeface="DiodrumArabic-Medium"/>
                <a:cs typeface="DiodrumArabic-Medium"/>
              </a:rPr>
              <a:t>جلسات استشارية، وفرص بحث تعاوني، وعروض حية، ومختبرات وتقنيات ناشئة.</a:t>
            </a:r>
          </a:p>
        </p:txBody>
      </p:sp>
      <p:sp>
        <p:nvSpPr>
          <p:cNvPr id="1377" name="cb"/>
          <p:cNvSpPr/>
          <p:nvPr/>
        </p:nvSpPr>
        <p:spPr>
          <a:xfrm>
            <a:off x="301752" y="3136392"/>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78" name="cb-t"/>
          <p:cNvSpPr txBox="1"/>
          <p:nvPr/>
        </p:nvSpPr>
        <p:spPr>
          <a:xfrm>
            <a:off x="484632" y="3136392"/>
            <a:ext cx="5888736" cy="292608"/>
          </a:xfrm>
          <a:prstGeom prst="rect">
            <a:avLst/>
          </a:prstGeom>
          <a:noFill/>
        </p:spPr>
        <p:txBody>
          <a:bodyPr wrap="square" lIns="0" tIns="0" rIns="0" bIns="0" anchor="ctr"/>
          <a:lstStyle/>
          <a:p>
            <a:pPr algn="ctr" rtl="1">
              <a:spcAft>
                <a:spcPts val="0"/>
              </a:spcAft>
            </a:pPr>
            <a:r>
              <a:rPr lang="ar-SA" sz="540" b="0" dirty="0">
                <a:solidFill>
                  <a:srgbClr val="FFFFFF"/>
                </a:solidFill>
                <a:latin typeface="DiodrumArabic-Semibold"/>
                <a:ea typeface="DiodrumArabic-Semibold"/>
                <a:cs typeface="DiodrumArabic-Semibold"/>
              </a:rPr>
              <a:t>من المسرح الرئيسي إلى المساحات المصاحبة، تُصمَّم التجربة لتكون امتدادًا عمليًا للنقاش والتطبيق.</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9"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380"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يوم واحد… رحلة معرفية متكاملة</a:t>
            </a:r>
          </a:p>
        </p:txBody>
      </p:sp>
      <p:sp>
        <p:nvSpPr>
          <p:cNvPr id="1381"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cxnSp>
        <p:nvCxnSpPr>
          <p:cNvPr id="1382" name="r-rail"/>
          <p:cNvCxnSpPr/>
          <p:nvPr/>
        </p:nvCxnSpPr>
        <p:spPr>
          <a:xfrm flipV="0">
            <a:off x="6007608" y="1302334"/>
            <a:ext cx="914" cy="1947672"/>
          </a:xfrm>
          <a:prstGeom prst="line">
            <a:avLst/>
          </a:prstGeom>
          <a:ln w="9525">
            <a:solidFill>
              <a:srgbClr val="E0E0E2"/>
            </a:solidFill>
          </a:ln>
        </p:spPr>
      </p:cxnSp>
      <p:sp>
        <p:nvSpPr>
          <p:cNvPr id="1383" name="r0-dot"/>
          <p:cNvSpPr/>
          <p:nvPr/>
        </p:nvSpPr>
        <p:spPr>
          <a:xfrm>
            <a:off x="5978347" y="127307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84" name="r0-time"/>
          <p:cNvSpPr txBox="1"/>
          <p:nvPr/>
        </p:nvSpPr>
        <p:spPr>
          <a:xfrm>
            <a:off x="6062472" y="118872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9:30</a:t>
            </a:r>
          </a:p>
        </p:txBody>
      </p:sp>
      <p:sp>
        <p:nvSpPr>
          <p:cNvPr id="1385" name="r0-title"/>
          <p:cNvSpPr txBox="1"/>
          <p:nvPr/>
        </p:nvSpPr>
        <p:spPr>
          <a:xfrm>
            <a:off x="3566160" y="118872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الاستقبال</a:t>
            </a:r>
          </a:p>
        </p:txBody>
      </p:sp>
      <p:sp>
        <p:nvSpPr>
          <p:cNvPr id="1386" name="r1-dot"/>
          <p:cNvSpPr/>
          <p:nvPr/>
        </p:nvSpPr>
        <p:spPr>
          <a:xfrm>
            <a:off x="5978347" y="159768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87" name="r1-time"/>
          <p:cNvSpPr txBox="1"/>
          <p:nvPr/>
        </p:nvSpPr>
        <p:spPr>
          <a:xfrm>
            <a:off x="6062472" y="151333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10:10</a:t>
            </a:r>
          </a:p>
        </p:txBody>
      </p:sp>
      <p:sp>
        <p:nvSpPr>
          <p:cNvPr id="1388" name="r1-title"/>
          <p:cNvSpPr txBox="1"/>
          <p:nvPr/>
        </p:nvSpPr>
        <p:spPr>
          <a:xfrm>
            <a:off x="3566160" y="151333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الكلمة الافتتاحية</a:t>
            </a:r>
          </a:p>
        </p:txBody>
      </p:sp>
      <p:sp>
        <p:nvSpPr>
          <p:cNvPr id="1389" name="r2-dot"/>
          <p:cNvSpPr/>
          <p:nvPr/>
        </p:nvSpPr>
        <p:spPr>
          <a:xfrm>
            <a:off x="5978347" y="1922297"/>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90" name="r2-time"/>
          <p:cNvSpPr txBox="1"/>
          <p:nvPr/>
        </p:nvSpPr>
        <p:spPr>
          <a:xfrm>
            <a:off x="6062472" y="1837944"/>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10:20</a:t>
            </a:r>
          </a:p>
        </p:txBody>
      </p:sp>
      <p:sp>
        <p:nvSpPr>
          <p:cNvPr id="1391" name="r2-title"/>
          <p:cNvSpPr txBox="1"/>
          <p:nvPr/>
        </p:nvSpPr>
        <p:spPr>
          <a:xfrm>
            <a:off x="3566160" y="1837944"/>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كلمة رئيسية: البحث والحكومة الرقمية</a:t>
            </a:r>
          </a:p>
        </p:txBody>
      </p:sp>
      <p:sp>
        <p:nvSpPr>
          <p:cNvPr id="1392" name="r3-dot"/>
          <p:cNvSpPr/>
          <p:nvPr/>
        </p:nvSpPr>
        <p:spPr>
          <a:xfrm>
            <a:off x="5978347" y="2246909"/>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93" name="r3-time"/>
          <p:cNvSpPr txBox="1"/>
          <p:nvPr/>
        </p:nvSpPr>
        <p:spPr>
          <a:xfrm>
            <a:off x="6062472" y="2162556"/>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10:45</a:t>
            </a:r>
          </a:p>
        </p:txBody>
      </p:sp>
      <p:sp>
        <p:nvSpPr>
          <p:cNvPr id="1394" name="r3-title"/>
          <p:cNvSpPr txBox="1"/>
          <p:nvPr/>
        </p:nvSpPr>
        <p:spPr>
          <a:xfrm>
            <a:off x="3566160" y="2162556"/>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حوارية: نقل البحث من الورق إلى التطبيق</a:t>
            </a:r>
          </a:p>
        </p:txBody>
      </p:sp>
      <p:sp>
        <p:nvSpPr>
          <p:cNvPr id="1395" name="r4-dot"/>
          <p:cNvSpPr/>
          <p:nvPr/>
        </p:nvSpPr>
        <p:spPr>
          <a:xfrm>
            <a:off x="5978347" y="2571521"/>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96" name="r4-time"/>
          <p:cNvSpPr txBox="1"/>
          <p:nvPr/>
        </p:nvSpPr>
        <p:spPr>
          <a:xfrm>
            <a:off x="6062472" y="2487168"/>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11:40</a:t>
            </a:r>
          </a:p>
        </p:txBody>
      </p:sp>
      <p:sp>
        <p:nvSpPr>
          <p:cNvPr id="1397" name="r4-title"/>
          <p:cNvSpPr txBox="1"/>
          <p:nvPr/>
        </p:nvSpPr>
        <p:spPr>
          <a:xfrm>
            <a:off x="3566160" y="2487168"/>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التقنيات في طور الفرضيات</a:t>
            </a:r>
          </a:p>
        </p:txBody>
      </p:sp>
      <p:sp>
        <p:nvSpPr>
          <p:cNvPr id="1398" name="r5-dot"/>
          <p:cNvSpPr/>
          <p:nvPr/>
        </p:nvSpPr>
        <p:spPr>
          <a:xfrm>
            <a:off x="5978347" y="289613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399" name="r5-time"/>
          <p:cNvSpPr txBox="1"/>
          <p:nvPr/>
        </p:nvSpPr>
        <p:spPr>
          <a:xfrm>
            <a:off x="6062472" y="281178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12:00</a:t>
            </a:r>
          </a:p>
        </p:txBody>
      </p:sp>
      <p:sp>
        <p:nvSpPr>
          <p:cNvPr id="1400" name="r5-title"/>
          <p:cNvSpPr txBox="1"/>
          <p:nvPr/>
        </p:nvSpPr>
        <p:spPr>
          <a:xfrm>
            <a:off x="3566160" y="281178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استراحة وجولات تعريفية</a:t>
            </a:r>
          </a:p>
        </p:txBody>
      </p:sp>
      <p:sp>
        <p:nvSpPr>
          <p:cNvPr id="1401" name="r6-dot"/>
          <p:cNvSpPr/>
          <p:nvPr/>
        </p:nvSpPr>
        <p:spPr>
          <a:xfrm>
            <a:off x="5978347" y="322074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02" name="r6-time"/>
          <p:cNvSpPr txBox="1"/>
          <p:nvPr/>
        </p:nvSpPr>
        <p:spPr>
          <a:xfrm>
            <a:off x="6062472" y="313639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12:30</a:t>
            </a:r>
          </a:p>
        </p:txBody>
      </p:sp>
      <p:sp>
        <p:nvSpPr>
          <p:cNvPr id="1403" name="r6-title"/>
          <p:cNvSpPr txBox="1"/>
          <p:nvPr/>
        </p:nvSpPr>
        <p:spPr>
          <a:xfrm>
            <a:off x="3566160" y="313639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الحوسبة الكمية ومستقبل التحول الرقمي</a:t>
            </a:r>
          </a:p>
        </p:txBody>
      </p:sp>
      <p:cxnSp>
        <p:nvCxnSpPr>
          <p:cNvPr id="1404" name="l-rail"/>
          <p:cNvCxnSpPr/>
          <p:nvPr/>
        </p:nvCxnSpPr>
        <p:spPr>
          <a:xfrm flipV="0">
            <a:off x="2743200" y="1302334"/>
            <a:ext cx="914" cy="1947672"/>
          </a:xfrm>
          <a:prstGeom prst="line">
            <a:avLst/>
          </a:prstGeom>
          <a:ln w="9525">
            <a:solidFill>
              <a:srgbClr val="E0E0E2"/>
            </a:solidFill>
          </a:ln>
        </p:spPr>
      </p:cxnSp>
      <p:sp>
        <p:nvSpPr>
          <p:cNvPr id="1405" name="l0-dot"/>
          <p:cNvSpPr/>
          <p:nvPr/>
        </p:nvSpPr>
        <p:spPr>
          <a:xfrm>
            <a:off x="2713939" y="1273073"/>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06" name="l0-time"/>
          <p:cNvSpPr txBox="1"/>
          <p:nvPr/>
        </p:nvSpPr>
        <p:spPr>
          <a:xfrm>
            <a:off x="2798064" y="1188720"/>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1:00</a:t>
            </a:r>
          </a:p>
        </p:txBody>
      </p:sp>
      <p:sp>
        <p:nvSpPr>
          <p:cNvPr id="1407" name="l0-title"/>
          <p:cNvSpPr txBox="1"/>
          <p:nvPr/>
        </p:nvSpPr>
        <p:spPr>
          <a:xfrm>
            <a:off x="301752" y="118872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حوارية: نقل البحث من الورق إلى التطبيق</a:t>
            </a:r>
          </a:p>
        </p:txBody>
      </p:sp>
      <p:sp>
        <p:nvSpPr>
          <p:cNvPr id="1408" name="l1-dot"/>
          <p:cNvSpPr/>
          <p:nvPr/>
        </p:nvSpPr>
        <p:spPr>
          <a:xfrm>
            <a:off x="2713939" y="159768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09" name="l1-time"/>
          <p:cNvSpPr txBox="1"/>
          <p:nvPr/>
        </p:nvSpPr>
        <p:spPr>
          <a:xfrm>
            <a:off x="2798064" y="151333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1:45</a:t>
            </a:r>
          </a:p>
        </p:txBody>
      </p:sp>
      <p:sp>
        <p:nvSpPr>
          <p:cNvPr id="1410" name="l1-title"/>
          <p:cNvSpPr txBox="1"/>
          <p:nvPr/>
        </p:nvSpPr>
        <p:spPr>
          <a:xfrm>
            <a:off x="301752" y="151333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البحث العلمي في عصر الذكاء الاصطناعي</a:t>
            </a:r>
          </a:p>
        </p:txBody>
      </p:sp>
      <p:sp>
        <p:nvSpPr>
          <p:cNvPr id="1411" name="l2-dot"/>
          <p:cNvSpPr/>
          <p:nvPr/>
        </p:nvSpPr>
        <p:spPr>
          <a:xfrm>
            <a:off x="2713939" y="1922297"/>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12" name="l2-time"/>
          <p:cNvSpPr txBox="1"/>
          <p:nvPr/>
        </p:nvSpPr>
        <p:spPr>
          <a:xfrm>
            <a:off x="2798064" y="1837944"/>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2:15</a:t>
            </a:r>
          </a:p>
        </p:txBody>
      </p:sp>
      <p:sp>
        <p:nvSpPr>
          <p:cNvPr id="1413" name="l2-title"/>
          <p:cNvSpPr txBox="1"/>
          <p:nvPr/>
        </p:nvSpPr>
        <p:spPr>
          <a:xfrm>
            <a:off x="301752" y="1837944"/>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قصة نجاح: فكرة بحثية ذات أثر اقتصادي</a:t>
            </a:r>
          </a:p>
        </p:txBody>
      </p:sp>
      <p:sp>
        <p:nvSpPr>
          <p:cNvPr id="1414" name="l3-dot"/>
          <p:cNvSpPr/>
          <p:nvPr/>
        </p:nvSpPr>
        <p:spPr>
          <a:xfrm>
            <a:off x="2713939" y="2246909"/>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15" name="l3-time"/>
          <p:cNvSpPr txBox="1"/>
          <p:nvPr/>
        </p:nvSpPr>
        <p:spPr>
          <a:xfrm>
            <a:off x="2798064" y="2162556"/>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2:45</a:t>
            </a:r>
          </a:p>
        </p:txBody>
      </p:sp>
      <p:sp>
        <p:nvSpPr>
          <p:cNvPr id="1416" name="l3-title"/>
          <p:cNvSpPr txBox="1"/>
          <p:nvPr/>
        </p:nvSpPr>
        <p:spPr>
          <a:xfrm>
            <a:off x="301752" y="2162556"/>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تحديات وطنية تبحث عن باحثين</a:t>
            </a:r>
          </a:p>
        </p:txBody>
      </p:sp>
      <p:sp>
        <p:nvSpPr>
          <p:cNvPr id="1417" name="l4-dot"/>
          <p:cNvSpPr/>
          <p:nvPr/>
        </p:nvSpPr>
        <p:spPr>
          <a:xfrm>
            <a:off x="2713939" y="2571521"/>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18" name="l4-time"/>
          <p:cNvSpPr txBox="1"/>
          <p:nvPr/>
        </p:nvSpPr>
        <p:spPr>
          <a:xfrm>
            <a:off x="2798064" y="2487168"/>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3:10</a:t>
            </a:r>
          </a:p>
        </p:txBody>
      </p:sp>
      <p:sp>
        <p:nvSpPr>
          <p:cNvPr id="1419" name="l4-title"/>
          <p:cNvSpPr txBox="1"/>
          <p:nvPr/>
        </p:nvSpPr>
        <p:spPr>
          <a:xfrm>
            <a:off x="301752" y="2487168"/>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توقيع الاتفاقيات</a:t>
            </a:r>
          </a:p>
        </p:txBody>
      </p:sp>
      <p:sp>
        <p:nvSpPr>
          <p:cNvPr id="1420" name="l5-dot"/>
          <p:cNvSpPr/>
          <p:nvPr/>
        </p:nvSpPr>
        <p:spPr>
          <a:xfrm>
            <a:off x="2713939" y="289613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21" name="l5-time"/>
          <p:cNvSpPr txBox="1"/>
          <p:nvPr/>
        </p:nvSpPr>
        <p:spPr>
          <a:xfrm>
            <a:off x="2798064" y="281178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3:30</a:t>
            </a:r>
          </a:p>
        </p:txBody>
      </p:sp>
      <p:sp>
        <p:nvSpPr>
          <p:cNvPr id="1422" name="l5-title"/>
          <p:cNvSpPr txBox="1"/>
          <p:nvPr/>
        </p:nvSpPr>
        <p:spPr>
          <a:xfrm>
            <a:off x="301752" y="281178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التكريم</a:t>
            </a:r>
          </a:p>
        </p:txBody>
      </p:sp>
      <p:sp>
        <p:nvSpPr>
          <p:cNvPr id="1423" name="l6-dot"/>
          <p:cNvSpPr/>
          <p:nvPr/>
        </p:nvSpPr>
        <p:spPr>
          <a:xfrm>
            <a:off x="2713939" y="322074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24" name="l6-time"/>
          <p:cNvSpPr txBox="1"/>
          <p:nvPr/>
        </p:nvSpPr>
        <p:spPr>
          <a:xfrm>
            <a:off x="2798064" y="313639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4:00</a:t>
            </a:r>
          </a:p>
        </p:txBody>
      </p:sp>
      <p:sp>
        <p:nvSpPr>
          <p:cNvPr id="1425" name="l6-title"/>
          <p:cNvSpPr txBox="1"/>
          <p:nvPr/>
        </p:nvSpPr>
        <p:spPr>
          <a:xfrm>
            <a:off x="301752" y="313639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الختام</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427"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80" b="0" dirty="0">
                <a:solidFill>
                  <a:srgbClr val="24135F"/>
                </a:solidFill>
                <a:latin typeface="DiodrumArabic-Bold"/>
                <a:ea typeface="DiodrumArabic-Bold"/>
                <a:cs typeface="DiodrumArabic-Bold"/>
              </a:rPr>
              <a:t>تجربة لا تقتصر على المسرح الرئيسي</a:t>
            </a:r>
          </a:p>
        </p:txBody>
      </p:sp>
      <p:sp>
        <p:nvSpPr>
          <p:cNvPr id="1428"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429" name="ss0"/>
          <p:cNvSpPr/>
          <p:nvPr/>
        </p:nvSpPr>
        <p:spPr>
          <a:xfrm>
            <a:off x="5061204" y="1417320"/>
            <a:ext cx="1495044" cy="1371600"/>
          </a:xfrm>
          <a:prstGeom prst="roundRect">
            <a:avLst>
              <a:gd name="adj" fmla="val 346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0" name="ss0-bar"/>
          <p:cNvSpPr/>
          <p:nvPr/>
        </p:nvSpPr>
        <p:spPr>
          <a:xfrm>
            <a:off x="5134356"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1" name="ss0-title"/>
          <p:cNvSpPr txBox="1"/>
          <p:nvPr/>
        </p:nvSpPr>
        <p:spPr>
          <a:xfrm>
            <a:off x="5180076" y="193852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 العمل</a:t>
            </a:r>
          </a:p>
        </p:txBody>
      </p:sp>
      <p:sp>
        <p:nvSpPr>
          <p:cNvPr id="1432" name="ss0-body"/>
          <p:cNvSpPr txBox="1"/>
          <p:nvPr/>
        </p:nvSpPr>
        <p:spPr>
          <a:xfrm>
            <a:off x="5180076" y="2075688"/>
            <a:ext cx="1257300" cy="594360"/>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سلسلة ورش متخصصة تعمل بالتوازي مع البرنامج الرئيسي.</a:t>
            </a:r>
          </a:p>
        </p:txBody>
      </p:sp>
      <p:sp>
        <p:nvSpPr>
          <p:cNvPr id="1433" name="ss1"/>
          <p:cNvSpPr/>
          <p:nvPr/>
        </p:nvSpPr>
        <p:spPr>
          <a:xfrm>
            <a:off x="3474720" y="1417320"/>
            <a:ext cx="1495044" cy="1371600"/>
          </a:xfrm>
          <a:prstGeom prst="roundRect">
            <a:avLst>
              <a:gd name="adj" fmla="val 346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4" name="ss1-bar"/>
          <p:cNvSpPr/>
          <p:nvPr/>
        </p:nvSpPr>
        <p:spPr>
          <a:xfrm>
            <a:off x="3547872"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5" name="ss1-title"/>
          <p:cNvSpPr txBox="1"/>
          <p:nvPr/>
        </p:nvSpPr>
        <p:spPr>
          <a:xfrm>
            <a:off x="3593592" y="193852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معرض الأبحاث</a:t>
            </a:r>
          </a:p>
        </p:txBody>
      </p:sp>
      <p:sp>
        <p:nvSpPr>
          <p:cNvPr id="1436" name="ss1-body"/>
          <p:cNvSpPr txBox="1"/>
          <p:nvPr/>
        </p:nvSpPr>
        <p:spPr>
          <a:xfrm>
            <a:off x="3593592" y="2075688"/>
            <a:ext cx="1257300" cy="594360"/>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عرض أبرز الأبحاث والحلول من الجامعات والقطاع الخاص.</a:t>
            </a:r>
          </a:p>
        </p:txBody>
      </p:sp>
      <p:sp>
        <p:nvSpPr>
          <p:cNvPr id="1437" name="ss2"/>
          <p:cNvSpPr/>
          <p:nvPr/>
        </p:nvSpPr>
        <p:spPr>
          <a:xfrm>
            <a:off x="1888236" y="1417320"/>
            <a:ext cx="1495044" cy="1371600"/>
          </a:xfrm>
          <a:prstGeom prst="roundRect">
            <a:avLst>
              <a:gd name="adj" fmla="val 346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8" name="ss2-bar"/>
          <p:cNvSpPr/>
          <p:nvPr/>
        </p:nvSpPr>
        <p:spPr>
          <a:xfrm>
            <a:off x="1961388"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39" name="ss2-title"/>
          <p:cNvSpPr txBox="1"/>
          <p:nvPr/>
        </p:nvSpPr>
        <p:spPr>
          <a:xfrm>
            <a:off x="2007108" y="193852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جلسات التعاون</a:t>
            </a:r>
          </a:p>
        </p:txBody>
      </p:sp>
      <p:sp>
        <p:nvSpPr>
          <p:cNvPr id="1440" name="ss2-body"/>
          <p:cNvSpPr txBox="1"/>
          <p:nvPr/>
        </p:nvSpPr>
        <p:spPr>
          <a:xfrm>
            <a:off x="2007108" y="2075688"/>
            <a:ext cx="1257300" cy="594360"/>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مساحات لربط الاحتياجات الحكومية بالباحثين والشركاء.</a:t>
            </a:r>
          </a:p>
        </p:txBody>
      </p:sp>
      <p:sp>
        <p:nvSpPr>
          <p:cNvPr id="1441" name="ss3"/>
          <p:cNvSpPr/>
          <p:nvPr/>
        </p:nvSpPr>
        <p:spPr>
          <a:xfrm>
            <a:off x="301752" y="1417320"/>
            <a:ext cx="1495044" cy="1371600"/>
          </a:xfrm>
          <a:prstGeom prst="roundRect">
            <a:avLst>
              <a:gd name="adj" fmla="val 346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42" name="ss3-bar"/>
          <p:cNvSpPr/>
          <p:nvPr/>
        </p:nvSpPr>
        <p:spPr>
          <a:xfrm>
            <a:off x="374904" y="141732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43" name="ss3-title"/>
          <p:cNvSpPr txBox="1"/>
          <p:nvPr/>
        </p:nvSpPr>
        <p:spPr>
          <a:xfrm>
            <a:off x="420624" y="1938528"/>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العروض الحية</a:t>
            </a:r>
          </a:p>
        </p:txBody>
      </p:sp>
      <p:sp>
        <p:nvSpPr>
          <p:cNvPr id="1444" name="ss3-body"/>
          <p:cNvSpPr txBox="1"/>
          <p:nvPr/>
        </p:nvSpPr>
        <p:spPr>
          <a:xfrm>
            <a:off x="420624" y="2075688"/>
            <a:ext cx="1257300" cy="594360"/>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عرض منتجات وتجارب مرتبطة بالذكاء الاصطناعي والتقنيات الناشئة.</a:t>
            </a:r>
          </a:p>
        </p:txBody>
      </p:sp>
      <p:sp>
        <p:nvSpPr>
          <p:cNvPr id="1445" name="cb"/>
          <p:cNvSpPr/>
          <p:nvPr/>
        </p:nvSpPr>
        <p:spPr>
          <a:xfrm>
            <a:off x="301752" y="2971800"/>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46" name="cb-t"/>
          <p:cNvSpPr txBox="1"/>
          <p:nvPr/>
        </p:nvSpPr>
        <p:spPr>
          <a:xfrm>
            <a:off x="484632" y="2971800"/>
            <a:ext cx="5888736" cy="292608"/>
          </a:xfrm>
          <a:prstGeom prst="rect">
            <a:avLst/>
          </a:prstGeom>
          <a:noFill/>
        </p:spPr>
        <p:txBody>
          <a:bodyPr wrap="square" lIns="0" tIns="0" rIns="0" bIns="0" anchor="ctr"/>
          <a:lstStyle/>
          <a:p>
            <a:pPr algn="ctr" rtl="1">
              <a:spcAft>
                <a:spcPts val="0"/>
              </a:spcAft>
            </a:pPr>
            <a:r>
              <a:rPr lang="ar-SA" sz="560" b="0" dirty="0">
                <a:solidFill>
                  <a:srgbClr val="FFFFFF"/>
                </a:solidFill>
                <a:latin typeface="DiodrumArabic-Semibold"/>
                <a:ea typeface="DiodrumArabic-Semibold"/>
                <a:cs typeface="DiodrumArabic-Semibold"/>
              </a:rPr>
              <a:t>هذه المساحات تعمل بالتوازي مع البرنامج الرئيسي، لتوسيع فرص المشاركة والتعاون خلال اليوم.</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448"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النجاح لا يقاس بعدد الحضور فقط</a:t>
            </a:r>
          </a:p>
        </p:txBody>
      </p:sp>
      <p:sp>
        <p:nvSpPr>
          <p:cNvPr id="1449"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القيمة الحقيقية للملتقى تتمثل في قدرته على إنتاج فرص يمكن استمرار العمل عليها بعد انتهاء الفعالية.</a:t>
            </a:r>
          </a:p>
        </p:txBody>
      </p:sp>
      <p:sp>
        <p:nvSpPr>
          <p:cNvPr id="1450"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451" name="fl0"/>
          <p:cNvSpPr/>
          <p:nvPr/>
        </p:nvSpPr>
        <p:spPr>
          <a:xfrm>
            <a:off x="5407762" y="1188720"/>
            <a:ext cx="1148486" cy="384048"/>
          </a:xfrm>
          <a:prstGeom prst="roundRect">
            <a:avLst>
              <a:gd name="adj" fmla="val 12380"/>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52" name="fl0-title"/>
          <p:cNvSpPr txBox="1"/>
          <p:nvPr/>
        </p:nvSpPr>
        <p:spPr>
          <a:xfrm>
            <a:off x="5480914" y="1335024"/>
            <a:ext cx="1002182" cy="128016"/>
          </a:xfrm>
          <a:prstGeom prst="rect">
            <a:avLst/>
          </a:prstGeom>
          <a:noFill/>
        </p:spPr>
        <p:txBody>
          <a:bodyPr wrap="square" lIns="0" tIns="0" rIns="0" bIns="0" anchor="t"/>
          <a:lstStyle/>
          <a:p>
            <a:pPr algn="ctr" rtl="1">
              <a:lnSpc>
                <a:spcPct val="112000"/>
              </a:lnSpc>
              <a:spcAft>
                <a:spcPts val="0"/>
              </a:spcAft>
            </a:pPr>
            <a:r>
              <a:rPr lang="ar-SA" sz="640" b="0" dirty="0">
                <a:solidFill>
                  <a:srgbClr val="24135F"/>
                </a:solidFill>
                <a:latin typeface="DiodrumArabic-Bold"/>
                <a:ea typeface="DiodrumArabic-Bold"/>
                <a:cs typeface="DiodrumArabic-Bold"/>
              </a:rPr>
              <a:t>ملتقى</a:t>
            </a:r>
          </a:p>
        </p:txBody>
      </p:sp>
      <p:sp>
        <p:nvSpPr>
          <p:cNvPr id="1453" name="fl0-chev"/>
          <p:cNvSpPr/>
          <p:nvPr/>
        </p:nvSpPr>
        <p:spPr>
          <a:xfrm flipH="1">
            <a:off x="5270602"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54" name="fl1"/>
          <p:cNvSpPr/>
          <p:nvPr/>
        </p:nvSpPr>
        <p:spPr>
          <a:xfrm>
            <a:off x="4131259" y="1188720"/>
            <a:ext cx="1148486" cy="384048"/>
          </a:xfrm>
          <a:prstGeom prst="roundRect">
            <a:avLst>
              <a:gd name="adj" fmla="val 12380"/>
            </a:avLst>
          </a:prstGeom>
          <a:solidFill>
            <a:srgbClr val="7E37C4">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55" name="fl1-title"/>
          <p:cNvSpPr txBox="1"/>
          <p:nvPr/>
        </p:nvSpPr>
        <p:spPr>
          <a:xfrm>
            <a:off x="4204411" y="1335024"/>
            <a:ext cx="1002182" cy="128016"/>
          </a:xfrm>
          <a:prstGeom prst="rect">
            <a:avLst/>
          </a:prstGeom>
          <a:noFill/>
        </p:spPr>
        <p:txBody>
          <a:bodyPr wrap="square" lIns="0" tIns="0" rIns="0" bIns="0" anchor="t"/>
          <a:lstStyle/>
          <a:p>
            <a:pPr algn="ctr" rtl="1">
              <a:lnSpc>
                <a:spcPct val="112000"/>
              </a:lnSpc>
              <a:spcAft>
                <a:spcPts val="0"/>
              </a:spcAft>
            </a:pPr>
            <a:r>
              <a:rPr lang="ar-SA" sz="640" b="0" dirty="0">
                <a:solidFill>
                  <a:srgbClr val="24135F"/>
                </a:solidFill>
                <a:latin typeface="DiodrumArabic-Bold"/>
                <a:ea typeface="DiodrumArabic-Bold"/>
                <a:cs typeface="DiodrumArabic-Bold"/>
              </a:rPr>
              <a:t>أبحاث وفرص</a:t>
            </a:r>
          </a:p>
        </p:txBody>
      </p:sp>
      <p:sp>
        <p:nvSpPr>
          <p:cNvPr id="1456" name="fl1-chev"/>
          <p:cNvSpPr/>
          <p:nvPr/>
        </p:nvSpPr>
        <p:spPr>
          <a:xfrm flipH="1">
            <a:off x="3994099"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57" name="fl2"/>
          <p:cNvSpPr/>
          <p:nvPr/>
        </p:nvSpPr>
        <p:spPr>
          <a:xfrm>
            <a:off x="2854757" y="1188720"/>
            <a:ext cx="1148486" cy="384048"/>
          </a:xfrm>
          <a:prstGeom prst="roundRect">
            <a:avLst>
              <a:gd name="adj" fmla="val 12380"/>
            </a:avLst>
          </a:prstGeom>
          <a:solidFill>
            <a:srgbClr val="00ABA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58" name="fl2-title"/>
          <p:cNvSpPr txBox="1"/>
          <p:nvPr/>
        </p:nvSpPr>
        <p:spPr>
          <a:xfrm>
            <a:off x="2927909" y="1335024"/>
            <a:ext cx="1002182" cy="128016"/>
          </a:xfrm>
          <a:prstGeom prst="rect">
            <a:avLst/>
          </a:prstGeom>
          <a:noFill/>
        </p:spPr>
        <p:txBody>
          <a:bodyPr wrap="square" lIns="0" tIns="0" rIns="0" bIns="0" anchor="t"/>
          <a:lstStyle/>
          <a:p>
            <a:pPr algn="ctr" rtl="1">
              <a:lnSpc>
                <a:spcPct val="112000"/>
              </a:lnSpc>
              <a:spcAft>
                <a:spcPts val="0"/>
              </a:spcAft>
            </a:pPr>
            <a:r>
              <a:rPr lang="ar-SA" sz="640" b="0" dirty="0">
                <a:solidFill>
                  <a:srgbClr val="24135F"/>
                </a:solidFill>
                <a:latin typeface="DiodrumArabic-Bold"/>
                <a:ea typeface="DiodrumArabic-Bold"/>
                <a:cs typeface="DiodrumArabic-Bold"/>
              </a:rPr>
              <a:t>احتضان وتعاون</a:t>
            </a:r>
          </a:p>
        </p:txBody>
      </p:sp>
      <p:sp>
        <p:nvSpPr>
          <p:cNvPr id="1459" name="fl2-chev"/>
          <p:cNvSpPr/>
          <p:nvPr/>
        </p:nvSpPr>
        <p:spPr>
          <a:xfrm flipH="1">
            <a:off x="2717597"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0" name="fl3"/>
          <p:cNvSpPr/>
          <p:nvPr/>
        </p:nvSpPr>
        <p:spPr>
          <a:xfrm>
            <a:off x="1578254" y="1188720"/>
            <a:ext cx="1148486" cy="384048"/>
          </a:xfrm>
          <a:prstGeom prst="roundRect">
            <a:avLst>
              <a:gd name="adj" fmla="val 12380"/>
            </a:avLst>
          </a:prstGeom>
          <a:solidFill>
            <a:srgbClr val="00ABA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1" name="fl3-title"/>
          <p:cNvSpPr txBox="1"/>
          <p:nvPr/>
        </p:nvSpPr>
        <p:spPr>
          <a:xfrm>
            <a:off x="1651406" y="1335024"/>
            <a:ext cx="1002182" cy="128016"/>
          </a:xfrm>
          <a:prstGeom prst="rect">
            <a:avLst/>
          </a:prstGeom>
          <a:noFill/>
        </p:spPr>
        <p:txBody>
          <a:bodyPr wrap="square" lIns="0" tIns="0" rIns="0" bIns="0" anchor="t"/>
          <a:lstStyle/>
          <a:p>
            <a:pPr algn="ctr" rtl="1">
              <a:lnSpc>
                <a:spcPct val="112000"/>
              </a:lnSpc>
              <a:spcAft>
                <a:spcPts val="0"/>
              </a:spcAft>
            </a:pPr>
            <a:r>
              <a:rPr lang="ar-SA" sz="640" b="0" dirty="0">
                <a:solidFill>
                  <a:srgbClr val="24135F"/>
                </a:solidFill>
                <a:latin typeface="DiodrumArabic-Bold"/>
                <a:ea typeface="DiodrumArabic-Bold"/>
                <a:cs typeface="DiodrumArabic-Bold"/>
              </a:rPr>
              <a:t>تطوير وتجربة</a:t>
            </a:r>
          </a:p>
        </p:txBody>
      </p:sp>
      <p:sp>
        <p:nvSpPr>
          <p:cNvPr id="1462" name="fl3-chev"/>
          <p:cNvSpPr/>
          <p:nvPr/>
        </p:nvSpPr>
        <p:spPr>
          <a:xfrm flipH="1">
            <a:off x="1441094"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3" name="fl4"/>
          <p:cNvSpPr/>
          <p:nvPr/>
        </p:nvSpPr>
        <p:spPr>
          <a:xfrm>
            <a:off x="301752" y="1188720"/>
            <a:ext cx="1148486" cy="384048"/>
          </a:xfrm>
          <a:prstGeom prst="roundRect">
            <a:avLst>
              <a:gd name="adj" fmla="val 12380"/>
            </a:avLst>
          </a:prstGeom>
          <a:solidFill>
            <a:srgbClr val="1CC182">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4" name="fl4-title"/>
          <p:cNvSpPr txBox="1"/>
          <p:nvPr/>
        </p:nvSpPr>
        <p:spPr>
          <a:xfrm>
            <a:off x="374904" y="1335024"/>
            <a:ext cx="1002182" cy="128016"/>
          </a:xfrm>
          <a:prstGeom prst="rect">
            <a:avLst/>
          </a:prstGeom>
          <a:noFill/>
        </p:spPr>
        <p:txBody>
          <a:bodyPr wrap="square" lIns="0" tIns="0" rIns="0" bIns="0" anchor="t"/>
          <a:lstStyle/>
          <a:p>
            <a:pPr algn="ctr" rtl="1">
              <a:lnSpc>
                <a:spcPct val="112000"/>
              </a:lnSpc>
              <a:spcAft>
                <a:spcPts val="0"/>
              </a:spcAft>
            </a:pPr>
            <a:r>
              <a:rPr lang="ar-SA" sz="640" b="0" dirty="0">
                <a:solidFill>
                  <a:srgbClr val="24135F"/>
                </a:solidFill>
                <a:latin typeface="DiodrumArabic-Bold"/>
                <a:ea typeface="DiodrumArabic-Bold"/>
                <a:cs typeface="DiodrumArabic-Bold"/>
              </a:rPr>
              <a:t>أثر</a:t>
            </a:r>
          </a:p>
        </p:txBody>
      </p:sp>
      <p:sp>
        <p:nvSpPr>
          <p:cNvPr id="1465" name="oc0"/>
          <p:cNvSpPr/>
          <p:nvPr/>
        </p:nvSpPr>
        <p:spPr>
          <a:xfrm>
            <a:off x="5371186" y="1874520"/>
            <a:ext cx="1185062" cy="1508760"/>
          </a:xfrm>
          <a:prstGeom prst="roundRect">
            <a:avLst>
              <a:gd name="adj" fmla="val 31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6" name="oc0-bar"/>
          <p:cNvSpPr/>
          <p:nvPr/>
        </p:nvSpPr>
        <p:spPr>
          <a:xfrm>
            <a:off x="5444338" y="187452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67" name="oc0-title"/>
          <p:cNvSpPr txBox="1"/>
          <p:nvPr/>
        </p:nvSpPr>
        <p:spPr>
          <a:xfrm>
            <a:off x="5490058" y="2020824"/>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أبحاث مرشحة للاحتضان</a:t>
            </a:r>
          </a:p>
        </p:txBody>
      </p:sp>
      <p:sp>
        <p:nvSpPr>
          <p:cNvPr id="1468" name="oc0-body"/>
          <p:cNvSpPr txBox="1"/>
          <p:nvPr/>
        </p:nvSpPr>
        <p:spPr>
          <a:xfrm>
            <a:off x="5490058" y="2276856"/>
            <a:ext cx="947318" cy="987552"/>
          </a:xfrm>
          <a:prstGeom prst="rect">
            <a:avLst/>
          </a:prstGeom>
          <a:noFill/>
        </p:spPr>
        <p:txBody>
          <a:bodyPr wrap="square" lIns="0" tIns="0" rIns="0" bIns="0" anchor="t"/>
          <a:lstStyle/>
          <a:p>
            <a:pPr algn="r" rtl="1">
              <a:lnSpc>
                <a:spcPct val="125000"/>
              </a:lnSpc>
              <a:spcAft>
                <a:spcPts val="0"/>
              </a:spcAft>
            </a:pPr>
            <a:r>
              <a:rPr lang="ar-SA" sz="450" b="0" dirty="0">
                <a:solidFill>
                  <a:srgbClr val="5D6167"/>
                </a:solidFill>
                <a:latin typeface="DiodrumArabic-Medium"/>
                <a:ea typeface="DiodrumArabic-Medium"/>
                <a:cs typeface="DiodrumArabic-Medium"/>
              </a:rPr>
              <a:t>حصر الأبحاث الواعدة التي يمكن تقييمها وتطويرها داخل الحاضنة.</a:t>
            </a:r>
          </a:p>
        </p:txBody>
      </p:sp>
      <p:sp>
        <p:nvSpPr>
          <p:cNvPr id="1469" name="oc1"/>
          <p:cNvSpPr/>
          <p:nvPr/>
        </p:nvSpPr>
        <p:spPr>
          <a:xfrm>
            <a:off x="4103827" y="1874520"/>
            <a:ext cx="1185062" cy="1508760"/>
          </a:xfrm>
          <a:prstGeom prst="roundRect">
            <a:avLst>
              <a:gd name="adj" fmla="val 31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0" name="oc1-bar"/>
          <p:cNvSpPr/>
          <p:nvPr/>
        </p:nvSpPr>
        <p:spPr>
          <a:xfrm>
            <a:off x="4176979" y="187452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1" name="oc1-title"/>
          <p:cNvSpPr txBox="1"/>
          <p:nvPr/>
        </p:nvSpPr>
        <p:spPr>
          <a:xfrm>
            <a:off x="4222699" y="2020824"/>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فرص تعاون</a:t>
            </a:r>
          </a:p>
        </p:txBody>
      </p:sp>
      <p:sp>
        <p:nvSpPr>
          <p:cNvPr id="1472" name="oc1-body"/>
          <p:cNvSpPr txBox="1"/>
          <p:nvPr/>
        </p:nvSpPr>
        <p:spPr>
          <a:xfrm>
            <a:off x="4222699" y="2157984"/>
            <a:ext cx="947318" cy="1106424"/>
          </a:xfrm>
          <a:prstGeom prst="rect">
            <a:avLst/>
          </a:prstGeom>
          <a:noFill/>
        </p:spPr>
        <p:txBody>
          <a:bodyPr wrap="square" lIns="0" tIns="0" rIns="0" bIns="0" anchor="t"/>
          <a:lstStyle/>
          <a:p>
            <a:pPr algn="r" rtl="1">
              <a:lnSpc>
                <a:spcPct val="125000"/>
              </a:lnSpc>
              <a:spcAft>
                <a:spcPts val="0"/>
              </a:spcAft>
            </a:pPr>
            <a:r>
              <a:rPr lang="ar-SA" sz="450" b="0" dirty="0">
                <a:solidFill>
                  <a:srgbClr val="5D6167"/>
                </a:solidFill>
                <a:latin typeface="DiodrumArabic-Medium"/>
                <a:ea typeface="DiodrumArabic-Medium"/>
                <a:cs typeface="DiodrumArabic-Medium"/>
              </a:rPr>
              <a:t>تحديد فرص تربط الجهات الحكومية بالباحثين والجهات البحثية.</a:t>
            </a:r>
          </a:p>
        </p:txBody>
      </p:sp>
      <p:sp>
        <p:nvSpPr>
          <p:cNvPr id="1473" name="oc2"/>
          <p:cNvSpPr/>
          <p:nvPr/>
        </p:nvSpPr>
        <p:spPr>
          <a:xfrm>
            <a:off x="2836469" y="1874520"/>
            <a:ext cx="1185062" cy="1508760"/>
          </a:xfrm>
          <a:prstGeom prst="roundRect">
            <a:avLst>
              <a:gd name="adj" fmla="val 31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4" name="oc2-bar"/>
          <p:cNvSpPr/>
          <p:nvPr/>
        </p:nvSpPr>
        <p:spPr>
          <a:xfrm>
            <a:off x="2909621" y="187452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5" name="oc2-title"/>
          <p:cNvSpPr txBox="1"/>
          <p:nvPr/>
        </p:nvSpPr>
        <p:spPr>
          <a:xfrm>
            <a:off x="2955341" y="2020824"/>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تحديات حكومية</a:t>
            </a:r>
          </a:p>
        </p:txBody>
      </p:sp>
      <p:sp>
        <p:nvSpPr>
          <p:cNvPr id="1476" name="oc2-body"/>
          <p:cNvSpPr txBox="1"/>
          <p:nvPr/>
        </p:nvSpPr>
        <p:spPr>
          <a:xfrm>
            <a:off x="2955341" y="2157984"/>
            <a:ext cx="947318" cy="1106424"/>
          </a:xfrm>
          <a:prstGeom prst="rect">
            <a:avLst/>
          </a:prstGeom>
          <a:noFill/>
        </p:spPr>
        <p:txBody>
          <a:bodyPr wrap="square" lIns="0" tIns="0" rIns="0" bIns="0" anchor="t"/>
          <a:lstStyle/>
          <a:p>
            <a:pPr algn="r" rtl="1">
              <a:lnSpc>
                <a:spcPct val="125000"/>
              </a:lnSpc>
              <a:spcAft>
                <a:spcPts val="0"/>
              </a:spcAft>
            </a:pPr>
            <a:r>
              <a:rPr lang="ar-SA" sz="450" b="0" dirty="0">
                <a:solidFill>
                  <a:srgbClr val="5D6167"/>
                </a:solidFill>
                <a:latin typeface="DiodrumArabic-Medium"/>
                <a:ea typeface="DiodrumArabic-Medium"/>
                <a:cs typeface="DiodrumArabic-Medium"/>
              </a:rPr>
              <a:t>تحويل عدد من التحديات إلى فرص بحث أو تطوير مشتركة.</a:t>
            </a:r>
          </a:p>
        </p:txBody>
      </p:sp>
      <p:sp>
        <p:nvSpPr>
          <p:cNvPr id="1477" name="oc3"/>
          <p:cNvSpPr/>
          <p:nvPr/>
        </p:nvSpPr>
        <p:spPr>
          <a:xfrm>
            <a:off x="1569110" y="1874520"/>
            <a:ext cx="1185062" cy="1508760"/>
          </a:xfrm>
          <a:prstGeom prst="roundRect">
            <a:avLst>
              <a:gd name="adj" fmla="val 31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8" name="oc3-bar"/>
          <p:cNvSpPr/>
          <p:nvPr/>
        </p:nvSpPr>
        <p:spPr>
          <a:xfrm>
            <a:off x="1642262" y="187452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79" name="oc3-title"/>
          <p:cNvSpPr txBox="1"/>
          <p:nvPr/>
        </p:nvSpPr>
        <p:spPr>
          <a:xfrm>
            <a:off x="1687982" y="2020824"/>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مخرجات قابلة للتطبيق</a:t>
            </a:r>
          </a:p>
        </p:txBody>
      </p:sp>
      <p:sp>
        <p:nvSpPr>
          <p:cNvPr id="1480" name="oc3-body"/>
          <p:cNvSpPr txBox="1"/>
          <p:nvPr/>
        </p:nvSpPr>
        <p:spPr>
          <a:xfrm>
            <a:off x="1687982" y="2276856"/>
            <a:ext cx="947318" cy="987552"/>
          </a:xfrm>
          <a:prstGeom prst="rect">
            <a:avLst/>
          </a:prstGeom>
          <a:noFill/>
        </p:spPr>
        <p:txBody>
          <a:bodyPr wrap="square" lIns="0" tIns="0" rIns="0" bIns="0" anchor="t"/>
          <a:lstStyle/>
          <a:p>
            <a:pPr algn="r" rtl="1">
              <a:lnSpc>
                <a:spcPct val="125000"/>
              </a:lnSpc>
              <a:spcAft>
                <a:spcPts val="0"/>
              </a:spcAft>
            </a:pPr>
            <a:r>
              <a:rPr lang="ar-SA" sz="450" b="0" dirty="0">
                <a:solidFill>
                  <a:srgbClr val="5D6167"/>
                </a:solidFill>
                <a:latin typeface="DiodrumArabic-Medium"/>
                <a:ea typeface="DiodrumArabic-Medium"/>
                <a:cs typeface="DiodrumArabic-Medium"/>
              </a:rPr>
              <a:t>تحديد أبحاث أو حلول يمكن نقلها إلى مراحل تطوير أو تجربة.</a:t>
            </a:r>
          </a:p>
        </p:txBody>
      </p:sp>
      <p:sp>
        <p:nvSpPr>
          <p:cNvPr id="1481" name="oc4"/>
          <p:cNvSpPr/>
          <p:nvPr/>
        </p:nvSpPr>
        <p:spPr>
          <a:xfrm>
            <a:off x="301752" y="1874520"/>
            <a:ext cx="1185062" cy="1508760"/>
          </a:xfrm>
          <a:prstGeom prst="roundRect">
            <a:avLst>
              <a:gd name="adj" fmla="val 315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82" name="oc4-bar"/>
          <p:cNvSpPr/>
          <p:nvPr/>
        </p:nvSpPr>
        <p:spPr>
          <a:xfrm>
            <a:off x="374904" y="187452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83" name="oc4-title"/>
          <p:cNvSpPr txBox="1"/>
          <p:nvPr/>
        </p:nvSpPr>
        <p:spPr>
          <a:xfrm>
            <a:off x="420624" y="2020824"/>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مجتمع بحثي أوسع</a:t>
            </a:r>
          </a:p>
        </p:txBody>
      </p:sp>
      <p:sp>
        <p:nvSpPr>
          <p:cNvPr id="1484" name="oc4-body"/>
          <p:cNvSpPr txBox="1"/>
          <p:nvPr/>
        </p:nvSpPr>
        <p:spPr>
          <a:xfrm>
            <a:off x="420624" y="2157984"/>
            <a:ext cx="947318" cy="1106424"/>
          </a:xfrm>
          <a:prstGeom prst="rect">
            <a:avLst/>
          </a:prstGeom>
          <a:noFill/>
        </p:spPr>
        <p:txBody>
          <a:bodyPr wrap="square" lIns="0" tIns="0" rIns="0" bIns="0" anchor="t"/>
          <a:lstStyle/>
          <a:p>
            <a:pPr algn="r" rtl="1">
              <a:lnSpc>
                <a:spcPct val="125000"/>
              </a:lnSpc>
              <a:spcAft>
                <a:spcPts val="0"/>
              </a:spcAft>
            </a:pPr>
            <a:r>
              <a:rPr lang="ar-SA" sz="450" b="0" dirty="0">
                <a:solidFill>
                  <a:srgbClr val="5D6167"/>
                </a:solidFill>
                <a:latin typeface="DiodrumArabic-Medium"/>
                <a:ea typeface="DiodrumArabic-Medium"/>
                <a:cs typeface="DiodrumArabic-Medium"/>
              </a:rPr>
              <a:t>إضافة باحثين وشركاء إلى شبكة الحاضنة ومجتمعات الابتكار.</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486"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80" b="0" dirty="0">
                <a:solidFill>
                  <a:srgbClr val="24135F"/>
                </a:solidFill>
                <a:latin typeface="DiodrumArabic-Bold"/>
                <a:ea typeface="DiodrumArabic-Bold"/>
                <a:cs typeface="DiodrumArabic-Bold"/>
              </a:rPr>
              <a:t>الملتقى بداية المسار… وليس نهايته</a:t>
            </a:r>
          </a:p>
        </p:txBody>
      </p:sp>
      <p:sp>
        <p:nvSpPr>
          <p:cNvPr id="1487"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488" name="flow"/>
          <p:cNvSpPr txBox="1"/>
          <p:nvPr/>
        </p:nvSpPr>
        <p:spPr>
          <a:xfrm>
            <a:off x="301752" y="1005840"/>
            <a:ext cx="6254496" cy="146304"/>
          </a:xfrm>
          <a:prstGeom prst="rect">
            <a:avLst/>
          </a:prstGeom>
          <a:noFill/>
        </p:spPr>
        <p:txBody>
          <a:bodyPr wrap="square" lIns="0" tIns="0" rIns="0" bIns="0" anchor="t"/>
          <a:lstStyle/>
          <a:p>
            <a:pPr algn="ctr" rtl="1">
              <a:spcAft>
                <a:spcPts val="0"/>
              </a:spcAft>
            </a:pPr>
            <a:r>
              <a:rPr lang="ar-SA" sz="580" b="0" dirty="0">
                <a:solidFill>
                  <a:srgbClr val="753BBD"/>
                </a:solidFill>
                <a:latin typeface="DiodrumArabic-Semibold"/>
                <a:ea typeface="DiodrumArabic-Semibold"/>
                <a:cs typeface="DiodrumArabic-Semibold"/>
              </a:rPr>
              <a:t>الملتقى  ←  الحاضنة  ←  التطبيق  ←  العودة بفرص جديدة</a:t>
            </a:r>
          </a:p>
        </p:txBody>
      </p:sp>
      <p:cxnSp>
        <p:nvCxnSpPr>
          <p:cNvPr id="1489" name="lp0"/>
          <p:cNvCxnSpPr/>
          <p:nvPr/>
        </p:nvCxnSpPr>
        <p:spPr>
          <a:xfrm flipV="0">
            <a:off x="3429000" y="1965960"/>
            <a:ext cx="2261080" cy="284326"/>
          </a:xfrm>
          <a:prstGeom prst="line">
            <a:avLst/>
          </a:prstGeom>
          <a:ln w="9525">
            <a:solidFill>
              <a:srgbClr val="E0E0E2"/>
            </a:solidFill>
          </a:ln>
        </p:spPr>
      </p:cxnSp>
      <p:cxnSp>
        <p:nvCxnSpPr>
          <p:cNvPr id="1490" name="lp1"/>
          <p:cNvCxnSpPr/>
          <p:nvPr/>
        </p:nvCxnSpPr>
        <p:spPr>
          <a:xfrm flipV="1">
            <a:off x="4826424" y="2250286"/>
            <a:ext cx="863656" cy="460049"/>
          </a:xfrm>
          <a:prstGeom prst="line">
            <a:avLst/>
          </a:prstGeom>
          <a:ln w="9525">
            <a:solidFill>
              <a:srgbClr val="E0E0E2"/>
            </a:solidFill>
          </a:ln>
        </p:spPr>
      </p:cxnSp>
      <p:cxnSp>
        <p:nvCxnSpPr>
          <p:cNvPr id="1491" name="lp2"/>
          <p:cNvCxnSpPr/>
          <p:nvPr/>
        </p:nvCxnSpPr>
        <p:spPr>
          <a:xfrm flipV="0">
            <a:off x="2031576" y="2710334"/>
            <a:ext cx="2794848" cy="914"/>
          </a:xfrm>
          <a:prstGeom prst="line">
            <a:avLst/>
          </a:prstGeom>
          <a:ln w="9525">
            <a:solidFill>
              <a:srgbClr val="E0E0E2"/>
            </a:solidFill>
          </a:ln>
        </p:spPr>
      </p:cxnSp>
      <p:cxnSp>
        <p:nvCxnSpPr>
          <p:cNvPr id="1492" name="lp3"/>
          <p:cNvCxnSpPr/>
          <p:nvPr/>
        </p:nvCxnSpPr>
        <p:spPr>
          <a:xfrm flipV="0">
            <a:off x="1167920" y="2250286"/>
            <a:ext cx="863656" cy="460049"/>
          </a:xfrm>
          <a:prstGeom prst="line">
            <a:avLst/>
          </a:prstGeom>
          <a:ln w="9525">
            <a:solidFill>
              <a:srgbClr val="E0E0E2"/>
            </a:solidFill>
          </a:ln>
        </p:spPr>
      </p:cxnSp>
      <p:cxnSp>
        <p:nvCxnSpPr>
          <p:cNvPr id="1493" name="lp4"/>
          <p:cNvCxnSpPr/>
          <p:nvPr/>
        </p:nvCxnSpPr>
        <p:spPr>
          <a:xfrm flipV="1">
            <a:off x="1167920" y="1965960"/>
            <a:ext cx="2261080" cy="284326"/>
          </a:xfrm>
          <a:prstGeom prst="line">
            <a:avLst/>
          </a:prstGeom>
          <a:ln w="9525">
            <a:solidFill>
              <a:srgbClr val="E0E0E2"/>
            </a:solidFill>
          </a:ln>
        </p:spPr>
      </p:cxnSp>
      <p:sp>
        <p:nvSpPr>
          <p:cNvPr id="1494" name="lo0"/>
          <p:cNvSpPr/>
          <p:nvPr/>
        </p:nvSpPr>
        <p:spPr>
          <a:xfrm>
            <a:off x="3118104" y="1655064"/>
            <a:ext cx="621792" cy="621792"/>
          </a:xfrm>
          <a:prstGeom prst="ellipse">
            <a:avLst/>
          </a:prstGeom>
          <a:solidFill>
            <a:srgbClr val="753BBD"/>
          </a:solidFill>
          <a:ln>
            <a:solidFill>
              <a:srgbClr val="FFFFFF"/>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95" name="lo0-n"/>
          <p:cNvSpPr txBox="1"/>
          <p:nvPr/>
        </p:nvSpPr>
        <p:spPr>
          <a:xfrm>
            <a:off x="3118104" y="1682496"/>
            <a:ext cx="621792" cy="109728"/>
          </a:xfrm>
          <a:prstGeom prst="rect">
            <a:avLst/>
          </a:prstGeom>
          <a:noFill/>
        </p:spPr>
        <p:txBody>
          <a:bodyPr wrap="square" lIns="0" tIns="0" rIns="0" bIns="0" anchor="t"/>
          <a:lstStyle/>
          <a:p>
            <a:pPr algn="ctr">
              <a:spcAft>
                <a:spcPts val="0"/>
              </a:spcAft>
            </a:pPr>
            <a:r>
              <a:rPr lang="en-US" sz="540" b="0" dirty="0">
                <a:solidFill>
                  <a:srgbClr val="FFFFFF"/>
                </a:solidFill>
                <a:latin typeface="DiodrumArabic-Bold"/>
                <a:ea typeface="DiodrumArabic-Bold"/>
                <a:cs typeface="DiodrumArabic-Bold"/>
              </a:rPr>
              <a:t>1</a:t>
            </a:r>
          </a:p>
        </p:txBody>
      </p:sp>
      <p:sp>
        <p:nvSpPr>
          <p:cNvPr id="1496" name="lo0-t"/>
          <p:cNvSpPr txBox="1"/>
          <p:nvPr/>
        </p:nvSpPr>
        <p:spPr>
          <a:xfrm>
            <a:off x="3118104" y="1938528"/>
            <a:ext cx="621792" cy="182880"/>
          </a:xfrm>
          <a:prstGeom prst="rect">
            <a:avLst/>
          </a:prstGeom>
          <a:noFill/>
        </p:spPr>
        <p:txBody>
          <a:bodyPr wrap="square" lIns="0" tIns="0" rIns="0" bIns="0" anchor="ctr"/>
          <a:lstStyle/>
          <a:p>
            <a:pPr algn="ctr" rtl="1">
              <a:lnSpc>
                <a:spcPct val="105000"/>
              </a:lnSpc>
              <a:spcAft>
                <a:spcPts val="0"/>
              </a:spcAft>
            </a:pPr>
            <a:r>
              <a:rPr lang="ar-SA" sz="540" b="0" dirty="0">
                <a:solidFill>
                  <a:srgbClr val="FFFFFF"/>
                </a:solidFill>
                <a:latin typeface="DiodrumArabic-Bold"/>
                <a:ea typeface="DiodrumArabic-Bold"/>
                <a:cs typeface="DiodrumArabic-Bold"/>
              </a:rPr>
              <a:t>جمع المخرجات</a:t>
            </a:r>
          </a:p>
        </p:txBody>
      </p:sp>
      <p:sp>
        <p:nvSpPr>
          <p:cNvPr id="1497" name="lo0-b"/>
          <p:cNvSpPr txBox="1"/>
          <p:nvPr/>
        </p:nvSpPr>
        <p:spPr>
          <a:xfrm>
            <a:off x="2770632" y="1252728"/>
            <a:ext cx="1316736" cy="365760"/>
          </a:xfrm>
          <a:prstGeom prst="rect">
            <a:avLst/>
          </a:prstGeom>
          <a:noFill/>
        </p:spPr>
        <p:txBody>
          <a:bodyPr wrap="square" lIns="0" tIns="0" rIns="0" bIns="0" anchor="t"/>
          <a:lstStyle/>
          <a:p>
            <a:pPr algn="ctr" rtl="1">
              <a:lnSpc>
                <a:spcPct val="118000"/>
              </a:lnSpc>
              <a:spcAft>
                <a:spcPts val="0"/>
              </a:spcAft>
            </a:pPr>
            <a:r>
              <a:rPr lang="ar-SA" sz="450" b="0" dirty="0">
                <a:solidFill>
                  <a:srgbClr val="5D6167"/>
                </a:solidFill>
                <a:latin typeface="DiodrumArabic-Medium"/>
                <a:ea typeface="DiodrumArabic-Medium"/>
                <a:cs typeface="DiodrumArabic-Medium"/>
              </a:rPr>
              <a:t>حصر الأبحاث والفرص والتحديات الناتجة عن الفعالية.</a:t>
            </a:r>
          </a:p>
        </p:txBody>
      </p:sp>
      <p:sp>
        <p:nvSpPr>
          <p:cNvPr id="1498" name="lo1"/>
          <p:cNvSpPr/>
          <p:nvPr/>
        </p:nvSpPr>
        <p:spPr>
          <a:xfrm>
            <a:off x="5379184" y="1939390"/>
            <a:ext cx="621792" cy="621792"/>
          </a:xfrm>
          <a:prstGeom prst="ellipse">
            <a:avLst/>
          </a:prstGeom>
          <a:solidFill>
            <a:srgbClr val="753BBD"/>
          </a:solidFill>
          <a:ln>
            <a:solidFill>
              <a:srgbClr val="FFFFFF"/>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499" name="lo1-n"/>
          <p:cNvSpPr txBox="1"/>
          <p:nvPr/>
        </p:nvSpPr>
        <p:spPr>
          <a:xfrm>
            <a:off x="5379184" y="1966822"/>
            <a:ext cx="621792" cy="109728"/>
          </a:xfrm>
          <a:prstGeom prst="rect">
            <a:avLst/>
          </a:prstGeom>
          <a:noFill/>
        </p:spPr>
        <p:txBody>
          <a:bodyPr wrap="square" lIns="0" tIns="0" rIns="0" bIns="0" anchor="t"/>
          <a:lstStyle/>
          <a:p>
            <a:pPr algn="ctr">
              <a:spcAft>
                <a:spcPts val="0"/>
              </a:spcAft>
            </a:pPr>
            <a:r>
              <a:rPr lang="en-US" sz="540" b="0" dirty="0">
                <a:solidFill>
                  <a:srgbClr val="FFFFFF"/>
                </a:solidFill>
                <a:latin typeface="DiodrumArabic-Bold"/>
                <a:ea typeface="DiodrumArabic-Bold"/>
                <a:cs typeface="DiodrumArabic-Bold"/>
              </a:rPr>
              <a:t>2</a:t>
            </a:r>
          </a:p>
        </p:txBody>
      </p:sp>
      <p:sp>
        <p:nvSpPr>
          <p:cNvPr id="1500" name="lo1-t"/>
          <p:cNvSpPr txBox="1"/>
          <p:nvPr/>
        </p:nvSpPr>
        <p:spPr>
          <a:xfrm>
            <a:off x="5379184" y="2222854"/>
            <a:ext cx="621792" cy="182880"/>
          </a:xfrm>
          <a:prstGeom prst="rect">
            <a:avLst/>
          </a:prstGeom>
          <a:noFill/>
        </p:spPr>
        <p:txBody>
          <a:bodyPr wrap="square" lIns="0" tIns="0" rIns="0" bIns="0" anchor="ctr"/>
          <a:lstStyle/>
          <a:p>
            <a:pPr algn="ctr" rtl="1">
              <a:lnSpc>
                <a:spcPct val="105000"/>
              </a:lnSpc>
              <a:spcAft>
                <a:spcPts val="0"/>
              </a:spcAft>
            </a:pPr>
            <a:r>
              <a:rPr lang="ar-SA" sz="540" b="0" dirty="0">
                <a:solidFill>
                  <a:srgbClr val="FFFFFF"/>
                </a:solidFill>
                <a:latin typeface="DiodrumArabic-Bold"/>
                <a:ea typeface="DiodrumArabic-Bold"/>
                <a:cs typeface="DiodrumArabic-Bold"/>
              </a:rPr>
              <a:t>التقييم</a:t>
            </a:r>
          </a:p>
        </p:txBody>
      </p:sp>
      <p:sp>
        <p:nvSpPr>
          <p:cNvPr id="1501" name="lo1-b"/>
          <p:cNvSpPr txBox="1"/>
          <p:nvPr/>
        </p:nvSpPr>
        <p:spPr>
          <a:xfrm>
            <a:off x="5031712" y="1537054"/>
            <a:ext cx="1316736" cy="365760"/>
          </a:xfrm>
          <a:prstGeom prst="rect">
            <a:avLst/>
          </a:prstGeom>
          <a:noFill/>
        </p:spPr>
        <p:txBody>
          <a:bodyPr wrap="square" lIns="0" tIns="0" rIns="0" bIns="0" anchor="t"/>
          <a:lstStyle/>
          <a:p>
            <a:pPr algn="ctr" rtl="1">
              <a:lnSpc>
                <a:spcPct val="118000"/>
              </a:lnSpc>
              <a:spcAft>
                <a:spcPts val="0"/>
              </a:spcAft>
            </a:pPr>
            <a:r>
              <a:rPr lang="ar-SA" sz="450" b="0" dirty="0">
                <a:solidFill>
                  <a:srgbClr val="5D6167"/>
                </a:solidFill>
                <a:latin typeface="DiodrumArabic-Medium"/>
                <a:ea typeface="DiodrumArabic-Medium"/>
                <a:cs typeface="DiodrumArabic-Medium"/>
              </a:rPr>
              <a:t>تقييم المخرجات وفق ارتباطها بالأولوية ودرجة النضج.</a:t>
            </a:r>
          </a:p>
        </p:txBody>
      </p:sp>
      <p:sp>
        <p:nvSpPr>
          <p:cNvPr id="1502" name="lo2"/>
          <p:cNvSpPr/>
          <p:nvPr/>
        </p:nvSpPr>
        <p:spPr>
          <a:xfrm>
            <a:off x="4515528" y="2399438"/>
            <a:ext cx="621792" cy="621792"/>
          </a:xfrm>
          <a:prstGeom prst="ellipse">
            <a:avLst/>
          </a:prstGeom>
          <a:solidFill>
            <a:srgbClr val="753BBD"/>
          </a:solidFill>
          <a:ln>
            <a:solidFill>
              <a:srgbClr val="FFFFFF"/>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03" name="lo2-n"/>
          <p:cNvSpPr txBox="1"/>
          <p:nvPr/>
        </p:nvSpPr>
        <p:spPr>
          <a:xfrm>
            <a:off x="4515528" y="2426870"/>
            <a:ext cx="621792" cy="109728"/>
          </a:xfrm>
          <a:prstGeom prst="rect">
            <a:avLst/>
          </a:prstGeom>
          <a:noFill/>
        </p:spPr>
        <p:txBody>
          <a:bodyPr wrap="square" lIns="0" tIns="0" rIns="0" bIns="0" anchor="t"/>
          <a:lstStyle/>
          <a:p>
            <a:pPr algn="ctr">
              <a:spcAft>
                <a:spcPts val="0"/>
              </a:spcAft>
            </a:pPr>
            <a:r>
              <a:rPr lang="en-US" sz="540" b="0" dirty="0">
                <a:solidFill>
                  <a:srgbClr val="FFFFFF"/>
                </a:solidFill>
                <a:latin typeface="DiodrumArabic-Bold"/>
                <a:ea typeface="DiodrumArabic-Bold"/>
                <a:cs typeface="DiodrumArabic-Bold"/>
              </a:rPr>
              <a:t>3</a:t>
            </a:r>
          </a:p>
        </p:txBody>
      </p:sp>
      <p:sp>
        <p:nvSpPr>
          <p:cNvPr id="1504" name="lo2-t"/>
          <p:cNvSpPr txBox="1"/>
          <p:nvPr/>
        </p:nvSpPr>
        <p:spPr>
          <a:xfrm>
            <a:off x="4515528" y="2682902"/>
            <a:ext cx="621792" cy="182880"/>
          </a:xfrm>
          <a:prstGeom prst="rect">
            <a:avLst/>
          </a:prstGeom>
          <a:noFill/>
        </p:spPr>
        <p:txBody>
          <a:bodyPr wrap="square" lIns="0" tIns="0" rIns="0" bIns="0" anchor="ctr"/>
          <a:lstStyle/>
          <a:p>
            <a:pPr algn="ctr" rtl="1">
              <a:lnSpc>
                <a:spcPct val="105000"/>
              </a:lnSpc>
              <a:spcAft>
                <a:spcPts val="0"/>
              </a:spcAft>
            </a:pPr>
            <a:r>
              <a:rPr lang="ar-SA" sz="540" b="0" dirty="0">
                <a:solidFill>
                  <a:srgbClr val="FFFFFF"/>
                </a:solidFill>
                <a:latin typeface="DiodrumArabic-Bold"/>
                <a:ea typeface="DiodrumArabic-Bold"/>
                <a:cs typeface="DiodrumArabic-Bold"/>
              </a:rPr>
              <a:t>الربط</a:t>
            </a:r>
          </a:p>
        </p:txBody>
      </p:sp>
      <p:sp>
        <p:nvSpPr>
          <p:cNvPr id="1505" name="lo2-b"/>
          <p:cNvSpPr txBox="1"/>
          <p:nvPr/>
        </p:nvSpPr>
        <p:spPr>
          <a:xfrm>
            <a:off x="4168056" y="3076094"/>
            <a:ext cx="1316736" cy="365760"/>
          </a:xfrm>
          <a:prstGeom prst="rect">
            <a:avLst/>
          </a:prstGeom>
          <a:noFill/>
        </p:spPr>
        <p:txBody>
          <a:bodyPr wrap="square" lIns="0" tIns="0" rIns="0" bIns="0" anchor="t"/>
          <a:lstStyle/>
          <a:p>
            <a:pPr algn="ctr" rtl="1">
              <a:lnSpc>
                <a:spcPct val="118000"/>
              </a:lnSpc>
              <a:spcAft>
                <a:spcPts val="0"/>
              </a:spcAft>
            </a:pPr>
            <a:r>
              <a:rPr lang="ar-SA" sz="450" b="0" dirty="0">
                <a:solidFill>
                  <a:srgbClr val="5D6167"/>
                </a:solidFill>
                <a:latin typeface="DiodrumArabic-Medium"/>
                <a:ea typeface="DiodrumArabic-Medium"/>
                <a:cs typeface="DiodrumArabic-Medium"/>
              </a:rPr>
              <a:t>ربط الأبحاث المختارة بالجهات الحكومية والشركاء المناسبين.</a:t>
            </a:r>
          </a:p>
        </p:txBody>
      </p:sp>
      <p:sp>
        <p:nvSpPr>
          <p:cNvPr id="1506" name="lo3"/>
          <p:cNvSpPr/>
          <p:nvPr/>
        </p:nvSpPr>
        <p:spPr>
          <a:xfrm>
            <a:off x="1720680" y="2399438"/>
            <a:ext cx="621792" cy="621792"/>
          </a:xfrm>
          <a:prstGeom prst="ellipse">
            <a:avLst/>
          </a:prstGeom>
          <a:solidFill>
            <a:srgbClr val="753BBD"/>
          </a:solidFill>
          <a:ln>
            <a:solidFill>
              <a:srgbClr val="FFFFFF"/>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07" name="lo3-n"/>
          <p:cNvSpPr txBox="1"/>
          <p:nvPr/>
        </p:nvSpPr>
        <p:spPr>
          <a:xfrm>
            <a:off x="1720680" y="2426870"/>
            <a:ext cx="621792" cy="109728"/>
          </a:xfrm>
          <a:prstGeom prst="rect">
            <a:avLst/>
          </a:prstGeom>
          <a:noFill/>
        </p:spPr>
        <p:txBody>
          <a:bodyPr wrap="square" lIns="0" tIns="0" rIns="0" bIns="0" anchor="t"/>
          <a:lstStyle/>
          <a:p>
            <a:pPr algn="ctr">
              <a:spcAft>
                <a:spcPts val="0"/>
              </a:spcAft>
            </a:pPr>
            <a:r>
              <a:rPr lang="en-US" sz="540" b="0" dirty="0">
                <a:solidFill>
                  <a:srgbClr val="FFFFFF"/>
                </a:solidFill>
                <a:latin typeface="DiodrumArabic-Bold"/>
                <a:ea typeface="DiodrumArabic-Bold"/>
                <a:cs typeface="DiodrumArabic-Bold"/>
              </a:rPr>
              <a:t>4</a:t>
            </a:r>
          </a:p>
        </p:txBody>
      </p:sp>
      <p:sp>
        <p:nvSpPr>
          <p:cNvPr id="1508" name="lo3-t"/>
          <p:cNvSpPr txBox="1"/>
          <p:nvPr/>
        </p:nvSpPr>
        <p:spPr>
          <a:xfrm>
            <a:off x="1720680" y="2682902"/>
            <a:ext cx="621792" cy="182880"/>
          </a:xfrm>
          <a:prstGeom prst="rect">
            <a:avLst/>
          </a:prstGeom>
          <a:noFill/>
        </p:spPr>
        <p:txBody>
          <a:bodyPr wrap="square" lIns="0" tIns="0" rIns="0" bIns="0" anchor="ctr"/>
          <a:lstStyle/>
          <a:p>
            <a:pPr algn="ctr" rtl="1">
              <a:lnSpc>
                <a:spcPct val="105000"/>
              </a:lnSpc>
              <a:spcAft>
                <a:spcPts val="0"/>
              </a:spcAft>
            </a:pPr>
            <a:r>
              <a:rPr lang="ar-SA" sz="540" b="0" dirty="0">
                <a:solidFill>
                  <a:srgbClr val="FFFFFF"/>
                </a:solidFill>
                <a:latin typeface="DiodrumArabic-Bold"/>
                <a:ea typeface="DiodrumArabic-Bold"/>
                <a:cs typeface="DiodrumArabic-Bold"/>
              </a:rPr>
              <a:t>الاحتضان</a:t>
            </a:r>
          </a:p>
        </p:txBody>
      </p:sp>
      <p:sp>
        <p:nvSpPr>
          <p:cNvPr id="1509" name="lo3-b"/>
          <p:cNvSpPr txBox="1"/>
          <p:nvPr/>
        </p:nvSpPr>
        <p:spPr>
          <a:xfrm>
            <a:off x="1373208" y="3076094"/>
            <a:ext cx="1316736" cy="365760"/>
          </a:xfrm>
          <a:prstGeom prst="rect">
            <a:avLst/>
          </a:prstGeom>
          <a:noFill/>
        </p:spPr>
        <p:txBody>
          <a:bodyPr wrap="square" lIns="0" tIns="0" rIns="0" bIns="0" anchor="t"/>
          <a:lstStyle/>
          <a:p>
            <a:pPr algn="ctr" rtl="1">
              <a:lnSpc>
                <a:spcPct val="118000"/>
              </a:lnSpc>
              <a:spcAft>
                <a:spcPts val="0"/>
              </a:spcAft>
            </a:pPr>
            <a:r>
              <a:rPr lang="ar-SA" sz="450" b="0" dirty="0">
                <a:solidFill>
                  <a:srgbClr val="5D6167"/>
                </a:solidFill>
                <a:latin typeface="DiodrumArabic-Medium"/>
                <a:ea typeface="DiodrumArabic-Medium"/>
                <a:cs typeface="DiodrumArabic-Medium"/>
              </a:rPr>
              <a:t>إدخال المخرجات الواعدة في مسارات التطوير والدعم.</a:t>
            </a:r>
          </a:p>
        </p:txBody>
      </p:sp>
      <p:sp>
        <p:nvSpPr>
          <p:cNvPr id="1510" name="lo4"/>
          <p:cNvSpPr/>
          <p:nvPr/>
        </p:nvSpPr>
        <p:spPr>
          <a:xfrm>
            <a:off x="857024" y="1939390"/>
            <a:ext cx="621792" cy="621792"/>
          </a:xfrm>
          <a:prstGeom prst="ellipse">
            <a:avLst/>
          </a:prstGeom>
          <a:solidFill>
            <a:srgbClr val="753BBD"/>
          </a:solidFill>
          <a:ln>
            <a:solidFill>
              <a:srgbClr val="FFFFFF"/>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11" name="lo4-n"/>
          <p:cNvSpPr txBox="1"/>
          <p:nvPr/>
        </p:nvSpPr>
        <p:spPr>
          <a:xfrm>
            <a:off x="857024" y="1966822"/>
            <a:ext cx="621792" cy="109728"/>
          </a:xfrm>
          <a:prstGeom prst="rect">
            <a:avLst/>
          </a:prstGeom>
          <a:noFill/>
        </p:spPr>
        <p:txBody>
          <a:bodyPr wrap="square" lIns="0" tIns="0" rIns="0" bIns="0" anchor="t"/>
          <a:lstStyle/>
          <a:p>
            <a:pPr algn="ctr">
              <a:spcAft>
                <a:spcPts val="0"/>
              </a:spcAft>
            </a:pPr>
            <a:r>
              <a:rPr lang="en-US" sz="540" b="0" dirty="0">
                <a:solidFill>
                  <a:srgbClr val="FFFFFF"/>
                </a:solidFill>
                <a:latin typeface="DiodrumArabic-Bold"/>
                <a:ea typeface="DiodrumArabic-Bold"/>
                <a:cs typeface="DiodrumArabic-Bold"/>
              </a:rPr>
              <a:t>5</a:t>
            </a:r>
          </a:p>
        </p:txBody>
      </p:sp>
      <p:sp>
        <p:nvSpPr>
          <p:cNvPr id="1512" name="lo4-t"/>
          <p:cNvSpPr txBox="1"/>
          <p:nvPr/>
        </p:nvSpPr>
        <p:spPr>
          <a:xfrm>
            <a:off x="857024" y="2222854"/>
            <a:ext cx="621792" cy="182880"/>
          </a:xfrm>
          <a:prstGeom prst="rect">
            <a:avLst/>
          </a:prstGeom>
          <a:noFill/>
        </p:spPr>
        <p:txBody>
          <a:bodyPr wrap="square" lIns="0" tIns="0" rIns="0" bIns="0" anchor="ctr"/>
          <a:lstStyle/>
          <a:p>
            <a:pPr algn="ctr" rtl="1">
              <a:lnSpc>
                <a:spcPct val="105000"/>
              </a:lnSpc>
              <a:spcAft>
                <a:spcPts val="0"/>
              </a:spcAft>
            </a:pPr>
            <a:r>
              <a:rPr lang="ar-SA" sz="540" b="0" dirty="0">
                <a:solidFill>
                  <a:srgbClr val="FFFFFF"/>
                </a:solidFill>
                <a:latin typeface="DiodrumArabic-Bold"/>
                <a:ea typeface="DiodrumArabic-Bold"/>
                <a:cs typeface="DiodrumArabic-Bold"/>
              </a:rPr>
              <a:t>المتابعة</a:t>
            </a:r>
          </a:p>
        </p:txBody>
      </p:sp>
      <p:sp>
        <p:nvSpPr>
          <p:cNvPr id="1513" name="lo4-b"/>
          <p:cNvSpPr txBox="1"/>
          <p:nvPr/>
        </p:nvSpPr>
        <p:spPr>
          <a:xfrm>
            <a:off x="509552" y="1537054"/>
            <a:ext cx="1316736" cy="365760"/>
          </a:xfrm>
          <a:prstGeom prst="rect">
            <a:avLst/>
          </a:prstGeom>
          <a:noFill/>
        </p:spPr>
        <p:txBody>
          <a:bodyPr wrap="square" lIns="0" tIns="0" rIns="0" bIns="0" anchor="t"/>
          <a:lstStyle/>
          <a:p>
            <a:pPr algn="ctr" rtl="1">
              <a:lnSpc>
                <a:spcPct val="118000"/>
              </a:lnSpc>
              <a:spcAft>
                <a:spcPts val="0"/>
              </a:spcAft>
            </a:pPr>
            <a:r>
              <a:rPr lang="ar-SA" sz="450" b="0" dirty="0">
                <a:solidFill>
                  <a:srgbClr val="5D6167"/>
                </a:solidFill>
                <a:latin typeface="DiodrumArabic-Medium"/>
                <a:ea typeface="DiodrumArabic-Medium"/>
                <a:cs typeface="DiodrumArabic-Medium"/>
              </a:rPr>
              <a:t>متابعة تقدم كل فرصة أو بحث حتى الوصول إلى مخرج قابل للاستفادة.</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الثاني: ملتقى البحث والابتكار الحكومي</a:t>
            </a:r>
          </a:p>
        </p:txBody>
      </p:sp>
      <p:sp>
        <p:nvSpPr>
          <p:cNvPr id="1515"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40" b="0" dirty="0">
                <a:solidFill>
                  <a:srgbClr val="24135F"/>
                </a:solidFill>
                <a:latin typeface="DiodrumArabic-Bold"/>
                <a:ea typeface="DiodrumArabic-Bold"/>
                <a:cs typeface="DiodrumArabic-Bold"/>
              </a:rPr>
              <a:t>كيف نقيس أثر التفعيل؟</a:t>
            </a:r>
          </a:p>
        </p:txBody>
      </p:sp>
      <p:sp>
        <p:nvSpPr>
          <p:cNvPr id="1516"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تُعرَّف مؤشرات الأداء بالتفصيل ضمن خطة تفعيل الملتقى، وتُحدَّد قيمها المستهدفة قبل الإطلاق.</a:t>
            </a:r>
          </a:p>
        </p:txBody>
      </p:sp>
      <p:sp>
        <p:nvSpPr>
          <p:cNvPr id="1517"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518" name="k0"/>
          <p:cNvSpPr/>
          <p:nvPr/>
        </p:nvSpPr>
        <p:spPr>
          <a:xfrm>
            <a:off x="5378501" y="1280160"/>
            <a:ext cx="1177747"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19" name="k0-bar"/>
          <p:cNvSpPr/>
          <p:nvPr/>
        </p:nvSpPr>
        <p:spPr>
          <a:xfrm>
            <a:off x="5451653" y="1280160"/>
            <a:ext cx="1031443" cy="29261"/>
          </a:xfrm>
          <a:prstGeom prst="roundRect">
            <a:avLst>
              <a:gd name="adj" fmla="val 50000"/>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20" name="k0-num"/>
          <p:cNvSpPr txBox="1"/>
          <p:nvPr/>
        </p:nvSpPr>
        <p:spPr>
          <a:xfrm>
            <a:off x="5469941" y="1408176"/>
            <a:ext cx="994867" cy="274320"/>
          </a:xfrm>
          <a:prstGeom prst="rect">
            <a:avLst/>
          </a:prstGeom>
          <a:noFill/>
        </p:spPr>
        <p:txBody>
          <a:bodyPr wrap="square" lIns="0" tIns="0" rIns="0" bIns="0" anchor="t"/>
          <a:lstStyle/>
          <a:p>
            <a:pPr algn="ctr">
              <a:spcAft>
                <a:spcPts val="0"/>
              </a:spcAft>
            </a:pPr>
            <a:r>
              <a:rPr lang="en-US" sz="1100" b="0" dirty="0">
                <a:solidFill>
                  <a:srgbClr val="B98900"/>
                </a:solidFill>
                <a:latin typeface="DiodrumArabic-Bold"/>
                <a:ea typeface="DiodrumArabic-Bold"/>
                <a:cs typeface="DiodrumArabic-Bold"/>
              </a:rPr>
              <a:t>TBD</a:t>
            </a:r>
          </a:p>
        </p:txBody>
      </p:sp>
      <p:sp>
        <p:nvSpPr>
          <p:cNvPr id="1521" name="k0-t"/>
          <p:cNvSpPr txBox="1"/>
          <p:nvPr/>
        </p:nvSpPr>
        <p:spPr>
          <a:xfrm>
            <a:off x="5451653" y="1719072"/>
            <a:ext cx="1031443" cy="137160"/>
          </a:xfrm>
          <a:prstGeom prst="rect">
            <a:avLst/>
          </a:prstGeom>
          <a:noFill/>
        </p:spPr>
        <p:txBody>
          <a:bodyPr wrap="square" lIns="0" tIns="0" rIns="0" bIns="0" anchor="t"/>
          <a:lstStyle/>
          <a:p>
            <a:pPr algn="ctr" rtl="1">
              <a:spcAft>
                <a:spcPts val="0"/>
              </a:spcAft>
            </a:pPr>
            <a:r>
              <a:rPr lang="ar-SA" sz="620" b="0" dirty="0">
                <a:solidFill>
                  <a:srgbClr val="24135F"/>
                </a:solidFill>
                <a:latin typeface="DiodrumArabic-Bold"/>
                <a:ea typeface="DiodrumArabic-Bold"/>
                <a:cs typeface="DiodrumArabic-Bold"/>
              </a:rPr>
              <a:t>الأبحاث</a:t>
            </a:r>
          </a:p>
        </p:txBody>
      </p:sp>
      <p:sp>
        <p:nvSpPr>
          <p:cNvPr id="1522" name="k0-b"/>
          <p:cNvSpPr txBox="1"/>
          <p:nvPr/>
        </p:nvSpPr>
        <p:spPr>
          <a:xfrm>
            <a:off x="5469941" y="1883664"/>
            <a:ext cx="994867" cy="731520"/>
          </a:xfrm>
          <a:prstGeom prst="rect">
            <a:avLst/>
          </a:prstGeom>
          <a:noFill/>
        </p:spPr>
        <p:txBody>
          <a:bodyPr wrap="square" lIns="0" tIns="0" rIns="0" bIns="0" anchor="t"/>
          <a:lstStyle/>
          <a:p>
            <a:pPr algn="ctr" rtl="1">
              <a:lnSpc>
                <a:spcPct val="122000"/>
              </a:lnSpc>
              <a:spcAft>
                <a:spcPts val="0"/>
              </a:spcAft>
            </a:pPr>
            <a:r>
              <a:rPr lang="ar-SA" sz="460" b="0" dirty="0">
                <a:solidFill>
                  <a:srgbClr val="5D6167"/>
                </a:solidFill>
                <a:latin typeface="DiodrumArabic-Medium"/>
                <a:ea typeface="DiodrumArabic-Medium"/>
                <a:cs typeface="DiodrumArabic-Medium"/>
              </a:rPr>
              <a:t>عدد الأبحاث التي انتقلت إلى التقييم أو الاحتضان.</a:t>
            </a:r>
          </a:p>
        </p:txBody>
      </p:sp>
      <p:sp>
        <p:nvSpPr>
          <p:cNvPr id="1523" name="k1"/>
          <p:cNvSpPr/>
          <p:nvPr/>
        </p:nvSpPr>
        <p:spPr>
          <a:xfrm>
            <a:off x="4109314" y="1280160"/>
            <a:ext cx="1177747"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24" name="k1-bar"/>
          <p:cNvSpPr/>
          <p:nvPr/>
        </p:nvSpPr>
        <p:spPr>
          <a:xfrm>
            <a:off x="4182466" y="1280160"/>
            <a:ext cx="1031443" cy="29261"/>
          </a:xfrm>
          <a:prstGeom prst="roundRect">
            <a:avLst>
              <a:gd name="adj" fmla="val 50000"/>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25" name="k1-num"/>
          <p:cNvSpPr txBox="1"/>
          <p:nvPr/>
        </p:nvSpPr>
        <p:spPr>
          <a:xfrm>
            <a:off x="4200754" y="1408176"/>
            <a:ext cx="994867" cy="274320"/>
          </a:xfrm>
          <a:prstGeom prst="rect">
            <a:avLst/>
          </a:prstGeom>
          <a:noFill/>
        </p:spPr>
        <p:txBody>
          <a:bodyPr wrap="square" lIns="0" tIns="0" rIns="0" bIns="0" anchor="t"/>
          <a:lstStyle/>
          <a:p>
            <a:pPr algn="ctr">
              <a:spcAft>
                <a:spcPts val="0"/>
              </a:spcAft>
            </a:pPr>
            <a:r>
              <a:rPr lang="en-US" sz="1100" b="0" dirty="0">
                <a:solidFill>
                  <a:srgbClr val="B98900"/>
                </a:solidFill>
                <a:latin typeface="DiodrumArabic-Bold"/>
                <a:ea typeface="DiodrumArabic-Bold"/>
                <a:cs typeface="DiodrumArabic-Bold"/>
              </a:rPr>
              <a:t>TBD</a:t>
            </a:r>
          </a:p>
        </p:txBody>
      </p:sp>
      <p:sp>
        <p:nvSpPr>
          <p:cNvPr id="1526" name="k1-t"/>
          <p:cNvSpPr txBox="1"/>
          <p:nvPr/>
        </p:nvSpPr>
        <p:spPr>
          <a:xfrm>
            <a:off x="4182466" y="1719072"/>
            <a:ext cx="1031443" cy="137160"/>
          </a:xfrm>
          <a:prstGeom prst="rect">
            <a:avLst/>
          </a:prstGeom>
          <a:noFill/>
        </p:spPr>
        <p:txBody>
          <a:bodyPr wrap="square" lIns="0" tIns="0" rIns="0" bIns="0" anchor="t"/>
          <a:lstStyle/>
          <a:p>
            <a:pPr algn="ctr" rtl="1">
              <a:spcAft>
                <a:spcPts val="0"/>
              </a:spcAft>
            </a:pPr>
            <a:r>
              <a:rPr lang="ar-SA" sz="620" b="0" dirty="0">
                <a:solidFill>
                  <a:srgbClr val="24135F"/>
                </a:solidFill>
                <a:latin typeface="DiodrumArabic-Bold"/>
                <a:ea typeface="DiodrumArabic-Bold"/>
                <a:cs typeface="DiodrumArabic-Bold"/>
              </a:rPr>
              <a:t>فرص التعاون</a:t>
            </a:r>
          </a:p>
        </p:txBody>
      </p:sp>
      <p:sp>
        <p:nvSpPr>
          <p:cNvPr id="1527" name="k1-b"/>
          <p:cNvSpPr txBox="1"/>
          <p:nvPr/>
        </p:nvSpPr>
        <p:spPr>
          <a:xfrm>
            <a:off x="4200754" y="1883664"/>
            <a:ext cx="994867" cy="731520"/>
          </a:xfrm>
          <a:prstGeom prst="rect">
            <a:avLst/>
          </a:prstGeom>
          <a:noFill/>
        </p:spPr>
        <p:txBody>
          <a:bodyPr wrap="square" lIns="0" tIns="0" rIns="0" bIns="0" anchor="t"/>
          <a:lstStyle/>
          <a:p>
            <a:pPr algn="ctr" rtl="1">
              <a:lnSpc>
                <a:spcPct val="122000"/>
              </a:lnSpc>
              <a:spcAft>
                <a:spcPts val="0"/>
              </a:spcAft>
            </a:pPr>
            <a:r>
              <a:rPr lang="ar-SA" sz="460" b="0" dirty="0">
                <a:solidFill>
                  <a:srgbClr val="5D6167"/>
                </a:solidFill>
                <a:latin typeface="DiodrumArabic-Medium"/>
                <a:ea typeface="DiodrumArabic-Medium"/>
                <a:cs typeface="DiodrumArabic-Medium"/>
              </a:rPr>
              <a:t>عدد فرص التعاون التي تم تحديد أطرافها وخطواتها التالية.</a:t>
            </a:r>
          </a:p>
        </p:txBody>
      </p:sp>
      <p:sp>
        <p:nvSpPr>
          <p:cNvPr id="1528" name="k2"/>
          <p:cNvSpPr/>
          <p:nvPr/>
        </p:nvSpPr>
        <p:spPr>
          <a:xfrm>
            <a:off x="2840126" y="1280160"/>
            <a:ext cx="1177747"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29" name="k2-bar"/>
          <p:cNvSpPr/>
          <p:nvPr/>
        </p:nvSpPr>
        <p:spPr>
          <a:xfrm>
            <a:off x="2913278" y="1280160"/>
            <a:ext cx="1031443" cy="29261"/>
          </a:xfrm>
          <a:prstGeom prst="roundRect">
            <a:avLst>
              <a:gd name="adj" fmla="val 50000"/>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30" name="k2-num"/>
          <p:cNvSpPr txBox="1"/>
          <p:nvPr/>
        </p:nvSpPr>
        <p:spPr>
          <a:xfrm>
            <a:off x="2931566" y="1408176"/>
            <a:ext cx="994867" cy="274320"/>
          </a:xfrm>
          <a:prstGeom prst="rect">
            <a:avLst/>
          </a:prstGeom>
          <a:noFill/>
        </p:spPr>
        <p:txBody>
          <a:bodyPr wrap="square" lIns="0" tIns="0" rIns="0" bIns="0" anchor="t"/>
          <a:lstStyle/>
          <a:p>
            <a:pPr algn="ctr">
              <a:spcAft>
                <a:spcPts val="0"/>
              </a:spcAft>
            </a:pPr>
            <a:r>
              <a:rPr lang="en-US" sz="1100" b="0" dirty="0">
                <a:solidFill>
                  <a:srgbClr val="B98900"/>
                </a:solidFill>
                <a:latin typeface="DiodrumArabic-Bold"/>
                <a:ea typeface="DiodrumArabic-Bold"/>
                <a:cs typeface="DiodrumArabic-Bold"/>
              </a:rPr>
              <a:t>TBD</a:t>
            </a:r>
          </a:p>
        </p:txBody>
      </p:sp>
      <p:sp>
        <p:nvSpPr>
          <p:cNvPr id="1531" name="k2-t"/>
          <p:cNvSpPr txBox="1"/>
          <p:nvPr/>
        </p:nvSpPr>
        <p:spPr>
          <a:xfrm>
            <a:off x="2913278" y="1719072"/>
            <a:ext cx="1031443" cy="137160"/>
          </a:xfrm>
          <a:prstGeom prst="rect">
            <a:avLst/>
          </a:prstGeom>
          <a:noFill/>
        </p:spPr>
        <p:txBody>
          <a:bodyPr wrap="square" lIns="0" tIns="0" rIns="0" bIns="0" anchor="t"/>
          <a:lstStyle/>
          <a:p>
            <a:pPr algn="ctr" rtl="1">
              <a:spcAft>
                <a:spcPts val="0"/>
              </a:spcAft>
            </a:pPr>
            <a:r>
              <a:rPr lang="ar-SA" sz="620" b="0" dirty="0">
                <a:solidFill>
                  <a:srgbClr val="24135F"/>
                </a:solidFill>
                <a:latin typeface="DiodrumArabic-Bold"/>
                <a:ea typeface="DiodrumArabic-Bold"/>
                <a:cs typeface="DiodrumArabic-Bold"/>
              </a:rPr>
              <a:t>التحديات الحكومية</a:t>
            </a:r>
          </a:p>
        </p:txBody>
      </p:sp>
      <p:sp>
        <p:nvSpPr>
          <p:cNvPr id="1532" name="k2-b"/>
          <p:cNvSpPr txBox="1"/>
          <p:nvPr/>
        </p:nvSpPr>
        <p:spPr>
          <a:xfrm>
            <a:off x="2931566" y="1883664"/>
            <a:ext cx="994867" cy="731520"/>
          </a:xfrm>
          <a:prstGeom prst="rect">
            <a:avLst/>
          </a:prstGeom>
          <a:noFill/>
        </p:spPr>
        <p:txBody>
          <a:bodyPr wrap="square" lIns="0" tIns="0" rIns="0" bIns="0" anchor="t"/>
          <a:lstStyle/>
          <a:p>
            <a:pPr algn="ctr" rtl="1">
              <a:lnSpc>
                <a:spcPct val="122000"/>
              </a:lnSpc>
              <a:spcAft>
                <a:spcPts val="0"/>
              </a:spcAft>
            </a:pPr>
            <a:r>
              <a:rPr lang="ar-SA" sz="460" b="0" dirty="0">
                <a:solidFill>
                  <a:srgbClr val="5D6167"/>
                </a:solidFill>
                <a:latin typeface="DiodrumArabic-Medium"/>
                <a:ea typeface="DiodrumArabic-Medium"/>
                <a:cs typeface="DiodrumArabic-Medium"/>
              </a:rPr>
              <a:t>عدد التحديات التي تمت مواءمتها مع أبحاث أو خبرات مناسبة.</a:t>
            </a:r>
          </a:p>
        </p:txBody>
      </p:sp>
      <p:sp>
        <p:nvSpPr>
          <p:cNvPr id="1533" name="k3"/>
          <p:cNvSpPr/>
          <p:nvPr/>
        </p:nvSpPr>
        <p:spPr>
          <a:xfrm>
            <a:off x="1570939" y="1280160"/>
            <a:ext cx="1177747"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34" name="k3-bar"/>
          <p:cNvSpPr/>
          <p:nvPr/>
        </p:nvSpPr>
        <p:spPr>
          <a:xfrm>
            <a:off x="1644091" y="1280160"/>
            <a:ext cx="1031443" cy="29261"/>
          </a:xfrm>
          <a:prstGeom prst="roundRect">
            <a:avLst>
              <a:gd name="adj" fmla="val 50000"/>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35" name="k3-num"/>
          <p:cNvSpPr txBox="1"/>
          <p:nvPr/>
        </p:nvSpPr>
        <p:spPr>
          <a:xfrm>
            <a:off x="1662379" y="1408176"/>
            <a:ext cx="994867" cy="274320"/>
          </a:xfrm>
          <a:prstGeom prst="rect">
            <a:avLst/>
          </a:prstGeom>
          <a:noFill/>
        </p:spPr>
        <p:txBody>
          <a:bodyPr wrap="square" lIns="0" tIns="0" rIns="0" bIns="0" anchor="t"/>
          <a:lstStyle/>
          <a:p>
            <a:pPr algn="ctr">
              <a:spcAft>
                <a:spcPts val="0"/>
              </a:spcAft>
            </a:pPr>
            <a:r>
              <a:rPr lang="en-US" sz="1100" b="0" dirty="0">
                <a:solidFill>
                  <a:srgbClr val="B98900"/>
                </a:solidFill>
                <a:latin typeface="DiodrumArabic-Bold"/>
                <a:ea typeface="DiodrumArabic-Bold"/>
                <a:cs typeface="DiodrumArabic-Bold"/>
              </a:rPr>
              <a:t>TBD</a:t>
            </a:r>
          </a:p>
        </p:txBody>
      </p:sp>
      <p:sp>
        <p:nvSpPr>
          <p:cNvPr id="1536" name="k3-t"/>
          <p:cNvSpPr txBox="1"/>
          <p:nvPr/>
        </p:nvSpPr>
        <p:spPr>
          <a:xfrm>
            <a:off x="1644091" y="1719072"/>
            <a:ext cx="1031443" cy="137160"/>
          </a:xfrm>
          <a:prstGeom prst="rect">
            <a:avLst/>
          </a:prstGeom>
          <a:noFill/>
        </p:spPr>
        <p:txBody>
          <a:bodyPr wrap="square" lIns="0" tIns="0" rIns="0" bIns="0" anchor="t"/>
          <a:lstStyle/>
          <a:p>
            <a:pPr algn="ctr" rtl="1">
              <a:spcAft>
                <a:spcPts val="0"/>
              </a:spcAft>
            </a:pPr>
            <a:r>
              <a:rPr lang="ar-SA" sz="620" b="0" dirty="0">
                <a:solidFill>
                  <a:srgbClr val="24135F"/>
                </a:solidFill>
                <a:latin typeface="DiodrumArabic-Bold"/>
                <a:ea typeface="DiodrumArabic-Bold"/>
                <a:cs typeface="DiodrumArabic-Bold"/>
              </a:rPr>
              <a:t>المخرجات</a:t>
            </a:r>
          </a:p>
        </p:txBody>
      </p:sp>
      <p:sp>
        <p:nvSpPr>
          <p:cNvPr id="1537" name="k3-b"/>
          <p:cNvSpPr txBox="1"/>
          <p:nvPr/>
        </p:nvSpPr>
        <p:spPr>
          <a:xfrm>
            <a:off x="1662379" y="1883664"/>
            <a:ext cx="994867" cy="731520"/>
          </a:xfrm>
          <a:prstGeom prst="rect">
            <a:avLst/>
          </a:prstGeom>
          <a:noFill/>
        </p:spPr>
        <p:txBody>
          <a:bodyPr wrap="square" lIns="0" tIns="0" rIns="0" bIns="0" anchor="t"/>
          <a:lstStyle/>
          <a:p>
            <a:pPr algn="ctr" rtl="1">
              <a:lnSpc>
                <a:spcPct val="122000"/>
              </a:lnSpc>
              <a:spcAft>
                <a:spcPts val="0"/>
              </a:spcAft>
            </a:pPr>
            <a:r>
              <a:rPr lang="ar-SA" sz="460" b="0" dirty="0">
                <a:solidFill>
                  <a:srgbClr val="5D6167"/>
                </a:solidFill>
                <a:latin typeface="DiodrumArabic-Medium"/>
                <a:ea typeface="DiodrumArabic-Medium"/>
                <a:cs typeface="DiodrumArabic-Medium"/>
              </a:rPr>
              <a:t>عدد المخرجات التي انتقلت إلى التطوير أو التجربة أو الاستفادة.</a:t>
            </a:r>
          </a:p>
        </p:txBody>
      </p:sp>
      <p:sp>
        <p:nvSpPr>
          <p:cNvPr id="1538" name="k4"/>
          <p:cNvSpPr/>
          <p:nvPr/>
        </p:nvSpPr>
        <p:spPr>
          <a:xfrm>
            <a:off x="301752" y="1280160"/>
            <a:ext cx="1177747" cy="1417320"/>
          </a:xfrm>
          <a:prstGeom prst="roundRect">
            <a:avLst>
              <a:gd name="adj" fmla="val 3354"/>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39" name="k4-bar"/>
          <p:cNvSpPr/>
          <p:nvPr/>
        </p:nvSpPr>
        <p:spPr>
          <a:xfrm>
            <a:off x="374904" y="1280160"/>
            <a:ext cx="1031443" cy="29261"/>
          </a:xfrm>
          <a:prstGeom prst="roundRect">
            <a:avLst>
              <a:gd name="adj" fmla="val 50000"/>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40" name="k4-num"/>
          <p:cNvSpPr txBox="1"/>
          <p:nvPr/>
        </p:nvSpPr>
        <p:spPr>
          <a:xfrm>
            <a:off x="393192" y="1408176"/>
            <a:ext cx="994867" cy="274320"/>
          </a:xfrm>
          <a:prstGeom prst="rect">
            <a:avLst/>
          </a:prstGeom>
          <a:noFill/>
        </p:spPr>
        <p:txBody>
          <a:bodyPr wrap="square" lIns="0" tIns="0" rIns="0" bIns="0" anchor="t"/>
          <a:lstStyle/>
          <a:p>
            <a:pPr algn="ctr">
              <a:spcAft>
                <a:spcPts val="0"/>
              </a:spcAft>
            </a:pPr>
            <a:r>
              <a:rPr lang="en-US" sz="1100" b="0" dirty="0">
                <a:solidFill>
                  <a:srgbClr val="B98900"/>
                </a:solidFill>
                <a:latin typeface="DiodrumArabic-Bold"/>
                <a:ea typeface="DiodrumArabic-Bold"/>
                <a:cs typeface="DiodrumArabic-Bold"/>
              </a:rPr>
              <a:t>TBD</a:t>
            </a:r>
          </a:p>
        </p:txBody>
      </p:sp>
      <p:sp>
        <p:nvSpPr>
          <p:cNvPr id="1541" name="k4-t"/>
          <p:cNvSpPr txBox="1"/>
          <p:nvPr/>
        </p:nvSpPr>
        <p:spPr>
          <a:xfrm>
            <a:off x="374904" y="1719072"/>
            <a:ext cx="1031443" cy="137160"/>
          </a:xfrm>
          <a:prstGeom prst="rect">
            <a:avLst/>
          </a:prstGeom>
          <a:noFill/>
        </p:spPr>
        <p:txBody>
          <a:bodyPr wrap="square" lIns="0" tIns="0" rIns="0" bIns="0" anchor="t"/>
          <a:lstStyle/>
          <a:p>
            <a:pPr algn="ctr" rtl="1">
              <a:spcAft>
                <a:spcPts val="0"/>
              </a:spcAft>
            </a:pPr>
            <a:r>
              <a:rPr lang="ar-SA" sz="620" b="0" dirty="0">
                <a:solidFill>
                  <a:srgbClr val="24135F"/>
                </a:solidFill>
                <a:latin typeface="DiodrumArabic-Bold"/>
                <a:ea typeface="DiodrumArabic-Bold"/>
                <a:cs typeface="DiodrumArabic-Bold"/>
              </a:rPr>
              <a:t>الشراكات</a:t>
            </a:r>
          </a:p>
        </p:txBody>
      </p:sp>
      <p:sp>
        <p:nvSpPr>
          <p:cNvPr id="1542" name="k4-b"/>
          <p:cNvSpPr txBox="1"/>
          <p:nvPr/>
        </p:nvSpPr>
        <p:spPr>
          <a:xfrm>
            <a:off x="393192" y="1883664"/>
            <a:ext cx="994867" cy="731520"/>
          </a:xfrm>
          <a:prstGeom prst="rect">
            <a:avLst/>
          </a:prstGeom>
          <a:noFill/>
        </p:spPr>
        <p:txBody>
          <a:bodyPr wrap="square" lIns="0" tIns="0" rIns="0" bIns="0" anchor="t"/>
          <a:lstStyle/>
          <a:p>
            <a:pPr algn="ctr" rtl="1">
              <a:lnSpc>
                <a:spcPct val="122000"/>
              </a:lnSpc>
              <a:spcAft>
                <a:spcPts val="0"/>
              </a:spcAft>
            </a:pPr>
            <a:r>
              <a:rPr lang="ar-SA" sz="460" b="0" dirty="0">
                <a:solidFill>
                  <a:srgbClr val="5D6167"/>
                </a:solidFill>
                <a:latin typeface="DiodrumArabic-Medium"/>
                <a:ea typeface="DiodrumArabic-Medium"/>
                <a:cs typeface="DiodrumArabic-Medium"/>
              </a:rPr>
              <a:t>عدد الجهات المشاركة في مسارات تعاون فعلية.</a:t>
            </a:r>
          </a:p>
        </p:txBody>
      </p:sp>
      <p:sp>
        <p:nvSpPr>
          <p:cNvPr id="1543" name="note"/>
          <p:cNvSpPr txBox="1"/>
          <p:nvPr/>
        </p:nvSpPr>
        <p:spPr>
          <a:xfrm>
            <a:off x="301752" y="2852928"/>
            <a:ext cx="6254496" cy="274320"/>
          </a:xfrm>
          <a:prstGeom prst="rect">
            <a:avLst/>
          </a:prstGeom>
          <a:noFill/>
        </p:spPr>
        <p:txBody>
          <a:bodyPr wrap="square" lIns="0" tIns="0" rIns="0" bIns="0" anchor="t"/>
          <a:lstStyle/>
          <a:p>
            <a:pPr algn="ctr" rtl="1">
              <a:spcAft>
                <a:spcPts val="0"/>
              </a:spcAft>
            </a:pPr>
            <a:r>
              <a:rPr lang="ar-SA" sz="480" b="0" dirty="0">
                <a:solidFill>
                  <a:srgbClr val="5D6167"/>
                </a:solidFill>
                <a:latin typeface="DiodrumArabic-Regular"/>
                <a:ea typeface="DiodrumArabic-Regular"/>
                <a:cs typeface="DiodrumArabic-Regular"/>
              </a:rPr>
              <a:t>يتم اعتماد القيم المستهدفة النهائية بعد تحديد نطاق التنفيذ والموارد.</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4" name="big-num"/>
          <p:cNvSpPr txBox="1"/>
          <p:nvPr/>
        </p:nvSpPr>
        <p:spPr>
          <a:xfrm>
            <a:off x="146304" y="1188720"/>
            <a:ext cx="1316736" cy="1463040"/>
          </a:xfrm>
          <a:prstGeom prst="rect">
            <a:avLst/>
          </a:prstGeom>
          <a:noFill/>
        </p:spPr>
        <p:txBody>
          <a:bodyPr wrap="square" lIns="0" tIns="0" rIns="0" bIns="0" anchor="ctr"/>
          <a:lstStyle/>
          <a:p>
            <a:pPr algn="l">
              <a:spcAft>
                <a:spcPts val="0"/>
              </a:spcAft>
            </a:pPr>
            <a:r>
              <a:rPr lang="en-US" sz="8800" b="0" dirty="0">
                <a:solidFill>
                  <a:srgbClr val="FFFFFF"/>
                </a:solidFill>
                <a:latin typeface="DiodrumArabic-Bold"/>
                <a:ea typeface="DiodrumArabic-Bold"/>
                <a:cs typeface="DiodrumArabic-Bold"/>
              </a:rPr>
              <a:t>03</a:t>
            </a:r>
          </a:p>
        </p:txBody>
      </p:sp>
      <p:sp>
        <p:nvSpPr>
          <p:cNvPr id="1545" name="kicker"/>
          <p:cNvSpPr txBox="1"/>
          <p:nvPr/>
        </p:nvSpPr>
        <p:spPr>
          <a:xfrm>
            <a:off x="4937760" y="1572768"/>
            <a:ext cx="1316736" cy="128016"/>
          </a:xfrm>
          <a:prstGeom prst="rect">
            <a:avLst/>
          </a:prstGeom>
          <a:noFill/>
        </p:spPr>
        <p:txBody>
          <a:bodyPr wrap="square" lIns="0" tIns="0" rIns="0" bIns="0" anchor="t"/>
          <a:lstStyle/>
          <a:p>
            <a:pPr algn="r" rtl="1">
              <a:spcAft>
                <a:spcPts val="0"/>
              </a:spcAft>
            </a:pPr>
            <a:r>
              <a:rPr lang="ar-SA" sz="618" b="0" dirty="0">
                <a:solidFill>
                  <a:srgbClr val="1CC182"/>
                </a:solidFill>
                <a:latin typeface="DiodrumArabic-Semibold"/>
                <a:ea typeface="DiodrumArabic-Semibold"/>
                <a:cs typeface="DiodrumArabic-Semibold"/>
              </a:rPr>
              <a:t>القسم الثالث</a:t>
            </a:r>
          </a:p>
        </p:txBody>
      </p:sp>
      <p:sp>
        <p:nvSpPr>
          <p:cNvPr id="1546" name="title"/>
          <p:cNvSpPr txBox="1"/>
          <p:nvPr/>
        </p:nvSpPr>
        <p:spPr>
          <a:xfrm>
            <a:off x="2377440" y="1764792"/>
            <a:ext cx="3877056" cy="502920"/>
          </a:xfrm>
          <a:prstGeom prst="rect">
            <a:avLst/>
          </a:prstGeom>
          <a:noFill/>
        </p:spPr>
        <p:txBody>
          <a:bodyPr wrap="square" lIns="0" tIns="0" rIns="0" bIns="0" anchor="t"/>
          <a:lstStyle/>
          <a:p>
            <a:pPr algn="r" rtl="1">
              <a:lnSpc>
                <a:spcPct val="115000"/>
              </a:lnSpc>
              <a:spcAft>
                <a:spcPts val="0"/>
              </a:spcAft>
            </a:pPr>
            <a:r>
              <a:rPr lang="ar-SA" sz="1550" b="0" dirty="0">
                <a:solidFill>
                  <a:srgbClr val="FFFFFF"/>
                </a:solidFill>
                <a:latin typeface="DiodrumArabic-Bold"/>
                <a:ea typeface="DiodrumArabic-Bold"/>
                <a:cs typeface="DiodrumArabic-Bold"/>
              </a:rPr>
              <a:t>القرار المطلوب</a:t>
            </a:r>
          </a:p>
        </p:txBody>
      </p:sp>
      <p:sp>
        <p:nvSpPr>
          <p:cNvPr id="1547" name="desc"/>
          <p:cNvSpPr txBox="1"/>
          <p:nvPr/>
        </p:nvSpPr>
        <p:spPr>
          <a:xfrm>
            <a:off x="2377440" y="2331720"/>
            <a:ext cx="3877056" cy="274320"/>
          </a:xfrm>
          <a:prstGeom prst="rect">
            <a:avLst/>
          </a:prstGeom>
          <a:noFill/>
        </p:spPr>
        <p:txBody>
          <a:bodyPr wrap="square" lIns="0" tIns="0" rIns="0" bIns="0" anchor="t"/>
          <a:lstStyle/>
          <a:p>
            <a:pPr algn="r" rtl="1">
              <a:lnSpc>
                <a:spcPct val="130000"/>
              </a:lnSpc>
              <a:spcAft>
                <a:spcPts val="0"/>
              </a:spcAft>
            </a:pPr>
            <a:r>
              <a:rPr lang="ar-SA" sz="620" b="0" dirty="0">
                <a:solidFill>
                  <a:srgbClr val="DCD3F0"/>
                </a:solidFill>
                <a:latin typeface="DiodrumArabic-Regular"/>
                <a:ea typeface="DiodrumArabic-Regular"/>
                <a:cs typeface="DiodrumArabic-Regular"/>
              </a:rPr>
              <a:t>من التصور إلى التنفيذ</a:t>
            </a:r>
          </a:p>
        </p:txBody>
      </p:sp>
      <p:sp>
        <p:nvSpPr>
          <p:cNvPr id="1548" name="prog1"/>
          <p:cNvSpPr/>
          <p:nvPr/>
        </p:nvSpPr>
        <p:spPr>
          <a:xfrm>
            <a:off x="61722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49" name="prog2"/>
          <p:cNvSpPr/>
          <p:nvPr/>
        </p:nvSpPr>
        <p:spPr>
          <a:xfrm>
            <a:off x="5829300" y="1216152"/>
            <a:ext cx="283464" cy="36576"/>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50" name="prog3"/>
          <p:cNvSpPr/>
          <p:nvPr/>
        </p:nvSpPr>
        <p:spPr>
          <a:xfrm>
            <a:off x="5486400" y="1216152"/>
            <a:ext cx="283464" cy="36576"/>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1"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الثالث: القرار المطلوب</a:t>
            </a:r>
          </a:p>
        </p:txBody>
      </p:sp>
      <p:sp>
        <p:nvSpPr>
          <p:cNvPr id="1552"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50" b="0" dirty="0">
                <a:solidFill>
                  <a:srgbClr val="24135F"/>
                </a:solidFill>
                <a:latin typeface="DiodrumArabic-Bold"/>
                <a:ea typeface="DiodrumArabic-Bold"/>
                <a:cs typeface="DiodrumArabic-Bold"/>
              </a:rPr>
              <a:t>القرار المطلوب</a:t>
            </a:r>
          </a:p>
        </p:txBody>
      </p:sp>
      <p:sp>
        <p:nvSpPr>
          <p:cNvPr id="1553"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554" name="r0"/>
          <p:cNvSpPr/>
          <p:nvPr/>
        </p:nvSpPr>
        <p:spPr>
          <a:xfrm>
            <a:off x="301752" y="1097280"/>
            <a:ext cx="6254496" cy="475488"/>
          </a:xfrm>
          <a:prstGeom prst="roundRect">
            <a:avLst>
              <a:gd name="adj" fmla="val 10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55" name="r0-num"/>
          <p:cNvSpPr txBox="1"/>
          <p:nvPr/>
        </p:nvSpPr>
        <p:spPr>
          <a:xfrm>
            <a:off x="6053328" y="1097280"/>
            <a:ext cx="384048" cy="475488"/>
          </a:xfrm>
          <a:prstGeom prst="rect">
            <a:avLst/>
          </a:prstGeom>
          <a:noFill/>
        </p:spPr>
        <p:txBody>
          <a:bodyPr wrap="square" lIns="0" tIns="0" rIns="0" bIns="0" anchor="ctr"/>
          <a:lstStyle/>
          <a:p>
            <a:pPr algn="r">
              <a:spcAft>
                <a:spcPts val="0"/>
              </a:spcAft>
            </a:pPr>
            <a:r>
              <a:rPr lang="en-US" sz="1300" b="0" dirty="0">
                <a:solidFill>
                  <a:srgbClr val="1CC182"/>
                </a:solidFill>
                <a:latin typeface="DiodrumArabic-Bold"/>
                <a:ea typeface="DiodrumArabic-Bold"/>
                <a:cs typeface="DiodrumArabic-Bold"/>
              </a:rPr>
              <a:t>1</a:t>
            </a:r>
          </a:p>
        </p:txBody>
      </p:sp>
      <p:sp>
        <p:nvSpPr>
          <p:cNvPr id="1556" name="r0-t"/>
          <p:cNvSpPr txBox="1"/>
          <p:nvPr/>
        </p:nvSpPr>
        <p:spPr>
          <a:xfrm>
            <a:off x="466344" y="1152144"/>
            <a:ext cx="5477256" cy="155448"/>
          </a:xfrm>
          <a:prstGeom prst="rect">
            <a:avLst/>
          </a:prstGeom>
          <a:noFill/>
        </p:spPr>
        <p:txBody>
          <a:bodyPr wrap="square" lIns="0" tIns="0" rIns="0" bIns="0" anchor="t"/>
          <a:lstStyle/>
          <a:p>
            <a:pPr algn="r" rtl="1">
              <a:spcAft>
                <a:spcPts val="0"/>
              </a:spcAft>
            </a:pPr>
            <a:r>
              <a:rPr lang="ar-SA" sz="660" b="0" dirty="0">
                <a:solidFill>
                  <a:srgbClr val="24135F"/>
                </a:solidFill>
                <a:latin typeface="DiodrumArabic-Bold"/>
                <a:ea typeface="DiodrumArabic-Bold"/>
                <a:cs typeface="DiodrumArabic-Bold"/>
              </a:rPr>
              <a:t>الموافقة المبدئية على تفعيل الملتقى</a:t>
            </a:r>
          </a:p>
        </p:txBody>
      </p:sp>
      <p:sp>
        <p:nvSpPr>
          <p:cNvPr id="1557" name="r0-b"/>
          <p:cNvSpPr txBox="1"/>
          <p:nvPr/>
        </p:nvSpPr>
        <p:spPr>
          <a:xfrm>
            <a:off x="466344" y="1325880"/>
            <a:ext cx="5477256" cy="219456"/>
          </a:xfrm>
          <a:prstGeom prst="rect">
            <a:avLst/>
          </a:prstGeom>
          <a:noFill/>
        </p:spPr>
        <p:txBody>
          <a:bodyPr wrap="square" lIns="0" tIns="0" rIns="0" bIns="0" anchor="t"/>
          <a:lstStyle/>
          <a:p>
            <a:pPr algn="r" rtl="1">
              <a:lnSpc>
                <a:spcPct val="118000"/>
              </a:lnSpc>
              <a:spcAft>
                <a:spcPts val="0"/>
              </a:spcAft>
            </a:pPr>
            <a:r>
              <a:rPr lang="ar-SA" sz="480" b="0" dirty="0">
                <a:solidFill>
                  <a:srgbClr val="5D6167"/>
                </a:solidFill>
                <a:latin typeface="DiodrumArabic-Medium"/>
                <a:ea typeface="DiodrumArabic-Medium"/>
                <a:cs typeface="DiodrumArabic-Medium"/>
              </a:rPr>
              <a:t>ضمن مسارات تفعيل حاضنة الأبحاث وبالموعد والمكان المقترحين.</a:t>
            </a:r>
          </a:p>
        </p:txBody>
      </p:sp>
      <p:sp>
        <p:nvSpPr>
          <p:cNvPr id="1558" name="r1"/>
          <p:cNvSpPr/>
          <p:nvPr/>
        </p:nvSpPr>
        <p:spPr>
          <a:xfrm>
            <a:off x="301752" y="1655064"/>
            <a:ext cx="6254496" cy="475488"/>
          </a:xfrm>
          <a:prstGeom prst="roundRect">
            <a:avLst>
              <a:gd name="adj" fmla="val 10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59" name="r1-num"/>
          <p:cNvSpPr txBox="1"/>
          <p:nvPr/>
        </p:nvSpPr>
        <p:spPr>
          <a:xfrm>
            <a:off x="6053328" y="1655064"/>
            <a:ext cx="384048" cy="475488"/>
          </a:xfrm>
          <a:prstGeom prst="rect">
            <a:avLst/>
          </a:prstGeom>
          <a:noFill/>
        </p:spPr>
        <p:txBody>
          <a:bodyPr wrap="square" lIns="0" tIns="0" rIns="0" bIns="0" anchor="ctr"/>
          <a:lstStyle/>
          <a:p>
            <a:pPr algn="r">
              <a:spcAft>
                <a:spcPts val="0"/>
              </a:spcAft>
            </a:pPr>
            <a:r>
              <a:rPr lang="en-US" sz="1300" b="0" dirty="0">
                <a:solidFill>
                  <a:srgbClr val="1CC182"/>
                </a:solidFill>
                <a:latin typeface="DiodrumArabic-Bold"/>
                <a:ea typeface="DiodrumArabic-Bold"/>
                <a:cs typeface="DiodrumArabic-Bold"/>
              </a:rPr>
              <a:t>2</a:t>
            </a:r>
          </a:p>
        </p:txBody>
      </p:sp>
      <p:sp>
        <p:nvSpPr>
          <p:cNvPr id="1560" name="r1-t"/>
          <p:cNvSpPr txBox="1"/>
          <p:nvPr/>
        </p:nvSpPr>
        <p:spPr>
          <a:xfrm>
            <a:off x="466344" y="1709928"/>
            <a:ext cx="5477256" cy="155448"/>
          </a:xfrm>
          <a:prstGeom prst="rect">
            <a:avLst/>
          </a:prstGeom>
          <a:noFill/>
        </p:spPr>
        <p:txBody>
          <a:bodyPr wrap="square" lIns="0" tIns="0" rIns="0" bIns="0" anchor="t"/>
          <a:lstStyle/>
          <a:p>
            <a:pPr algn="r" rtl="1">
              <a:spcAft>
                <a:spcPts val="0"/>
              </a:spcAft>
            </a:pPr>
            <a:r>
              <a:rPr lang="ar-SA" sz="660" b="0" dirty="0">
                <a:solidFill>
                  <a:srgbClr val="24135F"/>
                </a:solidFill>
                <a:latin typeface="DiodrumArabic-Bold"/>
                <a:ea typeface="DiodrumArabic-Bold"/>
                <a:cs typeface="DiodrumArabic-Bold"/>
              </a:rPr>
              <a:t>التوجيه ببدء التنسيق مع الجهات والشركاء</a:t>
            </a:r>
          </a:p>
        </p:txBody>
      </p:sp>
      <p:sp>
        <p:nvSpPr>
          <p:cNvPr id="1561" name="r1-b"/>
          <p:cNvSpPr txBox="1"/>
          <p:nvPr/>
        </p:nvSpPr>
        <p:spPr>
          <a:xfrm>
            <a:off x="466344" y="1883664"/>
            <a:ext cx="5477256" cy="219456"/>
          </a:xfrm>
          <a:prstGeom prst="rect">
            <a:avLst/>
          </a:prstGeom>
          <a:noFill/>
        </p:spPr>
        <p:txBody>
          <a:bodyPr wrap="square" lIns="0" tIns="0" rIns="0" bIns="0" anchor="t"/>
          <a:lstStyle/>
          <a:p>
            <a:pPr algn="r" rtl="1">
              <a:lnSpc>
                <a:spcPct val="118000"/>
              </a:lnSpc>
              <a:spcAft>
                <a:spcPts val="0"/>
              </a:spcAft>
            </a:pPr>
            <a:r>
              <a:rPr lang="ar-SA" sz="480" b="0" dirty="0">
                <a:solidFill>
                  <a:srgbClr val="5D6167"/>
                </a:solidFill>
                <a:latin typeface="DiodrumArabic-Medium"/>
                <a:ea typeface="DiodrumArabic-Medium"/>
                <a:cs typeface="DiodrumArabic-Medium"/>
              </a:rPr>
              <a:t>لاستقطاب الأبحاث والمشاركات وتحديد فرص التعاون.</a:t>
            </a:r>
          </a:p>
        </p:txBody>
      </p:sp>
      <p:sp>
        <p:nvSpPr>
          <p:cNvPr id="1562" name="r2"/>
          <p:cNvSpPr/>
          <p:nvPr/>
        </p:nvSpPr>
        <p:spPr>
          <a:xfrm>
            <a:off x="301752" y="2212848"/>
            <a:ext cx="6254496" cy="475488"/>
          </a:xfrm>
          <a:prstGeom prst="roundRect">
            <a:avLst>
              <a:gd name="adj" fmla="val 10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63" name="r2-num"/>
          <p:cNvSpPr txBox="1"/>
          <p:nvPr/>
        </p:nvSpPr>
        <p:spPr>
          <a:xfrm>
            <a:off x="6053328" y="2212848"/>
            <a:ext cx="384048" cy="475488"/>
          </a:xfrm>
          <a:prstGeom prst="rect">
            <a:avLst/>
          </a:prstGeom>
          <a:noFill/>
        </p:spPr>
        <p:txBody>
          <a:bodyPr wrap="square" lIns="0" tIns="0" rIns="0" bIns="0" anchor="ctr"/>
          <a:lstStyle/>
          <a:p>
            <a:pPr algn="r">
              <a:spcAft>
                <a:spcPts val="0"/>
              </a:spcAft>
            </a:pPr>
            <a:r>
              <a:rPr lang="en-US" sz="1300" b="0" dirty="0">
                <a:solidFill>
                  <a:srgbClr val="1CC182"/>
                </a:solidFill>
                <a:latin typeface="DiodrumArabic-Bold"/>
                <a:ea typeface="DiodrumArabic-Bold"/>
                <a:cs typeface="DiodrumArabic-Bold"/>
              </a:rPr>
              <a:t>3</a:t>
            </a:r>
          </a:p>
        </p:txBody>
      </p:sp>
      <p:sp>
        <p:nvSpPr>
          <p:cNvPr id="1564" name="r2-t"/>
          <p:cNvSpPr txBox="1"/>
          <p:nvPr/>
        </p:nvSpPr>
        <p:spPr>
          <a:xfrm>
            <a:off x="466344" y="2267712"/>
            <a:ext cx="5477256" cy="155448"/>
          </a:xfrm>
          <a:prstGeom prst="rect">
            <a:avLst/>
          </a:prstGeom>
          <a:noFill/>
        </p:spPr>
        <p:txBody>
          <a:bodyPr wrap="square" lIns="0" tIns="0" rIns="0" bIns="0" anchor="t"/>
          <a:lstStyle/>
          <a:p>
            <a:pPr algn="r" rtl="1">
              <a:spcAft>
                <a:spcPts val="0"/>
              </a:spcAft>
            </a:pPr>
            <a:r>
              <a:rPr lang="ar-SA" sz="660" b="0" dirty="0">
                <a:solidFill>
                  <a:srgbClr val="24135F"/>
                </a:solidFill>
                <a:latin typeface="DiodrumArabic-Bold"/>
                <a:ea typeface="DiodrumArabic-Bold"/>
                <a:cs typeface="DiodrumArabic-Bold"/>
              </a:rPr>
              <a:t>استكمال خطة التنفيذ</a:t>
            </a:r>
          </a:p>
        </p:txBody>
      </p:sp>
      <p:sp>
        <p:nvSpPr>
          <p:cNvPr id="1565" name="r2-b"/>
          <p:cNvSpPr txBox="1"/>
          <p:nvPr/>
        </p:nvSpPr>
        <p:spPr>
          <a:xfrm>
            <a:off x="466344" y="2441448"/>
            <a:ext cx="5477256" cy="219456"/>
          </a:xfrm>
          <a:prstGeom prst="rect">
            <a:avLst/>
          </a:prstGeom>
          <a:noFill/>
        </p:spPr>
        <p:txBody>
          <a:bodyPr wrap="square" lIns="0" tIns="0" rIns="0" bIns="0" anchor="t"/>
          <a:lstStyle/>
          <a:p>
            <a:pPr algn="r" rtl="1">
              <a:lnSpc>
                <a:spcPct val="118000"/>
              </a:lnSpc>
              <a:spcAft>
                <a:spcPts val="0"/>
              </a:spcAft>
            </a:pPr>
            <a:r>
              <a:rPr lang="ar-SA" sz="480" b="0" dirty="0">
                <a:solidFill>
                  <a:srgbClr val="5D6167"/>
                </a:solidFill>
                <a:latin typeface="DiodrumArabic-Medium"/>
                <a:ea typeface="DiodrumArabic-Medium"/>
                <a:cs typeface="DiodrumArabic-Medium"/>
              </a:rPr>
              <a:t>نطاق التنفيذ، الأدوار والمسؤوليات، الجدول الزمني، الميزانية، الشركاء، مؤشرات النجاح، ومتابعة ما بعد الملتقى.</a:t>
            </a:r>
          </a:p>
        </p:txBody>
      </p:sp>
      <p:sp>
        <p:nvSpPr>
          <p:cNvPr id="1566" name="r3"/>
          <p:cNvSpPr/>
          <p:nvPr/>
        </p:nvSpPr>
        <p:spPr>
          <a:xfrm>
            <a:off x="301752" y="2770632"/>
            <a:ext cx="6254496" cy="475488"/>
          </a:xfrm>
          <a:prstGeom prst="roundRect">
            <a:avLst>
              <a:gd name="adj" fmla="val 10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67" name="r3-num"/>
          <p:cNvSpPr txBox="1"/>
          <p:nvPr/>
        </p:nvSpPr>
        <p:spPr>
          <a:xfrm>
            <a:off x="6053328" y="2770632"/>
            <a:ext cx="384048" cy="475488"/>
          </a:xfrm>
          <a:prstGeom prst="rect">
            <a:avLst/>
          </a:prstGeom>
          <a:noFill/>
        </p:spPr>
        <p:txBody>
          <a:bodyPr wrap="square" lIns="0" tIns="0" rIns="0" bIns="0" anchor="ctr"/>
          <a:lstStyle/>
          <a:p>
            <a:pPr algn="r">
              <a:spcAft>
                <a:spcPts val="0"/>
              </a:spcAft>
            </a:pPr>
            <a:r>
              <a:rPr lang="en-US" sz="1300" b="0" dirty="0">
                <a:solidFill>
                  <a:srgbClr val="1CC182"/>
                </a:solidFill>
                <a:latin typeface="DiodrumArabic-Bold"/>
                <a:ea typeface="DiodrumArabic-Bold"/>
                <a:cs typeface="DiodrumArabic-Bold"/>
              </a:rPr>
              <a:t>4</a:t>
            </a:r>
          </a:p>
        </p:txBody>
      </p:sp>
      <p:sp>
        <p:nvSpPr>
          <p:cNvPr id="1568" name="r3-t"/>
          <p:cNvSpPr txBox="1"/>
          <p:nvPr/>
        </p:nvSpPr>
        <p:spPr>
          <a:xfrm>
            <a:off x="466344" y="2825496"/>
            <a:ext cx="5477256" cy="155448"/>
          </a:xfrm>
          <a:prstGeom prst="rect">
            <a:avLst/>
          </a:prstGeom>
          <a:noFill/>
        </p:spPr>
        <p:txBody>
          <a:bodyPr wrap="square" lIns="0" tIns="0" rIns="0" bIns="0" anchor="t"/>
          <a:lstStyle/>
          <a:p>
            <a:pPr algn="r" rtl="1">
              <a:spcAft>
                <a:spcPts val="0"/>
              </a:spcAft>
            </a:pPr>
            <a:r>
              <a:rPr lang="ar-SA" sz="660" b="0" dirty="0">
                <a:solidFill>
                  <a:srgbClr val="24135F"/>
                </a:solidFill>
                <a:latin typeface="DiodrumArabic-Bold"/>
                <a:ea typeface="DiodrumArabic-Bold"/>
                <a:cs typeface="DiodrumArabic-Bold"/>
              </a:rPr>
              <a:t>رفع الخطة النهائية للاعتماد</a:t>
            </a:r>
          </a:p>
        </p:txBody>
      </p:sp>
      <p:sp>
        <p:nvSpPr>
          <p:cNvPr id="1569" name="r3-b"/>
          <p:cNvSpPr txBox="1"/>
          <p:nvPr/>
        </p:nvSpPr>
        <p:spPr>
          <a:xfrm>
            <a:off x="466344" y="2999232"/>
            <a:ext cx="5477256" cy="219456"/>
          </a:xfrm>
          <a:prstGeom prst="rect">
            <a:avLst/>
          </a:prstGeom>
          <a:noFill/>
        </p:spPr>
        <p:txBody>
          <a:bodyPr wrap="square" lIns="0" tIns="0" rIns="0" bIns="0" anchor="t"/>
          <a:lstStyle/>
          <a:p>
            <a:pPr algn="r" rtl="1">
              <a:lnSpc>
                <a:spcPct val="118000"/>
              </a:lnSpc>
              <a:spcAft>
                <a:spcPts val="0"/>
              </a:spcAft>
            </a:pPr>
            <a:r>
              <a:rPr lang="ar-SA" sz="480" b="0" dirty="0">
                <a:solidFill>
                  <a:srgbClr val="5D6167"/>
                </a:solidFill>
                <a:latin typeface="DiodrumArabic-Medium"/>
                <a:ea typeface="DiodrumArabic-Medium"/>
                <a:cs typeface="DiodrumArabic-Medium"/>
              </a:rPr>
              <a:t>قبل بدء الالتزامات التنفيذية أو المالية.</a:t>
            </a:r>
          </a:p>
        </p:txBody>
      </p:sp>
      <p:sp>
        <p:nvSpPr>
          <p:cNvPr id="1570" name="cta"/>
          <p:cNvSpPr/>
          <p:nvPr/>
        </p:nvSpPr>
        <p:spPr>
          <a:xfrm>
            <a:off x="301752" y="3346704"/>
            <a:ext cx="6254496" cy="310896"/>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71" name="cta-t"/>
          <p:cNvSpPr txBox="1"/>
          <p:nvPr/>
        </p:nvSpPr>
        <p:spPr>
          <a:xfrm>
            <a:off x="484632" y="3346704"/>
            <a:ext cx="5888736" cy="310896"/>
          </a:xfrm>
          <a:prstGeom prst="rect">
            <a:avLst/>
          </a:prstGeom>
          <a:noFill/>
        </p:spPr>
        <p:txBody>
          <a:bodyPr wrap="square" lIns="0" tIns="0" rIns="0" bIns="0" anchor="ctr"/>
          <a:lstStyle/>
          <a:p>
            <a:pPr algn="ctr" rtl="1">
              <a:spcAft>
                <a:spcPts val="0"/>
              </a:spcAft>
            </a:pPr>
            <a:r>
              <a:rPr lang="ar-SA" sz="640" b="0" dirty="0">
                <a:solidFill>
                  <a:srgbClr val="FFFFFF"/>
                </a:solidFill>
                <a:latin typeface="DiodrumArabic-Semibold"/>
                <a:ea typeface="DiodrumArabic-Semibold"/>
                <a:cs typeface="DiodrumArabic-Semibold"/>
              </a:rPr>
              <a:t>المطلوب اليوم: الموافقة على بدء التحضير المنظم للتفعيل</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 name="title"/>
          <p:cNvSpPr txBox="1"/>
          <p:nvPr/>
        </p:nvSpPr>
        <p:spPr>
          <a:xfrm>
            <a:off x="2377440" y="1691640"/>
            <a:ext cx="3877056" cy="502920"/>
          </a:xfrm>
          <a:prstGeom prst="rect">
            <a:avLst/>
          </a:prstGeom>
          <a:noFill/>
        </p:spPr>
        <p:txBody>
          <a:bodyPr wrap="square" lIns="0" tIns="0" rIns="0" bIns="0" anchor="t"/>
          <a:lstStyle/>
          <a:p>
            <a:pPr algn="r" rtl="1">
              <a:lnSpc>
                <a:spcPct val="115000"/>
              </a:lnSpc>
              <a:spcAft>
                <a:spcPts val="0"/>
              </a:spcAft>
            </a:pPr>
            <a:r>
              <a:rPr lang="ar-SA" sz="1550" b="0" dirty="0">
                <a:solidFill>
                  <a:srgbClr val="FFFFFF"/>
                </a:solidFill>
                <a:latin typeface="DiodrumArabic-Bold"/>
                <a:ea typeface="DiodrumArabic-Bold"/>
                <a:cs typeface="DiodrumArabic-Bold"/>
              </a:rPr>
              <a:t>الملحق</a:t>
            </a:r>
          </a:p>
        </p:txBody>
      </p:sp>
      <p:sp>
        <p:nvSpPr>
          <p:cNvPr id="1573" name="desc"/>
          <p:cNvSpPr txBox="1"/>
          <p:nvPr/>
        </p:nvSpPr>
        <p:spPr>
          <a:xfrm>
            <a:off x="2377440" y="2258568"/>
            <a:ext cx="3877056" cy="274320"/>
          </a:xfrm>
          <a:prstGeom prst="rect">
            <a:avLst/>
          </a:prstGeom>
          <a:noFill/>
        </p:spPr>
        <p:txBody>
          <a:bodyPr wrap="square" lIns="0" tIns="0" rIns="0" bIns="0" anchor="t"/>
          <a:lstStyle/>
          <a:p>
            <a:pPr algn="r" rtl="1">
              <a:lnSpc>
                <a:spcPct val="130000"/>
              </a:lnSpc>
              <a:spcAft>
                <a:spcPts val="0"/>
              </a:spcAft>
            </a:pPr>
            <a:r>
              <a:rPr lang="ar-SA" sz="620" b="0" dirty="0">
                <a:solidFill>
                  <a:srgbClr val="DCD3F0"/>
                </a:solidFill>
                <a:latin typeface="DiodrumArabic-Regular"/>
                <a:ea typeface="DiodrumArabic-Regular"/>
                <a:cs typeface="DiodrumArabic-Regular"/>
              </a:rPr>
              <a:t>تفاصيل تشغيلية داعمة — تُعرض عند الحاجة</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1</a:t>
            </a:r>
          </a:p>
        </p:txBody>
      </p:sp>
      <p:sp>
        <p:nvSpPr>
          <p:cNvPr id="1575"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الأجندة التفصيلية للمسرح الرئيسي</a:t>
            </a:r>
          </a:p>
        </p:txBody>
      </p:sp>
      <p:sp>
        <p:nvSpPr>
          <p:cNvPr id="1576"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cxnSp>
        <p:nvCxnSpPr>
          <p:cNvPr id="1577" name="r-rail"/>
          <p:cNvCxnSpPr/>
          <p:nvPr/>
        </p:nvCxnSpPr>
        <p:spPr>
          <a:xfrm flipV="0">
            <a:off x="6007608" y="1302334"/>
            <a:ext cx="914" cy="1947672"/>
          </a:xfrm>
          <a:prstGeom prst="line">
            <a:avLst/>
          </a:prstGeom>
          <a:ln w="9525">
            <a:solidFill>
              <a:srgbClr val="E0E0E2"/>
            </a:solidFill>
          </a:ln>
        </p:spPr>
      </p:cxnSp>
      <p:sp>
        <p:nvSpPr>
          <p:cNvPr id="1578" name="r0-dot"/>
          <p:cNvSpPr/>
          <p:nvPr/>
        </p:nvSpPr>
        <p:spPr>
          <a:xfrm>
            <a:off x="5978347" y="127307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79" name="r0-time"/>
          <p:cNvSpPr txBox="1"/>
          <p:nvPr/>
        </p:nvSpPr>
        <p:spPr>
          <a:xfrm>
            <a:off x="6062472" y="118872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9:30</a:t>
            </a:r>
          </a:p>
        </p:txBody>
      </p:sp>
      <p:sp>
        <p:nvSpPr>
          <p:cNvPr id="1580" name="r0-title"/>
          <p:cNvSpPr txBox="1"/>
          <p:nvPr/>
        </p:nvSpPr>
        <p:spPr>
          <a:xfrm>
            <a:off x="3566160" y="118872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الاستقبال</a:t>
            </a:r>
          </a:p>
        </p:txBody>
      </p:sp>
      <p:sp>
        <p:nvSpPr>
          <p:cNvPr id="1581" name="r1-dot"/>
          <p:cNvSpPr/>
          <p:nvPr/>
        </p:nvSpPr>
        <p:spPr>
          <a:xfrm>
            <a:off x="5978347" y="159768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82" name="r1-time"/>
          <p:cNvSpPr txBox="1"/>
          <p:nvPr/>
        </p:nvSpPr>
        <p:spPr>
          <a:xfrm>
            <a:off x="6062472" y="151333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10:10</a:t>
            </a:r>
          </a:p>
        </p:txBody>
      </p:sp>
      <p:sp>
        <p:nvSpPr>
          <p:cNvPr id="1583" name="r1-title"/>
          <p:cNvSpPr txBox="1"/>
          <p:nvPr/>
        </p:nvSpPr>
        <p:spPr>
          <a:xfrm>
            <a:off x="3566160" y="151333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الكلمة الافتتاحية</a:t>
            </a:r>
          </a:p>
        </p:txBody>
      </p:sp>
      <p:sp>
        <p:nvSpPr>
          <p:cNvPr id="1584" name="r2-dot"/>
          <p:cNvSpPr/>
          <p:nvPr/>
        </p:nvSpPr>
        <p:spPr>
          <a:xfrm>
            <a:off x="5978347" y="1922297"/>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85" name="r2-time"/>
          <p:cNvSpPr txBox="1"/>
          <p:nvPr/>
        </p:nvSpPr>
        <p:spPr>
          <a:xfrm>
            <a:off x="6062472" y="1837944"/>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10:20</a:t>
            </a:r>
          </a:p>
        </p:txBody>
      </p:sp>
      <p:sp>
        <p:nvSpPr>
          <p:cNvPr id="1586" name="r2-title"/>
          <p:cNvSpPr txBox="1"/>
          <p:nvPr/>
        </p:nvSpPr>
        <p:spPr>
          <a:xfrm>
            <a:off x="3566160" y="1837944"/>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كلمة رئيسية: البحث والحكومة الرقمية</a:t>
            </a:r>
          </a:p>
        </p:txBody>
      </p:sp>
      <p:sp>
        <p:nvSpPr>
          <p:cNvPr id="1587" name="r3-dot"/>
          <p:cNvSpPr/>
          <p:nvPr/>
        </p:nvSpPr>
        <p:spPr>
          <a:xfrm>
            <a:off x="5978347" y="2246909"/>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88" name="r3-time"/>
          <p:cNvSpPr txBox="1"/>
          <p:nvPr/>
        </p:nvSpPr>
        <p:spPr>
          <a:xfrm>
            <a:off x="6062472" y="2162556"/>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10:45</a:t>
            </a:r>
          </a:p>
        </p:txBody>
      </p:sp>
      <p:sp>
        <p:nvSpPr>
          <p:cNvPr id="1589" name="r3-title"/>
          <p:cNvSpPr txBox="1"/>
          <p:nvPr/>
        </p:nvSpPr>
        <p:spPr>
          <a:xfrm>
            <a:off x="3566160" y="2162556"/>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حوارية: نقل البحث من الورق إلى التطبيق</a:t>
            </a:r>
          </a:p>
        </p:txBody>
      </p:sp>
      <p:sp>
        <p:nvSpPr>
          <p:cNvPr id="1590" name="r4-dot"/>
          <p:cNvSpPr/>
          <p:nvPr/>
        </p:nvSpPr>
        <p:spPr>
          <a:xfrm>
            <a:off x="5978347" y="2571521"/>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91" name="r4-time"/>
          <p:cNvSpPr txBox="1"/>
          <p:nvPr/>
        </p:nvSpPr>
        <p:spPr>
          <a:xfrm>
            <a:off x="6062472" y="2487168"/>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11:40</a:t>
            </a:r>
          </a:p>
        </p:txBody>
      </p:sp>
      <p:sp>
        <p:nvSpPr>
          <p:cNvPr id="1592" name="r4-title"/>
          <p:cNvSpPr txBox="1"/>
          <p:nvPr/>
        </p:nvSpPr>
        <p:spPr>
          <a:xfrm>
            <a:off x="3566160" y="2487168"/>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التقنيات في طور الفرضيات</a:t>
            </a:r>
          </a:p>
        </p:txBody>
      </p:sp>
      <p:sp>
        <p:nvSpPr>
          <p:cNvPr id="1593" name="r5-dot"/>
          <p:cNvSpPr/>
          <p:nvPr/>
        </p:nvSpPr>
        <p:spPr>
          <a:xfrm>
            <a:off x="5978347" y="289613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94" name="r5-time"/>
          <p:cNvSpPr txBox="1"/>
          <p:nvPr/>
        </p:nvSpPr>
        <p:spPr>
          <a:xfrm>
            <a:off x="6062472" y="281178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12:00</a:t>
            </a:r>
          </a:p>
        </p:txBody>
      </p:sp>
      <p:sp>
        <p:nvSpPr>
          <p:cNvPr id="1595" name="r5-title"/>
          <p:cNvSpPr txBox="1"/>
          <p:nvPr/>
        </p:nvSpPr>
        <p:spPr>
          <a:xfrm>
            <a:off x="3566160" y="281178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استراحة وجولات تعريفية</a:t>
            </a:r>
          </a:p>
        </p:txBody>
      </p:sp>
      <p:sp>
        <p:nvSpPr>
          <p:cNvPr id="1596" name="r6-dot"/>
          <p:cNvSpPr/>
          <p:nvPr/>
        </p:nvSpPr>
        <p:spPr>
          <a:xfrm>
            <a:off x="5978347" y="322074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597" name="r6-time"/>
          <p:cNvSpPr txBox="1"/>
          <p:nvPr/>
        </p:nvSpPr>
        <p:spPr>
          <a:xfrm>
            <a:off x="6062472" y="313639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12:30</a:t>
            </a:r>
          </a:p>
        </p:txBody>
      </p:sp>
      <p:sp>
        <p:nvSpPr>
          <p:cNvPr id="1598" name="r6-title"/>
          <p:cNvSpPr txBox="1"/>
          <p:nvPr/>
        </p:nvSpPr>
        <p:spPr>
          <a:xfrm>
            <a:off x="3566160" y="313639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الحوسبة الكمية ومستقبل التحول الرقمي</a:t>
            </a:r>
          </a:p>
        </p:txBody>
      </p:sp>
      <p:cxnSp>
        <p:nvCxnSpPr>
          <p:cNvPr id="1599" name="l-rail"/>
          <p:cNvCxnSpPr/>
          <p:nvPr/>
        </p:nvCxnSpPr>
        <p:spPr>
          <a:xfrm flipV="0">
            <a:off x="2743200" y="1302334"/>
            <a:ext cx="914" cy="1947672"/>
          </a:xfrm>
          <a:prstGeom prst="line">
            <a:avLst/>
          </a:prstGeom>
          <a:ln w="9525">
            <a:solidFill>
              <a:srgbClr val="E0E0E2"/>
            </a:solidFill>
          </a:ln>
        </p:spPr>
      </p:cxnSp>
      <p:sp>
        <p:nvSpPr>
          <p:cNvPr id="1600" name="l0-dot"/>
          <p:cNvSpPr/>
          <p:nvPr/>
        </p:nvSpPr>
        <p:spPr>
          <a:xfrm>
            <a:off x="2713939" y="1273073"/>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01" name="l0-time"/>
          <p:cNvSpPr txBox="1"/>
          <p:nvPr/>
        </p:nvSpPr>
        <p:spPr>
          <a:xfrm>
            <a:off x="2798064" y="1188720"/>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1:00</a:t>
            </a:r>
          </a:p>
        </p:txBody>
      </p:sp>
      <p:sp>
        <p:nvSpPr>
          <p:cNvPr id="1602" name="l0-title"/>
          <p:cNvSpPr txBox="1"/>
          <p:nvPr/>
        </p:nvSpPr>
        <p:spPr>
          <a:xfrm>
            <a:off x="301752" y="118872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حوارية: نقل البحث من الورق إلى التطبيق</a:t>
            </a:r>
          </a:p>
        </p:txBody>
      </p:sp>
      <p:sp>
        <p:nvSpPr>
          <p:cNvPr id="1603" name="l1-dot"/>
          <p:cNvSpPr/>
          <p:nvPr/>
        </p:nvSpPr>
        <p:spPr>
          <a:xfrm>
            <a:off x="2713939" y="159768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04" name="l1-time"/>
          <p:cNvSpPr txBox="1"/>
          <p:nvPr/>
        </p:nvSpPr>
        <p:spPr>
          <a:xfrm>
            <a:off x="2798064" y="151333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1:45</a:t>
            </a:r>
          </a:p>
        </p:txBody>
      </p:sp>
      <p:sp>
        <p:nvSpPr>
          <p:cNvPr id="1605" name="l1-title"/>
          <p:cNvSpPr txBox="1"/>
          <p:nvPr/>
        </p:nvSpPr>
        <p:spPr>
          <a:xfrm>
            <a:off x="301752" y="151333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كلمة: البحث العلمي في عصر الذكاء الاصطناعي</a:t>
            </a:r>
          </a:p>
        </p:txBody>
      </p:sp>
      <p:sp>
        <p:nvSpPr>
          <p:cNvPr id="1606" name="l2-dot"/>
          <p:cNvSpPr/>
          <p:nvPr/>
        </p:nvSpPr>
        <p:spPr>
          <a:xfrm>
            <a:off x="2713939" y="1922297"/>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07" name="l2-time"/>
          <p:cNvSpPr txBox="1"/>
          <p:nvPr/>
        </p:nvSpPr>
        <p:spPr>
          <a:xfrm>
            <a:off x="2798064" y="1837944"/>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2:15</a:t>
            </a:r>
          </a:p>
        </p:txBody>
      </p:sp>
      <p:sp>
        <p:nvSpPr>
          <p:cNvPr id="1608" name="l2-title"/>
          <p:cNvSpPr txBox="1"/>
          <p:nvPr/>
        </p:nvSpPr>
        <p:spPr>
          <a:xfrm>
            <a:off x="301752" y="1837944"/>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قصة نجاح: فكرة بحثية ذات أثر اقتصادي</a:t>
            </a:r>
          </a:p>
        </p:txBody>
      </p:sp>
      <p:sp>
        <p:nvSpPr>
          <p:cNvPr id="1609" name="l3-dot"/>
          <p:cNvSpPr/>
          <p:nvPr/>
        </p:nvSpPr>
        <p:spPr>
          <a:xfrm>
            <a:off x="2713939" y="2246909"/>
            <a:ext cx="58522" cy="58522"/>
          </a:xfrm>
          <a:prstGeom prst="ellipse">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10" name="l3-time"/>
          <p:cNvSpPr txBox="1"/>
          <p:nvPr/>
        </p:nvSpPr>
        <p:spPr>
          <a:xfrm>
            <a:off x="2798064" y="2162556"/>
            <a:ext cx="493776" cy="324612"/>
          </a:xfrm>
          <a:prstGeom prst="rect">
            <a:avLst/>
          </a:prstGeom>
          <a:noFill/>
        </p:spPr>
        <p:txBody>
          <a:bodyPr wrap="square" lIns="0" tIns="0" rIns="0" bIns="0" anchor="t"/>
          <a:lstStyle/>
          <a:p>
            <a:pPr algn="l">
              <a:spcAft>
                <a:spcPts val="0"/>
              </a:spcAft>
            </a:pPr>
            <a:r>
              <a:rPr lang="en-US" sz="560" b="0" dirty="0">
                <a:solidFill>
                  <a:srgbClr val="753BBD"/>
                </a:solidFill>
                <a:latin typeface="DiodrumArabic-Bold"/>
                <a:ea typeface="DiodrumArabic-Bold"/>
                <a:cs typeface="DiodrumArabic-Bold"/>
              </a:rPr>
              <a:t>2:45</a:t>
            </a:r>
          </a:p>
        </p:txBody>
      </p:sp>
      <p:sp>
        <p:nvSpPr>
          <p:cNvPr id="1611" name="l3-title"/>
          <p:cNvSpPr txBox="1"/>
          <p:nvPr/>
        </p:nvSpPr>
        <p:spPr>
          <a:xfrm>
            <a:off x="301752" y="2162556"/>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753BBD"/>
                </a:solidFill>
                <a:latin typeface="DiodrumArabic-Bold"/>
                <a:ea typeface="DiodrumArabic-Bold"/>
                <a:cs typeface="DiodrumArabic-Bold"/>
              </a:rPr>
              <a:t>جلسة: تحديات وطنية تبحث عن باحثين</a:t>
            </a:r>
          </a:p>
        </p:txBody>
      </p:sp>
      <p:sp>
        <p:nvSpPr>
          <p:cNvPr id="1612" name="l4-dot"/>
          <p:cNvSpPr/>
          <p:nvPr/>
        </p:nvSpPr>
        <p:spPr>
          <a:xfrm>
            <a:off x="2713939" y="2571521"/>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13" name="l4-time"/>
          <p:cNvSpPr txBox="1"/>
          <p:nvPr/>
        </p:nvSpPr>
        <p:spPr>
          <a:xfrm>
            <a:off x="2798064" y="2487168"/>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3:10</a:t>
            </a:r>
          </a:p>
        </p:txBody>
      </p:sp>
      <p:sp>
        <p:nvSpPr>
          <p:cNvPr id="1614" name="l4-title"/>
          <p:cNvSpPr txBox="1"/>
          <p:nvPr/>
        </p:nvSpPr>
        <p:spPr>
          <a:xfrm>
            <a:off x="301752" y="2487168"/>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توقيع الاتفاقيات</a:t>
            </a:r>
          </a:p>
        </p:txBody>
      </p:sp>
      <p:sp>
        <p:nvSpPr>
          <p:cNvPr id="1615" name="l5-dot"/>
          <p:cNvSpPr/>
          <p:nvPr/>
        </p:nvSpPr>
        <p:spPr>
          <a:xfrm>
            <a:off x="2713939" y="2896133"/>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16" name="l5-time"/>
          <p:cNvSpPr txBox="1"/>
          <p:nvPr/>
        </p:nvSpPr>
        <p:spPr>
          <a:xfrm>
            <a:off x="2798064" y="2811780"/>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3:30</a:t>
            </a:r>
          </a:p>
        </p:txBody>
      </p:sp>
      <p:sp>
        <p:nvSpPr>
          <p:cNvPr id="1617" name="l5-title"/>
          <p:cNvSpPr txBox="1"/>
          <p:nvPr/>
        </p:nvSpPr>
        <p:spPr>
          <a:xfrm>
            <a:off x="301752" y="2811780"/>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التكريم</a:t>
            </a:r>
          </a:p>
        </p:txBody>
      </p:sp>
      <p:sp>
        <p:nvSpPr>
          <p:cNvPr id="1618" name="l6-dot"/>
          <p:cNvSpPr/>
          <p:nvPr/>
        </p:nvSpPr>
        <p:spPr>
          <a:xfrm>
            <a:off x="2713939" y="3220745"/>
            <a:ext cx="58522" cy="58522"/>
          </a:xfrm>
          <a:prstGeom prst="ellipse">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19" name="l6-time"/>
          <p:cNvSpPr txBox="1"/>
          <p:nvPr/>
        </p:nvSpPr>
        <p:spPr>
          <a:xfrm>
            <a:off x="2798064" y="3136392"/>
            <a:ext cx="493776" cy="324612"/>
          </a:xfrm>
          <a:prstGeom prst="rect">
            <a:avLst/>
          </a:prstGeom>
          <a:noFill/>
        </p:spPr>
        <p:txBody>
          <a:bodyPr wrap="square" lIns="0" tIns="0" rIns="0" bIns="0" anchor="t"/>
          <a:lstStyle/>
          <a:p>
            <a:pPr algn="l">
              <a:spcAft>
                <a:spcPts val="0"/>
              </a:spcAft>
            </a:pPr>
            <a:r>
              <a:rPr lang="en-US" sz="560" b="0" dirty="0">
                <a:solidFill>
                  <a:srgbClr val="00ABAF"/>
                </a:solidFill>
                <a:latin typeface="DiodrumArabic-Bold"/>
                <a:ea typeface="DiodrumArabic-Bold"/>
                <a:cs typeface="DiodrumArabic-Bold"/>
              </a:rPr>
              <a:t>4:00</a:t>
            </a:r>
          </a:p>
        </p:txBody>
      </p:sp>
      <p:sp>
        <p:nvSpPr>
          <p:cNvPr id="1620" name="l6-title"/>
          <p:cNvSpPr txBox="1"/>
          <p:nvPr/>
        </p:nvSpPr>
        <p:spPr>
          <a:xfrm>
            <a:off x="301752" y="3136392"/>
            <a:ext cx="2350008" cy="324612"/>
          </a:xfrm>
          <a:prstGeom prst="rect">
            <a:avLst/>
          </a:prstGeom>
          <a:noFill/>
        </p:spPr>
        <p:txBody>
          <a:bodyPr wrap="square" lIns="0" tIns="0" rIns="0" bIns="0" anchor="t"/>
          <a:lstStyle/>
          <a:p>
            <a:pPr algn="r" rtl="1">
              <a:lnSpc>
                <a:spcPct val="115000"/>
              </a:lnSpc>
              <a:spcAft>
                <a:spcPts val="0"/>
              </a:spcAft>
            </a:pPr>
            <a:r>
              <a:rPr lang="ar-SA" sz="560" b="0" dirty="0">
                <a:solidFill>
                  <a:srgbClr val="5D6167"/>
                </a:solidFill>
                <a:latin typeface="DiodrumArabic-Medium"/>
                <a:ea typeface="DiodrumArabic-Medium"/>
                <a:cs typeface="DiodrumArabic-Medium"/>
              </a:rPr>
              <a:t>الختام</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1"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2</a:t>
            </a:r>
          </a:p>
        </p:txBody>
      </p:sp>
      <p:sp>
        <p:nvSpPr>
          <p:cNvPr id="1622"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أجندة المسرح المصاحب</a:t>
            </a:r>
          </a:p>
        </p:txBody>
      </p:sp>
      <p:sp>
        <p:nvSpPr>
          <p:cNvPr id="1623"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سبع ورش عمل متخصصة تعمل بالتوازي مع برنامج المسرح الرئيسي.</a:t>
            </a:r>
          </a:p>
        </p:txBody>
      </p:sp>
      <p:sp>
        <p:nvSpPr>
          <p:cNvPr id="1624"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625" name="w0-0"/>
          <p:cNvSpPr/>
          <p:nvPr/>
        </p:nvSpPr>
        <p:spPr>
          <a:xfrm>
            <a:off x="5061204" y="1234440"/>
            <a:ext cx="1495044"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26" name="w0-0-bar"/>
          <p:cNvSpPr/>
          <p:nvPr/>
        </p:nvSpPr>
        <p:spPr>
          <a:xfrm>
            <a:off x="5134356" y="123444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27" name="w0-0-title"/>
          <p:cNvSpPr txBox="1"/>
          <p:nvPr/>
        </p:nvSpPr>
        <p:spPr>
          <a:xfrm>
            <a:off x="5180076" y="138074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1</a:t>
            </a:r>
          </a:p>
        </p:txBody>
      </p:sp>
      <p:sp>
        <p:nvSpPr>
          <p:cNvPr id="1628" name="w0-0-body"/>
          <p:cNvSpPr txBox="1"/>
          <p:nvPr/>
        </p:nvSpPr>
        <p:spPr>
          <a:xfrm>
            <a:off x="5180076" y="1517904"/>
            <a:ext cx="1257300"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29" name="w0-1"/>
          <p:cNvSpPr/>
          <p:nvPr/>
        </p:nvSpPr>
        <p:spPr>
          <a:xfrm>
            <a:off x="3474720" y="1234440"/>
            <a:ext cx="1495044"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0" name="w0-1-bar"/>
          <p:cNvSpPr/>
          <p:nvPr/>
        </p:nvSpPr>
        <p:spPr>
          <a:xfrm>
            <a:off x="3547872" y="123444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1" name="w0-1-title"/>
          <p:cNvSpPr txBox="1"/>
          <p:nvPr/>
        </p:nvSpPr>
        <p:spPr>
          <a:xfrm>
            <a:off x="3593592" y="138074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2</a:t>
            </a:r>
          </a:p>
        </p:txBody>
      </p:sp>
      <p:sp>
        <p:nvSpPr>
          <p:cNvPr id="1632" name="w0-1-body"/>
          <p:cNvSpPr txBox="1"/>
          <p:nvPr/>
        </p:nvSpPr>
        <p:spPr>
          <a:xfrm>
            <a:off x="3593592" y="1517904"/>
            <a:ext cx="1257300"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33" name="w0-2"/>
          <p:cNvSpPr/>
          <p:nvPr/>
        </p:nvSpPr>
        <p:spPr>
          <a:xfrm>
            <a:off x="1888236" y="1234440"/>
            <a:ext cx="1495044"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4" name="w0-2-bar"/>
          <p:cNvSpPr/>
          <p:nvPr/>
        </p:nvSpPr>
        <p:spPr>
          <a:xfrm>
            <a:off x="1961388" y="123444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5" name="w0-2-title"/>
          <p:cNvSpPr txBox="1"/>
          <p:nvPr/>
        </p:nvSpPr>
        <p:spPr>
          <a:xfrm>
            <a:off x="2007108" y="138074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3</a:t>
            </a:r>
          </a:p>
        </p:txBody>
      </p:sp>
      <p:sp>
        <p:nvSpPr>
          <p:cNvPr id="1636" name="w0-2-body"/>
          <p:cNvSpPr txBox="1"/>
          <p:nvPr/>
        </p:nvSpPr>
        <p:spPr>
          <a:xfrm>
            <a:off x="2007108" y="1517904"/>
            <a:ext cx="1257300"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37" name="w0-3"/>
          <p:cNvSpPr/>
          <p:nvPr/>
        </p:nvSpPr>
        <p:spPr>
          <a:xfrm>
            <a:off x="301752" y="1234440"/>
            <a:ext cx="1495044"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8" name="w0-3-bar"/>
          <p:cNvSpPr/>
          <p:nvPr/>
        </p:nvSpPr>
        <p:spPr>
          <a:xfrm>
            <a:off x="374904" y="1234440"/>
            <a:ext cx="1348740"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39" name="w0-3-title"/>
          <p:cNvSpPr txBox="1"/>
          <p:nvPr/>
        </p:nvSpPr>
        <p:spPr>
          <a:xfrm>
            <a:off x="420624" y="1380744"/>
            <a:ext cx="1257300"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4</a:t>
            </a:r>
          </a:p>
        </p:txBody>
      </p:sp>
      <p:sp>
        <p:nvSpPr>
          <p:cNvPr id="1640" name="w0-3-body"/>
          <p:cNvSpPr txBox="1"/>
          <p:nvPr/>
        </p:nvSpPr>
        <p:spPr>
          <a:xfrm>
            <a:off x="420624" y="1517904"/>
            <a:ext cx="1257300"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41" name="w1-0"/>
          <p:cNvSpPr/>
          <p:nvPr/>
        </p:nvSpPr>
        <p:spPr>
          <a:xfrm>
            <a:off x="4532376" y="2121408"/>
            <a:ext cx="2023872"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42" name="w1-0-bar"/>
          <p:cNvSpPr/>
          <p:nvPr/>
        </p:nvSpPr>
        <p:spPr>
          <a:xfrm>
            <a:off x="4605528" y="2121408"/>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43" name="w1-0-title"/>
          <p:cNvSpPr txBox="1"/>
          <p:nvPr/>
        </p:nvSpPr>
        <p:spPr>
          <a:xfrm>
            <a:off x="4651248" y="2267712"/>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5</a:t>
            </a:r>
          </a:p>
        </p:txBody>
      </p:sp>
      <p:sp>
        <p:nvSpPr>
          <p:cNvPr id="1644" name="w1-0-body"/>
          <p:cNvSpPr txBox="1"/>
          <p:nvPr/>
        </p:nvSpPr>
        <p:spPr>
          <a:xfrm>
            <a:off x="4651248" y="2404872"/>
            <a:ext cx="1786128"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45" name="w1-1"/>
          <p:cNvSpPr/>
          <p:nvPr/>
        </p:nvSpPr>
        <p:spPr>
          <a:xfrm>
            <a:off x="2417064" y="2121408"/>
            <a:ext cx="2023872"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46" name="w1-1-bar"/>
          <p:cNvSpPr/>
          <p:nvPr/>
        </p:nvSpPr>
        <p:spPr>
          <a:xfrm>
            <a:off x="2490216" y="2121408"/>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47" name="w1-1-title"/>
          <p:cNvSpPr txBox="1"/>
          <p:nvPr/>
        </p:nvSpPr>
        <p:spPr>
          <a:xfrm>
            <a:off x="2535936" y="2267712"/>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6</a:t>
            </a:r>
          </a:p>
        </p:txBody>
      </p:sp>
      <p:sp>
        <p:nvSpPr>
          <p:cNvPr id="1648" name="w1-1-body"/>
          <p:cNvSpPr txBox="1"/>
          <p:nvPr/>
        </p:nvSpPr>
        <p:spPr>
          <a:xfrm>
            <a:off x="2535936" y="2404872"/>
            <a:ext cx="1786128"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49" name="w1-2"/>
          <p:cNvSpPr/>
          <p:nvPr/>
        </p:nvSpPr>
        <p:spPr>
          <a:xfrm>
            <a:off x="301752" y="2121408"/>
            <a:ext cx="2023872" cy="777240"/>
          </a:xfrm>
          <a:prstGeom prst="roundRect">
            <a:avLst>
              <a:gd name="adj" fmla="val 6117"/>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50" name="w1-2-bar"/>
          <p:cNvSpPr/>
          <p:nvPr/>
        </p:nvSpPr>
        <p:spPr>
          <a:xfrm>
            <a:off x="374904" y="2121408"/>
            <a:ext cx="187756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51" name="w1-2-title"/>
          <p:cNvSpPr txBox="1"/>
          <p:nvPr/>
        </p:nvSpPr>
        <p:spPr>
          <a:xfrm>
            <a:off x="420624" y="2267712"/>
            <a:ext cx="1786128" cy="146304"/>
          </a:xfrm>
          <a:prstGeom prst="rect">
            <a:avLst/>
          </a:prstGeom>
          <a:noFill/>
        </p:spPr>
        <p:txBody>
          <a:bodyPr wrap="square" lIns="0" tIns="0" rIns="0" bIns="0" anchor="t"/>
          <a:lstStyle/>
          <a:p>
            <a:pPr algn="r" rtl="1">
              <a:lnSpc>
                <a:spcPct val="118000"/>
              </a:lnSpc>
              <a:spcAft>
                <a:spcPts val="0"/>
              </a:spcAft>
            </a:pPr>
            <a:r>
              <a:rPr lang="ar-SA" sz="660" b="0" dirty="0">
                <a:solidFill>
                  <a:srgbClr val="24135F"/>
                </a:solidFill>
                <a:latin typeface="DiodrumArabic-Bold"/>
                <a:ea typeface="DiodrumArabic-Bold"/>
                <a:cs typeface="DiodrumArabic-Bold"/>
              </a:rPr>
              <a:t>ورشة 7</a:t>
            </a:r>
          </a:p>
        </p:txBody>
      </p:sp>
      <p:sp>
        <p:nvSpPr>
          <p:cNvPr id="1652" name="w1-2-body"/>
          <p:cNvSpPr txBox="1"/>
          <p:nvPr/>
        </p:nvSpPr>
        <p:spPr>
          <a:xfrm>
            <a:off x="420624" y="2404872"/>
            <a:ext cx="1786128" cy="374904"/>
          </a:xfrm>
          <a:prstGeom prst="rect">
            <a:avLst/>
          </a:prstGeom>
          <a:noFill/>
        </p:spPr>
        <p:txBody>
          <a:bodyPr wrap="square" lIns="0" tIns="0" rIns="0" bIns="0" anchor="t"/>
          <a:lstStyle/>
          <a:p>
            <a:pPr algn="r" rtl="1">
              <a:lnSpc>
                <a:spcPct val="125000"/>
              </a:lnSpc>
              <a:spcAft>
                <a:spcPts val="0"/>
              </a:spcAft>
            </a:pPr>
            <a:r>
              <a:rPr lang="ar-SA" sz="500" b="0" dirty="0">
                <a:solidFill>
                  <a:srgbClr val="5D6167"/>
                </a:solidFill>
                <a:latin typeface="DiodrumArabic-Medium"/>
                <a:ea typeface="DiodrumArabic-Medium"/>
                <a:cs typeface="DiodrumArabic-Medium"/>
              </a:rPr>
              <a:t>العنوان والتوقيت يُحدَّدان لاحقًا</a:t>
            </a:r>
          </a:p>
        </p:txBody>
      </p:sp>
      <p:sp>
        <p:nvSpPr>
          <p:cNvPr id="1653" name="cb"/>
          <p:cNvSpPr/>
          <p:nvPr/>
        </p:nvSpPr>
        <p:spPr>
          <a:xfrm>
            <a:off x="301752" y="3054096"/>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54" name="cb-t"/>
          <p:cNvSpPr txBox="1"/>
          <p:nvPr/>
        </p:nvSpPr>
        <p:spPr>
          <a:xfrm>
            <a:off x="484632" y="3054096"/>
            <a:ext cx="5888736" cy="292608"/>
          </a:xfrm>
          <a:prstGeom prst="rect">
            <a:avLst/>
          </a:prstGeom>
          <a:noFill/>
        </p:spPr>
        <p:txBody>
          <a:bodyPr wrap="square" lIns="0" tIns="0" rIns="0" bIns="0" anchor="ctr"/>
          <a:lstStyle/>
          <a:p>
            <a:pPr algn="ctr" rtl="1">
              <a:spcAft>
                <a:spcPts val="0"/>
              </a:spcAft>
            </a:pPr>
            <a:r>
              <a:rPr lang="ar-SA" sz="560" b="0" dirty="0">
                <a:solidFill>
                  <a:srgbClr val="FFFFFF"/>
                </a:solidFill>
                <a:latin typeface="DiodrumArabic-Semibold"/>
                <a:ea typeface="DiodrumArabic-Semibold"/>
                <a:cs typeface="DiodrumArabic-Semibold"/>
              </a:rPr>
              <a:t>تُستكمل عناوين الورش وتوقيتاتها عند التنسيق النهائي مع الشركاء المتخصصين.</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3</a:t>
            </a:r>
          </a:p>
        </p:txBody>
      </p:sp>
      <p:sp>
        <p:nvSpPr>
          <p:cNvPr id="1656"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المساحات الإضافية</a:t>
            </a:r>
          </a:p>
        </p:txBody>
      </p:sp>
      <p:sp>
        <p:nvSpPr>
          <p:cNvPr id="1657"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658" name="asp0"/>
          <p:cNvSpPr/>
          <p:nvPr/>
        </p:nvSpPr>
        <p:spPr>
          <a:xfrm>
            <a:off x="5371186" y="1325880"/>
            <a:ext cx="1185062" cy="1143000"/>
          </a:xfrm>
          <a:prstGeom prst="roundRect">
            <a:avLst>
              <a:gd name="adj" fmla="val 416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59" name="asp0-bar"/>
          <p:cNvSpPr/>
          <p:nvPr/>
        </p:nvSpPr>
        <p:spPr>
          <a:xfrm>
            <a:off x="5444338"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60" name="asp0-eye"/>
          <p:cNvSpPr txBox="1"/>
          <p:nvPr/>
        </p:nvSpPr>
        <p:spPr>
          <a:xfrm>
            <a:off x="5490058"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3 ساعات</a:t>
            </a:r>
          </a:p>
        </p:txBody>
      </p:sp>
      <p:sp>
        <p:nvSpPr>
          <p:cNvPr id="1661" name="asp0-title"/>
          <p:cNvSpPr txBox="1"/>
          <p:nvPr/>
        </p:nvSpPr>
        <p:spPr>
          <a:xfrm>
            <a:off x="5490058" y="1591056"/>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معرض مصاحب</a:t>
            </a:r>
          </a:p>
        </p:txBody>
      </p:sp>
      <p:sp>
        <p:nvSpPr>
          <p:cNvPr id="1662" name="asp0-body"/>
          <p:cNvSpPr txBox="1"/>
          <p:nvPr/>
        </p:nvSpPr>
        <p:spPr>
          <a:xfrm>
            <a:off x="5490058" y="1728216"/>
            <a:ext cx="947318" cy="62179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عرض أبحاث ومنتجات وحلول من الجهات المشاركة.</a:t>
            </a:r>
          </a:p>
        </p:txBody>
      </p:sp>
      <p:sp>
        <p:nvSpPr>
          <p:cNvPr id="1663" name="asp1"/>
          <p:cNvSpPr/>
          <p:nvPr/>
        </p:nvSpPr>
        <p:spPr>
          <a:xfrm>
            <a:off x="4103827" y="1325880"/>
            <a:ext cx="1185062" cy="1143000"/>
          </a:xfrm>
          <a:prstGeom prst="roundRect">
            <a:avLst>
              <a:gd name="adj" fmla="val 416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64" name="asp1-bar"/>
          <p:cNvSpPr/>
          <p:nvPr/>
        </p:nvSpPr>
        <p:spPr>
          <a:xfrm>
            <a:off x="4176979"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65" name="asp1-eye"/>
          <p:cNvSpPr txBox="1"/>
          <p:nvPr/>
        </p:nvSpPr>
        <p:spPr>
          <a:xfrm>
            <a:off x="4222699"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4 ساعات</a:t>
            </a:r>
          </a:p>
        </p:txBody>
      </p:sp>
      <p:sp>
        <p:nvSpPr>
          <p:cNvPr id="1666" name="asp1-title"/>
          <p:cNvSpPr txBox="1"/>
          <p:nvPr/>
        </p:nvSpPr>
        <p:spPr>
          <a:xfrm>
            <a:off x="4222699" y="1591056"/>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ورش عمل</a:t>
            </a:r>
          </a:p>
        </p:txBody>
      </p:sp>
      <p:sp>
        <p:nvSpPr>
          <p:cNvPr id="1667" name="asp1-body"/>
          <p:cNvSpPr txBox="1"/>
          <p:nvPr/>
        </p:nvSpPr>
        <p:spPr>
          <a:xfrm>
            <a:off x="4222699" y="1728216"/>
            <a:ext cx="947318" cy="62179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ورش قصيرة ومتخصصة تعمل بالتوازي مع البرنامج.</a:t>
            </a:r>
          </a:p>
        </p:txBody>
      </p:sp>
      <p:sp>
        <p:nvSpPr>
          <p:cNvPr id="1668" name="asp2"/>
          <p:cNvSpPr/>
          <p:nvPr/>
        </p:nvSpPr>
        <p:spPr>
          <a:xfrm>
            <a:off x="2836469" y="1325880"/>
            <a:ext cx="1185062" cy="1143000"/>
          </a:xfrm>
          <a:prstGeom prst="roundRect">
            <a:avLst>
              <a:gd name="adj" fmla="val 416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69" name="asp2-bar"/>
          <p:cNvSpPr/>
          <p:nvPr/>
        </p:nvSpPr>
        <p:spPr>
          <a:xfrm>
            <a:off x="2909621"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70" name="asp2-eye"/>
          <p:cNvSpPr txBox="1"/>
          <p:nvPr/>
        </p:nvSpPr>
        <p:spPr>
          <a:xfrm>
            <a:off x="2955341"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يوم كامل</a:t>
            </a:r>
          </a:p>
        </p:txBody>
      </p:sp>
      <p:sp>
        <p:nvSpPr>
          <p:cNvPr id="1671" name="asp2-title"/>
          <p:cNvSpPr txBox="1"/>
          <p:nvPr/>
        </p:nvSpPr>
        <p:spPr>
          <a:xfrm>
            <a:off x="2955341" y="1591056"/>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جلسات استشارية</a:t>
            </a:r>
          </a:p>
        </p:txBody>
      </p:sp>
      <p:sp>
        <p:nvSpPr>
          <p:cNvPr id="1672" name="asp2-body"/>
          <p:cNvSpPr txBox="1"/>
          <p:nvPr/>
        </p:nvSpPr>
        <p:spPr>
          <a:xfrm>
            <a:off x="2955341" y="1728216"/>
            <a:ext cx="947318" cy="62179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لقاءات مباشرة بين الباحثين وأصحاب الاحتياج.</a:t>
            </a:r>
          </a:p>
        </p:txBody>
      </p:sp>
      <p:sp>
        <p:nvSpPr>
          <p:cNvPr id="1673" name="asp3"/>
          <p:cNvSpPr/>
          <p:nvPr/>
        </p:nvSpPr>
        <p:spPr>
          <a:xfrm>
            <a:off x="1569110" y="1325880"/>
            <a:ext cx="1185062" cy="1143000"/>
          </a:xfrm>
          <a:prstGeom prst="roundRect">
            <a:avLst>
              <a:gd name="adj" fmla="val 416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74" name="asp3-bar"/>
          <p:cNvSpPr/>
          <p:nvPr/>
        </p:nvSpPr>
        <p:spPr>
          <a:xfrm>
            <a:off x="1642262"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75" name="asp3-eye"/>
          <p:cNvSpPr txBox="1"/>
          <p:nvPr/>
        </p:nvSpPr>
        <p:spPr>
          <a:xfrm>
            <a:off x="1687982"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يوم كامل</a:t>
            </a:r>
          </a:p>
        </p:txBody>
      </p:sp>
      <p:sp>
        <p:nvSpPr>
          <p:cNvPr id="1676" name="asp3-title"/>
          <p:cNvSpPr txBox="1"/>
          <p:nvPr/>
        </p:nvSpPr>
        <p:spPr>
          <a:xfrm>
            <a:off x="1687982" y="1591056"/>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عروض حية</a:t>
            </a:r>
          </a:p>
        </p:txBody>
      </p:sp>
      <p:sp>
        <p:nvSpPr>
          <p:cNvPr id="1677" name="asp3-body"/>
          <p:cNvSpPr txBox="1"/>
          <p:nvPr/>
        </p:nvSpPr>
        <p:spPr>
          <a:xfrm>
            <a:off x="1687982" y="1728216"/>
            <a:ext cx="947318" cy="62179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عرض تجارب وحلول تقنية مباشرة أمام الحضور.</a:t>
            </a:r>
          </a:p>
        </p:txBody>
      </p:sp>
      <p:sp>
        <p:nvSpPr>
          <p:cNvPr id="1678" name="asp4"/>
          <p:cNvSpPr/>
          <p:nvPr/>
        </p:nvSpPr>
        <p:spPr>
          <a:xfrm>
            <a:off x="301752" y="1325880"/>
            <a:ext cx="1185062" cy="1143000"/>
          </a:xfrm>
          <a:prstGeom prst="roundRect">
            <a:avLst>
              <a:gd name="adj" fmla="val 416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79" name="asp4-bar"/>
          <p:cNvSpPr/>
          <p:nvPr/>
        </p:nvSpPr>
        <p:spPr>
          <a:xfrm>
            <a:off x="374904"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80" name="asp4-eye"/>
          <p:cNvSpPr txBox="1"/>
          <p:nvPr/>
        </p:nvSpPr>
        <p:spPr>
          <a:xfrm>
            <a:off x="420624"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يوم كامل</a:t>
            </a:r>
          </a:p>
        </p:txBody>
      </p:sp>
      <p:sp>
        <p:nvSpPr>
          <p:cNvPr id="1681" name="asp4-title"/>
          <p:cNvSpPr txBox="1"/>
          <p:nvPr/>
        </p:nvSpPr>
        <p:spPr>
          <a:xfrm>
            <a:off x="420624" y="1591056"/>
            <a:ext cx="947318" cy="146304"/>
          </a:xfrm>
          <a:prstGeom prst="rect">
            <a:avLst/>
          </a:prstGeom>
          <a:noFill/>
        </p:spPr>
        <p:txBody>
          <a:bodyPr wrap="square" lIns="0" tIns="0" rIns="0" bIns="0" anchor="t"/>
          <a:lstStyle/>
          <a:p>
            <a:pPr algn="r" rtl="1">
              <a:lnSpc>
                <a:spcPct val="118000"/>
              </a:lnSpc>
              <a:spcAft>
                <a:spcPts val="0"/>
              </a:spcAft>
            </a:pPr>
            <a:r>
              <a:rPr lang="ar-SA" sz="580" b="0" dirty="0">
                <a:solidFill>
                  <a:srgbClr val="24135F"/>
                </a:solidFill>
                <a:latin typeface="DiodrumArabic-Bold"/>
                <a:ea typeface="DiodrumArabic-Bold"/>
                <a:cs typeface="DiodrumArabic-Bold"/>
              </a:rPr>
              <a:t>مختبرات الذكاء الاصطناعي</a:t>
            </a:r>
          </a:p>
        </p:txBody>
      </p:sp>
      <p:sp>
        <p:nvSpPr>
          <p:cNvPr id="1682" name="asp4-body"/>
          <p:cNvSpPr txBox="1"/>
          <p:nvPr/>
        </p:nvSpPr>
        <p:spPr>
          <a:xfrm>
            <a:off x="420624" y="1847088"/>
            <a:ext cx="947318" cy="502920"/>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مساحات تجريبية لاستكشاف تقنيات وأدوات ناشئة.</a:t>
            </a:r>
          </a:p>
        </p:txBody>
      </p:sp>
      <p:sp>
        <p:nvSpPr>
          <p:cNvPr id="1683" name="cb"/>
          <p:cNvSpPr/>
          <p:nvPr/>
        </p:nvSpPr>
        <p:spPr>
          <a:xfrm>
            <a:off x="301752" y="2514600"/>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84" name="cb-t"/>
          <p:cNvSpPr txBox="1"/>
          <p:nvPr/>
        </p:nvSpPr>
        <p:spPr>
          <a:xfrm>
            <a:off x="484632" y="2514600"/>
            <a:ext cx="5888736" cy="292608"/>
          </a:xfrm>
          <a:prstGeom prst="rect">
            <a:avLst/>
          </a:prstGeom>
          <a:noFill/>
        </p:spPr>
        <p:txBody>
          <a:bodyPr wrap="square" lIns="0" tIns="0" rIns="0" bIns="0" anchor="ctr"/>
          <a:lstStyle/>
          <a:p>
            <a:pPr algn="ctr" rtl="1">
              <a:spcAft>
                <a:spcPts val="0"/>
              </a:spcAft>
            </a:pPr>
            <a:r>
              <a:rPr lang="ar-SA" sz="560" b="0" dirty="0">
                <a:solidFill>
                  <a:srgbClr val="FFFFFF"/>
                </a:solidFill>
                <a:latin typeface="DiodrumArabic-Semibold"/>
                <a:ea typeface="DiodrumArabic-Semibold"/>
                <a:cs typeface="DiodrumArabic-Semibold"/>
              </a:rPr>
              <a:t>هذه المساحات تكمّل تجربة الملتقى وتفتح قنوات تفاعل مباشرة مع الباحثين والحلول الناشئة.</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5"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4</a:t>
            </a:r>
          </a:p>
        </p:txBody>
      </p:sp>
      <p:sp>
        <p:nvSpPr>
          <p:cNvPr id="1686"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نطاق الأبحاث بالتفصيل</a:t>
            </a:r>
          </a:p>
        </p:txBody>
      </p:sp>
      <p:sp>
        <p:nvSpPr>
          <p:cNvPr id="1687"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688" name="def0"/>
          <p:cNvSpPr/>
          <p:nvPr/>
        </p:nvSpPr>
        <p:spPr>
          <a:xfrm>
            <a:off x="5371186" y="1325880"/>
            <a:ext cx="1185062" cy="1188720"/>
          </a:xfrm>
          <a:prstGeom prst="roundRect">
            <a:avLst>
              <a:gd name="adj" fmla="val 4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89" name="def0-bar"/>
          <p:cNvSpPr/>
          <p:nvPr/>
        </p:nvSpPr>
        <p:spPr>
          <a:xfrm>
            <a:off x="5444338"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90" name="def0-eye"/>
          <p:cNvSpPr txBox="1"/>
          <p:nvPr/>
        </p:nvSpPr>
        <p:spPr>
          <a:xfrm>
            <a:off x="5490058"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Scientific Research</a:t>
            </a:r>
          </a:p>
        </p:txBody>
      </p:sp>
      <p:sp>
        <p:nvSpPr>
          <p:cNvPr id="1691" name="def0-title"/>
          <p:cNvSpPr txBox="1"/>
          <p:nvPr/>
        </p:nvSpPr>
        <p:spPr>
          <a:xfrm>
            <a:off x="5490058" y="1591056"/>
            <a:ext cx="947318" cy="146304"/>
          </a:xfrm>
          <a:prstGeom prst="rect">
            <a:avLst/>
          </a:prstGeom>
          <a:noFill/>
        </p:spPr>
        <p:txBody>
          <a:bodyPr wrap="square" lIns="0" tIns="0" rIns="0" bIns="0" anchor="t"/>
          <a:lstStyle/>
          <a:p>
            <a:pPr algn="r" rtl="1">
              <a:lnSpc>
                <a:spcPct val="118000"/>
              </a:lnSpc>
              <a:spcAft>
                <a:spcPts val="0"/>
              </a:spcAft>
            </a:pPr>
            <a:r>
              <a:rPr lang="ar-SA" sz="600" b="0" dirty="0">
                <a:solidFill>
                  <a:srgbClr val="24135F"/>
                </a:solidFill>
                <a:latin typeface="DiodrumArabic-Bold"/>
                <a:ea typeface="DiodrumArabic-Bold"/>
                <a:cs typeface="DiodrumArabic-Bold"/>
              </a:rPr>
              <a:t>البحث العلمي</a:t>
            </a:r>
          </a:p>
        </p:txBody>
      </p:sp>
      <p:sp>
        <p:nvSpPr>
          <p:cNvPr id="1692" name="def0-body"/>
          <p:cNvSpPr txBox="1"/>
          <p:nvPr/>
        </p:nvSpPr>
        <p:spPr>
          <a:xfrm>
            <a:off x="5490058" y="1728216"/>
            <a:ext cx="947318" cy="66751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دراسة منهجية تهدف إلى توليد معرفة جديدة أو اختبار فرضيات وحلول.</a:t>
            </a:r>
          </a:p>
        </p:txBody>
      </p:sp>
      <p:sp>
        <p:nvSpPr>
          <p:cNvPr id="1693" name="def1"/>
          <p:cNvSpPr/>
          <p:nvPr/>
        </p:nvSpPr>
        <p:spPr>
          <a:xfrm>
            <a:off x="4103827" y="1325880"/>
            <a:ext cx="1185062" cy="1188720"/>
          </a:xfrm>
          <a:prstGeom prst="roundRect">
            <a:avLst>
              <a:gd name="adj" fmla="val 4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94" name="def1-bar"/>
          <p:cNvSpPr/>
          <p:nvPr/>
        </p:nvSpPr>
        <p:spPr>
          <a:xfrm>
            <a:off x="4176979"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95" name="def1-eye"/>
          <p:cNvSpPr txBox="1"/>
          <p:nvPr/>
        </p:nvSpPr>
        <p:spPr>
          <a:xfrm>
            <a:off x="4222699"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POV Study</a:t>
            </a:r>
          </a:p>
        </p:txBody>
      </p:sp>
      <p:sp>
        <p:nvSpPr>
          <p:cNvPr id="1696" name="def1-title"/>
          <p:cNvSpPr txBox="1"/>
          <p:nvPr/>
        </p:nvSpPr>
        <p:spPr>
          <a:xfrm>
            <a:off x="4222699" y="1591056"/>
            <a:ext cx="947318" cy="146304"/>
          </a:xfrm>
          <a:prstGeom prst="rect">
            <a:avLst/>
          </a:prstGeom>
          <a:noFill/>
        </p:spPr>
        <p:txBody>
          <a:bodyPr wrap="square" lIns="0" tIns="0" rIns="0" bIns="0" anchor="t"/>
          <a:lstStyle/>
          <a:p>
            <a:pPr algn="r" rtl="1">
              <a:lnSpc>
                <a:spcPct val="118000"/>
              </a:lnSpc>
              <a:spcAft>
                <a:spcPts val="0"/>
              </a:spcAft>
            </a:pPr>
            <a:r>
              <a:rPr lang="ar-SA" sz="600" b="0" dirty="0">
                <a:solidFill>
                  <a:srgbClr val="24135F"/>
                </a:solidFill>
                <a:latin typeface="DiodrumArabic-Bold"/>
                <a:ea typeface="DiodrumArabic-Bold"/>
                <a:cs typeface="DiodrumArabic-Bold"/>
              </a:rPr>
              <a:t>الدراسة الاستشرافية</a:t>
            </a:r>
          </a:p>
        </p:txBody>
      </p:sp>
      <p:sp>
        <p:nvSpPr>
          <p:cNvPr id="1697" name="def1-body"/>
          <p:cNvSpPr txBox="1"/>
          <p:nvPr/>
        </p:nvSpPr>
        <p:spPr>
          <a:xfrm>
            <a:off x="4222699" y="1728216"/>
            <a:ext cx="947318" cy="66751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تحليل للاتجاهات المستقبلية لموضوع أو تقنية بهدف استشراف تطوراته.</a:t>
            </a:r>
          </a:p>
        </p:txBody>
      </p:sp>
      <p:sp>
        <p:nvSpPr>
          <p:cNvPr id="1698" name="def2"/>
          <p:cNvSpPr/>
          <p:nvPr/>
        </p:nvSpPr>
        <p:spPr>
          <a:xfrm>
            <a:off x="2836469" y="1325880"/>
            <a:ext cx="1185062" cy="1188720"/>
          </a:xfrm>
          <a:prstGeom prst="roundRect">
            <a:avLst>
              <a:gd name="adj" fmla="val 4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699" name="def2-bar"/>
          <p:cNvSpPr/>
          <p:nvPr/>
        </p:nvSpPr>
        <p:spPr>
          <a:xfrm>
            <a:off x="2909621"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00" name="def2-eye"/>
          <p:cNvSpPr txBox="1"/>
          <p:nvPr/>
        </p:nvSpPr>
        <p:spPr>
          <a:xfrm>
            <a:off x="2955341"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Benchmark Study</a:t>
            </a:r>
          </a:p>
        </p:txBody>
      </p:sp>
      <p:sp>
        <p:nvSpPr>
          <p:cNvPr id="1701" name="def2-title"/>
          <p:cNvSpPr txBox="1"/>
          <p:nvPr/>
        </p:nvSpPr>
        <p:spPr>
          <a:xfrm>
            <a:off x="2955341" y="1591056"/>
            <a:ext cx="947318" cy="146304"/>
          </a:xfrm>
          <a:prstGeom prst="rect">
            <a:avLst/>
          </a:prstGeom>
          <a:noFill/>
        </p:spPr>
        <p:txBody>
          <a:bodyPr wrap="square" lIns="0" tIns="0" rIns="0" bIns="0" anchor="t"/>
          <a:lstStyle/>
          <a:p>
            <a:pPr algn="r" rtl="1">
              <a:lnSpc>
                <a:spcPct val="118000"/>
              </a:lnSpc>
              <a:spcAft>
                <a:spcPts val="0"/>
              </a:spcAft>
            </a:pPr>
            <a:r>
              <a:rPr lang="ar-SA" sz="600" b="0" dirty="0">
                <a:solidFill>
                  <a:srgbClr val="24135F"/>
                </a:solidFill>
                <a:latin typeface="DiodrumArabic-Bold"/>
                <a:ea typeface="DiodrumArabic-Bold"/>
                <a:cs typeface="DiodrumArabic-Bold"/>
              </a:rPr>
              <a:t>الدراسة المعيارية</a:t>
            </a:r>
          </a:p>
        </p:txBody>
      </p:sp>
      <p:sp>
        <p:nvSpPr>
          <p:cNvPr id="1702" name="def2-body"/>
          <p:cNvSpPr txBox="1"/>
          <p:nvPr/>
        </p:nvSpPr>
        <p:spPr>
          <a:xfrm>
            <a:off x="2955341" y="1728216"/>
            <a:ext cx="947318" cy="66751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تحليل مقارن لمعايير أو ممارسات معتمدة لتحديد أنسبها.</a:t>
            </a:r>
          </a:p>
        </p:txBody>
      </p:sp>
      <p:sp>
        <p:nvSpPr>
          <p:cNvPr id="1703" name="def3"/>
          <p:cNvSpPr/>
          <p:nvPr/>
        </p:nvSpPr>
        <p:spPr>
          <a:xfrm>
            <a:off x="1569110" y="1325880"/>
            <a:ext cx="1185062" cy="1188720"/>
          </a:xfrm>
          <a:prstGeom prst="roundRect">
            <a:avLst>
              <a:gd name="adj" fmla="val 4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04" name="def3-bar"/>
          <p:cNvSpPr/>
          <p:nvPr/>
        </p:nvSpPr>
        <p:spPr>
          <a:xfrm>
            <a:off x="1642262"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05" name="def3-eye"/>
          <p:cNvSpPr txBox="1"/>
          <p:nvPr/>
        </p:nvSpPr>
        <p:spPr>
          <a:xfrm>
            <a:off x="1687982"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White Paper</a:t>
            </a:r>
          </a:p>
        </p:txBody>
      </p:sp>
      <p:sp>
        <p:nvSpPr>
          <p:cNvPr id="1706" name="def3-title"/>
          <p:cNvSpPr txBox="1"/>
          <p:nvPr/>
        </p:nvSpPr>
        <p:spPr>
          <a:xfrm>
            <a:off x="1687982" y="1591056"/>
            <a:ext cx="947318" cy="146304"/>
          </a:xfrm>
          <a:prstGeom prst="rect">
            <a:avLst/>
          </a:prstGeom>
          <a:noFill/>
        </p:spPr>
        <p:txBody>
          <a:bodyPr wrap="square" lIns="0" tIns="0" rIns="0" bIns="0" anchor="t"/>
          <a:lstStyle/>
          <a:p>
            <a:pPr algn="r" rtl="1">
              <a:lnSpc>
                <a:spcPct val="118000"/>
              </a:lnSpc>
              <a:spcAft>
                <a:spcPts val="0"/>
              </a:spcAft>
            </a:pPr>
            <a:r>
              <a:rPr lang="ar-SA" sz="600" b="0" dirty="0">
                <a:solidFill>
                  <a:srgbClr val="24135F"/>
                </a:solidFill>
                <a:latin typeface="DiodrumArabic-Bold"/>
                <a:ea typeface="DiodrumArabic-Bold"/>
                <a:cs typeface="DiodrumArabic-Bold"/>
              </a:rPr>
              <a:t>التقرير</a:t>
            </a:r>
          </a:p>
        </p:txBody>
      </p:sp>
      <p:sp>
        <p:nvSpPr>
          <p:cNvPr id="1707" name="def3-body"/>
          <p:cNvSpPr txBox="1"/>
          <p:nvPr/>
        </p:nvSpPr>
        <p:spPr>
          <a:xfrm>
            <a:off x="1687982" y="1728216"/>
            <a:ext cx="947318" cy="66751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وثيقة تلخص نتائج أو معطيات حول موضوع محدد لدعم اتخاذ القرار.</a:t>
            </a:r>
          </a:p>
        </p:txBody>
      </p:sp>
      <p:sp>
        <p:nvSpPr>
          <p:cNvPr id="1708" name="def4"/>
          <p:cNvSpPr/>
          <p:nvPr/>
        </p:nvSpPr>
        <p:spPr>
          <a:xfrm>
            <a:off x="301752" y="1325880"/>
            <a:ext cx="1185062" cy="1188720"/>
          </a:xfrm>
          <a:prstGeom prst="roundRect">
            <a:avLst>
              <a:gd name="adj" fmla="val 4000"/>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09" name="def4-bar"/>
          <p:cNvSpPr/>
          <p:nvPr/>
        </p:nvSpPr>
        <p:spPr>
          <a:xfrm>
            <a:off x="374904" y="1325880"/>
            <a:ext cx="1038758"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10" name="def4-eye"/>
          <p:cNvSpPr txBox="1"/>
          <p:nvPr/>
        </p:nvSpPr>
        <p:spPr>
          <a:xfrm>
            <a:off x="420624" y="1472184"/>
            <a:ext cx="947318" cy="91440"/>
          </a:xfrm>
          <a:prstGeom prst="rect">
            <a:avLst/>
          </a:prstGeom>
          <a:noFill/>
        </p:spPr>
        <p:txBody>
          <a:bodyPr wrap="square" lIns="0" tIns="0" rIns="0" bIns="0" anchor="t"/>
          <a:lstStyle/>
          <a:p>
            <a:pPr algn="r" rtl="1">
              <a:spcAft>
                <a:spcPts val="0"/>
              </a:spcAft>
            </a:pPr>
            <a:r>
              <a:rPr lang="ar-SA" sz="420" b="0" dirty="0">
                <a:solidFill>
                  <a:srgbClr val="753BBD"/>
                </a:solidFill>
                <a:latin typeface="DiodrumArabic-Semibold"/>
                <a:ea typeface="DiodrumArabic-Semibold"/>
                <a:cs typeface="DiodrumArabic-Semibold"/>
              </a:rPr>
              <a:t>Brief Study</a:t>
            </a:r>
          </a:p>
        </p:txBody>
      </p:sp>
      <p:sp>
        <p:nvSpPr>
          <p:cNvPr id="1711" name="def4-title"/>
          <p:cNvSpPr txBox="1"/>
          <p:nvPr/>
        </p:nvSpPr>
        <p:spPr>
          <a:xfrm>
            <a:off x="420624" y="1591056"/>
            <a:ext cx="947318" cy="146304"/>
          </a:xfrm>
          <a:prstGeom prst="rect">
            <a:avLst/>
          </a:prstGeom>
          <a:noFill/>
        </p:spPr>
        <p:txBody>
          <a:bodyPr wrap="square" lIns="0" tIns="0" rIns="0" bIns="0" anchor="t"/>
          <a:lstStyle/>
          <a:p>
            <a:pPr algn="r" rtl="1">
              <a:lnSpc>
                <a:spcPct val="118000"/>
              </a:lnSpc>
              <a:spcAft>
                <a:spcPts val="0"/>
              </a:spcAft>
            </a:pPr>
            <a:r>
              <a:rPr lang="ar-SA" sz="600" b="0" dirty="0">
                <a:solidFill>
                  <a:srgbClr val="24135F"/>
                </a:solidFill>
                <a:latin typeface="DiodrumArabic-Bold"/>
                <a:ea typeface="DiodrumArabic-Bold"/>
                <a:cs typeface="DiodrumArabic-Bold"/>
              </a:rPr>
              <a:t>الدراسة الموجزة</a:t>
            </a:r>
          </a:p>
        </p:txBody>
      </p:sp>
      <p:sp>
        <p:nvSpPr>
          <p:cNvPr id="1712" name="def4-body"/>
          <p:cNvSpPr txBox="1"/>
          <p:nvPr/>
        </p:nvSpPr>
        <p:spPr>
          <a:xfrm>
            <a:off x="420624" y="1728216"/>
            <a:ext cx="947318" cy="667512"/>
          </a:xfrm>
          <a:prstGeom prst="rect">
            <a:avLst/>
          </a:prstGeom>
          <a:noFill/>
        </p:spPr>
        <p:txBody>
          <a:bodyPr wrap="square" lIns="0" tIns="0" rIns="0" bIns="0" anchor="t"/>
          <a:lstStyle/>
          <a:p>
            <a:pPr algn="r" rtl="1">
              <a:lnSpc>
                <a:spcPct val="125000"/>
              </a:lnSpc>
              <a:spcAft>
                <a:spcPts val="0"/>
              </a:spcAft>
            </a:pPr>
            <a:r>
              <a:rPr lang="ar-SA" sz="480" b="0" dirty="0">
                <a:solidFill>
                  <a:srgbClr val="5D6167"/>
                </a:solidFill>
                <a:latin typeface="DiodrumArabic-Medium"/>
                <a:ea typeface="DiodrumArabic-Medium"/>
                <a:cs typeface="DiodrumArabic-Medium"/>
              </a:rPr>
              <a:t>عرض مختصر ومركز لموضوع بحثي دون الخوض في كامل تفاصيله.</a:t>
            </a:r>
          </a:p>
        </p:txBody>
      </p:sp>
      <p:sp>
        <p:nvSpPr>
          <p:cNvPr id="1713" name="cb"/>
          <p:cNvSpPr/>
          <p:nvPr/>
        </p:nvSpPr>
        <p:spPr>
          <a:xfrm>
            <a:off x="301752" y="2560320"/>
            <a:ext cx="6254496" cy="292608"/>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14" name="cb-t"/>
          <p:cNvSpPr txBox="1"/>
          <p:nvPr/>
        </p:nvSpPr>
        <p:spPr>
          <a:xfrm>
            <a:off x="484632" y="2560320"/>
            <a:ext cx="5888736" cy="292608"/>
          </a:xfrm>
          <a:prstGeom prst="rect">
            <a:avLst/>
          </a:prstGeom>
          <a:noFill/>
        </p:spPr>
        <p:txBody>
          <a:bodyPr wrap="square" lIns="0" tIns="0" rIns="0" bIns="0" anchor="ctr"/>
          <a:lstStyle/>
          <a:p>
            <a:pPr algn="ctr" rtl="1">
              <a:spcAft>
                <a:spcPts val="0"/>
              </a:spcAft>
            </a:pPr>
            <a:r>
              <a:rPr lang="ar-SA" sz="560" b="0" dirty="0">
                <a:solidFill>
                  <a:srgbClr val="FFFFFF"/>
                </a:solidFill>
                <a:latin typeface="DiodrumArabic-Semibold"/>
                <a:ea typeface="DiodrumArabic-Semibold"/>
                <a:cs typeface="DiodrumArabic-Semibold"/>
              </a:rPr>
              <a:t>يُحدَّد نوع الدراسة أو البحث المناسب بحسب طبيعة الموضوع والمخرج المطلوب.</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5"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5</a:t>
            </a:r>
          </a:p>
        </p:txBody>
      </p:sp>
      <p:sp>
        <p:nvSpPr>
          <p:cNvPr id="1716"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20" b="0" dirty="0">
                <a:solidFill>
                  <a:srgbClr val="24135F"/>
                </a:solidFill>
                <a:latin typeface="DiodrumArabic-Bold"/>
                <a:ea typeface="DiodrumArabic-Bold"/>
                <a:cs typeface="DiodrumArabic-Bold"/>
              </a:rPr>
              <a:t>منظومة الجهات المستهدفة</a:t>
            </a:r>
          </a:p>
        </p:txBody>
      </p:sp>
      <p:sp>
        <p:nvSpPr>
          <p:cNvPr id="1717" name="subtitle"/>
          <p:cNvSpPr txBox="1"/>
          <p:nvPr/>
        </p:nvSpPr>
        <p:spPr>
          <a:xfrm>
            <a:off x="301752" y="598932"/>
            <a:ext cx="6254496" cy="137160"/>
          </a:xfrm>
          <a:prstGeom prst="rect">
            <a:avLst/>
          </a:prstGeom>
          <a:noFill/>
        </p:spPr>
        <p:txBody>
          <a:bodyPr wrap="square" lIns="0" tIns="0" rIns="0" bIns="0" anchor="t"/>
          <a:lstStyle/>
          <a:p>
            <a:pPr algn="r" rtl="1">
              <a:lnSpc>
                <a:spcPct val="130000"/>
              </a:lnSpc>
              <a:spcAft>
                <a:spcPts val="0"/>
              </a:spcAft>
            </a:pPr>
            <a:r>
              <a:rPr lang="ar-SA" sz="640" b="0" dirty="0">
                <a:solidFill>
                  <a:srgbClr val="5D6167"/>
                </a:solidFill>
                <a:latin typeface="DiodrumArabic-Semibold"/>
                <a:ea typeface="DiodrumArabic-Semibold"/>
                <a:cs typeface="DiodrumArabic-Semibold"/>
              </a:rPr>
              <a:t>تصنيف الجهات البحثية والجامعات ومراكز الأبحاث وفق مرحلة العلاقة مع الحاضنة.</a:t>
            </a:r>
          </a:p>
        </p:txBody>
      </p:sp>
      <p:sp>
        <p:nvSpPr>
          <p:cNvPr id="1718"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719" name="spec"/>
          <p:cNvSpPr/>
          <p:nvPr/>
        </p:nvSpPr>
        <p:spPr>
          <a:xfrm>
            <a:off x="301752" y="1417320"/>
            <a:ext cx="6254496" cy="1325880"/>
          </a:xfrm>
          <a:prstGeom prst="roundRect">
            <a:avLst>
              <a:gd name="adj" fmla="val 3586"/>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cxnSp>
        <p:nvCxnSpPr>
          <p:cNvPr id="1720" name="div0"/>
          <p:cNvCxnSpPr/>
          <p:nvPr/>
        </p:nvCxnSpPr>
        <p:spPr>
          <a:xfrm flipV="0">
            <a:off x="4471416" y="1563624"/>
            <a:ext cx="914" cy="1033272"/>
          </a:xfrm>
          <a:prstGeom prst="line">
            <a:avLst/>
          </a:prstGeom>
          <a:ln w="9525">
            <a:solidFill>
              <a:srgbClr val="E0E0E2"/>
            </a:solidFill>
          </a:ln>
        </p:spPr>
      </p:cxnSp>
      <p:sp>
        <p:nvSpPr>
          <p:cNvPr id="1721" name="t0-dot"/>
          <p:cNvSpPr/>
          <p:nvPr/>
        </p:nvSpPr>
        <p:spPr>
          <a:xfrm>
            <a:off x="6291072" y="1906524"/>
            <a:ext cx="91440" cy="91440"/>
          </a:xfrm>
          <a:prstGeom prst="ellipse">
            <a:avLst/>
          </a:prstGeom>
          <a:solidFill>
            <a:srgbClr val="24135F">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22" name="t0-title"/>
          <p:cNvSpPr txBox="1"/>
          <p:nvPr/>
        </p:nvSpPr>
        <p:spPr>
          <a:xfrm>
            <a:off x="4617720" y="1856232"/>
            <a:ext cx="1664208" cy="146304"/>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جهات مستهدفة</a:t>
            </a:r>
          </a:p>
        </p:txBody>
      </p:sp>
      <p:sp>
        <p:nvSpPr>
          <p:cNvPr id="1723" name="t0-body"/>
          <p:cNvSpPr txBox="1"/>
          <p:nvPr/>
        </p:nvSpPr>
        <p:spPr>
          <a:xfrm>
            <a:off x="4617720" y="2103120"/>
            <a:ext cx="1792224" cy="502920"/>
          </a:xfrm>
          <a:prstGeom prst="rect">
            <a:avLst/>
          </a:prstGeom>
          <a:noFill/>
        </p:spPr>
        <p:txBody>
          <a:bodyPr wrap="square" lIns="0" tIns="0" rIns="0" bIns="0" anchor="t"/>
          <a:lstStyle/>
          <a:p>
            <a:pPr algn="r" rtl="1">
              <a:lnSpc>
                <a:spcPct val="128000"/>
              </a:lnSpc>
              <a:spcAft>
                <a:spcPts val="0"/>
              </a:spcAft>
            </a:pPr>
            <a:r>
              <a:rPr lang="ar-SA" sz="490" b="0" dirty="0">
                <a:solidFill>
                  <a:srgbClr val="5D6167"/>
                </a:solidFill>
                <a:latin typeface="DiodrumArabic-Medium"/>
                <a:ea typeface="DiodrumArabic-Medium"/>
                <a:cs typeface="DiodrumArabic-Medium"/>
              </a:rPr>
              <a:t>جامعات ومراكز أبحاث ضمن نطاق الاهتمام، لم يبدأ التواصل الرسمي معها بعد.</a:t>
            </a:r>
          </a:p>
        </p:txBody>
      </p:sp>
      <p:cxnSp>
        <p:nvCxnSpPr>
          <p:cNvPr id="1724" name="div1"/>
          <p:cNvCxnSpPr/>
          <p:nvPr/>
        </p:nvCxnSpPr>
        <p:spPr>
          <a:xfrm flipV="0">
            <a:off x="2386584" y="1563624"/>
            <a:ext cx="914" cy="1033272"/>
          </a:xfrm>
          <a:prstGeom prst="line">
            <a:avLst/>
          </a:prstGeom>
          <a:ln w="9525">
            <a:solidFill>
              <a:srgbClr val="E0E0E2"/>
            </a:solidFill>
          </a:ln>
        </p:spPr>
      </p:cxnSp>
      <p:sp>
        <p:nvSpPr>
          <p:cNvPr id="1725" name="t1-dot"/>
          <p:cNvSpPr/>
          <p:nvPr/>
        </p:nvSpPr>
        <p:spPr>
          <a:xfrm>
            <a:off x="4206240" y="1906524"/>
            <a:ext cx="91440" cy="91440"/>
          </a:xfrm>
          <a:prstGeom prst="ellipse">
            <a:avLst/>
          </a:prstGeom>
          <a:solidFill>
            <a:srgbClr val="B98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26" name="t1-title"/>
          <p:cNvSpPr txBox="1"/>
          <p:nvPr/>
        </p:nvSpPr>
        <p:spPr>
          <a:xfrm>
            <a:off x="2532888" y="1856232"/>
            <a:ext cx="1664208" cy="146304"/>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جهات تم التواصل معها</a:t>
            </a:r>
          </a:p>
        </p:txBody>
      </p:sp>
      <p:sp>
        <p:nvSpPr>
          <p:cNvPr id="1727" name="t1-body"/>
          <p:cNvSpPr txBox="1"/>
          <p:nvPr/>
        </p:nvSpPr>
        <p:spPr>
          <a:xfrm>
            <a:off x="2532888" y="2103120"/>
            <a:ext cx="1792224" cy="502920"/>
          </a:xfrm>
          <a:prstGeom prst="rect">
            <a:avLst/>
          </a:prstGeom>
          <a:noFill/>
        </p:spPr>
        <p:txBody>
          <a:bodyPr wrap="square" lIns="0" tIns="0" rIns="0" bIns="0" anchor="t"/>
          <a:lstStyle/>
          <a:p>
            <a:pPr algn="r" rtl="1">
              <a:lnSpc>
                <a:spcPct val="128000"/>
              </a:lnSpc>
              <a:spcAft>
                <a:spcPts val="0"/>
              </a:spcAft>
            </a:pPr>
            <a:r>
              <a:rPr lang="ar-SA" sz="490" b="0" dirty="0">
                <a:solidFill>
                  <a:srgbClr val="5D6167"/>
                </a:solidFill>
                <a:latin typeface="DiodrumArabic-Medium"/>
                <a:ea typeface="DiodrumArabic-Medium"/>
                <a:cs typeface="DiodrumArabic-Medium"/>
              </a:rPr>
              <a:t>جهات جرى التواصل الأولي معها لبحث فرص التعاون.</a:t>
            </a:r>
          </a:p>
        </p:txBody>
      </p:sp>
      <p:sp>
        <p:nvSpPr>
          <p:cNvPr id="1728" name="t2-dot"/>
          <p:cNvSpPr/>
          <p:nvPr/>
        </p:nvSpPr>
        <p:spPr>
          <a:xfrm>
            <a:off x="2121408" y="1906524"/>
            <a:ext cx="91440" cy="91440"/>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29" name="t2-title"/>
          <p:cNvSpPr txBox="1"/>
          <p:nvPr/>
        </p:nvSpPr>
        <p:spPr>
          <a:xfrm>
            <a:off x="448056" y="1856232"/>
            <a:ext cx="1664208" cy="146304"/>
          </a:xfrm>
          <a:prstGeom prst="rect">
            <a:avLst/>
          </a:prstGeom>
          <a:noFill/>
        </p:spPr>
        <p:txBody>
          <a:bodyPr wrap="square" lIns="0" tIns="0" rIns="0" bIns="0" anchor="t"/>
          <a:lstStyle/>
          <a:p>
            <a:pPr algn="r" rtl="1">
              <a:spcAft>
                <a:spcPts val="0"/>
              </a:spcAft>
            </a:pPr>
            <a:r>
              <a:rPr lang="ar-SA" sz="620" b="0" dirty="0">
                <a:solidFill>
                  <a:srgbClr val="24135F"/>
                </a:solidFill>
                <a:latin typeface="DiodrumArabic-Bold"/>
                <a:ea typeface="DiodrumArabic-Bold"/>
                <a:cs typeface="DiodrumArabic-Bold"/>
              </a:rPr>
              <a:t>جهات في مرحلة متقدمة</a:t>
            </a:r>
          </a:p>
        </p:txBody>
      </p:sp>
      <p:sp>
        <p:nvSpPr>
          <p:cNvPr id="1730" name="t2-body"/>
          <p:cNvSpPr txBox="1"/>
          <p:nvPr/>
        </p:nvSpPr>
        <p:spPr>
          <a:xfrm>
            <a:off x="448056" y="2103120"/>
            <a:ext cx="1792224" cy="502920"/>
          </a:xfrm>
          <a:prstGeom prst="rect">
            <a:avLst/>
          </a:prstGeom>
          <a:noFill/>
        </p:spPr>
        <p:txBody>
          <a:bodyPr wrap="square" lIns="0" tIns="0" rIns="0" bIns="0" anchor="t"/>
          <a:lstStyle/>
          <a:p>
            <a:pPr algn="r" rtl="1">
              <a:lnSpc>
                <a:spcPct val="128000"/>
              </a:lnSpc>
              <a:spcAft>
                <a:spcPts val="0"/>
              </a:spcAft>
            </a:pPr>
            <a:r>
              <a:rPr lang="ar-SA" sz="490" b="0" dirty="0">
                <a:solidFill>
                  <a:srgbClr val="5D6167"/>
                </a:solidFill>
                <a:latin typeface="DiodrumArabic-Medium"/>
                <a:ea typeface="DiodrumArabic-Medium"/>
                <a:cs typeface="DiodrumArabic-Medium"/>
              </a:rPr>
              <a:t>جهات تسير في مسار تعاون فعلي مع الحاضنة.</a:t>
            </a:r>
          </a:p>
        </p:txBody>
      </p:sp>
      <p:sp>
        <p:nvSpPr>
          <p:cNvPr id="1731" name="note"/>
          <p:cNvSpPr txBox="1"/>
          <p:nvPr/>
        </p:nvSpPr>
        <p:spPr>
          <a:xfrm>
            <a:off x="301752" y="2889504"/>
            <a:ext cx="6254496" cy="274320"/>
          </a:xfrm>
          <a:prstGeom prst="rect">
            <a:avLst/>
          </a:prstGeom>
          <a:noFill/>
        </p:spPr>
        <p:txBody>
          <a:bodyPr wrap="square" lIns="0" tIns="0" rIns="0" bIns="0" anchor="t"/>
          <a:lstStyle/>
          <a:p>
            <a:pPr algn="ctr" rtl="1">
              <a:spcAft>
                <a:spcPts val="0"/>
              </a:spcAft>
            </a:pPr>
            <a:r>
              <a:rPr lang="ar-SA" sz="480" b="0" dirty="0">
                <a:solidFill>
                  <a:srgbClr val="5D6167"/>
                </a:solidFill>
                <a:latin typeface="DiodrumArabic-Regular"/>
                <a:ea typeface="DiodrumArabic-Regular"/>
                <a:cs typeface="DiodrumArabic-Regular"/>
              </a:rPr>
              <a:t>تُستكمل القائمة بأسماء الجهات فور اعتماد نطاق التنفيذ والشراكات.</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الملحق 6</a:t>
            </a:r>
          </a:p>
        </p:txBody>
      </p:sp>
      <p:sp>
        <p:nvSpPr>
          <p:cNvPr id="1733"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خارطة الشراكات</a:t>
            </a:r>
          </a:p>
        </p:txBody>
      </p:sp>
      <p:sp>
        <p:nvSpPr>
          <p:cNvPr id="1734"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735" name="lbl"/>
          <p:cNvSpPr txBox="1"/>
          <p:nvPr/>
        </p:nvSpPr>
        <p:spPr>
          <a:xfrm>
            <a:off x="301752" y="1024128"/>
            <a:ext cx="6254496" cy="128016"/>
          </a:xfrm>
          <a:prstGeom prst="rect">
            <a:avLst/>
          </a:prstGeom>
          <a:noFill/>
        </p:spPr>
        <p:txBody>
          <a:bodyPr wrap="square" lIns="0" tIns="0" rIns="0" bIns="0" anchor="t"/>
          <a:lstStyle/>
          <a:p>
            <a:pPr algn="r" rtl="1">
              <a:spcAft>
                <a:spcPts val="0"/>
              </a:spcAft>
            </a:pPr>
            <a:r>
              <a:rPr lang="ar-SA" sz="600" b="0" dirty="0">
                <a:solidFill>
                  <a:srgbClr val="753BBD"/>
                </a:solidFill>
                <a:latin typeface="DiodrumArabic-Bold"/>
                <a:ea typeface="DiodrumArabic-Bold"/>
                <a:cs typeface="DiodrumArabic-Bold"/>
              </a:rPr>
              <a:t>مراحل خارطة الشراكات</a:t>
            </a:r>
          </a:p>
        </p:txBody>
      </p:sp>
      <p:sp>
        <p:nvSpPr>
          <p:cNvPr id="1736" name="ps0"/>
          <p:cNvSpPr/>
          <p:nvPr/>
        </p:nvSpPr>
        <p:spPr>
          <a:xfrm>
            <a:off x="5407762" y="1207008"/>
            <a:ext cx="1148486" cy="347472"/>
          </a:xfrm>
          <a:prstGeom prst="roundRect">
            <a:avLst>
              <a:gd name="adj" fmla="val 1354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37" name="ps0-badge"/>
          <p:cNvSpPr/>
          <p:nvPr/>
        </p:nvSpPr>
        <p:spPr>
          <a:xfrm>
            <a:off x="5872277" y="1130198"/>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38" name="ps0-badgenum"/>
          <p:cNvSpPr txBox="1"/>
          <p:nvPr/>
        </p:nvSpPr>
        <p:spPr>
          <a:xfrm>
            <a:off x="5872277" y="1130198"/>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1</a:t>
            </a:r>
          </a:p>
        </p:txBody>
      </p:sp>
      <p:sp>
        <p:nvSpPr>
          <p:cNvPr id="1739" name="ps0-title"/>
          <p:cNvSpPr txBox="1"/>
          <p:nvPr/>
        </p:nvSpPr>
        <p:spPr>
          <a:xfrm>
            <a:off x="5480914" y="1353312"/>
            <a:ext cx="1002182" cy="128016"/>
          </a:xfrm>
          <a:prstGeom prst="rect">
            <a:avLst/>
          </a:prstGeom>
          <a:noFill/>
        </p:spPr>
        <p:txBody>
          <a:bodyPr wrap="square" lIns="0" tIns="0" rIns="0" bIns="0" anchor="t"/>
          <a:lstStyle/>
          <a:p>
            <a:pPr algn="ctr" rtl="1">
              <a:lnSpc>
                <a:spcPct val="112000"/>
              </a:lnSpc>
              <a:spcAft>
                <a:spcPts val="0"/>
              </a:spcAft>
            </a:pPr>
            <a:r>
              <a:rPr lang="ar-SA" sz="560" b="0" dirty="0">
                <a:solidFill>
                  <a:srgbClr val="24135F"/>
                </a:solidFill>
                <a:latin typeface="DiodrumArabic-Bold"/>
                <a:ea typeface="DiodrumArabic-Bold"/>
                <a:cs typeface="DiodrumArabic-Bold"/>
              </a:rPr>
              <a:t>الرصد والتحديد</a:t>
            </a:r>
          </a:p>
        </p:txBody>
      </p:sp>
      <p:sp>
        <p:nvSpPr>
          <p:cNvPr id="1740" name="ps0-chev"/>
          <p:cNvSpPr/>
          <p:nvPr/>
        </p:nvSpPr>
        <p:spPr>
          <a:xfrm flipH="1">
            <a:off x="5270602"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1" name="ps1"/>
          <p:cNvSpPr/>
          <p:nvPr/>
        </p:nvSpPr>
        <p:spPr>
          <a:xfrm>
            <a:off x="4131259" y="1207008"/>
            <a:ext cx="1148486" cy="347472"/>
          </a:xfrm>
          <a:prstGeom prst="roundRect">
            <a:avLst>
              <a:gd name="adj" fmla="val 1354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2" name="ps1-badge"/>
          <p:cNvSpPr/>
          <p:nvPr/>
        </p:nvSpPr>
        <p:spPr>
          <a:xfrm>
            <a:off x="4595774" y="1130198"/>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3" name="ps1-badgenum"/>
          <p:cNvSpPr txBox="1"/>
          <p:nvPr/>
        </p:nvSpPr>
        <p:spPr>
          <a:xfrm>
            <a:off x="4595774" y="1130198"/>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2</a:t>
            </a:r>
          </a:p>
        </p:txBody>
      </p:sp>
      <p:sp>
        <p:nvSpPr>
          <p:cNvPr id="1744" name="ps1-title"/>
          <p:cNvSpPr txBox="1"/>
          <p:nvPr/>
        </p:nvSpPr>
        <p:spPr>
          <a:xfrm>
            <a:off x="4204411" y="1353312"/>
            <a:ext cx="1002182" cy="128016"/>
          </a:xfrm>
          <a:prstGeom prst="rect">
            <a:avLst/>
          </a:prstGeom>
          <a:noFill/>
        </p:spPr>
        <p:txBody>
          <a:bodyPr wrap="square" lIns="0" tIns="0" rIns="0" bIns="0" anchor="t"/>
          <a:lstStyle/>
          <a:p>
            <a:pPr algn="ctr" rtl="1">
              <a:lnSpc>
                <a:spcPct val="112000"/>
              </a:lnSpc>
              <a:spcAft>
                <a:spcPts val="0"/>
              </a:spcAft>
            </a:pPr>
            <a:r>
              <a:rPr lang="ar-SA" sz="560" b="0" dirty="0">
                <a:solidFill>
                  <a:srgbClr val="24135F"/>
                </a:solidFill>
                <a:latin typeface="DiodrumArabic-Bold"/>
                <a:ea typeface="DiodrumArabic-Bold"/>
                <a:cs typeface="DiodrumArabic-Bold"/>
              </a:rPr>
              <a:t>التواصل الأولي</a:t>
            </a:r>
          </a:p>
        </p:txBody>
      </p:sp>
      <p:sp>
        <p:nvSpPr>
          <p:cNvPr id="1745" name="ps1-chev"/>
          <p:cNvSpPr/>
          <p:nvPr/>
        </p:nvSpPr>
        <p:spPr>
          <a:xfrm flipH="1">
            <a:off x="3994099"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6" name="ps2"/>
          <p:cNvSpPr/>
          <p:nvPr/>
        </p:nvSpPr>
        <p:spPr>
          <a:xfrm>
            <a:off x="2854757" y="1207008"/>
            <a:ext cx="1148486" cy="347472"/>
          </a:xfrm>
          <a:prstGeom prst="roundRect">
            <a:avLst>
              <a:gd name="adj" fmla="val 1354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7" name="ps2-badge"/>
          <p:cNvSpPr/>
          <p:nvPr/>
        </p:nvSpPr>
        <p:spPr>
          <a:xfrm>
            <a:off x="3319272" y="1130198"/>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48" name="ps2-badgenum"/>
          <p:cNvSpPr txBox="1"/>
          <p:nvPr/>
        </p:nvSpPr>
        <p:spPr>
          <a:xfrm>
            <a:off x="3319272" y="1130198"/>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3</a:t>
            </a:r>
          </a:p>
        </p:txBody>
      </p:sp>
      <p:sp>
        <p:nvSpPr>
          <p:cNvPr id="1749" name="ps2-title"/>
          <p:cNvSpPr txBox="1"/>
          <p:nvPr/>
        </p:nvSpPr>
        <p:spPr>
          <a:xfrm>
            <a:off x="2927909" y="1353312"/>
            <a:ext cx="1002182" cy="128016"/>
          </a:xfrm>
          <a:prstGeom prst="rect">
            <a:avLst/>
          </a:prstGeom>
          <a:noFill/>
        </p:spPr>
        <p:txBody>
          <a:bodyPr wrap="square" lIns="0" tIns="0" rIns="0" bIns="0" anchor="t"/>
          <a:lstStyle/>
          <a:p>
            <a:pPr algn="ctr" rtl="1">
              <a:lnSpc>
                <a:spcPct val="112000"/>
              </a:lnSpc>
              <a:spcAft>
                <a:spcPts val="0"/>
              </a:spcAft>
            </a:pPr>
            <a:r>
              <a:rPr lang="ar-SA" sz="560" b="0" dirty="0">
                <a:solidFill>
                  <a:srgbClr val="24135F"/>
                </a:solidFill>
                <a:latin typeface="DiodrumArabic-Bold"/>
                <a:ea typeface="DiodrumArabic-Bold"/>
                <a:cs typeface="DiodrumArabic-Bold"/>
              </a:rPr>
              <a:t>المواءمة والتفاوض</a:t>
            </a:r>
          </a:p>
        </p:txBody>
      </p:sp>
      <p:sp>
        <p:nvSpPr>
          <p:cNvPr id="1750" name="ps2-chev"/>
          <p:cNvSpPr/>
          <p:nvPr/>
        </p:nvSpPr>
        <p:spPr>
          <a:xfrm flipH="1">
            <a:off x="2717597"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1" name="ps3"/>
          <p:cNvSpPr/>
          <p:nvPr/>
        </p:nvSpPr>
        <p:spPr>
          <a:xfrm>
            <a:off x="1578254" y="1207008"/>
            <a:ext cx="1148486" cy="347472"/>
          </a:xfrm>
          <a:prstGeom prst="roundRect">
            <a:avLst>
              <a:gd name="adj" fmla="val 13541"/>
            </a:avLst>
          </a:prstGeom>
          <a:solidFill>
            <a:srgbClr val="753BB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2" name="ps3-badge"/>
          <p:cNvSpPr/>
          <p:nvPr/>
        </p:nvSpPr>
        <p:spPr>
          <a:xfrm>
            <a:off x="2042770" y="1130198"/>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3" name="ps3-badgenum"/>
          <p:cNvSpPr txBox="1"/>
          <p:nvPr/>
        </p:nvSpPr>
        <p:spPr>
          <a:xfrm>
            <a:off x="2042770" y="1130198"/>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4</a:t>
            </a:r>
          </a:p>
        </p:txBody>
      </p:sp>
      <p:sp>
        <p:nvSpPr>
          <p:cNvPr id="1754" name="ps3-title"/>
          <p:cNvSpPr txBox="1"/>
          <p:nvPr/>
        </p:nvSpPr>
        <p:spPr>
          <a:xfrm>
            <a:off x="1651406" y="1353312"/>
            <a:ext cx="1002182" cy="128016"/>
          </a:xfrm>
          <a:prstGeom prst="rect">
            <a:avLst/>
          </a:prstGeom>
          <a:noFill/>
        </p:spPr>
        <p:txBody>
          <a:bodyPr wrap="square" lIns="0" tIns="0" rIns="0" bIns="0" anchor="t"/>
          <a:lstStyle/>
          <a:p>
            <a:pPr algn="ctr" rtl="1">
              <a:lnSpc>
                <a:spcPct val="112000"/>
              </a:lnSpc>
              <a:spcAft>
                <a:spcPts val="0"/>
              </a:spcAft>
            </a:pPr>
            <a:r>
              <a:rPr lang="ar-SA" sz="560" b="0" dirty="0">
                <a:solidFill>
                  <a:srgbClr val="24135F"/>
                </a:solidFill>
                <a:latin typeface="DiodrumArabic-Bold"/>
                <a:ea typeface="DiodrumArabic-Bold"/>
                <a:cs typeface="DiodrumArabic-Bold"/>
              </a:rPr>
              <a:t>توقيع الاتفاق</a:t>
            </a:r>
          </a:p>
        </p:txBody>
      </p:sp>
      <p:sp>
        <p:nvSpPr>
          <p:cNvPr id="1755" name="ps3-chev"/>
          <p:cNvSpPr/>
          <p:nvPr/>
        </p:nvSpPr>
        <p:spPr>
          <a:xfrm flipH="1">
            <a:off x="1441094" y="1298448"/>
            <a:ext cx="146304" cy="164592"/>
          </a:xfrm>
          <a:prstGeom prst="chevron">
            <a:avLst/>
          </a:prstGeom>
          <a:solidFill>
            <a:srgbClr val="753BBD">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6" name="ps4"/>
          <p:cNvSpPr/>
          <p:nvPr/>
        </p:nvSpPr>
        <p:spPr>
          <a:xfrm>
            <a:off x="301752" y="1207008"/>
            <a:ext cx="1148486" cy="347472"/>
          </a:xfrm>
          <a:prstGeom prst="roundRect">
            <a:avLst>
              <a:gd name="adj" fmla="val 13541"/>
            </a:avLst>
          </a:prstGeom>
          <a:solidFill>
            <a:srgbClr val="1CC182">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7" name="ps4-badge"/>
          <p:cNvSpPr/>
          <p:nvPr/>
        </p:nvSpPr>
        <p:spPr>
          <a:xfrm>
            <a:off x="766267" y="1130198"/>
            <a:ext cx="219456" cy="219456"/>
          </a:xfrm>
          <a:prstGeom prst="ellipse">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758" name="ps4-badgenum"/>
          <p:cNvSpPr txBox="1"/>
          <p:nvPr/>
        </p:nvSpPr>
        <p:spPr>
          <a:xfrm>
            <a:off x="766267" y="1130198"/>
            <a:ext cx="219456" cy="210312"/>
          </a:xfrm>
          <a:prstGeom prst="rect">
            <a:avLst/>
          </a:prstGeom>
          <a:noFill/>
        </p:spPr>
        <p:txBody>
          <a:bodyPr wrap="square" lIns="0" tIns="0" rIns="0" bIns="0" anchor="ctr"/>
          <a:lstStyle/>
          <a:p>
            <a:pPr algn="ctr">
              <a:spcAft>
                <a:spcPts val="0"/>
              </a:spcAft>
            </a:pPr>
            <a:r>
              <a:rPr lang="en-US" sz="460" b="0" dirty="0">
                <a:solidFill>
                  <a:srgbClr val="FFFFFF"/>
                </a:solidFill>
                <a:latin typeface="DiodrumArabic-Bold"/>
                <a:ea typeface="DiodrumArabic-Bold"/>
                <a:cs typeface="DiodrumArabic-Bold"/>
              </a:rPr>
              <a:t>5</a:t>
            </a:r>
          </a:p>
        </p:txBody>
      </p:sp>
      <p:sp>
        <p:nvSpPr>
          <p:cNvPr id="1759" name="ps4-title"/>
          <p:cNvSpPr txBox="1"/>
          <p:nvPr/>
        </p:nvSpPr>
        <p:spPr>
          <a:xfrm>
            <a:off x="374904" y="1353312"/>
            <a:ext cx="1002182" cy="128016"/>
          </a:xfrm>
          <a:prstGeom prst="rect">
            <a:avLst/>
          </a:prstGeom>
          <a:noFill/>
        </p:spPr>
        <p:txBody>
          <a:bodyPr wrap="square" lIns="0" tIns="0" rIns="0" bIns="0" anchor="t"/>
          <a:lstStyle/>
          <a:p>
            <a:pPr algn="ctr" rtl="1">
              <a:lnSpc>
                <a:spcPct val="112000"/>
              </a:lnSpc>
              <a:spcAft>
                <a:spcPts val="0"/>
              </a:spcAft>
            </a:pPr>
            <a:r>
              <a:rPr lang="ar-SA" sz="560" b="0" dirty="0">
                <a:solidFill>
                  <a:srgbClr val="24135F"/>
                </a:solidFill>
                <a:latin typeface="DiodrumArabic-Bold"/>
                <a:ea typeface="DiodrumArabic-Bold"/>
                <a:cs typeface="DiodrumArabic-Bold"/>
              </a:rPr>
              <a:t>التفعيل والتنفيذ</a:t>
            </a:r>
          </a:p>
        </p:txBody>
      </p:sp>
      <p:graphicFrame>
        <p:nvGraphicFramePr>
          <p:cNvPr id="1760" name="tbl"/>
          <p:cNvGraphicFramePr/>
          <p:nvPr/>
        </p:nvGraphicFramePr>
        <p:xfrm>
          <a:off x="301752" y="1691640"/>
          <a:ext cx="6254496" cy="1536192"/>
        </p:xfrm>
        <a:graphic>
          <a:graphicData uri="http://schemas.openxmlformats.org/drawingml/2006/table">
            <a:tbl>
              <a:tblPr firstRow="1" bandRow="1">
                <a:tableStyleId>{5C22544A-7EE6-4342-B048-85BDC9FD1C3A}</a:tableStyleId>
              </a:tblPr>
              <a:tblGrid>
                <a:gridCol w="2011680"/>
                <a:gridCol w="2011680"/>
                <a:gridCol w="2231136"/>
              </a:tblGrid>
              <a:tr h="256032">
                <a:tc>
                  <a:txBody>
                    <a:bodyPr anchor="ctr"/>
                    <a:lstStyle/>
                    <a:p>
                      <a:pPr algn="ctr" rtl="1"/>
                      <a:r>
                        <a:rPr lang="ar-SA" sz="620" b="1" dirty="0">
                          <a:solidFill>
                            <a:srgbClr val="FFFFFF"/>
                          </a:solidFill>
                          <a:latin typeface="DiodrumArabic-Bold"/>
                          <a:ea typeface="DiodrumArabic-Bold"/>
                          <a:cs typeface="DiodrumArabic-Bold"/>
                        </a:rPr>
                        <a:t>الخطوة التالية</a:t>
                      </a:r>
                    </a:p>
                  </a:txBody>
                  <a:tcPr anchor="ctr" marL="57150" marR="57150" marT="14287" marB="14287">
                    <a:solidFill>
                      <a:srgbClr val="24135F"/>
                    </a:solidFill>
                  </a:tcPr>
                </a:tc>
                <a:tc>
                  <a:txBody>
                    <a:bodyPr anchor="ctr"/>
                    <a:lstStyle/>
                    <a:p>
                      <a:pPr algn="ctr" rtl="1"/>
                      <a:r>
                        <a:rPr lang="ar-SA" sz="620" b="1" dirty="0">
                          <a:solidFill>
                            <a:srgbClr val="FFFFFF"/>
                          </a:solidFill>
                          <a:latin typeface="DiodrumArabic-Bold"/>
                          <a:ea typeface="DiodrumArabic-Bold"/>
                          <a:cs typeface="DiodrumArabic-Bold"/>
                        </a:rPr>
                        <a:t>المرحلة الحالية</a:t>
                      </a:r>
                    </a:p>
                  </a:txBody>
                  <a:tcPr anchor="ctr" marL="57150" marR="57150" marT="14287" marB="14287">
                    <a:solidFill>
                      <a:srgbClr val="24135F"/>
                    </a:solidFill>
                  </a:tcPr>
                </a:tc>
                <a:tc>
                  <a:txBody>
                    <a:bodyPr anchor="ctr"/>
                    <a:lstStyle/>
                    <a:p>
                      <a:pPr algn="ctr" rtl="1"/>
                      <a:r>
                        <a:rPr lang="ar-SA" sz="620" b="1" dirty="0">
                          <a:solidFill>
                            <a:srgbClr val="FFFFFF"/>
                          </a:solidFill>
                          <a:latin typeface="DiodrumArabic-Bold"/>
                          <a:ea typeface="DiodrumArabic-Bold"/>
                          <a:cs typeface="DiodrumArabic-Bold"/>
                        </a:rPr>
                        <a:t>الجهة</a:t>
                      </a:r>
                    </a:p>
                  </a:txBody>
                  <a:tcPr anchor="ctr" marL="57150" marR="57150" marT="14287" marB="14287">
                    <a:solidFill>
                      <a:srgbClr val="24135F"/>
                    </a:solidFill>
                  </a:tcPr>
                </a:tc>
              </a:tr>
              <a:tr h="256032">
                <a:tc>
                  <a:txBody>
                    <a:bodyPr anchor="ctr"/>
                    <a:lstStyle/>
                    <a:p>
                      <a:pPr algn="ctr" rtl="1"/>
                      <a:r>
                        <a:rPr lang="ar-SA" sz="560" b="0" dirty="0">
                          <a:solidFill>
                            <a:srgbClr val="5D6167"/>
                          </a:solidFill>
                          <a:latin typeface="DiodrumArabic-Medium"/>
                          <a:ea typeface="DiodrumArabic-Medium"/>
                          <a:cs typeface="DiodrumArabic-Medium"/>
                        </a:rPr>
                        <a:t>التواصل الأولي</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الرصد والتحديد</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جامعة الإمام محمد بن سعود الإسلامية</a:t>
                      </a:r>
                    </a:p>
                  </a:txBody>
                  <a:tcPr anchor="ctr" marL="57150" marR="57150" marT="14287" marB="14287">
                    <a:solidFill>
                      <a:srgbClr val="F7F5FC"/>
                    </a:solidFill>
                  </a:tcPr>
                </a:tc>
              </a:tr>
              <a:tr h="256032">
                <a:tc>
                  <a:txBody>
                    <a:bodyPr anchor="ctr"/>
                    <a:lstStyle/>
                    <a:p>
                      <a:pPr algn="ctr" rtl="1"/>
                      <a:r>
                        <a:rPr lang="ar-SA" sz="560" b="0" dirty="0">
                          <a:solidFill>
                            <a:srgbClr val="5D6167"/>
                          </a:solidFill>
                          <a:latin typeface="DiodrumArabic-Medium"/>
                          <a:ea typeface="DiodrumArabic-Medium"/>
                          <a:cs typeface="DiodrumArabic-Medium"/>
                        </a:rPr>
                        <a:t>المواءمة والتفاوض</a:t>
                      </a:r>
                    </a:p>
                  </a:txBody>
                  <a:tcPr anchor="ctr" marL="57150" marR="57150" marT="14287" marB="14287">
                    <a:solidFill>
                      <a:srgbClr val="FFFFFF"/>
                    </a:solidFill>
                  </a:tcPr>
                </a:tc>
                <a:tc>
                  <a:txBody>
                    <a:bodyPr anchor="ctr"/>
                    <a:lstStyle/>
                    <a:p>
                      <a:pPr algn="ctr" rtl="1"/>
                      <a:r>
                        <a:rPr lang="ar-SA" sz="560" b="0" dirty="0">
                          <a:solidFill>
                            <a:srgbClr val="5D6167"/>
                          </a:solidFill>
                          <a:latin typeface="DiodrumArabic-Medium"/>
                          <a:ea typeface="DiodrumArabic-Medium"/>
                          <a:cs typeface="DiodrumArabic-Medium"/>
                        </a:rPr>
                        <a:t>التواصل الأولي</a:t>
                      </a:r>
                    </a:p>
                  </a:txBody>
                  <a:tcPr anchor="ctr" marL="57150" marR="57150" marT="14287" marB="14287">
                    <a:solidFill>
                      <a:srgbClr val="FFFFFF"/>
                    </a:solidFill>
                  </a:tcPr>
                </a:tc>
                <a:tc>
                  <a:txBody>
                    <a:bodyPr anchor="ctr"/>
                    <a:lstStyle/>
                    <a:p>
                      <a:pPr algn="ctr" rtl="1"/>
                      <a:r>
                        <a:rPr lang="ar-SA" sz="560" b="0" dirty="0">
                          <a:solidFill>
                            <a:srgbClr val="5D6167"/>
                          </a:solidFill>
                          <a:latin typeface="DiodrumArabic-Medium"/>
                          <a:ea typeface="DiodrumArabic-Medium"/>
                          <a:cs typeface="DiodrumArabic-Medium"/>
                        </a:rPr>
                        <a:t>جامعة الملك سعود</a:t>
                      </a:r>
                    </a:p>
                  </a:txBody>
                  <a:tcPr anchor="ctr" marL="57150" marR="57150" marT="14287" marB="14287">
                    <a:solidFill>
                      <a:srgbClr val="FFFFFF"/>
                    </a:solidFill>
                  </a:tcPr>
                </a:tc>
              </a:tr>
              <a:tr h="256032">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جهة 3</a:t>
                      </a:r>
                    </a:p>
                  </a:txBody>
                  <a:tcPr anchor="ctr" marL="57150" marR="57150" marT="14287" marB="14287">
                    <a:solidFill>
                      <a:srgbClr val="F7F5FC"/>
                    </a:solidFill>
                  </a:tcPr>
                </a:tc>
              </a:tr>
              <a:tr h="256032">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FFFFF"/>
                    </a:solidFill>
                  </a:tcPr>
                </a:tc>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FFFFF"/>
                    </a:solidFill>
                  </a:tcPr>
                </a:tc>
                <a:tc>
                  <a:txBody>
                    <a:bodyPr anchor="ctr"/>
                    <a:lstStyle/>
                    <a:p>
                      <a:pPr algn="ctr" rtl="1"/>
                      <a:r>
                        <a:rPr lang="ar-SA" sz="560" b="0" dirty="0">
                          <a:solidFill>
                            <a:srgbClr val="5D6167"/>
                          </a:solidFill>
                          <a:latin typeface="DiodrumArabic-Medium"/>
                          <a:ea typeface="DiodrumArabic-Medium"/>
                          <a:cs typeface="DiodrumArabic-Medium"/>
                        </a:rPr>
                        <a:t>جهة 4</a:t>
                      </a:r>
                    </a:p>
                  </a:txBody>
                  <a:tcPr anchor="ctr" marL="57150" marR="57150" marT="14287" marB="14287">
                    <a:solidFill>
                      <a:srgbClr val="FFFFFF"/>
                    </a:solidFill>
                  </a:tcPr>
                </a:tc>
              </a:tr>
              <a:tr h="256032">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TBD</a:t>
                      </a:r>
                    </a:p>
                  </a:txBody>
                  <a:tcPr anchor="ctr" marL="57150" marR="57150" marT="14287" marB="14287">
                    <a:solidFill>
                      <a:srgbClr val="F7F5FC"/>
                    </a:solidFill>
                  </a:tcPr>
                </a:tc>
                <a:tc>
                  <a:txBody>
                    <a:bodyPr anchor="ctr"/>
                    <a:lstStyle/>
                    <a:p>
                      <a:pPr algn="ctr" rtl="1"/>
                      <a:r>
                        <a:rPr lang="ar-SA" sz="560" b="0" dirty="0">
                          <a:solidFill>
                            <a:srgbClr val="5D6167"/>
                          </a:solidFill>
                          <a:latin typeface="DiodrumArabic-Medium"/>
                          <a:ea typeface="DiodrumArabic-Medium"/>
                          <a:cs typeface="DiodrumArabic-Medium"/>
                        </a:rPr>
                        <a:t>جهة 5</a:t>
                      </a:r>
                    </a:p>
                  </a:txBody>
                  <a:tcPr anchor="ctr" marL="57150" marR="57150" marT="14287" marB="14287">
                    <a:solidFill>
                      <a:srgbClr val="F7F5FC"/>
                    </a:solidFill>
                  </a:tcPr>
                </a:tc>
              </a:tr>
            </a:tbl>
          </a:graphicData>
        </a:graphic>
      </p:graphicFrame>
      <p:sp>
        <p:nvSpPr>
          <p:cNvPr id="1761" name="note"/>
          <p:cNvSpPr txBox="1"/>
          <p:nvPr/>
        </p:nvSpPr>
        <p:spPr>
          <a:xfrm>
            <a:off x="301752" y="3337560"/>
            <a:ext cx="6254496" cy="274320"/>
          </a:xfrm>
          <a:prstGeom prst="rect">
            <a:avLst/>
          </a:prstGeom>
          <a:noFill/>
        </p:spPr>
        <p:txBody>
          <a:bodyPr wrap="square" lIns="0" tIns="0" rIns="0" bIns="0" anchor="t"/>
          <a:lstStyle/>
          <a:p>
            <a:pPr algn="ctr" rtl="1">
              <a:spcAft>
                <a:spcPts val="0"/>
              </a:spcAft>
            </a:pPr>
            <a:r>
              <a:rPr lang="ar-SA" sz="480" b="0" dirty="0">
                <a:solidFill>
                  <a:srgbClr val="5D6167"/>
                </a:solidFill>
                <a:latin typeface="DiodrumArabic-Regular"/>
                <a:ea typeface="DiodrumArabic-Regular"/>
                <a:cs typeface="DiodrumArabic-Regular"/>
              </a:rPr>
              <a:t>تُستكمل الخارطة بأسماء الجهات الفعلية ومراحلها بعد اعتماد نطاق التنفيذ.</a:t>
            </a:r>
          </a:p>
        </p:txBody>
      </p:sp>
    </p:spTree>
  </p:cSld>
  <p:clrMapOvr>
    <a:masterClrMapping/>
  </p:clrMapOvr>
</p:sld>
</file>

<file path=ppt/slides/slide10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081"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260" b="0" dirty="0">
                <a:solidFill>
                  <a:srgbClr val="24135F"/>
                </a:solidFill>
                <a:latin typeface="DiodrumArabic-Bold"/>
                <a:ea typeface="DiodrumArabic-Bold"/>
                <a:cs typeface="DiodrumArabic-Bold"/>
              </a:rPr>
              <a:t>البحث العلمي ركيزة أساسية لتحقيق مستهدفات رؤية 2030</a:t>
            </a:r>
          </a:p>
        </p:txBody>
      </p:sp>
      <p:sp>
        <p:nvSpPr>
          <p:cNvPr id="1082"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083" name="k0"/>
          <p:cNvSpPr/>
          <p:nvPr/>
        </p:nvSpPr>
        <p:spPr>
          <a:xfrm>
            <a:off x="4593336" y="1325880"/>
            <a:ext cx="1962912" cy="1600200"/>
          </a:xfrm>
          <a:prstGeom prst="roundRect">
            <a:avLst>
              <a:gd name="adj" fmla="val 297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84" name="k0-bar"/>
          <p:cNvSpPr/>
          <p:nvPr/>
        </p:nvSpPr>
        <p:spPr>
          <a:xfrm>
            <a:off x="4684776" y="1325880"/>
            <a:ext cx="1780032" cy="29261"/>
          </a:xfrm>
          <a:prstGeom prst="roundRect">
            <a:avLst>
              <a:gd name="adj" fmla="val 50000"/>
            </a:avLst>
          </a:prstGeom>
          <a:solidFill>
            <a:srgbClr val="753B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85" name="k0-unit"/>
          <p:cNvSpPr txBox="1"/>
          <p:nvPr/>
        </p:nvSpPr>
        <p:spPr>
          <a:xfrm>
            <a:off x="4703064" y="1472184"/>
            <a:ext cx="1743456" cy="128016"/>
          </a:xfrm>
          <a:prstGeom prst="rect">
            <a:avLst/>
          </a:prstGeom>
          <a:noFill/>
        </p:spPr>
        <p:txBody>
          <a:bodyPr wrap="square" lIns="0" tIns="0" rIns="0" bIns="0" anchor="t"/>
          <a:lstStyle/>
          <a:p>
            <a:pPr algn="ctr" rtl="1">
              <a:spcAft>
                <a:spcPts val="0"/>
              </a:spcAft>
            </a:pPr>
            <a:r>
              <a:rPr lang="ar-SA" sz="560" b="0" dirty="0">
                <a:solidFill>
                  <a:srgbClr val="753BBD"/>
                </a:solidFill>
                <a:latin typeface="DiodrumArabic-Semibold"/>
                <a:ea typeface="DiodrumArabic-Semibold"/>
                <a:cs typeface="DiodrumArabic-Semibold"/>
              </a:rPr>
              <a:t>نسبة مئوية</a:t>
            </a:r>
          </a:p>
        </p:txBody>
      </p:sp>
      <p:sp>
        <p:nvSpPr>
          <p:cNvPr id="1086" name="k0-num"/>
          <p:cNvSpPr txBox="1"/>
          <p:nvPr/>
        </p:nvSpPr>
        <p:spPr>
          <a:xfrm>
            <a:off x="4703064" y="1636776"/>
            <a:ext cx="1743456" cy="502920"/>
          </a:xfrm>
          <a:prstGeom prst="rect">
            <a:avLst/>
          </a:prstGeom>
          <a:noFill/>
        </p:spPr>
        <p:txBody>
          <a:bodyPr wrap="square" lIns="0" tIns="0" rIns="0" bIns="0" anchor="t"/>
          <a:lstStyle/>
          <a:p>
            <a:pPr algn="ctr">
              <a:spcAft>
                <a:spcPts val="0"/>
              </a:spcAft>
            </a:pPr>
            <a:r>
              <a:rPr lang="en-US" sz="2400" b="0" dirty="0">
                <a:solidFill>
                  <a:srgbClr val="24135F"/>
                </a:solidFill>
                <a:latin typeface="DiodrumArabic-Bold"/>
                <a:ea typeface="DiodrumArabic-Bold"/>
                <a:cs typeface="DiodrumArabic-Bold"/>
              </a:rPr>
              <a:t>53.6%</a:t>
            </a:r>
          </a:p>
        </p:txBody>
      </p:sp>
      <p:sp>
        <p:nvSpPr>
          <p:cNvPr id="1087" name="k0-lbl"/>
          <p:cNvSpPr txBox="1"/>
          <p:nvPr/>
        </p:nvSpPr>
        <p:spPr>
          <a:xfrm>
            <a:off x="4739640" y="2258568"/>
            <a:ext cx="1670304" cy="576072"/>
          </a:xfrm>
          <a:prstGeom prst="rect">
            <a:avLst/>
          </a:prstGeom>
          <a:noFill/>
        </p:spPr>
        <p:txBody>
          <a:bodyPr wrap="square" lIns="0" tIns="0" rIns="0" bIns="0" anchor="t"/>
          <a:lstStyle/>
          <a:p>
            <a:pPr algn="ctr" rtl="1">
              <a:lnSpc>
                <a:spcPct val="126000"/>
              </a:lnSpc>
              <a:spcAft>
                <a:spcPts val="0"/>
              </a:spcAft>
            </a:pPr>
            <a:r>
              <a:rPr lang="ar-SA" sz="500" b="0" dirty="0">
                <a:solidFill>
                  <a:srgbClr val="5D6167"/>
                </a:solidFill>
                <a:latin typeface="DiodrumArabic-Medium"/>
                <a:ea typeface="DiodrumArabic-Medium"/>
                <a:cs typeface="DiodrumArabic-Medium"/>
              </a:rPr>
              <a:t>المتوقع لنسبة التمويل الحكومي للبحث والتطوير في مجالات الحكومة.</a:t>
            </a:r>
          </a:p>
        </p:txBody>
      </p:sp>
      <p:sp>
        <p:nvSpPr>
          <p:cNvPr id="1088" name="k1"/>
          <p:cNvSpPr/>
          <p:nvPr/>
        </p:nvSpPr>
        <p:spPr>
          <a:xfrm>
            <a:off x="2447544" y="1325880"/>
            <a:ext cx="1962912" cy="1600200"/>
          </a:xfrm>
          <a:prstGeom prst="roundRect">
            <a:avLst>
              <a:gd name="adj" fmla="val 297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89" name="k1-bar"/>
          <p:cNvSpPr/>
          <p:nvPr/>
        </p:nvSpPr>
        <p:spPr>
          <a:xfrm>
            <a:off x="2538984" y="1325880"/>
            <a:ext cx="1780032" cy="29261"/>
          </a:xfrm>
          <a:prstGeom prst="roundRect">
            <a:avLst>
              <a:gd name="adj" fmla="val 50000"/>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90" name="k1-unit"/>
          <p:cNvSpPr txBox="1"/>
          <p:nvPr/>
        </p:nvSpPr>
        <p:spPr>
          <a:xfrm>
            <a:off x="2557272" y="1472184"/>
            <a:ext cx="1743456" cy="128016"/>
          </a:xfrm>
          <a:prstGeom prst="rect">
            <a:avLst/>
          </a:prstGeom>
          <a:noFill/>
        </p:spPr>
        <p:txBody>
          <a:bodyPr wrap="square" lIns="0" tIns="0" rIns="0" bIns="0" anchor="t"/>
          <a:lstStyle/>
          <a:p>
            <a:pPr algn="ctr" rtl="1">
              <a:spcAft>
                <a:spcPts val="0"/>
              </a:spcAft>
            </a:pPr>
            <a:r>
              <a:rPr lang="ar-SA" sz="560" b="0" dirty="0">
                <a:solidFill>
                  <a:srgbClr val="00ABAF"/>
                </a:solidFill>
                <a:latin typeface="DiodrumArabic-Semibold"/>
                <a:ea typeface="DiodrumArabic-Semibold"/>
                <a:cs typeface="DiodrumArabic-Semibold"/>
              </a:rPr>
              <a:t>ألف عامل وطني</a:t>
            </a:r>
          </a:p>
        </p:txBody>
      </p:sp>
      <p:sp>
        <p:nvSpPr>
          <p:cNvPr id="1091" name="k1-num"/>
          <p:cNvSpPr txBox="1"/>
          <p:nvPr/>
        </p:nvSpPr>
        <p:spPr>
          <a:xfrm>
            <a:off x="2557272" y="1636776"/>
            <a:ext cx="1743456" cy="502920"/>
          </a:xfrm>
          <a:prstGeom prst="rect">
            <a:avLst/>
          </a:prstGeom>
          <a:noFill/>
        </p:spPr>
        <p:txBody>
          <a:bodyPr wrap="square" lIns="0" tIns="0" rIns="0" bIns="0" anchor="t"/>
          <a:lstStyle/>
          <a:p>
            <a:pPr algn="ctr">
              <a:spcAft>
                <a:spcPts val="0"/>
              </a:spcAft>
            </a:pPr>
            <a:r>
              <a:rPr lang="en-US" sz="2400" b="0" dirty="0">
                <a:solidFill>
                  <a:srgbClr val="24135F"/>
                </a:solidFill>
                <a:latin typeface="DiodrumArabic-Bold"/>
                <a:ea typeface="DiodrumArabic-Bold"/>
                <a:cs typeface="DiodrumArabic-Bold"/>
              </a:rPr>
              <a:t>49.3</a:t>
            </a:r>
          </a:p>
        </p:txBody>
      </p:sp>
      <p:sp>
        <p:nvSpPr>
          <p:cNvPr id="1092" name="k1-lbl"/>
          <p:cNvSpPr txBox="1"/>
          <p:nvPr/>
        </p:nvSpPr>
        <p:spPr>
          <a:xfrm>
            <a:off x="2593848" y="2258568"/>
            <a:ext cx="1670304" cy="576072"/>
          </a:xfrm>
          <a:prstGeom prst="rect">
            <a:avLst/>
          </a:prstGeom>
          <a:noFill/>
        </p:spPr>
        <p:txBody>
          <a:bodyPr wrap="square" lIns="0" tIns="0" rIns="0" bIns="0" anchor="t"/>
          <a:lstStyle/>
          <a:p>
            <a:pPr algn="ctr" rtl="1">
              <a:lnSpc>
                <a:spcPct val="126000"/>
              </a:lnSpc>
              <a:spcAft>
                <a:spcPts val="0"/>
              </a:spcAft>
            </a:pPr>
            <a:r>
              <a:rPr lang="ar-SA" sz="500" b="0" dirty="0">
                <a:solidFill>
                  <a:srgbClr val="5D6167"/>
                </a:solidFill>
                <a:latin typeface="DiodrumArabic-Medium"/>
                <a:ea typeface="DiodrumArabic-Medium"/>
                <a:cs typeface="DiodrumArabic-Medium"/>
              </a:rPr>
              <a:t>عدد الباحثين والعاملين في البحث والتطوير للمنتجات الرقمية بالسوق السعودي.</a:t>
            </a:r>
          </a:p>
        </p:txBody>
      </p:sp>
      <p:sp>
        <p:nvSpPr>
          <p:cNvPr id="1093" name="k2"/>
          <p:cNvSpPr/>
          <p:nvPr/>
        </p:nvSpPr>
        <p:spPr>
          <a:xfrm>
            <a:off x="301752" y="1325880"/>
            <a:ext cx="1962912" cy="1600200"/>
          </a:xfrm>
          <a:prstGeom prst="roundRect">
            <a:avLst>
              <a:gd name="adj" fmla="val 297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94" name="k2-bar"/>
          <p:cNvSpPr/>
          <p:nvPr/>
        </p:nvSpPr>
        <p:spPr>
          <a:xfrm>
            <a:off x="393192" y="1325880"/>
            <a:ext cx="1780032" cy="29261"/>
          </a:xfrm>
          <a:prstGeom prst="roundRect">
            <a:avLst>
              <a:gd name="adj" fmla="val 50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95" name="k2-unit"/>
          <p:cNvSpPr txBox="1"/>
          <p:nvPr/>
        </p:nvSpPr>
        <p:spPr>
          <a:xfrm>
            <a:off x="411480" y="1472184"/>
            <a:ext cx="1743456" cy="128016"/>
          </a:xfrm>
          <a:prstGeom prst="rect">
            <a:avLst/>
          </a:prstGeom>
          <a:noFill/>
        </p:spPr>
        <p:txBody>
          <a:bodyPr wrap="square" lIns="0" tIns="0" rIns="0" bIns="0" anchor="t"/>
          <a:lstStyle/>
          <a:p>
            <a:pPr algn="ctr" rtl="1">
              <a:spcAft>
                <a:spcPts val="0"/>
              </a:spcAft>
            </a:pPr>
            <a:r>
              <a:rPr lang="ar-SA" sz="560" b="0" dirty="0">
                <a:solidFill>
                  <a:srgbClr val="1CC182"/>
                </a:solidFill>
                <a:latin typeface="DiodrumArabic-Semibold"/>
                <a:ea typeface="DiodrumArabic-Semibold"/>
                <a:cs typeface="DiodrumArabic-Semibold"/>
              </a:rPr>
              <a:t>مليار ريال</a:t>
            </a:r>
          </a:p>
        </p:txBody>
      </p:sp>
      <p:sp>
        <p:nvSpPr>
          <p:cNvPr id="1096" name="k2-num"/>
          <p:cNvSpPr txBox="1"/>
          <p:nvPr/>
        </p:nvSpPr>
        <p:spPr>
          <a:xfrm>
            <a:off x="411480" y="1636776"/>
            <a:ext cx="1743456" cy="502920"/>
          </a:xfrm>
          <a:prstGeom prst="rect">
            <a:avLst/>
          </a:prstGeom>
          <a:noFill/>
        </p:spPr>
        <p:txBody>
          <a:bodyPr wrap="square" lIns="0" tIns="0" rIns="0" bIns="0" anchor="t"/>
          <a:lstStyle/>
          <a:p>
            <a:pPr algn="ctr">
              <a:spcAft>
                <a:spcPts val="0"/>
              </a:spcAft>
            </a:pPr>
            <a:r>
              <a:rPr lang="en-US" sz="2400" b="0" dirty="0">
                <a:solidFill>
                  <a:srgbClr val="24135F"/>
                </a:solidFill>
                <a:latin typeface="DiodrumArabic-Bold"/>
                <a:ea typeface="DiodrumArabic-Bold"/>
                <a:cs typeface="DiodrumArabic-Bold"/>
              </a:rPr>
              <a:t>22.6</a:t>
            </a:r>
          </a:p>
        </p:txBody>
      </p:sp>
      <p:sp>
        <p:nvSpPr>
          <p:cNvPr id="1097" name="k2-lbl"/>
          <p:cNvSpPr txBox="1"/>
          <p:nvPr/>
        </p:nvSpPr>
        <p:spPr>
          <a:xfrm>
            <a:off x="448056" y="2258568"/>
            <a:ext cx="1670304" cy="576072"/>
          </a:xfrm>
          <a:prstGeom prst="rect">
            <a:avLst/>
          </a:prstGeom>
          <a:noFill/>
        </p:spPr>
        <p:txBody>
          <a:bodyPr wrap="square" lIns="0" tIns="0" rIns="0" bIns="0" anchor="t"/>
          <a:lstStyle/>
          <a:p>
            <a:pPr algn="ctr" rtl="1">
              <a:lnSpc>
                <a:spcPct val="126000"/>
              </a:lnSpc>
              <a:spcAft>
                <a:spcPts val="0"/>
              </a:spcAft>
            </a:pPr>
            <a:r>
              <a:rPr lang="ar-SA" sz="500" b="0" dirty="0">
                <a:solidFill>
                  <a:srgbClr val="5D6167"/>
                </a:solidFill>
                <a:latin typeface="DiodrumArabic-Medium"/>
                <a:ea typeface="DiodrumArabic-Medium"/>
                <a:cs typeface="DiodrumArabic-Medium"/>
              </a:rPr>
              <a:t>إجمالي الإنفاق على البحث والتطوير في القطاعين العام والخاص.</a:t>
            </a:r>
          </a:p>
        </p:txBody>
      </p:sp>
      <p:sp>
        <p:nvSpPr>
          <p:cNvPr id="1098" name="cb"/>
          <p:cNvSpPr/>
          <p:nvPr/>
        </p:nvSpPr>
        <p:spPr>
          <a:xfrm>
            <a:off x="301752" y="3127248"/>
            <a:ext cx="6254496" cy="365760"/>
          </a:xfrm>
          <a:prstGeom prst="roundRect">
            <a:avLst>
              <a:gd name="adj" fmla="val 13000"/>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099" name="cb-t"/>
          <p:cNvSpPr txBox="1"/>
          <p:nvPr/>
        </p:nvSpPr>
        <p:spPr>
          <a:xfrm>
            <a:off x="484632" y="3127248"/>
            <a:ext cx="5888736" cy="365760"/>
          </a:xfrm>
          <a:prstGeom prst="rect">
            <a:avLst/>
          </a:prstGeom>
          <a:noFill/>
        </p:spPr>
        <p:txBody>
          <a:bodyPr wrap="square" lIns="0" tIns="0" rIns="0" bIns="0" anchor="ctr"/>
          <a:lstStyle/>
          <a:p>
            <a:pPr algn="ctr" rtl="1">
              <a:spcAft>
                <a:spcPts val="0"/>
              </a:spcAft>
            </a:pPr>
            <a:r>
              <a:rPr lang="ar-SA" sz="580" b="0" dirty="0">
                <a:solidFill>
                  <a:srgbClr val="FFFFFF"/>
                </a:solidFill>
                <a:latin typeface="DiodrumArabic-Semibold"/>
                <a:ea typeface="DiodrumArabic-Semibold"/>
                <a:cs typeface="DiodrumArabic-Semibold"/>
              </a:rPr>
              <a:t>تعكس هذه المؤشرات أهمية الاستثمار في البحث العلمي ركيزةً أساسية لتعزيز الابتكار ورفع كفاءة الخدمات الحكومية وتحقيق مستهدفات رؤية المملكة 2030.</a:t>
            </a:r>
          </a:p>
        </p:txBody>
      </p:sp>
    </p:spTree>
  </p:cSld>
  <p:clrMapOvr>
    <a:masterClrMapping/>
  </p:clrMapOvr>
</p:sld>
</file>

<file path=ppt/slides/slide1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 name="kicker"/>
          <p:cNvSpPr txBox="1"/>
          <p:nvPr/>
        </p:nvSpPr>
        <p:spPr>
          <a:xfrm>
            <a:off x="301752" y="173736"/>
            <a:ext cx="6254496" cy="128016"/>
          </a:xfrm>
          <a:prstGeom prst="rect">
            <a:avLst/>
          </a:prstGeom>
          <a:noFill/>
        </p:spPr>
        <p:txBody>
          <a:bodyPr wrap="square" lIns="0" tIns="0" rIns="0" bIns="0" anchor="t"/>
          <a:lstStyle/>
          <a:p>
            <a:pPr algn="r" rtl="1">
              <a:spcAft>
                <a:spcPts val="0"/>
              </a:spcAft>
            </a:pPr>
            <a:r>
              <a:rPr lang="ar-SA" sz="562" b="0" dirty="0">
                <a:solidFill>
                  <a:srgbClr val="753BBD"/>
                </a:solidFill>
                <a:latin typeface="DiodrumArabic-Semibold"/>
                <a:ea typeface="DiodrumArabic-Semibold"/>
                <a:cs typeface="DiodrumArabic-Semibold"/>
              </a:rPr>
              <a:t>القسم الأول: حاضنة الأبحاث</a:t>
            </a:r>
          </a:p>
        </p:txBody>
      </p:sp>
      <p:sp>
        <p:nvSpPr>
          <p:cNvPr id="1233" name="title"/>
          <p:cNvSpPr txBox="1"/>
          <p:nvPr/>
        </p:nvSpPr>
        <p:spPr>
          <a:xfrm>
            <a:off x="301752" y="329184"/>
            <a:ext cx="6254496" cy="237744"/>
          </a:xfrm>
          <a:prstGeom prst="rect">
            <a:avLst/>
          </a:prstGeom>
          <a:noFill/>
        </p:spPr>
        <p:txBody>
          <a:bodyPr wrap="square" lIns="0" tIns="0" rIns="0" bIns="0" anchor="t"/>
          <a:lstStyle/>
          <a:p>
            <a:pPr algn="r" rtl="1">
              <a:lnSpc>
                <a:spcPct val="118000"/>
              </a:lnSpc>
              <a:spcAft>
                <a:spcPts val="0"/>
              </a:spcAft>
            </a:pPr>
            <a:r>
              <a:rPr lang="ar-SA" sz="1300" b="0" dirty="0">
                <a:solidFill>
                  <a:srgbClr val="24135F"/>
                </a:solidFill>
                <a:latin typeface="DiodrumArabic-Bold"/>
                <a:ea typeface="DiodrumArabic-Bold"/>
                <a:cs typeface="DiodrumArabic-Bold"/>
              </a:rPr>
              <a:t>أبرز الجهات البحثية المستهدفة</a:t>
            </a:r>
          </a:p>
        </p:txBody>
      </p:sp>
      <p:sp>
        <p:nvSpPr>
          <p:cNvPr id="1234" name="Slide Number Placeholder"/>
          <p:cNvSpPr>
            <a:spLocks noGrp="1"/>
          </p:cNvSpPr>
          <p:nvPr>
            <p:ph type="sldNum" sz="quarter" idx="12"/>
          </p:nvPr>
        </p:nvSpPr>
        <p:spPr/>
        <p:txBody>
          <a:bodyPr/>
          <a:lstStyle/>
          <a:p>
            <a:pPr algn="l"/>
            <a:fld id="{C1FF6DA9-008F-8B48-92A6-B652298478BF}" type="slidenum">
              <a:rPr lang="en-US" smtClean="0"/>
              <a:pPr algn="l"/>
              <a:t>1</a:t>
            </a:fld>
            <a:endParaRPr lang="en-US" dirty="0"/>
          </a:p>
        </p:txBody>
      </p:sp>
      <p:sp>
        <p:nvSpPr>
          <p:cNvPr id="1235" name="kku-card"/>
          <p:cNvSpPr/>
          <p:nvPr/>
        </p:nvSpPr>
        <p:spPr>
          <a:xfrm>
            <a:off x="5733288"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36" name="kku-pic"/>
          <p:cNvPicPr>
            <a:picLocks noChangeAspect="1"/>
          </p:cNvPicPr>
          <p:nvPr/>
        </p:nvPicPr>
        <p:blipFill>
          <a:blip r:embed="rId2"/>
          <a:stretch>
            <a:fillRect/>
          </a:stretch>
        </p:blipFill>
        <p:spPr>
          <a:xfrm>
            <a:off x="5843016" y="1525006"/>
            <a:ext cx="603504" cy="351556"/>
          </a:xfrm>
          <a:prstGeom prst="rect">
            <a:avLst/>
          </a:prstGeom>
        </p:spPr>
      </p:pic>
      <p:sp>
        <p:nvSpPr>
          <p:cNvPr id="1237" name="kacst-card"/>
          <p:cNvSpPr/>
          <p:nvPr/>
        </p:nvSpPr>
        <p:spPr>
          <a:xfrm>
            <a:off x="4828032"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38" name="kacst-pic"/>
          <p:cNvPicPr>
            <a:picLocks noChangeAspect="1"/>
          </p:cNvPicPr>
          <p:nvPr/>
        </p:nvPicPr>
        <p:blipFill>
          <a:blip r:embed="rId3"/>
          <a:stretch>
            <a:fillRect/>
          </a:stretch>
        </p:blipFill>
        <p:spPr>
          <a:xfrm>
            <a:off x="4937760" y="1585886"/>
            <a:ext cx="603504" cy="229796"/>
          </a:xfrm>
          <a:prstGeom prst="rect">
            <a:avLst/>
          </a:prstGeom>
        </p:spPr>
      </p:pic>
      <p:sp>
        <p:nvSpPr>
          <p:cNvPr id="1239" name="kfupm-card"/>
          <p:cNvSpPr/>
          <p:nvPr/>
        </p:nvSpPr>
        <p:spPr>
          <a:xfrm>
            <a:off x="3922776"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40" name="kfupm-pic"/>
          <p:cNvPicPr>
            <a:picLocks noChangeAspect="1"/>
          </p:cNvPicPr>
          <p:nvPr/>
        </p:nvPicPr>
        <p:blipFill>
          <a:blip r:embed="rId4"/>
          <a:stretch>
            <a:fillRect/>
          </a:stretch>
        </p:blipFill>
        <p:spPr>
          <a:xfrm>
            <a:off x="4032504" y="1600823"/>
            <a:ext cx="603504" cy="199922"/>
          </a:xfrm>
          <a:prstGeom prst="rect">
            <a:avLst/>
          </a:prstGeom>
        </p:spPr>
      </p:pic>
      <p:sp>
        <p:nvSpPr>
          <p:cNvPr id="1241" name="shaqra-card"/>
          <p:cNvSpPr/>
          <p:nvPr/>
        </p:nvSpPr>
        <p:spPr>
          <a:xfrm>
            <a:off x="3017520"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42" name="shaqra-pic"/>
          <p:cNvPicPr>
            <a:picLocks noChangeAspect="1"/>
          </p:cNvPicPr>
          <p:nvPr/>
        </p:nvPicPr>
        <p:blipFill>
          <a:blip r:embed="rId5"/>
          <a:stretch>
            <a:fillRect/>
          </a:stretch>
        </p:blipFill>
        <p:spPr>
          <a:xfrm>
            <a:off x="3144867" y="1463040"/>
            <a:ext cx="568266" cy="475488"/>
          </a:xfrm>
          <a:prstGeom prst="rect">
            <a:avLst/>
          </a:prstGeom>
        </p:spPr>
      </p:pic>
      <p:sp>
        <p:nvSpPr>
          <p:cNvPr id="1243" name="unident_teal-card"/>
          <p:cNvSpPr/>
          <p:nvPr/>
        </p:nvSpPr>
        <p:spPr>
          <a:xfrm>
            <a:off x="2112264"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44" name="unident_teal-pic"/>
          <p:cNvPicPr>
            <a:picLocks noChangeAspect="1"/>
          </p:cNvPicPr>
          <p:nvPr/>
        </p:nvPicPr>
        <p:blipFill>
          <a:blip r:embed="rId6"/>
          <a:stretch>
            <a:fillRect/>
          </a:stretch>
        </p:blipFill>
        <p:spPr>
          <a:xfrm>
            <a:off x="2221992" y="1508417"/>
            <a:ext cx="603504" cy="384734"/>
          </a:xfrm>
          <a:prstGeom prst="rect">
            <a:avLst/>
          </a:prstGeom>
        </p:spPr>
      </p:pic>
      <p:sp>
        <p:nvSpPr>
          <p:cNvPr id="1245" name="rdia-card"/>
          <p:cNvSpPr/>
          <p:nvPr/>
        </p:nvSpPr>
        <p:spPr>
          <a:xfrm>
            <a:off x="1207008"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46" name="rdia-pic"/>
          <p:cNvPicPr>
            <a:picLocks noChangeAspect="1"/>
          </p:cNvPicPr>
          <p:nvPr/>
        </p:nvPicPr>
        <p:blipFill>
          <a:blip r:embed="rId7"/>
          <a:stretch>
            <a:fillRect/>
          </a:stretch>
        </p:blipFill>
        <p:spPr>
          <a:xfrm>
            <a:off x="1316736" y="1599242"/>
            <a:ext cx="603504" cy="203084"/>
          </a:xfrm>
          <a:prstGeom prst="rect">
            <a:avLst/>
          </a:prstGeom>
        </p:spPr>
      </p:pic>
      <p:sp>
        <p:nvSpPr>
          <p:cNvPr id="1247" name="dco-card"/>
          <p:cNvSpPr/>
          <p:nvPr/>
        </p:nvSpPr>
        <p:spPr>
          <a:xfrm>
            <a:off x="301752" y="1325880"/>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48" name="dco-pic"/>
          <p:cNvPicPr>
            <a:picLocks noChangeAspect="1"/>
          </p:cNvPicPr>
          <p:nvPr/>
        </p:nvPicPr>
        <p:blipFill>
          <a:blip r:embed="rId8"/>
          <a:stretch>
            <a:fillRect/>
          </a:stretch>
        </p:blipFill>
        <p:spPr>
          <a:xfrm>
            <a:off x="411480" y="1536333"/>
            <a:ext cx="603504" cy="328902"/>
          </a:xfrm>
          <a:prstGeom prst="rect">
            <a:avLst/>
          </a:prstGeom>
        </p:spPr>
      </p:pic>
      <p:sp>
        <p:nvSpPr>
          <p:cNvPr id="1249" name="unident_1998-card"/>
          <p:cNvSpPr/>
          <p:nvPr/>
        </p:nvSpPr>
        <p:spPr>
          <a:xfrm>
            <a:off x="5733288"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50" name="unident_1998-pic"/>
          <p:cNvPicPr>
            <a:picLocks noChangeAspect="1"/>
          </p:cNvPicPr>
          <p:nvPr/>
        </p:nvPicPr>
        <p:blipFill>
          <a:blip r:embed="rId9"/>
          <a:stretch>
            <a:fillRect/>
          </a:stretch>
        </p:blipFill>
        <p:spPr>
          <a:xfrm>
            <a:off x="5884535" y="2340864"/>
            <a:ext cx="520467" cy="475488"/>
          </a:xfrm>
          <a:prstGeom prst="rect">
            <a:avLst/>
          </a:prstGeom>
        </p:spPr>
      </p:pic>
      <p:sp>
        <p:nvSpPr>
          <p:cNvPr id="1251" name="imam-card"/>
          <p:cNvSpPr/>
          <p:nvPr/>
        </p:nvSpPr>
        <p:spPr>
          <a:xfrm>
            <a:off x="4828032"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52" name="imam-pic"/>
          <p:cNvPicPr>
            <a:picLocks noChangeAspect="1"/>
          </p:cNvPicPr>
          <p:nvPr/>
        </p:nvPicPr>
        <p:blipFill>
          <a:blip r:embed="rId10"/>
          <a:stretch>
            <a:fillRect/>
          </a:stretch>
        </p:blipFill>
        <p:spPr>
          <a:xfrm>
            <a:off x="4946191" y="2340864"/>
            <a:ext cx="586641" cy="475488"/>
          </a:xfrm>
          <a:prstGeom prst="rect">
            <a:avLst/>
          </a:prstGeom>
        </p:spPr>
      </p:pic>
      <p:sp>
        <p:nvSpPr>
          <p:cNvPr id="1253" name="ksu-card"/>
          <p:cNvSpPr/>
          <p:nvPr/>
        </p:nvSpPr>
        <p:spPr>
          <a:xfrm>
            <a:off x="3922776"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54" name="ksu-pic"/>
          <p:cNvPicPr>
            <a:picLocks noChangeAspect="1"/>
          </p:cNvPicPr>
          <p:nvPr/>
        </p:nvPicPr>
        <p:blipFill>
          <a:blip r:embed="rId11"/>
          <a:stretch>
            <a:fillRect/>
          </a:stretch>
        </p:blipFill>
        <p:spPr>
          <a:xfrm>
            <a:off x="4032504" y="2467080"/>
            <a:ext cx="603504" cy="223057"/>
          </a:xfrm>
          <a:prstGeom prst="rect">
            <a:avLst/>
          </a:prstGeom>
        </p:spPr>
      </p:pic>
      <p:sp>
        <p:nvSpPr>
          <p:cNvPr id="1255" name="alfaisal-card"/>
          <p:cNvSpPr/>
          <p:nvPr/>
        </p:nvSpPr>
        <p:spPr>
          <a:xfrm>
            <a:off x="3017520"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56" name="alfaisal-pic"/>
          <p:cNvPicPr>
            <a:picLocks noChangeAspect="1"/>
          </p:cNvPicPr>
          <p:nvPr/>
        </p:nvPicPr>
        <p:blipFill>
          <a:blip r:embed="rId12"/>
          <a:stretch>
            <a:fillRect/>
          </a:stretch>
        </p:blipFill>
        <p:spPr>
          <a:xfrm>
            <a:off x="3127248" y="2430247"/>
            <a:ext cx="603504" cy="296723"/>
          </a:xfrm>
          <a:prstGeom prst="rect">
            <a:avLst/>
          </a:prstGeom>
        </p:spPr>
      </p:pic>
      <p:sp>
        <p:nvSpPr>
          <p:cNvPr id="1257" name="seu-card"/>
          <p:cNvSpPr/>
          <p:nvPr/>
        </p:nvSpPr>
        <p:spPr>
          <a:xfrm>
            <a:off x="2112264"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58" name="seu-pic"/>
          <p:cNvPicPr>
            <a:picLocks noChangeAspect="1"/>
          </p:cNvPicPr>
          <p:nvPr/>
        </p:nvPicPr>
        <p:blipFill>
          <a:blip r:embed="rId13"/>
          <a:stretch>
            <a:fillRect/>
          </a:stretch>
        </p:blipFill>
        <p:spPr>
          <a:xfrm>
            <a:off x="2221992" y="2502199"/>
            <a:ext cx="603504" cy="152819"/>
          </a:xfrm>
          <a:prstGeom prst="rect">
            <a:avLst/>
          </a:prstGeom>
        </p:spPr>
      </p:pic>
      <p:sp>
        <p:nvSpPr>
          <p:cNvPr id="1259" name="kaust-card"/>
          <p:cNvSpPr/>
          <p:nvPr/>
        </p:nvSpPr>
        <p:spPr>
          <a:xfrm>
            <a:off x="1207008"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60" name="kaust-pic"/>
          <p:cNvPicPr>
            <a:picLocks noChangeAspect="1"/>
          </p:cNvPicPr>
          <p:nvPr/>
        </p:nvPicPr>
        <p:blipFill>
          <a:blip r:embed="rId14"/>
          <a:stretch>
            <a:fillRect/>
          </a:stretch>
        </p:blipFill>
        <p:spPr>
          <a:xfrm>
            <a:off x="1316736" y="2454357"/>
            <a:ext cx="603504" cy="248502"/>
          </a:xfrm>
          <a:prstGeom prst="rect">
            <a:avLst/>
          </a:prstGeom>
        </p:spPr>
      </p:pic>
      <p:sp>
        <p:nvSpPr>
          <p:cNvPr id="1261" name="kau-card"/>
          <p:cNvSpPr/>
          <p:nvPr/>
        </p:nvSpPr>
        <p:spPr>
          <a:xfrm>
            <a:off x="301752" y="2203704"/>
            <a:ext cx="822960" cy="749808"/>
          </a:xfrm>
          <a:prstGeom prst="roundRect">
            <a:avLst>
              <a:gd name="adj" fmla="val 6341"/>
            </a:avLst>
          </a:prstGeom>
          <a:solidFill>
            <a:srgbClr val="FFFFFF"/>
          </a:solidFill>
          <a:ln w="7144">
            <a:solidFill>
              <a:srgbClr val="E0E0E2"/>
            </a:solidFill>
          </a:ln>
          <a:effectLst>
            <a:outerShdw blurRad="76200" dist="23812" dir="5400000" rotWithShape="0">
              <a:srgbClr val="24135F">
                <a:alpha val="1098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pic>
        <p:nvPicPr>
          <p:cNvPr id="1262" name="kau-pic"/>
          <p:cNvPicPr>
            <a:picLocks noChangeAspect="1"/>
          </p:cNvPicPr>
          <p:nvPr/>
        </p:nvPicPr>
        <p:blipFill>
          <a:blip r:embed="rId15"/>
          <a:stretch>
            <a:fillRect/>
          </a:stretch>
        </p:blipFill>
        <p:spPr>
          <a:xfrm>
            <a:off x="471926" y="2340864"/>
            <a:ext cx="482611" cy="475488"/>
          </a:xfrm>
          <a:prstGeom prst="rect">
            <a:avLst/>
          </a:prstGeom>
        </p:spPr>
      </p:pic>
      <p:sp>
        <p:nvSpPr>
          <p:cNvPr id="1263" name="cb"/>
          <p:cNvSpPr/>
          <p:nvPr/>
        </p:nvSpPr>
        <p:spPr>
          <a:xfrm>
            <a:off x="301752" y="3127248"/>
            <a:ext cx="6254496" cy="310896"/>
          </a:xfrm>
          <a:prstGeom prst="roundRect">
            <a:avLst>
              <a:gd name="adj" fmla="val 13541"/>
            </a:avLst>
          </a:prstGeom>
          <a:gradFill>
            <a:gsLst>
              <a:gs pos="0">
                <a:srgbClr val="24135F"/>
              </a:gs>
              <a:gs pos="100000">
                <a:srgbClr val="753BBD"/>
              </a:gs>
            </a:gsLst>
            <a:lin ang="8100000" scaled="1"/>
          </a:gradFill>
          <a:ln>
            <a:noFill/>
          </a:ln>
          <a:effectLst>
            <a:outerShdw blurRad="85725" dist="28575" dir="5400000" rotWithShape="0">
              <a:srgbClr val="1A0B3D">
                <a:alpha val="21961"/>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0">
              <a:latin typeface="DiodrumArabic-Regular"/>
              <a:cs typeface="DiodrumArabic-Regular"/>
            </a:endParaRPr>
          </a:p>
        </p:txBody>
      </p:sp>
      <p:sp>
        <p:nvSpPr>
          <p:cNvPr id="1264" name="cb-t"/>
          <p:cNvSpPr txBox="1"/>
          <p:nvPr/>
        </p:nvSpPr>
        <p:spPr>
          <a:xfrm>
            <a:off x="484632" y="3127248"/>
            <a:ext cx="5888736" cy="310896"/>
          </a:xfrm>
          <a:prstGeom prst="rect">
            <a:avLst/>
          </a:prstGeom>
          <a:noFill/>
        </p:spPr>
        <p:txBody>
          <a:bodyPr wrap="square" lIns="0" tIns="0" rIns="0" bIns="0" anchor="ctr"/>
          <a:lstStyle/>
          <a:p>
            <a:pPr algn="ctr" rtl="1">
              <a:spcAft>
                <a:spcPts val="0"/>
              </a:spcAft>
            </a:pPr>
            <a:r>
              <a:rPr lang="ar-SA" sz="560" b="0" dirty="0">
                <a:solidFill>
                  <a:srgbClr val="FFFFFF"/>
                </a:solidFill>
                <a:latin typeface="DiodrumArabic-Semibold"/>
                <a:ea typeface="DiodrumArabic-Semibold"/>
                <a:cs typeface="DiodrumArabic-Semibold"/>
              </a:rPr>
              <a:t>نطاق أولي للجهات المستهدفة؛ تُستكمل منظومة الشراكات وفق نطاق التنفيذ المعتمد.</a:t>
            </a:r>
          </a:p>
        </p:txBody>
      </p:sp>
    </p:spTree>
  </p:cSld>
  <p:clrMapOvr>
    <a:masterClrMapping/>
  </p:clrMapOvr>
</p:sld>
</file>

<file path=ppt/theme/theme1.xml><?xml version="1.0" encoding="utf-8"?>
<a:theme xmlns:a="http://schemas.openxmlformats.org/drawingml/2006/main" name="Office Theme [1787577115809]">
  <a:themeElements>
    <a:clrScheme name="DGA brand V3">
      <a:dk1>
        <a:sysClr val="windowText" lastClr="000000"/>
      </a:dk1>
      <a:lt1>
        <a:sysClr val="window" lastClr="FFFFFF"/>
      </a:lt1>
      <a:dk2>
        <a:srgbClr val="44546A"/>
      </a:dk2>
      <a:lt2>
        <a:srgbClr val="FFFFFF"/>
      </a:lt2>
      <a:accent1>
        <a:srgbClr val="1CC182"/>
      </a:accent1>
      <a:accent2>
        <a:srgbClr val="7C32C9"/>
      </a:accent2>
      <a:accent3>
        <a:srgbClr val="00ABAF"/>
      </a:accent3>
      <a:accent4>
        <a:srgbClr val="2A206A"/>
      </a:accent4>
      <a:accent5>
        <a:srgbClr val="0082DE"/>
      </a:accent5>
      <a:accent6>
        <a:srgbClr val="3C33B1"/>
      </a:accent6>
      <a:hlink>
        <a:srgbClr val="0099FF"/>
      </a:hlink>
      <a:folHlink>
        <a:srgbClr val="A85C82"/>
      </a:folHlink>
    </a:clrScheme>
    <a:fontScheme name="Office">
      <a:majorFont>
        <a:latin typeface="DiodrumArabic-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iodrumArabic-Regula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TotalTime>
  <Words>7657</Words>
  <Application>Microsoft Office PowerPoint</Application>
  <PresentationFormat>Custom</PresentationFormat>
  <Paragraphs>783</Paragraphs>
  <Slides>31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Arial</vt:lpstr>
      <vt:lpstr>Calibri</vt:lpstr>
      <vt:lpstr>Diodrum Arabic</vt:lpstr>
      <vt:lpstr>DiodrumArabic-Bold</vt:lpstr>
      <vt:lpstr>DiodrumArabic-Medium</vt:lpstr>
      <vt:lpstr>DiodrumArabic-Regular</vt:lpstr>
      <vt:lpstr>DiodrumArabic-Semibold</vt:lpstr>
      <vt:lpstr>Office Theme [1787577115809]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دراسة التدريب في الذكاء الاصطناعي</dc:title>
  <dc:subject/>
  <dc:creator>هيئة الحكومة الرقمية</dc:creator>
  <cp:keywords/>
  <dc:description/>
  <cp:lastModifiedBy>هيئة الحكومة الرقمية</cp:lastModifiedBy>
  <cp:revision>20</cp:revision>
  <dcterms:created xsi:type="dcterms:W3CDTF">2013-01-27T09:14:16Z</dcterms:created>
  <dcterms:modified xsi:type="dcterms:W3CDTF">2026-08-24T15:54:36Z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ecloreClassificationFooterFontSize">
    <vt:lpwstr>12</vt:lpwstr>
  </property>
  <property fmtid="{D5CDD505-2E9C-101B-9397-08002B2CF9AE}" pid="3" name="SecloreClassificationFooterAlignment">
    <vt:lpwstr>Center</vt:lpwstr>
  </property>
  <property fmtid="{D5CDD505-2E9C-101B-9397-08002B2CF9AE}" pid="4" name="SecloreClassification">
    <vt:lpwstr>{"Digital Government Authority PolicyServer (1a7ebbe3db99ca5051382e332a026aed8ec1d067)":{"ClassificationDisplayName":"Restricted","ClassificationMode":"ClassificationMode_UserDriven","LabelId":"10007","Version":"1"}}</vt:lpwstr>
  </property>
  <property fmtid="{D5CDD505-2E9C-101B-9397-08002B2CF9AE}" pid="5" name="SecloreClassificationDisplayName_1a7ebbe3db99ca5051382e332a026aed8ec1d067">
    <vt:lpwstr>Restricted</vt:lpwstr>
  </property>
  <property fmtid="{D5CDD505-2E9C-101B-9397-08002B2CF9AE}" pid="6" name="SecloreClassificationFooterTextValue">
    <vt:lpwstr>Restricted - مقيد</vt:lpwstr>
  </property>
  <property fmtid="{D5CDD505-2E9C-101B-9397-08002B2CF9AE}" pid="7" name="SecloreClassificationFooterColorHex">
    <vt:lpwstr>#f0c231</vt:lpwstr>
  </property>
</Properties>
</file>