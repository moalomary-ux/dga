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2.png"/><Relationship Id="rId4" Type="http://schemas.openxmlformats.org/officeDocument/2006/relationships/image" Target="../media/image-23-2.png"/><Relationship Id="rId5" Type="http://schemas.openxmlformats.org/officeDocument/2006/relationships/image" Target="../media/image-23-2.png"/><Relationship Id="rId6" Type="http://schemas.openxmlformats.org/officeDocument/2006/relationships/image" Target="../media/image-23-2.png"/><Relationship Id="rId7" Type="http://schemas.openxmlformats.org/officeDocument/2006/relationships/image" Target="../media/image-23-2.png"/><Relationship Id="rId8" Type="http://schemas.openxmlformats.org/officeDocument/2006/relationships/image" Target="../media/image-23-2.png"/><Relationship Id="rId9" Type="http://schemas.openxmlformats.org/officeDocument/2006/relationships/image" Target="../media/image-2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image" Target="../media/image-24-6.png"/><Relationship Id="rId7" Type="http://schemas.openxmlformats.org/officeDocument/2006/relationships/image" Target="../media/image-2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20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5212080"/>
            <a:ext cx="4206240" cy="4206240"/>
          </a:xfrm>
          <a:prstGeom prst="ellipse">
            <a:avLst/>
          </a:prstGeom>
          <a:solidFill>
            <a:srgbClr val="1CC182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822960" y="5806440"/>
            <a:ext cx="2377440" cy="2377440"/>
          </a:xfrm>
          <a:prstGeom prst="ellipse">
            <a:avLst/>
          </a:prstGeom>
          <a:solidFill>
            <a:srgbClr val="1CC182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21180000">
            <a:off x="0" y="5989320"/>
            <a:ext cx="5852160" cy="0"/>
          </a:xfrm>
          <a:prstGeom prst="line">
            <a:avLst/>
          </a:prstGeom>
          <a:noFill/>
          <a:ln w="22225">
            <a:solidFill>
              <a:srgbClr val="1CC18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 flipV="1">
            <a:off x="1234440" y="4160520"/>
            <a:ext cx="914400" cy="914400"/>
          </a:xfrm>
          <a:prstGeom prst="line">
            <a:avLst/>
          </a:prstGeom>
          <a:noFill/>
          <a:ln w="25400">
            <a:solidFill>
              <a:srgbClr val="5B4A9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148840" y="3703320"/>
            <a:ext cx="1097280" cy="457200"/>
          </a:xfrm>
          <a:prstGeom prst="line">
            <a:avLst/>
          </a:prstGeom>
          <a:noFill/>
          <a:ln w="25400">
            <a:solidFill>
              <a:srgbClr val="5B4A9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3246120" y="2331720"/>
            <a:ext cx="1280160" cy="1371600"/>
          </a:xfrm>
          <a:prstGeom prst="line">
            <a:avLst/>
          </a:prstGeom>
          <a:noFill/>
          <a:ln w="25400">
            <a:solidFill>
              <a:srgbClr val="5B4A9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6424" y="4946904"/>
            <a:ext cx="256032" cy="256032"/>
          </a:xfrm>
          <a:prstGeom prst="ellipse">
            <a:avLst/>
          </a:prstGeom>
          <a:solidFill>
            <a:srgbClr val="00ABA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94360" y="52760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C9BEE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فكرة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020824" y="4032504"/>
            <a:ext cx="256032" cy="256032"/>
          </a:xfrm>
          <a:prstGeom prst="ellipse">
            <a:avLst/>
          </a:prstGeom>
          <a:solidFill>
            <a:srgbClr val="7C32C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508760" y="4361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C9BEE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بحث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118104" y="3575304"/>
            <a:ext cx="256032" cy="256032"/>
          </a:xfrm>
          <a:prstGeom prst="ellipse">
            <a:avLst/>
          </a:prstGeom>
          <a:solidFill>
            <a:srgbClr val="00ABAF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606040" y="39044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C9BEE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تطوير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06824" y="2112264"/>
            <a:ext cx="438912" cy="438912"/>
          </a:xfrm>
          <a:prstGeom prst="ellipse">
            <a:avLst/>
          </a:prstGeom>
          <a:solidFill>
            <a:srgbClr val="1CC1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86200" y="26243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C9BEE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تطبيق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2011680"/>
            <a:ext cx="45720" cy="45720"/>
          </a:xfrm>
          <a:prstGeom prst="ellipse">
            <a:avLst/>
          </a:prstGeom>
          <a:solidFill>
            <a:srgbClr val="5B4A9C"/>
          </a:solidFill>
          <a:ln/>
        </p:spPr>
      </p:sp>
      <p:sp>
        <p:nvSpPr>
          <p:cNvPr id="17" name="Shape 15"/>
          <p:cNvSpPr/>
          <p:nvPr/>
        </p:nvSpPr>
        <p:spPr>
          <a:xfrm>
            <a:off x="1737360" y="1554480"/>
            <a:ext cx="45720" cy="45720"/>
          </a:xfrm>
          <a:prstGeom prst="ellipse">
            <a:avLst/>
          </a:prstGeom>
          <a:solidFill>
            <a:srgbClr val="5B4A9C"/>
          </a:solidFill>
          <a:ln/>
        </p:spPr>
      </p:sp>
      <p:sp>
        <p:nvSpPr>
          <p:cNvPr id="18" name="Shape 16"/>
          <p:cNvSpPr/>
          <p:nvPr/>
        </p:nvSpPr>
        <p:spPr>
          <a:xfrm>
            <a:off x="2926080" y="1417320"/>
            <a:ext cx="45720" cy="45720"/>
          </a:xfrm>
          <a:prstGeom prst="ellipse">
            <a:avLst/>
          </a:prstGeom>
          <a:solidFill>
            <a:srgbClr val="5B4A9C"/>
          </a:solidFill>
          <a:ln/>
        </p:spPr>
      </p:sp>
      <p:sp>
        <p:nvSpPr>
          <p:cNvPr id="19" name="Shape 17"/>
          <p:cNvSpPr/>
          <p:nvPr/>
        </p:nvSpPr>
        <p:spPr>
          <a:xfrm>
            <a:off x="822960" y="3291840"/>
            <a:ext cx="45720" cy="45720"/>
          </a:xfrm>
          <a:prstGeom prst="ellipse">
            <a:avLst/>
          </a:prstGeom>
          <a:solidFill>
            <a:srgbClr val="5B4A9C"/>
          </a:solidFill>
          <a:ln/>
        </p:spPr>
      </p:sp>
      <p:sp>
        <p:nvSpPr>
          <p:cNvPr id="20" name="Shape 18"/>
          <p:cNvSpPr/>
          <p:nvPr/>
        </p:nvSpPr>
        <p:spPr>
          <a:xfrm>
            <a:off x="2468880" y="2743200"/>
            <a:ext cx="45720" cy="45720"/>
          </a:xfrm>
          <a:prstGeom prst="ellipse">
            <a:avLst/>
          </a:prstGeom>
          <a:solidFill>
            <a:srgbClr val="5B4A9C"/>
          </a:solidFill>
          <a:ln/>
        </p:spPr>
      </p:sp>
      <p:sp>
        <p:nvSpPr>
          <p:cNvPr id="21" name="Shape 19"/>
          <p:cNvSpPr/>
          <p:nvPr/>
        </p:nvSpPr>
        <p:spPr>
          <a:xfrm>
            <a:off x="4023360" y="4206240"/>
            <a:ext cx="45720" cy="45720"/>
          </a:xfrm>
          <a:prstGeom prst="ellipse">
            <a:avLst/>
          </a:prstGeom>
          <a:solidFill>
            <a:srgbClr val="5B4A9C"/>
          </a:solidFill>
          <a:ln/>
        </p:spPr>
      </p:sp>
      <p:sp>
        <p:nvSpPr>
          <p:cNvPr id="22" name="Shape 20"/>
          <p:cNvSpPr/>
          <p:nvPr/>
        </p:nvSpPr>
        <p:spPr>
          <a:xfrm>
            <a:off x="1371600" y="5852160"/>
            <a:ext cx="45720" cy="45720"/>
          </a:xfrm>
          <a:prstGeom prst="ellipse">
            <a:avLst/>
          </a:prstGeom>
          <a:solidFill>
            <a:srgbClr val="5B4A9C"/>
          </a:solidFill>
          <a:ln/>
        </p:spPr>
      </p:sp>
      <p:sp>
        <p:nvSpPr>
          <p:cNvPr id="23" name="Shape 21"/>
          <p:cNvSpPr/>
          <p:nvPr/>
        </p:nvSpPr>
        <p:spPr>
          <a:xfrm>
            <a:off x="3566160" y="5212080"/>
            <a:ext cx="45720" cy="45720"/>
          </a:xfrm>
          <a:prstGeom prst="ellipse">
            <a:avLst/>
          </a:prstGeom>
          <a:solidFill>
            <a:srgbClr val="5B4A9C"/>
          </a:solidFill>
          <a:ln/>
        </p:spPr>
      </p:sp>
      <p:pic>
        <p:nvPicPr>
          <p:cNvPr id="24" name="Image 0" descr="/tmp/claude-0/-home-user-DGA/40039038-fa43-5484-a6e6-661fd38b862b/scratchpad/incubator-deck/assets/logos/DGA Logo Landscap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21847" y="384048"/>
            <a:ext cx="566928" cy="603504"/>
          </a:xfrm>
          <a:prstGeom prst="rect">
            <a:avLst/>
          </a:prstGeom>
        </p:spPr>
      </p:pic>
      <p:sp>
        <p:nvSpPr>
          <p:cNvPr id="25" name="Text 22"/>
          <p:cNvSpPr txBox="1"/>
          <p:nvPr/>
        </p:nvSpPr>
        <p:spPr>
          <a:xfrm>
            <a:off x="5943600" y="2788920"/>
            <a:ext cx="5760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40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مبادرة حاضنة الأبحاث</a:t>
            </a:r>
            <a:endParaRPr lang="en-US" sz="4000" dirty="0"/>
          </a:p>
        </p:txBody>
      </p:sp>
      <p:sp>
        <p:nvSpPr>
          <p:cNvPr id="26" name="Text 23"/>
          <p:cNvSpPr txBox="1"/>
          <p:nvPr/>
        </p:nvSpPr>
        <p:spPr>
          <a:xfrm>
            <a:off x="5943600" y="379476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2000" dirty="0">
                <a:solidFill>
                  <a:srgbClr val="1CC182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من الفكرة إلى التطبيق</a:t>
            </a:r>
            <a:endParaRPr lang="en-US" sz="2000" dirty="0"/>
          </a:p>
        </p:txBody>
      </p:sp>
      <p:sp>
        <p:nvSpPr>
          <p:cNvPr id="27" name="Text 24"/>
          <p:cNvSpPr txBox="1"/>
          <p:nvPr/>
        </p:nvSpPr>
        <p:spPr>
          <a:xfrm>
            <a:off x="5943600" y="4370832"/>
            <a:ext cx="5760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D9D3E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ربط الأبحاث والدراسات بأولويات الحكومة الرقمية، وتمكين تحويل مخرجاتها إلى حلول ومعرفة قابلة للتطبيق والاستفادة.</a:t>
            </a:r>
            <a:endParaRPr lang="en-US" sz="1350" dirty="0"/>
          </a:p>
        </p:txBody>
      </p:sp>
      <p:sp>
        <p:nvSpPr>
          <p:cNvPr id="28" name="Text 25"/>
          <p:cNvSpPr txBox="1"/>
          <p:nvPr/>
        </p:nvSpPr>
        <p:spPr>
          <a:xfrm>
            <a:off x="5943600" y="580644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9E90CB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هيئة الحكومة الرقمية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943600" y="606247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E90CB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2026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4632808" y="64739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عندما يرتبط البحث بالأولوية… تتحول المعرفة إلى أثر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70432"/>
            <a:ext cx="111858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القيمة الحقيقية للأبحاث لا تتحقق عند إنتاج المعرفة فقط، بل عندما ترتبط باحتياج حكومي واضح، ويتم تطوير مخرجاتها لتصبح قابلة للتطبيق أو الاستفادة.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39496" y="3240634"/>
            <a:ext cx="11112703" cy="0"/>
          </a:xfrm>
          <a:prstGeom prst="line">
            <a:avLst/>
          </a:prstGeom>
          <a:noFill/>
          <a:ln w="28575">
            <a:solidFill>
              <a:srgbClr val="D9D3E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810951" y="2825496"/>
            <a:ext cx="841248" cy="841248"/>
          </a:xfrm>
          <a:prstGeom prst="ellipse">
            <a:avLst/>
          </a:prstGeom>
          <a:solidFill>
            <a:srgbClr val="7C32C9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8000"/>
              </a:srgbClr>
            </a:outerShdw>
          </a:effectLst>
        </p:spPr>
      </p:sp>
      <p:pic>
        <p:nvPicPr>
          <p:cNvPr id="7" name="Image 1" descr="/tmp/claude-0/-home-user-DGA/40039038-fa43-5484-a6e6-661fd38b862b/scratchpad/incubator-deck/assets/icons/priority-g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1779" y="3046324"/>
            <a:ext cx="399593" cy="3995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0957255" y="24414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963906" y="3794760"/>
            <a:ext cx="472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الأولوية الحكومية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963906" y="4123944"/>
            <a:ext cx="472486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تحديات وفرص تحتاج إلى معرفة أو حلول بحثية.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75224" y="2825496"/>
            <a:ext cx="841248" cy="841248"/>
          </a:xfrm>
          <a:prstGeom prst="ellipse">
            <a:avLst/>
          </a:prstGeom>
          <a:solidFill>
            <a:srgbClr val="7C32C9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8000"/>
              </a:srgbClr>
            </a:outerShdw>
          </a:effectLst>
        </p:spPr>
      </p:sp>
      <p:pic>
        <p:nvPicPr>
          <p:cNvPr id="12" name="Image 2" descr="/tmp/claude-0/-home-user-DGA/40039038-fa43-5484-a6e6-661fd38b862b/scratchpad/incubator-deck/assets/icons/research-knowled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6051" y="3046324"/>
            <a:ext cx="399593" cy="3995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821528" y="24414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3733413" y="3794760"/>
            <a:ext cx="472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المعرفة البحثية</a:t>
            </a:r>
            <a:endParaRPr lang="en-US" sz="1250" dirty="0"/>
          </a:p>
        </p:txBody>
      </p:sp>
      <p:sp>
        <p:nvSpPr>
          <p:cNvPr id="15" name="Text 10"/>
          <p:cNvSpPr txBox="1"/>
          <p:nvPr/>
        </p:nvSpPr>
        <p:spPr>
          <a:xfrm>
            <a:off x="3733413" y="4123944"/>
            <a:ext cx="472486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أبحاث ودراسات تقدم فهمًا أعمق أو حلولًا محتملة.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39496" y="2825496"/>
            <a:ext cx="841248" cy="841248"/>
          </a:xfrm>
          <a:prstGeom prst="ellipse">
            <a:avLst/>
          </a:prstGeom>
          <a:solidFill>
            <a:srgbClr val="1CC18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8000"/>
              </a:srgbClr>
            </a:outerShdw>
          </a:effectLst>
        </p:spPr>
      </p:sp>
      <p:pic>
        <p:nvPicPr>
          <p:cNvPr id="17" name="Image 3" descr="/tmp/claude-0/-home-user-DGA/40039038-fa43-5484-a6e6-661fd38b862b/scratchpad/incubator-deck/assets/icons/application-impac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0324" y="3046324"/>
            <a:ext cx="399593" cy="3995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85800" y="24414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C182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502920" y="3794760"/>
            <a:ext cx="472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التطبيق والاستفادة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502920" y="4123944"/>
            <a:ext cx="472486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تحويل المخرجات الواعدة إلى نماذج أو توصيات أو حلول يمكن اختبارها أو تبنيها.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02920" y="5623560"/>
            <a:ext cx="11185855" cy="566928"/>
          </a:xfrm>
          <a:prstGeom prst="roundRect">
            <a:avLst>
              <a:gd name="adj" fmla="val 12903"/>
            </a:avLst>
          </a:prstGeom>
          <a:solidFill>
            <a:srgbClr val="F1EBFA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685800" y="562356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هنا يأتي دور حاضنة الأبحاث: ربط هذه العناصر في مسار واحد متكامل.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25" name="Text 19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26" name="Image 4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5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بيئة متخصصة لتحويل المخرجات البحثية إلى قيمة قابلة للاستفادة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88720"/>
            <a:ext cx="111858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حاضنة الأبحاث مبادرة تجمع الباحثين والجهات الحكومية والقطاع الخاص والمستثمرين، بهدف دعم الأبحاث والدراسات المرتبطة بالحكومة الرقمية وتطوير مخرجاتها نحو حلول ومنتجات وخدمات ذات أثر.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8130845" y="2331720"/>
            <a:ext cx="3557930" cy="2514600"/>
          </a:xfrm>
          <a:prstGeom prst="roundRect">
            <a:avLst>
              <a:gd name="adj" fmla="val 3273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6" name="Image 1" descr="/tmp/claude-0/-home-user-DGA/40039038-fa43-5484-a6e6-661fd38b862b/scratchpad/incubator-deck/assets/icons/support-enab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8350" y="2569464"/>
            <a:ext cx="502920" cy="5029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40573" y="3218688"/>
            <a:ext cx="33384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00ABA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الدعم والتمكين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277149" y="3639312"/>
            <a:ext cx="326532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توفير الخبرات والمساندة والشراكات اللازمة لتطوير المخرجات البحثية.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4316882" y="2331720"/>
            <a:ext cx="3557930" cy="2514600"/>
          </a:xfrm>
          <a:prstGeom prst="roundRect">
            <a:avLst>
              <a:gd name="adj" fmla="val 3273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0" name="Image 2" descr="/tmp/claude-0/-home-user-DGA/40039038-fa43-5484-a6e6-661fd38b862b/scratchpad/incubator-deck/assets/icons/ip-prote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4388" y="2569464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426610" y="3218688"/>
            <a:ext cx="33384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00ABA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حماية الملكية الفكرية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4463186" y="3639312"/>
            <a:ext cx="326532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دعم حماية المخرجات والأفكار البحثية ضمن مسار الاحتضان.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02920" y="2331720"/>
            <a:ext cx="3557930" cy="2514600"/>
          </a:xfrm>
          <a:prstGeom prst="roundRect">
            <a:avLst>
              <a:gd name="adj" fmla="val 3273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4" name="Image 3" descr="/tmp/claude-0/-home-user-DGA/40039038-fa43-5484-a6e6-661fd38b862b/scratchpad/incubator-deck/assets/icons/prototyp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0425" y="2569464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12648" y="3218688"/>
            <a:ext cx="33384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00ABA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تطوير النماذج الأولية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649224" y="3639312"/>
            <a:ext cx="3265322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تمكين انتقال البحث من الفكرة أو الدراسة إلى مخرج يمكن اختباره.</a:t>
            </a:r>
            <a:endParaRPr lang="en-US" sz="1200" dirty="0"/>
          </a:p>
        </p:txBody>
      </p:sp>
      <p:sp>
        <p:nvSpPr>
          <p:cNvPr id="17" name="Text 11"/>
          <p:cNvSpPr txBox="1"/>
          <p:nvPr/>
        </p:nvSpPr>
        <p:spPr>
          <a:xfrm>
            <a:off x="502920" y="525780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00ABA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الغاية ليست إنتاج المزيد من الأبحاث، بل زيادة الاستفادة من الأبحاث وتحويل المعرفة إلى قيمة.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3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21" name="Image 4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5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أربعة أهداف توجه عمل الحاضنة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255868" y="1371600"/>
            <a:ext cx="5432908" cy="1760220"/>
          </a:xfrm>
          <a:prstGeom prst="roundRect">
            <a:avLst>
              <a:gd name="adj" fmla="val 4675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10637215" y="153619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dirty="0">
                <a:solidFill>
                  <a:srgbClr val="DCD2F3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01</a:t>
            </a:r>
            <a:endParaRPr lang="en-US" sz="3000" dirty="0"/>
          </a:p>
        </p:txBody>
      </p:sp>
      <p:pic>
        <p:nvPicPr>
          <p:cNvPr id="6" name="Image 1" descr="/tmp/claude-0/-home-user-DGA/40039038-fa43-5484-a6e6-661fd38b862b/scratchpad/incubator-deck/assets/icons/goal-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1900" y="1609344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511900" y="2157984"/>
            <a:ext cx="492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توجيه البحث نحو الأولويات الحكومية</a:t>
            </a:r>
            <a:endParaRPr lang="en-US" sz="1450" dirty="0"/>
          </a:p>
        </p:txBody>
      </p:sp>
      <p:sp>
        <p:nvSpPr>
          <p:cNvPr id="8" name="Text 4"/>
          <p:cNvSpPr txBox="1"/>
          <p:nvPr/>
        </p:nvSpPr>
        <p:spPr>
          <a:xfrm>
            <a:off x="6511900" y="2724912"/>
            <a:ext cx="4920844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ربط الموضوعات البحثية بالتحديات والفرص ذات الأولوية في الحكومة الرقمية.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02920" y="1371600"/>
            <a:ext cx="5432908" cy="1760220"/>
          </a:xfrm>
          <a:prstGeom prst="roundRect">
            <a:avLst>
              <a:gd name="adj" fmla="val 4675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4884268" y="153619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dirty="0">
                <a:solidFill>
                  <a:srgbClr val="DCD2F3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02</a:t>
            </a:r>
            <a:endParaRPr lang="en-US" sz="3000" dirty="0"/>
          </a:p>
        </p:txBody>
      </p:sp>
      <p:pic>
        <p:nvPicPr>
          <p:cNvPr id="11" name="Image 2" descr="/tmp/claude-0/-home-user-DGA/40039038-fa43-5484-a6e6-661fd38b862b/scratchpad/incubator-deck/assets/icons/goal-innov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1609344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58952" y="2157984"/>
            <a:ext cx="492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تمكين الابتكار القائم على المعرفة</a:t>
            </a:r>
            <a:endParaRPr lang="en-US" sz="1450" dirty="0"/>
          </a:p>
        </p:txBody>
      </p:sp>
      <p:sp>
        <p:nvSpPr>
          <p:cNvPr id="13" name="Text 8"/>
          <p:cNvSpPr txBox="1"/>
          <p:nvPr/>
        </p:nvSpPr>
        <p:spPr>
          <a:xfrm>
            <a:off x="758952" y="2724912"/>
            <a:ext cx="4920844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تسريع تطوير المخرجات البحثية ودعم تبني التقنيات الحديثة.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6255868" y="3406140"/>
            <a:ext cx="5432908" cy="1760220"/>
          </a:xfrm>
          <a:prstGeom prst="roundRect">
            <a:avLst>
              <a:gd name="adj" fmla="val 4675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sp>
        <p:nvSpPr>
          <p:cNvPr id="15" name="Text 10"/>
          <p:cNvSpPr txBox="1"/>
          <p:nvPr/>
        </p:nvSpPr>
        <p:spPr>
          <a:xfrm>
            <a:off x="10637215" y="357073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dirty="0">
                <a:solidFill>
                  <a:srgbClr val="DCD2F3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03</a:t>
            </a:r>
            <a:endParaRPr lang="en-US" sz="3000" dirty="0"/>
          </a:p>
        </p:txBody>
      </p:sp>
      <p:pic>
        <p:nvPicPr>
          <p:cNvPr id="16" name="Image 3" descr="/tmp/claude-0/-home-user-DGA/40039038-fa43-5484-a6e6-661fd38b862b/scratchpad/incubator-deck/assets/icons/goal-decis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1900" y="3643884"/>
            <a:ext cx="457200" cy="4572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6511900" y="4192524"/>
            <a:ext cx="492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دعم القرارات المبنية على المعرفة</a:t>
            </a:r>
            <a:endParaRPr lang="en-US" sz="1450" dirty="0"/>
          </a:p>
        </p:txBody>
      </p:sp>
      <p:sp>
        <p:nvSpPr>
          <p:cNvPr id="18" name="Text 12"/>
          <p:cNvSpPr txBox="1"/>
          <p:nvPr/>
        </p:nvSpPr>
        <p:spPr>
          <a:xfrm>
            <a:off x="6511900" y="4759452"/>
            <a:ext cx="4920844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تعظيم الاستفادة من نتائج الأبحاث في تطوير الخدمات والسياسات والممارسات الحكومية.</a:t>
            </a:r>
            <a:endParaRPr lang="en-US" sz="1150" dirty="0"/>
          </a:p>
        </p:txBody>
      </p:sp>
      <p:sp>
        <p:nvSpPr>
          <p:cNvPr id="19" name="Shape 13"/>
          <p:cNvSpPr/>
          <p:nvPr/>
        </p:nvSpPr>
        <p:spPr>
          <a:xfrm>
            <a:off x="502920" y="3406140"/>
            <a:ext cx="5432908" cy="1760220"/>
          </a:xfrm>
          <a:prstGeom prst="roundRect">
            <a:avLst>
              <a:gd name="adj" fmla="val 4675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sp>
        <p:nvSpPr>
          <p:cNvPr id="20" name="Text 14"/>
          <p:cNvSpPr txBox="1"/>
          <p:nvPr/>
        </p:nvSpPr>
        <p:spPr>
          <a:xfrm>
            <a:off x="4884268" y="357073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dirty="0">
                <a:solidFill>
                  <a:srgbClr val="DCD2F3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04</a:t>
            </a:r>
            <a:endParaRPr lang="en-US" sz="3000" dirty="0"/>
          </a:p>
        </p:txBody>
      </p:sp>
      <p:pic>
        <p:nvPicPr>
          <p:cNvPr id="21" name="Image 4" descr="/tmp/claude-0/-home-user-DGA/40039038-fa43-5484-a6e6-661fd38b862b/scratchpad/incubator-deck/assets/icons/goal-impac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" y="3643884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58952" y="4192524"/>
            <a:ext cx="4920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تعزيز الأثر الاقتصادي والاجتماعي والبيئي</a:t>
            </a:r>
            <a:endParaRPr lang="en-US" sz="1450" dirty="0"/>
          </a:p>
        </p:txBody>
      </p:sp>
      <p:sp>
        <p:nvSpPr>
          <p:cNvPr id="23" name="Text 16"/>
          <p:cNvSpPr txBox="1"/>
          <p:nvPr/>
        </p:nvSpPr>
        <p:spPr>
          <a:xfrm>
            <a:off x="758952" y="4759452"/>
            <a:ext cx="4920844" cy="278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دعم توظيف المخرجات البحثية بما يحقق قيمة مستدامة.</a:t>
            </a:r>
            <a:endParaRPr lang="en-US" sz="1150" dirty="0"/>
          </a:p>
        </p:txBody>
      </p:sp>
      <p:sp>
        <p:nvSpPr>
          <p:cNvPr id="24" name="Text 17"/>
          <p:cNvSpPr txBox="1"/>
          <p:nvPr/>
        </p:nvSpPr>
        <p:spPr>
          <a:xfrm>
            <a:off x="502920" y="53492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00ABA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الحاضنة تربط المعرفة بالأولوية، ثم تقودها نحو التطبيق والاستفادة.</a:t>
            </a:r>
            <a:endParaRPr lang="en-US" sz="1450" dirty="0"/>
          </a:p>
        </p:txBody>
      </p:sp>
      <p:sp>
        <p:nvSpPr>
          <p:cNvPr id="25" name="Text 18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28" name="Image 5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6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7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رحلة متكاملة من الأولوية إلى التبني</a:t>
            </a:r>
            <a:endParaRPr lang="en-US" sz="2700" dirty="0"/>
          </a:p>
        </p:txBody>
      </p:sp>
      <p:sp>
        <p:nvSpPr>
          <p:cNvPr id="4" name="Shape 1"/>
          <p:cNvSpPr/>
          <p:nvPr/>
        </p:nvSpPr>
        <p:spPr>
          <a:xfrm>
            <a:off x="502920" y="2600554"/>
            <a:ext cx="11185855" cy="0"/>
          </a:xfrm>
          <a:prstGeom prst="line">
            <a:avLst/>
          </a:prstGeom>
          <a:noFill/>
          <a:ln w="28575">
            <a:solidFill>
              <a:srgbClr val="D9D3E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774375" y="2148840"/>
            <a:ext cx="914400" cy="914400"/>
          </a:xfrm>
          <a:prstGeom prst="ellipse">
            <a:avLst/>
          </a:prstGeom>
          <a:solidFill>
            <a:srgbClr val="7C32C9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8000"/>
              </a:srgbClr>
            </a:outerShdw>
          </a:effectLst>
        </p:spPr>
      </p:sp>
      <p:pic>
        <p:nvPicPr>
          <p:cNvPr id="6" name="Image 1" descr="/tmp/claude-0/-home-user-DGA/40039038-fa43-5484-a6e6-661fd38b862b/scratchpad/incubator-deck/assets/icons/stage-sc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4405" y="2388870"/>
            <a:ext cx="434340" cy="4343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0957255" y="176479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4"/>
          <p:cNvSpPr txBox="1"/>
          <p:nvPr/>
        </p:nvSpPr>
        <p:spPr>
          <a:xfrm>
            <a:off x="9326341" y="3191256"/>
            <a:ext cx="23624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رصد الأولويات</a:t>
            </a:r>
            <a:endParaRPr lang="en-US" sz="1250" dirty="0"/>
          </a:p>
        </p:txBody>
      </p:sp>
      <p:sp>
        <p:nvSpPr>
          <p:cNvPr id="9" name="Text 5"/>
          <p:cNvSpPr txBox="1"/>
          <p:nvPr/>
        </p:nvSpPr>
        <p:spPr>
          <a:xfrm>
            <a:off x="9326341" y="3520440"/>
            <a:ext cx="23624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تحديد التوجهات والتحديات والموضوعات البحثية ذات الأولوية.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8206511" y="2148840"/>
            <a:ext cx="914400" cy="914400"/>
          </a:xfrm>
          <a:prstGeom prst="ellipse">
            <a:avLst/>
          </a:prstGeom>
          <a:solidFill>
            <a:srgbClr val="7C32C9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8000"/>
              </a:srgbClr>
            </a:outerShdw>
          </a:effectLst>
        </p:spPr>
      </p:sp>
      <p:pic>
        <p:nvPicPr>
          <p:cNvPr id="11" name="Image 2" descr="/tmp/claude-0/-home-user-DGA/40039038-fa43-5484-a6e6-661fd38b862b/scratchpad/incubator-deck/assets/icons/stage-sele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6541" y="2388870"/>
            <a:ext cx="434340" cy="4343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389391" y="176479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7482494" y="3191256"/>
            <a:ext cx="23624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الاستقطاب والاختيار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7482494" y="3520440"/>
            <a:ext cx="23624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استقبال الأفكار والأبحاث وتقييمها واختيار المشروعات الواعدة.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638648" y="2148840"/>
            <a:ext cx="914400" cy="914400"/>
          </a:xfrm>
          <a:prstGeom prst="ellipse">
            <a:avLst/>
          </a:prstGeom>
          <a:solidFill>
            <a:srgbClr val="7C32C9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8000"/>
              </a:srgbClr>
            </a:outerShdw>
          </a:effectLst>
        </p:spPr>
      </p:sp>
      <p:pic>
        <p:nvPicPr>
          <p:cNvPr id="16" name="Image 3" descr="/tmp/claude-0/-home-user-DGA/40039038-fa43-5484-a6e6-661fd38b862b/scratchpad/incubator-deck/assets/icons/stage-incuba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8678" y="2388870"/>
            <a:ext cx="434340" cy="43434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821528" y="176479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4914630" y="3191256"/>
            <a:ext cx="23624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الاحتضان والتطوير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4914630" y="3520440"/>
            <a:ext cx="23624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توفير الدعم والخبرات والشراكات وتطوير المخرجات والنماذج الأولية.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3070784" y="2148840"/>
            <a:ext cx="914400" cy="914400"/>
          </a:xfrm>
          <a:prstGeom prst="ellipse">
            <a:avLst/>
          </a:prstGeom>
          <a:solidFill>
            <a:srgbClr val="7C32C9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8000"/>
              </a:srgbClr>
            </a:outerShdw>
          </a:effectLst>
        </p:spPr>
      </p:sp>
      <p:pic>
        <p:nvPicPr>
          <p:cNvPr id="21" name="Image 4" descr="/tmp/claude-0/-home-user-DGA/40039038-fa43-5484-a6e6-661fd38b862b/scratchpad/incubator-deck/assets/icons/stage-lin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0814" y="2388870"/>
            <a:ext cx="434340" cy="4343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3253664" y="176479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2346766" y="3191256"/>
            <a:ext cx="23624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التجربة والربط بالجهات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2346766" y="3520440"/>
            <a:ext cx="23624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مواءمة المخرجات مع احتياجات الجهات الحكومية واختبار قابليتها للتطبيق.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502920" y="2148840"/>
            <a:ext cx="914400" cy="914400"/>
          </a:xfrm>
          <a:prstGeom prst="ellipse">
            <a:avLst/>
          </a:prstGeom>
          <a:solidFill>
            <a:srgbClr val="1CC18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8000"/>
              </a:srgbClr>
            </a:outerShdw>
          </a:effectLst>
        </p:spPr>
      </p:sp>
      <p:pic>
        <p:nvPicPr>
          <p:cNvPr id="26" name="Image 5" descr="/tmp/claude-0/-home-user-DGA/40039038-fa43-5484-a6e6-661fd38b862b/scratchpad/incubator-deck/assets/icons/stage-adop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950" y="2388870"/>
            <a:ext cx="434340" cy="43434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" y="1764792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CC182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502920" y="3191256"/>
            <a:ext cx="23624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التبني ونقل المعرفة</a:t>
            </a:r>
            <a:endParaRPr lang="en-US" sz="1250" dirty="0"/>
          </a:p>
        </p:txBody>
      </p:sp>
      <p:sp>
        <p:nvSpPr>
          <p:cNvPr id="29" name="Text 21"/>
          <p:cNvSpPr txBox="1"/>
          <p:nvPr/>
        </p:nvSpPr>
        <p:spPr>
          <a:xfrm>
            <a:off x="502920" y="3520440"/>
            <a:ext cx="23624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دعم الاستفادة من المخرجات ونشر المعرفة وبناء المجتمعات البحثية.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502920" y="5257800"/>
            <a:ext cx="11185855" cy="1051560"/>
          </a:xfrm>
          <a:prstGeom prst="roundRect">
            <a:avLst>
              <a:gd name="adj" fmla="val 7826"/>
            </a:avLst>
          </a:prstGeom>
          <a:solidFill>
            <a:srgbClr val="2A206A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9311335" y="5257800"/>
            <a:ext cx="2194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المخرجات المتوقعة</a:t>
            </a:r>
            <a:endParaRPr lang="en-US" sz="1450" dirty="0"/>
          </a:p>
        </p:txBody>
      </p:sp>
      <p:pic>
        <p:nvPicPr>
          <p:cNvPr id="32" name="Image 6" descr="/tmp/claude-0/-home-user-DGA/40039038-fa43-5484-a6e6-661fd38b862b/scratchpad/incubator-deck/assets/icons/output-knowledg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45575" y="5504688"/>
            <a:ext cx="347472" cy="34747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482535" y="5486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4DEF4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معرفة قابلة للنشر</a:t>
            </a:r>
            <a:endParaRPr lang="en-US" sz="1150" dirty="0"/>
          </a:p>
        </p:txBody>
      </p:sp>
      <p:pic>
        <p:nvPicPr>
          <p:cNvPr id="34" name="Image 7" descr="/tmp/claude-0/-home-user-DGA/40039038-fa43-5484-a6e6-661fd38b862b/scratchpad/incubator-deck/assets/icons/output-policy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79615" y="5504688"/>
            <a:ext cx="347472" cy="347472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5516575" y="5486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4DEF4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توصيات وسياسات</a:t>
            </a:r>
            <a:endParaRPr lang="en-US" sz="1150" dirty="0"/>
          </a:p>
        </p:txBody>
      </p:sp>
      <p:pic>
        <p:nvPicPr>
          <p:cNvPr id="36" name="Image 8" descr="/tmp/claude-0/-home-user-DGA/40039038-fa43-5484-a6e6-661fd38b862b/scratchpad/incubator-deck/assets/icons/output-prototypes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13655" y="5504688"/>
            <a:ext cx="347472" cy="347472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3550615" y="5486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4DEF4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نماذج أولية</a:t>
            </a:r>
            <a:endParaRPr lang="en-US" sz="1150" dirty="0"/>
          </a:p>
        </p:txBody>
      </p:sp>
      <p:pic>
        <p:nvPicPr>
          <p:cNvPr id="38" name="Image 9" descr="/tmp/claude-0/-home-user-DGA/40039038-fa43-5484-a6e6-661fd38b862b/scratchpad/incubator-deck/assets/icons/output-solutions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047695" y="5504688"/>
            <a:ext cx="347472" cy="347472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584655" y="5486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E4DEF4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حلول قابلة للتبني</a:t>
            </a:r>
            <a:endParaRPr lang="en-US" sz="1150" dirty="0"/>
          </a:p>
        </p:txBody>
      </p:sp>
      <p:sp>
        <p:nvSpPr>
          <p:cNvPr id="40" name="Text 28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5</a:t>
            </a:r>
            <a:endParaRPr lang="en-US" sz="1000" dirty="0"/>
          </a:p>
        </p:txBody>
      </p:sp>
      <p:sp>
        <p:nvSpPr>
          <p:cNvPr id="41" name="Text 29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42" name="Text 30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43" name="Image 10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11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نطاق بحثي متنوع تحكمه الأولوية ودرجة النضج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70432"/>
            <a:ext cx="11185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تستهدف الحاضنة الأبحاث والدراسات ذات الصلة بأولويات الحكومة الرقمية وفق طبيعة الموضوع، ودرجة نضجه، والمخرج المتوقع.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8173517" y="19659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6" name="Image 1" descr="/tmp/claude-0/-home-user-DGA/40039038-fa43-5484-a6e6-661fd38b862b/scratchpad/incubator-deck/assets/icons/scope-re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5114" y="2221992"/>
            <a:ext cx="512064" cy="512064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310677" y="2834640"/>
            <a:ext cx="32409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الأبحاث العلمية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8374685" y="3383280"/>
            <a:ext cx="311292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2F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447837" y="3383280"/>
            <a:ext cx="2966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2A206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أبحاث نظرية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8374685" y="3895344"/>
            <a:ext cx="311292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2F3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447837" y="3895344"/>
            <a:ext cx="2966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2A206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أبحاث تطبيقية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8374685" y="4407408"/>
            <a:ext cx="311292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2F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447837" y="4407408"/>
            <a:ext cx="2966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2A206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أبحاث تطويرية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74685" y="4919472"/>
            <a:ext cx="311292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2F3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8447837" y="4919472"/>
            <a:ext cx="2966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2A206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أبحاث ابتكار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4338218" y="19659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7" name="Image 2" descr="/tmp/claude-0/-home-user-DGA/40039038-fa43-5484-a6e6-661fd38b862b/scratchpad/incubator-deck/assets/icons/scope-studi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221992"/>
            <a:ext cx="512064" cy="51206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4475378" y="2834640"/>
            <a:ext cx="32409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الدراسات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4539386" y="3383280"/>
            <a:ext cx="311292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2F3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4612538" y="3383280"/>
            <a:ext cx="2966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2A206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دراسات استشرافية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4539386" y="3895344"/>
            <a:ext cx="311292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2F3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612538" y="3895344"/>
            <a:ext cx="2966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2A206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دراسات معيارية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4539386" y="4407408"/>
            <a:ext cx="311292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2F3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612538" y="4407408"/>
            <a:ext cx="2966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2A206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دراسات موجزة</a:t>
            </a:r>
            <a:endParaRPr lang="en-US" sz="1150" dirty="0"/>
          </a:p>
        </p:txBody>
      </p:sp>
      <p:sp>
        <p:nvSpPr>
          <p:cNvPr id="25" name="Shape 20"/>
          <p:cNvSpPr/>
          <p:nvPr/>
        </p:nvSpPr>
        <p:spPr>
          <a:xfrm>
            <a:off x="502920" y="1965960"/>
            <a:ext cx="3515258" cy="3566160"/>
          </a:xfrm>
          <a:prstGeom prst="roundRect">
            <a:avLst>
              <a:gd name="adj" fmla="val 2341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26" name="Image 3" descr="/tmp/claude-0/-home-user-DGA/40039038-fa43-5484-a6e6-661fd38b862b/scratchpad/incubator-deck/assets/icons/scope-report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04517" y="2221992"/>
            <a:ext cx="512064" cy="512064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640080" y="2834640"/>
            <a:ext cx="324093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التقارير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704088" y="3383280"/>
            <a:ext cx="311292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2F3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77240" y="3383280"/>
            <a:ext cx="2966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2A206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أوراق وتقارير معرفية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704088" y="3895344"/>
            <a:ext cx="311292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D2F3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77240" y="3895344"/>
            <a:ext cx="2966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2A206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White Papers</a:t>
            </a:r>
            <a:endParaRPr lang="en-US" sz="1150" dirty="0"/>
          </a:p>
        </p:txBody>
      </p:sp>
      <p:sp>
        <p:nvSpPr>
          <p:cNvPr id="32" name="Text 26"/>
          <p:cNvSpPr txBox="1"/>
          <p:nvPr/>
        </p:nvSpPr>
        <p:spPr>
          <a:xfrm>
            <a:off x="502920" y="5742432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00ABA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لا يوجد نموذج واحد لجميع الأبحاث؛ بل يتم تحديد المسار المناسب بحسب طبيعة المخرج ودرجة نضجه.</a:t>
            </a:r>
            <a:endParaRPr lang="en-US" sz="1300" dirty="0"/>
          </a:p>
        </p:txBody>
      </p:sp>
      <p:sp>
        <p:nvSpPr>
          <p:cNvPr id="33" name="Text 27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6</a:t>
            </a:r>
            <a:endParaRPr lang="en-US" sz="1000" dirty="0"/>
          </a:p>
        </p:txBody>
      </p:sp>
      <p:sp>
        <p:nvSpPr>
          <p:cNvPr id="34" name="Text 28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35" name="Text 29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36" name="Image 4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5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منظومة تجمع أصحاب الاحتياج بأصحاب المعرفة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099048" y="1874520"/>
            <a:ext cx="914" cy="1737360"/>
          </a:xfrm>
          <a:prstGeom prst="line">
            <a:avLst/>
          </a:prstGeom>
          <a:noFill/>
          <a:ln w="15875">
            <a:solidFill>
              <a:srgbClr val="C9BEE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6099048" y="3075006"/>
            <a:ext cx="3956890" cy="536874"/>
          </a:xfrm>
          <a:prstGeom prst="line">
            <a:avLst/>
          </a:prstGeom>
          <a:noFill/>
          <a:ln w="15875">
            <a:solidFill>
              <a:srgbClr val="C9BEE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9048" y="3611880"/>
            <a:ext cx="2445492" cy="1405554"/>
          </a:xfrm>
          <a:prstGeom prst="line">
            <a:avLst/>
          </a:prstGeom>
          <a:noFill/>
          <a:ln w="15875">
            <a:solidFill>
              <a:srgbClr val="C9BEE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653556" y="3611880"/>
            <a:ext cx="2445492" cy="1405554"/>
          </a:xfrm>
          <a:prstGeom prst="line">
            <a:avLst/>
          </a:prstGeom>
          <a:noFill/>
          <a:ln w="15875">
            <a:solidFill>
              <a:srgbClr val="C9BE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42158" y="3075006"/>
            <a:ext cx="3956890" cy="536874"/>
          </a:xfrm>
          <a:prstGeom prst="line">
            <a:avLst/>
          </a:prstGeom>
          <a:noFill/>
          <a:ln w="15875">
            <a:solidFill>
              <a:srgbClr val="C9BE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623560" y="1399032"/>
            <a:ext cx="950976" cy="950976"/>
          </a:xfrm>
          <a:prstGeom prst="ellipse">
            <a:avLst/>
          </a:prstGeom>
          <a:solidFill>
            <a:srgbClr val="7C32C9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5000"/>
              </a:srgbClr>
            </a:outerShdw>
          </a:effectLst>
        </p:spPr>
      </p:sp>
      <p:pic>
        <p:nvPicPr>
          <p:cNvPr id="10" name="Image 1" descr="/tmp/claude-0/-home-user-DGA/40039038-fa43-5484-a6e6-661fd38b862b/scratchpad/incubator-deck/assets/icons/eco-g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6966" y="1672438"/>
            <a:ext cx="404165" cy="40416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30368" y="2423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الجهات الحكومية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9580450" y="2599518"/>
            <a:ext cx="950976" cy="950976"/>
          </a:xfrm>
          <a:prstGeom prst="ellipse">
            <a:avLst/>
          </a:prstGeom>
          <a:solidFill>
            <a:srgbClr val="00ABA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5000"/>
              </a:srgbClr>
            </a:outerShdw>
          </a:effectLst>
        </p:spPr>
      </p:sp>
      <p:pic>
        <p:nvPicPr>
          <p:cNvPr id="13" name="Image 2" descr="/tmp/claude-0/-home-user-DGA/40039038-fa43-5484-a6e6-661fd38b862b/scratchpad/incubator-deck/assets/icons/eco-research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3855" y="2872924"/>
            <a:ext cx="404165" cy="40416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9187258" y="362364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الباحثون والأكاديميون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069052" y="4541946"/>
            <a:ext cx="950976" cy="950976"/>
          </a:xfrm>
          <a:prstGeom prst="ellipse">
            <a:avLst/>
          </a:prstGeom>
          <a:solidFill>
            <a:srgbClr val="00ABAF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5000"/>
              </a:srgbClr>
            </a:outerShdw>
          </a:effectLst>
        </p:spPr>
      </p:sp>
      <p:pic>
        <p:nvPicPr>
          <p:cNvPr id="16" name="Image 3" descr="/tmp/claude-0/-home-user-DGA/40039038-fa43-5484-a6e6-661fd38b862b/scratchpad/incubator-deck/assets/icons/eco-universiti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2458" y="4815351"/>
            <a:ext cx="404165" cy="404165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7675860" y="556607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الجامعات ومراكز الأبحاث</a:t>
            </a:r>
            <a:endParaRPr lang="en-US" sz="1150" dirty="0"/>
          </a:p>
        </p:txBody>
      </p:sp>
      <p:sp>
        <p:nvSpPr>
          <p:cNvPr id="18" name="Shape 12"/>
          <p:cNvSpPr/>
          <p:nvPr/>
        </p:nvSpPr>
        <p:spPr>
          <a:xfrm>
            <a:off x="3178068" y="4541946"/>
            <a:ext cx="950976" cy="950976"/>
          </a:xfrm>
          <a:prstGeom prst="ellipse">
            <a:avLst/>
          </a:prstGeom>
          <a:solidFill>
            <a:srgbClr val="1CC182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5000"/>
              </a:srgbClr>
            </a:outerShdw>
          </a:effectLst>
        </p:spPr>
      </p:sp>
      <p:pic>
        <p:nvPicPr>
          <p:cNvPr id="19" name="Image 4" descr="/tmp/claude-0/-home-user-DGA/40039038-fa43-5484-a6e6-661fd38b862b/scratchpad/incubator-deck/assets/icons/eco-innovato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1473" y="4815351"/>
            <a:ext cx="404165" cy="404165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2784876" y="556607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المبتكرون ورواد الأعمال</a:t>
            </a:r>
            <a:endParaRPr lang="en-US" sz="1150" dirty="0"/>
          </a:p>
        </p:txBody>
      </p:sp>
      <p:sp>
        <p:nvSpPr>
          <p:cNvPr id="21" name="Shape 14"/>
          <p:cNvSpPr/>
          <p:nvPr/>
        </p:nvSpPr>
        <p:spPr>
          <a:xfrm>
            <a:off x="1666670" y="2599518"/>
            <a:ext cx="950976" cy="950976"/>
          </a:xfrm>
          <a:prstGeom prst="ellipse">
            <a:avLst/>
          </a:prstGeom>
          <a:solidFill>
            <a:srgbClr val="7C32C9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5000"/>
              </a:srgbClr>
            </a:outerShdw>
          </a:effectLst>
        </p:spPr>
      </p:sp>
      <p:pic>
        <p:nvPicPr>
          <p:cNvPr id="22" name="Image 5" descr="/tmp/claude-0/-home-user-DGA/40039038-fa43-5484-a6e6-661fd38b862b/scratchpad/incubator-deck/assets/icons/eco-priva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40076" y="2872924"/>
            <a:ext cx="404165" cy="40416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273478" y="362364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القطاع الخاص</a:t>
            </a:r>
            <a:endParaRPr lang="en-US" sz="1150" dirty="0"/>
          </a:p>
        </p:txBody>
      </p:sp>
      <p:sp>
        <p:nvSpPr>
          <p:cNvPr id="24" name="Shape 16"/>
          <p:cNvSpPr/>
          <p:nvPr/>
        </p:nvSpPr>
        <p:spPr>
          <a:xfrm>
            <a:off x="5413248" y="2926080"/>
            <a:ext cx="1371600" cy="1371600"/>
          </a:xfrm>
          <a:prstGeom prst="ellipse">
            <a:avLst/>
          </a:prstGeom>
          <a:solidFill>
            <a:srgbClr val="7C32C9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38100" dir="5400000">
              <a:srgbClr val="2A206A">
                <a:alpha val="22000"/>
              </a:srgbClr>
            </a:outerShdw>
          </a:effectLst>
        </p:spPr>
      </p:sp>
      <p:pic>
        <p:nvPicPr>
          <p:cNvPr id="25" name="Image 6" descr="/tmp/claude-0/-home-user-DGA/40039038-fa43-5484-a6e6-661fd38b862b/scratchpad/incubator-deck/assets/icons/eco-cent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4728" y="3264408"/>
            <a:ext cx="548640" cy="548640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5047488" y="380390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حاضنة الأبحاث</a:t>
            </a:r>
            <a:endParaRPr lang="en-US" sz="1100" dirty="0"/>
          </a:p>
        </p:txBody>
      </p:sp>
      <p:sp>
        <p:nvSpPr>
          <p:cNvPr id="27" name="Text 18"/>
          <p:cNvSpPr txBox="1"/>
          <p:nvPr/>
        </p:nvSpPr>
        <p:spPr>
          <a:xfrm>
            <a:off x="502920" y="598932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00ABA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الحاضنة تعمل كحلقة وصل بين هذه الأطراف حول أولويات مشتركة.</a:t>
            </a:r>
            <a:endParaRPr lang="en-US" sz="1300" dirty="0"/>
          </a:p>
        </p:txBody>
      </p:sp>
      <p:sp>
        <p:nvSpPr>
          <p:cNvPr id="28" name="Text 19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7</a:t>
            </a:r>
            <a:endParaRPr lang="en-US" sz="1000" dirty="0"/>
          </a:p>
        </p:txBody>
      </p:sp>
      <p:sp>
        <p:nvSpPr>
          <p:cNvPr id="29" name="Text 20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30" name="Text 21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31" name="Image 7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8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من التأسيس إلى التفعيل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667512" y="2880360"/>
            <a:ext cx="10856671" cy="0"/>
          </a:xfrm>
          <a:prstGeom prst="line">
            <a:avLst/>
          </a:prstGeom>
          <a:noFill/>
          <a:ln w="28575">
            <a:solidFill>
              <a:srgbClr val="DCD2F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390327" y="2313432"/>
            <a:ext cx="1133856" cy="1133856"/>
          </a:xfrm>
          <a:prstGeom prst="ellipse">
            <a:avLst/>
          </a:prstGeom>
          <a:solidFill>
            <a:srgbClr val="7C32C9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10390327" y="2569464"/>
            <a:ext cx="1133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2024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769622" y="3648456"/>
            <a:ext cx="43752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الاعتماد والانطلاق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769622" y="4032504"/>
            <a:ext cx="437526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اعتماد مبادرة حاضنة الأبحاث وبدء العمل على تأسيسها والتعريف بها مع الجهات ذات العلاقة.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528920" y="2313432"/>
            <a:ext cx="1133856" cy="1133856"/>
          </a:xfrm>
          <a:prstGeom prst="ellipse">
            <a:avLst/>
          </a:prstGeom>
          <a:solidFill>
            <a:srgbClr val="7C32C9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5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528920" y="2569464"/>
            <a:ext cx="1133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2025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3908214" y="3648456"/>
            <a:ext cx="43752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التخطيط وبناء الشراكات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908214" y="4032504"/>
            <a:ext cx="437526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تطوير التصور التشغيلي، وتحديد المتطلبات، وبناء شراكات النجاح اللازمة للحاضنة.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67512" y="2313432"/>
            <a:ext cx="1133856" cy="1133856"/>
          </a:xfrm>
          <a:prstGeom prst="ellipse">
            <a:avLst/>
          </a:prstGeom>
          <a:solidFill>
            <a:srgbClr val="1CC182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52400" dist="25400" dir="5400000">
              <a:srgbClr val="2A206A">
                <a:alpha val="30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67512" y="2569464"/>
            <a:ext cx="11338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2026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-953193" y="3648456"/>
            <a:ext cx="437526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00" dirty="0">
                <a:solidFill>
                  <a:srgbClr val="1CC182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التفعيل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-953193" y="4032504"/>
            <a:ext cx="437526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بدء تنفيذ أعمال الحاضنة وتفعيل مساراتها وقنواتها.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594360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50" dirty="0">
                <a:solidFill>
                  <a:srgbClr val="00ABA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2026 تمثل مرحلة الانتقال من بناء النموذج إلى تفعيل أعمال الحاضنة.</a:t>
            </a:r>
            <a:endParaRPr lang="en-US" sz="145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8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21" name="Image 1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قنوات متعددة… بهدف واحد: تحويل المعرفة إلى أثر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8130845" y="1325880"/>
            <a:ext cx="3557930" cy="1691640"/>
          </a:xfrm>
          <a:prstGeom prst="roundRect">
            <a:avLst>
              <a:gd name="adj" fmla="val 4865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5" name="Image 1" descr="/tmp/claude-0/-home-user-DGA/40039038-fa43-5484-a6e6-661fd38b862b/scratchpad/incubator-deck/assets/icons/ch-incub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6983" y="1527048"/>
            <a:ext cx="384048" cy="38404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313725" y="1545336"/>
            <a:ext cx="26892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الاحتضان والتطوير</a:t>
            </a:r>
            <a:endParaRPr lang="en-US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8313725" y="2039112"/>
            <a:ext cx="31921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دعم الأبحاث الواعدة وتطوير مخرجاتها ونماذجها.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4316882" y="1325880"/>
            <a:ext cx="3557930" cy="1691640"/>
          </a:xfrm>
          <a:prstGeom prst="roundRect">
            <a:avLst>
              <a:gd name="adj" fmla="val 4865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9" name="Image 2" descr="/tmp/claude-0/-home-user-DGA/40039038-fa43-5484-a6e6-661fd38b862b/scratchpad/incubator-deck/assets/icons/ch-l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3021" y="1527048"/>
            <a:ext cx="384048" cy="3840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4499762" y="1545336"/>
            <a:ext cx="26892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الربط بالجهات الحكومية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4499762" y="2039112"/>
            <a:ext cx="31921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مواءمة الأبحاث مع التحديات والفرص الفعلية في الجهات.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502920" y="1325880"/>
            <a:ext cx="3557930" cy="1691640"/>
          </a:xfrm>
          <a:prstGeom prst="roundRect">
            <a:avLst>
              <a:gd name="adj" fmla="val 4865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3" name="Image 3" descr="/tmp/claude-0/-home-user-DGA/40039038-fa43-5484-a6e6-661fd38b862b/scratchpad/incubator-deck/assets/icons/ch-publis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9058" y="1527048"/>
            <a:ext cx="384048" cy="3840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85800" y="1545336"/>
            <a:ext cx="26892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النشر ونقل المعرفة</a:t>
            </a:r>
            <a:endParaRPr lang="en-US" sz="1350" dirty="0"/>
          </a:p>
        </p:txBody>
      </p:sp>
      <p:sp>
        <p:nvSpPr>
          <p:cNvPr id="15" name="Text 9"/>
          <p:cNvSpPr txBox="1"/>
          <p:nvPr/>
        </p:nvSpPr>
        <p:spPr>
          <a:xfrm>
            <a:off x="685800" y="2039112"/>
            <a:ext cx="31921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نشر الأوراق والمخرجات البحثية عبر القنوات المناسبة.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8130845" y="3273552"/>
            <a:ext cx="3557930" cy="1691640"/>
          </a:xfrm>
          <a:prstGeom prst="roundRect">
            <a:avLst>
              <a:gd name="adj" fmla="val 4865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7" name="Image 4" descr="/tmp/claude-0/-home-user-DGA/40039038-fa43-5484-a6e6-661fd38b862b/scratchpad/incubator-deck/assets/icons/ch-workshop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66983" y="3474720"/>
            <a:ext cx="384048" cy="38404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313725" y="3493008"/>
            <a:ext cx="26892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ورش العمل</a:t>
            </a:r>
            <a:endParaRPr lang="en-US" sz="1350" dirty="0"/>
          </a:p>
        </p:txBody>
      </p:sp>
      <p:sp>
        <p:nvSpPr>
          <p:cNvPr id="19" name="Text 12"/>
          <p:cNvSpPr txBox="1"/>
          <p:nvPr/>
        </p:nvSpPr>
        <p:spPr>
          <a:xfrm>
            <a:off x="8313725" y="3986784"/>
            <a:ext cx="31921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رفع الوعي وتمكين الباحثين والجهات في موضوعات مختارة.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4316882" y="3273552"/>
            <a:ext cx="3557930" cy="1691640"/>
          </a:xfrm>
          <a:prstGeom prst="roundRect">
            <a:avLst>
              <a:gd name="adj" fmla="val 4865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21" name="Image 5" descr="/tmp/claude-0/-home-user-DGA/40039038-fa43-5484-a6e6-661fd38b862b/scratchpad/incubator-deck/assets/icons/ch-communit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53021" y="3474720"/>
            <a:ext cx="384048" cy="384048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4499762" y="3493008"/>
            <a:ext cx="26892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المجتمعات البحثية</a:t>
            </a:r>
            <a:endParaRPr lang="en-US" sz="1350" dirty="0"/>
          </a:p>
        </p:txBody>
      </p:sp>
      <p:sp>
        <p:nvSpPr>
          <p:cNvPr id="23" name="Text 15"/>
          <p:cNvSpPr txBox="1"/>
          <p:nvPr/>
        </p:nvSpPr>
        <p:spPr>
          <a:xfrm>
            <a:off x="4499762" y="3986784"/>
            <a:ext cx="31921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بناء شبكة مستمرة للتواصل وتبادل المعرفة.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502920" y="3273552"/>
            <a:ext cx="3557930" cy="1691640"/>
          </a:xfrm>
          <a:prstGeom prst="roundRect">
            <a:avLst>
              <a:gd name="adj" fmla="val 4865"/>
            </a:avLst>
          </a:prstGeom>
          <a:solidFill>
            <a:srgbClr val="7C32C9"/>
          </a:solidFill>
          <a:ln/>
          <a:effectLst>
            <a:outerShdw sx="100000" sy="100000" kx="0" ky="0" algn="bl" rotWithShape="0" blurRad="152400" dist="25400" dir="5400000">
              <a:srgbClr val="2A206A">
                <a:alpha val="26000"/>
              </a:srgbClr>
            </a:outerShdw>
          </a:effectLst>
        </p:spPr>
      </p:sp>
      <p:pic>
        <p:nvPicPr>
          <p:cNvPr id="25" name="Image 6" descr="/tmp/claude-0/-home-user-DGA/40039038-fa43-5484-a6e6-661fd38b862b/scratchpad/incubator-deck/assets/icons/ch-event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39058" y="3474720"/>
            <a:ext cx="384048" cy="384048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685800" y="3493008"/>
            <a:ext cx="268925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الملتقيات والفعاليات</a:t>
            </a:r>
            <a:endParaRPr lang="en-US" sz="1350" dirty="0"/>
          </a:p>
        </p:txBody>
      </p:sp>
      <p:sp>
        <p:nvSpPr>
          <p:cNvPr id="27" name="Text 18"/>
          <p:cNvSpPr txBox="1"/>
          <p:nvPr/>
        </p:nvSpPr>
        <p:spPr>
          <a:xfrm>
            <a:off x="685800" y="3986784"/>
            <a:ext cx="31921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DE7F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استقطاب الباحثين والشركاء، وعرض الأبحاث، وبناء فرص التعاون.</a:t>
            </a:r>
            <a:endParaRPr lang="en-US" sz="1100" dirty="0"/>
          </a:p>
        </p:txBody>
      </p:sp>
      <p:sp>
        <p:nvSpPr>
          <p:cNvPr id="28" name="Text 19"/>
          <p:cNvSpPr txBox="1"/>
          <p:nvPr/>
        </p:nvSpPr>
        <p:spPr>
          <a:xfrm>
            <a:off x="502920" y="6053328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400" dirty="0">
                <a:solidFill>
                  <a:srgbClr val="7C32C9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ويأتي ملتقى البحث والابتكار الحكومي كإحدى أدوات التفعيل الرئيسية في هذه المرحلة.</a:t>
            </a:r>
            <a:endParaRPr lang="en-US" sz="1400" dirty="0"/>
          </a:p>
        </p:txBody>
      </p:sp>
      <p:sp>
        <p:nvSpPr>
          <p:cNvPr id="29" name="Text 20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9</a:t>
            </a:r>
            <a:endParaRPr lang="en-US" sz="1000" dirty="0"/>
          </a:p>
        </p:txBody>
      </p:sp>
      <p:sp>
        <p:nvSpPr>
          <p:cNvPr id="30" name="Text 21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31" name="Text 22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32" name="Image 7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8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A20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5212080"/>
            <a:ext cx="4206240" cy="4206240"/>
          </a:xfrm>
          <a:prstGeom prst="ellipse">
            <a:avLst/>
          </a:prstGeom>
          <a:solidFill>
            <a:srgbClr val="1CC182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822960" y="5806440"/>
            <a:ext cx="2377440" cy="2377440"/>
          </a:xfrm>
          <a:prstGeom prst="ellipse">
            <a:avLst/>
          </a:prstGeom>
          <a:solidFill>
            <a:srgbClr val="1CC182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21180000">
            <a:off x="0" y="5989320"/>
            <a:ext cx="5852160" cy="0"/>
          </a:xfrm>
          <a:prstGeom prst="line">
            <a:avLst/>
          </a:prstGeom>
          <a:noFill/>
          <a:ln w="22225">
            <a:solidFill>
              <a:srgbClr val="1CC182"/>
            </a:solidFill>
            <a:prstDash val="solid"/>
          </a:ln>
        </p:spPr>
      </p:sp>
      <p:pic>
        <p:nvPicPr>
          <p:cNvPr id="5" name="Image 0" descr="/tmp/claude-0/-home-user-DGA/40039038-fa43-5484-a6e6-661fd38b862b/scratchpad/incubator-deck/assets/logos/DGA Logo Landscap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21847" y="384048"/>
            <a:ext cx="566928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120640" y="23317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6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إحدى أدوات التفعيل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120640" y="278892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6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ملتقى البحث والابتكار الحكومي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37947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700" dirty="0">
                <a:solidFill>
                  <a:srgbClr val="C9BEE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من الفكرة إلى التأثير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9494215" y="64739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9BD6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مقيّد — Restricted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ملتقى يجمع البحث بالاحتياج الحكومي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32000"/>
              </a:lnSpc>
              <a:buNone/>
            </a:pPr>
            <a:r>
              <a:rPr lang="en-US" sz="145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فعالية تهدف إلى تعزيز ثقافة البحث والابتكار في الحكومة الرقمية من خلال استعراض الأبحاث والمبادرات النوعية، وتشجيع تبادل المعرفة، وبناء شراكات تسهم في تطوير الخدمات الحكومية الرقمية ودعم التحول الرقمي.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9084335" y="2468880"/>
            <a:ext cx="2604440" cy="3291840"/>
          </a:xfrm>
          <a:prstGeom prst="roundRect">
            <a:avLst>
              <a:gd name="adj" fmla="val 3160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6" name="Image 1" descr="/tmp/claude-0/-home-user-DGA/40039038-fa43-5484-a6e6-661fd38b862b/scratchpad/incubator-deck/assets/icons/fg-cultu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7955" y="2706624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94063" y="3310128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تعزيز ثقافة البحث العلمي والابتكار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9230639" y="3730752"/>
            <a:ext cx="2311832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رفع الوعي بأهمية البحث والتطوير في الحكومة الرقمية.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223864" y="2468880"/>
            <a:ext cx="2604440" cy="3291840"/>
          </a:xfrm>
          <a:prstGeom prst="roundRect">
            <a:avLst>
              <a:gd name="adj" fmla="val 3160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0" name="Image 2" descr="/tmp/claude-0/-home-user-DGA/40039038-fa43-5484-a6e6-661fd38b862b/scratchpad/incubator-deck/assets/icons/fg-platform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484" y="2706624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333592" y="3310128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توفير منصة للباحثين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6370168" y="3730752"/>
            <a:ext cx="2311832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إتاحة مساحة لعرض ومناقشة الأبحاث.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3363392" y="2468880"/>
            <a:ext cx="2604440" cy="3291840"/>
          </a:xfrm>
          <a:prstGeom prst="roundRect">
            <a:avLst>
              <a:gd name="adj" fmla="val 3160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4" name="Image 3" descr="/tmp/claude-0/-home-user-DGA/40039038-fa43-5484-a6e6-661fd38b862b/scratchpad/incubator-deck/assets/icons/fg-netwo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7012" y="2706624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73120" y="3310128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تمكين الباحثين والمبتكرين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3509696" y="3730752"/>
            <a:ext cx="2311832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توسيع فرص التواصل والتعاون.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502920" y="2468880"/>
            <a:ext cx="2604440" cy="3291840"/>
          </a:xfrm>
          <a:prstGeom prst="roundRect">
            <a:avLst>
              <a:gd name="adj" fmla="val 3160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8" name="Image 4" descr="/tmp/claude-0/-home-user-DGA/40039038-fa43-5484-a6e6-661fd38b862b/scratchpad/incubator-deck/assets/icons/fg-solution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6540" y="2706624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612648" y="3310128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الإسهام في تطوير الحلول الرقمية</a:t>
            </a:r>
            <a:endParaRPr lang="en-US" sz="1250" dirty="0"/>
          </a:p>
        </p:txBody>
      </p:sp>
      <p:sp>
        <p:nvSpPr>
          <p:cNvPr id="20" name="Text 13"/>
          <p:cNvSpPr txBox="1"/>
          <p:nvPr/>
        </p:nvSpPr>
        <p:spPr>
          <a:xfrm>
            <a:off x="649224" y="3730752"/>
            <a:ext cx="2311832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ربط المعرفة البحثية بفرص التطبيق.</a:t>
            </a:r>
            <a:endParaRPr lang="en-US" sz="1100" dirty="0"/>
          </a:p>
        </p:txBody>
      </p:sp>
      <p:sp>
        <p:nvSpPr>
          <p:cNvPr id="21" name="Text 14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11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23" name="Text 16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24" name="Image 5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6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الفعالية المقترحة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7116775" y="1417320"/>
            <a:ext cx="4572000" cy="4160520"/>
          </a:xfrm>
          <a:prstGeom prst="roundRect">
            <a:avLst>
              <a:gd name="adj" fmla="val 2198"/>
            </a:avLst>
          </a:prstGeom>
          <a:solidFill>
            <a:srgbClr val="2A206A"/>
          </a:solidFill>
          <a:ln/>
        </p:spPr>
      </p:sp>
      <p:sp>
        <p:nvSpPr>
          <p:cNvPr id="5" name="Shape 2"/>
          <p:cNvSpPr/>
          <p:nvPr/>
        </p:nvSpPr>
        <p:spPr>
          <a:xfrm>
            <a:off x="10820095" y="1783080"/>
            <a:ext cx="512064" cy="512064"/>
          </a:xfrm>
          <a:prstGeom prst="ellipse">
            <a:avLst/>
          </a:prstGeom>
          <a:solidFill>
            <a:srgbClr val="3A2E88"/>
          </a:solidFill>
          <a:ln/>
        </p:spPr>
      </p:sp>
      <p:pic>
        <p:nvPicPr>
          <p:cNvPr id="6" name="Image 1" descr="/tmp/claude-0/-home-user-DGA/40039038-fa43-5484-a6e6-661fd38b862b/scratchpad/incubator-deck/assets/icons/dash-da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9823" y="1892808"/>
            <a:ext cx="292608" cy="29260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391095" y="17830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9E90CB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التاريخ</a:t>
            </a:r>
            <a:endParaRPr lang="en-US" sz="1150" dirty="0"/>
          </a:p>
        </p:txBody>
      </p:sp>
      <p:sp>
        <p:nvSpPr>
          <p:cNvPr id="8" name="Text 4"/>
          <p:cNvSpPr txBox="1"/>
          <p:nvPr/>
        </p:nvSpPr>
        <p:spPr>
          <a:xfrm>
            <a:off x="7391095" y="2020824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28 أكتوبر 2026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10820095" y="2569464"/>
            <a:ext cx="512064" cy="512064"/>
          </a:xfrm>
          <a:prstGeom prst="ellipse">
            <a:avLst/>
          </a:prstGeom>
          <a:solidFill>
            <a:srgbClr val="3A2E88"/>
          </a:solidFill>
          <a:ln/>
        </p:spPr>
      </p:sp>
      <p:pic>
        <p:nvPicPr>
          <p:cNvPr id="10" name="Image 2" descr="/tmp/claude-0/-home-user-DGA/40039038-fa43-5484-a6e6-661fd38b862b/scratchpad/incubator-deck/assets/icons/dash-ti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9823" y="2679192"/>
            <a:ext cx="292608" cy="292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91095" y="2569464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9E90CB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الوقت</a:t>
            </a:r>
            <a:endParaRPr lang="en-US" sz="1150" dirty="0"/>
          </a:p>
        </p:txBody>
      </p:sp>
      <p:sp>
        <p:nvSpPr>
          <p:cNvPr id="12" name="Text 7"/>
          <p:cNvSpPr txBox="1"/>
          <p:nvPr/>
        </p:nvSpPr>
        <p:spPr>
          <a:xfrm>
            <a:off x="7391095" y="280720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9:30 صباحًا – 4:00 مساءً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10820095" y="3355848"/>
            <a:ext cx="512064" cy="512064"/>
          </a:xfrm>
          <a:prstGeom prst="ellipse">
            <a:avLst/>
          </a:prstGeom>
          <a:solidFill>
            <a:srgbClr val="3A2E88"/>
          </a:solidFill>
          <a:ln/>
        </p:spPr>
      </p:sp>
      <p:pic>
        <p:nvPicPr>
          <p:cNvPr id="14" name="Image 3" descr="/tmp/claude-0/-home-user-DGA/40039038-fa43-5484-a6e6-661fd38b862b/scratchpad/incubator-deck/assets/icons/dash-loc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29823" y="3465576"/>
            <a:ext cx="292608" cy="292608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391095" y="335584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9E90CB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الموقع</a:t>
            </a:r>
            <a:endParaRPr lang="en-US" sz="1150" dirty="0"/>
          </a:p>
        </p:txBody>
      </p:sp>
      <p:sp>
        <p:nvSpPr>
          <p:cNvPr id="16" name="Text 10"/>
          <p:cNvSpPr txBox="1"/>
          <p:nvPr/>
        </p:nvSpPr>
        <p:spPr>
          <a:xfrm>
            <a:off x="7391095" y="359359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مركز الابتكار — هيئة الحكومة الرقمية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7391095" y="4160520"/>
            <a:ext cx="4023360" cy="0"/>
          </a:xfrm>
          <a:prstGeom prst="line">
            <a:avLst/>
          </a:prstGeom>
          <a:noFill/>
          <a:ln w="12700">
            <a:solidFill>
              <a:srgbClr val="4A3E9C"/>
            </a:solidFill>
            <a:prstDash val="solid"/>
          </a:ln>
        </p:spPr>
      </p:sp>
      <p:pic>
        <p:nvPicPr>
          <p:cNvPr id="18" name="Image 4" descr="/tmp/claude-0/-home-user-DGA/40039038-fa43-5484-a6e6-661fd38b862b/scratchpad/incubator-deck/assets/icons/dash-audienc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29823" y="4379976"/>
            <a:ext cx="310896" cy="310896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7391095" y="4361688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150" dirty="0">
                <a:solidFill>
                  <a:srgbClr val="9E90CB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الفئات المستهدفة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7391095" y="4617720"/>
            <a:ext cx="3337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القطاع الحكومي · القطاع الخاص · الجامعات · مراكز الأبحاث</a:t>
            </a:r>
            <a:endParaRPr lang="en-US" sz="1150" dirty="0"/>
          </a:p>
        </p:txBody>
      </p:sp>
      <p:sp>
        <p:nvSpPr>
          <p:cNvPr id="21" name="Text 14"/>
          <p:cNvSpPr txBox="1"/>
          <p:nvPr/>
        </p:nvSpPr>
        <p:spPr>
          <a:xfrm>
            <a:off x="50292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00ABA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أرقام مستهدفة</a:t>
            </a:r>
            <a:endParaRPr lang="en-US" sz="1200" dirty="0"/>
          </a:p>
        </p:txBody>
      </p:sp>
      <p:sp>
        <p:nvSpPr>
          <p:cNvPr id="22" name="Text 15"/>
          <p:cNvSpPr txBox="1"/>
          <p:nvPr/>
        </p:nvSpPr>
        <p:spPr>
          <a:xfrm>
            <a:off x="502920" y="187452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150-100</a:t>
            </a:r>
            <a:endParaRPr lang="en-US" sz="5600" dirty="0"/>
          </a:p>
        </p:txBody>
      </p:sp>
      <p:sp>
        <p:nvSpPr>
          <p:cNvPr id="23" name="Text 16"/>
          <p:cNvSpPr txBox="1"/>
          <p:nvPr/>
        </p:nvSpPr>
        <p:spPr>
          <a:xfrm>
            <a:off x="502920" y="27249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مشاركًا متوقعًا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502920" y="352044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600" dirty="0">
                <a:solidFill>
                  <a:srgbClr val="1CC182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+50</a:t>
            </a:r>
            <a:endParaRPr lang="en-US" sz="5600" dirty="0"/>
          </a:p>
        </p:txBody>
      </p:sp>
      <p:sp>
        <p:nvSpPr>
          <p:cNvPr id="25" name="Text 18"/>
          <p:cNvSpPr txBox="1"/>
          <p:nvPr/>
        </p:nvSpPr>
        <p:spPr>
          <a:xfrm>
            <a:off x="502920" y="43708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جهة حكومية مستهدفة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12</a:t>
            </a:r>
            <a:endParaRPr lang="en-US" sz="1000" dirty="0"/>
          </a:p>
        </p:txBody>
      </p:sp>
      <p:sp>
        <p:nvSpPr>
          <p:cNvPr id="27" name="Text 20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29" name="Image 5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6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تجربة تجمع المعرفة والنقاش والتطبيق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98051" y="1600200"/>
            <a:ext cx="2590724" cy="3931920"/>
          </a:xfrm>
          <a:prstGeom prst="roundRect">
            <a:avLst>
              <a:gd name="adj" fmla="val 3177"/>
            </a:avLst>
          </a:prstGeom>
          <a:solidFill>
            <a:srgbClr val="7C32C9"/>
          </a:solidFill>
          <a:ln/>
          <a:effectLst>
            <a:outerShdw sx="100000" sy="100000" kx="0" ky="0" algn="bl" rotWithShape="0" blurRad="101600" dist="25400" dir="5400000">
              <a:srgbClr val="2A206A">
                <a:alpha val="22000"/>
              </a:srgbClr>
            </a:outerShdw>
          </a:effectLst>
        </p:spPr>
      </p:sp>
      <p:sp>
        <p:nvSpPr>
          <p:cNvPr id="5" name="Shape 2"/>
          <p:cNvSpPr/>
          <p:nvPr/>
        </p:nvSpPr>
        <p:spPr>
          <a:xfrm>
            <a:off x="10064229" y="1892808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pic>
        <p:nvPicPr>
          <p:cNvPr id="6" name="Image 1" descr="/tmp/claude-0/-home-user-DGA/40039038-fa43-5484-a6e6-661fd38b862b/scratchpad/incubator-deck/assets/icons/zone-sta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2245" y="2020824"/>
            <a:ext cx="402336" cy="402336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226067" y="2697480"/>
            <a:ext cx="23346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المسرح الرئيسي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9262643" y="3246120"/>
            <a:ext cx="22615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EDE7F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كلمات وجلسات حوارية حول البحث والحكومة الرقمية، انتقال البحث من الورق إلى التطبيق، التقنيات المستقبلية، الذكاء الاصطناعي، والتحديات الوطنية.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233008" y="1600200"/>
            <a:ext cx="2590724" cy="3931920"/>
          </a:xfrm>
          <a:prstGeom prst="roundRect">
            <a:avLst>
              <a:gd name="adj" fmla="val 3177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199186" y="1892808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E7E1F5"/>
          </a:solidFill>
          <a:ln/>
        </p:spPr>
      </p:sp>
      <p:pic>
        <p:nvPicPr>
          <p:cNvPr id="11" name="Image 2" descr="/tmp/claude-0/-home-user-DGA/40039038-fa43-5484-a6e6-661fd38b862b/scratchpad/incubator-deck/assets/icons/zone-workshop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7202" y="2020824"/>
            <a:ext cx="402336" cy="4023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361024" y="2697480"/>
            <a:ext cx="23346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ورش العمل</a:t>
            </a:r>
            <a:endParaRPr lang="en-US" sz="1350" dirty="0"/>
          </a:p>
        </p:txBody>
      </p:sp>
      <p:sp>
        <p:nvSpPr>
          <p:cNvPr id="13" name="Text 8"/>
          <p:cNvSpPr txBox="1"/>
          <p:nvPr/>
        </p:nvSpPr>
        <p:spPr>
          <a:xfrm>
            <a:off x="6397600" y="3246120"/>
            <a:ext cx="22615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ورش قصيرة ومتخصصة في موضوعات بحثية وتقنية مختارة.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3367964" y="1600200"/>
            <a:ext cx="2590724" cy="3931920"/>
          </a:xfrm>
          <a:prstGeom prst="roundRect">
            <a:avLst>
              <a:gd name="adj" fmla="val 3177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4334142" y="1892808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E7E1F5"/>
          </a:solidFill>
          <a:ln/>
        </p:spPr>
      </p:sp>
      <p:pic>
        <p:nvPicPr>
          <p:cNvPr id="16" name="Image 3" descr="/tmp/claude-0/-home-user-DGA/40039038-fa43-5484-a6e6-661fd38b862b/scratchpad/incubator-deck/assets/icons/zone-exhibi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62158" y="2020824"/>
            <a:ext cx="402336" cy="40233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495980" y="2697480"/>
            <a:ext cx="23346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المعرض</a:t>
            </a:r>
            <a:endParaRPr lang="en-US" sz="1350" dirty="0"/>
          </a:p>
        </p:txBody>
      </p:sp>
      <p:sp>
        <p:nvSpPr>
          <p:cNvPr id="18" name="Text 12"/>
          <p:cNvSpPr txBox="1"/>
          <p:nvPr/>
        </p:nvSpPr>
        <p:spPr>
          <a:xfrm>
            <a:off x="3532556" y="3246120"/>
            <a:ext cx="22615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عرض أبحاث ومنتجات وحلول من الجامعات والقطاع الخاص والجهات المشاركة.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02920" y="1600200"/>
            <a:ext cx="2590724" cy="3931920"/>
          </a:xfrm>
          <a:prstGeom prst="roundRect">
            <a:avLst>
              <a:gd name="adj" fmla="val 3177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1469098" y="1892808"/>
            <a:ext cx="658368" cy="658368"/>
          </a:xfrm>
          <a:prstGeom prst="roundRect">
            <a:avLst>
              <a:gd name="adj" fmla="val 50000"/>
            </a:avLst>
          </a:prstGeom>
          <a:solidFill>
            <a:srgbClr val="E7E1F5"/>
          </a:solidFill>
          <a:ln/>
        </p:spPr>
      </p:sp>
      <p:pic>
        <p:nvPicPr>
          <p:cNvPr id="21" name="Image 4" descr="/tmp/claude-0/-home-user-DGA/40039038-fa43-5484-a6e6-661fd38b862b/scratchpad/incubator-deck/assets/icons/zone-colla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7114" y="2020824"/>
            <a:ext cx="402336" cy="402336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30936" y="2697480"/>
            <a:ext cx="23346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المساحات الإضافية</a:t>
            </a:r>
            <a:endParaRPr lang="en-US" sz="1350" dirty="0"/>
          </a:p>
        </p:txBody>
      </p:sp>
      <p:sp>
        <p:nvSpPr>
          <p:cNvPr id="23" name="Text 16"/>
          <p:cNvSpPr txBox="1"/>
          <p:nvPr/>
        </p:nvSpPr>
        <p:spPr>
          <a:xfrm>
            <a:off x="667512" y="3246120"/>
            <a:ext cx="22615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جلسات استشارية، فرص بحث تعاوني، عروض حية، ومختبرات وتقنيات ناشئة.</a:t>
            </a:r>
            <a:endParaRPr lang="en-US" sz="1050" dirty="0"/>
          </a:p>
        </p:txBody>
      </p:sp>
      <p:sp>
        <p:nvSpPr>
          <p:cNvPr id="24" name="Text 17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13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27" name="Image 5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6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يوم واحد… رحلة معرفية متكاملة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10728655" y="1394460"/>
            <a:ext cx="0" cy="4594860"/>
          </a:xfrm>
          <a:prstGeom prst="line">
            <a:avLst/>
          </a:prstGeom>
          <a:noFill/>
          <a:ln w="19050">
            <a:solidFill>
              <a:srgbClr val="DDD7E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673791" y="1339596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856671" y="1298448"/>
            <a:ext cx="8321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9:30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280160"/>
            <a:ext cx="99697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الاستقبال</a:t>
            </a:r>
            <a:endParaRPr lang="en-US" sz="1080" dirty="0"/>
          </a:p>
        </p:txBody>
      </p:sp>
      <p:sp>
        <p:nvSpPr>
          <p:cNvPr id="8" name="Shape 5"/>
          <p:cNvSpPr/>
          <p:nvPr/>
        </p:nvSpPr>
        <p:spPr>
          <a:xfrm>
            <a:off x="10673791" y="1682496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856671" y="1641348"/>
            <a:ext cx="8321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10:10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1623060"/>
            <a:ext cx="99697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الكلمة الافتتاحية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10673791" y="2025396"/>
            <a:ext cx="109728" cy="109728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856671" y="1984248"/>
            <a:ext cx="8321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10:20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1965960"/>
            <a:ext cx="99697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كلمة رئيسية: البحث والحكومة الرقمية</a:t>
            </a:r>
            <a:endParaRPr lang="en-US" sz="1080" dirty="0"/>
          </a:p>
        </p:txBody>
      </p:sp>
      <p:sp>
        <p:nvSpPr>
          <p:cNvPr id="14" name="Shape 11"/>
          <p:cNvSpPr/>
          <p:nvPr/>
        </p:nvSpPr>
        <p:spPr>
          <a:xfrm>
            <a:off x="10673791" y="2368296"/>
            <a:ext cx="109728" cy="109728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856671" y="2327148"/>
            <a:ext cx="8321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10:45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2308860"/>
            <a:ext cx="99697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جلسة حوارية: آلية نقل البحث من الورق إلى التطبيق</a:t>
            </a:r>
            <a:endParaRPr lang="en-US" sz="1080" dirty="0"/>
          </a:p>
        </p:txBody>
      </p:sp>
      <p:sp>
        <p:nvSpPr>
          <p:cNvPr id="17" name="Shape 14"/>
          <p:cNvSpPr/>
          <p:nvPr/>
        </p:nvSpPr>
        <p:spPr>
          <a:xfrm>
            <a:off x="10673791" y="2711196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856671" y="2670048"/>
            <a:ext cx="8321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11:40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2651760"/>
            <a:ext cx="99697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كلمة: التقنيات في طور الفرضيات</a:t>
            </a:r>
            <a:endParaRPr lang="en-US" sz="1080" dirty="0"/>
          </a:p>
        </p:txBody>
      </p:sp>
      <p:sp>
        <p:nvSpPr>
          <p:cNvPr id="20" name="Shape 17"/>
          <p:cNvSpPr/>
          <p:nvPr/>
        </p:nvSpPr>
        <p:spPr>
          <a:xfrm>
            <a:off x="10673791" y="3054096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56671" y="3012948"/>
            <a:ext cx="8321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12:00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502920" y="2994660"/>
            <a:ext cx="99697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استراحة وجولات تعريفية</a:t>
            </a:r>
            <a:endParaRPr lang="en-US" sz="1080" dirty="0"/>
          </a:p>
        </p:txBody>
      </p:sp>
      <p:sp>
        <p:nvSpPr>
          <p:cNvPr id="23" name="Shape 20"/>
          <p:cNvSpPr/>
          <p:nvPr/>
        </p:nvSpPr>
        <p:spPr>
          <a:xfrm>
            <a:off x="10673791" y="3396996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856671" y="3355848"/>
            <a:ext cx="8321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12:30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502920" y="3337560"/>
            <a:ext cx="99697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كلمة: الحوسبة الكمية ومستقبل التحول الرقمي</a:t>
            </a:r>
            <a:endParaRPr lang="en-US" sz="1080" dirty="0"/>
          </a:p>
        </p:txBody>
      </p:sp>
      <p:sp>
        <p:nvSpPr>
          <p:cNvPr id="26" name="Shape 23"/>
          <p:cNvSpPr/>
          <p:nvPr/>
        </p:nvSpPr>
        <p:spPr>
          <a:xfrm>
            <a:off x="10673791" y="3739896"/>
            <a:ext cx="109728" cy="109728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856671" y="3698748"/>
            <a:ext cx="8321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1:00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502920" y="3680460"/>
            <a:ext cx="99697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جلسة حوارية: آلية نقل البحث من الورق إلى التطبيق</a:t>
            </a:r>
            <a:endParaRPr lang="en-US" sz="1080" dirty="0"/>
          </a:p>
        </p:txBody>
      </p:sp>
      <p:sp>
        <p:nvSpPr>
          <p:cNvPr id="29" name="Shape 26"/>
          <p:cNvSpPr/>
          <p:nvPr/>
        </p:nvSpPr>
        <p:spPr>
          <a:xfrm>
            <a:off x="10673791" y="4082796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856671" y="4041648"/>
            <a:ext cx="8321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1:45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02920" y="4023360"/>
            <a:ext cx="99697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كلمة: البحث العلمي في عصر الذكاء الاصطناعي</a:t>
            </a:r>
            <a:endParaRPr lang="en-US" sz="1080" dirty="0"/>
          </a:p>
        </p:txBody>
      </p:sp>
      <p:sp>
        <p:nvSpPr>
          <p:cNvPr id="32" name="Shape 29"/>
          <p:cNvSpPr/>
          <p:nvPr/>
        </p:nvSpPr>
        <p:spPr>
          <a:xfrm>
            <a:off x="10673791" y="4425696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0856671" y="4384548"/>
            <a:ext cx="8321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2:15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502920" y="4366260"/>
            <a:ext cx="99697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قصة نجاح: فكرة بحثية ذات أثر اقتصادي</a:t>
            </a:r>
            <a:endParaRPr lang="en-US" sz="1080" dirty="0"/>
          </a:p>
        </p:txBody>
      </p:sp>
      <p:sp>
        <p:nvSpPr>
          <p:cNvPr id="35" name="Shape 32"/>
          <p:cNvSpPr/>
          <p:nvPr/>
        </p:nvSpPr>
        <p:spPr>
          <a:xfrm>
            <a:off x="10673791" y="4768596"/>
            <a:ext cx="109728" cy="109728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10856671" y="4727448"/>
            <a:ext cx="8321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2:45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502920" y="4709160"/>
            <a:ext cx="99697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جلسة: تحديات وطنية تبحث عن باحثين</a:t>
            </a:r>
            <a:endParaRPr lang="en-US" sz="1080" dirty="0"/>
          </a:p>
        </p:txBody>
      </p:sp>
      <p:sp>
        <p:nvSpPr>
          <p:cNvPr id="38" name="Shape 35"/>
          <p:cNvSpPr/>
          <p:nvPr/>
        </p:nvSpPr>
        <p:spPr>
          <a:xfrm>
            <a:off x="10673791" y="5111496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10856671" y="5070348"/>
            <a:ext cx="8321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3:10</a:t>
            </a:r>
            <a:endParaRPr lang="en-US" sz="1100" dirty="0"/>
          </a:p>
        </p:txBody>
      </p:sp>
      <p:sp>
        <p:nvSpPr>
          <p:cNvPr id="40" name="Text 37"/>
          <p:cNvSpPr txBox="1"/>
          <p:nvPr/>
        </p:nvSpPr>
        <p:spPr>
          <a:xfrm>
            <a:off x="502920" y="5052060"/>
            <a:ext cx="99697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توقيع الاتفاقيات</a:t>
            </a:r>
            <a:endParaRPr lang="en-US" sz="1080" dirty="0"/>
          </a:p>
        </p:txBody>
      </p:sp>
      <p:sp>
        <p:nvSpPr>
          <p:cNvPr id="41" name="Shape 38"/>
          <p:cNvSpPr/>
          <p:nvPr/>
        </p:nvSpPr>
        <p:spPr>
          <a:xfrm>
            <a:off x="10673791" y="5454396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0856671" y="5413248"/>
            <a:ext cx="8321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3:30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02920" y="5394960"/>
            <a:ext cx="99697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التكريم</a:t>
            </a:r>
            <a:endParaRPr lang="en-US" sz="1080" dirty="0"/>
          </a:p>
        </p:txBody>
      </p:sp>
      <p:sp>
        <p:nvSpPr>
          <p:cNvPr id="44" name="Shape 41"/>
          <p:cNvSpPr/>
          <p:nvPr/>
        </p:nvSpPr>
        <p:spPr>
          <a:xfrm>
            <a:off x="10673791" y="5797296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0856671" y="5756148"/>
            <a:ext cx="83210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4:00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02920" y="5737860"/>
            <a:ext cx="996970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الختام</a:t>
            </a:r>
            <a:endParaRPr lang="en-US" sz="1080" dirty="0"/>
          </a:p>
        </p:txBody>
      </p:sp>
      <p:sp>
        <p:nvSpPr>
          <p:cNvPr id="47" name="Text 44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14</a:t>
            </a:r>
            <a:endParaRPr lang="en-US" sz="1000" dirty="0"/>
          </a:p>
        </p:txBody>
      </p:sp>
      <p:sp>
        <p:nvSpPr>
          <p:cNvPr id="48" name="Text 45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50" name="Image 1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تجربة لا تقتصر على المسرح الرئيسي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084335" y="1691640"/>
            <a:ext cx="2604440" cy="3246120"/>
          </a:xfrm>
          <a:prstGeom prst="roundRect">
            <a:avLst>
              <a:gd name="adj" fmla="val 3160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5" name="Image 1" descr="/tmp/claude-0/-home-user-DGA/40039038-fa43-5484-a6e6-661fd38b862b/scratchpad/incubator-deck/assets/icons/side-workshop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5095" y="1929384"/>
            <a:ext cx="502920" cy="50292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194063" y="2578608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ورش العمل</a:t>
            </a:r>
            <a:endParaRPr lang="en-US" sz="1350" dirty="0"/>
          </a:p>
        </p:txBody>
      </p:sp>
      <p:sp>
        <p:nvSpPr>
          <p:cNvPr id="7" name="Text 3"/>
          <p:cNvSpPr txBox="1"/>
          <p:nvPr/>
        </p:nvSpPr>
        <p:spPr>
          <a:xfrm>
            <a:off x="9230639" y="2999232"/>
            <a:ext cx="2311832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سلسلة ورش متخصصة تعمل بالتوازي مع البرنامج الرئيسي.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6223864" y="1691640"/>
            <a:ext cx="2604440" cy="3246120"/>
          </a:xfrm>
          <a:prstGeom prst="roundRect">
            <a:avLst>
              <a:gd name="adj" fmla="val 3160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9" name="Image 2" descr="/tmp/claude-0/-home-user-DGA/40039038-fa43-5484-a6e6-661fd38b862b/scratchpad/incubator-deck/assets/icons/side-exhibi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624" y="1929384"/>
            <a:ext cx="502920" cy="5029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333592" y="2578608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معرض الأبحاث</a:t>
            </a:r>
            <a:endParaRPr lang="en-US" sz="1350" dirty="0"/>
          </a:p>
        </p:txBody>
      </p:sp>
      <p:sp>
        <p:nvSpPr>
          <p:cNvPr id="11" name="Text 6"/>
          <p:cNvSpPr txBox="1"/>
          <p:nvPr/>
        </p:nvSpPr>
        <p:spPr>
          <a:xfrm>
            <a:off x="6370168" y="2999232"/>
            <a:ext cx="2311832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عرض أبرز الأبحاث والحلول من الجامعات والقطاع الخاص.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3363392" y="1691640"/>
            <a:ext cx="2604440" cy="3246120"/>
          </a:xfrm>
          <a:prstGeom prst="roundRect">
            <a:avLst>
              <a:gd name="adj" fmla="val 3160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3" name="Image 3" descr="/tmp/claude-0/-home-user-DGA/40039038-fa43-5484-a6e6-661fd38b862b/scratchpad/incubator-deck/assets/icons/side-colla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4152" y="1929384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473120" y="2578608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جلسات التعاون</a:t>
            </a:r>
            <a:endParaRPr lang="en-US" sz="1350" dirty="0"/>
          </a:p>
        </p:txBody>
      </p:sp>
      <p:sp>
        <p:nvSpPr>
          <p:cNvPr id="15" name="Text 9"/>
          <p:cNvSpPr txBox="1"/>
          <p:nvPr/>
        </p:nvSpPr>
        <p:spPr>
          <a:xfrm>
            <a:off x="3509696" y="2999232"/>
            <a:ext cx="2311832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مساحات لربط الاحتياجات الحكومية بالباحثين والشركاء.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502920" y="1691640"/>
            <a:ext cx="2604440" cy="3246120"/>
          </a:xfrm>
          <a:prstGeom prst="roundRect">
            <a:avLst>
              <a:gd name="adj" fmla="val 3160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7" name="Image 4" descr="/tmp/claude-0/-home-user-DGA/40039038-fa43-5484-a6e6-661fd38b862b/scratchpad/incubator-deck/assets/icons/side-dem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53680" y="1929384"/>
            <a:ext cx="502920" cy="5029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12648" y="2578608"/>
            <a:ext cx="2384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العروض الحية</a:t>
            </a:r>
            <a:endParaRPr lang="en-US" sz="1350" dirty="0"/>
          </a:p>
        </p:txBody>
      </p:sp>
      <p:sp>
        <p:nvSpPr>
          <p:cNvPr id="19" name="Text 12"/>
          <p:cNvSpPr txBox="1"/>
          <p:nvPr/>
        </p:nvSpPr>
        <p:spPr>
          <a:xfrm>
            <a:off x="649224" y="2999232"/>
            <a:ext cx="2311832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عرض منتجات وتجارب مرتبطة بالذكاء الاصطناعي والتقنيات الناشئة.</a:t>
            </a:r>
            <a:endParaRPr lang="en-US" sz="1150" dirty="0"/>
          </a:p>
        </p:txBody>
      </p:sp>
      <p:sp>
        <p:nvSpPr>
          <p:cNvPr id="20" name="Text 13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15</a:t>
            </a:r>
            <a:endParaRPr lang="en-US" sz="1000" dirty="0"/>
          </a:p>
        </p:txBody>
      </p:sp>
      <p:sp>
        <p:nvSpPr>
          <p:cNvPr id="21" name="Text 14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23" name="Image 5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6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النجاح لا يقاس بعدد الحضور فقط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70432"/>
            <a:ext cx="1118585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القيمة الحقيقية للملتقى تتمثل في قدرته على إنتاج فرص يمكن استمرار العمل عليها بعد انتهاء الفعالية.</a:t>
            </a:r>
            <a:endParaRPr lang="en-US" sz="1350" dirty="0"/>
          </a:p>
        </p:txBody>
      </p:sp>
      <p:sp>
        <p:nvSpPr>
          <p:cNvPr id="5" name="Shape 2"/>
          <p:cNvSpPr/>
          <p:nvPr/>
        </p:nvSpPr>
        <p:spPr>
          <a:xfrm flipH="1">
            <a:off x="9539387" y="1828800"/>
            <a:ext cx="2149389" cy="566928"/>
          </a:xfrm>
          <a:prstGeom prst="chevron">
            <a:avLst/>
          </a:prstGeom>
          <a:solidFill>
            <a:srgbClr val="C32C0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9797313" y="1828800"/>
            <a:ext cx="17195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ملتقى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 flipH="1">
            <a:off x="7280270" y="1828800"/>
            <a:ext cx="2149389" cy="566928"/>
          </a:xfrm>
          <a:prstGeom prst="chevron">
            <a:avLst/>
          </a:prstGeom>
          <a:solidFill>
            <a:srgbClr val="9550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538197" y="1828800"/>
            <a:ext cx="17195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أبحاث وفرص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 flipH="1">
            <a:off x="5021153" y="1828800"/>
            <a:ext cx="2149389" cy="566928"/>
          </a:xfrm>
          <a:prstGeom prst="chevron">
            <a:avLst/>
          </a:prstGeom>
          <a:solidFill>
            <a:srgbClr val="67730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279080" y="1828800"/>
            <a:ext cx="17195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احتضان وتعاون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 flipH="1">
            <a:off x="2762037" y="1828800"/>
            <a:ext cx="2149389" cy="566928"/>
          </a:xfrm>
          <a:prstGeom prst="chevron">
            <a:avLst/>
          </a:prstGeom>
          <a:solidFill>
            <a:srgbClr val="38970E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19963" y="1828800"/>
            <a:ext cx="17195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تطوير وتجربة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 flipH="1">
            <a:off x="502920" y="1828800"/>
            <a:ext cx="2149389" cy="566928"/>
          </a:xfrm>
          <a:prstGeom prst="chevron">
            <a:avLst/>
          </a:prstGeom>
          <a:solidFill>
            <a:srgbClr val="1CC1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0847" y="1828800"/>
            <a:ext cx="171951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أثر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9656430" y="2788920"/>
            <a:ext cx="2032345" cy="251460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6" name="Image 1" descr="/tmp/claude-0/-home-user-DGA/40039038-fa43-5484-a6e6-661fd38b862b/scratchpad/incubator-deck/assets/icons/imp-candidat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578" y="2953512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9766158" y="3483864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8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أبحاث مرشحة للاحتضان</a:t>
            </a:r>
            <a:endParaRPr lang="en-US" sz="1180" dirty="0"/>
          </a:p>
        </p:txBody>
      </p:sp>
      <p:sp>
        <p:nvSpPr>
          <p:cNvPr id="18" name="Text 14"/>
          <p:cNvSpPr txBox="1"/>
          <p:nvPr/>
        </p:nvSpPr>
        <p:spPr>
          <a:xfrm>
            <a:off x="9802734" y="3904488"/>
            <a:ext cx="1739737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حصر الأبحاث الواعدة التي يمكن تقييمها وتطويرها داخل الحاضنة.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7368052" y="2788920"/>
            <a:ext cx="2032345" cy="251460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20" name="Image 2" descr="/tmp/claude-0/-home-user-DGA/40039038-fa43-5484-a6e6-661fd38b862b/scratchpad/incubator-deck/assets/icons/imp-coope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2201" y="2953512"/>
            <a:ext cx="384048" cy="38404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7477780" y="3483864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8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فرص تعاون</a:t>
            </a:r>
            <a:endParaRPr lang="en-US" sz="1180" dirty="0"/>
          </a:p>
        </p:txBody>
      </p:sp>
      <p:sp>
        <p:nvSpPr>
          <p:cNvPr id="22" name="Text 17"/>
          <p:cNvSpPr txBox="1"/>
          <p:nvPr/>
        </p:nvSpPr>
        <p:spPr>
          <a:xfrm>
            <a:off x="7514356" y="3904488"/>
            <a:ext cx="1739737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تحديد فرص تربط الجهات الحكومية بالباحثين والجهات البحثية.</a:t>
            </a:r>
            <a:endParaRPr lang="en-US" sz="980" dirty="0"/>
          </a:p>
        </p:txBody>
      </p:sp>
      <p:sp>
        <p:nvSpPr>
          <p:cNvPr id="23" name="Shape 18"/>
          <p:cNvSpPr/>
          <p:nvPr/>
        </p:nvSpPr>
        <p:spPr>
          <a:xfrm>
            <a:off x="5079675" y="2788920"/>
            <a:ext cx="2032345" cy="251460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24" name="Image 3" descr="/tmp/claude-0/-home-user-DGA/40039038-fa43-5484-a6e6-661fd38b862b/scratchpad/incubator-deck/assets/icons/imp-challeng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3824" y="2953512"/>
            <a:ext cx="384048" cy="38404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189403" y="3483864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8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تحديات حكومية</a:t>
            </a:r>
            <a:endParaRPr lang="en-US" sz="1180" dirty="0"/>
          </a:p>
        </p:txBody>
      </p:sp>
      <p:sp>
        <p:nvSpPr>
          <p:cNvPr id="26" name="Text 20"/>
          <p:cNvSpPr txBox="1"/>
          <p:nvPr/>
        </p:nvSpPr>
        <p:spPr>
          <a:xfrm>
            <a:off x="5225979" y="3904488"/>
            <a:ext cx="1739737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تحويل عدد من التحديات إلى فرص بحث أو تطوير مشتركة.</a:t>
            </a:r>
            <a:endParaRPr lang="en-US" sz="980" dirty="0"/>
          </a:p>
        </p:txBody>
      </p:sp>
      <p:sp>
        <p:nvSpPr>
          <p:cNvPr id="27" name="Shape 21"/>
          <p:cNvSpPr/>
          <p:nvPr/>
        </p:nvSpPr>
        <p:spPr>
          <a:xfrm>
            <a:off x="2791297" y="2788920"/>
            <a:ext cx="2032345" cy="251460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28" name="Image 4" descr="/tmp/claude-0/-home-user-DGA/40039038-fa43-5484-a6e6-661fd38b862b/scratchpad/incubator-deck/assets/icons/imp-applicab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15446" y="2953512"/>
            <a:ext cx="384048" cy="38404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2901025" y="3483864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8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مخرجات قابلة للتطبيق</a:t>
            </a:r>
            <a:endParaRPr lang="en-US" sz="1180" dirty="0"/>
          </a:p>
        </p:txBody>
      </p:sp>
      <p:sp>
        <p:nvSpPr>
          <p:cNvPr id="30" name="Text 23"/>
          <p:cNvSpPr txBox="1"/>
          <p:nvPr/>
        </p:nvSpPr>
        <p:spPr>
          <a:xfrm>
            <a:off x="2937601" y="3904488"/>
            <a:ext cx="1739737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تحديد أبحاث أو حلول يمكن نقلها إلى مراحل تطوير أو تجربة.</a:t>
            </a:r>
            <a:endParaRPr lang="en-US" sz="980" dirty="0"/>
          </a:p>
        </p:txBody>
      </p:sp>
      <p:sp>
        <p:nvSpPr>
          <p:cNvPr id="31" name="Shape 24"/>
          <p:cNvSpPr/>
          <p:nvPr/>
        </p:nvSpPr>
        <p:spPr>
          <a:xfrm>
            <a:off x="502920" y="2788920"/>
            <a:ext cx="2032345" cy="251460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32" name="Image 5" descr="/tmp/claude-0/-home-user-DGA/40039038-fa43-5484-a6e6-661fd38b862b/scratchpad/incubator-deck/assets/icons/imp-communit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7069" y="2953512"/>
            <a:ext cx="384048" cy="384048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612648" y="3483864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18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مجتمع بحثي أوسع</a:t>
            </a:r>
            <a:endParaRPr lang="en-US" sz="1180" dirty="0"/>
          </a:p>
        </p:txBody>
      </p:sp>
      <p:sp>
        <p:nvSpPr>
          <p:cNvPr id="34" name="Text 26"/>
          <p:cNvSpPr txBox="1"/>
          <p:nvPr/>
        </p:nvSpPr>
        <p:spPr>
          <a:xfrm>
            <a:off x="649224" y="3904488"/>
            <a:ext cx="1739737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98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إضافة باحثين وشركاء إلى شبكة الحاضنة ومجتمعات الابتكار.</a:t>
            </a:r>
            <a:endParaRPr lang="en-US" sz="980" dirty="0"/>
          </a:p>
        </p:txBody>
      </p:sp>
      <p:sp>
        <p:nvSpPr>
          <p:cNvPr id="35" name="Text 27"/>
          <p:cNvSpPr txBox="1"/>
          <p:nvPr/>
        </p:nvSpPr>
        <p:spPr>
          <a:xfrm>
            <a:off x="502920" y="548640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00ABA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من فعالية معرفية إلى مسار مستمر للاكتشاف والاحتضان والتطبيق.</a:t>
            </a:r>
            <a:endParaRPr lang="en-US" sz="1350" dirty="0"/>
          </a:p>
        </p:txBody>
      </p:sp>
      <p:sp>
        <p:nvSpPr>
          <p:cNvPr id="36" name="Text 28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16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39" name="Image 6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7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الملتقى بداية المسار… وليس نهايته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70432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300" dirty="0">
                <a:solidFill>
                  <a:srgbClr val="00ABA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الملتقى ← الحاضنة ← التطبيق ← العودة بفرص جديدة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6099048" y="2286000"/>
            <a:ext cx="3913407" cy="979344"/>
          </a:xfrm>
          <a:prstGeom prst="line">
            <a:avLst/>
          </a:prstGeom>
          <a:noFill/>
          <a:ln w="19050">
            <a:solidFill>
              <a:srgbClr val="D9D3E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 flipV="1">
            <a:off x="8517667" y="3265344"/>
            <a:ext cx="1494789" cy="1584612"/>
          </a:xfrm>
          <a:prstGeom prst="line">
            <a:avLst/>
          </a:prstGeom>
          <a:noFill/>
          <a:ln w="19050">
            <a:solidFill>
              <a:srgbClr val="D9D3E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680429" y="4849956"/>
            <a:ext cx="4837238" cy="914"/>
          </a:xfrm>
          <a:prstGeom prst="line">
            <a:avLst/>
          </a:prstGeom>
          <a:noFill/>
          <a:ln w="19050">
            <a:solidFill>
              <a:srgbClr val="D9D3E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185641" y="3265344"/>
            <a:ext cx="1494789" cy="1584612"/>
          </a:xfrm>
          <a:prstGeom prst="line">
            <a:avLst/>
          </a:prstGeom>
          <a:noFill/>
          <a:ln w="19050">
            <a:solidFill>
              <a:srgbClr val="D9D3E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2185641" y="2286000"/>
            <a:ext cx="3913407" cy="979344"/>
          </a:xfrm>
          <a:prstGeom prst="line">
            <a:avLst/>
          </a:prstGeom>
          <a:noFill/>
          <a:ln w="19050">
            <a:solidFill>
              <a:srgbClr val="D9D3E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586984" y="1773936"/>
            <a:ext cx="1024128" cy="1024128"/>
          </a:xfrm>
          <a:prstGeom prst="ellipse">
            <a:avLst/>
          </a:prstGeom>
          <a:solidFill>
            <a:srgbClr val="7C32C9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6000"/>
              </a:srgbClr>
            </a:outerShdw>
          </a:effectLst>
        </p:spPr>
      </p:sp>
      <p:pic>
        <p:nvPicPr>
          <p:cNvPr id="11" name="Image 1" descr="/tmp/claude-0/-home-user-DGA/40039038-fa43-5484-a6e6-661fd38b862b/scratchpad/incubator-deck/assets/icons/loop-coll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981" y="2070933"/>
            <a:ext cx="430134" cy="43013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824728" y="1755648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01</a:t>
            </a:r>
            <a:endParaRPr lang="en-US" sz="1050" dirty="0"/>
          </a:p>
        </p:txBody>
      </p:sp>
      <p:sp>
        <p:nvSpPr>
          <p:cNvPr id="13" name="Text 9"/>
          <p:cNvSpPr txBox="1"/>
          <p:nvPr/>
        </p:nvSpPr>
        <p:spPr>
          <a:xfrm>
            <a:off x="5138928" y="2889504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جمع المخرجات</a:t>
            </a:r>
            <a:endParaRPr lang="en-US" sz="1150" dirty="0"/>
          </a:p>
        </p:txBody>
      </p:sp>
      <p:sp>
        <p:nvSpPr>
          <p:cNvPr id="14" name="Text 10"/>
          <p:cNvSpPr txBox="1"/>
          <p:nvPr/>
        </p:nvSpPr>
        <p:spPr>
          <a:xfrm>
            <a:off x="5138928" y="3163824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حصر الأبحاث والفرص والتحديات الناتجة عن الفعالية.</a:t>
            </a:r>
            <a:endParaRPr lang="en-US" sz="930" dirty="0"/>
          </a:p>
        </p:txBody>
      </p:sp>
      <p:sp>
        <p:nvSpPr>
          <p:cNvPr id="15" name="Shape 11"/>
          <p:cNvSpPr/>
          <p:nvPr/>
        </p:nvSpPr>
        <p:spPr>
          <a:xfrm>
            <a:off x="9500391" y="2753280"/>
            <a:ext cx="1024128" cy="1024128"/>
          </a:xfrm>
          <a:prstGeom prst="ellipse">
            <a:avLst/>
          </a:prstGeom>
          <a:solidFill>
            <a:srgbClr val="7C32C9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6000"/>
              </a:srgbClr>
            </a:outerShdw>
          </a:effectLst>
        </p:spPr>
      </p:sp>
      <p:pic>
        <p:nvPicPr>
          <p:cNvPr id="16" name="Image 2" descr="/tmp/claude-0/-home-user-DGA/40039038-fa43-5484-a6e6-661fd38b862b/scratchpad/incubator-deck/assets/icons/loop-evalu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7388" y="3050277"/>
            <a:ext cx="430134" cy="430134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738135" y="27349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02</a:t>
            </a:r>
            <a:endParaRPr lang="en-US" sz="1050" dirty="0"/>
          </a:p>
        </p:txBody>
      </p:sp>
      <p:sp>
        <p:nvSpPr>
          <p:cNvPr id="18" name="Text 13"/>
          <p:cNvSpPr txBox="1"/>
          <p:nvPr/>
        </p:nvSpPr>
        <p:spPr>
          <a:xfrm>
            <a:off x="9052335" y="38688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التقييم</a:t>
            </a:r>
            <a:endParaRPr lang="en-US" sz="1150" dirty="0"/>
          </a:p>
        </p:txBody>
      </p:sp>
      <p:sp>
        <p:nvSpPr>
          <p:cNvPr id="19" name="Text 14"/>
          <p:cNvSpPr txBox="1"/>
          <p:nvPr/>
        </p:nvSpPr>
        <p:spPr>
          <a:xfrm>
            <a:off x="9052335" y="414316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تقييم المخرجات وفق ارتباطها بالأولوية ودرجة النضج.</a:t>
            </a:r>
            <a:endParaRPr lang="en-US" sz="930" dirty="0"/>
          </a:p>
        </p:txBody>
      </p:sp>
      <p:sp>
        <p:nvSpPr>
          <p:cNvPr id="20" name="Shape 15"/>
          <p:cNvSpPr/>
          <p:nvPr/>
        </p:nvSpPr>
        <p:spPr>
          <a:xfrm>
            <a:off x="8005603" y="4337892"/>
            <a:ext cx="1024128" cy="1024128"/>
          </a:xfrm>
          <a:prstGeom prst="ellipse">
            <a:avLst/>
          </a:prstGeom>
          <a:solidFill>
            <a:srgbClr val="7C32C9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6000"/>
              </a:srgbClr>
            </a:outerShdw>
          </a:effectLst>
        </p:spPr>
      </p:sp>
      <p:pic>
        <p:nvPicPr>
          <p:cNvPr id="21" name="Image 3" descr="/tmp/claude-0/-home-user-DGA/40039038-fa43-5484-a6e6-661fd38b862b/scratchpad/incubator-deck/assets/icons/loop-l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02600" y="4634889"/>
            <a:ext cx="430134" cy="43013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8243347" y="43196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 17"/>
          <p:cNvSpPr txBox="1"/>
          <p:nvPr/>
        </p:nvSpPr>
        <p:spPr>
          <a:xfrm>
            <a:off x="7557547" y="54534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الربط</a:t>
            </a:r>
            <a:endParaRPr lang="en-US" sz="1150" dirty="0"/>
          </a:p>
        </p:txBody>
      </p:sp>
      <p:sp>
        <p:nvSpPr>
          <p:cNvPr id="24" name="Text 18"/>
          <p:cNvSpPr txBox="1"/>
          <p:nvPr/>
        </p:nvSpPr>
        <p:spPr>
          <a:xfrm>
            <a:off x="7557547" y="57277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ربط الأبحاث المختارة بالجهات الحكومية والشركاء المناسبين.</a:t>
            </a:r>
            <a:endParaRPr lang="en-US" sz="930" dirty="0"/>
          </a:p>
        </p:txBody>
      </p:sp>
      <p:sp>
        <p:nvSpPr>
          <p:cNvPr id="25" name="Shape 19"/>
          <p:cNvSpPr/>
          <p:nvPr/>
        </p:nvSpPr>
        <p:spPr>
          <a:xfrm>
            <a:off x="3168365" y="4337892"/>
            <a:ext cx="1024128" cy="1024128"/>
          </a:xfrm>
          <a:prstGeom prst="ellipse">
            <a:avLst/>
          </a:prstGeom>
          <a:solidFill>
            <a:srgbClr val="7C32C9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6000"/>
              </a:srgbClr>
            </a:outerShdw>
          </a:effectLst>
        </p:spPr>
      </p:sp>
      <p:pic>
        <p:nvPicPr>
          <p:cNvPr id="26" name="Image 4" descr="/tmp/claude-0/-home-user-DGA/40039038-fa43-5484-a6e6-661fd38b862b/scratchpad/incubator-deck/assets/icons/loop-incuba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362" y="4634889"/>
            <a:ext cx="430134" cy="43013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406109" y="4319604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04</a:t>
            </a:r>
            <a:endParaRPr lang="en-US" sz="1050" dirty="0"/>
          </a:p>
        </p:txBody>
      </p:sp>
      <p:sp>
        <p:nvSpPr>
          <p:cNvPr id="28" name="Text 21"/>
          <p:cNvSpPr txBox="1"/>
          <p:nvPr/>
        </p:nvSpPr>
        <p:spPr>
          <a:xfrm>
            <a:off x="2720309" y="54534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الاحتضان</a:t>
            </a:r>
            <a:endParaRPr lang="en-US" sz="1150" dirty="0"/>
          </a:p>
        </p:txBody>
      </p:sp>
      <p:sp>
        <p:nvSpPr>
          <p:cNvPr id="29" name="Text 22"/>
          <p:cNvSpPr txBox="1"/>
          <p:nvPr/>
        </p:nvSpPr>
        <p:spPr>
          <a:xfrm>
            <a:off x="2720309" y="57277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إدخال المخرجات الواعدة في مسارات التطوير والدعم.</a:t>
            </a:r>
            <a:endParaRPr lang="en-US" sz="930" dirty="0"/>
          </a:p>
        </p:txBody>
      </p:sp>
      <p:sp>
        <p:nvSpPr>
          <p:cNvPr id="30" name="Shape 23"/>
          <p:cNvSpPr/>
          <p:nvPr/>
        </p:nvSpPr>
        <p:spPr>
          <a:xfrm>
            <a:off x="1673577" y="2753280"/>
            <a:ext cx="1024128" cy="1024128"/>
          </a:xfrm>
          <a:prstGeom prst="ellipse">
            <a:avLst/>
          </a:prstGeom>
          <a:solidFill>
            <a:srgbClr val="7C32C9"/>
          </a:solidFill>
          <a:ln w="3175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2A206A">
                <a:alpha val="16000"/>
              </a:srgbClr>
            </a:outerShdw>
          </a:effectLst>
        </p:spPr>
      </p:sp>
      <p:pic>
        <p:nvPicPr>
          <p:cNvPr id="31" name="Image 5" descr="/tmp/claude-0/-home-user-DGA/40039038-fa43-5484-a6e6-661fd38b862b/scratchpad/incubator-deck/assets/icons/loop-follow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70574" y="3050277"/>
            <a:ext cx="430134" cy="430134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1911321" y="27349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05</a:t>
            </a:r>
            <a:endParaRPr lang="en-US" sz="1050" dirty="0"/>
          </a:p>
        </p:txBody>
      </p:sp>
      <p:sp>
        <p:nvSpPr>
          <p:cNvPr id="33" name="Text 25"/>
          <p:cNvSpPr txBox="1"/>
          <p:nvPr/>
        </p:nvSpPr>
        <p:spPr>
          <a:xfrm>
            <a:off x="1225521" y="38688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المتابعة</a:t>
            </a:r>
            <a:endParaRPr lang="en-US" sz="1150" dirty="0"/>
          </a:p>
        </p:txBody>
      </p:sp>
      <p:sp>
        <p:nvSpPr>
          <p:cNvPr id="34" name="Text 26"/>
          <p:cNvSpPr txBox="1"/>
          <p:nvPr/>
        </p:nvSpPr>
        <p:spPr>
          <a:xfrm>
            <a:off x="1225521" y="4143168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متابعة تقدم كل فرصة أو بحث حتى الوصول إلى مخرج قابل للاستفادة.</a:t>
            </a:r>
            <a:endParaRPr lang="en-US" sz="930" dirty="0"/>
          </a:p>
        </p:txBody>
      </p:sp>
      <p:sp>
        <p:nvSpPr>
          <p:cNvPr id="35" name="Text 27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17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37" name="Text 29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38" name="Image 6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7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كيف نقيس أثر التفعيل؟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656430" y="1554480"/>
            <a:ext cx="2032345" cy="324612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5" name="Image 1" descr="/tmp/claude-0/-home-user-DGA/40039038-fa43-5484-a6e6-661fd38b862b/scratchpad/incubator-deck/assets/icons/kpi-re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2290" y="1737360"/>
            <a:ext cx="420624" cy="4206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656430" y="2304288"/>
            <a:ext cx="20323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ABA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TBD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9766158" y="2706624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00ABA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الأبحاث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9802734" y="3127248"/>
            <a:ext cx="1739737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عدد الأبحاث التي انتقلت إلى التقييم أو الاحتضان.</a:t>
            </a:r>
            <a:endParaRPr lang="en-US" sz="1020" dirty="0"/>
          </a:p>
        </p:txBody>
      </p:sp>
      <p:sp>
        <p:nvSpPr>
          <p:cNvPr id="9" name="Shape 5"/>
          <p:cNvSpPr/>
          <p:nvPr/>
        </p:nvSpPr>
        <p:spPr>
          <a:xfrm>
            <a:off x="7368052" y="1554480"/>
            <a:ext cx="2032345" cy="324612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0" name="Image 2" descr="/tmp/claude-0/-home-user-DGA/40039038-fa43-5484-a6e6-661fd38b862b/scratchpad/incubator-deck/assets/icons/kpi-coopera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3913" y="1737360"/>
            <a:ext cx="420624" cy="420624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368052" y="2304288"/>
            <a:ext cx="20323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ABA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TBD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477780" y="2706624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00ABA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فرص التعاون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7514356" y="3127248"/>
            <a:ext cx="1739737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عدد فرص التعاون التي تم تحديد أطرافها وخطواتها التالية.</a:t>
            </a:r>
            <a:endParaRPr lang="en-US" sz="1020" dirty="0"/>
          </a:p>
        </p:txBody>
      </p:sp>
      <p:sp>
        <p:nvSpPr>
          <p:cNvPr id="14" name="Shape 9"/>
          <p:cNvSpPr/>
          <p:nvPr/>
        </p:nvSpPr>
        <p:spPr>
          <a:xfrm>
            <a:off x="5079675" y="1554480"/>
            <a:ext cx="2032345" cy="324612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5" name="Image 3" descr="/tmp/claude-0/-home-user-DGA/40039038-fa43-5484-a6e6-661fd38b862b/scratchpad/incubator-deck/assets/icons/kpi-challenge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5536" y="1737360"/>
            <a:ext cx="420624" cy="42062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079675" y="2304288"/>
            <a:ext cx="20323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ABA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TBD</a:t>
            </a:r>
            <a:endParaRPr lang="en-US" sz="1500" dirty="0"/>
          </a:p>
        </p:txBody>
      </p:sp>
      <p:sp>
        <p:nvSpPr>
          <p:cNvPr id="17" name="Text 11"/>
          <p:cNvSpPr txBox="1"/>
          <p:nvPr/>
        </p:nvSpPr>
        <p:spPr>
          <a:xfrm>
            <a:off x="5189403" y="2706624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00ABA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التحديات الحكومية</a:t>
            </a:r>
            <a:endParaRPr lang="en-US" sz="1250" dirty="0"/>
          </a:p>
        </p:txBody>
      </p:sp>
      <p:sp>
        <p:nvSpPr>
          <p:cNvPr id="18" name="Text 12"/>
          <p:cNvSpPr txBox="1"/>
          <p:nvPr/>
        </p:nvSpPr>
        <p:spPr>
          <a:xfrm>
            <a:off x="5225979" y="3127248"/>
            <a:ext cx="1739737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عدد التحديات التي تمت مواءمتها مع أبحاث أو خبرات مناسبة.</a:t>
            </a:r>
            <a:endParaRPr lang="en-US" sz="1020" dirty="0"/>
          </a:p>
        </p:txBody>
      </p:sp>
      <p:sp>
        <p:nvSpPr>
          <p:cNvPr id="19" name="Shape 13"/>
          <p:cNvSpPr/>
          <p:nvPr/>
        </p:nvSpPr>
        <p:spPr>
          <a:xfrm>
            <a:off x="2791297" y="1554480"/>
            <a:ext cx="2032345" cy="324612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20" name="Image 4" descr="/tmp/claude-0/-home-user-DGA/40039038-fa43-5484-a6e6-661fd38b862b/scratchpad/incubator-deck/assets/icons/kpi-output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7158" y="1737360"/>
            <a:ext cx="420624" cy="420624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2791297" y="2304288"/>
            <a:ext cx="20323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ABA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TBD</a:t>
            </a:r>
            <a:endParaRPr lang="en-US" sz="1500" dirty="0"/>
          </a:p>
        </p:txBody>
      </p:sp>
      <p:sp>
        <p:nvSpPr>
          <p:cNvPr id="22" name="Text 15"/>
          <p:cNvSpPr txBox="1"/>
          <p:nvPr/>
        </p:nvSpPr>
        <p:spPr>
          <a:xfrm>
            <a:off x="2901025" y="2706624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00ABA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المخرجات</a:t>
            </a:r>
            <a:endParaRPr lang="en-US" sz="1250" dirty="0"/>
          </a:p>
        </p:txBody>
      </p:sp>
      <p:sp>
        <p:nvSpPr>
          <p:cNvPr id="23" name="Text 16"/>
          <p:cNvSpPr txBox="1"/>
          <p:nvPr/>
        </p:nvSpPr>
        <p:spPr>
          <a:xfrm>
            <a:off x="2937601" y="3127248"/>
            <a:ext cx="1739737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عدد المخرجات التي انتقلت إلى التطوير أو التجربة أو الاستفادة.</a:t>
            </a:r>
            <a:endParaRPr lang="en-US" sz="1020" dirty="0"/>
          </a:p>
        </p:txBody>
      </p:sp>
      <p:sp>
        <p:nvSpPr>
          <p:cNvPr id="24" name="Shape 17"/>
          <p:cNvSpPr/>
          <p:nvPr/>
        </p:nvSpPr>
        <p:spPr>
          <a:xfrm>
            <a:off x="502920" y="1554480"/>
            <a:ext cx="2032345" cy="324612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25" name="Image 5" descr="/tmp/claude-0/-home-user-DGA/40039038-fa43-5484-a6e6-661fd38b862b/scratchpad/incubator-deck/assets/icons/kpi-partners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08781" y="1737360"/>
            <a:ext cx="420624" cy="420624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502920" y="2304288"/>
            <a:ext cx="203234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ABA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TBD</a:t>
            </a:r>
            <a:endParaRPr lang="en-US" sz="1500" dirty="0"/>
          </a:p>
        </p:txBody>
      </p:sp>
      <p:sp>
        <p:nvSpPr>
          <p:cNvPr id="27" name="Text 19"/>
          <p:cNvSpPr txBox="1"/>
          <p:nvPr/>
        </p:nvSpPr>
        <p:spPr>
          <a:xfrm>
            <a:off x="612648" y="2706624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00ABA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الشراكات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49224" y="3127248"/>
            <a:ext cx="1739737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02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عدد الجهات المشاركة في مسارات تعاون فعلية.</a:t>
            </a:r>
            <a:endParaRPr lang="en-US" sz="1020" dirty="0"/>
          </a:p>
        </p:txBody>
      </p:sp>
      <p:sp>
        <p:nvSpPr>
          <p:cNvPr id="29" name="Shape 21"/>
          <p:cNvSpPr/>
          <p:nvPr/>
        </p:nvSpPr>
        <p:spPr>
          <a:xfrm>
            <a:off x="502920" y="5074920"/>
            <a:ext cx="11185855" cy="502920"/>
          </a:xfrm>
          <a:prstGeom prst="roundRect">
            <a:avLst>
              <a:gd name="adj" fmla="val 14545"/>
            </a:avLst>
          </a:prstGeom>
          <a:solidFill>
            <a:srgbClr val="F0F4F8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85800" y="5074920"/>
            <a:ext cx="108200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50" dirty="0">
                <a:solidFill>
                  <a:srgbClr val="5B5B6E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يتم اعتماد القيم المستهدفة النهائية بعد تحديد نطاق التنفيذ والموارد.</a:t>
            </a:r>
            <a:endParaRPr lang="en-US" sz="1150" dirty="0"/>
          </a:p>
        </p:txBody>
      </p:sp>
      <p:sp>
        <p:nvSpPr>
          <p:cNvPr id="31" name="Text 23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18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33" name="Text 25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مبادرة حاضنة الأبحاث</a:t>
            </a:r>
            <a:endParaRPr lang="en-US" sz="1000" dirty="0"/>
          </a:p>
        </p:txBody>
      </p:sp>
      <p:pic>
        <p:nvPicPr>
          <p:cNvPr id="34" name="Image 6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7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A20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5212080"/>
            <a:ext cx="4206240" cy="4206240"/>
          </a:xfrm>
          <a:prstGeom prst="ellipse">
            <a:avLst/>
          </a:prstGeom>
          <a:solidFill>
            <a:srgbClr val="1CC182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822960" y="5806440"/>
            <a:ext cx="2377440" cy="2377440"/>
          </a:xfrm>
          <a:prstGeom prst="ellipse">
            <a:avLst/>
          </a:prstGeom>
          <a:solidFill>
            <a:srgbClr val="1CC182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21180000">
            <a:off x="0" y="5989320"/>
            <a:ext cx="5852160" cy="0"/>
          </a:xfrm>
          <a:prstGeom prst="line">
            <a:avLst/>
          </a:prstGeom>
          <a:noFill/>
          <a:ln w="22225">
            <a:solidFill>
              <a:srgbClr val="1CC182"/>
            </a:solidFill>
            <a:prstDash val="solid"/>
          </a:ln>
        </p:spPr>
      </p:sp>
      <p:pic>
        <p:nvPicPr>
          <p:cNvPr id="5" name="Image 0" descr="/tmp/claude-0/-home-user-DGA/40039038-fa43-5484-a6e6-661fd38b862b/scratchpad/incubator-deck/assets/logos/DGA Logo Landscap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21847" y="384048"/>
            <a:ext cx="566928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937760" y="269748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من التصور إلى التنفيذ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3520440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9BEE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ما نحتاجه الآن هو الانتقال المنظم إلى مرحلة التفعيل.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760720" y="4434840"/>
            <a:ext cx="2834640" cy="0"/>
          </a:xfrm>
          <a:prstGeom prst="line">
            <a:avLst/>
          </a:prstGeom>
          <a:noFill/>
          <a:ln w="19050">
            <a:solidFill>
              <a:srgbClr val="5B4A9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549640" y="4389120"/>
            <a:ext cx="91440" cy="91440"/>
          </a:xfrm>
          <a:prstGeom prst="ellipse">
            <a:avLst/>
          </a:prstGeom>
          <a:solidFill>
            <a:srgbClr val="00ABA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0" y="45902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ABA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132320" y="4389120"/>
            <a:ext cx="91440" cy="91440"/>
          </a:xfrm>
          <a:prstGeom prst="ellipse">
            <a:avLst/>
          </a:prstGeom>
          <a:solidFill>
            <a:srgbClr val="7C32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55080" y="45902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Incubation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96712" y="4370832"/>
            <a:ext cx="128016" cy="128016"/>
          </a:xfrm>
          <a:prstGeom prst="ellipse">
            <a:avLst/>
          </a:prstGeom>
          <a:solidFill>
            <a:srgbClr val="1CC18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37760" y="4590288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CC182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Impact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494215" y="64739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9BD6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مقيّد — Restricted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A20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5212080"/>
            <a:ext cx="4206240" cy="4206240"/>
          </a:xfrm>
          <a:prstGeom prst="ellipse">
            <a:avLst/>
          </a:prstGeom>
          <a:solidFill>
            <a:srgbClr val="1CC182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822960" y="5806440"/>
            <a:ext cx="2377440" cy="2377440"/>
          </a:xfrm>
          <a:prstGeom prst="ellipse">
            <a:avLst/>
          </a:prstGeom>
          <a:solidFill>
            <a:srgbClr val="1CC182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21180000">
            <a:off x="0" y="5989320"/>
            <a:ext cx="5852160" cy="0"/>
          </a:xfrm>
          <a:prstGeom prst="line">
            <a:avLst/>
          </a:prstGeom>
          <a:noFill/>
          <a:ln w="22225">
            <a:solidFill>
              <a:srgbClr val="1CC182"/>
            </a:solidFill>
            <a:prstDash val="solid"/>
          </a:ln>
        </p:spPr>
      </p:sp>
      <p:pic>
        <p:nvPicPr>
          <p:cNvPr id="5" name="Image 0" descr="/tmp/claude-0/-home-user-DGA/40039038-fa43-5484-a6e6-661fd38b862b/scratchpad/incubator-deck/assets/logos/DGA Logo Landscap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21847" y="384048"/>
            <a:ext cx="566928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384048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القرار المطلوب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11185855" cy="896112"/>
          </a:xfrm>
          <a:prstGeom prst="roundRect">
            <a:avLst>
              <a:gd name="adj" fmla="val 8163"/>
            </a:avLst>
          </a:prstGeom>
          <a:solidFill>
            <a:srgbClr val="352A78"/>
          </a:solidFill>
          <a:ln/>
        </p:spPr>
      </p:sp>
      <p:sp>
        <p:nvSpPr>
          <p:cNvPr id="8" name="Shape 5"/>
          <p:cNvSpPr/>
          <p:nvPr/>
        </p:nvSpPr>
        <p:spPr>
          <a:xfrm>
            <a:off x="10911535" y="1481328"/>
            <a:ext cx="585216" cy="585216"/>
          </a:xfrm>
          <a:prstGeom prst="ellipse">
            <a:avLst/>
          </a:prstGeom>
          <a:solidFill>
            <a:srgbClr val="1CC182"/>
          </a:solidFill>
          <a:ln/>
        </p:spPr>
      </p:sp>
      <p:pic>
        <p:nvPicPr>
          <p:cNvPr id="9" name="Image 1" descr="/tmp/claude-0/-home-user-DGA/40039038-fa43-5484-a6e6-661fd38b862b/scratchpad/incubator-deck/assets/icons/dec-appro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9551" y="1609344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67512" y="1325880"/>
            <a:ext cx="777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5CB8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01</a:t>
            </a:r>
            <a:endParaRPr lang="en-US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1554480" y="1435608"/>
            <a:ext cx="9174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الموافقة المبدئية على تفعيل الملتقى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554480" y="1783080"/>
            <a:ext cx="9174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D9D3E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ضمن مسارات تفعيل حاضنة الأبحاث وبالموعد والمكان المقترحين.</a:t>
            </a:r>
            <a:endParaRPr lang="en-US" sz="1080" dirty="0"/>
          </a:p>
        </p:txBody>
      </p:sp>
      <p:sp>
        <p:nvSpPr>
          <p:cNvPr id="13" name="Shape 9"/>
          <p:cNvSpPr/>
          <p:nvPr/>
        </p:nvSpPr>
        <p:spPr>
          <a:xfrm>
            <a:off x="502920" y="2350008"/>
            <a:ext cx="11185855" cy="896112"/>
          </a:xfrm>
          <a:prstGeom prst="roundRect">
            <a:avLst>
              <a:gd name="adj" fmla="val 8163"/>
            </a:avLst>
          </a:prstGeom>
          <a:solidFill>
            <a:srgbClr val="352A78"/>
          </a:solidFill>
          <a:ln/>
        </p:spPr>
      </p:sp>
      <p:sp>
        <p:nvSpPr>
          <p:cNvPr id="14" name="Shape 10"/>
          <p:cNvSpPr/>
          <p:nvPr/>
        </p:nvSpPr>
        <p:spPr>
          <a:xfrm>
            <a:off x="10911535" y="2505456"/>
            <a:ext cx="585216" cy="585216"/>
          </a:xfrm>
          <a:prstGeom prst="ellipse">
            <a:avLst/>
          </a:prstGeom>
          <a:solidFill>
            <a:srgbClr val="1CC182"/>
          </a:solidFill>
          <a:ln/>
        </p:spPr>
      </p:sp>
      <p:pic>
        <p:nvPicPr>
          <p:cNvPr id="15" name="Image 2" descr="/tmp/claude-0/-home-user-DGA/40039038-fa43-5484-a6e6-661fd38b862b/scratchpad/incubator-deck/assets/icons/dec-coordin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9551" y="2633472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67512" y="2350008"/>
            <a:ext cx="777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5CB8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02</a:t>
            </a:r>
            <a:endParaRPr lang="en-US" sz="2600" dirty="0"/>
          </a:p>
        </p:txBody>
      </p:sp>
      <p:sp>
        <p:nvSpPr>
          <p:cNvPr id="17" name="Text 12"/>
          <p:cNvSpPr txBox="1"/>
          <p:nvPr/>
        </p:nvSpPr>
        <p:spPr>
          <a:xfrm>
            <a:off x="1554480" y="2459736"/>
            <a:ext cx="9174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التوجيه ببدء التنسيق مع الجهات والشركاء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554480" y="2807208"/>
            <a:ext cx="9174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D9D3E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لاستقطاب الأبحاث والمشاركات وتحديد فرص التعاون.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502920" y="3374136"/>
            <a:ext cx="11185855" cy="896112"/>
          </a:xfrm>
          <a:prstGeom prst="roundRect">
            <a:avLst>
              <a:gd name="adj" fmla="val 8163"/>
            </a:avLst>
          </a:prstGeom>
          <a:solidFill>
            <a:srgbClr val="352A78"/>
          </a:solidFill>
          <a:ln/>
        </p:spPr>
      </p:sp>
      <p:sp>
        <p:nvSpPr>
          <p:cNvPr id="20" name="Shape 15"/>
          <p:cNvSpPr/>
          <p:nvPr/>
        </p:nvSpPr>
        <p:spPr>
          <a:xfrm>
            <a:off x="10911535" y="3529584"/>
            <a:ext cx="585216" cy="585216"/>
          </a:xfrm>
          <a:prstGeom prst="ellipse">
            <a:avLst/>
          </a:prstGeom>
          <a:solidFill>
            <a:srgbClr val="1CC182"/>
          </a:solidFill>
          <a:ln/>
        </p:spPr>
      </p:sp>
      <p:pic>
        <p:nvPicPr>
          <p:cNvPr id="21" name="Image 3" descr="/tmp/claude-0/-home-user-DGA/40039038-fa43-5484-a6e6-661fd38b862b/scratchpad/incubator-deck/assets/icons/dec-pla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9551" y="365760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67512" y="3374136"/>
            <a:ext cx="777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5CB8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03</a:t>
            </a:r>
            <a:endParaRPr lang="en-US" sz="2600" dirty="0"/>
          </a:p>
        </p:txBody>
      </p:sp>
      <p:sp>
        <p:nvSpPr>
          <p:cNvPr id="23" name="Text 17"/>
          <p:cNvSpPr txBox="1"/>
          <p:nvPr/>
        </p:nvSpPr>
        <p:spPr>
          <a:xfrm>
            <a:off x="1554480" y="3483864"/>
            <a:ext cx="9174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استكمال خطة التنفيذ</a:t>
            </a:r>
            <a:endParaRPr lang="en-US" sz="1500" dirty="0"/>
          </a:p>
        </p:txBody>
      </p:sp>
      <p:sp>
        <p:nvSpPr>
          <p:cNvPr id="24" name="Text 18"/>
          <p:cNvSpPr txBox="1"/>
          <p:nvPr/>
        </p:nvSpPr>
        <p:spPr>
          <a:xfrm>
            <a:off x="1554480" y="3831336"/>
            <a:ext cx="9174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D9D3E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نطاق التنفيذ، الأدوار والمسؤوليات، الجدول الزمني، الميزانية، الشركاء، مؤشرات النجاح، ومتابعة ما بعد الملتقى.</a:t>
            </a:r>
            <a:endParaRPr lang="en-US" sz="1080" dirty="0"/>
          </a:p>
        </p:txBody>
      </p:sp>
      <p:sp>
        <p:nvSpPr>
          <p:cNvPr id="25" name="Shape 19"/>
          <p:cNvSpPr/>
          <p:nvPr/>
        </p:nvSpPr>
        <p:spPr>
          <a:xfrm>
            <a:off x="502920" y="4398264"/>
            <a:ext cx="11185855" cy="896112"/>
          </a:xfrm>
          <a:prstGeom prst="roundRect">
            <a:avLst>
              <a:gd name="adj" fmla="val 8163"/>
            </a:avLst>
          </a:prstGeom>
          <a:solidFill>
            <a:srgbClr val="352A78"/>
          </a:solidFill>
          <a:ln/>
        </p:spPr>
      </p:sp>
      <p:sp>
        <p:nvSpPr>
          <p:cNvPr id="26" name="Shape 20"/>
          <p:cNvSpPr/>
          <p:nvPr/>
        </p:nvSpPr>
        <p:spPr>
          <a:xfrm>
            <a:off x="10911535" y="4553712"/>
            <a:ext cx="585216" cy="585216"/>
          </a:xfrm>
          <a:prstGeom prst="ellipse">
            <a:avLst/>
          </a:prstGeom>
          <a:solidFill>
            <a:srgbClr val="1CC182"/>
          </a:solidFill>
          <a:ln/>
        </p:spPr>
      </p:sp>
      <p:pic>
        <p:nvPicPr>
          <p:cNvPr id="27" name="Image 4" descr="/tmp/claude-0/-home-user-DGA/40039038-fa43-5484-a6e6-661fd38b862b/scratchpad/incubator-deck/assets/icons/dec-submi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9551" y="4681728"/>
            <a:ext cx="329184" cy="329184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667512" y="4398264"/>
            <a:ext cx="7772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B5CB8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04</a:t>
            </a:r>
            <a:endParaRPr lang="en-US" sz="2600" dirty="0"/>
          </a:p>
        </p:txBody>
      </p:sp>
      <p:sp>
        <p:nvSpPr>
          <p:cNvPr id="29" name="Text 22"/>
          <p:cNvSpPr txBox="1"/>
          <p:nvPr/>
        </p:nvSpPr>
        <p:spPr>
          <a:xfrm>
            <a:off x="1554480" y="4507992"/>
            <a:ext cx="9174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رفع الخطة النهائية للاعتماد</a:t>
            </a:r>
            <a:endParaRPr lang="en-US" sz="1500" dirty="0"/>
          </a:p>
        </p:txBody>
      </p:sp>
      <p:sp>
        <p:nvSpPr>
          <p:cNvPr id="30" name="Text 23"/>
          <p:cNvSpPr txBox="1"/>
          <p:nvPr/>
        </p:nvSpPr>
        <p:spPr>
          <a:xfrm>
            <a:off x="1554480" y="4855464"/>
            <a:ext cx="91741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D9D3E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قبل بدء الالتزامات التنفيذية أو المالية.</a:t>
            </a:r>
            <a:endParaRPr lang="en-US" sz="1080" dirty="0"/>
          </a:p>
        </p:txBody>
      </p:sp>
      <p:sp>
        <p:nvSpPr>
          <p:cNvPr id="31" name="Shape 24"/>
          <p:cNvSpPr/>
          <p:nvPr/>
        </p:nvSpPr>
        <p:spPr>
          <a:xfrm>
            <a:off x="502920" y="5468112"/>
            <a:ext cx="11185855" cy="566928"/>
          </a:xfrm>
          <a:prstGeom prst="roundRect">
            <a:avLst>
              <a:gd name="adj" fmla="val 50000"/>
            </a:avLst>
          </a:prstGeom>
          <a:solidFill>
            <a:srgbClr val="1CC18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502920" y="5468112"/>
            <a:ext cx="111858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55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المطلوب اليوم: الموافقة على بدء التحضير المنظم للتفعيل</a:t>
            </a:r>
            <a:endParaRPr lang="en-US" sz="1550" dirty="0"/>
          </a:p>
        </p:txBody>
      </p:sp>
      <p:sp>
        <p:nvSpPr>
          <p:cNvPr id="33" name="Text 26"/>
          <p:cNvSpPr txBox="1"/>
          <p:nvPr/>
        </p:nvSpPr>
        <p:spPr>
          <a:xfrm>
            <a:off x="4632808" y="647395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A206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5212080"/>
            <a:ext cx="4206240" cy="4206240"/>
          </a:xfrm>
          <a:prstGeom prst="ellipse">
            <a:avLst/>
          </a:prstGeom>
          <a:solidFill>
            <a:srgbClr val="1CC182">
              <a:alpha val="1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822960" y="5806440"/>
            <a:ext cx="2377440" cy="2377440"/>
          </a:xfrm>
          <a:prstGeom prst="ellipse">
            <a:avLst/>
          </a:prstGeom>
          <a:solidFill>
            <a:srgbClr val="1CC182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 rot="21180000">
            <a:off x="0" y="5989320"/>
            <a:ext cx="5852160" cy="0"/>
          </a:xfrm>
          <a:prstGeom prst="line">
            <a:avLst/>
          </a:prstGeom>
          <a:noFill/>
          <a:ln w="22225">
            <a:solidFill>
              <a:srgbClr val="1CC182"/>
            </a:solidFill>
            <a:prstDash val="solid"/>
          </a:ln>
        </p:spPr>
      </p:sp>
      <p:pic>
        <p:nvPicPr>
          <p:cNvPr id="5" name="Image 0" descr="/tmp/claude-0/-home-user-DGA/40039038-fa43-5484-a6e6-661fd38b862b/scratchpad/incubator-deck/assets/logos/DGA Logo Landscap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21847" y="384048"/>
            <a:ext cx="566928" cy="6035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120640" y="288036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الملحق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5120640" y="379476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500" dirty="0">
                <a:solidFill>
                  <a:srgbClr val="C9BEE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تفاصيل تشغيلية داعمة — تُعرض عند الحاجة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494215" y="647395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79BD6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مقيّد — Restricted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الملحق 1 — الأجندة التفصيلية للمسرح الرئيسي</a:t>
            </a:r>
            <a:endParaRPr lang="en-US" sz="2400" dirty="0"/>
          </a:p>
        </p:txBody>
      </p:sp>
      <p:sp>
        <p:nvSpPr>
          <p:cNvPr id="4" name="Shape 1"/>
          <p:cNvSpPr/>
          <p:nvPr/>
        </p:nvSpPr>
        <p:spPr>
          <a:xfrm>
            <a:off x="10820095" y="1576060"/>
            <a:ext cx="0" cy="3628339"/>
          </a:xfrm>
          <a:prstGeom prst="line">
            <a:avLst/>
          </a:prstGeom>
          <a:noFill/>
          <a:ln w="19050">
            <a:solidFill>
              <a:srgbClr val="DDD7EE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0765231" y="1521196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0948111" y="1417320"/>
            <a:ext cx="74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9:30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324448" y="1399032"/>
            <a:ext cx="423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الاستقبال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10765231" y="2088124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0948111" y="1984248"/>
            <a:ext cx="74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10:10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324448" y="1965960"/>
            <a:ext cx="423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الكلمة الافتتاحية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10765231" y="2655052"/>
            <a:ext cx="109728" cy="109728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948111" y="2551176"/>
            <a:ext cx="74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10:20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324448" y="2532888"/>
            <a:ext cx="423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كلمة رئيسية: البحث والحكومة الرقمية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10765231" y="3221980"/>
            <a:ext cx="109728" cy="109728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948111" y="3118104"/>
            <a:ext cx="74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10:45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324448" y="3099816"/>
            <a:ext cx="423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جلسة حوارية: آلية نقل البحث من الورق إلى التطبيق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0765231" y="3788908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0948111" y="3685032"/>
            <a:ext cx="74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11:40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6324448" y="3666744"/>
            <a:ext cx="423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كلمة: التقنيات في طور الفرضيات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10765231" y="4355836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948111" y="4251960"/>
            <a:ext cx="74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12:00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324448" y="4233672"/>
            <a:ext cx="423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استراحة وجولات تعريفية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10765231" y="4922764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948111" y="4818888"/>
            <a:ext cx="74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12:30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324448" y="4800600"/>
            <a:ext cx="423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كلمة: الحوسبة الكمية ومستقبل التحول الرقمي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998568" y="1576060"/>
            <a:ext cx="0" cy="3628339"/>
          </a:xfrm>
          <a:prstGeom prst="line">
            <a:avLst/>
          </a:prstGeom>
          <a:noFill/>
          <a:ln w="19050">
            <a:solidFill>
              <a:srgbClr val="DDD7EE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4943704" y="1521196"/>
            <a:ext cx="109728" cy="109728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126584" y="1417320"/>
            <a:ext cx="74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1:00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02920" y="1399032"/>
            <a:ext cx="423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جلسة حوارية: آلية نقل البحث من الورق إلى التطبيق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4943704" y="2088124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126584" y="1984248"/>
            <a:ext cx="74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1:45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502920" y="1965960"/>
            <a:ext cx="423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كلمة: البحث العلمي في عصر الذكاء الاصطناعي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4943704" y="2655052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126584" y="2551176"/>
            <a:ext cx="74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2:15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502920" y="2532888"/>
            <a:ext cx="423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قصة نجاح: فكرة بحثية ذات أثر اقتصادي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4943704" y="3221980"/>
            <a:ext cx="109728" cy="109728"/>
          </a:xfrm>
          <a:prstGeom prst="ellipse">
            <a:avLst/>
          </a:prstGeom>
          <a:solidFill>
            <a:srgbClr val="7C32C9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126584" y="3118104"/>
            <a:ext cx="74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2:45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02920" y="3099816"/>
            <a:ext cx="423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جلسة: تحديات وطنية تبحث عن باحثين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4943704" y="3788908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126584" y="3685032"/>
            <a:ext cx="74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3:10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502920" y="3666744"/>
            <a:ext cx="423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توقيع الاتفاقيات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4943704" y="4355836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126584" y="4251960"/>
            <a:ext cx="74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3:30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502920" y="4233672"/>
            <a:ext cx="423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التكريم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4943704" y="4922764"/>
            <a:ext cx="109728" cy="109728"/>
          </a:xfrm>
          <a:prstGeom prst="ellipse">
            <a:avLst/>
          </a:prstGeom>
          <a:solidFill>
            <a:srgbClr val="00ABAF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126584" y="4818888"/>
            <a:ext cx="740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2A206A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4:00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02920" y="4800600"/>
            <a:ext cx="42396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الختام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ملحق 1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ملحق — مبادرة حاضنة الأبحاث</a:t>
            </a:r>
            <a:endParaRPr lang="en-US" sz="1000" dirty="0"/>
          </a:p>
        </p:txBody>
      </p:sp>
      <p:pic>
        <p:nvPicPr>
          <p:cNvPr id="51" name="Image 1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الملحق 2 — أجندة المسرح المصاحب</a:t>
            </a:r>
            <a:endParaRPr lang="en-US" sz="24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4300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سبع ورش عمل متخصصة تعمل بالتوازي مع برنامج المسرح الرئيسي.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9043187" y="1737360"/>
            <a:ext cx="2645588" cy="1417320"/>
          </a:xfrm>
          <a:prstGeom prst="roundRect">
            <a:avLst>
              <a:gd name="adj" fmla="val 5161"/>
            </a:avLst>
          </a:prstGeom>
          <a:solidFill>
            <a:srgbClr val="F7F6FB"/>
          </a:solidFill>
          <a:ln w="12700">
            <a:solidFill>
              <a:srgbClr val="E5DEF5"/>
            </a:solidFill>
            <a:prstDash val="solid"/>
          </a:ln>
        </p:spPr>
      </p:sp>
      <p:pic>
        <p:nvPicPr>
          <p:cNvPr id="6" name="Image 1" descr="/tmp/claude-0/-home-user-DGA/40039038-fa43-5484-a6e6-661fd38b862b/scratchpad/incubator-deck/assets/icons/app-worksh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83101" y="1883664"/>
            <a:ext cx="365760" cy="3657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134627" y="2304288"/>
            <a:ext cx="2462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ورشة 1</a:t>
            </a:r>
            <a:endParaRPr lang="en-US" sz="1250" dirty="0"/>
          </a:p>
        </p:txBody>
      </p:sp>
      <p:sp>
        <p:nvSpPr>
          <p:cNvPr id="8" name="Text 4"/>
          <p:cNvSpPr txBox="1"/>
          <p:nvPr/>
        </p:nvSpPr>
        <p:spPr>
          <a:xfrm>
            <a:off x="9134627" y="2606040"/>
            <a:ext cx="2462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العنوان والتوقيت يُحدَّدان لاحقًا</a:t>
            </a:r>
            <a:endParaRPr lang="en-US" sz="950" dirty="0"/>
          </a:p>
        </p:txBody>
      </p:sp>
      <p:sp>
        <p:nvSpPr>
          <p:cNvPr id="9" name="Shape 5"/>
          <p:cNvSpPr/>
          <p:nvPr/>
        </p:nvSpPr>
        <p:spPr>
          <a:xfrm>
            <a:off x="6196432" y="1737360"/>
            <a:ext cx="2645588" cy="1417320"/>
          </a:xfrm>
          <a:prstGeom prst="roundRect">
            <a:avLst>
              <a:gd name="adj" fmla="val 5161"/>
            </a:avLst>
          </a:prstGeom>
          <a:solidFill>
            <a:srgbClr val="F7F6FB"/>
          </a:solidFill>
          <a:ln w="12700">
            <a:solidFill>
              <a:srgbClr val="E5DEF5"/>
            </a:solidFill>
            <a:prstDash val="solid"/>
          </a:ln>
        </p:spPr>
      </p:sp>
      <p:pic>
        <p:nvPicPr>
          <p:cNvPr id="10" name="Image 2" descr="/tmp/claude-0/-home-user-DGA/40039038-fa43-5484-a6e6-661fd38b862b/scratchpad/incubator-deck/assets/icons/app-worksh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6346" y="1883664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287872" y="2304288"/>
            <a:ext cx="2462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ورشة 2</a:t>
            </a:r>
            <a:endParaRPr lang="en-US" sz="1250" dirty="0"/>
          </a:p>
        </p:txBody>
      </p:sp>
      <p:sp>
        <p:nvSpPr>
          <p:cNvPr id="12" name="Text 7"/>
          <p:cNvSpPr txBox="1"/>
          <p:nvPr/>
        </p:nvSpPr>
        <p:spPr>
          <a:xfrm>
            <a:off x="6287872" y="2606040"/>
            <a:ext cx="2462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العنوان والتوقيت يُحدَّدان لاحقًا</a:t>
            </a:r>
            <a:endParaRPr lang="en-US" sz="950" dirty="0"/>
          </a:p>
        </p:txBody>
      </p:sp>
      <p:sp>
        <p:nvSpPr>
          <p:cNvPr id="13" name="Shape 8"/>
          <p:cNvSpPr/>
          <p:nvPr/>
        </p:nvSpPr>
        <p:spPr>
          <a:xfrm>
            <a:off x="3349676" y="1737360"/>
            <a:ext cx="2645588" cy="1417320"/>
          </a:xfrm>
          <a:prstGeom prst="roundRect">
            <a:avLst>
              <a:gd name="adj" fmla="val 5161"/>
            </a:avLst>
          </a:prstGeom>
          <a:solidFill>
            <a:srgbClr val="F7F6FB"/>
          </a:solidFill>
          <a:ln w="12700">
            <a:solidFill>
              <a:srgbClr val="E5DEF5"/>
            </a:solidFill>
            <a:prstDash val="solid"/>
          </a:ln>
        </p:spPr>
      </p:sp>
      <p:pic>
        <p:nvPicPr>
          <p:cNvPr id="14" name="Image 3" descr="/tmp/claude-0/-home-user-DGA/40039038-fa43-5484-a6e6-661fd38b862b/scratchpad/incubator-deck/assets/icons/app-workshop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9590" y="1883664"/>
            <a:ext cx="365760" cy="36576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441116" y="2304288"/>
            <a:ext cx="2462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ورشة 3</a:t>
            </a:r>
            <a:endParaRPr lang="en-US" sz="1250" dirty="0"/>
          </a:p>
        </p:txBody>
      </p:sp>
      <p:sp>
        <p:nvSpPr>
          <p:cNvPr id="16" name="Text 10"/>
          <p:cNvSpPr txBox="1"/>
          <p:nvPr/>
        </p:nvSpPr>
        <p:spPr>
          <a:xfrm>
            <a:off x="3441116" y="2606040"/>
            <a:ext cx="2462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العنوان والتوقيت يُحدَّدان لاحقًا</a:t>
            </a:r>
            <a:endParaRPr lang="en-US" sz="950" dirty="0"/>
          </a:p>
        </p:txBody>
      </p:sp>
      <p:sp>
        <p:nvSpPr>
          <p:cNvPr id="17" name="Shape 11"/>
          <p:cNvSpPr/>
          <p:nvPr/>
        </p:nvSpPr>
        <p:spPr>
          <a:xfrm>
            <a:off x="502920" y="1737360"/>
            <a:ext cx="2645588" cy="1417320"/>
          </a:xfrm>
          <a:prstGeom prst="roundRect">
            <a:avLst>
              <a:gd name="adj" fmla="val 5161"/>
            </a:avLst>
          </a:prstGeom>
          <a:solidFill>
            <a:srgbClr val="F7F6FB"/>
          </a:solidFill>
          <a:ln w="12700">
            <a:solidFill>
              <a:srgbClr val="E5DEF5"/>
            </a:solidFill>
            <a:prstDash val="solid"/>
          </a:ln>
        </p:spPr>
      </p:sp>
      <p:pic>
        <p:nvPicPr>
          <p:cNvPr id="18" name="Image 4" descr="/tmp/claude-0/-home-user-DGA/40039038-fa43-5484-a6e6-661fd38b862b/scratchpad/incubator-deck/assets/icons/app-worksho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2834" y="1883664"/>
            <a:ext cx="365760" cy="36576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94360" y="2304288"/>
            <a:ext cx="2462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ورشة 4</a:t>
            </a:r>
            <a:endParaRPr lang="en-US" sz="1250" dirty="0"/>
          </a:p>
        </p:txBody>
      </p:sp>
      <p:sp>
        <p:nvSpPr>
          <p:cNvPr id="20" name="Text 13"/>
          <p:cNvSpPr txBox="1"/>
          <p:nvPr/>
        </p:nvSpPr>
        <p:spPr>
          <a:xfrm>
            <a:off x="594360" y="2606040"/>
            <a:ext cx="2462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العنوان والتوقيت يُحدَّدان لاحقًا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9043187" y="3383280"/>
            <a:ext cx="2645588" cy="1417320"/>
          </a:xfrm>
          <a:prstGeom prst="roundRect">
            <a:avLst>
              <a:gd name="adj" fmla="val 5161"/>
            </a:avLst>
          </a:prstGeom>
          <a:solidFill>
            <a:srgbClr val="F7F6FB"/>
          </a:solidFill>
          <a:ln w="12700">
            <a:solidFill>
              <a:srgbClr val="E5DEF5"/>
            </a:solidFill>
            <a:prstDash val="solid"/>
          </a:ln>
        </p:spPr>
      </p:sp>
      <p:pic>
        <p:nvPicPr>
          <p:cNvPr id="22" name="Image 5" descr="/tmp/claude-0/-home-user-DGA/40039038-fa43-5484-a6e6-661fd38b862b/scratchpad/incubator-deck/assets/icons/app-worksho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3101" y="3529584"/>
            <a:ext cx="365760" cy="36576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9134627" y="3950208"/>
            <a:ext cx="2462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ورشة 5</a:t>
            </a:r>
            <a:endParaRPr lang="en-US" sz="1250" dirty="0"/>
          </a:p>
        </p:txBody>
      </p:sp>
      <p:sp>
        <p:nvSpPr>
          <p:cNvPr id="24" name="Text 16"/>
          <p:cNvSpPr txBox="1"/>
          <p:nvPr/>
        </p:nvSpPr>
        <p:spPr>
          <a:xfrm>
            <a:off x="9134627" y="4251960"/>
            <a:ext cx="2462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العنوان والتوقيت يُحدَّدان لاحقًا</a:t>
            </a:r>
            <a:endParaRPr lang="en-US" sz="950" dirty="0"/>
          </a:p>
        </p:txBody>
      </p:sp>
      <p:sp>
        <p:nvSpPr>
          <p:cNvPr id="25" name="Shape 17"/>
          <p:cNvSpPr/>
          <p:nvPr/>
        </p:nvSpPr>
        <p:spPr>
          <a:xfrm>
            <a:off x="6196432" y="3383280"/>
            <a:ext cx="2645588" cy="1417320"/>
          </a:xfrm>
          <a:prstGeom prst="roundRect">
            <a:avLst>
              <a:gd name="adj" fmla="val 5161"/>
            </a:avLst>
          </a:prstGeom>
          <a:solidFill>
            <a:srgbClr val="F7F6FB"/>
          </a:solidFill>
          <a:ln w="12700">
            <a:solidFill>
              <a:srgbClr val="E5DEF5"/>
            </a:solidFill>
            <a:prstDash val="solid"/>
          </a:ln>
        </p:spPr>
      </p:sp>
      <p:pic>
        <p:nvPicPr>
          <p:cNvPr id="26" name="Image 6" descr="/tmp/claude-0/-home-user-DGA/40039038-fa43-5484-a6e6-661fd38b862b/scratchpad/incubator-deck/assets/icons/app-workshop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6346" y="3529584"/>
            <a:ext cx="365760" cy="36576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6287872" y="3950208"/>
            <a:ext cx="2462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ورشة 6</a:t>
            </a:r>
            <a:endParaRPr lang="en-US" sz="1250" dirty="0"/>
          </a:p>
        </p:txBody>
      </p:sp>
      <p:sp>
        <p:nvSpPr>
          <p:cNvPr id="28" name="Text 19"/>
          <p:cNvSpPr txBox="1"/>
          <p:nvPr/>
        </p:nvSpPr>
        <p:spPr>
          <a:xfrm>
            <a:off x="6287872" y="4251960"/>
            <a:ext cx="2462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العنوان والتوقيت يُحدَّدان لاحقًا</a:t>
            </a:r>
            <a:endParaRPr lang="en-US" sz="950" dirty="0"/>
          </a:p>
        </p:txBody>
      </p:sp>
      <p:sp>
        <p:nvSpPr>
          <p:cNvPr id="29" name="Shape 20"/>
          <p:cNvSpPr/>
          <p:nvPr/>
        </p:nvSpPr>
        <p:spPr>
          <a:xfrm>
            <a:off x="3349676" y="3383280"/>
            <a:ext cx="2645588" cy="1417320"/>
          </a:xfrm>
          <a:prstGeom prst="roundRect">
            <a:avLst>
              <a:gd name="adj" fmla="val 5161"/>
            </a:avLst>
          </a:prstGeom>
          <a:solidFill>
            <a:srgbClr val="F7F6FB"/>
          </a:solidFill>
          <a:ln w="12700">
            <a:solidFill>
              <a:srgbClr val="E5DEF5"/>
            </a:solidFill>
            <a:prstDash val="solid"/>
          </a:ln>
        </p:spPr>
      </p:sp>
      <p:pic>
        <p:nvPicPr>
          <p:cNvPr id="30" name="Image 7" descr="/tmp/claude-0/-home-user-DGA/40039038-fa43-5484-a6e6-661fd38b862b/scratchpad/incubator-deck/assets/icons/app-workshop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89590" y="3529584"/>
            <a:ext cx="365760" cy="36576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3441116" y="3950208"/>
            <a:ext cx="24627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ورشة 7</a:t>
            </a:r>
            <a:endParaRPr lang="en-US" sz="1250" dirty="0"/>
          </a:p>
        </p:txBody>
      </p:sp>
      <p:sp>
        <p:nvSpPr>
          <p:cNvPr id="32" name="Text 22"/>
          <p:cNvSpPr txBox="1"/>
          <p:nvPr/>
        </p:nvSpPr>
        <p:spPr>
          <a:xfrm>
            <a:off x="3441116" y="4251960"/>
            <a:ext cx="24627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العنوان والتوقيت يُحدَّدان لاحقًا</a:t>
            </a:r>
            <a:endParaRPr lang="en-US" sz="950" dirty="0"/>
          </a:p>
        </p:txBody>
      </p:sp>
      <p:sp>
        <p:nvSpPr>
          <p:cNvPr id="33" name="Text 23"/>
          <p:cNvSpPr txBox="1"/>
          <p:nvPr/>
        </p:nvSpPr>
        <p:spPr>
          <a:xfrm>
            <a:off x="502920" y="5349240"/>
            <a:ext cx="11185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00ABA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تُستكمل عناوين الورش وتوقيتاتها عند التنسيق النهائي مع الشركاء المتخصصين.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ملحق 2</a:t>
            </a:r>
            <a:endParaRPr lang="en-US" sz="1000" dirty="0"/>
          </a:p>
        </p:txBody>
      </p:sp>
      <p:sp>
        <p:nvSpPr>
          <p:cNvPr id="35" name="Text 25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36" name="Text 26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ملحق — مبادرة حاضنة الأبحاث</a:t>
            </a:r>
            <a:endParaRPr lang="en-US" sz="1000" dirty="0"/>
          </a:p>
        </p:txBody>
      </p:sp>
      <p:pic>
        <p:nvPicPr>
          <p:cNvPr id="37" name="Image 8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9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الملحق 3 — المساحات الإضافية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9656430" y="1828800"/>
            <a:ext cx="2032345" cy="329184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5" name="Image 1" descr="/tmp/claude-0/-home-user-DGA/40039038-fa43-5484-a6e6-661fd38b862b/scratchpad/incubator-deck/assets/icons/app-exhib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4002" y="2066544"/>
            <a:ext cx="457200" cy="4572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9766158" y="2670048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معرض مصاحب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802734" y="3090672"/>
            <a:ext cx="1739737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عرض أبحاث ومنتجات وحلول من الجهات المشاركة.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7368052" y="1828800"/>
            <a:ext cx="2032345" cy="329184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9" name="Image 2" descr="/tmp/claude-0/-home-user-DGA/40039038-fa43-5484-a6e6-661fd38b862b/scratchpad/incubator-deck/assets/icons/app-worksho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5625" y="2066544"/>
            <a:ext cx="457200" cy="4572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477780" y="2670048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ورش عمل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7514356" y="3090672"/>
            <a:ext cx="1739737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ورش قصيرة ومتخصصة تعمل بالتوازي مع البرنامج.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5079675" y="1828800"/>
            <a:ext cx="2032345" cy="329184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3" name="Image 3" descr="/tmp/claude-0/-home-user-DGA/40039038-fa43-5484-a6e6-661fd38b862b/scratchpad/incubator-deck/assets/icons/app-consu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248" y="2066544"/>
            <a:ext cx="457200" cy="4572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189403" y="2670048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جلسات استشارية</a:t>
            </a:r>
            <a:endParaRPr lang="en-US" sz="1200" dirty="0"/>
          </a:p>
        </p:txBody>
      </p:sp>
      <p:sp>
        <p:nvSpPr>
          <p:cNvPr id="15" name="Text 9"/>
          <p:cNvSpPr txBox="1"/>
          <p:nvPr/>
        </p:nvSpPr>
        <p:spPr>
          <a:xfrm>
            <a:off x="5225979" y="3090672"/>
            <a:ext cx="1739737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لقاءات مباشرة بين الباحثين وأصحاب الاحتياج.</a:t>
            </a:r>
            <a:endParaRPr lang="en-US" sz="1050" dirty="0"/>
          </a:p>
        </p:txBody>
      </p:sp>
      <p:sp>
        <p:nvSpPr>
          <p:cNvPr id="16" name="Shape 10"/>
          <p:cNvSpPr/>
          <p:nvPr/>
        </p:nvSpPr>
        <p:spPr>
          <a:xfrm>
            <a:off x="2791297" y="1828800"/>
            <a:ext cx="2032345" cy="329184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7" name="Image 4" descr="/tmp/claude-0/-home-user-DGA/40039038-fa43-5484-a6e6-661fd38b862b/scratchpad/incubator-deck/assets/icons/app-liv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870" y="2066544"/>
            <a:ext cx="457200" cy="4572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901025" y="2670048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عروض حية</a:t>
            </a:r>
            <a:endParaRPr lang="en-US" sz="1200" dirty="0"/>
          </a:p>
        </p:txBody>
      </p:sp>
      <p:sp>
        <p:nvSpPr>
          <p:cNvPr id="19" name="Text 12"/>
          <p:cNvSpPr txBox="1"/>
          <p:nvPr/>
        </p:nvSpPr>
        <p:spPr>
          <a:xfrm>
            <a:off x="2937601" y="3090672"/>
            <a:ext cx="1739737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عرض تجارب وحلول تقنية مباشرة أمام الحضور.</a:t>
            </a:r>
            <a:endParaRPr lang="en-US" sz="1050" dirty="0"/>
          </a:p>
        </p:txBody>
      </p:sp>
      <p:sp>
        <p:nvSpPr>
          <p:cNvPr id="20" name="Shape 13"/>
          <p:cNvSpPr/>
          <p:nvPr/>
        </p:nvSpPr>
        <p:spPr>
          <a:xfrm>
            <a:off x="502920" y="1828800"/>
            <a:ext cx="2032345" cy="3291840"/>
          </a:xfrm>
          <a:prstGeom prst="roundRect">
            <a:avLst>
              <a:gd name="adj" fmla="val 4049"/>
            </a:avLst>
          </a:prstGeom>
          <a:solidFill>
            <a:srgbClr val="F7F6FB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21" name="Image 5" descr="/tmp/claude-0/-home-user-DGA/40039038-fa43-5484-a6e6-661fd38b862b/scratchpad/incubator-deck/assets/icons/app-la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0493" y="2066544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612648" y="2670048"/>
            <a:ext cx="181288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مختبرات الذكاء الاصطناعي والتقنيات الناشئة</a:t>
            </a:r>
            <a:endParaRPr lang="en-US" sz="1200" dirty="0"/>
          </a:p>
        </p:txBody>
      </p:sp>
      <p:sp>
        <p:nvSpPr>
          <p:cNvPr id="23" name="Text 15"/>
          <p:cNvSpPr txBox="1"/>
          <p:nvPr/>
        </p:nvSpPr>
        <p:spPr>
          <a:xfrm>
            <a:off x="649224" y="3090672"/>
            <a:ext cx="1739737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مساحات تجريبية لاستكشاف تقنيات وأدوات ناشئة.</a:t>
            </a:r>
            <a:endParaRPr lang="en-US" sz="1050" dirty="0"/>
          </a:p>
        </p:txBody>
      </p:sp>
      <p:sp>
        <p:nvSpPr>
          <p:cNvPr id="24" name="Text 16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ملحق 3</a:t>
            </a:r>
            <a:endParaRPr lang="en-US" sz="1000" dirty="0"/>
          </a:p>
        </p:txBody>
      </p:sp>
      <p:sp>
        <p:nvSpPr>
          <p:cNvPr id="25" name="Text 17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26" name="Text 18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ملحق — مبادرة حاضنة الأبحاث</a:t>
            </a:r>
            <a:endParaRPr lang="en-US" sz="1000" dirty="0"/>
          </a:p>
        </p:txBody>
      </p:sp>
      <p:pic>
        <p:nvPicPr>
          <p:cNvPr id="27" name="Image 6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7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الملحق 4 — نطاق الأبحاث بالتفصيل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502920" y="1417320"/>
            <a:ext cx="11185855" cy="786384"/>
          </a:xfrm>
          <a:prstGeom prst="roundRect">
            <a:avLst>
              <a:gd name="adj" fmla="val 9302"/>
            </a:avLst>
          </a:prstGeom>
          <a:solidFill>
            <a:srgbClr val="F7F6FB"/>
          </a:solidFill>
          <a:ln/>
        </p:spPr>
      </p:sp>
      <p:pic>
        <p:nvPicPr>
          <p:cNvPr id="5" name="Image 1" descr="/tmp/claude-0/-home-user-DGA/40039038-fa43-5484-a6e6-661fd38b862b/scratchpad/incubator-deck/assets/icons/def-re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30407" y="1600200"/>
            <a:ext cx="420624" cy="42062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8671255" y="1508760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البحث العلمي</a:t>
            </a:r>
            <a:endParaRPr lang="en-US" sz="13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1417320"/>
            <a:ext cx="79397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دراسة منهجية تهدف إلى توليد معرفة جديدة أو اختبار فرضيات وحلول.</a:t>
            </a:r>
            <a:endParaRPr lang="en-US" sz="1150" dirty="0"/>
          </a:p>
        </p:txBody>
      </p:sp>
      <p:sp>
        <p:nvSpPr>
          <p:cNvPr id="8" name="Shape 4"/>
          <p:cNvSpPr/>
          <p:nvPr/>
        </p:nvSpPr>
        <p:spPr>
          <a:xfrm>
            <a:off x="502920" y="2331720"/>
            <a:ext cx="11185855" cy="786384"/>
          </a:xfrm>
          <a:prstGeom prst="roundRect">
            <a:avLst>
              <a:gd name="adj" fmla="val 9302"/>
            </a:avLst>
          </a:prstGeom>
          <a:solidFill>
            <a:srgbClr val="F7F6FB"/>
          </a:solidFill>
          <a:ln/>
        </p:spPr>
      </p:sp>
      <p:pic>
        <p:nvPicPr>
          <p:cNvPr id="9" name="Image 2" descr="/tmp/claude-0/-home-user-DGA/40039038-fa43-5484-a6e6-661fd38b862b/scratchpad/incubator-deck/assets/icons/def-fores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30407" y="2514600"/>
            <a:ext cx="420624" cy="42062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71255" y="2423160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الدراسة الاستشرافية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685800" y="2331720"/>
            <a:ext cx="79397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تحليل للاتجاهات المستقبلية لموضوع أو تقنية بهدف استشراف تطوراته.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502920" y="3246120"/>
            <a:ext cx="11185855" cy="786384"/>
          </a:xfrm>
          <a:prstGeom prst="roundRect">
            <a:avLst>
              <a:gd name="adj" fmla="val 9302"/>
            </a:avLst>
          </a:prstGeom>
          <a:solidFill>
            <a:srgbClr val="F7F6FB"/>
          </a:solidFill>
          <a:ln/>
        </p:spPr>
      </p:sp>
      <p:pic>
        <p:nvPicPr>
          <p:cNvPr id="13" name="Image 3" descr="/tmp/claude-0/-home-user-DGA/40039038-fa43-5484-a6e6-661fd38b862b/scratchpad/incubator-deck/assets/icons/def-stand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30407" y="3429000"/>
            <a:ext cx="420624" cy="42062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671255" y="3337560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الدراسة المعيارية</a:t>
            </a:r>
            <a:endParaRPr lang="en-US" sz="1300" dirty="0"/>
          </a:p>
        </p:txBody>
      </p:sp>
      <p:sp>
        <p:nvSpPr>
          <p:cNvPr id="15" name="Text 9"/>
          <p:cNvSpPr txBox="1"/>
          <p:nvPr/>
        </p:nvSpPr>
        <p:spPr>
          <a:xfrm>
            <a:off x="685800" y="3246120"/>
            <a:ext cx="79397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تحليل مقارن لمعايير أو ممارسات معتمدة لتحديد أنسبها.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502920" y="4160520"/>
            <a:ext cx="11185855" cy="786384"/>
          </a:xfrm>
          <a:prstGeom prst="roundRect">
            <a:avLst>
              <a:gd name="adj" fmla="val 9302"/>
            </a:avLst>
          </a:prstGeom>
          <a:solidFill>
            <a:srgbClr val="F7F6FB"/>
          </a:solidFill>
          <a:ln/>
        </p:spPr>
      </p:sp>
      <p:pic>
        <p:nvPicPr>
          <p:cNvPr id="17" name="Image 4" descr="/tmp/claude-0/-home-user-DGA/40039038-fa43-5484-a6e6-661fd38b862b/scratchpad/incubator-deck/assets/icons/def-repo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0407" y="4343400"/>
            <a:ext cx="420624" cy="42062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671255" y="4251960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التقرير</a:t>
            </a:r>
            <a:endParaRPr lang="en-US" sz="1300" dirty="0"/>
          </a:p>
        </p:txBody>
      </p:sp>
      <p:sp>
        <p:nvSpPr>
          <p:cNvPr id="19" name="Text 12"/>
          <p:cNvSpPr txBox="1"/>
          <p:nvPr/>
        </p:nvSpPr>
        <p:spPr>
          <a:xfrm>
            <a:off x="685800" y="4160520"/>
            <a:ext cx="79397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وثيقة تلخص نتائج أو معطيات حول موضوع محدد لدعم اتخاذ القرار.</a:t>
            </a:r>
            <a:endParaRPr lang="en-US" sz="1150" dirty="0"/>
          </a:p>
        </p:txBody>
      </p:sp>
      <p:sp>
        <p:nvSpPr>
          <p:cNvPr id="20" name="Shape 13"/>
          <p:cNvSpPr/>
          <p:nvPr/>
        </p:nvSpPr>
        <p:spPr>
          <a:xfrm>
            <a:off x="502920" y="5074920"/>
            <a:ext cx="11185855" cy="786384"/>
          </a:xfrm>
          <a:prstGeom prst="roundRect">
            <a:avLst>
              <a:gd name="adj" fmla="val 9302"/>
            </a:avLst>
          </a:prstGeom>
          <a:solidFill>
            <a:srgbClr val="F7F6FB"/>
          </a:solidFill>
          <a:ln/>
        </p:spPr>
      </p:sp>
      <p:pic>
        <p:nvPicPr>
          <p:cNvPr id="21" name="Image 5" descr="/tmp/claude-0/-home-user-DGA/40039038-fa43-5484-a6e6-661fd38b862b/scratchpad/incubator-deck/assets/icons/def-brief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30407" y="5257800"/>
            <a:ext cx="420624" cy="42062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8671255" y="5166360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الدراسة الموجزة</a:t>
            </a:r>
            <a:endParaRPr lang="en-US" sz="1300" dirty="0"/>
          </a:p>
        </p:txBody>
      </p:sp>
      <p:sp>
        <p:nvSpPr>
          <p:cNvPr id="23" name="Text 15"/>
          <p:cNvSpPr txBox="1"/>
          <p:nvPr/>
        </p:nvSpPr>
        <p:spPr>
          <a:xfrm>
            <a:off x="685800" y="5074920"/>
            <a:ext cx="79397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3A3A4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عرض مختصر ومركز لموضوع بحثي دون الخوض في كامل تفاصيله.</a:t>
            </a:r>
            <a:endParaRPr lang="en-US" sz="1150" dirty="0"/>
          </a:p>
        </p:txBody>
      </p:sp>
      <p:sp>
        <p:nvSpPr>
          <p:cNvPr id="24" name="Text 16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ملحق 4</a:t>
            </a:r>
            <a:endParaRPr lang="en-US" sz="1000" dirty="0"/>
          </a:p>
        </p:txBody>
      </p:sp>
      <p:sp>
        <p:nvSpPr>
          <p:cNvPr id="25" name="Text 17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26" name="Text 18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ملحق — مبادرة حاضنة الأبحاث</a:t>
            </a:r>
            <a:endParaRPr lang="en-US" sz="1000" dirty="0"/>
          </a:p>
        </p:txBody>
      </p:sp>
      <p:pic>
        <p:nvPicPr>
          <p:cNvPr id="27" name="Image 6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7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الملحق 5 — منظومة الجهات المستهدفة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4300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3A3A4A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تصنيف الجهات البحثية والجامعات ومراكز الأبحاث وفق مرحلة العلاقة مع الحاضنة.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8130845" y="1828800"/>
            <a:ext cx="3557930" cy="2194560"/>
          </a:xfrm>
          <a:prstGeom prst="roundRect">
            <a:avLst>
              <a:gd name="adj" fmla="val 3750"/>
            </a:avLst>
          </a:prstGeom>
          <a:solidFill>
            <a:srgbClr val="5B5B6E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6" name="Image 1" descr="/tmp/claude-0/-home-user-DGA/40039038-fa43-5484-a6e6-661fd38b862b/scratchpad/incubator-deck/assets/icons/ent-target-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1210" y="2066544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40573" y="2670048"/>
            <a:ext cx="33384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جهات مستهدفة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8277149" y="3090672"/>
            <a:ext cx="326532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1EEF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جامعات ومراكز أبحاث ضمن نطاق الاهتمام، لم يبدأ التواصل الرسمي معها بعد.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4316882" y="1828800"/>
            <a:ext cx="3557930" cy="2194560"/>
          </a:xfrm>
          <a:prstGeom prst="roundRect">
            <a:avLst>
              <a:gd name="adj" fmla="val 3750"/>
            </a:avLst>
          </a:prstGeom>
          <a:solidFill>
            <a:srgbClr val="7C32C9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0" name="Image 2" descr="/tmp/claude-0/-home-user-DGA/40039038-fa43-5484-a6e6-661fd38b862b/scratchpad/incubator-deck/assets/icons/ent-contacted-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248" y="2066544"/>
            <a:ext cx="457200" cy="4572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426610" y="2670048"/>
            <a:ext cx="33384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جهات تم التواصل معها</a:t>
            </a:r>
            <a:endParaRPr lang="en-US" sz="1350" dirty="0"/>
          </a:p>
        </p:txBody>
      </p:sp>
      <p:sp>
        <p:nvSpPr>
          <p:cNvPr id="12" name="Text 7"/>
          <p:cNvSpPr txBox="1"/>
          <p:nvPr/>
        </p:nvSpPr>
        <p:spPr>
          <a:xfrm>
            <a:off x="4463186" y="3090672"/>
            <a:ext cx="326532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1EEF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جهات جرى التواصل الأولي معها لبحث فرص التعاون.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502920" y="1828800"/>
            <a:ext cx="3557930" cy="2194560"/>
          </a:xfrm>
          <a:prstGeom prst="roundRect">
            <a:avLst>
              <a:gd name="adj" fmla="val 3750"/>
            </a:avLst>
          </a:prstGeom>
          <a:solidFill>
            <a:srgbClr val="1CC182"/>
          </a:solidFill>
          <a:ln/>
          <a:effectLst>
            <a:outerShdw sx="100000" sy="100000" kx="0" ky="0" algn="bl" rotWithShape="0" blurRad="101600" dist="25400" dir="5400000">
              <a:srgbClr val="2A206A">
                <a:alpha val="10000"/>
              </a:srgbClr>
            </a:outerShdw>
          </a:effectLst>
        </p:spPr>
      </p:sp>
      <p:pic>
        <p:nvPicPr>
          <p:cNvPr id="14" name="Image 3" descr="/tmp/claude-0/-home-user-DGA/40039038-fa43-5484-a6e6-661fd38b862b/scratchpad/incubator-deck/assets/icons/ent-advanced-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3285" y="2066544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12648" y="2670048"/>
            <a:ext cx="333847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جهات في مرحلة متقدمة</a:t>
            </a:r>
            <a:endParaRPr lang="en-US" sz="1350" dirty="0"/>
          </a:p>
        </p:txBody>
      </p:sp>
      <p:sp>
        <p:nvSpPr>
          <p:cNvPr id="16" name="Text 10"/>
          <p:cNvSpPr txBox="1"/>
          <p:nvPr/>
        </p:nvSpPr>
        <p:spPr>
          <a:xfrm>
            <a:off x="649224" y="3090672"/>
            <a:ext cx="326532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F1EEFA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جهات تسير في مسار تعاون فعلي مع الحاضنة.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502920" y="4343400"/>
            <a:ext cx="11185855" cy="640080"/>
          </a:xfrm>
          <a:prstGeom prst="roundRect">
            <a:avLst>
              <a:gd name="adj" fmla="val 11429"/>
            </a:avLst>
          </a:prstGeom>
          <a:solidFill>
            <a:srgbClr val="F0F4F8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685800" y="4343400"/>
            <a:ext cx="108200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00" dirty="0">
                <a:solidFill>
                  <a:srgbClr val="5B5B6E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تُستكمل القائمة بأسماء الجهات فور اعتماد نطاق التنفيذ والشراكات.</a:t>
            </a:r>
            <a:endParaRPr lang="en-US" sz="1200" dirty="0"/>
          </a:p>
        </p:txBody>
      </p:sp>
      <p:sp>
        <p:nvSpPr>
          <p:cNvPr id="19" name="Text 13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ملحق 5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ملحق — مبادرة حاضنة الأبحاث</a:t>
            </a:r>
            <a:endParaRPr lang="en-US" sz="1000" dirty="0"/>
          </a:p>
        </p:txBody>
      </p:sp>
      <p:pic>
        <p:nvPicPr>
          <p:cNvPr id="22" name="Image 4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5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DGA/40039038-fa43-5484-a6e6-661fd38b862b/scratchpad/incubator-deck/assets/logos/DGA Logo Landscap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1455" y="365760"/>
            <a:ext cx="1417320" cy="685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84048"/>
            <a:ext cx="951250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5000"/>
              </a:lnSpc>
              <a:buNone/>
            </a:pPr>
            <a:r>
              <a:rPr lang="en-US" sz="2600" dirty="0">
                <a:solidFill>
                  <a:srgbClr val="7C32C9"/>
                </a:solidFill>
                <a:latin typeface="Diodrum Arabic SemiBold" pitchFamily="34" charset="0"/>
                <a:ea typeface="Diodrum Arabic SemiBold" pitchFamily="34" charset="-122"/>
                <a:cs typeface="Diodrum Arabic SemiBold" pitchFamily="34" charset="-120"/>
              </a:rPr>
              <a:t>الملحق 6 — خارطة الشراكات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502920" y="117043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00ABA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مراحل خارطة الشراكات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9744212" y="1481328"/>
            <a:ext cx="1944563" cy="457200"/>
          </a:xfrm>
          <a:prstGeom prst="roundRect">
            <a:avLst>
              <a:gd name="adj" fmla="val 50000"/>
            </a:avLst>
          </a:prstGeom>
          <a:solidFill>
            <a:srgbClr val="2A206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744212" y="1481328"/>
            <a:ext cx="19445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1. الرصد والتحديد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7433889" y="1481328"/>
            <a:ext cx="1944563" cy="457200"/>
          </a:xfrm>
          <a:prstGeom prst="roundRect">
            <a:avLst>
              <a:gd name="adj" fmla="val 50000"/>
            </a:avLst>
          </a:prstGeom>
          <a:solidFill>
            <a:srgbClr val="2A206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433889" y="1481328"/>
            <a:ext cx="19445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2. التواصل الأولي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123566" y="1481328"/>
            <a:ext cx="1944563" cy="457200"/>
          </a:xfrm>
          <a:prstGeom prst="roundRect">
            <a:avLst>
              <a:gd name="adj" fmla="val 50000"/>
            </a:avLst>
          </a:prstGeom>
          <a:solidFill>
            <a:srgbClr val="2A206A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123566" y="1481328"/>
            <a:ext cx="19445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3. المواءمة والتفاوض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813243" y="1481328"/>
            <a:ext cx="1944563" cy="457200"/>
          </a:xfrm>
          <a:prstGeom prst="roundRect">
            <a:avLst>
              <a:gd name="adj" fmla="val 50000"/>
            </a:avLst>
          </a:prstGeom>
          <a:solidFill>
            <a:srgbClr val="2A206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813243" y="1481328"/>
            <a:ext cx="19445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4. توقيع الاتفاق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02920" y="1481328"/>
            <a:ext cx="1944563" cy="457200"/>
          </a:xfrm>
          <a:prstGeom prst="roundRect">
            <a:avLst>
              <a:gd name="adj" fmla="val 50000"/>
            </a:avLst>
          </a:prstGeom>
          <a:solidFill>
            <a:srgbClr val="2A206A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2920" y="1481328"/>
            <a:ext cx="19445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5. التفعيل والتنفيذ</a:t>
            </a:r>
            <a:endParaRPr lang="en-US" sz="10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2194560"/>
          <a:ext cx="11185855" cy="3108960"/>
        </p:xfrm>
        <a:graphic>
          <a:graphicData uri="http://schemas.openxmlformats.org/drawingml/2006/table">
            <a:tbl>
              <a:tblPr/>
              <a:tblGrid>
                <a:gridCol w="3728618"/>
                <a:gridCol w="3728618"/>
                <a:gridCol w="3728618"/>
              </a:tblGrid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الجهة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المرحلة الحالية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B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الخطوة التالية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ABA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جهة 1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TBD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TBD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جهة 2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TBD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TBD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جهة 3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TBD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TBD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جهة 4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TBD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TBD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6FB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جهة 5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TBD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4A"/>
                          </a:solidFill>
                          <a:latin typeface="Diodrum Arabic Medium" pitchFamily="34" charset="0"/>
                          <a:ea typeface="Diodrum Arabic Medium" pitchFamily="34" charset="-122"/>
                          <a:cs typeface="Diodrum Arabic Medium" pitchFamily="34" charset="-120"/>
                        </a:rPr>
                        <a:t>TBD</a:t>
                      </a:r>
                      <a:endParaRPr lang="en-US" sz="1200" dirty="0">
                        <a:latin typeface="Diodrum Arabic Medium" charset="0"/>
                        <a:ea typeface="Diodrum Arabic Medium" charset="0"/>
                        <a:cs typeface="Diodrum Arabic Medium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5DE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 12"/>
          <p:cNvSpPr txBox="1"/>
          <p:nvPr/>
        </p:nvSpPr>
        <p:spPr>
          <a:xfrm>
            <a:off x="502920" y="548640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1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تُستكمل الخارطة بأسماء الجهات الفعلية ومراحلها بعد اعتماد نطاق التنفيذ.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50292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ملحق 6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4632808" y="643737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CC182"/>
                </a:solidFill>
                <a:latin typeface="Diodrum Arabic Medium" pitchFamily="34" charset="0"/>
                <a:ea typeface="Diodrum Arabic Medium" pitchFamily="34" charset="-122"/>
                <a:cs typeface="Diodrum Arabic Medium" pitchFamily="34" charset="-120"/>
              </a:rPr>
              <a:t>مقيّد — Restricted</a:t>
            </a:r>
            <a:endParaRPr lang="en-US" sz="1000" dirty="0"/>
          </a:p>
        </p:txBody>
      </p:sp>
      <p:sp>
        <p:nvSpPr>
          <p:cNvPr id="19" name="Text 15"/>
          <p:cNvSpPr txBox="1"/>
          <p:nvPr/>
        </p:nvSpPr>
        <p:spPr>
          <a:xfrm>
            <a:off x="8396935" y="643737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1000" dirty="0">
                <a:solidFill>
                  <a:srgbClr val="5B5B6E"/>
                </a:solidFill>
                <a:latin typeface="Diodrum Arabic Regular" pitchFamily="34" charset="0"/>
                <a:ea typeface="Diodrum Arabic Regular" pitchFamily="34" charset="-122"/>
                <a:cs typeface="Diodrum Arabic Regular" pitchFamily="34" charset="-120"/>
              </a:rPr>
              <a:t>ملحق — مبادرة حاضنة الأبحاث</a:t>
            </a:r>
            <a:endParaRPr lang="en-US" sz="1000" dirty="0"/>
          </a:p>
        </p:txBody>
      </p:sp>
      <p:pic>
        <p:nvPicPr>
          <p:cNvPr id="20" name="Image 1" descr="/tmp/claude-0/-home-user-DGA/40039038-fa43-5484-a6e6-661fd38b862b/scratchpad/incubator-deck/assets/logos/DGA Logo Landscape-03.png">    </p:cNvPr>
          <p:cNvPicPr>
            <a:picLocks noChangeAspect="1"/>
          </p:cNvPicPr>
          <p:nvPr/>
        </p:nvPicPr>
        <p:blipFill>
          <a:blip r:embed="rId2">
            <a:alphaModFix amt="65000"/>
          </a:blip>
          <a:stretch>
            <a:fillRect/>
          </a:stretch>
        </p:blipFill>
        <p:spPr>
          <a:xfrm>
            <a:off x="11542471" y="6455664"/>
            <a:ext cx="146304" cy="2130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مبادرة حاضنة الأبحاث</dc:title>
  <dc:subject>ملتقى البحث والابتكار الحكومي</dc:subject>
  <dc:creator>هيئة الحكومة الرقمية</dc:creator>
  <cp:lastModifiedBy>هيئة الحكومة الرقمية</cp:lastModifiedBy>
  <cp:revision>1</cp:revision>
  <dcterms:created xsi:type="dcterms:W3CDTF">2026-09-09T12:43:34Z</dcterms:created>
  <dcterms:modified xsi:type="dcterms:W3CDTF">2026-09-09T12:43:34Z</dcterms:modified>
</cp:coreProperties>
</file>