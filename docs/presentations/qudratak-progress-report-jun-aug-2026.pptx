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rts/chart1.xml" ContentType="application/vnd.openxmlformats-officedocument.drawingml.chart+xml"/>
  <Override PartName="/ppt/commentAuthors.xml" ContentType="application/vnd.openxmlformats-officedocument.presentationml.commentAuthors+xml"/>
  <Override PartName="/ppt/drawings/vmlDrawing1.vml" ContentType="application/vnd.openxmlformats-officedocument.vmlDrawing"/>
  <Override PartName="/ppt/embeddings/oleObject1.bin" ContentType="application/vnd.openxmlformats-officedocument.oleObject"/>
  <Override PartName="/ppt/handoutMasters/handoutMaster1.xml" ContentType="application/vnd.openxmlformats-officedocument.presentationml.handoutMaster+xml"/>
  <Override PartName="/ppt/media/image11.svg" ContentType="image/svg+xml"/>
  <Override PartName="/ppt/media/image13.svg" ContentType="image/svg+xml"/>
  <Override PartName="/ppt/media/image21.svg" ContentType="image/svg+xml"/>
  <Override PartName="/ppt/media/image23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79" r:id="rId4"/>
    <p:sldMasterId id="2147483716" r:id="rId5"/>
    <p:sldMasterId id="2147483722" r:id="rId6"/>
  </p:sldMasterIdLst>
  <p:notesMasterIdLst>
    <p:notesMasterId r:id="rId22"/>
  </p:notesMasterIdLst>
  <p:handoutMasterIdLst>
    <p:handoutMasterId r:id="rId23"/>
  </p:handoutMasterIdLst>
  <p:sldIdLst>
    <p:sldId id="294" r:id="rId7"/>
    <p:sldId id="349" r:id="rId8"/>
    <p:sldId id="2147483623" r:id="rId79"/>
    <p:sldId id="325" r:id="rId9"/>
    <p:sldId id="2147483616" r:id="rId10"/>
    <p:sldId id="2147483613" r:id="rId11"/>
    <p:sldId id="2147483624" r:id="rId80"/>
    <p:sldId id="2147483617" r:id="rId12"/>
    <p:sldId id="2147483618" r:id="rId13"/>
    <p:sldId id="329" r:id="rId14"/>
    <p:sldId id="2147483619" r:id="rId15"/>
    <p:sldId id="2147483610" r:id="rId16"/>
    <p:sldId id="2147483621" r:id="rId17"/>
    <p:sldId id="2147483620" r:id="rId18"/>
    <p:sldId id="2147483622" r:id="rId19"/>
    <p:sldId id="2147483614" r:id="rId20"/>
    <p:sldId id="2147483627" r:id="rId83"/>
    <p:sldId id="2147483628" r:id="rId84"/>
    <p:sldId id="2147483625" r:id="rId81"/>
    <p:sldId id="2147483629" r:id="rId85"/>
    <p:sldId id="2147483626" r:id="rId82"/>
    <p:sldId id="320" r:id="rId21"/>
  </p:sldIdLst>
  <p:sldSz cx="12192000" cy="6858000"/>
  <p:notesSz cx="6858000" cy="9144000"/>
  <p:custDataLst>
    <p:tags r:id="rId24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7DDF5801-A063-429A-AA4E-1969D62BAAAF}">
          <p14:sldIdLst>
            <p14:sldId id="294"/>
            <p14:sldId id="349"/>
            <p14:sldId id="325"/>
          </p14:sldIdLst>
        </p14:section>
        <p14:section name="مسار البرامج التدريبية" id="{61408B1E-9ABD-4980-AFCB-AD1538D06A3C}">
          <p14:sldIdLst>
            <p14:sldId id="2147483616"/>
            <p14:sldId id="2147483613"/>
            <p14:sldId id="2147483617"/>
            <p14:sldId id="2147483618"/>
            <p14:sldId id="329"/>
            <p14:sldId id="2147483619"/>
            <p14:sldId id="2147483610"/>
            <p14:sldId id="2147483621"/>
            <p14:sldId id="2147483620"/>
            <p14:sldId id="2147483622"/>
            <p14:sldId id="2147483614"/>
          </p14:sldIdLst>
        </p14:section>
        <p14:section name="نهاية العرض" id="{75E49240-5198-4F1A-8014-9FA6575A1508}">
          <p14:sldIdLst>
            <p14:sldId id="320"/>
          </p14:sldIdLst>
        </p14:section>
      </p14:sectionLst>
    </p:ext>
    <p:ext uri="{EFAFB233-063F-42B5-8137-9DF3F51BA10A}">
      <p15:sldGuideLst xmlns:p15="http://schemas.microsoft.com/office/powerpoint/2012/main">
        <p15:guide id="13" orient="horz" pos="696" userDrawn="1">
          <p15:clr>
            <a:srgbClr val="747775"/>
          </p15:clr>
        </p15:guide>
        <p15:guide id="14" pos="520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  <p:ext uri="GoogleSlidesCustomDataVersion2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="" r:id="rId71" roundtripDataSignature="AMtx7mjAU0Y3v7DXlz+nN9JS6badfmPRrA==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6CF5E13-138D-E1EB-EE38-9B74363BEEE7}" name="Rahaf Malahmeh (MiddleEast)" initials="R(" userId="S::rahaf.malahmeh@pwc.com::123d9b2d-8ec4-4166-836a-50dbd25760d9" providerId="AD"/>
  <p188:author id="{0B19A615-6F88-AD26-D565-AB44C93A3177}" name="Majd Al-Bdour (MiddleEast)" initials="M(" userId="S::majd.al-bdour@pwc.com::0c8a30ba-1a36-41bc-ac0d-cbace8bb5b9a" providerId="AD"/>
  <p188:author id="{81535754-E30A-F32C-A77B-C01E555E3DC2}" name="Abdullah A. Bin Jadid" initials="AB" userId="S::ajadid@dga.gov.sa::2088b910-735c-4925-93b2-2c6b2ba688e6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Rahaf Malahmeh (MiddleEast)" initials="" lastIdx="21" clrIdx="0"/>
  <p:cmAuthor id="1" name="Rahaf Malahmeh (MiddleEast)" initials="R(" lastIdx="22" clrIdx="1">
    <p:extLst>
      <p:ext uri="{19B8F6BF-5375-455C-9EA6-DF929625EA0E}">
        <p15:presenceInfo xmlns:p15="http://schemas.microsoft.com/office/powerpoint/2012/main" userId="S::rahaf.malahmeh@pwc.com::123d9b2d-8ec4-4166-836a-50dbd25760d9" providerId="AD"/>
      </p:ext>
    </p:extLst>
  </p:cmAuthor>
  <p:cmAuthor id="2" name="Majd Al-Bdour (MiddleEast)" initials="M(" lastIdx="1" clrIdx="2">
    <p:extLst>
      <p:ext uri="{19B8F6BF-5375-455C-9EA6-DF929625EA0E}">
        <p15:presenceInfo xmlns:p15="http://schemas.microsoft.com/office/powerpoint/2012/main" userId="S::majd.al-bdour@pwc.com::0c8a30ba-1a36-41bc-ac0d-cbace8bb5b9a" providerId="AD"/>
      </p:ext>
    </p:extLst>
  </p:cmAuthor>
  <p:cmAuthor id="3" name="Sara Al Hennawi (MiddleEast)" initials="" lastIdx="5" clrIdx="3">
    <p:extLst>
      <p:ext uri="{19B8F6BF-5375-455C-9EA6-DF929625EA0E}">
        <p15:presenceInfo xmlns:p15="http://schemas.microsoft.com/office/powerpoint/2012/main" userId="S::sara.al.hennawi@pwc.com::a3802152-1a38-47b3-8168-015baa731156" providerId="AD"/>
      </p:ext>
    </p:extLst>
  </p:cmAuthor>
  <p:cmAuthor id="4" name="Abdullah A. Bin Jadid" initials="AABJ" lastIdx="26" clrIdx="4">
    <p:extLst>
      <p:ext uri="{19B8F6BF-5375-455C-9EA6-DF929625EA0E}">
        <p15:presenceInfo xmlns:p15="http://schemas.microsoft.com/office/powerpoint/2012/main" userId="S::ajadid@dga.gov.sa::2088b910-735c-4925-93b2-2c6b2ba688e6" providerId="AD"/>
      </p:ext>
    </p:extLst>
  </p:cmAuthor>
  <p:cmAuthor id="5" name="Omniah A. Jadaan" initials="OAJ" lastIdx="1" clrIdx="5">
    <p:extLst>
      <p:ext uri="{19B8F6BF-5375-455C-9EA6-DF929625EA0E}">
        <p15:presenceInfo xmlns:p15="http://schemas.microsoft.com/office/powerpoint/2012/main" userId="S::ojadaan@dga.gov.sa::3a1fad94-7af4-4236-9eb4-cd7dd993ffec" providerId="AD"/>
      </p:ext>
    </p:extLst>
  </p:cmAuthor>
  <p:cmAuthor id="6" name="Bushra H. Alqahtani" initials="BA" lastIdx="1" clrIdx="6">
    <p:extLst>
      <p:ext uri="{19B8F6BF-5375-455C-9EA6-DF929625EA0E}">
        <p15:presenceInfo xmlns:p15="http://schemas.microsoft.com/office/powerpoint/2012/main" userId="S::bqahtani_p@dga.gov.sa::9801278f-7c10-49f7-8dc3-8e17a4faaf8e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CC182"/>
    <a:srgbClr val="159162"/>
    <a:srgbClr val="E9E8F0"/>
    <a:srgbClr val="2A206A"/>
    <a:srgbClr val="1C1352"/>
    <a:srgbClr val="EBF8F9"/>
    <a:srgbClr val="F5EFFB"/>
    <a:srgbClr val="00ABAF"/>
    <a:srgbClr val="817CD8"/>
    <a:srgbClr val="5C53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40FB067-D736-3F83-F5D4-E4E90BD61651}" v="5" dt="2026-07-29T23:05:00.378"/>
    <p1510:client id="{96EB358E-78C1-4667-9851-6EBE1DA651F7}" v="109" dt="2026-07-29T20:03:25.964"/>
    <p1510:client id="{E17976A6-0344-488F-FA83-5FC0D28B1195}" v="4" dt="2026-07-30T03:43:13.50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068" autoAdjust="0"/>
    <p:restoredTop sz="94670" autoAdjust="0"/>
  </p:normalViewPr>
  <p:slideViewPr>
    <p:cSldViewPr snapToGrid="0">
      <p:cViewPr varScale="1">
        <p:scale>
          <a:sx n="76" d="100"/>
          <a:sy n="76" d="100"/>
        </p:scale>
        <p:origin x="484" y="64"/>
      </p:cViewPr>
      <p:guideLst>
        <p:guide orient="horz" pos="696"/>
        <p:guide pos="5208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2" d="100"/>
          <a:sy n="52" d="100"/>
        </p:scale>
        <p:origin x="2680" y="48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22.xml"/><Relationship Id="rId22" Type="http://schemas.openxmlformats.org/officeDocument/2006/relationships/notesMaster" Target="notesMasters/notesMaster1.xml"/><Relationship Id="rId23" Type="http://schemas.openxmlformats.org/officeDocument/2006/relationships/handoutMaster" Target="handoutMasters/handoutMaster1.xml"/><Relationship Id="rId24" Type="http://schemas.openxmlformats.org/officeDocument/2006/relationships/tags" Target="tags/tag1.xml"/><Relationship Id="rId71" Type="http://customschemas.google.com/relationships/presentationmetadata" Target="metadata"/><Relationship Id="rId72" Type="http://schemas.openxmlformats.org/officeDocument/2006/relationships/commentAuthors" Target="commentAuthors.xml"/><Relationship Id="rId73" Type="http://schemas.openxmlformats.org/officeDocument/2006/relationships/presProps" Target="presProps.xml"/><Relationship Id="rId74" Type="http://schemas.openxmlformats.org/officeDocument/2006/relationships/viewProps" Target="viewProps.xml"/><Relationship Id="rId75" Type="http://schemas.openxmlformats.org/officeDocument/2006/relationships/theme" Target="theme/theme1.xml"/><Relationship Id="rId76" Type="http://schemas.openxmlformats.org/officeDocument/2006/relationships/tableStyles" Target="tableStyles.xml"/><Relationship Id="rId77" Type="http://schemas.microsoft.com/office/2015/10/relationships/revisionInfo" Target="revisionInfo.xml"/><Relationship Id="rId78" Type="http://schemas.microsoft.com/office/2018/10/relationships/authors" Target="authors.xml"/><Relationship Id="rId79" Type="http://schemas.openxmlformats.org/officeDocument/2006/relationships/slide" Target="slides/slide3.xml"/><Relationship Id="rId80" Type="http://schemas.openxmlformats.org/officeDocument/2006/relationships/slide" Target="slides/slide7.xml"/><Relationship Id="rId81" Type="http://schemas.openxmlformats.org/officeDocument/2006/relationships/slide" Target="slides/slide19.xml"/><Relationship Id="rId82" Type="http://schemas.openxmlformats.org/officeDocument/2006/relationships/slide" Target="slides/slide21.xml"/><Relationship Id="rId83" Type="http://schemas.openxmlformats.org/officeDocument/2006/relationships/slide" Target="slides/slide17.xml"/><Relationship Id="rId84" Type="http://schemas.openxmlformats.org/officeDocument/2006/relationships/slide" Target="slides/slide18.xml"/><Relationship Id="rId85" Type="http://schemas.openxmlformats.org/officeDocument/2006/relationships/slide" Target="slides/slide2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المستفيدون</c:v>
                </c:pt>
              </c:strCache>
            </c:strRef>
          </c:tx>
          <c:spPr>
            <a:solidFill>
              <a:srgbClr val="7C32C9"/>
            </a:solidFill>
          </c:spPr>
          <c:cat>
            <c:strRef>
              <c:f>Sheet1!$A$2:$A$4</c:f>
              <c:strCache>
                <c:ptCount val="3"/>
                <c:pt idx="0">
                  <c:v>يونيو</c:v>
                </c:pt>
                <c:pt idx="1">
                  <c:v>يوليو</c:v>
                </c:pt>
                <c:pt idx="2">
                  <c:v>أغسطس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142</c:v>
                </c:pt>
                <c:pt idx="1">
                  <c:v>190</c:v>
                </c:pt>
                <c:pt idx="2">
                  <c:v>175</c:v>
                </c:pt>
              </c:numCache>
            </c:numRef>
          </c:val>
        </c:ser>
        <c:dLbls>
          <c:txPr>
            <a:bodyPr/>
            <a:lstStyle/>
            <a:p>
              <a:pPr>
                <a:defRPr sz="1200" b="1">
                  <a:solidFill>
                    <a:srgbClr val="7C32C9"/>
                  </a:solidFill>
                  <a:latin typeface="DiodrumArabic-Bold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9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1E0EC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30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2A206A"/>
          </a:solidFill>
          <a:latin typeface="DiodrumArabic-Medium"/>
        </a:defRPr>
      </a:pPr>
      <a:endParaRPr lang="en-US"/>
    </a:p>
  </c:txPr>
  <c:externalData r:id="rId1">
    <c:autoUpdate val="0"/>
  </c:externalData>
</c:chartSpace>
</file>

<file path=ppt/drawings/_rels/vmlDrawing1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28A867B-D7D3-4EDA-A3E0-67AB187A6C2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ar-S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1FD7D4-7A9B-4602-B38F-56F603CC93C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fld id="{D4A1D845-991A-4263-B27E-E8E262E8A34B}" type="datetimeFigureOut">
              <a:rPr lang="ar-SA" smtClean="0"/>
              <a:t>20/03/1448</a:t>
            </a:fld>
            <a:endParaRPr lang="ar-SA"/>
          </a:p>
        </p:txBody>
      </p:sp>
      <p:sp>
        <p:nvSpPr>
          <p:cNvPr id="4" name="SecloreFooter">
            <a:extLst>
              <a:ext uri="{FF2B5EF4-FFF2-40B4-BE49-F238E27FC236}">
                <a16:creationId xmlns:a16="http://schemas.microsoft.com/office/drawing/2014/main" id="{E4082563-6D51-40FA-BC06-63AE771A6B1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68580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r>
              <a:rPr lang="en-US">
                <a:solidFill>
                  <a:srgbClr val="F0C231"/>
                </a:solidFill>
              </a:rPr>
              <a:t>Restricted - </a:t>
            </a:r>
            <a:r>
              <a:rPr lang="ar-SA">
                <a:solidFill>
                  <a:srgbClr val="F0C231"/>
                </a:solidFill>
              </a:rPr>
              <a:t>مقيد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9FFF88-2A1A-4E70-9568-B72A7C240E1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fld id="{EAE3F93F-AB96-48B1-BDA5-BC3425C02EF4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65550238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" name="SecloreFooter">
            <a:extLst>
              <a:ext uri="{FF2B5EF4-FFF2-40B4-BE49-F238E27FC236}">
                <a16:creationId xmlns:a16="http://schemas.microsoft.com/office/drawing/2014/main" id="{4302BA8B-D1CB-4231-9CD2-6F3897141E1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68580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200">
                <a:solidFill>
                  <a:srgbClr val="F0C231"/>
                </a:solidFill>
              </a:defRPr>
            </a:lvl1pPr>
          </a:lstStyle>
          <a:p>
            <a:r>
              <a:rPr lang="en-US"/>
              <a:t>Restricted - </a:t>
            </a:r>
            <a:r>
              <a:rPr lang="ar-SA"/>
              <a:t>مقيد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hd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فاصل فرعي. الرسالة: المنجز التراكمي 1,273 مستفيداً أي 71% من مستهدف العام، و507 منهم تحققوا خلال الربع الحالي.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40082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الشريط العلوي يعرض المنجز التراكمي: 1,273 مستفيداً (71% من 1,800)، و54 برنامجاً وورشة عمل حضورية (31 برنامجاً و23 ورشة)، منها 13 أقيمت في مركز الابتكار (24%).</a:t>
            </a:r>
          </a:p>
          <a:p>
            <a:r>
              <a:t>القراءة التنفيذية: الفجوة المتبقية 527 مستفيداً على 4 أشهر تعني 132 مستفيداً شهرياً. وتيرة الربع الحالي 169 شهرياً، أي أعلى من المطلوب بنحو 28%. الخلاصة: المستهدف قابل للتحقق دون الحاجة لتسريع إضافي، لكن أي تراجع في الوتيرة (كما حدث في يونيو: 142) يقلص هامش الأمان.</a:t>
            </a:r>
          </a:p>
          <a:p>
            <a:r>
              <a:t>نقطة للنقاش إن طُرحت: هل يشمل الرقم التراكمي المستفيدين الافتراضيين؟ الأرقام هنا وفق منهجية احتساب البرنامج المعتمدة.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92541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فاصل فرعي. الرسالة: خطة سبتمبر تتضمن 6 أنشطة، أغلبها في الذكاء الاصطناعي بما يتسق مع أولوية تمكين القيادات الحكومية.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F7021451-1387-4CA6-816F-3879F97B5CBC}" type="slidenum">
              <a:rPr kumimoji="0" lang="en-US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6</a:t>
            </a:fld>
            <a:endParaRPr kumimoji="0" lang="en-US" sz="1867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139580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خطة سبتمبر: 6 أنشطة (برنامج محلي واحد و5 ورش عمل). الجدول يعرض أبرز 5 أنشطة منها.</a:t>
            </a:r>
          </a:p>
          <a:p>
            <a:r>
              <a:t>الشركاء: جامعة الملك سعود (ورشة الابتكار والتطبيقات الحكومية للذكاء الاصطناعي)، وجامعة شريكة لورشة الذكاء الاصطناعي والأتمتة، وGoogle Cloud لورشة Innovation &amp; AI Enablement.</a:t>
            </a:r>
          </a:p>
          <a:p>
            <a:r>
              <a:t>الرسالة: 4 من 5 أنشطة في الذكاء الاصطناعي، وهو ما يخدم مباشرة مبادرة تمكين القيادات مع وزارة الاتصالات (المحور 2.1).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F7021451-1387-4CA6-816F-3879F97B5CBC}" type="slidenum">
              <a:rPr kumimoji="0" lang="en-US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7</a:t>
            </a:fld>
            <a:endParaRPr kumimoji="0" lang="en-US" sz="1867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006874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فاصل فرعي. الرسالة: متطلبان من ثلاثة منجزان، والمتطلب الأول متوقف عند الوزارة.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F7021451-1387-4CA6-816F-3879F97B5CBC}" type="slidenum">
              <a:rPr kumimoji="0" lang="en-US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9</a:t>
            </a:fld>
            <a:endParaRPr kumimoji="0" lang="en-US" sz="1867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579916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441F58-B307-E8B2-2C25-42F54653F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B576B5-8447-1AD4-9F61-B8DB34CE2B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7DE9C9-FA81-430B-9D72-61B0304297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المبادرة المشتركة مع وزارة الاتصالات تتضمن ثلاثة متطلبات على برنامج قدراتك.</a:t>
            </a:r>
          </a:p>
          <a:p>
            <a:r>
              <a:t>المتطلب 1 (حصر البرامج والمستفيدين): أُرسل الاستبيان ولم يصل أي تفاعل من الوزارة. هذا هو المتطلب الوحيد المتعثر، وسببه خارج نطاق البرنامج.</a:t>
            </a:r>
          </a:p>
          <a:p>
            <a:r>
              <a:t>المتطلب 2 (بيانات العاملين): منجز؛ زُوّدت الوزارة بعدد 350 مديراً لتقنية المعلومات في القطاع الحكومي.</a:t>
            </a:r>
          </a:p>
          <a:p>
            <a:r>
              <a:t>المتطلب 3 (الدراسة): منجز؛ الدراسة الاستطلاعية «التدريب في الذكاء الاصطناعي» جاهزة وتحدد احتياجات القيادات وآفاق تطويرها.</a:t>
            </a:r>
          </a:p>
          <a:p>
            <a:r>
              <a:t>المطلوب من القيادة: دعم التصعيد مع الوزارة لتفعيل الاستجابة على الاستبيان، لأن قاعدة بيانات البرامج والمستفيدين هي أساس بقية المبادرة.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333A3E-9B77-A548-C849-57D3DD734E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69499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فاصل فرعي. الرسالة: المبادرة تستهدف 7 جهات ذات نتائج متدنية في القياس؛ بدأ العمل الفعلي مع جهتين، وخمس جهات لا تزال في مرحلة التواصل.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F7021451-1387-4CA6-816F-3879F97B5CBC}" type="slidenum">
              <a:rPr kumimoji="0" lang="en-US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11</a:t>
            </a:fld>
            <a:endParaRPr kumimoji="0" lang="en-US" sz="1867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344062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441F58-B307-E8B2-2C25-42F54653F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B576B5-8447-1AD4-9F61-B8DB34CE2B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7DE9C9-FA81-430B-9D72-61B0304297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المبادرة تستهدف 7 جهات حكومية ذات نتائج متدنية في القياس واستفادة محدودة من خدمات الإدارة العامة.</a:t>
            </a:r>
          </a:p>
          <a:p>
            <a:r>
              <a:t>مراحل المبادرة ثماني مراحل من تحديد الجهات وحتى مناقشة الحل المقترح. المرحلة الأولى منجزة، والجهات موزعة حالياً بين مراحل التواصل والاجتماع التشخيصي.</a:t>
            </a:r>
          </a:p>
          <a:p>
            <a:r>
              <a:t>الوضع الراهن: بدأ العمل مع جامعة الطائف وأمانة منطقة الحدود الشمالية، والخطوة القادمة معهما تحديد الاحتياج الفعلي. الجهات الخمس الأخرى في مرحلة التواصل، والخطوة القادمة تحديد موعد الاجتماع التشخيصي.</a:t>
            </a:r>
          </a:p>
          <a:p>
            <a:r>
              <a:t>نقطة انتباه: 5 من 7 جهات لم تتجاوز مرحلة التواصل بعد؛ قد يلزم مخاطبات رسمية على مستوى القيادات لتسريع تحديد الاجتماعات.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333A3E-9B77-A548-C849-57D3DD734E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18630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فاصل فرعي. الرسالة: ملف المشاركة مكتمل ومرفوع، والمشاركة الآن في مرحلة التحكيم.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F7021451-1387-4CA6-816F-3879F97B5CBC}" type="slidenum">
              <a:rPr kumimoji="0" lang="en-US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13</a:t>
            </a:fld>
            <a:endParaRPr kumimoji="0" lang="en-US" sz="1867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451280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441F58-B307-E8B2-2C25-42F54653F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B576B5-8447-1AD4-9F61-B8DB34CE2B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7DE9C9-FA81-430B-9D72-61B0304297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المشاركة في جائزة الحكومة الرقمية الخليجية 2026 (الدورة السابعة، مملكة البحرين) ضمن فئة أفضل مبادرة حكومية لبناء الكفاءات الرقمية.</a:t>
            </a:r>
          </a:p>
          <a:p>
            <a:r>
              <a:t>رحلة المشاركة ثلاث محطات: التسجيل ورفع الملفات (1 يوليو)، مرحلة التحكيم (1 سبتمبر)، وحفل تكريم الفائزين وإعلان النتيجة (8 أكتوبر).</a:t>
            </a:r>
          </a:p>
          <a:p>
            <a:r>
              <a:t>الحالة: جميع متطلبات المشاركة مستكملة ومرفوعة، والملف الآن لدى لجنة التحكيم. الملفات الداعمة: عرض تعريفي، فيديو تعريفي، وملف الإجابة على أسئلة الجائزة.</a:t>
            </a:r>
          </a:p>
          <a:p>
            <a:r>
              <a:t>مقترح: تجهيز خطة تواصل للنتيجة بالحالتين قبل 8 أكتوبر.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333A3E-9B77-A548-C849-57D3DD734E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7318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شريحة الغلاف. يُقدَّم هذا العرض بوصفه تقرير سير الأعمال الربعي لبرنامج القدرات الرقمية «قدراتك» عن الفترة يونيو – أغسطس 2026.</a:t>
            </a:r>
          </a:p>
          <a:p>
            <a:r>
              <a:t>الغرض: إطلاع القيادة على المنجز التراكمي مقابل مستهدف العام، وحالة المبادرات القائمة، والنقاط التي تتطلب قراراً أو دعماً.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الأجندة تتكون من ثلاثة محاور: (1) البرامج التدريبية: المنجز التراكمي ومنجز الربع ثم خطة سبتمبر. (2) المبادرات القائمة الثلاث وحالة كل منها. (3) الخلاصة: المخاطر ونقاط الدعم المطلوبة وخطة الفترة القادمة.</a:t>
            </a:r>
          </a:p>
          <a:p>
            <a:r>
              <a:t>يسبق المحاور الثلاثة ملخص تنفيذي في شريحة واحدة يمكن الاكتفاء به إذا ضاق الوقت.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الرسالة في سطر واحد: البرنامج على المسار لتحقيق مستهدف 2026، والمبادرات قائمة، مع نقطة واحدة تتطلب تدخلاً.</a:t>
            </a:r>
          </a:p>
          <a:p>
            <a:r>
              <a:t>قراءة الأرقام: 1,273 مستفيداً تراكمياً تمثل 71% من مستهدف 1,800. الفجوة المتبقية 527 مستفيداً خلال 4 أشهر (≈132 شهرياً)، بينما متوسط الربع الحالي 169 مستفيداً شهرياً، أي أن الوتيرة الحالية تكفي لإغلاق المستهدف بشرط استمرارها.</a:t>
            </a:r>
          </a:p>
          <a:p>
            <a:r>
              <a:t>حالة المبادرات: متطلب الحصر مع وزارة الاتصالات لم يحصل على تفاعل بعد إرسال الاستبيان، وهذه هي النقطة التي نطلب فيها دعم القيادة للتصعيد. المبادرتان الأخريان تسيران وفق الخطة.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المحور الأول: البرامج التدريبية. نستعرض المنجز التراكمي مقابل مستهدف العام، ثم تفاصيل الربع شهراً بشهر، ثم خطة سبتمبر.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تفصيل الربع شهراً بشهر: يونيو 142 مستفيداً عبر 5 أنشطة (برنامجان دوليان و3 ورش)، يوليو 190 عبر 7 أنشطة (برنامجان محليان و5 ورش)، أغسطس 175 عبر 7 أنشطة (برنامجان محليان و5 ورش). المجموع 507 مستفيدين و19 نشاطاً.</a:t>
            </a:r>
          </a:p>
          <a:p>
            <a:r>
              <a:t>الاتجاه: ورش العمل هي المحرك الرئيسي لعدد المستفيدين؛ كل زيادة في عدد الورش انعكست مباشرة على المستفيدين. مركز الابتكار استضاف 3 ورش في كل من يوليو وأغسطس.</a:t>
            </a:r>
          </a:p>
          <a:p>
            <a:r>
              <a:t>ملاحظة للنقاش: البرنامجان الدوليان في يونيو حققا مستفيدين أقل عدداً لكنهما يستهدفان فئة قيادية؛ الأثر النوعي لا يُقاس بالعدد فقط.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المحور الثاني: ثلاث مبادرات قائمة. لكل مبادرة: الهدف، ما تم، الحالة، والخطوة القادمة.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المحور الثالث: خلاصة تنفيذية. أولاً المخاطر التي قد تؤثر على مستهدفات العام والدعم المطلوب لكل منها، ثم خطة الفترة القادمة حتى نهاية 2026.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فاصل فرعي. الرسالة: ثلاث نقاط فقط تحتاج قرار القيادة أو دعمها، وكلها قابلة للمعالجة خلال سبتمبر.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ثلاثة مخاطر مرتبة حسب الأولوية.</a:t>
            </a:r>
          </a:p>
          <a:p>
            <a:r>
              <a:t>1) عدم تفاعل الوزارة (أولوية عالية): السبب خارج نطاق البرنامج، والحل تصعيد رسمي. الأثر: توقف المتطلب الأول الذي تعتمد عليه بقية المبادرة.</a:t>
            </a:r>
          </a:p>
          <a:p>
            <a:r>
              <a:t>2) الاعتماد على الوتيرة (متوسطة): الأرقام تقول إننا على المسار (169 شهرياً مقابل 132 مطلوبة)، لكن هامش الأمان يعتمد على استمرار الورش بمعدل 5 شهرياً. المطلوب اعتماد خطة الأشهر الأربعة القادمة.</a:t>
            </a:r>
          </a:p>
          <a:p>
            <a:r>
              <a:t>3) بطء استجابة الجهات (متوسطة): 5 من 7 جهات لم تتجاوز التواصل؛ المخاطبات الرسمية تختصر الوقت.</a:t>
            </a:r>
          </a:p>
          <a:p>
            <a:r>
              <a:t>القراران المطلوبان من القيادة موضحان في الشريط السفلي؛ كلاهما لا يتطلب موارد إضافية.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فاصل فرعي. الرسالة: أربعة مسارات عمل واضحة حتى نهاية العام، لكل مسار مستهدف محدد.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أربعة مسارات حتى نهاية 2026.</a:t>
            </a:r>
          </a:p>
          <a:p>
            <a:r>
              <a:t>البرامج التدريبية: 6 أنشطة في سبتمبر، والحفاظ على 135 مستفيداً شهرياً كحد أدنى لإغلاق مستهدف 1,800.</a:t>
            </a:r>
          </a:p>
          <a:p>
            <a:r>
              <a:t>وزارة الاتصالات: إغلاق المتطلب الأول بعد التصعيد وتسليم الدراسة، لإنجاز المتطلبات الثلاثة.</a:t>
            </a:r>
          </a:p>
          <a:p>
            <a:r>
              <a:t>تعزيز الاستفادة: الاجتماعات التشخيصية مع الجهات الخمس، وبناء نماذج الحلول للجهتين اللتين بدأ العمل معهما.</a:t>
            </a:r>
          </a:p>
          <a:p>
            <a:r>
              <a:t>الجائزة: متابعة التحكيم والاستعداد لإعلان النتيجة في 8 أكتوبر.</a:t>
            </a:r>
          </a:p>
          <a:p>
            <a:r>
              <a:t>المحطات الشهرية في الأسفل تسهّل متابعة التقدم في التقرير القادم.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شكراً. فتح باب النقاش حول القرارين المطلوبين: التصعيد مع وزارة الاتصالات، واعتماد خطة سبتمبر – ديسمبر.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image" Target="../media/image5.png"/><Relationship Id="rId6" Type="http://schemas.openxmlformats.org/officeDocument/2006/relationships/image" Target="../media/image6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image" Target="../media/image12.png"/><Relationship Id="rId5" Type="http://schemas.openxmlformats.org/officeDocument/2006/relationships/image" Target="../media/image13.sv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image" Target="../media/image12.png"/><Relationship Id="rId5" Type="http://schemas.openxmlformats.org/officeDocument/2006/relationships/image" Target="../media/image13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image" Target="../media/image12.png"/><Relationship Id="rId5" Type="http://schemas.openxmlformats.org/officeDocument/2006/relationships/image" Target="../media/image13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jpg"/><Relationship Id="rId3" Type="http://schemas.openxmlformats.org/officeDocument/2006/relationships/image" Target="../media/image15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9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7.jp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9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8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7.jpg"/><Relationship Id="rId3" Type="http://schemas.openxmlformats.org/officeDocument/2006/relationships/image" Target="../media/image1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ity skyline at night&#10;&#10;Description automatically generated">
            <a:extLst>
              <a:ext uri="{FF2B5EF4-FFF2-40B4-BE49-F238E27FC236}">
                <a16:creationId xmlns:a16="http://schemas.microsoft.com/office/drawing/2014/main" id="{0DD6C459-833C-0428-BD5A-4ACBF24E9FB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09" y="0"/>
            <a:ext cx="12188391" cy="6858000"/>
          </a:xfrm>
          <a:prstGeom prst="rect">
            <a:avLst/>
          </a:prstGeom>
        </p:spPr>
      </p:pic>
      <p:sp>
        <p:nvSpPr>
          <p:cNvPr id="25" name="bg object 18">
            <a:extLst>
              <a:ext uri="{FF2B5EF4-FFF2-40B4-BE49-F238E27FC236}">
                <a16:creationId xmlns:a16="http://schemas.microsoft.com/office/drawing/2014/main" id="{2C5B4766-FD9E-489B-8B0A-363DAC4EFF2F}"/>
              </a:ext>
            </a:extLst>
          </p:cNvPr>
          <p:cNvSpPr/>
          <p:nvPr userDrawn="1"/>
        </p:nvSpPr>
        <p:spPr>
          <a:xfrm flipH="1" flipV="1">
            <a:off x="5" y="4813061"/>
            <a:ext cx="3981449" cy="2044939"/>
          </a:xfrm>
          <a:custGeom>
            <a:avLst/>
            <a:gdLst/>
            <a:ahLst/>
            <a:cxnLst/>
            <a:rect l="l" t="t" r="r" b="b"/>
            <a:pathLst>
              <a:path w="11308715" h="5808345">
                <a:moveTo>
                  <a:pt x="7575915" y="5304628"/>
                </a:moveTo>
                <a:lnTo>
                  <a:pt x="7618963" y="5334181"/>
                </a:lnTo>
                <a:lnTo>
                  <a:pt x="7662366" y="5362818"/>
                </a:lnTo>
                <a:lnTo>
                  <a:pt x="7706113" y="5390542"/>
                </a:lnTo>
                <a:lnTo>
                  <a:pt x="7750191" y="5417354"/>
                </a:lnTo>
                <a:lnTo>
                  <a:pt x="7794590" y="5443256"/>
                </a:lnTo>
                <a:lnTo>
                  <a:pt x="7839298" y="5468251"/>
                </a:lnTo>
                <a:lnTo>
                  <a:pt x="7884303" y="5492340"/>
                </a:lnTo>
                <a:lnTo>
                  <a:pt x="7929593" y="5515526"/>
                </a:lnTo>
                <a:lnTo>
                  <a:pt x="7975158" y="5537810"/>
                </a:lnTo>
                <a:lnTo>
                  <a:pt x="8020984" y="5559195"/>
                </a:lnTo>
                <a:lnTo>
                  <a:pt x="8067061" y="5579682"/>
                </a:lnTo>
                <a:lnTo>
                  <a:pt x="8113377" y="5599275"/>
                </a:lnTo>
                <a:lnTo>
                  <a:pt x="8159920" y="5617974"/>
                </a:lnTo>
                <a:lnTo>
                  <a:pt x="8206679" y="5635783"/>
                </a:lnTo>
                <a:lnTo>
                  <a:pt x="8253641" y="5652703"/>
                </a:lnTo>
                <a:lnTo>
                  <a:pt x="8300797" y="5668735"/>
                </a:lnTo>
                <a:lnTo>
                  <a:pt x="8348133" y="5683883"/>
                </a:lnTo>
                <a:lnTo>
                  <a:pt x="8395638" y="5698148"/>
                </a:lnTo>
                <a:lnTo>
                  <a:pt x="8443300" y="5711533"/>
                </a:lnTo>
                <a:lnTo>
                  <a:pt x="8491109" y="5724039"/>
                </a:lnTo>
                <a:lnTo>
                  <a:pt x="8539052" y="5735668"/>
                </a:lnTo>
                <a:lnTo>
                  <a:pt x="8587117" y="5746424"/>
                </a:lnTo>
                <a:lnTo>
                  <a:pt x="8635293" y="5756306"/>
                </a:lnTo>
                <a:lnTo>
                  <a:pt x="8683569" y="5765319"/>
                </a:lnTo>
                <a:lnTo>
                  <a:pt x="8731932" y="5773463"/>
                </a:lnTo>
                <a:lnTo>
                  <a:pt x="8780371" y="5780741"/>
                </a:lnTo>
                <a:lnTo>
                  <a:pt x="8828875" y="5787156"/>
                </a:lnTo>
                <a:lnTo>
                  <a:pt x="8877432" y="5792708"/>
                </a:lnTo>
                <a:lnTo>
                  <a:pt x="8926029" y="5797400"/>
                </a:lnTo>
                <a:lnTo>
                  <a:pt x="8974656" y="5801235"/>
                </a:lnTo>
                <a:lnTo>
                  <a:pt x="9023302" y="5804214"/>
                </a:lnTo>
                <a:lnTo>
                  <a:pt x="9071953" y="5806339"/>
                </a:lnTo>
                <a:lnTo>
                  <a:pt x="9120599" y="5807612"/>
                </a:lnTo>
                <a:lnTo>
                  <a:pt x="9169228" y="5808036"/>
                </a:lnTo>
                <a:lnTo>
                  <a:pt x="9217172" y="5807624"/>
                </a:lnTo>
                <a:lnTo>
                  <a:pt x="9265077" y="5806389"/>
                </a:lnTo>
                <a:lnTo>
                  <a:pt x="9312932" y="5804334"/>
                </a:lnTo>
                <a:lnTo>
                  <a:pt x="9360726" y="5801459"/>
                </a:lnTo>
                <a:lnTo>
                  <a:pt x="9408448" y="5797768"/>
                </a:lnTo>
                <a:lnTo>
                  <a:pt x="9456086" y="5793262"/>
                </a:lnTo>
                <a:lnTo>
                  <a:pt x="9503629" y="5787943"/>
                </a:lnTo>
                <a:lnTo>
                  <a:pt x="9551066" y="5781812"/>
                </a:lnTo>
                <a:lnTo>
                  <a:pt x="9598386" y="5774874"/>
                </a:lnTo>
                <a:lnTo>
                  <a:pt x="9645578" y="5767128"/>
                </a:lnTo>
                <a:lnTo>
                  <a:pt x="9692630" y="5758577"/>
                </a:lnTo>
                <a:lnTo>
                  <a:pt x="9739532" y="5749223"/>
                </a:lnTo>
                <a:lnTo>
                  <a:pt x="9786271" y="5739068"/>
                </a:lnTo>
                <a:lnTo>
                  <a:pt x="9832837" y="5728114"/>
                </a:lnTo>
                <a:lnTo>
                  <a:pt x="9879219" y="5716364"/>
                </a:lnTo>
                <a:lnTo>
                  <a:pt x="9925406" y="5703818"/>
                </a:lnTo>
                <a:lnTo>
                  <a:pt x="9971385" y="5690479"/>
                </a:lnTo>
                <a:lnTo>
                  <a:pt x="10017147" y="5676349"/>
                </a:lnTo>
                <a:lnTo>
                  <a:pt x="10062679" y="5661430"/>
                </a:lnTo>
                <a:lnTo>
                  <a:pt x="10107971" y="5645724"/>
                </a:lnTo>
                <a:lnTo>
                  <a:pt x="10153012" y="5629233"/>
                </a:lnTo>
                <a:lnTo>
                  <a:pt x="10197789" y="5611958"/>
                </a:lnTo>
                <a:lnTo>
                  <a:pt x="10242293" y="5593903"/>
                </a:lnTo>
                <a:lnTo>
                  <a:pt x="10286512" y="5575068"/>
                </a:lnTo>
                <a:lnTo>
                  <a:pt x="10330434" y="5555456"/>
                </a:lnTo>
                <a:lnTo>
                  <a:pt x="10374049" y="5535069"/>
                </a:lnTo>
                <a:lnTo>
                  <a:pt x="10417344" y="5513909"/>
                </a:lnTo>
                <a:lnTo>
                  <a:pt x="10460310" y="5491978"/>
                </a:lnTo>
                <a:lnTo>
                  <a:pt x="10502935" y="5469277"/>
                </a:lnTo>
                <a:lnTo>
                  <a:pt x="10545208" y="5445809"/>
                </a:lnTo>
                <a:lnTo>
                  <a:pt x="10587116" y="5421576"/>
                </a:lnTo>
                <a:lnTo>
                  <a:pt x="10628651" y="5396579"/>
                </a:lnTo>
                <a:lnTo>
                  <a:pt x="10669799" y="5370822"/>
                </a:lnTo>
                <a:lnTo>
                  <a:pt x="10710550" y="5344304"/>
                </a:lnTo>
                <a:lnTo>
                  <a:pt x="10750892" y="5317030"/>
                </a:lnTo>
                <a:lnTo>
                  <a:pt x="10790815" y="5289000"/>
                </a:lnTo>
                <a:lnTo>
                  <a:pt x="10830308" y="5260217"/>
                </a:lnTo>
                <a:lnTo>
                  <a:pt x="10869358" y="5230682"/>
                </a:lnTo>
                <a:lnTo>
                  <a:pt x="10907955" y="5200398"/>
                </a:lnTo>
                <a:lnTo>
                  <a:pt x="10946088" y="5169367"/>
                </a:lnTo>
                <a:lnTo>
                  <a:pt x="10983745" y="5137590"/>
                </a:lnTo>
                <a:lnTo>
                  <a:pt x="11020916" y="5105070"/>
                </a:lnTo>
                <a:lnTo>
                  <a:pt x="11057588" y="5071808"/>
                </a:lnTo>
                <a:lnTo>
                  <a:pt x="11093752" y="5037806"/>
                </a:lnTo>
                <a:lnTo>
                  <a:pt x="11129395" y="5003068"/>
                </a:lnTo>
                <a:lnTo>
                  <a:pt x="11164506" y="4967593"/>
                </a:lnTo>
                <a:lnTo>
                  <a:pt x="11199075" y="4931386"/>
                </a:lnTo>
                <a:lnTo>
                  <a:pt x="11233090" y="4894446"/>
                </a:lnTo>
                <a:lnTo>
                  <a:pt x="11266539" y="4856777"/>
                </a:lnTo>
                <a:lnTo>
                  <a:pt x="11299413" y="4818381"/>
                </a:lnTo>
                <a:lnTo>
                  <a:pt x="11308556" y="4807302"/>
                </a:lnTo>
              </a:path>
              <a:path w="11308715" h="5808345">
                <a:moveTo>
                  <a:pt x="0" y="0"/>
                </a:moveTo>
                <a:lnTo>
                  <a:pt x="7575915" y="5304628"/>
                </a:lnTo>
              </a:path>
            </a:pathLst>
          </a:custGeom>
          <a:ln w="31412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sz="1400">
              <a:latin typeface="☞DIODRUM ARABIC MEDIUM" panose="00000600000000000000" pitchFamily="2" charset="-78"/>
              <a:cs typeface="☞DIODRUM ARABIC MEDIUM" panose="00000600000000000000" pitchFamily="2" charset="-78"/>
            </a:endParaRP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3596FCA0-D110-453B-84DC-FAFFCDA5EAF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241316" y="2657323"/>
            <a:ext cx="9063968" cy="735159"/>
          </a:xfrm>
        </p:spPr>
        <p:txBody>
          <a:bodyPr anchor="b">
            <a:normAutofit/>
          </a:bodyPr>
          <a:lstStyle>
            <a:lvl1pPr algn="r" rtl="1">
              <a:defRPr sz="3500" b="0">
                <a:solidFill>
                  <a:schemeClr val="bg1"/>
                </a:solidFill>
                <a:latin typeface="DiodrumArabic-Bold" panose="00000800000000000000" pitchFamily="2" charset="-78"/>
                <a:cs typeface="DiodrumArabic-Bold" panose="00000800000000000000" pitchFamily="2" charset="-78"/>
              </a:defRPr>
            </a:lvl1pPr>
          </a:lstStyle>
          <a:p>
            <a:r>
              <a:rPr lang="ar-SA"/>
              <a:t>عنوان الملف هنا</a:t>
            </a:r>
            <a:endParaRPr lang="en-PH"/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8FDC692C-A1F9-4C04-9528-B1F68E1E038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238042" y="3545564"/>
            <a:ext cx="9063968" cy="605656"/>
          </a:xfrm>
        </p:spPr>
        <p:txBody>
          <a:bodyPr>
            <a:normAutofit/>
          </a:bodyPr>
          <a:lstStyle>
            <a:lvl1pPr marL="0" indent="0" algn="r" rtl="1">
              <a:buNone/>
              <a:defRPr sz="2700" b="0">
                <a:solidFill>
                  <a:schemeClr val="accent1"/>
                </a:solidFill>
              </a:defRPr>
            </a:lvl1pPr>
            <a:lvl2pPr marL="457167" indent="0" algn="ctr">
              <a:buNone/>
              <a:defRPr sz="2000"/>
            </a:lvl2pPr>
            <a:lvl3pPr marL="914332" indent="0" algn="ctr">
              <a:buNone/>
              <a:defRPr sz="1800"/>
            </a:lvl3pPr>
            <a:lvl4pPr marL="1371498" indent="0" algn="ctr">
              <a:buNone/>
              <a:defRPr sz="1600"/>
            </a:lvl4pPr>
            <a:lvl5pPr marL="1828664" indent="0" algn="ctr">
              <a:buNone/>
              <a:defRPr sz="1600"/>
            </a:lvl5pPr>
            <a:lvl6pPr marL="2285830" indent="0" algn="ctr">
              <a:buNone/>
              <a:defRPr sz="1600"/>
            </a:lvl6pPr>
            <a:lvl7pPr marL="2742994" indent="0" algn="ctr">
              <a:buNone/>
              <a:defRPr sz="1600"/>
            </a:lvl7pPr>
            <a:lvl8pPr marL="3200160" indent="0" algn="ctr">
              <a:buNone/>
              <a:defRPr sz="1600"/>
            </a:lvl8pPr>
            <a:lvl9pPr marL="3657327" indent="0" algn="ctr">
              <a:buNone/>
              <a:defRPr sz="1600"/>
            </a:lvl9pPr>
          </a:lstStyle>
          <a:p>
            <a:r>
              <a:rPr lang="ar-SA"/>
              <a:t>عنوان فرعي</a:t>
            </a:r>
          </a:p>
        </p:txBody>
      </p:sp>
      <p:sp>
        <p:nvSpPr>
          <p:cNvPr id="19" name="Date Placeholder 3">
            <a:extLst>
              <a:ext uri="{FF2B5EF4-FFF2-40B4-BE49-F238E27FC236}">
                <a16:creationId xmlns:a16="http://schemas.microsoft.com/office/drawing/2014/main" id="{B85B45CC-64B3-4D0F-BC6D-2B6097C8FB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558810" y="553556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1">
              <a:defRPr sz="1400">
                <a:solidFill>
                  <a:schemeClr val="bg1">
                    <a:alpha val="50000"/>
                  </a:schemeClr>
                </a:solidFill>
                <a:latin typeface="☞DIODRUM ARABIC MEDIUM" panose="00000600000000000000" pitchFamily="2" charset="-78"/>
                <a:cs typeface="☞DIODRUM ARABIC MEDIUM" panose="00000600000000000000" pitchFamily="2" charset="-78"/>
              </a:defRPr>
            </a:lvl1pPr>
          </a:lstStyle>
          <a:p>
            <a:endParaRPr lang="en-PH"/>
          </a:p>
        </p:txBody>
      </p:sp>
      <p:sp>
        <p:nvSpPr>
          <p:cNvPr id="2" name="SecloreFooter">
            <a:extLst>
              <a:ext uri="{FF2B5EF4-FFF2-40B4-BE49-F238E27FC236}">
                <a16:creationId xmlns:a16="http://schemas.microsoft.com/office/drawing/2014/main" id="{4B87BF38-3B6A-438D-8F3D-94734546694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0" y="6356352"/>
            <a:ext cx="12192000" cy="365125"/>
          </a:xfrm>
        </p:spPr>
        <p:txBody>
          <a:bodyPr/>
          <a:lstStyle/>
          <a:p>
            <a:r>
              <a:rPr lang="en-US"/>
              <a:t>Restricted - </a:t>
            </a:r>
            <a:r>
              <a:rPr lang="ar-SA"/>
              <a:t>مقيد</a:t>
            </a:r>
          </a:p>
        </p:txBody>
      </p:sp>
      <p:pic>
        <p:nvPicPr>
          <p:cNvPr id="24" name="Graphic 23">
            <a:extLst>
              <a:ext uri="{FF2B5EF4-FFF2-40B4-BE49-F238E27FC236}">
                <a16:creationId xmlns:a16="http://schemas.microsoft.com/office/drawing/2014/main" id="{A7A31B55-A327-44F1-8304-303D26B05B1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5400000" flipH="1">
            <a:off x="8733134" y="-1265534"/>
            <a:ext cx="2193332" cy="4724401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5F95B344-3801-4244-9B15-969DDECCB69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79177" y="578104"/>
            <a:ext cx="2122833" cy="652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21694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">
    <p:bg>
      <p:bgPr>
        <a:solidFill>
          <a:srgbClr val="1C13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ity skyline at night&#10;&#10;Description automatically generated">
            <a:extLst>
              <a:ext uri="{FF2B5EF4-FFF2-40B4-BE49-F238E27FC236}">
                <a16:creationId xmlns:a16="http://schemas.microsoft.com/office/drawing/2014/main" id="{B959A952-7541-4DEF-A9AC-824292E6B88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09" y="0"/>
            <a:ext cx="12188391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3200038-6777-4A01-8942-9828DFA385EC}"/>
              </a:ext>
            </a:extLst>
          </p:cNvPr>
          <p:cNvSpPr/>
          <p:nvPr userDrawn="1"/>
        </p:nvSpPr>
        <p:spPr>
          <a:xfrm>
            <a:off x="0" y="0"/>
            <a:ext cx="12188391" cy="6858000"/>
          </a:xfrm>
          <a:prstGeom prst="rect">
            <a:avLst/>
          </a:prstGeom>
          <a:solidFill>
            <a:schemeClr val="accent4">
              <a:lumMod val="7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26" name="bg object 18">
            <a:extLst>
              <a:ext uri="{FF2B5EF4-FFF2-40B4-BE49-F238E27FC236}">
                <a16:creationId xmlns:a16="http://schemas.microsoft.com/office/drawing/2014/main" id="{8B3E1A9C-C91A-4683-867F-A8DA4C8E4133}"/>
              </a:ext>
            </a:extLst>
          </p:cNvPr>
          <p:cNvSpPr/>
          <p:nvPr userDrawn="1"/>
        </p:nvSpPr>
        <p:spPr>
          <a:xfrm flipH="1">
            <a:off x="-12697" y="-18852"/>
            <a:ext cx="4076700" cy="2350572"/>
          </a:xfrm>
          <a:custGeom>
            <a:avLst/>
            <a:gdLst/>
            <a:ahLst/>
            <a:cxnLst/>
            <a:rect l="l" t="t" r="r" b="b"/>
            <a:pathLst>
              <a:path w="11308715" h="5808345">
                <a:moveTo>
                  <a:pt x="7575915" y="5304628"/>
                </a:moveTo>
                <a:lnTo>
                  <a:pt x="7618963" y="5334181"/>
                </a:lnTo>
                <a:lnTo>
                  <a:pt x="7662366" y="5362818"/>
                </a:lnTo>
                <a:lnTo>
                  <a:pt x="7706113" y="5390542"/>
                </a:lnTo>
                <a:lnTo>
                  <a:pt x="7750191" y="5417354"/>
                </a:lnTo>
                <a:lnTo>
                  <a:pt x="7794590" y="5443256"/>
                </a:lnTo>
                <a:lnTo>
                  <a:pt x="7839298" y="5468251"/>
                </a:lnTo>
                <a:lnTo>
                  <a:pt x="7884303" y="5492340"/>
                </a:lnTo>
                <a:lnTo>
                  <a:pt x="7929593" y="5515526"/>
                </a:lnTo>
                <a:lnTo>
                  <a:pt x="7975158" y="5537810"/>
                </a:lnTo>
                <a:lnTo>
                  <a:pt x="8020984" y="5559195"/>
                </a:lnTo>
                <a:lnTo>
                  <a:pt x="8067061" y="5579682"/>
                </a:lnTo>
                <a:lnTo>
                  <a:pt x="8113377" y="5599275"/>
                </a:lnTo>
                <a:lnTo>
                  <a:pt x="8159920" y="5617974"/>
                </a:lnTo>
                <a:lnTo>
                  <a:pt x="8206679" y="5635783"/>
                </a:lnTo>
                <a:lnTo>
                  <a:pt x="8253641" y="5652703"/>
                </a:lnTo>
                <a:lnTo>
                  <a:pt x="8300797" y="5668735"/>
                </a:lnTo>
                <a:lnTo>
                  <a:pt x="8348133" y="5683883"/>
                </a:lnTo>
                <a:lnTo>
                  <a:pt x="8395638" y="5698148"/>
                </a:lnTo>
                <a:lnTo>
                  <a:pt x="8443300" y="5711533"/>
                </a:lnTo>
                <a:lnTo>
                  <a:pt x="8491109" y="5724039"/>
                </a:lnTo>
                <a:lnTo>
                  <a:pt x="8539052" y="5735668"/>
                </a:lnTo>
                <a:lnTo>
                  <a:pt x="8587117" y="5746424"/>
                </a:lnTo>
                <a:lnTo>
                  <a:pt x="8635293" y="5756306"/>
                </a:lnTo>
                <a:lnTo>
                  <a:pt x="8683569" y="5765319"/>
                </a:lnTo>
                <a:lnTo>
                  <a:pt x="8731932" y="5773463"/>
                </a:lnTo>
                <a:lnTo>
                  <a:pt x="8780371" y="5780741"/>
                </a:lnTo>
                <a:lnTo>
                  <a:pt x="8828875" y="5787156"/>
                </a:lnTo>
                <a:lnTo>
                  <a:pt x="8877432" y="5792708"/>
                </a:lnTo>
                <a:lnTo>
                  <a:pt x="8926029" y="5797400"/>
                </a:lnTo>
                <a:lnTo>
                  <a:pt x="8974656" y="5801235"/>
                </a:lnTo>
                <a:lnTo>
                  <a:pt x="9023302" y="5804214"/>
                </a:lnTo>
                <a:lnTo>
                  <a:pt x="9071953" y="5806339"/>
                </a:lnTo>
                <a:lnTo>
                  <a:pt x="9120599" y="5807612"/>
                </a:lnTo>
                <a:lnTo>
                  <a:pt x="9169228" y="5808036"/>
                </a:lnTo>
                <a:lnTo>
                  <a:pt x="9217172" y="5807624"/>
                </a:lnTo>
                <a:lnTo>
                  <a:pt x="9265077" y="5806389"/>
                </a:lnTo>
                <a:lnTo>
                  <a:pt x="9312932" y="5804334"/>
                </a:lnTo>
                <a:lnTo>
                  <a:pt x="9360726" y="5801459"/>
                </a:lnTo>
                <a:lnTo>
                  <a:pt x="9408448" y="5797768"/>
                </a:lnTo>
                <a:lnTo>
                  <a:pt x="9456086" y="5793262"/>
                </a:lnTo>
                <a:lnTo>
                  <a:pt x="9503629" y="5787943"/>
                </a:lnTo>
                <a:lnTo>
                  <a:pt x="9551066" y="5781812"/>
                </a:lnTo>
                <a:lnTo>
                  <a:pt x="9598386" y="5774874"/>
                </a:lnTo>
                <a:lnTo>
                  <a:pt x="9645578" y="5767128"/>
                </a:lnTo>
                <a:lnTo>
                  <a:pt x="9692630" y="5758577"/>
                </a:lnTo>
                <a:lnTo>
                  <a:pt x="9739532" y="5749223"/>
                </a:lnTo>
                <a:lnTo>
                  <a:pt x="9786271" y="5739068"/>
                </a:lnTo>
                <a:lnTo>
                  <a:pt x="9832837" y="5728114"/>
                </a:lnTo>
                <a:lnTo>
                  <a:pt x="9879219" y="5716364"/>
                </a:lnTo>
                <a:lnTo>
                  <a:pt x="9925406" y="5703818"/>
                </a:lnTo>
                <a:lnTo>
                  <a:pt x="9971385" y="5690479"/>
                </a:lnTo>
                <a:lnTo>
                  <a:pt x="10017147" y="5676349"/>
                </a:lnTo>
                <a:lnTo>
                  <a:pt x="10062679" y="5661430"/>
                </a:lnTo>
                <a:lnTo>
                  <a:pt x="10107971" y="5645724"/>
                </a:lnTo>
                <a:lnTo>
                  <a:pt x="10153012" y="5629233"/>
                </a:lnTo>
                <a:lnTo>
                  <a:pt x="10197789" y="5611958"/>
                </a:lnTo>
                <a:lnTo>
                  <a:pt x="10242293" y="5593903"/>
                </a:lnTo>
                <a:lnTo>
                  <a:pt x="10286512" y="5575068"/>
                </a:lnTo>
                <a:lnTo>
                  <a:pt x="10330434" y="5555456"/>
                </a:lnTo>
                <a:lnTo>
                  <a:pt x="10374049" y="5535069"/>
                </a:lnTo>
                <a:lnTo>
                  <a:pt x="10417344" y="5513909"/>
                </a:lnTo>
                <a:lnTo>
                  <a:pt x="10460310" y="5491978"/>
                </a:lnTo>
                <a:lnTo>
                  <a:pt x="10502935" y="5469277"/>
                </a:lnTo>
                <a:lnTo>
                  <a:pt x="10545208" y="5445809"/>
                </a:lnTo>
                <a:lnTo>
                  <a:pt x="10587116" y="5421576"/>
                </a:lnTo>
                <a:lnTo>
                  <a:pt x="10628651" y="5396579"/>
                </a:lnTo>
                <a:lnTo>
                  <a:pt x="10669799" y="5370822"/>
                </a:lnTo>
                <a:lnTo>
                  <a:pt x="10710550" y="5344304"/>
                </a:lnTo>
                <a:lnTo>
                  <a:pt x="10750892" y="5317030"/>
                </a:lnTo>
                <a:lnTo>
                  <a:pt x="10790815" y="5289000"/>
                </a:lnTo>
                <a:lnTo>
                  <a:pt x="10830308" y="5260217"/>
                </a:lnTo>
                <a:lnTo>
                  <a:pt x="10869358" y="5230682"/>
                </a:lnTo>
                <a:lnTo>
                  <a:pt x="10907955" y="5200398"/>
                </a:lnTo>
                <a:lnTo>
                  <a:pt x="10946088" y="5169367"/>
                </a:lnTo>
                <a:lnTo>
                  <a:pt x="10983745" y="5137590"/>
                </a:lnTo>
                <a:lnTo>
                  <a:pt x="11020916" y="5105070"/>
                </a:lnTo>
                <a:lnTo>
                  <a:pt x="11057588" y="5071808"/>
                </a:lnTo>
                <a:lnTo>
                  <a:pt x="11093752" y="5037806"/>
                </a:lnTo>
                <a:lnTo>
                  <a:pt x="11129395" y="5003068"/>
                </a:lnTo>
                <a:lnTo>
                  <a:pt x="11164506" y="4967593"/>
                </a:lnTo>
                <a:lnTo>
                  <a:pt x="11199075" y="4931386"/>
                </a:lnTo>
                <a:lnTo>
                  <a:pt x="11233090" y="4894446"/>
                </a:lnTo>
                <a:lnTo>
                  <a:pt x="11266539" y="4856777"/>
                </a:lnTo>
                <a:lnTo>
                  <a:pt x="11299413" y="4818381"/>
                </a:lnTo>
                <a:lnTo>
                  <a:pt x="11308556" y="4807302"/>
                </a:lnTo>
              </a:path>
              <a:path w="11308715" h="5808345">
                <a:moveTo>
                  <a:pt x="0" y="0"/>
                </a:moveTo>
                <a:lnTo>
                  <a:pt x="7575915" y="5304628"/>
                </a:lnTo>
              </a:path>
            </a:pathLst>
          </a:custGeom>
          <a:ln w="31412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sz="1400" dirty="0"/>
          </a:p>
        </p:txBody>
      </p:sp>
      <p:sp>
        <p:nvSpPr>
          <p:cNvPr id="3" name="SecloreFooter">
            <a:extLst>
              <a:ext uri="{FF2B5EF4-FFF2-40B4-BE49-F238E27FC236}">
                <a16:creationId xmlns:a16="http://schemas.microsoft.com/office/drawing/2014/main" id="{593E93D2-0A75-4B32-A1E5-435D95DF52F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0" y="6356352"/>
            <a:ext cx="12192000" cy="365125"/>
          </a:xfrm>
        </p:spPr>
        <p:txBody>
          <a:bodyPr/>
          <a:lstStyle/>
          <a:p>
            <a:r>
              <a:rPr lang="en-US"/>
              <a:t>Restricted - </a:t>
            </a:r>
            <a:r>
              <a:rPr lang="ar-SA"/>
              <a:t>مقيد</a:t>
            </a:r>
          </a:p>
        </p:txBody>
      </p:sp>
    </p:spTree>
    <p:extLst>
      <p:ext uri="{BB962C8B-B14F-4D97-AF65-F5344CB8AC3E}">
        <p14:creationId xmlns:p14="http://schemas.microsoft.com/office/powerpoint/2010/main" val="1254845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in separator option A">
    <p:bg>
      <p:bgPr>
        <a:solidFill>
          <a:srgbClr val="1C13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02DDC3F5-BC53-441D-98D9-E8687C2830D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44197" b="15247"/>
          <a:stretch>
            <a:fillRect/>
          </a:stretch>
        </p:blipFill>
        <p:spPr>
          <a:xfrm>
            <a:off x="5047429" y="-1"/>
            <a:ext cx="7144572" cy="6858001"/>
          </a:xfrm>
          <a:prstGeom prst="rect">
            <a:avLst/>
          </a:prstGeom>
        </p:spPr>
      </p:pic>
      <p:sp>
        <p:nvSpPr>
          <p:cNvPr id="2" name="SecloreFooter">
            <a:extLst>
              <a:ext uri="{FF2B5EF4-FFF2-40B4-BE49-F238E27FC236}">
                <a16:creationId xmlns:a16="http://schemas.microsoft.com/office/drawing/2014/main" id="{684DA019-1BC0-4D35-A168-B04CF4E6F73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0" y="6356352"/>
            <a:ext cx="12192000" cy="365125"/>
          </a:xfrm>
        </p:spPr>
        <p:txBody>
          <a:bodyPr/>
          <a:lstStyle/>
          <a:p>
            <a:r>
              <a:rPr lang="en-US"/>
              <a:t>Restricted - </a:t>
            </a:r>
            <a:r>
              <a:rPr lang="ar-SA"/>
              <a:t>مقيد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2A0B338-D6E2-4D8F-86CA-462467DE59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9819" y="3078165"/>
            <a:ext cx="9252364" cy="701675"/>
          </a:xfrm>
        </p:spPr>
        <p:txBody>
          <a:bodyPr anchor="ctr">
            <a:noAutofit/>
          </a:bodyPr>
          <a:lstStyle>
            <a:lvl1pPr algn="r" rtl="1">
              <a:lnSpc>
                <a:spcPct val="120000"/>
              </a:lnSpc>
              <a:defRPr sz="4000" b="0">
                <a:solidFill>
                  <a:schemeClr val="bg1"/>
                </a:solidFill>
                <a:latin typeface="DiodrumArabic-Bold" panose="00000800000000000000" pitchFamily="2" charset="-78"/>
                <a:cs typeface="DiodrumArabic-Bold" panose="00000800000000000000" pitchFamily="2" charset="-78"/>
              </a:defRPr>
            </a:lvl1pPr>
          </a:lstStyle>
          <a:p>
            <a:r>
              <a:rPr lang="ar-SA"/>
              <a:t>عنوان الشريحة الرئيسية – شكل أ</a:t>
            </a:r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9975700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ub separator option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FDBABD0F-EA05-4001-9D39-38DD1411DC38}"/>
              </a:ext>
            </a:extLst>
          </p:cNvPr>
          <p:cNvSpPr/>
          <p:nvPr userDrawn="1"/>
        </p:nvSpPr>
        <p:spPr>
          <a:xfrm>
            <a:off x="-262" y="3429001"/>
            <a:ext cx="6723388" cy="3429000"/>
          </a:xfrm>
          <a:custGeom>
            <a:avLst/>
            <a:gdLst>
              <a:gd name="connsiteX0" fmla="*/ 1115809 w 6723388"/>
              <a:gd name="connsiteY0" fmla="*/ 0 h 3429000"/>
              <a:gd name="connsiteX1" fmla="*/ 1155290 w 6723388"/>
              <a:gd name="connsiteY1" fmla="*/ 344 h 3429000"/>
              <a:gd name="connsiteX2" fmla="*/ 1194784 w 6723388"/>
              <a:gd name="connsiteY2" fmla="*/ 1378 h 3429000"/>
              <a:gd name="connsiteX3" fmla="*/ 1234283 w 6723388"/>
              <a:gd name="connsiteY3" fmla="*/ 3103 h 3429000"/>
              <a:gd name="connsiteX4" fmla="*/ 1273777 w 6723388"/>
              <a:gd name="connsiteY4" fmla="*/ 5521 h 3429000"/>
              <a:gd name="connsiteX5" fmla="*/ 1313256 w 6723388"/>
              <a:gd name="connsiteY5" fmla="*/ 8634 h 3429000"/>
              <a:gd name="connsiteX6" fmla="*/ 1352711 w 6723388"/>
              <a:gd name="connsiteY6" fmla="*/ 12443 h 3429000"/>
              <a:gd name="connsiteX7" fmla="*/ 1392133 w 6723388"/>
              <a:gd name="connsiteY7" fmla="*/ 16950 h 3429000"/>
              <a:gd name="connsiteX8" fmla="*/ 1431511 w 6723388"/>
              <a:gd name="connsiteY8" fmla="*/ 22157 h 3429000"/>
              <a:gd name="connsiteX9" fmla="*/ 1470837 w 6723388"/>
              <a:gd name="connsiteY9" fmla="*/ 28064 h 3429000"/>
              <a:gd name="connsiteX10" fmla="*/ 1510103 w 6723388"/>
              <a:gd name="connsiteY10" fmla="*/ 34677 h 3429000"/>
              <a:gd name="connsiteX11" fmla="*/ 1549296 w 6723388"/>
              <a:gd name="connsiteY11" fmla="*/ 41992 h 3429000"/>
              <a:gd name="connsiteX12" fmla="*/ 1588409 w 6723388"/>
              <a:gd name="connsiteY12" fmla="*/ 50015 h 3429000"/>
              <a:gd name="connsiteX13" fmla="*/ 1627432 w 6723388"/>
              <a:gd name="connsiteY13" fmla="*/ 58746 h 3429000"/>
              <a:gd name="connsiteX14" fmla="*/ 1666354 w 6723388"/>
              <a:gd name="connsiteY14" fmla="*/ 68185 h 3429000"/>
              <a:gd name="connsiteX15" fmla="*/ 1705168 w 6723388"/>
              <a:gd name="connsiteY15" fmla="*/ 78338 h 3429000"/>
              <a:gd name="connsiteX16" fmla="*/ 1743864 w 6723388"/>
              <a:gd name="connsiteY16" fmla="*/ 89202 h 3429000"/>
              <a:gd name="connsiteX17" fmla="*/ 1782432 w 6723388"/>
              <a:gd name="connsiteY17" fmla="*/ 100783 h 3429000"/>
              <a:gd name="connsiteX18" fmla="*/ 1820862 w 6723388"/>
              <a:gd name="connsiteY18" fmla="*/ 113079 h 3429000"/>
              <a:gd name="connsiteX19" fmla="*/ 1859147 w 6723388"/>
              <a:gd name="connsiteY19" fmla="*/ 126093 h 3429000"/>
              <a:gd name="connsiteX20" fmla="*/ 1897275 w 6723388"/>
              <a:gd name="connsiteY20" fmla="*/ 139829 h 3429000"/>
              <a:gd name="connsiteX21" fmla="*/ 1935237 w 6723388"/>
              <a:gd name="connsiteY21" fmla="*/ 154285 h 3429000"/>
              <a:gd name="connsiteX22" fmla="*/ 1973023 w 6723388"/>
              <a:gd name="connsiteY22" fmla="*/ 169464 h 3429000"/>
              <a:gd name="connsiteX23" fmla="*/ 2010625 w 6723388"/>
              <a:gd name="connsiteY23" fmla="*/ 185368 h 3429000"/>
              <a:gd name="connsiteX24" fmla="*/ 2048033 w 6723388"/>
              <a:gd name="connsiteY24" fmla="*/ 202001 h 3429000"/>
              <a:gd name="connsiteX25" fmla="*/ 2085238 w 6723388"/>
              <a:gd name="connsiteY25" fmla="*/ 219360 h 3429000"/>
              <a:gd name="connsiteX26" fmla="*/ 2122231 w 6723388"/>
              <a:gd name="connsiteY26" fmla="*/ 237450 h 3429000"/>
              <a:gd name="connsiteX27" fmla="*/ 2159001 w 6723388"/>
              <a:gd name="connsiteY27" fmla="*/ 256272 h 3429000"/>
              <a:gd name="connsiteX28" fmla="*/ 2195538 w 6723388"/>
              <a:gd name="connsiteY28" fmla="*/ 275827 h 3429000"/>
              <a:gd name="connsiteX29" fmla="*/ 2231835 w 6723388"/>
              <a:gd name="connsiteY29" fmla="*/ 296116 h 3429000"/>
              <a:gd name="connsiteX30" fmla="*/ 2267881 w 6723388"/>
              <a:gd name="connsiteY30" fmla="*/ 317143 h 3429000"/>
              <a:gd name="connsiteX31" fmla="*/ 2303667 w 6723388"/>
              <a:gd name="connsiteY31" fmla="*/ 338908 h 3429000"/>
              <a:gd name="connsiteX32" fmla="*/ 2339183 w 6723388"/>
              <a:gd name="connsiteY32" fmla="*/ 361414 h 3429000"/>
              <a:gd name="connsiteX33" fmla="*/ 2374421 w 6723388"/>
              <a:gd name="connsiteY33" fmla="*/ 384662 h 3429000"/>
              <a:gd name="connsiteX34" fmla="*/ 2409371 w 6723388"/>
              <a:gd name="connsiteY34" fmla="*/ 408652 h 3429000"/>
              <a:gd name="connsiteX35" fmla="*/ 6723388 w 6723388"/>
              <a:gd name="connsiteY35" fmla="*/ 3429000 h 3429000"/>
              <a:gd name="connsiteX36" fmla="*/ 5076881 w 6723388"/>
              <a:gd name="connsiteY36" fmla="*/ 3429000 h 3429000"/>
              <a:gd name="connsiteX37" fmla="*/ 5076881 w 6723388"/>
              <a:gd name="connsiteY37" fmla="*/ 3423547 h 3429000"/>
              <a:gd name="connsiteX38" fmla="*/ 0 w 6723388"/>
              <a:gd name="connsiteY38" fmla="*/ 3423547 h 3429000"/>
              <a:gd name="connsiteX39" fmla="*/ 0 w 6723388"/>
              <a:gd name="connsiteY39" fmla="*/ 293402 h 3429000"/>
              <a:gd name="connsiteX40" fmla="*/ 14194 w 6723388"/>
              <a:gd name="connsiteY40" fmla="*/ 285341 h 3429000"/>
              <a:gd name="connsiteX41" fmla="*/ 49297 w 6723388"/>
              <a:gd name="connsiteY41" fmla="*/ 266224 h 3429000"/>
              <a:gd name="connsiteX42" fmla="*/ 84694 w 6723388"/>
              <a:gd name="connsiteY42" fmla="*/ 247754 h 3429000"/>
              <a:gd name="connsiteX43" fmla="*/ 120372 w 6723388"/>
              <a:gd name="connsiteY43" fmla="*/ 229934 h 3429000"/>
              <a:gd name="connsiteX44" fmla="*/ 156324 w 6723388"/>
              <a:gd name="connsiteY44" fmla="*/ 212764 h 3429000"/>
              <a:gd name="connsiteX45" fmla="*/ 192539 w 6723388"/>
              <a:gd name="connsiteY45" fmla="*/ 196247 h 3429000"/>
              <a:gd name="connsiteX46" fmla="*/ 229008 w 6723388"/>
              <a:gd name="connsiteY46" fmla="*/ 180384 h 3429000"/>
              <a:gd name="connsiteX47" fmla="*/ 265724 w 6723388"/>
              <a:gd name="connsiteY47" fmla="*/ 165177 h 3429000"/>
              <a:gd name="connsiteX48" fmla="*/ 302672 w 6723388"/>
              <a:gd name="connsiteY48" fmla="*/ 150627 h 3429000"/>
              <a:gd name="connsiteX49" fmla="*/ 339846 w 6723388"/>
              <a:gd name="connsiteY49" fmla="*/ 136736 h 3429000"/>
              <a:gd name="connsiteX50" fmla="*/ 377236 w 6723388"/>
              <a:gd name="connsiteY50" fmla="*/ 123507 h 3429000"/>
              <a:gd name="connsiteX51" fmla="*/ 414830 w 6723388"/>
              <a:gd name="connsiteY51" fmla="*/ 110941 h 3429000"/>
              <a:gd name="connsiteX52" fmla="*/ 452622 w 6723388"/>
              <a:gd name="connsiteY52" fmla="*/ 99038 h 3429000"/>
              <a:gd name="connsiteX53" fmla="*/ 490601 w 6723388"/>
              <a:gd name="connsiteY53" fmla="*/ 87802 h 3429000"/>
              <a:gd name="connsiteX54" fmla="*/ 528757 w 6723388"/>
              <a:gd name="connsiteY54" fmla="*/ 77233 h 3429000"/>
              <a:gd name="connsiteX55" fmla="*/ 567081 w 6723388"/>
              <a:gd name="connsiteY55" fmla="*/ 67335 h 3429000"/>
              <a:gd name="connsiteX56" fmla="*/ 605562 w 6723388"/>
              <a:gd name="connsiteY56" fmla="*/ 58108 h 3429000"/>
              <a:gd name="connsiteX57" fmla="*/ 644192 w 6723388"/>
              <a:gd name="connsiteY57" fmla="*/ 49552 h 3429000"/>
              <a:gd name="connsiteX58" fmla="*/ 682960 w 6723388"/>
              <a:gd name="connsiteY58" fmla="*/ 41672 h 3429000"/>
              <a:gd name="connsiteX59" fmla="*/ 721857 w 6723388"/>
              <a:gd name="connsiteY59" fmla="*/ 34467 h 3429000"/>
              <a:gd name="connsiteX60" fmla="*/ 760874 w 6723388"/>
              <a:gd name="connsiteY60" fmla="*/ 27943 h 3429000"/>
              <a:gd name="connsiteX61" fmla="*/ 799999 w 6723388"/>
              <a:gd name="connsiteY61" fmla="*/ 22096 h 3429000"/>
              <a:gd name="connsiteX62" fmla="*/ 839226 w 6723388"/>
              <a:gd name="connsiteY62" fmla="*/ 16930 h 3429000"/>
              <a:gd name="connsiteX63" fmla="*/ 878543 w 6723388"/>
              <a:gd name="connsiteY63" fmla="*/ 12449 h 3429000"/>
              <a:gd name="connsiteX64" fmla="*/ 917941 w 6723388"/>
              <a:gd name="connsiteY64" fmla="*/ 8653 h 3429000"/>
              <a:gd name="connsiteX65" fmla="*/ 957411 w 6723388"/>
              <a:gd name="connsiteY65" fmla="*/ 5543 h 3429000"/>
              <a:gd name="connsiteX66" fmla="*/ 996942 w 6723388"/>
              <a:gd name="connsiteY66" fmla="*/ 3120 h 3429000"/>
              <a:gd name="connsiteX67" fmla="*/ 1036525 w 6723388"/>
              <a:gd name="connsiteY67" fmla="*/ 1389 h 3429000"/>
              <a:gd name="connsiteX68" fmla="*/ 1076151 w 6723388"/>
              <a:gd name="connsiteY68" fmla="*/ 348 h 3429000"/>
              <a:gd name="connsiteX69" fmla="*/ 1115809 w 6723388"/>
              <a:gd name="connsiteY69" fmla="*/ 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</a:cxnLst>
            <a:rect l="l" t="t" r="r" b="b"/>
            <a:pathLst>
              <a:path w="6723388" h="3429000">
                <a:moveTo>
                  <a:pt x="1115809" y="0"/>
                </a:moveTo>
                <a:lnTo>
                  <a:pt x="1155290" y="344"/>
                </a:lnTo>
                <a:lnTo>
                  <a:pt x="1194784" y="1378"/>
                </a:lnTo>
                <a:lnTo>
                  <a:pt x="1234283" y="3103"/>
                </a:lnTo>
                <a:lnTo>
                  <a:pt x="1273777" y="5521"/>
                </a:lnTo>
                <a:lnTo>
                  <a:pt x="1313256" y="8634"/>
                </a:lnTo>
                <a:lnTo>
                  <a:pt x="1352711" y="12443"/>
                </a:lnTo>
                <a:lnTo>
                  <a:pt x="1392133" y="16950"/>
                </a:lnTo>
                <a:lnTo>
                  <a:pt x="1431511" y="22157"/>
                </a:lnTo>
                <a:lnTo>
                  <a:pt x="1470837" y="28064"/>
                </a:lnTo>
                <a:lnTo>
                  <a:pt x="1510103" y="34677"/>
                </a:lnTo>
                <a:lnTo>
                  <a:pt x="1549296" y="41992"/>
                </a:lnTo>
                <a:lnTo>
                  <a:pt x="1588409" y="50015"/>
                </a:lnTo>
                <a:lnTo>
                  <a:pt x="1627432" y="58746"/>
                </a:lnTo>
                <a:lnTo>
                  <a:pt x="1666354" y="68185"/>
                </a:lnTo>
                <a:lnTo>
                  <a:pt x="1705168" y="78338"/>
                </a:lnTo>
                <a:lnTo>
                  <a:pt x="1743864" y="89202"/>
                </a:lnTo>
                <a:lnTo>
                  <a:pt x="1782432" y="100783"/>
                </a:lnTo>
                <a:lnTo>
                  <a:pt x="1820862" y="113079"/>
                </a:lnTo>
                <a:lnTo>
                  <a:pt x="1859147" y="126093"/>
                </a:lnTo>
                <a:lnTo>
                  <a:pt x="1897275" y="139829"/>
                </a:lnTo>
                <a:lnTo>
                  <a:pt x="1935237" y="154285"/>
                </a:lnTo>
                <a:lnTo>
                  <a:pt x="1973023" y="169464"/>
                </a:lnTo>
                <a:lnTo>
                  <a:pt x="2010625" y="185368"/>
                </a:lnTo>
                <a:lnTo>
                  <a:pt x="2048033" y="202001"/>
                </a:lnTo>
                <a:lnTo>
                  <a:pt x="2085238" y="219360"/>
                </a:lnTo>
                <a:lnTo>
                  <a:pt x="2122231" y="237450"/>
                </a:lnTo>
                <a:lnTo>
                  <a:pt x="2159001" y="256272"/>
                </a:lnTo>
                <a:lnTo>
                  <a:pt x="2195538" y="275827"/>
                </a:lnTo>
                <a:lnTo>
                  <a:pt x="2231835" y="296116"/>
                </a:lnTo>
                <a:lnTo>
                  <a:pt x="2267881" y="317143"/>
                </a:lnTo>
                <a:lnTo>
                  <a:pt x="2303667" y="338908"/>
                </a:lnTo>
                <a:lnTo>
                  <a:pt x="2339183" y="361414"/>
                </a:lnTo>
                <a:lnTo>
                  <a:pt x="2374421" y="384662"/>
                </a:lnTo>
                <a:lnTo>
                  <a:pt x="2409371" y="408652"/>
                </a:lnTo>
                <a:lnTo>
                  <a:pt x="6723388" y="3429000"/>
                </a:lnTo>
                <a:lnTo>
                  <a:pt x="5076881" y="3429000"/>
                </a:lnTo>
                <a:lnTo>
                  <a:pt x="5076881" y="3423547"/>
                </a:lnTo>
                <a:lnTo>
                  <a:pt x="0" y="3423547"/>
                </a:lnTo>
                <a:lnTo>
                  <a:pt x="0" y="293402"/>
                </a:lnTo>
                <a:lnTo>
                  <a:pt x="14194" y="285341"/>
                </a:lnTo>
                <a:lnTo>
                  <a:pt x="49297" y="266224"/>
                </a:lnTo>
                <a:lnTo>
                  <a:pt x="84694" y="247754"/>
                </a:lnTo>
                <a:lnTo>
                  <a:pt x="120372" y="229934"/>
                </a:lnTo>
                <a:lnTo>
                  <a:pt x="156324" y="212764"/>
                </a:lnTo>
                <a:lnTo>
                  <a:pt x="192539" y="196247"/>
                </a:lnTo>
                <a:lnTo>
                  <a:pt x="229008" y="180384"/>
                </a:lnTo>
                <a:lnTo>
                  <a:pt x="265724" y="165177"/>
                </a:lnTo>
                <a:lnTo>
                  <a:pt x="302672" y="150627"/>
                </a:lnTo>
                <a:lnTo>
                  <a:pt x="339846" y="136736"/>
                </a:lnTo>
                <a:lnTo>
                  <a:pt x="377236" y="123507"/>
                </a:lnTo>
                <a:lnTo>
                  <a:pt x="414830" y="110941"/>
                </a:lnTo>
                <a:lnTo>
                  <a:pt x="452622" y="99038"/>
                </a:lnTo>
                <a:lnTo>
                  <a:pt x="490601" y="87802"/>
                </a:lnTo>
                <a:lnTo>
                  <a:pt x="528757" y="77233"/>
                </a:lnTo>
                <a:lnTo>
                  <a:pt x="567081" y="67335"/>
                </a:lnTo>
                <a:lnTo>
                  <a:pt x="605562" y="58108"/>
                </a:lnTo>
                <a:lnTo>
                  <a:pt x="644192" y="49552"/>
                </a:lnTo>
                <a:lnTo>
                  <a:pt x="682960" y="41672"/>
                </a:lnTo>
                <a:lnTo>
                  <a:pt x="721857" y="34467"/>
                </a:lnTo>
                <a:lnTo>
                  <a:pt x="760874" y="27943"/>
                </a:lnTo>
                <a:lnTo>
                  <a:pt x="799999" y="22096"/>
                </a:lnTo>
                <a:lnTo>
                  <a:pt x="839226" y="16930"/>
                </a:lnTo>
                <a:lnTo>
                  <a:pt x="878543" y="12449"/>
                </a:lnTo>
                <a:lnTo>
                  <a:pt x="917941" y="8653"/>
                </a:lnTo>
                <a:lnTo>
                  <a:pt x="957411" y="5543"/>
                </a:lnTo>
                <a:lnTo>
                  <a:pt x="996942" y="3120"/>
                </a:lnTo>
                <a:lnTo>
                  <a:pt x="1036525" y="1389"/>
                </a:lnTo>
                <a:lnTo>
                  <a:pt x="1076151" y="348"/>
                </a:lnTo>
                <a:lnTo>
                  <a:pt x="1115809" y="0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768690A5-C934-407D-87BA-1ACE449F8B13}"/>
              </a:ext>
            </a:extLst>
          </p:cNvPr>
          <p:cNvSpPr/>
          <p:nvPr userDrawn="1"/>
        </p:nvSpPr>
        <p:spPr>
          <a:xfrm>
            <a:off x="-262" y="6852549"/>
            <a:ext cx="5076881" cy="5453"/>
          </a:xfrm>
          <a:custGeom>
            <a:avLst/>
            <a:gdLst>
              <a:gd name="connsiteX0" fmla="*/ 0 w 5076881"/>
              <a:gd name="connsiteY0" fmla="*/ 0 h 5453"/>
              <a:gd name="connsiteX1" fmla="*/ 5076881 w 5076881"/>
              <a:gd name="connsiteY1" fmla="*/ 0 h 5453"/>
              <a:gd name="connsiteX2" fmla="*/ 5076881 w 5076881"/>
              <a:gd name="connsiteY2" fmla="*/ 5453 h 5453"/>
              <a:gd name="connsiteX3" fmla="*/ 0 w 5076881"/>
              <a:gd name="connsiteY3" fmla="*/ 5453 h 5453"/>
              <a:gd name="connsiteX4" fmla="*/ 0 w 5076881"/>
              <a:gd name="connsiteY4" fmla="*/ 0 h 54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76881" h="5453">
                <a:moveTo>
                  <a:pt x="0" y="0"/>
                </a:moveTo>
                <a:lnTo>
                  <a:pt x="5076881" y="0"/>
                </a:lnTo>
                <a:lnTo>
                  <a:pt x="5076881" y="5453"/>
                </a:lnTo>
                <a:lnTo>
                  <a:pt x="0" y="5453"/>
                </a:lnTo>
                <a:lnTo>
                  <a:pt x="0" y="0"/>
                </a:lnTo>
                <a:close/>
              </a:path>
            </a:pathLst>
          </a:custGeom>
          <a:solidFill>
            <a:srgbClr val="40B3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BCE6570-AB58-452B-B712-7412EA388347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1469818" y="3078163"/>
            <a:ext cx="9252364" cy="701675"/>
          </a:xfrm>
        </p:spPr>
        <p:txBody>
          <a:bodyPr anchor="b">
            <a:normAutofit/>
          </a:bodyPr>
          <a:lstStyle>
            <a:lvl1pPr algn="r" rtl="1">
              <a:lnSpc>
                <a:spcPct val="100000"/>
              </a:lnSpc>
              <a:defRPr sz="4000" b="0">
                <a:solidFill>
                  <a:schemeClr val="accent2"/>
                </a:solidFill>
              </a:defRPr>
            </a:lvl1pPr>
          </a:lstStyle>
          <a:p>
            <a:r>
              <a:rPr lang="ar-SA"/>
              <a:t>عنوان الفاصل الفرعي – شكل أ</a:t>
            </a:r>
            <a:endParaRPr lang="en-PH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D1868264-1F27-4726-AB66-C559742D3148}"/>
              </a:ext>
            </a:extLst>
          </p:cNvPr>
          <p:cNvSpPr/>
          <p:nvPr userDrawn="1"/>
        </p:nvSpPr>
        <p:spPr>
          <a:xfrm>
            <a:off x="-1" y="4241403"/>
            <a:ext cx="5500914" cy="2616597"/>
          </a:xfrm>
          <a:custGeom>
            <a:avLst/>
            <a:gdLst>
              <a:gd name="connsiteX0" fmla="*/ 1222325 w 5500914"/>
              <a:gd name="connsiteY0" fmla="*/ 0 h 2616597"/>
              <a:gd name="connsiteX1" fmla="*/ 1252448 w 5500914"/>
              <a:gd name="connsiteY1" fmla="*/ 263 h 2616597"/>
              <a:gd name="connsiteX2" fmla="*/ 1282583 w 5500914"/>
              <a:gd name="connsiteY2" fmla="*/ 1052 h 2616597"/>
              <a:gd name="connsiteX3" fmla="*/ 1312720 w 5500914"/>
              <a:gd name="connsiteY3" fmla="*/ 2368 h 2616597"/>
              <a:gd name="connsiteX4" fmla="*/ 1342854 w 5500914"/>
              <a:gd name="connsiteY4" fmla="*/ 4213 h 2616597"/>
              <a:gd name="connsiteX5" fmla="*/ 1372977 w 5500914"/>
              <a:gd name="connsiteY5" fmla="*/ 6588 h 2616597"/>
              <a:gd name="connsiteX6" fmla="*/ 1403081 w 5500914"/>
              <a:gd name="connsiteY6" fmla="*/ 9495 h 2616597"/>
              <a:gd name="connsiteX7" fmla="*/ 1433160 w 5500914"/>
              <a:gd name="connsiteY7" fmla="*/ 12934 h 2616597"/>
              <a:gd name="connsiteX8" fmla="*/ 1463206 w 5500914"/>
              <a:gd name="connsiteY8" fmla="*/ 16908 h 2616597"/>
              <a:gd name="connsiteX9" fmla="*/ 1493212 w 5500914"/>
              <a:gd name="connsiteY9" fmla="*/ 21415 h 2616597"/>
              <a:gd name="connsiteX10" fmla="*/ 1523171 w 5500914"/>
              <a:gd name="connsiteY10" fmla="*/ 26461 h 2616597"/>
              <a:gd name="connsiteX11" fmla="*/ 1553076 w 5500914"/>
              <a:gd name="connsiteY11" fmla="*/ 32043 h 2616597"/>
              <a:gd name="connsiteX12" fmla="*/ 1582919 w 5500914"/>
              <a:gd name="connsiteY12" fmla="*/ 38166 h 2616597"/>
              <a:gd name="connsiteX13" fmla="*/ 1612693 w 5500914"/>
              <a:gd name="connsiteY13" fmla="*/ 44828 h 2616597"/>
              <a:gd name="connsiteX14" fmla="*/ 1642391 w 5500914"/>
              <a:gd name="connsiteY14" fmla="*/ 52031 h 2616597"/>
              <a:gd name="connsiteX15" fmla="*/ 1672006 w 5500914"/>
              <a:gd name="connsiteY15" fmla="*/ 59778 h 2616597"/>
              <a:gd name="connsiteX16" fmla="*/ 1701531 w 5500914"/>
              <a:gd name="connsiteY16" fmla="*/ 68068 h 2616597"/>
              <a:gd name="connsiteX17" fmla="*/ 1730959 w 5500914"/>
              <a:gd name="connsiteY17" fmla="*/ 76905 h 2616597"/>
              <a:gd name="connsiteX18" fmla="*/ 1760281 w 5500914"/>
              <a:gd name="connsiteY18" fmla="*/ 86288 h 2616597"/>
              <a:gd name="connsiteX19" fmla="*/ 1789492 w 5500914"/>
              <a:gd name="connsiteY19" fmla="*/ 96219 h 2616597"/>
              <a:gd name="connsiteX20" fmla="*/ 1818584 w 5500914"/>
              <a:gd name="connsiteY20" fmla="*/ 106701 h 2616597"/>
              <a:gd name="connsiteX21" fmla="*/ 1847549 w 5500914"/>
              <a:gd name="connsiteY21" fmla="*/ 117732 h 2616597"/>
              <a:gd name="connsiteX22" fmla="*/ 1876380 w 5500914"/>
              <a:gd name="connsiteY22" fmla="*/ 129314 h 2616597"/>
              <a:gd name="connsiteX23" fmla="*/ 1905070 w 5500914"/>
              <a:gd name="connsiteY23" fmla="*/ 141451 h 2616597"/>
              <a:gd name="connsiteX24" fmla="*/ 1933612 w 5500914"/>
              <a:gd name="connsiteY24" fmla="*/ 154143 h 2616597"/>
              <a:gd name="connsiteX25" fmla="*/ 1962000 w 5500914"/>
              <a:gd name="connsiteY25" fmla="*/ 167389 h 2616597"/>
              <a:gd name="connsiteX26" fmla="*/ 1990226 w 5500914"/>
              <a:gd name="connsiteY26" fmla="*/ 181193 h 2616597"/>
              <a:gd name="connsiteX27" fmla="*/ 2018281 w 5500914"/>
              <a:gd name="connsiteY27" fmla="*/ 195556 h 2616597"/>
              <a:gd name="connsiteX28" fmla="*/ 2046159 w 5500914"/>
              <a:gd name="connsiteY28" fmla="*/ 210478 h 2616597"/>
              <a:gd name="connsiteX29" fmla="*/ 2073854 w 5500914"/>
              <a:gd name="connsiteY29" fmla="*/ 225960 h 2616597"/>
              <a:gd name="connsiteX30" fmla="*/ 2101357 w 5500914"/>
              <a:gd name="connsiteY30" fmla="*/ 242005 h 2616597"/>
              <a:gd name="connsiteX31" fmla="*/ 2128661 w 5500914"/>
              <a:gd name="connsiteY31" fmla="*/ 258614 h 2616597"/>
              <a:gd name="connsiteX32" fmla="*/ 2155761 w 5500914"/>
              <a:gd name="connsiteY32" fmla="*/ 275788 h 2616597"/>
              <a:gd name="connsiteX33" fmla="*/ 2182647 w 5500914"/>
              <a:gd name="connsiteY33" fmla="*/ 293527 h 2616597"/>
              <a:gd name="connsiteX34" fmla="*/ 2209314 w 5500914"/>
              <a:gd name="connsiteY34" fmla="*/ 311834 h 2616597"/>
              <a:gd name="connsiteX35" fmla="*/ 5500914 w 5500914"/>
              <a:gd name="connsiteY35" fmla="*/ 2616597 h 2616597"/>
              <a:gd name="connsiteX36" fmla="*/ 0 w 5500914"/>
              <a:gd name="connsiteY36" fmla="*/ 2616597 h 2616597"/>
              <a:gd name="connsiteX37" fmla="*/ 0 w 5500914"/>
              <a:gd name="connsiteY37" fmla="*/ 506812 h 2616597"/>
              <a:gd name="connsiteX38" fmla="*/ 11810 w 5500914"/>
              <a:gd name="connsiteY38" fmla="*/ 494949 h 2616597"/>
              <a:gd name="connsiteX39" fmla="*/ 34366 w 5500914"/>
              <a:gd name="connsiteY39" fmla="*/ 473108 h 2616597"/>
              <a:gd name="connsiteX40" fmla="*/ 57253 w 5500914"/>
              <a:gd name="connsiteY40" fmla="*/ 451741 h 2616597"/>
              <a:gd name="connsiteX41" fmla="*/ 80468 w 5500914"/>
              <a:gd name="connsiteY41" fmla="*/ 430850 h 2616597"/>
              <a:gd name="connsiteX42" fmla="*/ 104001 w 5500914"/>
              <a:gd name="connsiteY42" fmla="*/ 410434 h 2616597"/>
              <a:gd name="connsiteX43" fmla="*/ 127845 w 5500914"/>
              <a:gd name="connsiteY43" fmla="*/ 390499 h 2616597"/>
              <a:gd name="connsiteX44" fmla="*/ 151993 w 5500914"/>
              <a:gd name="connsiteY44" fmla="*/ 371043 h 2616597"/>
              <a:gd name="connsiteX45" fmla="*/ 176438 w 5500914"/>
              <a:gd name="connsiteY45" fmla="*/ 352068 h 2616597"/>
              <a:gd name="connsiteX46" fmla="*/ 201172 w 5500914"/>
              <a:gd name="connsiteY46" fmla="*/ 333574 h 2616597"/>
              <a:gd name="connsiteX47" fmla="*/ 226188 w 5500914"/>
              <a:gd name="connsiteY47" fmla="*/ 315565 h 2616597"/>
              <a:gd name="connsiteX48" fmla="*/ 251478 w 5500914"/>
              <a:gd name="connsiteY48" fmla="*/ 298041 h 2616597"/>
              <a:gd name="connsiteX49" fmla="*/ 277035 w 5500914"/>
              <a:gd name="connsiteY49" fmla="*/ 281002 h 2616597"/>
              <a:gd name="connsiteX50" fmla="*/ 302853 w 5500914"/>
              <a:gd name="connsiteY50" fmla="*/ 264452 h 2616597"/>
              <a:gd name="connsiteX51" fmla="*/ 328923 w 5500914"/>
              <a:gd name="connsiteY51" fmla="*/ 248390 h 2616597"/>
              <a:gd name="connsiteX52" fmla="*/ 355239 w 5500914"/>
              <a:gd name="connsiteY52" fmla="*/ 232819 h 2616597"/>
              <a:gd name="connsiteX53" fmla="*/ 381791 w 5500914"/>
              <a:gd name="connsiteY53" fmla="*/ 217738 h 2616597"/>
              <a:gd name="connsiteX54" fmla="*/ 408574 w 5500914"/>
              <a:gd name="connsiteY54" fmla="*/ 203150 h 2616597"/>
              <a:gd name="connsiteX55" fmla="*/ 435582 w 5500914"/>
              <a:gd name="connsiteY55" fmla="*/ 189056 h 2616597"/>
              <a:gd name="connsiteX56" fmla="*/ 462805 w 5500914"/>
              <a:gd name="connsiteY56" fmla="*/ 175458 h 2616597"/>
              <a:gd name="connsiteX57" fmla="*/ 490236 w 5500914"/>
              <a:gd name="connsiteY57" fmla="*/ 162356 h 2616597"/>
              <a:gd name="connsiteX58" fmla="*/ 517868 w 5500914"/>
              <a:gd name="connsiteY58" fmla="*/ 149752 h 2616597"/>
              <a:gd name="connsiteX59" fmla="*/ 545694 w 5500914"/>
              <a:gd name="connsiteY59" fmla="*/ 137647 h 2616597"/>
              <a:gd name="connsiteX60" fmla="*/ 573708 w 5500914"/>
              <a:gd name="connsiteY60" fmla="*/ 126043 h 2616597"/>
              <a:gd name="connsiteX61" fmla="*/ 601900 w 5500914"/>
              <a:gd name="connsiteY61" fmla="*/ 114940 h 2616597"/>
              <a:gd name="connsiteX62" fmla="*/ 630263 w 5500914"/>
              <a:gd name="connsiteY62" fmla="*/ 104341 h 2616597"/>
              <a:gd name="connsiteX63" fmla="*/ 658792 w 5500914"/>
              <a:gd name="connsiteY63" fmla="*/ 94246 h 2616597"/>
              <a:gd name="connsiteX64" fmla="*/ 687477 w 5500914"/>
              <a:gd name="connsiteY64" fmla="*/ 84657 h 2616597"/>
              <a:gd name="connsiteX65" fmla="*/ 716312 w 5500914"/>
              <a:gd name="connsiteY65" fmla="*/ 75574 h 2616597"/>
              <a:gd name="connsiteX66" fmla="*/ 745290 w 5500914"/>
              <a:gd name="connsiteY66" fmla="*/ 67000 h 2616597"/>
              <a:gd name="connsiteX67" fmla="*/ 774403 w 5500914"/>
              <a:gd name="connsiteY67" fmla="*/ 58935 h 2616597"/>
              <a:gd name="connsiteX68" fmla="*/ 803644 w 5500914"/>
              <a:gd name="connsiteY68" fmla="*/ 51382 h 2616597"/>
              <a:gd name="connsiteX69" fmla="*/ 833005 w 5500914"/>
              <a:gd name="connsiteY69" fmla="*/ 44341 h 2616597"/>
              <a:gd name="connsiteX70" fmla="*/ 862480 w 5500914"/>
              <a:gd name="connsiteY70" fmla="*/ 37812 h 2616597"/>
              <a:gd name="connsiteX71" fmla="*/ 892060 w 5500914"/>
              <a:gd name="connsiteY71" fmla="*/ 31799 h 2616597"/>
              <a:gd name="connsiteX72" fmla="*/ 921738 w 5500914"/>
              <a:gd name="connsiteY72" fmla="*/ 26301 h 2616597"/>
              <a:gd name="connsiteX73" fmla="*/ 951508 w 5500914"/>
              <a:gd name="connsiteY73" fmla="*/ 21323 h 2616597"/>
              <a:gd name="connsiteX74" fmla="*/ 981361 w 5500914"/>
              <a:gd name="connsiteY74" fmla="*/ 16861 h 2616597"/>
              <a:gd name="connsiteX75" fmla="*/ 1011291 w 5500914"/>
              <a:gd name="connsiteY75" fmla="*/ 12919 h 2616597"/>
              <a:gd name="connsiteX76" fmla="*/ 1041291 w 5500914"/>
              <a:gd name="connsiteY76" fmla="*/ 9500 h 2616597"/>
              <a:gd name="connsiteX77" fmla="*/ 1071351 w 5500914"/>
              <a:gd name="connsiteY77" fmla="*/ 6603 h 2616597"/>
              <a:gd name="connsiteX78" fmla="*/ 1101466 w 5500914"/>
              <a:gd name="connsiteY78" fmla="*/ 4230 h 2616597"/>
              <a:gd name="connsiteX79" fmla="*/ 1131629 w 5500914"/>
              <a:gd name="connsiteY79" fmla="*/ 2381 h 2616597"/>
              <a:gd name="connsiteX80" fmla="*/ 1161831 w 5500914"/>
              <a:gd name="connsiteY80" fmla="*/ 1060 h 2616597"/>
              <a:gd name="connsiteX81" fmla="*/ 1192065 w 5500914"/>
              <a:gd name="connsiteY81" fmla="*/ 266 h 2616597"/>
              <a:gd name="connsiteX82" fmla="*/ 1222325 w 5500914"/>
              <a:gd name="connsiteY82" fmla="*/ 0 h 2616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5500914" h="2616597">
                <a:moveTo>
                  <a:pt x="1222325" y="0"/>
                </a:moveTo>
                <a:lnTo>
                  <a:pt x="1252448" y="263"/>
                </a:lnTo>
                <a:lnTo>
                  <a:pt x="1282583" y="1052"/>
                </a:lnTo>
                <a:lnTo>
                  <a:pt x="1312720" y="2368"/>
                </a:lnTo>
                <a:lnTo>
                  <a:pt x="1342854" y="4213"/>
                </a:lnTo>
                <a:lnTo>
                  <a:pt x="1372977" y="6588"/>
                </a:lnTo>
                <a:lnTo>
                  <a:pt x="1403081" y="9495"/>
                </a:lnTo>
                <a:lnTo>
                  <a:pt x="1433160" y="12934"/>
                </a:lnTo>
                <a:lnTo>
                  <a:pt x="1463206" y="16908"/>
                </a:lnTo>
                <a:lnTo>
                  <a:pt x="1493212" y="21415"/>
                </a:lnTo>
                <a:lnTo>
                  <a:pt x="1523171" y="26461"/>
                </a:lnTo>
                <a:lnTo>
                  <a:pt x="1553076" y="32043"/>
                </a:lnTo>
                <a:lnTo>
                  <a:pt x="1582919" y="38166"/>
                </a:lnTo>
                <a:lnTo>
                  <a:pt x="1612693" y="44828"/>
                </a:lnTo>
                <a:lnTo>
                  <a:pt x="1642391" y="52031"/>
                </a:lnTo>
                <a:lnTo>
                  <a:pt x="1672006" y="59778"/>
                </a:lnTo>
                <a:lnTo>
                  <a:pt x="1701531" y="68068"/>
                </a:lnTo>
                <a:lnTo>
                  <a:pt x="1730959" y="76905"/>
                </a:lnTo>
                <a:lnTo>
                  <a:pt x="1760281" y="86288"/>
                </a:lnTo>
                <a:lnTo>
                  <a:pt x="1789492" y="96219"/>
                </a:lnTo>
                <a:lnTo>
                  <a:pt x="1818584" y="106701"/>
                </a:lnTo>
                <a:lnTo>
                  <a:pt x="1847549" y="117732"/>
                </a:lnTo>
                <a:lnTo>
                  <a:pt x="1876380" y="129314"/>
                </a:lnTo>
                <a:lnTo>
                  <a:pt x="1905070" y="141451"/>
                </a:lnTo>
                <a:lnTo>
                  <a:pt x="1933612" y="154143"/>
                </a:lnTo>
                <a:lnTo>
                  <a:pt x="1962000" y="167389"/>
                </a:lnTo>
                <a:lnTo>
                  <a:pt x="1990226" y="181193"/>
                </a:lnTo>
                <a:lnTo>
                  <a:pt x="2018281" y="195556"/>
                </a:lnTo>
                <a:lnTo>
                  <a:pt x="2046159" y="210478"/>
                </a:lnTo>
                <a:lnTo>
                  <a:pt x="2073854" y="225960"/>
                </a:lnTo>
                <a:lnTo>
                  <a:pt x="2101357" y="242005"/>
                </a:lnTo>
                <a:lnTo>
                  <a:pt x="2128661" y="258614"/>
                </a:lnTo>
                <a:lnTo>
                  <a:pt x="2155761" y="275788"/>
                </a:lnTo>
                <a:lnTo>
                  <a:pt x="2182647" y="293527"/>
                </a:lnTo>
                <a:lnTo>
                  <a:pt x="2209314" y="311834"/>
                </a:lnTo>
                <a:lnTo>
                  <a:pt x="5500914" y="2616597"/>
                </a:lnTo>
                <a:lnTo>
                  <a:pt x="0" y="2616597"/>
                </a:lnTo>
                <a:lnTo>
                  <a:pt x="0" y="506812"/>
                </a:lnTo>
                <a:lnTo>
                  <a:pt x="11810" y="494949"/>
                </a:lnTo>
                <a:lnTo>
                  <a:pt x="34366" y="473108"/>
                </a:lnTo>
                <a:lnTo>
                  <a:pt x="57253" y="451741"/>
                </a:lnTo>
                <a:lnTo>
                  <a:pt x="80468" y="430850"/>
                </a:lnTo>
                <a:lnTo>
                  <a:pt x="104001" y="410434"/>
                </a:lnTo>
                <a:lnTo>
                  <a:pt x="127845" y="390499"/>
                </a:lnTo>
                <a:lnTo>
                  <a:pt x="151993" y="371043"/>
                </a:lnTo>
                <a:lnTo>
                  <a:pt x="176438" y="352068"/>
                </a:lnTo>
                <a:lnTo>
                  <a:pt x="201172" y="333574"/>
                </a:lnTo>
                <a:lnTo>
                  <a:pt x="226188" y="315565"/>
                </a:lnTo>
                <a:lnTo>
                  <a:pt x="251478" y="298041"/>
                </a:lnTo>
                <a:lnTo>
                  <a:pt x="277035" y="281002"/>
                </a:lnTo>
                <a:lnTo>
                  <a:pt x="302853" y="264452"/>
                </a:lnTo>
                <a:lnTo>
                  <a:pt x="328923" y="248390"/>
                </a:lnTo>
                <a:lnTo>
                  <a:pt x="355239" y="232819"/>
                </a:lnTo>
                <a:lnTo>
                  <a:pt x="381791" y="217738"/>
                </a:lnTo>
                <a:lnTo>
                  <a:pt x="408574" y="203150"/>
                </a:lnTo>
                <a:lnTo>
                  <a:pt x="435582" y="189056"/>
                </a:lnTo>
                <a:lnTo>
                  <a:pt x="462805" y="175458"/>
                </a:lnTo>
                <a:lnTo>
                  <a:pt x="490236" y="162356"/>
                </a:lnTo>
                <a:lnTo>
                  <a:pt x="517868" y="149752"/>
                </a:lnTo>
                <a:lnTo>
                  <a:pt x="545694" y="137647"/>
                </a:lnTo>
                <a:lnTo>
                  <a:pt x="573708" y="126043"/>
                </a:lnTo>
                <a:lnTo>
                  <a:pt x="601900" y="114940"/>
                </a:lnTo>
                <a:lnTo>
                  <a:pt x="630263" y="104341"/>
                </a:lnTo>
                <a:lnTo>
                  <a:pt x="658792" y="94246"/>
                </a:lnTo>
                <a:lnTo>
                  <a:pt x="687477" y="84657"/>
                </a:lnTo>
                <a:lnTo>
                  <a:pt x="716312" y="75574"/>
                </a:lnTo>
                <a:lnTo>
                  <a:pt x="745290" y="67000"/>
                </a:lnTo>
                <a:lnTo>
                  <a:pt x="774403" y="58935"/>
                </a:lnTo>
                <a:lnTo>
                  <a:pt x="803644" y="51382"/>
                </a:lnTo>
                <a:lnTo>
                  <a:pt x="833005" y="44341"/>
                </a:lnTo>
                <a:lnTo>
                  <a:pt x="862480" y="37812"/>
                </a:lnTo>
                <a:lnTo>
                  <a:pt x="892060" y="31799"/>
                </a:lnTo>
                <a:lnTo>
                  <a:pt x="921738" y="26301"/>
                </a:lnTo>
                <a:lnTo>
                  <a:pt x="951508" y="21323"/>
                </a:lnTo>
                <a:lnTo>
                  <a:pt x="981361" y="16861"/>
                </a:lnTo>
                <a:lnTo>
                  <a:pt x="1011291" y="12919"/>
                </a:lnTo>
                <a:lnTo>
                  <a:pt x="1041291" y="9500"/>
                </a:lnTo>
                <a:lnTo>
                  <a:pt x="1071351" y="6603"/>
                </a:lnTo>
                <a:lnTo>
                  <a:pt x="1101466" y="4230"/>
                </a:lnTo>
                <a:lnTo>
                  <a:pt x="1131629" y="2381"/>
                </a:lnTo>
                <a:lnTo>
                  <a:pt x="1161831" y="1060"/>
                </a:lnTo>
                <a:lnTo>
                  <a:pt x="1192065" y="266"/>
                </a:lnTo>
                <a:lnTo>
                  <a:pt x="122232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0BACDB29-B4FD-49B4-B71D-5E32A983BDAE}"/>
              </a:ext>
            </a:extLst>
          </p:cNvPr>
          <p:cNvSpPr/>
          <p:nvPr userDrawn="1"/>
        </p:nvSpPr>
        <p:spPr>
          <a:xfrm>
            <a:off x="-261" y="4374103"/>
            <a:ext cx="5332162" cy="2483897"/>
          </a:xfrm>
          <a:custGeom>
            <a:avLst/>
            <a:gdLst>
              <a:gd name="connsiteX0" fmla="*/ 1270560 w 5332162"/>
              <a:gd name="connsiteY0" fmla="*/ 0 h 2483897"/>
              <a:gd name="connsiteX1" fmla="*/ 1299156 w 5332162"/>
              <a:gd name="connsiteY1" fmla="*/ 249 h 2483897"/>
              <a:gd name="connsiteX2" fmla="*/ 1327762 w 5332162"/>
              <a:gd name="connsiteY2" fmla="*/ 998 h 2483897"/>
              <a:gd name="connsiteX3" fmla="*/ 1356371 w 5332162"/>
              <a:gd name="connsiteY3" fmla="*/ 2248 h 2483897"/>
              <a:gd name="connsiteX4" fmla="*/ 1384977 w 5332162"/>
              <a:gd name="connsiteY4" fmla="*/ 3999 h 2483897"/>
              <a:gd name="connsiteX5" fmla="*/ 1413572 w 5332162"/>
              <a:gd name="connsiteY5" fmla="*/ 6254 h 2483897"/>
              <a:gd name="connsiteX6" fmla="*/ 1442149 w 5332162"/>
              <a:gd name="connsiteY6" fmla="*/ 9013 h 2483897"/>
              <a:gd name="connsiteX7" fmla="*/ 1470703 w 5332162"/>
              <a:gd name="connsiteY7" fmla="*/ 12278 h 2483897"/>
              <a:gd name="connsiteX8" fmla="*/ 1499225 w 5332162"/>
              <a:gd name="connsiteY8" fmla="*/ 16050 h 2483897"/>
              <a:gd name="connsiteX9" fmla="*/ 1527709 w 5332162"/>
              <a:gd name="connsiteY9" fmla="*/ 20329 h 2483897"/>
              <a:gd name="connsiteX10" fmla="*/ 1556149 w 5332162"/>
              <a:gd name="connsiteY10" fmla="*/ 25119 h 2483897"/>
              <a:gd name="connsiteX11" fmla="*/ 1584537 w 5332162"/>
              <a:gd name="connsiteY11" fmla="*/ 30418 h 2483897"/>
              <a:gd name="connsiteX12" fmla="*/ 1612867 w 5332162"/>
              <a:gd name="connsiteY12" fmla="*/ 36230 h 2483897"/>
              <a:gd name="connsiteX13" fmla="*/ 1641131 w 5332162"/>
              <a:gd name="connsiteY13" fmla="*/ 42554 h 2483897"/>
              <a:gd name="connsiteX14" fmla="*/ 1669323 w 5332162"/>
              <a:gd name="connsiteY14" fmla="*/ 49392 h 2483897"/>
              <a:gd name="connsiteX15" fmla="*/ 1697436 w 5332162"/>
              <a:gd name="connsiteY15" fmla="*/ 56746 h 2483897"/>
              <a:gd name="connsiteX16" fmla="*/ 1725464 w 5332162"/>
              <a:gd name="connsiteY16" fmla="*/ 64616 h 2483897"/>
              <a:gd name="connsiteX17" fmla="*/ 1753399 w 5332162"/>
              <a:gd name="connsiteY17" fmla="*/ 73005 h 2483897"/>
              <a:gd name="connsiteX18" fmla="*/ 1781234 w 5332162"/>
              <a:gd name="connsiteY18" fmla="*/ 81912 h 2483897"/>
              <a:gd name="connsiteX19" fmla="*/ 1808964 w 5332162"/>
              <a:gd name="connsiteY19" fmla="*/ 91339 h 2483897"/>
              <a:gd name="connsiteX20" fmla="*/ 1836580 w 5332162"/>
              <a:gd name="connsiteY20" fmla="*/ 101289 h 2483897"/>
              <a:gd name="connsiteX21" fmla="*/ 1864076 w 5332162"/>
              <a:gd name="connsiteY21" fmla="*/ 111761 h 2483897"/>
              <a:gd name="connsiteX22" fmla="*/ 1891445 w 5332162"/>
              <a:gd name="connsiteY22" fmla="*/ 122756 h 2483897"/>
              <a:gd name="connsiteX23" fmla="*/ 1918680 w 5332162"/>
              <a:gd name="connsiteY23" fmla="*/ 134277 h 2483897"/>
              <a:gd name="connsiteX24" fmla="*/ 1945775 w 5332162"/>
              <a:gd name="connsiteY24" fmla="*/ 146325 h 2483897"/>
              <a:gd name="connsiteX25" fmla="*/ 1972723 w 5332162"/>
              <a:gd name="connsiteY25" fmla="*/ 158900 h 2483897"/>
              <a:gd name="connsiteX26" fmla="*/ 1999517 w 5332162"/>
              <a:gd name="connsiteY26" fmla="*/ 172004 h 2483897"/>
              <a:gd name="connsiteX27" fmla="*/ 2026150 w 5332162"/>
              <a:gd name="connsiteY27" fmla="*/ 185638 h 2483897"/>
              <a:gd name="connsiteX28" fmla="*/ 2052614 w 5332162"/>
              <a:gd name="connsiteY28" fmla="*/ 199803 h 2483897"/>
              <a:gd name="connsiteX29" fmla="*/ 2078904 w 5332162"/>
              <a:gd name="connsiteY29" fmla="*/ 214500 h 2483897"/>
              <a:gd name="connsiteX30" fmla="*/ 2105012 w 5332162"/>
              <a:gd name="connsiteY30" fmla="*/ 229732 h 2483897"/>
              <a:gd name="connsiteX31" fmla="*/ 2130932 w 5332162"/>
              <a:gd name="connsiteY31" fmla="*/ 245498 h 2483897"/>
              <a:gd name="connsiteX32" fmla="*/ 2156657 w 5332162"/>
              <a:gd name="connsiteY32" fmla="*/ 261801 h 2483897"/>
              <a:gd name="connsiteX33" fmla="*/ 2182180 w 5332162"/>
              <a:gd name="connsiteY33" fmla="*/ 278641 h 2483897"/>
              <a:gd name="connsiteX34" fmla="*/ 2207494 w 5332162"/>
              <a:gd name="connsiteY34" fmla="*/ 296019 h 2483897"/>
              <a:gd name="connsiteX35" fmla="*/ 5332162 w 5332162"/>
              <a:gd name="connsiteY35" fmla="*/ 2483897 h 2483897"/>
              <a:gd name="connsiteX36" fmla="*/ 0 w 5332162"/>
              <a:gd name="connsiteY36" fmla="*/ 2483897 h 2483897"/>
              <a:gd name="connsiteX37" fmla="*/ 0 w 5332162"/>
              <a:gd name="connsiteY37" fmla="*/ 603646 h 2483897"/>
              <a:gd name="connsiteX38" fmla="*/ 19369 w 5332162"/>
              <a:gd name="connsiteY38" fmla="*/ 580231 h 2483897"/>
              <a:gd name="connsiteX39" fmla="*/ 39094 w 5332162"/>
              <a:gd name="connsiteY39" fmla="*/ 557264 h 2483897"/>
              <a:gd name="connsiteX40" fmla="*/ 59170 w 5332162"/>
              <a:gd name="connsiteY40" fmla="*/ 534740 h 2483897"/>
              <a:gd name="connsiteX41" fmla="*/ 79590 w 5332162"/>
              <a:gd name="connsiteY41" fmla="*/ 512663 h 2483897"/>
              <a:gd name="connsiteX42" fmla="*/ 100348 w 5332162"/>
              <a:gd name="connsiteY42" fmla="*/ 491031 h 2483897"/>
              <a:gd name="connsiteX43" fmla="*/ 121436 w 5332162"/>
              <a:gd name="connsiteY43" fmla="*/ 469848 h 2483897"/>
              <a:gd name="connsiteX44" fmla="*/ 142848 w 5332162"/>
              <a:gd name="connsiteY44" fmla="*/ 449114 h 2483897"/>
              <a:gd name="connsiteX45" fmla="*/ 164575 w 5332162"/>
              <a:gd name="connsiteY45" fmla="*/ 428831 h 2483897"/>
              <a:gd name="connsiteX46" fmla="*/ 186612 w 5332162"/>
              <a:gd name="connsiteY46" fmla="*/ 408999 h 2483897"/>
              <a:gd name="connsiteX47" fmla="*/ 208952 w 5332162"/>
              <a:gd name="connsiteY47" fmla="*/ 389619 h 2483897"/>
              <a:gd name="connsiteX48" fmla="*/ 231587 w 5332162"/>
              <a:gd name="connsiteY48" fmla="*/ 370695 h 2483897"/>
              <a:gd name="connsiteX49" fmla="*/ 254510 w 5332162"/>
              <a:gd name="connsiteY49" fmla="*/ 352225 h 2483897"/>
              <a:gd name="connsiteX50" fmla="*/ 277715 w 5332162"/>
              <a:gd name="connsiteY50" fmla="*/ 334213 h 2483897"/>
              <a:gd name="connsiteX51" fmla="*/ 301195 w 5332162"/>
              <a:gd name="connsiteY51" fmla="*/ 316657 h 2483897"/>
              <a:gd name="connsiteX52" fmla="*/ 324942 w 5332162"/>
              <a:gd name="connsiteY52" fmla="*/ 299561 h 2483897"/>
              <a:gd name="connsiteX53" fmla="*/ 348950 w 5332162"/>
              <a:gd name="connsiteY53" fmla="*/ 282926 h 2483897"/>
              <a:gd name="connsiteX54" fmla="*/ 373211 w 5332162"/>
              <a:gd name="connsiteY54" fmla="*/ 266751 h 2483897"/>
              <a:gd name="connsiteX55" fmla="*/ 397719 w 5332162"/>
              <a:gd name="connsiteY55" fmla="*/ 251040 h 2483897"/>
              <a:gd name="connsiteX56" fmla="*/ 422467 w 5332162"/>
              <a:gd name="connsiteY56" fmla="*/ 235793 h 2483897"/>
              <a:gd name="connsiteX57" fmla="*/ 447448 w 5332162"/>
              <a:gd name="connsiteY57" fmla="*/ 221011 h 2483897"/>
              <a:gd name="connsiteX58" fmla="*/ 472654 w 5332162"/>
              <a:gd name="connsiteY58" fmla="*/ 206695 h 2483897"/>
              <a:gd name="connsiteX59" fmla="*/ 498079 w 5332162"/>
              <a:gd name="connsiteY59" fmla="*/ 192847 h 2483897"/>
              <a:gd name="connsiteX60" fmla="*/ 523717 w 5332162"/>
              <a:gd name="connsiteY60" fmla="*/ 179468 h 2483897"/>
              <a:gd name="connsiteX61" fmla="*/ 549559 w 5332162"/>
              <a:gd name="connsiteY61" fmla="*/ 166559 h 2483897"/>
              <a:gd name="connsiteX62" fmla="*/ 575599 w 5332162"/>
              <a:gd name="connsiteY62" fmla="*/ 154122 h 2483897"/>
              <a:gd name="connsiteX63" fmla="*/ 601830 w 5332162"/>
              <a:gd name="connsiteY63" fmla="*/ 142157 h 2483897"/>
              <a:gd name="connsiteX64" fmla="*/ 628245 w 5332162"/>
              <a:gd name="connsiteY64" fmla="*/ 130666 h 2483897"/>
              <a:gd name="connsiteX65" fmla="*/ 654838 w 5332162"/>
              <a:gd name="connsiteY65" fmla="*/ 119651 h 2483897"/>
              <a:gd name="connsiteX66" fmla="*/ 681600 w 5332162"/>
              <a:gd name="connsiteY66" fmla="*/ 109111 h 2483897"/>
              <a:gd name="connsiteX67" fmla="*/ 708525 w 5332162"/>
              <a:gd name="connsiteY67" fmla="*/ 99049 h 2483897"/>
              <a:gd name="connsiteX68" fmla="*/ 735607 w 5332162"/>
              <a:gd name="connsiteY68" fmla="*/ 89466 h 2483897"/>
              <a:gd name="connsiteX69" fmla="*/ 762837 w 5332162"/>
              <a:gd name="connsiteY69" fmla="*/ 80363 h 2483897"/>
              <a:gd name="connsiteX70" fmla="*/ 790210 w 5332162"/>
              <a:gd name="connsiteY70" fmla="*/ 71741 h 2483897"/>
              <a:gd name="connsiteX71" fmla="*/ 817718 w 5332162"/>
              <a:gd name="connsiteY71" fmla="*/ 63602 h 2483897"/>
              <a:gd name="connsiteX72" fmla="*/ 845355 w 5332162"/>
              <a:gd name="connsiteY72" fmla="*/ 55946 h 2483897"/>
              <a:gd name="connsiteX73" fmla="*/ 873113 w 5332162"/>
              <a:gd name="connsiteY73" fmla="*/ 48776 h 2483897"/>
              <a:gd name="connsiteX74" fmla="*/ 900985 w 5332162"/>
              <a:gd name="connsiteY74" fmla="*/ 42092 h 2483897"/>
              <a:gd name="connsiteX75" fmla="*/ 928965 w 5332162"/>
              <a:gd name="connsiteY75" fmla="*/ 35894 h 2483897"/>
              <a:gd name="connsiteX76" fmla="*/ 957045 w 5332162"/>
              <a:gd name="connsiteY76" fmla="*/ 30186 h 2483897"/>
              <a:gd name="connsiteX77" fmla="*/ 985218 w 5332162"/>
              <a:gd name="connsiteY77" fmla="*/ 24967 h 2483897"/>
              <a:gd name="connsiteX78" fmla="*/ 1013478 w 5332162"/>
              <a:gd name="connsiteY78" fmla="*/ 20241 h 2483897"/>
              <a:gd name="connsiteX79" fmla="*/ 1041817 w 5332162"/>
              <a:gd name="connsiteY79" fmla="*/ 16006 h 2483897"/>
              <a:gd name="connsiteX80" fmla="*/ 1070229 w 5332162"/>
              <a:gd name="connsiteY80" fmla="*/ 12264 h 2483897"/>
              <a:gd name="connsiteX81" fmla="*/ 1098707 w 5332162"/>
              <a:gd name="connsiteY81" fmla="*/ 9018 h 2483897"/>
              <a:gd name="connsiteX82" fmla="*/ 1127243 w 5332162"/>
              <a:gd name="connsiteY82" fmla="*/ 6268 h 2483897"/>
              <a:gd name="connsiteX83" fmla="*/ 1155831 w 5332162"/>
              <a:gd name="connsiteY83" fmla="*/ 4015 h 2483897"/>
              <a:gd name="connsiteX84" fmla="*/ 1184464 w 5332162"/>
              <a:gd name="connsiteY84" fmla="*/ 2260 h 2483897"/>
              <a:gd name="connsiteX85" fmla="*/ 1213134 w 5332162"/>
              <a:gd name="connsiteY85" fmla="*/ 1006 h 2483897"/>
              <a:gd name="connsiteX86" fmla="*/ 1241835 w 5332162"/>
              <a:gd name="connsiteY86" fmla="*/ 252 h 2483897"/>
              <a:gd name="connsiteX87" fmla="*/ 1270560 w 5332162"/>
              <a:gd name="connsiteY87" fmla="*/ 0 h 2483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</a:cxnLst>
            <a:rect l="l" t="t" r="r" b="b"/>
            <a:pathLst>
              <a:path w="5332162" h="2483897">
                <a:moveTo>
                  <a:pt x="1270560" y="0"/>
                </a:moveTo>
                <a:lnTo>
                  <a:pt x="1299156" y="249"/>
                </a:lnTo>
                <a:lnTo>
                  <a:pt x="1327762" y="998"/>
                </a:lnTo>
                <a:lnTo>
                  <a:pt x="1356371" y="2248"/>
                </a:lnTo>
                <a:lnTo>
                  <a:pt x="1384977" y="3999"/>
                </a:lnTo>
                <a:lnTo>
                  <a:pt x="1413572" y="6254"/>
                </a:lnTo>
                <a:lnTo>
                  <a:pt x="1442149" y="9013"/>
                </a:lnTo>
                <a:lnTo>
                  <a:pt x="1470703" y="12278"/>
                </a:lnTo>
                <a:lnTo>
                  <a:pt x="1499225" y="16050"/>
                </a:lnTo>
                <a:lnTo>
                  <a:pt x="1527709" y="20329"/>
                </a:lnTo>
                <a:lnTo>
                  <a:pt x="1556149" y="25119"/>
                </a:lnTo>
                <a:lnTo>
                  <a:pt x="1584537" y="30418"/>
                </a:lnTo>
                <a:lnTo>
                  <a:pt x="1612867" y="36230"/>
                </a:lnTo>
                <a:lnTo>
                  <a:pt x="1641131" y="42554"/>
                </a:lnTo>
                <a:lnTo>
                  <a:pt x="1669323" y="49392"/>
                </a:lnTo>
                <a:lnTo>
                  <a:pt x="1697436" y="56746"/>
                </a:lnTo>
                <a:lnTo>
                  <a:pt x="1725464" y="64616"/>
                </a:lnTo>
                <a:lnTo>
                  <a:pt x="1753399" y="73005"/>
                </a:lnTo>
                <a:lnTo>
                  <a:pt x="1781234" y="81912"/>
                </a:lnTo>
                <a:lnTo>
                  <a:pt x="1808964" y="91339"/>
                </a:lnTo>
                <a:lnTo>
                  <a:pt x="1836580" y="101289"/>
                </a:lnTo>
                <a:lnTo>
                  <a:pt x="1864076" y="111761"/>
                </a:lnTo>
                <a:lnTo>
                  <a:pt x="1891445" y="122756"/>
                </a:lnTo>
                <a:lnTo>
                  <a:pt x="1918680" y="134277"/>
                </a:lnTo>
                <a:lnTo>
                  <a:pt x="1945775" y="146325"/>
                </a:lnTo>
                <a:lnTo>
                  <a:pt x="1972723" y="158900"/>
                </a:lnTo>
                <a:lnTo>
                  <a:pt x="1999517" y="172004"/>
                </a:lnTo>
                <a:lnTo>
                  <a:pt x="2026150" y="185638"/>
                </a:lnTo>
                <a:lnTo>
                  <a:pt x="2052614" y="199803"/>
                </a:lnTo>
                <a:lnTo>
                  <a:pt x="2078904" y="214500"/>
                </a:lnTo>
                <a:lnTo>
                  <a:pt x="2105012" y="229732"/>
                </a:lnTo>
                <a:lnTo>
                  <a:pt x="2130932" y="245498"/>
                </a:lnTo>
                <a:lnTo>
                  <a:pt x="2156657" y="261801"/>
                </a:lnTo>
                <a:lnTo>
                  <a:pt x="2182180" y="278641"/>
                </a:lnTo>
                <a:lnTo>
                  <a:pt x="2207494" y="296019"/>
                </a:lnTo>
                <a:lnTo>
                  <a:pt x="5332162" y="2483897"/>
                </a:lnTo>
                <a:lnTo>
                  <a:pt x="0" y="2483897"/>
                </a:lnTo>
                <a:lnTo>
                  <a:pt x="0" y="603646"/>
                </a:lnTo>
                <a:lnTo>
                  <a:pt x="19369" y="580231"/>
                </a:lnTo>
                <a:lnTo>
                  <a:pt x="39094" y="557264"/>
                </a:lnTo>
                <a:lnTo>
                  <a:pt x="59170" y="534740"/>
                </a:lnTo>
                <a:lnTo>
                  <a:pt x="79590" y="512663"/>
                </a:lnTo>
                <a:lnTo>
                  <a:pt x="100348" y="491031"/>
                </a:lnTo>
                <a:lnTo>
                  <a:pt x="121436" y="469848"/>
                </a:lnTo>
                <a:lnTo>
                  <a:pt x="142848" y="449114"/>
                </a:lnTo>
                <a:lnTo>
                  <a:pt x="164575" y="428831"/>
                </a:lnTo>
                <a:lnTo>
                  <a:pt x="186612" y="408999"/>
                </a:lnTo>
                <a:lnTo>
                  <a:pt x="208952" y="389619"/>
                </a:lnTo>
                <a:lnTo>
                  <a:pt x="231587" y="370695"/>
                </a:lnTo>
                <a:lnTo>
                  <a:pt x="254510" y="352225"/>
                </a:lnTo>
                <a:lnTo>
                  <a:pt x="277715" y="334213"/>
                </a:lnTo>
                <a:lnTo>
                  <a:pt x="301195" y="316657"/>
                </a:lnTo>
                <a:lnTo>
                  <a:pt x="324942" y="299561"/>
                </a:lnTo>
                <a:lnTo>
                  <a:pt x="348950" y="282926"/>
                </a:lnTo>
                <a:lnTo>
                  <a:pt x="373211" y="266751"/>
                </a:lnTo>
                <a:lnTo>
                  <a:pt x="397719" y="251040"/>
                </a:lnTo>
                <a:lnTo>
                  <a:pt x="422467" y="235793"/>
                </a:lnTo>
                <a:lnTo>
                  <a:pt x="447448" y="221011"/>
                </a:lnTo>
                <a:lnTo>
                  <a:pt x="472654" y="206695"/>
                </a:lnTo>
                <a:lnTo>
                  <a:pt x="498079" y="192847"/>
                </a:lnTo>
                <a:lnTo>
                  <a:pt x="523717" y="179468"/>
                </a:lnTo>
                <a:lnTo>
                  <a:pt x="549559" y="166559"/>
                </a:lnTo>
                <a:lnTo>
                  <a:pt x="575599" y="154122"/>
                </a:lnTo>
                <a:lnTo>
                  <a:pt x="601830" y="142157"/>
                </a:lnTo>
                <a:lnTo>
                  <a:pt x="628245" y="130666"/>
                </a:lnTo>
                <a:lnTo>
                  <a:pt x="654838" y="119651"/>
                </a:lnTo>
                <a:lnTo>
                  <a:pt x="681600" y="109111"/>
                </a:lnTo>
                <a:lnTo>
                  <a:pt x="708525" y="99049"/>
                </a:lnTo>
                <a:lnTo>
                  <a:pt x="735607" y="89466"/>
                </a:lnTo>
                <a:lnTo>
                  <a:pt x="762837" y="80363"/>
                </a:lnTo>
                <a:lnTo>
                  <a:pt x="790210" y="71741"/>
                </a:lnTo>
                <a:lnTo>
                  <a:pt x="817718" y="63602"/>
                </a:lnTo>
                <a:lnTo>
                  <a:pt x="845355" y="55946"/>
                </a:lnTo>
                <a:lnTo>
                  <a:pt x="873113" y="48776"/>
                </a:lnTo>
                <a:lnTo>
                  <a:pt x="900985" y="42092"/>
                </a:lnTo>
                <a:lnTo>
                  <a:pt x="928965" y="35894"/>
                </a:lnTo>
                <a:lnTo>
                  <a:pt x="957045" y="30186"/>
                </a:lnTo>
                <a:lnTo>
                  <a:pt x="985218" y="24967"/>
                </a:lnTo>
                <a:lnTo>
                  <a:pt x="1013478" y="20241"/>
                </a:lnTo>
                <a:lnTo>
                  <a:pt x="1041817" y="16006"/>
                </a:lnTo>
                <a:lnTo>
                  <a:pt x="1070229" y="12264"/>
                </a:lnTo>
                <a:lnTo>
                  <a:pt x="1098707" y="9018"/>
                </a:lnTo>
                <a:lnTo>
                  <a:pt x="1127243" y="6268"/>
                </a:lnTo>
                <a:lnTo>
                  <a:pt x="1155831" y="4015"/>
                </a:lnTo>
                <a:lnTo>
                  <a:pt x="1184464" y="2260"/>
                </a:lnTo>
                <a:lnTo>
                  <a:pt x="1213134" y="1006"/>
                </a:lnTo>
                <a:lnTo>
                  <a:pt x="1241835" y="252"/>
                </a:lnTo>
                <a:lnTo>
                  <a:pt x="1270560" y="0"/>
                </a:lnTo>
                <a:close/>
              </a:path>
            </a:pathLst>
          </a:custGeom>
          <a:solidFill>
            <a:srgbClr val="1C13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" name="bg object 18">
            <a:extLst>
              <a:ext uri="{FF2B5EF4-FFF2-40B4-BE49-F238E27FC236}">
                <a16:creationId xmlns:a16="http://schemas.microsoft.com/office/drawing/2014/main" id="{07559BD1-2907-4F08-B454-AB18301BCEA0}"/>
              </a:ext>
            </a:extLst>
          </p:cNvPr>
          <p:cNvSpPr/>
          <p:nvPr userDrawn="1"/>
        </p:nvSpPr>
        <p:spPr>
          <a:xfrm>
            <a:off x="7350027" y="-18854"/>
            <a:ext cx="4851400" cy="2491760"/>
          </a:xfrm>
          <a:custGeom>
            <a:avLst/>
            <a:gdLst/>
            <a:ahLst/>
            <a:cxnLst/>
            <a:rect l="l" t="t" r="r" b="b"/>
            <a:pathLst>
              <a:path w="11308715" h="5808345">
                <a:moveTo>
                  <a:pt x="7575915" y="5304628"/>
                </a:moveTo>
                <a:lnTo>
                  <a:pt x="7618963" y="5334181"/>
                </a:lnTo>
                <a:lnTo>
                  <a:pt x="7662366" y="5362818"/>
                </a:lnTo>
                <a:lnTo>
                  <a:pt x="7706113" y="5390542"/>
                </a:lnTo>
                <a:lnTo>
                  <a:pt x="7750191" y="5417354"/>
                </a:lnTo>
                <a:lnTo>
                  <a:pt x="7794590" y="5443256"/>
                </a:lnTo>
                <a:lnTo>
                  <a:pt x="7839298" y="5468251"/>
                </a:lnTo>
                <a:lnTo>
                  <a:pt x="7884303" y="5492340"/>
                </a:lnTo>
                <a:lnTo>
                  <a:pt x="7929593" y="5515526"/>
                </a:lnTo>
                <a:lnTo>
                  <a:pt x="7975158" y="5537810"/>
                </a:lnTo>
                <a:lnTo>
                  <a:pt x="8020984" y="5559195"/>
                </a:lnTo>
                <a:lnTo>
                  <a:pt x="8067061" y="5579682"/>
                </a:lnTo>
                <a:lnTo>
                  <a:pt x="8113377" y="5599275"/>
                </a:lnTo>
                <a:lnTo>
                  <a:pt x="8159920" y="5617974"/>
                </a:lnTo>
                <a:lnTo>
                  <a:pt x="8206679" y="5635783"/>
                </a:lnTo>
                <a:lnTo>
                  <a:pt x="8253641" y="5652703"/>
                </a:lnTo>
                <a:lnTo>
                  <a:pt x="8300797" y="5668735"/>
                </a:lnTo>
                <a:lnTo>
                  <a:pt x="8348133" y="5683883"/>
                </a:lnTo>
                <a:lnTo>
                  <a:pt x="8395638" y="5698148"/>
                </a:lnTo>
                <a:lnTo>
                  <a:pt x="8443300" y="5711533"/>
                </a:lnTo>
                <a:lnTo>
                  <a:pt x="8491109" y="5724039"/>
                </a:lnTo>
                <a:lnTo>
                  <a:pt x="8539052" y="5735668"/>
                </a:lnTo>
                <a:lnTo>
                  <a:pt x="8587117" y="5746424"/>
                </a:lnTo>
                <a:lnTo>
                  <a:pt x="8635293" y="5756306"/>
                </a:lnTo>
                <a:lnTo>
                  <a:pt x="8683569" y="5765319"/>
                </a:lnTo>
                <a:lnTo>
                  <a:pt x="8731932" y="5773463"/>
                </a:lnTo>
                <a:lnTo>
                  <a:pt x="8780371" y="5780741"/>
                </a:lnTo>
                <a:lnTo>
                  <a:pt x="8828875" y="5787156"/>
                </a:lnTo>
                <a:lnTo>
                  <a:pt x="8877432" y="5792708"/>
                </a:lnTo>
                <a:lnTo>
                  <a:pt x="8926029" y="5797400"/>
                </a:lnTo>
                <a:lnTo>
                  <a:pt x="8974656" y="5801235"/>
                </a:lnTo>
                <a:lnTo>
                  <a:pt x="9023302" y="5804214"/>
                </a:lnTo>
                <a:lnTo>
                  <a:pt x="9071953" y="5806339"/>
                </a:lnTo>
                <a:lnTo>
                  <a:pt x="9120599" y="5807612"/>
                </a:lnTo>
                <a:lnTo>
                  <a:pt x="9169228" y="5808036"/>
                </a:lnTo>
                <a:lnTo>
                  <a:pt x="9217172" y="5807624"/>
                </a:lnTo>
                <a:lnTo>
                  <a:pt x="9265077" y="5806389"/>
                </a:lnTo>
                <a:lnTo>
                  <a:pt x="9312932" y="5804334"/>
                </a:lnTo>
                <a:lnTo>
                  <a:pt x="9360726" y="5801459"/>
                </a:lnTo>
                <a:lnTo>
                  <a:pt x="9408448" y="5797768"/>
                </a:lnTo>
                <a:lnTo>
                  <a:pt x="9456086" y="5793262"/>
                </a:lnTo>
                <a:lnTo>
                  <a:pt x="9503629" y="5787943"/>
                </a:lnTo>
                <a:lnTo>
                  <a:pt x="9551066" y="5781812"/>
                </a:lnTo>
                <a:lnTo>
                  <a:pt x="9598386" y="5774874"/>
                </a:lnTo>
                <a:lnTo>
                  <a:pt x="9645578" y="5767128"/>
                </a:lnTo>
                <a:lnTo>
                  <a:pt x="9692630" y="5758577"/>
                </a:lnTo>
                <a:lnTo>
                  <a:pt x="9739532" y="5749223"/>
                </a:lnTo>
                <a:lnTo>
                  <a:pt x="9786271" y="5739068"/>
                </a:lnTo>
                <a:lnTo>
                  <a:pt x="9832837" y="5728114"/>
                </a:lnTo>
                <a:lnTo>
                  <a:pt x="9879219" y="5716364"/>
                </a:lnTo>
                <a:lnTo>
                  <a:pt x="9925406" y="5703818"/>
                </a:lnTo>
                <a:lnTo>
                  <a:pt x="9971385" y="5690479"/>
                </a:lnTo>
                <a:lnTo>
                  <a:pt x="10017147" y="5676349"/>
                </a:lnTo>
                <a:lnTo>
                  <a:pt x="10062679" y="5661430"/>
                </a:lnTo>
                <a:lnTo>
                  <a:pt x="10107971" y="5645724"/>
                </a:lnTo>
                <a:lnTo>
                  <a:pt x="10153012" y="5629233"/>
                </a:lnTo>
                <a:lnTo>
                  <a:pt x="10197789" y="5611958"/>
                </a:lnTo>
                <a:lnTo>
                  <a:pt x="10242293" y="5593903"/>
                </a:lnTo>
                <a:lnTo>
                  <a:pt x="10286512" y="5575068"/>
                </a:lnTo>
                <a:lnTo>
                  <a:pt x="10330434" y="5555456"/>
                </a:lnTo>
                <a:lnTo>
                  <a:pt x="10374049" y="5535069"/>
                </a:lnTo>
                <a:lnTo>
                  <a:pt x="10417344" y="5513909"/>
                </a:lnTo>
                <a:lnTo>
                  <a:pt x="10460310" y="5491978"/>
                </a:lnTo>
                <a:lnTo>
                  <a:pt x="10502935" y="5469277"/>
                </a:lnTo>
                <a:lnTo>
                  <a:pt x="10545208" y="5445809"/>
                </a:lnTo>
                <a:lnTo>
                  <a:pt x="10587116" y="5421576"/>
                </a:lnTo>
                <a:lnTo>
                  <a:pt x="10628651" y="5396579"/>
                </a:lnTo>
                <a:lnTo>
                  <a:pt x="10669799" y="5370822"/>
                </a:lnTo>
                <a:lnTo>
                  <a:pt x="10710550" y="5344304"/>
                </a:lnTo>
                <a:lnTo>
                  <a:pt x="10750892" y="5317030"/>
                </a:lnTo>
                <a:lnTo>
                  <a:pt x="10790815" y="5289000"/>
                </a:lnTo>
                <a:lnTo>
                  <a:pt x="10830308" y="5260217"/>
                </a:lnTo>
                <a:lnTo>
                  <a:pt x="10869358" y="5230682"/>
                </a:lnTo>
                <a:lnTo>
                  <a:pt x="10907955" y="5200398"/>
                </a:lnTo>
                <a:lnTo>
                  <a:pt x="10946088" y="5169367"/>
                </a:lnTo>
                <a:lnTo>
                  <a:pt x="10983745" y="5137590"/>
                </a:lnTo>
                <a:lnTo>
                  <a:pt x="11020916" y="5105070"/>
                </a:lnTo>
                <a:lnTo>
                  <a:pt x="11057588" y="5071808"/>
                </a:lnTo>
                <a:lnTo>
                  <a:pt x="11093752" y="5037806"/>
                </a:lnTo>
                <a:lnTo>
                  <a:pt x="11129395" y="5003068"/>
                </a:lnTo>
                <a:lnTo>
                  <a:pt x="11164506" y="4967593"/>
                </a:lnTo>
                <a:lnTo>
                  <a:pt x="11199075" y="4931386"/>
                </a:lnTo>
                <a:lnTo>
                  <a:pt x="11233090" y="4894446"/>
                </a:lnTo>
                <a:lnTo>
                  <a:pt x="11266539" y="4856777"/>
                </a:lnTo>
                <a:lnTo>
                  <a:pt x="11299413" y="4818381"/>
                </a:lnTo>
                <a:lnTo>
                  <a:pt x="11308556" y="4807302"/>
                </a:lnTo>
              </a:path>
              <a:path w="11308715" h="5808345">
                <a:moveTo>
                  <a:pt x="0" y="0"/>
                </a:moveTo>
                <a:lnTo>
                  <a:pt x="7575915" y="5304628"/>
                </a:lnTo>
              </a:path>
            </a:pathLst>
          </a:custGeom>
          <a:ln w="31412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SecloreFooter">
            <a:extLst>
              <a:ext uri="{FF2B5EF4-FFF2-40B4-BE49-F238E27FC236}">
                <a16:creationId xmlns:a16="http://schemas.microsoft.com/office/drawing/2014/main" id="{9A719DDB-9392-4994-B81B-EE6F4292B7C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0" y="6356352"/>
            <a:ext cx="12192000" cy="365125"/>
          </a:xfrm>
        </p:spPr>
        <p:txBody>
          <a:bodyPr/>
          <a:lstStyle/>
          <a:p>
            <a:r>
              <a:rPr lang="en-US"/>
              <a:t>Restricted - </a:t>
            </a:r>
            <a:r>
              <a:rPr lang="ar-SA"/>
              <a:t>مقيد</a:t>
            </a:r>
          </a:p>
        </p:txBody>
      </p:sp>
    </p:spTree>
    <p:extLst>
      <p:ext uri="{BB962C8B-B14F-4D97-AF65-F5344CB8AC3E}">
        <p14:creationId xmlns:p14="http://schemas.microsoft.com/office/powerpoint/2010/main" val="2329352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C1553407-6713-40AF-8B4B-8E90CE44C9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9819" y="3078165"/>
            <a:ext cx="9252364" cy="701675"/>
          </a:xfrm>
        </p:spPr>
        <p:txBody>
          <a:bodyPr anchor="b">
            <a:normAutofit/>
          </a:bodyPr>
          <a:lstStyle>
            <a:lvl1pPr algn="r" rtl="1">
              <a:lnSpc>
                <a:spcPct val="120000"/>
              </a:lnSpc>
              <a:defRPr sz="4000" b="0">
                <a:solidFill>
                  <a:schemeClr val="accent4"/>
                </a:solidFill>
                <a:latin typeface="DiodrumArabic-Bold" panose="00000800000000000000" pitchFamily="2" charset="-78"/>
                <a:cs typeface="DiodrumArabic-Bold" panose="00000800000000000000" pitchFamily="2" charset="-78"/>
              </a:defRPr>
            </a:lvl1pPr>
          </a:lstStyle>
          <a:p>
            <a:r>
              <a:rPr lang="ar-SA"/>
              <a:t>عنوان الشريحة الفرعية – شكل أ</a:t>
            </a:r>
            <a:endParaRPr lang="en-PH"/>
          </a:p>
        </p:txBody>
      </p:sp>
      <p:sp>
        <p:nvSpPr>
          <p:cNvPr id="5" name="rule">
            <a:extLst>
              <a:ext uri="{FF2B5EF4-FFF2-40B4-BE49-F238E27FC236}">
                <a16:creationId xmlns:a16="http://schemas.microsoft.com/office/drawing/2014/main" id="{F9C480AC-7202-4E25-9178-CE5FEFDCC19E}"/>
              </a:ext>
            </a:extLst>
          </p:cNvPr>
          <p:cNvSpPr/>
          <p:nvPr userDrawn="1"/>
        </p:nvSpPr>
        <p:spPr>
          <a:xfrm>
            <a:off x="82296" y="6500112"/>
            <a:ext cx="12109704" cy="45719"/>
          </a:xfrm>
          <a:prstGeom prst="rect">
            <a:avLst/>
          </a:prstGeom>
          <a:solidFill>
            <a:srgbClr val="E0E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0">
              <a:latin typeface="DiodrumArabic-Regular"/>
              <a:cs typeface="DiodrumArabic-Regular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53234E6-5586-4BF5-846B-B09FA1BCB76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490767" y="6549263"/>
            <a:ext cx="636222" cy="307816"/>
          </a:xfrm>
          <a:prstGeom prst="rect">
            <a:avLst/>
          </a:prstGeom>
        </p:spPr>
      </p:pic>
      <p:sp>
        <p:nvSpPr>
          <p:cNvPr id="3" name="SecloreFooter">
            <a:extLst>
              <a:ext uri="{FF2B5EF4-FFF2-40B4-BE49-F238E27FC236}">
                <a16:creationId xmlns:a16="http://schemas.microsoft.com/office/drawing/2014/main" id="{E1E05F4A-E93B-4903-BF2A-77A2CC363E9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0" y="6356352"/>
            <a:ext cx="12192000" cy="365125"/>
          </a:xfrm>
        </p:spPr>
        <p:txBody>
          <a:bodyPr/>
          <a:lstStyle/>
          <a:p>
            <a:r>
              <a:rPr lang="en-US"/>
              <a:t>Restricted - </a:t>
            </a:r>
            <a:r>
              <a:rPr lang="ar-SA"/>
              <a:t>مقيد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252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raphic 13">
            <a:extLst>
              <a:ext uri="{FF2B5EF4-FFF2-40B4-BE49-F238E27FC236}">
                <a16:creationId xmlns:a16="http://schemas.microsoft.com/office/drawing/2014/main" id="{BF2C82C8-2A88-4D52-9761-842E04832591}"/>
              </a:ext>
            </a:extLst>
          </p:cNvPr>
          <p:cNvSpPr/>
          <p:nvPr userDrawn="1"/>
        </p:nvSpPr>
        <p:spPr>
          <a:xfrm rot="16200000" flipH="1">
            <a:off x="1300166" y="3654219"/>
            <a:ext cx="1903615" cy="4503947"/>
          </a:xfrm>
          <a:custGeom>
            <a:avLst/>
            <a:gdLst>
              <a:gd name="csX0" fmla="*/ 4825865 w 4825864"/>
              <a:gd name="csY0" fmla="*/ 11417976 h 11417976"/>
              <a:gd name="csX1" fmla="*/ 637408 w 4825864"/>
              <a:gd name="csY1" fmla="*/ 8682419 h 11417976"/>
              <a:gd name="csX2" fmla="*/ 0 w 4825864"/>
              <a:gd name="csY2" fmla="*/ 7504604 h 11417976"/>
              <a:gd name="csX3" fmla="*/ 0 w 4825864"/>
              <a:gd name="csY3" fmla="*/ 0 h 11417976"/>
              <a:gd name="csX4" fmla="*/ 4825865 w 4825864"/>
              <a:gd name="csY4" fmla="*/ 0 h 11417976"/>
              <a:gd name="csX5" fmla="*/ 4825865 w 4825864"/>
              <a:gd name="csY5" fmla="*/ 11417976 h 1141797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4825864" h="11417976">
                <a:moveTo>
                  <a:pt x="4825865" y="11417976"/>
                </a:moveTo>
                <a:lnTo>
                  <a:pt x="637408" y="8682419"/>
                </a:lnTo>
                <a:cubicBezTo>
                  <a:pt x="239720" y="8422646"/>
                  <a:pt x="0" y="7979693"/>
                  <a:pt x="0" y="7504604"/>
                </a:cubicBezTo>
                <a:lnTo>
                  <a:pt x="0" y="0"/>
                </a:lnTo>
                <a:cubicBezTo>
                  <a:pt x="0" y="0"/>
                  <a:pt x="4825865" y="0"/>
                  <a:pt x="4825865" y="0"/>
                </a:cubicBezTo>
                <a:lnTo>
                  <a:pt x="4825865" y="11417976"/>
                </a:lnTo>
                <a:close/>
              </a:path>
            </a:pathLst>
          </a:custGeom>
          <a:solidFill>
            <a:schemeClr val="accent3"/>
          </a:solidFill>
          <a:ln w="5943" cap="flat">
            <a:noFill/>
            <a:prstDash val="solid"/>
            <a:miter/>
          </a:ln>
        </p:spPr>
        <p:txBody>
          <a:bodyPr/>
          <a:lstStyle/>
          <a:p>
            <a:endParaRPr lang="en-SA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3AAB0B4-C7C7-43BB-A913-3FA709B60D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9818" y="3078163"/>
            <a:ext cx="9252364" cy="701675"/>
          </a:xfrm>
        </p:spPr>
        <p:txBody>
          <a:bodyPr anchor="b">
            <a:normAutofit/>
          </a:bodyPr>
          <a:lstStyle>
            <a:lvl1pPr algn="r" rtl="1">
              <a:lnSpc>
                <a:spcPct val="100000"/>
              </a:lnSpc>
              <a:defRPr sz="4000" b="0">
                <a:solidFill>
                  <a:schemeClr val="accent4"/>
                </a:solidFill>
                <a:latin typeface="DiodrumArabic-Bold" panose="00000800000000000000" pitchFamily="2" charset="-78"/>
                <a:cs typeface="DiodrumArabic-Bold" panose="00000800000000000000" pitchFamily="2" charset="-78"/>
              </a:defRPr>
            </a:lvl1pPr>
          </a:lstStyle>
          <a:p>
            <a:r>
              <a:rPr lang="ar-SA"/>
              <a:t>عنوان الفاصل الفرعي – شكل ج</a:t>
            </a:r>
            <a:endParaRPr lang="en-PH"/>
          </a:p>
        </p:txBody>
      </p:sp>
      <p:sp>
        <p:nvSpPr>
          <p:cNvPr id="2" name="SecloreFooter">
            <a:extLst>
              <a:ext uri="{FF2B5EF4-FFF2-40B4-BE49-F238E27FC236}">
                <a16:creationId xmlns:a16="http://schemas.microsoft.com/office/drawing/2014/main" id="{73EA5B95-32D5-4298-9151-72D75D1B02B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0" y="6356352"/>
            <a:ext cx="12192000" cy="365125"/>
          </a:xfrm>
        </p:spPr>
        <p:txBody>
          <a:bodyPr/>
          <a:lstStyle/>
          <a:p>
            <a:r>
              <a:rPr lang="en-US"/>
              <a:t>Restricted - </a:t>
            </a:r>
            <a:r>
              <a:rPr lang="ar-SA"/>
              <a:t>مقيد</a:t>
            </a:r>
          </a:p>
        </p:txBody>
      </p:sp>
    </p:spTree>
    <p:extLst>
      <p:ext uri="{BB962C8B-B14F-4D97-AF65-F5344CB8AC3E}">
        <p14:creationId xmlns:p14="http://schemas.microsoft.com/office/powerpoint/2010/main" val="30752260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raphic 13">
            <a:extLst>
              <a:ext uri="{FF2B5EF4-FFF2-40B4-BE49-F238E27FC236}">
                <a16:creationId xmlns:a16="http://schemas.microsoft.com/office/drawing/2014/main" id="{B8F3E600-B447-49AB-8ABB-350FFD75FD3C}"/>
              </a:ext>
            </a:extLst>
          </p:cNvPr>
          <p:cNvSpPr/>
          <p:nvPr userDrawn="1"/>
        </p:nvSpPr>
        <p:spPr>
          <a:xfrm rot="16200000" flipH="1">
            <a:off x="1300166" y="3654219"/>
            <a:ext cx="1903615" cy="4503947"/>
          </a:xfrm>
          <a:custGeom>
            <a:avLst/>
            <a:gdLst>
              <a:gd name="csX0" fmla="*/ 4825865 w 4825864"/>
              <a:gd name="csY0" fmla="*/ 11417976 h 11417976"/>
              <a:gd name="csX1" fmla="*/ 637408 w 4825864"/>
              <a:gd name="csY1" fmla="*/ 8682419 h 11417976"/>
              <a:gd name="csX2" fmla="*/ 0 w 4825864"/>
              <a:gd name="csY2" fmla="*/ 7504604 h 11417976"/>
              <a:gd name="csX3" fmla="*/ 0 w 4825864"/>
              <a:gd name="csY3" fmla="*/ 0 h 11417976"/>
              <a:gd name="csX4" fmla="*/ 4825865 w 4825864"/>
              <a:gd name="csY4" fmla="*/ 0 h 11417976"/>
              <a:gd name="csX5" fmla="*/ 4825865 w 4825864"/>
              <a:gd name="csY5" fmla="*/ 11417976 h 1141797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4825864" h="11417976">
                <a:moveTo>
                  <a:pt x="4825865" y="11417976"/>
                </a:moveTo>
                <a:lnTo>
                  <a:pt x="637408" y="8682419"/>
                </a:lnTo>
                <a:cubicBezTo>
                  <a:pt x="239720" y="8422646"/>
                  <a:pt x="0" y="7979693"/>
                  <a:pt x="0" y="7504604"/>
                </a:cubicBezTo>
                <a:lnTo>
                  <a:pt x="0" y="0"/>
                </a:lnTo>
                <a:cubicBezTo>
                  <a:pt x="0" y="0"/>
                  <a:pt x="4825865" y="0"/>
                  <a:pt x="4825865" y="0"/>
                </a:cubicBezTo>
                <a:lnTo>
                  <a:pt x="4825865" y="11417976"/>
                </a:lnTo>
                <a:close/>
              </a:path>
            </a:pathLst>
          </a:custGeom>
          <a:solidFill>
            <a:schemeClr val="accent2"/>
          </a:solidFill>
          <a:ln w="5943" cap="flat">
            <a:noFill/>
            <a:prstDash val="solid"/>
            <a:miter/>
          </a:ln>
        </p:spPr>
        <p:txBody>
          <a:bodyPr/>
          <a:lstStyle/>
          <a:p>
            <a:endParaRPr lang="en-SA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3AAB0B4-C7C7-43BB-A913-3FA709B60D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9818" y="3078163"/>
            <a:ext cx="9252364" cy="701675"/>
          </a:xfrm>
        </p:spPr>
        <p:txBody>
          <a:bodyPr anchor="b">
            <a:normAutofit/>
          </a:bodyPr>
          <a:lstStyle>
            <a:lvl1pPr algn="r" rtl="1">
              <a:lnSpc>
                <a:spcPct val="120000"/>
              </a:lnSpc>
              <a:defRPr sz="4000" b="0">
                <a:solidFill>
                  <a:schemeClr val="accent4"/>
                </a:solidFill>
                <a:latin typeface="DiodrumArabic-Bold" panose="00000800000000000000" pitchFamily="2" charset="-78"/>
                <a:cs typeface="DiodrumArabic-Bold" panose="00000800000000000000" pitchFamily="2" charset="-78"/>
              </a:defRPr>
            </a:lvl1pPr>
          </a:lstStyle>
          <a:p>
            <a:r>
              <a:rPr lang="ar-SA"/>
              <a:t>عنوان الفاصل الفرعي – شكل ج</a:t>
            </a:r>
            <a:endParaRPr lang="en-PH"/>
          </a:p>
        </p:txBody>
      </p:sp>
      <p:sp>
        <p:nvSpPr>
          <p:cNvPr id="2" name="SecloreFooter">
            <a:extLst>
              <a:ext uri="{FF2B5EF4-FFF2-40B4-BE49-F238E27FC236}">
                <a16:creationId xmlns:a16="http://schemas.microsoft.com/office/drawing/2014/main" id="{5F278EE8-6FFA-47D4-879B-FBB98FD7042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0" y="6356352"/>
            <a:ext cx="12192000" cy="365125"/>
          </a:xfrm>
        </p:spPr>
        <p:txBody>
          <a:bodyPr/>
          <a:lstStyle/>
          <a:p>
            <a:r>
              <a:rPr lang="en-US"/>
              <a:t>Restricted - </a:t>
            </a:r>
            <a:r>
              <a:rPr lang="ar-SA"/>
              <a:t>مقيد</a:t>
            </a:r>
          </a:p>
        </p:txBody>
      </p:sp>
    </p:spTree>
    <p:extLst>
      <p:ext uri="{BB962C8B-B14F-4D97-AF65-F5344CB8AC3E}">
        <p14:creationId xmlns:p14="http://schemas.microsoft.com/office/powerpoint/2010/main" val="2708506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EB644-3B1D-473C-A428-4A084912A1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2636" y="154155"/>
            <a:ext cx="10515600" cy="603180"/>
          </a:xfrm>
        </p:spPr>
        <p:txBody>
          <a:bodyPr lIns="0" rIns="0">
            <a:noAutofit/>
          </a:bodyPr>
          <a:lstStyle>
            <a:lvl1pPr algn="r" rtl="1">
              <a:defRPr sz="2400" b="0">
                <a:solidFill>
                  <a:schemeClr val="accent4"/>
                </a:solidFill>
                <a:latin typeface="DiodrumArabic-Bold" panose="00000800000000000000" pitchFamily="2" charset="-78"/>
                <a:cs typeface="DiodrumArabic-Bold" panose="00000800000000000000" pitchFamily="2" charset="-78"/>
              </a:defRPr>
            </a:lvl1pPr>
          </a:lstStyle>
          <a:p>
            <a:r>
              <a:rPr lang="ar-SA"/>
              <a:t>العنوان هنا</a:t>
            </a:r>
            <a:endParaRPr lang="en-PH"/>
          </a:p>
        </p:txBody>
      </p:sp>
      <p:sp>
        <p:nvSpPr>
          <p:cNvPr id="22" name="Slide Number Placeholder 6">
            <a:extLst>
              <a:ext uri="{FF2B5EF4-FFF2-40B4-BE49-F238E27FC236}">
                <a16:creationId xmlns:a16="http://schemas.microsoft.com/office/drawing/2014/main" id="{5E8375B5-7A06-4F9F-B9AB-2E2D345C0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55175" y="6402478"/>
            <a:ext cx="467734" cy="206790"/>
          </a:xfrm>
        </p:spPr>
        <p:txBody>
          <a:bodyPr/>
          <a:lstStyle>
            <a:lvl1pPr algn="ctr">
              <a:defRPr sz="900" b="0">
                <a:solidFill>
                  <a:schemeClr val="bg1">
                    <a:lumMod val="65000"/>
                  </a:schemeClr>
                </a:solidFill>
                <a:latin typeface="+mj-lt"/>
              </a:defRPr>
            </a:lvl1pPr>
          </a:lstStyle>
          <a:p>
            <a:fld id="{679EF615-E246-4FA6-9E75-123AAEB83405}" type="slidenum">
              <a:rPr lang="en-PH" smtClean="0"/>
              <a:pPr/>
              <a:t>‹#›</a:t>
            </a:fld>
            <a:endParaRPr lang="en-PH"/>
          </a:p>
        </p:txBody>
      </p:sp>
      <p:pic>
        <p:nvPicPr>
          <p:cNvPr id="23" name="Graphic 22">
            <a:extLst>
              <a:ext uri="{FF2B5EF4-FFF2-40B4-BE49-F238E27FC236}">
                <a16:creationId xmlns:a16="http://schemas.microsoft.com/office/drawing/2014/main" id="{B98CEFF8-D54D-4256-B7D3-5BEC64CD3CD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82165" y="6377744"/>
            <a:ext cx="219323" cy="322339"/>
          </a:xfrm>
          <a:prstGeom prst="rect">
            <a:avLst/>
          </a:prstGeom>
        </p:spPr>
      </p:pic>
      <p:sp>
        <p:nvSpPr>
          <p:cNvPr id="4" name="SecloreFooter">
            <a:extLst>
              <a:ext uri="{FF2B5EF4-FFF2-40B4-BE49-F238E27FC236}">
                <a16:creationId xmlns:a16="http://schemas.microsoft.com/office/drawing/2014/main" id="{3482092C-CF8D-4A16-8D03-EF17DA1BCA3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0" y="6356352"/>
            <a:ext cx="12192000" cy="365125"/>
          </a:xfrm>
        </p:spPr>
        <p:txBody>
          <a:bodyPr/>
          <a:lstStyle/>
          <a:p>
            <a:r>
              <a:rPr lang="en-US"/>
              <a:t>Restricted - </a:t>
            </a:r>
            <a:r>
              <a:rPr lang="ar-SA"/>
              <a:t>مقيد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6ECE91AE-F0D1-40F0-8A05-59D18F743E7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49819"/>
          <a:stretch>
            <a:fillRect/>
          </a:stretch>
        </p:blipFill>
        <p:spPr>
          <a:xfrm>
            <a:off x="645624" y="6543461"/>
            <a:ext cx="10997507" cy="322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9823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240">
          <p15:clr>
            <a:srgbClr val="FBAE40"/>
          </p15:clr>
        </p15:guide>
        <p15:guide id="4" pos="7440">
          <p15:clr>
            <a:srgbClr val="FBAE40"/>
          </p15:clr>
        </p15:guide>
        <p15:guide id="5" orient="horz" pos="391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EB644-3B1D-473C-A428-4A084912A1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2636" y="154155"/>
            <a:ext cx="10515600" cy="603180"/>
          </a:xfrm>
        </p:spPr>
        <p:txBody>
          <a:bodyPr lIns="0" rIns="0">
            <a:noAutofit/>
          </a:bodyPr>
          <a:lstStyle>
            <a:lvl1pPr algn="r" rtl="1">
              <a:defRPr sz="2400" b="0">
                <a:solidFill>
                  <a:schemeClr val="accent4"/>
                </a:solidFill>
                <a:latin typeface="DiodrumArabic-Bold" panose="00000800000000000000" pitchFamily="2" charset="-78"/>
                <a:cs typeface="DiodrumArabic-Bold" panose="00000800000000000000" pitchFamily="2" charset="-78"/>
              </a:defRPr>
            </a:lvl1pPr>
          </a:lstStyle>
          <a:p>
            <a:r>
              <a:rPr lang="ar-SA"/>
              <a:t>العنوان هنا</a:t>
            </a:r>
            <a:endParaRPr lang="en-PH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3020FC5-0604-4C0D-B7C1-3E6CDC6B3AE1}"/>
              </a:ext>
            </a:extLst>
          </p:cNvPr>
          <p:cNvCxnSpPr>
            <a:cxnSpLocks/>
          </p:cNvCxnSpPr>
          <p:nvPr userDrawn="1"/>
        </p:nvCxnSpPr>
        <p:spPr>
          <a:xfrm>
            <a:off x="382635" y="6380480"/>
            <a:ext cx="212814" cy="0"/>
          </a:xfrm>
          <a:prstGeom prst="line">
            <a:avLst/>
          </a:prstGeom>
          <a:ln w="1905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Slide Number Placeholder 6">
            <a:extLst>
              <a:ext uri="{FF2B5EF4-FFF2-40B4-BE49-F238E27FC236}">
                <a16:creationId xmlns:a16="http://schemas.microsoft.com/office/drawing/2014/main" id="{5E8375B5-7A06-4F9F-B9AB-2E2D345C0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55175" y="6402478"/>
            <a:ext cx="467734" cy="206790"/>
          </a:xfrm>
        </p:spPr>
        <p:txBody>
          <a:bodyPr/>
          <a:lstStyle>
            <a:lvl1pPr algn="ctr">
              <a:defRPr sz="900" b="0">
                <a:solidFill>
                  <a:schemeClr val="bg1">
                    <a:lumMod val="65000"/>
                  </a:schemeClr>
                </a:solidFill>
                <a:latin typeface="+mj-lt"/>
              </a:defRPr>
            </a:lvl1pPr>
          </a:lstStyle>
          <a:p>
            <a:fld id="{679EF615-E246-4FA6-9E75-123AAEB83405}" type="slidenum">
              <a:rPr lang="en-PH" smtClean="0"/>
              <a:pPr/>
              <a:t>‹#›</a:t>
            </a:fld>
            <a:endParaRPr lang="en-PH"/>
          </a:p>
        </p:txBody>
      </p:sp>
      <p:sp>
        <p:nvSpPr>
          <p:cNvPr id="4" name="SecloreFooter">
            <a:extLst>
              <a:ext uri="{FF2B5EF4-FFF2-40B4-BE49-F238E27FC236}">
                <a16:creationId xmlns:a16="http://schemas.microsoft.com/office/drawing/2014/main" id="{3482092C-CF8D-4A16-8D03-EF17DA1BCA3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0" y="6356352"/>
            <a:ext cx="12192000" cy="365125"/>
          </a:xfrm>
        </p:spPr>
        <p:txBody>
          <a:bodyPr/>
          <a:lstStyle/>
          <a:p>
            <a:r>
              <a:rPr lang="en-US"/>
              <a:t>Restricted - </a:t>
            </a:r>
            <a:r>
              <a:rPr lang="ar-SA"/>
              <a:t>مقيد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629AD54F-E6D5-4DF5-A9DB-E397B81FBB6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82636" y="815212"/>
            <a:ext cx="10515600" cy="736254"/>
          </a:xfrm>
        </p:spPr>
        <p:txBody>
          <a:bodyPr lIns="0" rIns="0">
            <a:noAutofit/>
          </a:bodyPr>
          <a:lstStyle>
            <a:lvl1pPr marL="0" indent="0" algn="r" rtl="1">
              <a:lnSpc>
                <a:spcPct val="120000"/>
              </a:lnSpc>
              <a:spcBef>
                <a:spcPts val="0"/>
              </a:spcBef>
              <a:buNone/>
              <a:defRPr sz="1400">
                <a:solidFill>
                  <a:schemeClr val="accent4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ar-SA"/>
              <a:t>الوصف هنا</a:t>
            </a:r>
            <a:endParaRPr lang="en-US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AC9FB6FA-B9D6-4B04-BF7C-6D55F38BAE6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82165" y="6377744"/>
            <a:ext cx="219323" cy="322339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2D2F8A64-FD5F-4F76-B005-9E5968F41A5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49819"/>
          <a:stretch>
            <a:fillRect/>
          </a:stretch>
        </p:blipFill>
        <p:spPr>
          <a:xfrm>
            <a:off x="645624" y="6543461"/>
            <a:ext cx="10997507" cy="322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0256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240">
          <p15:clr>
            <a:srgbClr val="FBAE40"/>
          </p15:clr>
        </p15:guide>
        <p15:guide id="4" pos="7440">
          <p15:clr>
            <a:srgbClr val="FBAE40"/>
          </p15:clr>
        </p15:guide>
        <p15:guide id="5" orient="horz" pos="391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preserve="1" userDrawn="1">
  <p:cSld name="1_Title">
    <p:bg>
      <p:bgPr>
        <a:solidFill>
          <a:schemeClr val="lt1"/>
        </a:solidFill>
        <a:effectLst/>
      </p:bgPr>
    </p:bg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DC17A429-3830-451D-8508-FA852AF9B35A}"/>
              </a:ext>
            </a:extLst>
          </p:cNvPr>
          <p:cNvGrpSpPr/>
          <p:nvPr userDrawn="1"/>
        </p:nvGrpSpPr>
        <p:grpSpPr>
          <a:xfrm>
            <a:off x="430079" y="6380480"/>
            <a:ext cx="11331845" cy="0"/>
            <a:chOff x="286976" y="4785360"/>
            <a:chExt cx="8498884" cy="0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C0E2A229-11CD-4B73-9716-A07230D0622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86976" y="4785360"/>
              <a:ext cx="8498884" cy="0"/>
            </a:xfrm>
            <a:prstGeom prst="line">
              <a:avLst/>
            </a:prstGeom>
            <a:ln w="9525">
              <a:solidFill>
                <a:schemeClr val="accent1"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978B647C-6793-418E-8B3D-5A86EA8F834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86976" y="4785360"/>
              <a:ext cx="159611" cy="0"/>
            </a:xfrm>
            <a:prstGeom prst="line">
              <a:avLst/>
            </a:prstGeom>
            <a:ln w="19050" cap="rnd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AEB6629A-F55D-48A7-93A9-6BD8A51AC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02618" y="6402481"/>
            <a:ext cx="467735" cy="206791"/>
          </a:xfrm>
        </p:spPr>
        <p:txBody>
          <a:bodyPr/>
          <a:lstStyle>
            <a:lvl1pPr algn="ctr">
              <a:defRPr sz="900" b="0">
                <a:solidFill>
                  <a:schemeClr val="bg1">
                    <a:lumMod val="65000"/>
                  </a:schemeClr>
                </a:solidFill>
                <a:latin typeface="+mj-lt"/>
              </a:defRPr>
            </a:lvl1pPr>
          </a:lstStyle>
          <a:p>
            <a:fld id="{679EF615-E246-4FA6-9E75-123AAEB83405}" type="slidenum">
              <a:rPr lang="en-PH" smtClean="0"/>
              <a:pPr/>
              <a:t>‹#›</a:t>
            </a:fld>
            <a:endParaRPr lang="en-PH"/>
          </a:p>
        </p:txBody>
      </p:sp>
      <p:sp>
        <p:nvSpPr>
          <p:cNvPr id="2" name="SecloreFooter">
            <a:extLst>
              <a:ext uri="{FF2B5EF4-FFF2-40B4-BE49-F238E27FC236}">
                <a16:creationId xmlns:a16="http://schemas.microsoft.com/office/drawing/2014/main" id="{19B8E51E-7D23-4C18-AA42-B1D779172CE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0" y="6356352"/>
            <a:ext cx="12192000" cy="365125"/>
          </a:xfrm>
        </p:spPr>
        <p:txBody>
          <a:bodyPr/>
          <a:lstStyle/>
          <a:p>
            <a:r>
              <a:rPr lang="en-US"/>
              <a:t>Restricted - </a:t>
            </a:r>
            <a:r>
              <a:rPr lang="ar-SA"/>
              <a:t>مقيد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82203DCB-863F-43FF-BD68-D423F90451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82165" y="6377744"/>
            <a:ext cx="219323" cy="322339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F7625EF0-46DB-45B0-81F2-56A0C3C34D9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49819"/>
          <a:stretch>
            <a:fillRect/>
          </a:stretch>
        </p:blipFill>
        <p:spPr>
          <a:xfrm>
            <a:off x="645624" y="6543461"/>
            <a:ext cx="10997507" cy="322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09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loreFooter">
            <a:extLst>
              <a:ext uri="{FF2B5EF4-FFF2-40B4-BE49-F238E27FC236}">
                <a16:creationId xmlns:a16="http://schemas.microsoft.com/office/drawing/2014/main" id="{05C5A86E-C48E-4C88-896C-3AEFC52FE36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0" y="6356352"/>
            <a:ext cx="12192000" cy="365125"/>
          </a:xfrm>
        </p:spPr>
        <p:txBody>
          <a:bodyPr/>
          <a:lstStyle/>
          <a:p>
            <a:r>
              <a:rPr lang="en-US"/>
              <a:t>Restricted - </a:t>
            </a:r>
            <a:r>
              <a:rPr lang="ar-SA"/>
              <a:t>مقيد</a:t>
            </a:r>
          </a:p>
        </p:txBody>
      </p:sp>
    </p:spTree>
    <p:extLst>
      <p:ext uri="{BB962C8B-B14F-4D97-AF65-F5344CB8AC3E}">
        <p14:creationId xmlns:p14="http://schemas.microsoft.com/office/powerpoint/2010/main" val="3158086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g-flat" descr="image-1.jpg">
            <a:extLst>
              <a:ext uri="{FF2B5EF4-FFF2-40B4-BE49-F238E27FC236}">
                <a16:creationId xmlns:a16="http://schemas.microsoft.com/office/drawing/2014/main" id="{584FDC5F-368D-4894-970C-3DBFD379BB9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8" r="8"/>
          <a:stretch>
            <a:fillRect/>
          </a:stretch>
        </p:blipFill>
        <p:spPr>
          <a:xfrm flipH="1">
            <a:off x="0" y="0"/>
            <a:ext cx="12192000" cy="6859129"/>
          </a:xfrm>
          <a:prstGeom prst="rect">
            <a:avLst/>
          </a:prstGeom>
        </p:spPr>
      </p:pic>
      <p:pic>
        <p:nvPicPr>
          <p:cNvPr id="8" name="logo-dga" descr="image-2.png">
            <a:extLst>
              <a:ext uri="{FF2B5EF4-FFF2-40B4-BE49-F238E27FC236}">
                <a16:creationId xmlns:a16="http://schemas.microsoft.com/office/drawing/2014/main" id="{D43EC58E-17CF-42FF-91F0-9039593B546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t="69" b="69"/>
          <a:stretch>
            <a:fillRect/>
          </a:stretch>
        </p:blipFill>
        <p:spPr>
          <a:xfrm>
            <a:off x="9861973" y="532836"/>
            <a:ext cx="1609796" cy="494453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DBCE1AD-7BB5-4A71-8B4E-CE5D18EF56D2}"/>
              </a:ext>
            </a:extLst>
          </p:cNvPr>
          <p:cNvCxnSpPr/>
          <p:nvPr userDrawn="1"/>
        </p:nvCxnSpPr>
        <p:spPr>
          <a:xfrm>
            <a:off x="9550400" y="532836"/>
            <a:ext cx="0" cy="487680"/>
          </a:xfrm>
          <a:prstGeom prst="line">
            <a:avLst/>
          </a:prstGeom>
          <a:ln w="12700">
            <a:solidFill>
              <a:schemeClr val="bg1">
                <a:alpha val="2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AD32D34B-86E0-4FA9-A59E-C375C632BBA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550" t="23390" r="20045" b="34777"/>
          <a:stretch/>
        </p:blipFill>
        <p:spPr>
          <a:xfrm>
            <a:off x="7338510" y="416340"/>
            <a:ext cx="1796000" cy="736206"/>
          </a:xfrm>
          <a:prstGeom prst="rect">
            <a:avLst/>
          </a:prstGeom>
        </p:spPr>
      </p:pic>
      <p:sp>
        <p:nvSpPr>
          <p:cNvPr id="2" name="SecloreFooter">
            <a:extLst>
              <a:ext uri="{FF2B5EF4-FFF2-40B4-BE49-F238E27FC236}">
                <a16:creationId xmlns:a16="http://schemas.microsoft.com/office/drawing/2014/main" id="{E1710196-BA2F-487D-A358-FEC05195873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0" y="5694680"/>
            <a:ext cx="12192000" cy="649111"/>
          </a:xfrm>
        </p:spPr>
        <p:txBody>
          <a:bodyPr/>
          <a:lstStyle/>
          <a:p>
            <a:r>
              <a:rPr lang="en-US"/>
              <a:t>Restricted - </a:t>
            </a:r>
            <a:r>
              <a:rPr lang="ar-SA"/>
              <a:t>مقيد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4834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-flat" descr="image-11.jpg">
            <a:extLst>
              <a:ext uri="{FF2B5EF4-FFF2-40B4-BE49-F238E27FC236}">
                <a16:creationId xmlns:a16="http://schemas.microsoft.com/office/drawing/2014/main" id="{7843F026-56CA-4A66-AF3C-4A6D47A47DA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5000"/>
          </a:blip>
          <a:srcRect l="8" r="8"/>
          <a:stretch>
            <a:fillRect/>
          </a:stretch>
        </p:blipFill>
        <p:spPr>
          <a:xfrm>
            <a:off x="0" y="0"/>
            <a:ext cx="12192000" cy="6859129"/>
          </a:xfrm>
          <a:prstGeom prst="rect">
            <a:avLst/>
          </a:prstGeom>
        </p:spPr>
      </p:pic>
      <p:sp>
        <p:nvSpPr>
          <p:cNvPr id="12" name="SecloreFooter">
            <a:extLst>
              <a:ext uri="{FF2B5EF4-FFF2-40B4-BE49-F238E27FC236}">
                <a16:creationId xmlns:a16="http://schemas.microsoft.com/office/drawing/2014/main" id="{683AB1CE-94CB-43B3-87DF-40DC3B6AE3F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0" y="6464616"/>
            <a:ext cx="12192000" cy="281378"/>
          </a:xfrm>
        </p:spPr>
        <p:txBody>
          <a:bodyPr/>
          <a:lstStyle>
            <a:lvl1pPr>
              <a:defRPr sz="1200">
                <a:latin typeface="DiodrumArabic-Medium" panose="00000600000000000000" pitchFamily="2" charset="-78"/>
                <a:cs typeface="DiodrumArabic-Medium" panose="00000600000000000000" pitchFamily="2" charset="-78"/>
              </a:defRPr>
            </a:lvl1pPr>
          </a:lstStyle>
          <a:p>
            <a:r>
              <a:rPr lang="en-US"/>
              <a:t>Restricted - </a:t>
            </a:r>
            <a:r>
              <a:rPr lang="ar-SA"/>
              <a:t>مقيد</a:t>
            </a:r>
            <a:endParaRPr lang="en-US" dirty="0"/>
          </a:p>
        </p:txBody>
      </p:sp>
      <p:pic>
        <p:nvPicPr>
          <p:cNvPr id="5" name="logo-dga" descr="image-2.png">
            <a:extLst>
              <a:ext uri="{FF2B5EF4-FFF2-40B4-BE49-F238E27FC236}">
                <a16:creationId xmlns:a16="http://schemas.microsoft.com/office/drawing/2014/main" id="{10D251D7-66C5-4C8C-B428-64F56D687E1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t="69" b="69"/>
          <a:stretch>
            <a:fillRect/>
          </a:stretch>
        </p:blipFill>
        <p:spPr>
          <a:xfrm>
            <a:off x="9861973" y="532836"/>
            <a:ext cx="1609796" cy="494453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D044659-2392-4900-8E55-BB65287B0D44}"/>
              </a:ext>
            </a:extLst>
          </p:cNvPr>
          <p:cNvCxnSpPr/>
          <p:nvPr userDrawn="1"/>
        </p:nvCxnSpPr>
        <p:spPr>
          <a:xfrm>
            <a:off x="9550400" y="532836"/>
            <a:ext cx="0" cy="487680"/>
          </a:xfrm>
          <a:prstGeom prst="line">
            <a:avLst/>
          </a:prstGeom>
          <a:ln w="12700">
            <a:solidFill>
              <a:schemeClr val="bg1">
                <a:alpha val="2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7A318AD8-8FE0-48AC-8969-0576FA01AD5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550" t="23390" r="20045" b="34777"/>
          <a:stretch/>
        </p:blipFill>
        <p:spPr>
          <a:xfrm>
            <a:off x="7338510" y="416340"/>
            <a:ext cx="1796000" cy="736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8051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92">
          <p15:clr>
            <a:srgbClr val="FBAE40"/>
          </p15:clr>
        </p15:guide>
        <p15:guide id="2" pos="4128">
          <p15:clr>
            <a:srgbClr val="FBAE40"/>
          </p15:clr>
        </p15:guide>
        <p15:guide id="3" orient="horz" pos="135">
          <p15:clr>
            <a:srgbClr val="FBAE40"/>
          </p15:clr>
        </p15:guide>
        <p15:guide id="4" orient="horz" pos="2277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-left">
            <a:extLst>
              <a:ext uri="{FF2B5EF4-FFF2-40B4-BE49-F238E27FC236}">
                <a16:creationId xmlns:a16="http://schemas.microsoft.com/office/drawing/2014/main" id="{18A2B880-5C06-479F-8330-2DE03B08A0DE}"/>
              </a:ext>
            </a:extLst>
          </p:cNvPr>
          <p:cNvSpPr txBox="1"/>
          <p:nvPr userDrawn="1"/>
        </p:nvSpPr>
        <p:spPr>
          <a:xfrm>
            <a:off x="8310703" y="6556079"/>
            <a:ext cx="2487860" cy="10938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1">
              <a:spcAft>
                <a:spcPts val="0"/>
              </a:spcAft>
            </a:pPr>
            <a:r>
              <a:rPr lang="ar-SA" sz="711" b="0" dirty="0">
                <a:solidFill>
                  <a:schemeClr val="tx1">
                    <a:alpha val="50000"/>
                  </a:schemeClr>
                </a:solidFill>
                <a:latin typeface="DiodrumArabic-Regular"/>
                <a:ea typeface="DiodrumArabic-Regular"/>
                <a:cs typeface="DiodrumArabic-Regular"/>
              </a:rPr>
              <a:t>تطوير القيادات في مجال الذكاء الاصطناعي لكبار القادة الحكوميين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85BFF15-1B1E-444C-B348-7FBFA5BD006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78146" y="6448212"/>
            <a:ext cx="671988" cy="325120"/>
          </a:xfrm>
          <a:prstGeom prst="rect">
            <a:avLst/>
          </a:prstGeom>
        </p:spPr>
      </p:pic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5D31568-2782-4533-816B-1FD73D12A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8992" y="6540218"/>
            <a:ext cx="168139" cy="130178"/>
          </a:xfrm>
          <a:noFill/>
        </p:spPr>
        <p:txBody>
          <a:bodyPr wrap="none" lIns="0" tIns="0" rIns="0" bIns="0" anchor="ctr">
            <a:spAutoFit/>
          </a:bodyPr>
          <a:lstStyle>
            <a:lvl1pPr>
              <a:defRPr lang="en-US" sz="846" b="0" smtClean="0">
                <a:solidFill>
                  <a:srgbClr val="753BBD"/>
                </a:solidFill>
                <a:latin typeface="DiodrumArabic-Bold"/>
                <a:ea typeface="DiodrumArabic-Bold"/>
                <a:cs typeface="DiodrumArabic-Bold"/>
              </a:defRPr>
            </a:lvl1pPr>
          </a:lstStyle>
          <a:p>
            <a:pPr algn="l"/>
            <a:fld id="{C1FF6DA9-008F-8B48-92A6-B652298478BF}" type="slidenum">
              <a:rPr lang="en-US" smtClean="0"/>
              <a:pPr algn="l"/>
              <a:t>‹#›</a:t>
            </a:fld>
            <a:endParaRPr lang="en-US" dirty="0"/>
          </a:p>
        </p:txBody>
      </p:sp>
      <p:sp>
        <p:nvSpPr>
          <p:cNvPr id="19" name="rule">
            <a:extLst>
              <a:ext uri="{FF2B5EF4-FFF2-40B4-BE49-F238E27FC236}">
                <a16:creationId xmlns:a16="http://schemas.microsoft.com/office/drawing/2014/main" id="{DEB63035-875F-44D5-B338-2E208EEB84FC}"/>
              </a:ext>
            </a:extLst>
          </p:cNvPr>
          <p:cNvSpPr/>
          <p:nvPr userDrawn="1"/>
        </p:nvSpPr>
        <p:spPr>
          <a:xfrm>
            <a:off x="541867" y="1397564"/>
            <a:ext cx="11108267" cy="13547"/>
          </a:xfrm>
          <a:prstGeom prst="rect">
            <a:avLst/>
          </a:prstGeom>
          <a:solidFill>
            <a:srgbClr val="E0E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319" b="0">
              <a:latin typeface="DiodrumArabic-Regular"/>
              <a:cs typeface="DiodrumArabic-Regular"/>
            </a:endParaRPr>
          </a:p>
        </p:txBody>
      </p:sp>
      <p:sp>
        <p:nvSpPr>
          <p:cNvPr id="20" name="rule">
            <a:extLst>
              <a:ext uri="{FF2B5EF4-FFF2-40B4-BE49-F238E27FC236}">
                <a16:creationId xmlns:a16="http://schemas.microsoft.com/office/drawing/2014/main" id="{7B0BC02C-582B-42B8-A415-A9F6C9A4AA23}"/>
              </a:ext>
            </a:extLst>
          </p:cNvPr>
          <p:cNvSpPr/>
          <p:nvPr userDrawn="1"/>
        </p:nvSpPr>
        <p:spPr>
          <a:xfrm>
            <a:off x="541867" y="6418859"/>
            <a:ext cx="11108267" cy="13547"/>
          </a:xfrm>
          <a:prstGeom prst="rect">
            <a:avLst/>
          </a:prstGeom>
          <a:solidFill>
            <a:srgbClr val="E0E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319" b="0">
              <a:latin typeface="DiodrumArabic-Regular"/>
              <a:cs typeface="DiodrumArabic-Regular"/>
            </a:endParaRPr>
          </a:p>
        </p:txBody>
      </p:sp>
      <p:sp>
        <p:nvSpPr>
          <p:cNvPr id="23" name="SecloreFooter">
            <a:extLst>
              <a:ext uri="{FF2B5EF4-FFF2-40B4-BE49-F238E27FC236}">
                <a16:creationId xmlns:a16="http://schemas.microsoft.com/office/drawing/2014/main" id="{184EFBEE-87E8-45D1-90C8-DDF173E78AF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0" y="6464616"/>
            <a:ext cx="12192000" cy="281378"/>
          </a:xfrm>
        </p:spPr>
        <p:txBody>
          <a:bodyPr/>
          <a:lstStyle>
            <a:lvl1pPr>
              <a:defRPr sz="1200">
                <a:latin typeface="DiodrumArabic-Medium" panose="00000600000000000000" pitchFamily="2" charset="-78"/>
                <a:cs typeface="DiodrumArabic-Medium" panose="00000600000000000000" pitchFamily="2" charset="-78"/>
              </a:defRPr>
            </a:lvl1pPr>
          </a:lstStyle>
          <a:p>
            <a:r>
              <a:rPr lang="en-US"/>
              <a:t>Restricted - </a:t>
            </a:r>
            <a:r>
              <a:rPr lang="ar-SA"/>
              <a:t>مقيد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99797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92">
          <p15:clr>
            <a:srgbClr val="FBAE40"/>
          </p15:clr>
        </p15:guide>
        <p15:guide id="2" pos="4128">
          <p15:clr>
            <a:srgbClr val="FBAE40"/>
          </p15:clr>
        </p15:guide>
        <p15:guide id="3" orient="horz" pos="135">
          <p15:clr>
            <a:srgbClr val="FBAE40"/>
          </p15:clr>
        </p15:guide>
        <p15:guide id="4" orient="horz" pos="2277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bg-flat" descr="image-5.jpg">
            <a:extLst>
              <a:ext uri="{FF2B5EF4-FFF2-40B4-BE49-F238E27FC236}">
                <a16:creationId xmlns:a16="http://schemas.microsoft.com/office/drawing/2014/main" id="{A2D1F5AF-DF1E-424F-935C-7B217ED1DD5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8" r="8"/>
          <a:stretch>
            <a:fillRect/>
          </a:stretch>
        </p:blipFill>
        <p:spPr>
          <a:xfrm flipH="1">
            <a:off x="0" y="0"/>
            <a:ext cx="12192000" cy="6859129"/>
          </a:xfrm>
          <a:prstGeom prst="rect">
            <a:avLst/>
          </a:prstGeom>
        </p:spPr>
      </p:pic>
      <p:sp>
        <p:nvSpPr>
          <p:cNvPr id="14" name="SecloreFooter">
            <a:extLst>
              <a:ext uri="{FF2B5EF4-FFF2-40B4-BE49-F238E27FC236}">
                <a16:creationId xmlns:a16="http://schemas.microsoft.com/office/drawing/2014/main" id="{7DEA56E4-583F-4662-8F24-13C5CE347908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0" y="6464616"/>
            <a:ext cx="12192000" cy="281378"/>
          </a:xfrm>
        </p:spPr>
        <p:txBody>
          <a:bodyPr/>
          <a:lstStyle>
            <a:lvl1pPr>
              <a:defRPr sz="1200">
                <a:latin typeface="DiodrumArabic-Medium" panose="00000600000000000000" pitchFamily="2" charset="-78"/>
                <a:cs typeface="DiodrumArabic-Medium" panose="00000600000000000000" pitchFamily="2" charset="-78"/>
              </a:defRPr>
            </a:lvl1pPr>
          </a:lstStyle>
          <a:p>
            <a:r>
              <a:rPr lang="en-US"/>
              <a:t>Restricted - </a:t>
            </a:r>
            <a:r>
              <a:rPr lang="ar-SA"/>
              <a:t>مقيد</a:t>
            </a:r>
            <a:endParaRPr lang="en-US" dirty="0"/>
          </a:p>
        </p:txBody>
      </p:sp>
      <p:pic>
        <p:nvPicPr>
          <p:cNvPr id="4" name="logo-dga" descr="image-2.png">
            <a:extLst>
              <a:ext uri="{FF2B5EF4-FFF2-40B4-BE49-F238E27FC236}">
                <a16:creationId xmlns:a16="http://schemas.microsoft.com/office/drawing/2014/main" id="{D45AAD05-500C-46C8-85E6-C26700CC383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t="69" b="69"/>
          <a:stretch>
            <a:fillRect/>
          </a:stretch>
        </p:blipFill>
        <p:spPr>
          <a:xfrm>
            <a:off x="9861973" y="532836"/>
            <a:ext cx="1609796" cy="494453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DB72B9F-E4BA-433E-B9A1-32BE97743AFE}"/>
              </a:ext>
            </a:extLst>
          </p:cNvPr>
          <p:cNvCxnSpPr/>
          <p:nvPr userDrawn="1"/>
        </p:nvCxnSpPr>
        <p:spPr>
          <a:xfrm>
            <a:off x="9550400" y="532836"/>
            <a:ext cx="0" cy="487680"/>
          </a:xfrm>
          <a:prstGeom prst="line">
            <a:avLst/>
          </a:prstGeom>
          <a:ln w="12700">
            <a:solidFill>
              <a:schemeClr val="bg1">
                <a:alpha val="2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DDC6DC48-F373-464F-966C-3FE51605C56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550" t="23390" r="20045" b="34777"/>
          <a:stretch/>
        </p:blipFill>
        <p:spPr>
          <a:xfrm>
            <a:off x="7338510" y="416340"/>
            <a:ext cx="1796000" cy="736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06911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92">
          <p15:clr>
            <a:srgbClr val="FBAE40"/>
          </p15:clr>
        </p15:guide>
        <p15:guide id="2" pos="4128">
          <p15:clr>
            <a:srgbClr val="FBAE40"/>
          </p15:clr>
        </p15:guide>
        <p15:guide id="3" orient="horz" pos="135">
          <p15:clr>
            <a:srgbClr val="FBAE40"/>
          </p15:clr>
        </p15:guide>
        <p15:guide id="4" orient="horz" pos="2277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Blank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-flat" descr="image-11.jpg">
            <a:extLst>
              <a:ext uri="{FF2B5EF4-FFF2-40B4-BE49-F238E27FC236}">
                <a16:creationId xmlns:a16="http://schemas.microsoft.com/office/drawing/2014/main" id="{75C2318A-DD61-402B-A367-A6B85726FE1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8" r="8"/>
          <a:stretch>
            <a:fillRect/>
          </a:stretch>
        </p:blipFill>
        <p:spPr>
          <a:xfrm>
            <a:off x="0" y="0"/>
            <a:ext cx="12192000" cy="6859129"/>
          </a:xfrm>
          <a:prstGeom prst="rect">
            <a:avLst/>
          </a:prstGeom>
        </p:spPr>
      </p:pic>
      <p:pic>
        <p:nvPicPr>
          <p:cNvPr id="6" name="logo-dga" descr="image-2.png">
            <a:extLst>
              <a:ext uri="{FF2B5EF4-FFF2-40B4-BE49-F238E27FC236}">
                <a16:creationId xmlns:a16="http://schemas.microsoft.com/office/drawing/2014/main" id="{9A072CD7-65CE-4C94-98D9-CDFC4DF4D6A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48" r="48"/>
          <a:stretch>
            <a:fillRect/>
          </a:stretch>
        </p:blipFill>
        <p:spPr>
          <a:xfrm>
            <a:off x="4477173" y="2987040"/>
            <a:ext cx="2867378" cy="882791"/>
          </a:xfrm>
          <a:prstGeom prst="rect">
            <a:avLst/>
          </a:prstGeom>
        </p:spPr>
      </p:pic>
      <p:sp>
        <p:nvSpPr>
          <p:cNvPr id="11" name="SecloreFooter">
            <a:extLst>
              <a:ext uri="{FF2B5EF4-FFF2-40B4-BE49-F238E27FC236}">
                <a16:creationId xmlns:a16="http://schemas.microsoft.com/office/drawing/2014/main" id="{7C94650F-36DD-4EEE-A432-E7AEE3904FC4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0" y="6464616"/>
            <a:ext cx="12192000" cy="281378"/>
          </a:xfrm>
        </p:spPr>
        <p:txBody>
          <a:bodyPr/>
          <a:lstStyle>
            <a:lvl1pPr>
              <a:defRPr sz="1200">
                <a:latin typeface="DiodrumArabic-Medium" panose="00000600000000000000" pitchFamily="2" charset="-78"/>
                <a:cs typeface="DiodrumArabic-Medium" panose="00000600000000000000" pitchFamily="2" charset="-78"/>
              </a:defRPr>
            </a:lvl1pPr>
          </a:lstStyle>
          <a:p>
            <a:r>
              <a:rPr lang="en-US"/>
              <a:t>Restricted - </a:t>
            </a:r>
            <a:r>
              <a:rPr lang="ar-SA"/>
              <a:t>مقيد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48134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92">
          <p15:clr>
            <a:srgbClr val="FBAE40"/>
          </p15:clr>
        </p15:guide>
        <p15:guide id="2" pos="4128">
          <p15:clr>
            <a:srgbClr val="FBAE40"/>
          </p15:clr>
        </p15:guide>
        <p15:guide id="3" orient="horz" pos="135">
          <p15:clr>
            <a:srgbClr val="FBAE40"/>
          </p15:clr>
        </p15:guide>
        <p15:guide id="4" orient="horz" pos="2277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g-flat" descr="image-1.jpg">
            <a:extLst>
              <a:ext uri="{FF2B5EF4-FFF2-40B4-BE49-F238E27FC236}">
                <a16:creationId xmlns:a16="http://schemas.microsoft.com/office/drawing/2014/main" id="{584FDC5F-368D-4894-970C-3DBFD379BB9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8" r="8"/>
          <a:stretch>
            <a:fillRect/>
          </a:stretch>
        </p:blipFill>
        <p:spPr>
          <a:xfrm flipH="1">
            <a:off x="0" y="0"/>
            <a:ext cx="12192000" cy="6859129"/>
          </a:xfrm>
          <a:prstGeom prst="rect">
            <a:avLst/>
          </a:prstGeom>
        </p:spPr>
      </p:pic>
      <p:pic>
        <p:nvPicPr>
          <p:cNvPr id="8" name="logo-dga" descr="image-2.png">
            <a:extLst>
              <a:ext uri="{FF2B5EF4-FFF2-40B4-BE49-F238E27FC236}">
                <a16:creationId xmlns:a16="http://schemas.microsoft.com/office/drawing/2014/main" id="{D43EC58E-17CF-42FF-91F0-9039593B546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t="69" b="69"/>
          <a:stretch>
            <a:fillRect/>
          </a:stretch>
        </p:blipFill>
        <p:spPr>
          <a:xfrm>
            <a:off x="9861973" y="532836"/>
            <a:ext cx="1609796" cy="494453"/>
          </a:xfrm>
          <a:prstGeom prst="rect">
            <a:avLst/>
          </a:prstGeom>
        </p:spPr>
      </p:pic>
      <p:pic>
        <p:nvPicPr>
          <p:cNvPr id="9" name="logo-qudratak" descr="image-3.png">
            <a:extLst>
              <a:ext uri="{FF2B5EF4-FFF2-40B4-BE49-F238E27FC236}">
                <a16:creationId xmlns:a16="http://schemas.microsoft.com/office/drawing/2014/main" id="{1B2ED7BB-ABCC-4BDA-ABAF-68520E6FB2C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l="131" r="131"/>
          <a:stretch>
            <a:fillRect/>
          </a:stretch>
        </p:blipFill>
        <p:spPr>
          <a:xfrm>
            <a:off x="7836186" y="532836"/>
            <a:ext cx="1402644" cy="536814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DBCE1AD-7BB5-4A71-8B4E-CE5D18EF56D2}"/>
              </a:ext>
            </a:extLst>
          </p:cNvPr>
          <p:cNvCxnSpPr/>
          <p:nvPr userDrawn="1"/>
        </p:nvCxnSpPr>
        <p:spPr>
          <a:xfrm>
            <a:off x="9550400" y="532836"/>
            <a:ext cx="0" cy="487680"/>
          </a:xfrm>
          <a:prstGeom prst="line">
            <a:avLst/>
          </a:prstGeom>
          <a:ln w="12700">
            <a:solidFill>
              <a:schemeClr val="bg1">
                <a:alpha val="2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ecloreFooter">
            <a:extLst>
              <a:ext uri="{FF2B5EF4-FFF2-40B4-BE49-F238E27FC236}">
                <a16:creationId xmlns:a16="http://schemas.microsoft.com/office/drawing/2014/main" id="{9DBA2678-E4D4-4F84-B96A-F699C24D4B0F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0" y="6464616"/>
            <a:ext cx="12192000" cy="281378"/>
          </a:xfrm>
        </p:spPr>
        <p:txBody>
          <a:bodyPr/>
          <a:lstStyle>
            <a:lvl1pPr>
              <a:defRPr sz="1200"/>
            </a:lvl1pPr>
          </a:lstStyle>
          <a:p>
            <a:r>
              <a:rPr lang="en-US"/>
              <a:t>Restricted - </a:t>
            </a:r>
            <a:r>
              <a:rPr lang="ar-SA"/>
              <a:t>مقيد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961431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-flat" descr="image-11.jpg">
            <a:extLst>
              <a:ext uri="{FF2B5EF4-FFF2-40B4-BE49-F238E27FC236}">
                <a16:creationId xmlns:a16="http://schemas.microsoft.com/office/drawing/2014/main" id="{7843F026-56CA-4A66-AF3C-4A6D47A47DA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5000"/>
          </a:blip>
          <a:srcRect l="8" r="8"/>
          <a:stretch>
            <a:fillRect/>
          </a:stretch>
        </p:blipFill>
        <p:spPr>
          <a:xfrm>
            <a:off x="0" y="0"/>
            <a:ext cx="12192000" cy="6859129"/>
          </a:xfrm>
          <a:prstGeom prst="rect">
            <a:avLst/>
          </a:prstGeom>
        </p:spPr>
      </p:pic>
      <p:sp>
        <p:nvSpPr>
          <p:cNvPr id="12" name="SecloreFooter">
            <a:extLst>
              <a:ext uri="{FF2B5EF4-FFF2-40B4-BE49-F238E27FC236}">
                <a16:creationId xmlns:a16="http://schemas.microsoft.com/office/drawing/2014/main" id="{683AB1CE-94CB-43B3-87DF-40DC3B6AE3F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0" y="6464616"/>
            <a:ext cx="12192000" cy="281378"/>
          </a:xfrm>
        </p:spPr>
        <p:txBody>
          <a:bodyPr/>
          <a:lstStyle>
            <a:lvl1pPr>
              <a:defRPr sz="1200">
                <a:latin typeface="DiodrumArabic-Medium" panose="00000600000000000000" pitchFamily="2" charset="-78"/>
                <a:cs typeface="DiodrumArabic-Medium" panose="00000600000000000000" pitchFamily="2" charset="-78"/>
              </a:defRPr>
            </a:lvl1pPr>
          </a:lstStyle>
          <a:p>
            <a:r>
              <a:rPr lang="en-US"/>
              <a:t>Restricted - </a:t>
            </a:r>
            <a:r>
              <a:rPr lang="ar-SA"/>
              <a:t>مقيد</a:t>
            </a: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3554D16-E81B-4DA3-8416-09B77FD1B6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6668" y="502870"/>
            <a:ext cx="8430192" cy="1007593"/>
          </a:xfrm>
        </p:spPr>
        <p:txBody>
          <a:bodyPr>
            <a:normAutofit/>
          </a:bodyPr>
          <a:lstStyle>
            <a:lvl1pPr algn="r" rtl="1">
              <a:defRPr sz="3556" b="0">
                <a:ln w="12700">
                  <a:noFill/>
                </a:ln>
                <a:solidFill>
                  <a:schemeClr val="accent1"/>
                </a:solidFill>
                <a:latin typeface="DiodrumArabic-Bold" panose="00000800000000000000" pitchFamily="2" charset="-78"/>
                <a:cs typeface="DiodrumArabic-Bold" panose="00000800000000000000" pitchFamily="2" charset="-78"/>
              </a:defRPr>
            </a:lvl1pPr>
          </a:lstStyle>
          <a:p>
            <a:r>
              <a:rPr lang="ar-SA" dirty="0"/>
              <a:t>عنوان رئيسي</a:t>
            </a: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4103894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92">
          <p15:clr>
            <a:srgbClr val="FBAE40"/>
          </p15:clr>
        </p15:guide>
        <p15:guide id="2" pos="4128">
          <p15:clr>
            <a:srgbClr val="FBAE40"/>
          </p15:clr>
        </p15:guide>
        <p15:guide id="3" orient="horz" pos="135">
          <p15:clr>
            <a:srgbClr val="FBAE40"/>
          </p15:clr>
        </p15:guide>
        <p15:guide id="4" orient="horz" pos="2277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-left">
            <a:extLst>
              <a:ext uri="{FF2B5EF4-FFF2-40B4-BE49-F238E27FC236}">
                <a16:creationId xmlns:a16="http://schemas.microsoft.com/office/drawing/2014/main" id="{18A2B880-5C06-479F-8330-2DE03B08A0DE}"/>
              </a:ext>
            </a:extLst>
          </p:cNvPr>
          <p:cNvSpPr txBox="1"/>
          <p:nvPr userDrawn="1"/>
        </p:nvSpPr>
        <p:spPr>
          <a:xfrm>
            <a:off x="8310703" y="6556079"/>
            <a:ext cx="2487860" cy="10938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1">
              <a:spcAft>
                <a:spcPts val="0"/>
              </a:spcAft>
            </a:pPr>
            <a:r>
              <a:rPr lang="ar-SA" sz="711" b="0" dirty="0">
                <a:solidFill>
                  <a:schemeClr val="tx1">
                    <a:alpha val="50000"/>
                  </a:schemeClr>
                </a:solidFill>
                <a:latin typeface="DiodrumArabic-Regular"/>
                <a:ea typeface="DiodrumArabic-Regular"/>
                <a:cs typeface="DiodrumArabic-Regular"/>
              </a:rPr>
              <a:t>تطوير القيادات في مجال الذكاء الاصطناعي لكبار القادة الحكوميين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85BFF15-1B1E-444C-B348-7FBFA5BD006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78146" y="6448212"/>
            <a:ext cx="671988" cy="325120"/>
          </a:xfrm>
          <a:prstGeom prst="rect">
            <a:avLst/>
          </a:prstGeom>
        </p:spPr>
      </p:pic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5D31568-2782-4533-816B-1FD73D12A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8992" y="6540218"/>
            <a:ext cx="168139" cy="130178"/>
          </a:xfrm>
          <a:noFill/>
        </p:spPr>
        <p:txBody>
          <a:bodyPr wrap="none" lIns="0" tIns="0" rIns="0" bIns="0" anchor="ctr">
            <a:spAutoFit/>
          </a:bodyPr>
          <a:lstStyle>
            <a:lvl1pPr>
              <a:defRPr lang="en-US" sz="846" b="0" smtClean="0">
                <a:solidFill>
                  <a:srgbClr val="753BBD"/>
                </a:solidFill>
                <a:latin typeface="DiodrumArabic-Bold"/>
                <a:ea typeface="DiodrumArabic-Bold"/>
                <a:cs typeface="DiodrumArabic-Bold"/>
              </a:defRPr>
            </a:lvl1pPr>
          </a:lstStyle>
          <a:p>
            <a:pPr algn="l"/>
            <a:fld id="{C1FF6DA9-008F-8B48-92A6-B652298478BF}" type="slidenum">
              <a:rPr lang="en-US" smtClean="0"/>
              <a:pPr algn="l"/>
              <a:t>‹#›</a:t>
            </a:fld>
            <a:endParaRPr lang="en-US" dirty="0"/>
          </a:p>
        </p:txBody>
      </p:sp>
      <p:sp>
        <p:nvSpPr>
          <p:cNvPr id="19" name="rule">
            <a:extLst>
              <a:ext uri="{FF2B5EF4-FFF2-40B4-BE49-F238E27FC236}">
                <a16:creationId xmlns:a16="http://schemas.microsoft.com/office/drawing/2014/main" id="{DEB63035-875F-44D5-B338-2E208EEB84FC}"/>
              </a:ext>
            </a:extLst>
          </p:cNvPr>
          <p:cNvSpPr/>
          <p:nvPr userDrawn="1"/>
        </p:nvSpPr>
        <p:spPr>
          <a:xfrm>
            <a:off x="541867" y="1397564"/>
            <a:ext cx="11108267" cy="13547"/>
          </a:xfrm>
          <a:prstGeom prst="rect">
            <a:avLst/>
          </a:prstGeom>
          <a:solidFill>
            <a:srgbClr val="E0E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319" b="0">
              <a:latin typeface="DiodrumArabic-Regular"/>
              <a:cs typeface="DiodrumArabic-Regular"/>
            </a:endParaRPr>
          </a:p>
        </p:txBody>
      </p:sp>
      <p:sp>
        <p:nvSpPr>
          <p:cNvPr id="20" name="rule">
            <a:extLst>
              <a:ext uri="{FF2B5EF4-FFF2-40B4-BE49-F238E27FC236}">
                <a16:creationId xmlns:a16="http://schemas.microsoft.com/office/drawing/2014/main" id="{7B0BC02C-582B-42B8-A415-A9F6C9A4AA23}"/>
              </a:ext>
            </a:extLst>
          </p:cNvPr>
          <p:cNvSpPr/>
          <p:nvPr userDrawn="1"/>
        </p:nvSpPr>
        <p:spPr>
          <a:xfrm>
            <a:off x="541867" y="6418859"/>
            <a:ext cx="11108267" cy="13547"/>
          </a:xfrm>
          <a:prstGeom prst="rect">
            <a:avLst/>
          </a:prstGeom>
          <a:solidFill>
            <a:srgbClr val="E0E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319" b="0">
              <a:latin typeface="DiodrumArabic-Regular"/>
              <a:cs typeface="DiodrumArabic-Regular"/>
            </a:endParaRPr>
          </a:p>
        </p:txBody>
      </p:sp>
      <p:sp>
        <p:nvSpPr>
          <p:cNvPr id="23" name="SecloreFooter">
            <a:extLst>
              <a:ext uri="{FF2B5EF4-FFF2-40B4-BE49-F238E27FC236}">
                <a16:creationId xmlns:a16="http://schemas.microsoft.com/office/drawing/2014/main" id="{184EFBEE-87E8-45D1-90C8-DDF173E78AF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0" y="6464616"/>
            <a:ext cx="12192000" cy="281378"/>
          </a:xfrm>
        </p:spPr>
        <p:txBody>
          <a:bodyPr/>
          <a:lstStyle>
            <a:lvl1pPr>
              <a:defRPr sz="1200">
                <a:latin typeface="DiodrumArabic-Medium" panose="00000600000000000000" pitchFamily="2" charset="-78"/>
                <a:cs typeface="DiodrumArabic-Medium" panose="00000600000000000000" pitchFamily="2" charset="-78"/>
              </a:defRPr>
            </a:lvl1pPr>
          </a:lstStyle>
          <a:p>
            <a:r>
              <a:rPr lang="en-US"/>
              <a:t>Restricted - </a:t>
            </a:r>
            <a:r>
              <a:rPr lang="ar-SA"/>
              <a:t>مقيد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31466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92">
          <p15:clr>
            <a:srgbClr val="FBAE40"/>
          </p15:clr>
        </p15:guide>
        <p15:guide id="2" pos="4128">
          <p15:clr>
            <a:srgbClr val="FBAE40"/>
          </p15:clr>
        </p15:guide>
        <p15:guide id="3" orient="horz" pos="135">
          <p15:clr>
            <a:srgbClr val="FBAE40"/>
          </p15:clr>
        </p15:guide>
        <p15:guide id="4" orient="horz" pos="2277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bg-flat" descr="image-5.jpg">
            <a:extLst>
              <a:ext uri="{FF2B5EF4-FFF2-40B4-BE49-F238E27FC236}">
                <a16:creationId xmlns:a16="http://schemas.microsoft.com/office/drawing/2014/main" id="{A2D1F5AF-DF1E-424F-935C-7B217ED1DD5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8" r="8"/>
          <a:stretch>
            <a:fillRect/>
          </a:stretch>
        </p:blipFill>
        <p:spPr>
          <a:xfrm flipH="1">
            <a:off x="0" y="0"/>
            <a:ext cx="12192000" cy="6859129"/>
          </a:xfrm>
          <a:prstGeom prst="rect">
            <a:avLst/>
          </a:prstGeom>
        </p:spPr>
      </p:pic>
      <p:sp>
        <p:nvSpPr>
          <p:cNvPr id="14" name="SecloreFooter">
            <a:extLst>
              <a:ext uri="{FF2B5EF4-FFF2-40B4-BE49-F238E27FC236}">
                <a16:creationId xmlns:a16="http://schemas.microsoft.com/office/drawing/2014/main" id="{7DEA56E4-583F-4662-8F24-13C5CE347908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0" y="6464616"/>
            <a:ext cx="12192000" cy="281378"/>
          </a:xfrm>
        </p:spPr>
        <p:txBody>
          <a:bodyPr/>
          <a:lstStyle>
            <a:lvl1pPr>
              <a:defRPr sz="1200">
                <a:latin typeface="DiodrumArabic-Medium" panose="00000600000000000000" pitchFamily="2" charset="-78"/>
                <a:cs typeface="DiodrumArabic-Medium" panose="00000600000000000000" pitchFamily="2" charset="-78"/>
              </a:defRPr>
            </a:lvl1pPr>
          </a:lstStyle>
          <a:p>
            <a:r>
              <a:rPr lang="en-US"/>
              <a:t>Restricted - </a:t>
            </a:r>
            <a:r>
              <a:rPr lang="ar-SA"/>
              <a:t>مقيد</a:t>
            </a:r>
            <a:endParaRPr lang="en-US" dirty="0"/>
          </a:p>
        </p:txBody>
      </p:sp>
      <p:pic>
        <p:nvPicPr>
          <p:cNvPr id="4" name="logo-dga" descr="image-2.png">
            <a:extLst>
              <a:ext uri="{FF2B5EF4-FFF2-40B4-BE49-F238E27FC236}">
                <a16:creationId xmlns:a16="http://schemas.microsoft.com/office/drawing/2014/main" id="{1116ADD1-AD29-44EB-80DA-B9FA65EEC6E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t="69" b="69"/>
          <a:stretch>
            <a:fillRect/>
          </a:stretch>
        </p:blipFill>
        <p:spPr>
          <a:xfrm>
            <a:off x="10223480" y="415878"/>
            <a:ext cx="1609796" cy="494453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149FB92-7A5F-4A69-A931-E86A2BFBF9B3}"/>
              </a:ext>
            </a:extLst>
          </p:cNvPr>
          <p:cNvCxnSpPr/>
          <p:nvPr userDrawn="1"/>
        </p:nvCxnSpPr>
        <p:spPr>
          <a:xfrm>
            <a:off x="9911907" y="415878"/>
            <a:ext cx="0" cy="487680"/>
          </a:xfrm>
          <a:prstGeom prst="line">
            <a:avLst/>
          </a:prstGeom>
          <a:ln w="12700">
            <a:solidFill>
              <a:schemeClr val="bg1">
                <a:alpha val="2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67353D4D-1EC9-4C18-BCDF-E9229FD0F04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550" t="23390" r="20045" b="34777"/>
          <a:stretch/>
        </p:blipFill>
        <p:spPr>
          <a:xfrm>
            <a:off x="7700017" y="299382"/>
            <a:ext cx="1796000" cy="736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86379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92">
          <p15:clr>
            <a:srgbClr val="FBAE40"/>
          </p15:clr>
        </p15:guide>
        <p15:guide id="2" pos="4128">
          <p15:clr>
            <a:srgbClr val="FBAE40"/>
          </p15:clr>
        </p15:guide>
        <p15:guide id="3" orient="horz" pos="135">
          <p15:clr>
            <a:srgbClr val="FBAE40"/>
          </p15:clr>
        </p15:guide>
        <p15:guide id="4" orient="horz" pos="2277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Blank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-flat" descr="image-11.jpg">
            <a:extLst>
              <a:ext uri="{FF2B5EF4-FFF2-40B4-BE49-F238E27FC236}">
                <a16:creationId xmlns:a16="http://schemas.microsoft.com/office/drawing/2014/main" id="{75C2318A-DD61-402B-A367-A6B85726FE1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8" r="8"/>
          <a:stretch>
            <a:fillRect/>
          </a:stretch>
        </p:blipFill>
        <p:spPr>
          <a:xfrm>
            <a:off x="0" y="0"/>
            <a:ext cx="12192000" cy="6859129"/>
          </a:xfrm>
          <a:prstGeom prst="rect">
            <a:avLst/>
          </a:prstGeom>
        </p:spPr>
      </p:pic>
      <p:pic>
        <p:nvPicPr>
          <p:cNvPr id="6" name="logo-dga" descr="image-2.png">
            <a:extLst>
              <a:ext uri="{FF2B5EF4-FFF2-40B4-BE49-F238E27FC236}">
                <a16:creationId xmlns:a16="http://schemas.microsoft.com/office/drawing/2014/main" id="{9A072CD7-65CE-4C94-98D9-CDFC4DF4D6A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48" r="48"/>
          <a:stretch>
            <a:fillRect/>
          </a:stretch>
        </p:blipFill>
        <p:spPr>
          <a:xfrm>
            <a:off x="4477173" y="2987040"/>
            <a:ext cx="2867378" cy="882791"/>
          </a:xfrm>
          <a:prstGeom prst="rect">
            <a:avLst/>
          </a:prstGeom>
        </p:spPr>
      </p:pic>
      <p:sp>
        <p:nvSpPr>
          <p:cNvPr id="11" name="SecloreFooter">
            <a:extLst>
              <a:ext uri="{FF2B5EF4-FFF2-40B4-BE49-F238E27FC236}">
                <a16:creationId xmlns:a16="http://schemas.microsoft.com/office/drawing/2014/main" id="{7C94650F-36DD-4EEE-A432-E7AEE3904FC4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0" y="6464616"/>
            <a:ext cx="12192000" cy="281378"/>
          </a:xfrm>
        </p:spPr>
        <p:txBody>
          <a:bodyPr/>
          <a:lstStyle>
            <a:lvl1pPr>
              <a:defRPr sz="1200">
                <a:latin typeface="DiodrumArabic-Medium" panose="00000600000000000000" pitchFamily="2" charset="-78"/>
                <a:cs typeface="DiodrumArabic-Medium" panose="00000600000000000000" pitchFamily="2" charset="-78"/>
              </a:defRPr>
            </a:lvl1pPr>
          </a:lstStyle>
          <a:p>
            <a:r>
              <a:rPr lang="en-US"/>
              <a:t>Restricted - </a:t>
            </a:r>
            <a:r>
              <a:rPr lang="ar-SA"/>
              <a:t>مقيد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6606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92">
          <p15:clr>
            <a:srgbClr val="FBAE40"/>
          </p15:clr>
        </p15:guide>
        <p15:guide id="2" pos="4128">
          <p15:clr>
            <a:srgbClr val="FBAE40"/>
          </p15:clr>
        </p15:guide>
        <p15:guide id="3" orient="horz" pos="135">
          <p15:clr>
            <a:srgbClr val="FBAE40"/>
          </p15:clr>
        </p15:guide>
        <p15:guide id="4" orient="horz" pos="2277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vmlDrawing" Target="../drawings/vmlDrawing1.vml"/><Relationship Id="rId14" Type="http://schemas.openxmlformats.org/officeDocument/2006/relationships/tags" Target="../tags/tag2.xml"/><Relationship Id="rId15" Type="http://schemas.openxmlformats.org/officeDocument/2006/relationships/oleObject" Target="../embeddings/oleObject1.bin"/><Relationship Id="rId16" Type="http://schemas.openxmlformats.org/officeDocument/2006/relationships/image" Target="../media/image1.em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9.xml"/><Relationship Id="rId4" Type="http://schemas.openxmlformats.org/officeDocument/2006/relationships/slideLayout" Target="../slideLayouts/slideLayout20.xml"/><Relationship Id="rId5" Type="http://schemas.openxmlformats.org/officeDocument/2006/relationships/slideLayout" Target="../slideLayouts/slideLayout21.xml"/><Relationship Id="rId6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98C49C9E-12A0-868A-4B5A-9497552D988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4"/>
            </p:custDataLst>
            <p:extLst>
              <p:ext uri="{D42A27DB-BD31-4B8C-83A1-F6EECF244321}">
                <p14:modId xmlns:p14="http://schemas.microsoft.com/office/powerpoint/2010/main" val="2390952026"/>
              </p:ext>
            </p:extLst>
          </p:nvPr>
        </p:nvGraphicFramePr>
        <p:xfrm>
          <a:off x="1590" y="1590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9" name="think-cell Slide" r:id="rId15" imgW="404" imgH="405" progId="TCLayout.ActiveDocument.1">
                  <p:embed/>
                </p:oleObj>
              </mc:Choice>
              <mc:Fallback>
                <p:oleObj name="think-cell Slide" r:id="rId15" imgW="404" imgH="40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8C49C9E-12A0-868A-4B5A-9497552D98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90" y="1590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C7CB50-2B6D-4FDA-A32D-181413148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D0F775-8E19-4933-8CA0-3388875CE8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5C299A-4A6E-4170-9C3C-030A35040F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 dirty="0"/>
          </a:p>
        </p:txBody>
      </p:sp>
      <p:sp>
        <p:nvSpPr>
          <p:cNvPr id="5" name="SecloreFooter">
            <a:extLst>
              <a:ext uri="{FF2B5EF4-FFF2-40B4-BE49-F238E27FC236}">
                <a16:creationId xmlns:a16="http://schemas.microsoft.com/office/drawing/2014/main" id="{C094F7CB-4F5C-4A59-84E8-7169798B74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12192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0C231"/>
                </a:solidFill>
              </a:defRPr>
            </a:lvl1pPr>
          </a:lstStyle>
          <a:p>
            <a:r>
              <a:rPr lang="en-PH"/>
              <a:t>Restricted - </a:t>
            </a:r>
            <a:r>
              <a:rPr lang="ar-SA"/>
              <a:t>مقيد</a:t>
            </a:r>
            <a:endParaRPr lang="en-PH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BB9959-7909-4D96-B8C7-0891DCDF06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9EF615-E246-4FA6-9E75-123AAEB83405}" type="slidenum">
              <a:rPr lang="en-PH" smtClean="0"/>
              <a:t>‹#›</a:t>
            </a:fld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12173370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711" r:id="rId4"/>
    <p:sldLayoutId id="2147483686" r:id="rId5"/>
    <p:sldLayoutId id="2147483713" r:id="rId6"/>
    <p:sldLayoutId id="2147483714" r:id="rId7"/>
    <p:sldLayoutId id="2147483709" r:id="rId8"/>
    <p:sldLayoutId id="2147483715" r:id="rId9"/>
    <p:sldLayoutId id="2147483707" r:id="rId10"/>
    <p:sldLayoutId id="2147483692" r:id="rId11"/>
  </p:sldLayoutIdLst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hf hdr="0" dt="0"/>
  <p:txStyles>
    <p:titleStyle>
      <a:lvl1pPr algn="l" defTabSz="914332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4" indent="-228584" algn="l" defTabSz="914332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5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14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8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47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12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78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744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91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7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32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98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64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3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94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6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27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488245"/>
            <a:ext cx="10837333" cy="2032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0" y="2844802"/>
            <a:ext cx="10837333" cy="23435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12800" y="5694680"/>
            <a:ext cx="1986844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1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ecloreFooter"/>
          <p:cNvSpPr>
            <a:spLocks noGrp="1"/>
          </p:cNvSpPr>
          <p:nvPr>
            <p:ph type="ftr" sz="quarter" idx="3"/>
          </p:nvPr>
        </p:nvSpPr>
        <p:spPr>
          <a:xfrm>
            <a:off x="812800" y="5694680"/>
            <a:ext cx="1219200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0C231"/>
                </a:solidFill>
              </a:defRPr>
            </a:lvl1pPr>
          </a:lstStyle>
          <a:p>
            <a:r>
              <a:rPr lang="en-US"/>
              <a:t>Restricted - </a:t>
            </a:r>
            <a:r>
              <a:rPr lang="ar-SA"/>
              <a:t>مقيد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42222" y="5694680"/>
            <a:ext cx="1207911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1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9555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</p:sldLayoutIdLst>
  <p:hf hdr="0" dt="0"/>
  <p:txStyles>
    <p:titleStyle>
      <a:lvl1pPr algn="ctr" defTabSz="812810" rtl="0" eaLnBrk="1" latinLnBrk="0" hangingPunct="1">
        <a:spcBef>
          <a:spcPct val="0"/>
        </a:spcBef>
        <a:buNone/>
        <a:defRPr sz="4267" kern="1200">
          <a:solidFill>
            <a:schemeClr val="tx1"/>
          </a:solidFill>
          <a:latin typeface="DiodrumArabic-Bold"/>
          <a:ea typeface="DiodrumArabic-Bold"/>
          <a:cs typeface="DiodrumArabic-Bold"/>
        </a:defRPr>
      </a:lvl1pPr>
    </p:titleStyle>
    <p:bodyStyle>
      <a:lvl1pPr marL="609608" indent="-609608" algn="l" defTabSz="812810" rtl="0" eaLnBrk="1" latinLnBrk="0" hangingPunct="1">
        <a:spcBef>
          <a:spcPct val="20000"/>
        </a:spcBef>
        <a:buFont typeface="Arial"/>
        <a:buChar char="•"/>
        <a:defRPr sz="2844" kern="1200">
          <a:solidFill>
            <a:schemeClr val="tx1"/>
          </a:solidFill>
          <a:latin typeface="DiodrumArabic-Regular"/>
          <a:ea typeface="DiodrumArabic-Regular"/>
          <a:cs typeface="DiodrumArabic-Regular"/>
        </a:defRPr>
      </a:lvl1pPr>
      <a:lvl2pPr marL="1320817" indent="-508006" algn="l" defTabSz="812810" rtl="0" eaLnBrk="1" latinLnBrk="0" hangingPunct="1">
        <a:spcBef>
          <a:spcPct val="20000"/>
        </a:spcBef>
        <a:buFont typeface="Arial"/>
        <a:buChar char="–"/>
        <a:defRPr sz="2489" kern="1200">
          <a:solidFill>
            <a:schemeClr val="tx1"/>
          </a:solidFill>
          <a:latin typeface="DiodrumArabic-Regular"/>
          <a:ea typeface="DiodrumArabic-Regular"/>
          <a:cs typeface="DiodrumArabic-Regular"/>
        </a:defRPr>
      </a:lvl2pPr>
      <a:lvl3pPr marL="2032025" indent="-406405" algn="l" defTabSz="812810" rtl="0" eaLnBrk="1" latinLnBrk="0" hangingPunct="1">
        <a:spcBef>
          <a:spcPct val="20000"/>
        </a:spcBef>
        <a:buFont typeface="Arial"/>
        <a:buChar char="•"/>
        <a:defRPr sz="2133" kern="1200">
          <a:solidFill>
            <a:schemeClr val="tx1"/>
          </a:solidFill>
          <a:latin typeface="DiodrumArabic-Regular"/>
          <a:ea typeface="DiodrumArabic-Regular"/>
          <a:cs typeface="DiodrumArabic-Regular"/>
        </a:defRPr>
      </a:lvl3pPr>
      <a:lvl4pPr marL="2844836" indent="-406405" algn="l" defTabSz="812810" rtl="0" eaLnBrk="1" latinLnBrk="0" hangingPunct="1">
        <a:spcBef>
          <a:spcPct val="20000"/>
        </a:spcBef>
        <a:buFont typeface="Arial"/>
        <a:buChar char="–"/>
        <a:defRPr sz="1956" kern="1200">
          <a:solidFill>
            <a:schemeClr val="tx1"/>
          </a:solidFill>
          <a:latin typeface="DiodrumArabic-Regular"/>
          <a:ea typeface="DiodrumArabic-Regular"/>
          <a:cs typeface="DiodrumArabic-Regular"/>
        </a:defRPr>
      </a:lvl4pPr>
      <a:lvl5pPr marL="3657646" indent="-406405" algn="l" defTabSz="812810" rtl="0" eaLnBrk="1" latinLnBrk="0" hangingPunct="1">
        <a:spcBef>
          <a:spcPct val="20000"/>
        </a:spcBef>
        <a:buFont typeface="Arial"/>
        <a:buChar char="»"/>
        <a:defRPr sz="1956" kern="1200">
          <a:solidFill>
            <a:schemeClr val="tx1"/>
          </a:solidFill>
          <a:latin typeface="DiodrumArabic-Regular"/>
          <a:ea typeface="DiodrumArabic-Regular"/>
          <a:cs typeface="DiodrumArabic-Regular"/>
        </a:defRPr>
      </a:lvl5pPr>
      <a:lvl6pPr marL="4470456" indent="-406405" algn="l" defTabSz="812810" rtl="0" eaLnBrk="1" latinLnBrk="0" hangingPunct="1">
        <a:spcBef>
          <a:spcPct val="20000"/>
        </a:spcBef>
        <a:buFont typeface="Arial"/>
        <a:buChar char="•"/>
        <a:defRPr sz="3556" kern="1200">
          <a:solidFill>
            <a:schemeClr val="tx1"/>
          </a:solidFill>
          <a:latin typeface="DiodrumArabic-Regular"/>
          <a:ea typeface="DiodrumArabic-Regular"/>
          <a:cs typeface="DiodrumArabic-Regular"/>
        </a:defRPr>
      </a:lvl6pPr>
      <a:lvl7pPr marL="5283266" indent="-406405" algn="l" defTabSz="812810" rtl="0" eaLnBrk="1" latinLnBrk="0" hangingPunct="1">
        <a:spcBef>
          <a:spcPct val="20000"/>
        </a:spcBef>
        <a:buFont typeface="Arial"/>
        <a:buChar char="•"/>
        <a:defRPr sz="3556" kern="1200">
          <a:solidFill>
            <a:schemeClr val="tx1"/>
          </a:solidFill>
          <a:latin typeface="DiodrumArabic-Regular"/>
          <a:ea typeface="DiodrumArabic-Regular"/>
          <a:cs typeface="DiodrumArabic-Regular"/>
        </a:defRPr>
      </a:lvl7pPr>
      <a:lvl8pPr marL="6096076" indent="-406405" algn="l" defTabSz="812810" rtl="0" eaLnBrk="1" latinLnBrk="0" hangingPunct="1">
        <a:spcBef>
          <a:spcPct val="20000"/>
        </a:spcBef>
        <a:buFont typeface="Arial"/>
        <a:buChar char="•"/>
        <a:defRPr sz="3556" kern="1200">
          <a:solidFill>
            <a:schemeClr val="tx1"/>
          </a:solidFill>
          <a:latin typeface="DiodrumArabic-Regular"/>
          <a:ea typeface="DiodrumArabic-Regular"/>
          <a:cs typeface="DiodrumArabic-Regular"/>
        </a:defRPr>
      </a:lvl8pPr>
      <a:lvl9pPr marL="6908886" indent="-406405" algn="l" defTabSz="812810" rtl="0" eaLnBrk="1" latinLnBrk="0" hangingPunct="1">
        <a:spcBef>
          <a:spcPct val="20000"/>
        </a:spcBef>
        <a:buFont typeface="Arial"/>
        <a:buChar char="•"/>
        <a:defRPr sz="3556" kern="1200">
          <a:solidFill>
            <a:schemeClr val="tx1"/>
          </a:solidFill>
          <a:latin typeface="DiodrumArabic-Regular"/>
          <a:ea typeface="DiodrumArabic-Regular"/>
          <a:cs typeface="DiodrumArabic-Regular"/>
        </a:defRPr>
      </a:lvl9pPr>
    </p:bodyStyle>
    <p:otherStyle>
      <a:defPPr>
        <a:defRPr lang="en-US">
          <a:latin typeface="DiodrumArabic-Regular"/>
          <a:cs typeface="DiodrumArabic-Regular"/>
        </a:defRPr>
      </a:defPPr>
      <a:lvl1pPr marL="0" algn="l" defTabSz="812810" rtl="0" eaLnBrk="1" latinLnBrk="0" hangingPunct="1">
        <a:defRPr sz="3200" kern="1200">
          <a:solidFill>
            <a:schemeClr val="tx1"/>
          </a:solidFill>
          <a:latin typeface="DiodrumArabic-Regular"/>
          <a:ea typeface="DiodrumArabic-Regular"/>
          <a:cs typeface="DiodrumArabic-Regular"/>
        </a:defRPr>
      </a:lvl1pPr>
      <a:lvl2pPr marL="812810" algn="l" defTabSz="812810" rtl="0" eaLnBrk="1" latinLnBrk="0" hangingPunct="1">
        <a:defRPr sz="3200" kern="1200">
          <a:solidFill>
            <a:schemeClr val="tx1"/>
          </a:solidFill>
          <a:latin typeface="DiodrumArabic-Regular"/>
          <a:ea typeface="DiodrumArabic-Regular"/>
          <a:cs typeface="DiodrumArabic-Regular"/>
        </a:defRPr>
      </a:lvl2pPr>
      <a:lvl3pPr marL="1625620" algn="l" defTabSz="812810" rtl="0" eaLnBrk="1" latinLnBrk="0" hangingPunct="1">
        <a:defRPr sz="3200" kern="1200">
          <a:solidFill>
            <a:schemeClr val="tx1"/>
          </a:solidFill>
          <a:latin typeface="DiodrumArabic-Regular"/>
          <a:ea typeface="DiodrumArabic-Regular"/>
          <a:cs typeface="DiodrumArabic-Regular"/>
        </a:defRPr>
      </a:lvl3pPr>
      <a:lvl4pPr marL="2438430" algn="l" defTabSz="812810" rtl="0" eaLnBrk="1" latinLnBrk="0" hangingPunct="1">
        <a:defRPr sz="3200" kern="1200">
          <a:solidFill>
            <a:schemeClr val="tx1"/>
          </a:solidFill>
          <a:latin typeface="DiodrumArabic-Regular"/>
          <a:ea typeface="DiodrumArabic-Regular"/>
          <a:cs typeface="DiodrumArabic-Regular"/>
        </a:defRPr>
      </a:lvl4pPr>
      <a:lvl5pPr marL="3251241" algn="l" defTabSz="812810" rtl="0" eaLnBrk="1" latinLnBrk="0" hangingPunct="1">
        <a:defRPr sz="3200" kern="1200">
          <a:solidFill>
            <a:schemeClr val="tx1"/>
          </a:solidFill>
          <a:latin typeface="DiodrumArabic-Regular"/>
          <a:ea typeface="DiodrumArabic-Regular"/>
          <a:cs typeface="DiodrumArabic-Regular"/>
        </a:defRPr>
      </a:lvl5pPr>
      <a:lvl6pPr marL="4064051" algn="l" defTabSz="812810" rtl="0" eaLnBrk="1" latinLnBrk="0" hangingPunct="1">
        <a:defRPr sz="3200" kern="1200">
          <a:solidFill>
            <a:schemeClr val="tx1"/>
          </a:solidFill>
          <a:latin typeface="DiodrumArabic-Regular"/>
          <a:ea typeface="DiodrumArabic-Regular"/>
          <a:cs typeface="DiodrumArabic-Regular"/>
        </a:defRPr>
      </a:lvl6pPr>
      <a:lvl7pPr marL="4876861" algn="l" defTabSz="812810" rtl="0" eaLnBrk="1" latinLnBrk="0" hangingPunct="1">
        <a:defRPr sz="3200" kern="1200">
          <a:solidFill>
            <a:schemeClr val="tx1"/>
          </a:solidFill>
          <a:latin typeface="DiodrumArabic-Regular"/>
          <a:ea typeface="DiodrumArabic-Regular"/>
          <a:cs typeface="DiodrumArabic-Regular"/>
        </a:defRPr>
      </a:lvl7pPr>
      <a:lvl8pPr marL="5689671" algn="l" defTabSz="812810" rtl="0" eaLnBrk="1" latinLnBrk="0" hangingPunct="1">
        <a:defRPr sz="3200" kern="1200">
          <a:solidFill>
            <a:schemeClr val="tx1"/>
          </a:solidFill>
          <a:latin typeface="DiodrumArabic-Regular"/>
          <a:ea typeface="DiodrumArabic-Regular"/>
          <a:cs typeface="DiodrumArabic-Regular"/>
        </a:defRPr>
      </a:lvl8pPr>
      <a:lvl9pPr marL="6502481" algn="l" defTabSz="812810" rtl="0" eaLnBrk="1" latinLnBrk="0" hangingPunct="1">
        <a:defRPr sz="3200" kern="1200">
          <a:solidFill>
            <a:schemeClr val="tx1"/>
          </a:solidFill>
          <a:latin typeface="DiodrumArabic-Regular"/>
          <a:ea typeface="DiodrumArabic-Regular"/>
          <a:cs typeface="DiodrumArabic-Regular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488245"/>
            <a:ext cx="10837333" cy="2032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0" y="2844802"/>
            <a:ext cx="10837333" cy="23435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12800" y="5694680"/>
            <a:ext cx="1986844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1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ecloreFooter"/>
          <p:cNvSpPr>
            <a:spLocks noGrp="1"/>
          </p:cNvSpPr>
          <p:nvPr>
            <p:ph type="ftr" sz="quarter" idx="3"/>
          </p:nvPr>
        </p:nvSpPr>
        <p:spPr>
          <a:xfrm>
            <a:off x="812800" y="5694680"/>
            <a:ext cx="1219200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0C231"/>
                </a:solidFill>
              </a:defRPr>
            </a:lvl1pPr>
          </a:lstStyle>
          <a:p>
            <a:r>
              <a:rPr lang="en-US"/>
              <a:t>Restricted - </a:t>
            </a:r>
            <a:r>
              <a:rPr lang="ar-SA"/>
              <a:t>مقيد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42222" y="5694680"/>
            <a:ext cx="1207911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1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324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26" r:id="rId4"/>
    <p:sldLayoutId id="2147483727" r:id="rId5"/>
  </p:sldLayoutIdLst>
  <p:hf hdr="0" dt="0"/>
  <p:txStyles>
    <p:titleStyle>
      <a:lvl1pPr algn="ctr" defTabSz="812810" rtl="0" eaLnBrk="1" latinLnBrk="0" hangingPunct="1">
        <a:spcBef>
          <a:spcPct val="0"/>
        </a:spcBef>
        <a:buNone/>
        <a:defRPr sz="4267" kern="1200">
          <a:solidFill>
            <a:schemeClr val="tx1"/>
          </a:solidFill>
          <a:latin typeface="DiodrumArabic-Bold"/>
          <a:ea typeface="DiodrumArabic-Bold"/>
          <a:cs typeface="DiodrumArabic-Bold"/>
        </a:defRPr>
      </a:lvl1pPr>
    </p:titleStyle>
    <p:bodyStyle>
      <a:lvl1pPr marL="609608" indent="-609608" algn="l" defTabSz="812810" rtl="0" eaLnBrk="1" latinLnBrk="0" hangingPunct="1">
        <a:spcBef>
          <a:spcPct val="20000"/>
        </a:spcBef>
        <a:buFont typeface="Arial"/>
        <a:buChar char="•"/>
        <a:defRPr sz="2844" kern="1200">
          <a:solidFill>
            <a:schemeClr val="tx1"/>
          </a:solidFill>
          <a:latin typeface="DiodrumArabic-Regular"/>
          <a:ea typeface="DiodrumArabic-Regular"/>
          <a:cs typeface="DiodrumArabic-Regular"/>
        </a:defRPr>
      </a:lvl1pPr>
      <a:lvl2pPr marL="1320817" indent="-508006" algn="l" defTabSz="812810" rtl="0" eaLnBrk="1" latinLnBrk="0" hangingPunct="1">
        <a:spcBef>
          <a:spcPct val="20000"/>
        </a:spcBef>
        <a:buFont typeface="Arial"/>
        <a:buChar char="–"/>
        <a:defRPr sz="2489" kern="1200">
          <a:solidFill>
            <a:schemeClr val="tx1"/>
          </a:solidFill>
          <a:latin typeface="DiodrumArabic-Regular"/>
          <a:ea typeface="DiodrumArabic-Regular"/>
          <a:cs typeface="DiodrumArabic-Regular"/>
        </a:defRPr>
      </a:lvl2pPr>
      <a:lvl3pPr marL="2032025" indent="-406405" algn="l" defTabSz="812810" rtl="0" eaLnBrk="1" latinLnBrk="0" hangingPunct="1">
        <a:spcBef>
          <a:spcPct val="20000"/>
        </a:spcBef>
        <a:buFont typeface="Arial"/>
        <a:buChar char="•"/>
        <a:defRPr sz="2133" kern="1200">
          <a:solidFill>
            <a:schemeClr val="tx1"/>
          </a:solidFill>
          <a:latin typeface="DiodrumArabic-Regular"/>
          <a:ea typeface="DiodrumArabic-Regular"/>
          <a:cs typeface="DiodrumArabic-Regular"/>
        </a:defRPr>
      </a:lvl3pPr>
      <a:lvl4pPr marL="2844836" indent="-406405" algn="l" defTabSz="812810" rtl="0" eaLnBrk="1" latinLnBrk="0" hangingPunct="1">
        <a:spcBef>
          <a:spcPct val="20000"/>
        </a:spcBef>
        <a:buFont typeface="Arial"/>
        <a:buChar char="–"/>
        <a:defRPr sz="1956" kern="1200">
          <a:solidFill>
            <a:schemeClr val="tx1"/>
          </a:solidFill>
          <a:latin typeface="DiodrumArabic-Regular"/>
          <a:ea typeface="DiodrumArabic-Regular"/>
          <a:cs typeface="DiodrumArabic-Regular"/>
        </a:defRPr>
      </a:lvl4pPr>
      <a:lvl5pPr marL="3657646" indent="-406405" algn="l" defTabSz="812810" rtl="0" eaLnBrk="1" latinLnBrk="0" hangingPunct="1">
        <a:spcBef>
          <a:spcPct val="20000"/>
        </a:spcBef>
        <a:buFont typeface="Arial"/>
        <a:buChar char="»"/>
        <a:defRPr sz="1956" kern="1200">
          <a:solidFill>
            <a:schemeClr val="tx1"/>
          </a:solidFill>
          <a:latin typeface="DiodrumArabic-Regular"/>
          <a:ea typeface="DiodrumArabic-Regular"/>
          <a:cs typeface="DiodrumArabic-Regular"/>
        </a:defRPr>
      </a:lvl5pPr>
      <a:lvl6pPr marL="4470456" indent="-406405" algn="l" defTabSz="812810" rtl="0" eaLnBrk="1" latinLnBrk="0" hangingPunct="1">
        <a:spcBef>
          <a:spcPct val="20000"/>
        </a:spcBef>
        <a:buFont typeface="Arial"/>
        <a:buChar char="•"/>
        <a:defRPr sz="3556" kern="1200">
          <a:solidFill>
            <a:schemeClr val="tx1"/>
          </a:solidFill>
          <a:latin typeface="DiodrumArabic-Regular"/>
          <a:ea typeface="DiodrumArabic-Regular"/>
          <a:cs typeface="DiodrumArabic-Regular"/>
        </a:defRPr>
      </a:lvl6pPr>
      <a:lvl7pPr marL="5283266" indent="-406405" algn="l" defTabSz="812810" rtl="0" eaLnBrk="1" latinLnBrk="0" hangingPunct="1">
        <a:spcBef>
          <a:spcPct val="20000"/>
        </a:spcBef>
        <a:buFont typeface="Arial"/>
        <a:buChar char="•"/>
        <a:defRPr sz="3556" kern="1200">
          <a:solidFill>
            <a:schemeClr val="tx1"/>
          </a:solidFill>
          <a:latin typeface="DiodrumArabic-Regular"/>
          <a:ea typeface="DiodrumArabic-Regular"/>
          <a:cs typeface="DiodrumArabic-Regular"/>
        </a:defRPr>
      </a:lvl7pPr>
      <a:lvl8pPr marL="6096076" indent="-406405" algn="l" defTabSz="812810" rtl="0" eaLnBrk="1" latinLnBrk="0" hangingPunct="1">
        <a:spcBef>
          <a:spcPct val="20000"/>
        </a:spcBef>
        <a:buFont typeface="Arial"/>
        <a:buChar char="•"/>
        <a:defRPr sz="3556" kern="1200">
          <a:solidFill>
            <a:schemeClr val="tx1"/>
          </a:solidFill>
          <a:latin typeface="DiodrumArabic-Regular"/>
          <a:ea typeface="DiodrumArabic-Regular"/>
          <a:cs typeface="DiodrumArabic-Regular"/>
        </a:defRPr>
      </a:lvl8pPr>
      <a:lvl9pPr marL="6908886" indent="-406405" algn="l" defTabSz="812810" rtl="0" eaLnBrk="1" latinLnBrk="0" hangingPunct="1">
        <a:spcBef>
          <a:spcPct val="20000"/>
        </a:spcBef>
        <a:buFont typeface="Arial"/>
        <a:buChar char="•"/>
        <a:defRPr sz="3556" kern="1200">
          <a:solidFill>
            <a:schemeClr val="tx1"/>
          </a:solidFill>
          <a:latin typeface="DiodrumArabic-Regular"/>
          <a:ea typeface="DiodrumArabic-Regular"/>
          <a:cs typeface="DiodrumArabic-Regular"/>
        </a:defRPr>
      </a:lvl9pPr>
    </p:bodyStyle>
    <p:otherStyle>
      <a:defPPr>
        <a:defRPr lang="en-US">
          <a:latin typeface="DiodrumArabic-Regular"/>
          <a:cs typeface="DiodrumArabic-Regular"/>
        </a:defRPr>
      </a:defPPr>
      <a:lvl1pPr marL="0" algn="l" defTabSz="812810" rtl="0" eaLnBrk="1" latinLnBrk="0" hangingPunct="1">
        <a:defRPr sz="3200" kern="1200">
          <a:solidFill>
            <a:schemeClr val="tx1"/>
          </a:solidFill>
          <a:latin typeface="DiodrumArabic-Regular"/>
          <a:ea typeface="DiodrumArabic-Regular"/>
          <a:cs typeface="DiodrumArabic-Regular"/>
        </a:defRPr>
      </a:lvl1pPr>
      <a:lvl2pPr marL="812810" algn="l" defTabSz="812810" rtl="0" eaLnBrk="1" latinLnBrk="0" hangingPunct="1">
        <a:defRPr sz="3200" kern="1200">
          <a:solidFill>
            <a:schemeClr val="tx1"/>
          </a:solidFill>
          <a:latin typeface="DiodrumArabic-Regular"/>
          <a:ea typeface="DiodrumArabic-Regular"/>
          <a:cs typeface="DiodrumArabic-Regular"/>
        </a:defRPr>
      </a:lvl2pPr>
      <a:lvl3pPr marL="1625620" algn="l" defTabSz="812810" rtl="0" eaLnBrk="1" latinLnBrk="0" hangingPunct="1">
        <a:defRPr sz="3200" kern="1200">
          <a:solidFill>
            <a:schemeClr val="tx1"/>
          </a:solidFill>
          <a:latin typeface="DiodrumArabic-Regular"/>
          <a:ea typeface="DiodrumArabic-Regular"/>
          <a:cs typeface="DiodrumArabic-Regular"/>
        </a:defRPr>
      </a:lvl3pPr>
      <a:lvl4pPr marL="2438430" algn="l" defTabSz="812810" rtl="0" eaLnBrk="1" latinLnBrk="0" hangingPunct="1">
        <a:defRPr sz="3200" kern="1200">
          <a:solidFill>
            <a:schemeClr val="tx1"/>
          </a:solidFill>
          <a:latin typeface="DiodrumArabic-Regular"/>
          <a:ea typeface="DiodrumArabic-Regular"/>
          <a:cs typeface="DiodrumArabic-Regular"/>
        </a:defRPr>
      </a:lvl4pPr>
      <a:lvl5pPr marL="3251241" algn="l" defTabSz="812810" rtl="0" eaLnBrk="1" latinLnBrk="0" hangingPunct="1">
        <a:defRPr sz="3200" kern="1200">
          <a:solidFill>
            <a:schemeClr val="tx1"/>
          </a:solidFill>
          <a:latin typeface="DiodrumArabic-Regular"/>
          <a:ea typeface="DiodrumArabic-Regular"/>
          <a:cs typeface="DiodrumArabic-Regular"/>
        </a:defRPr>
      </a:lvl5pPr>
      <a:lvl6pPr marL="4064051" algn="l" defTabSz="812810" rtl="0" eaLnBrk="1" latinLnBrk="0" hangingPunct="1">
        <a:defRPr sz="3200" kern="1200">
          <a:solidFill>
            <a:schemeClr val="tx1"/>
          </a:solidFill>
          <a:latin typeface="DiodrumArabic-Regular"/>
          <a:ea typeface="DiodrumArabic-Regular"/>
          <a:cs typeface="DiodrumArabic-Regular"/>
        </a:defRPr>
      </a:lvl6pPr>
      <a:lvl7pPr marL="4876861" algn="l" defTabSz="812810" rtl="0" eaLnBrk="1" latinLnBrk="0" hangingPunct="1">
        <a:defRPr sz="3200" kern="1200">
          <a:solidFill>
            <a:schemeClr val="tx1"/>
          </a:solidFill>
          <a:latin typeface="DiodrumArabic-Regular"/>
          <a:ea typeface="DiodrumArabic-Regular"/>
          <a:cs typeface="DiodrumArabic-Regular"/>
        </a:defRPr>
      </a:lvl7pPr>
      <a:lvl8pPr marL="5689671" algn="l" defTabSz="812810" rtl="0" eaLnBrk="1" latinLnBrk="0" hangingPunct="1">
        <a:defRPr sz="3200" kern="1200">
          <a:solidFill>
            <a:schemeClr val="tx1"/>
          </a:solidFill>
          <a:latin typeface="DiodrumArabic-Regular"/>
          <a:ea typeface="DiodrumArabic-Regular"/>
          <a:cs typeface="DiodrumArabic-Regular"/>
        </a:defRPr>
      </a:lvl8pPr>
      <a:lvl9pPr marL="6502481" algn="l" defTabSz="812810" rtl="0" eaLnBrk="1" latinLnBrk="0" hangingPunct="1">
        <a:defRPr sz="3200" kern="1200">
          <a:solidFill>
            <a:schemeClr val="tx1"/>
          </a:solidFill>
          <a:latin typeface="DiodrumArabic-Regular"/>
          <a:ea typeface="DiodrumArabic-Regular"/>
          <a:cs typeface="DiodrumArabic-Regular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0.png"/><Relationship Id="rId4" Type="http://schemas.openxmlformats.org/officeDocument/2006/relationships/image" Target="../media/image21.svg"/><Relationship Id="rId5" Type="http://schemas.openxmlformats.org/officeDocument/2006/relationships/image" Target="../media/image22.png"/><Relationship Id="rId6" Type="http://schemas.openxmlformats.org/officeDocument/2006/relationships/image" Target="../media/image23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0.png"/><Relationship Id="rId4" Type="http://schemas.openxmlformats.org/officeDocument/2006/relationships/image" Target="../media/image21.svg"/><Relationship Id="rId5" Type="http://schemas.openxmlformats.org/officeDocument/2006/relationships/image" Target="../media/image22.png"/><Relationship Id="rId6" Type="http://schemas.openxmlformats.org/officeDocument/2006/relationships/image" Target="../media/image23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chart" Target="../charts/chart1.xml"/><Relationship Id="rId3" Type="http://schemas.openxmlformats.org/officeDocument/2006/relationships/image" Target="../media/image20.png"/><Relationship Id="rId4" Type="http://schemas.openxmlformats.org/officeDocument/2006/relationships/image" Target="../media/image21.svg"/><Relationship Id="rId5" Type="http://schemas.openxmlformats.org/officeDocument/2006/relationships/image" Target="../media/image22.png"/><Relationship Id="rId6" Type="http://schemas.openxmlformats.org/officeDocument/2006/relationships/image" Target="../media/image23.svg"/><Relationship Id="rId7" Type="http://schemas.openxmlformats.org/officeDocument/2006/relationships/notesSlide" Target="../notesSlides/notesSlide1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0.png"/><Relationship Id="rId4" Type="http://schemas.openxmlformats.org/officeDocument/2006/relationships/image" Target="../media/image21.svg"/><Relationship Id="rId5" Type="http://schemas.openxmlformats.org/officeDocument/2006/relationships/image" Target="../media/image22.png"/><Relationship Id="rId6" Type="http://schemas.openxmlformats.org/officeDocument/2006/relationships/image" Target="../media/image23.svg"/><Relationship Id="rId7" Type="http://schemas.openxmlformats.org/officeDocument/2006/relationships/image" Target="../media/image24.png"/><Relationship Id="rId8" Type="http://schemas.openxmlformats.org/officeDocument/2006/relationships/image" Target="../media/image25.png"/><Relationship Id="rId9" Type="http://schemas.openxmlformats.org/officeDocument/2006/relationships/image" Target="../media/image2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7.png"/><Relationship Id="rId4" Type="http://schemas.openxmlformats.org/officeDocument/2006/relationships/image" Target="../media/image2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0.png"/><Relationship Id="rId4" Type="http://schemas.openxmlformats.org/officeDocument/2006/relationships/image" Target="../media/image21.svg"/><Relationship Id="rId5" Type="http://schemas.openxmlformats.org/officeDocument/2006/relationships/image" Target="../media/image22.png"/><Relationship Id="rId6" Type="http://schemas.openxmlformats.org/officeDocument/2006/relationships/image" Target="../media/image23.sv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0.png"/><Relationship Id="rId4" Type="http://schemas.openxmlformats.org/officeDocument/2006/relationships/image" Target="../media/image21.svg"/><Relationship Id="rId5" Type="http://schemas.openxmlformats.org/officeDocument/2006/relationships/image" Target="../media/image22.png"/><Relationship Id="rId6" Type="http://schemas.openxmlformats.org/officeDocument/2006/relationships/image" Target="../media/image23.sv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5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ccent-bar"/>
          <p:cNvSpPr/>
          <p:nvPr/>
        </p:nvSpPr>
        <p:spPr>
          <a:xfrm>
            <a:off x="11090205" y="4300255"/>
            <a:ext cx="381564" cy="5192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12810">
              <a:buClrTx/>
            </a:pPr>
            <a:endParaRPr sz="3200" kern="1200">
              <a:solidFill>
                <a:prstClr val="white"/>
              </a:solidFill>
              <a:latin typeface="DiodrumArabic-Regular"/>
              <a:cs typeface="DiodrumArabic-Regular"/>
            </a:endParaRPr>
          </a:p>
        </p:txBody>
      </p:sp>
      <p:sp>
        <p:nvSpPr>
          <p:cNvPr id="8" name="title"/>
          <p:cNvSpPr txBox="1"/>
          <p:nvPr/>
        </p:nvSpPr>
        <p:spPr>
          <a:xfrm>
            <a:off x="4713403" y="2819966"/>
            <a:ext cx="6769656" cy="5254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defTabSz="812810" rtl="1">
              <a:lnSpc>
                <a:spcPct val="118000"/>
              </a:lnSpc>
              <a:buClrTx/>
            </a:pPr>
            <a:r>
              <a:rPr lang="ar-SA" sz="3200" kern="1200" dirty="0">
                <a:solidFill>
                  <a:srgbClr val="FFFFFF"/>
                </a:solidFill>
                <a:latin typeface="DiodrumArabic-Bold"/>
                <a:cs typeface="DiodrumArabic-Bold"/>
              </a:rPr>
              <a:t>برنامج القدرات الرقمية «قدراتك»</a:t>
            </a:r>
          </a:p>
        </p:txBody>
      </p:sp>
      <p:sp>
        <p:nvSpPr>
          <p:cNvPr id="9" name="subtitle"/>
          <p:cNvSpPr txBox="1"/>
          <p:nvPr/>
        </p:nvSpPr>
        <p:spPr>
          <a:xfrm>
            <a:off x="4115929" y="4475233"/>
            <a:ext cx="7367129" cy="3422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defTabSz="812810" rtl="1">
              <a:lnSpc>
                <a:spcPct val="140000"/>
              </a:lnSpc>
              <a:buClrTx/>
            </a:pPr>
            <a:r>
              <a:rPr lang="ar-SA" sz="1800" kern="1200" dirty="0">
                <a:solidFill>
                  <a:srgbClr val="1CC182"/>
                </a:solidFill>
                <a:latin typeface="DiodrumArabic-Semibold"/>
                <a:ea typeface="DiodrumArabic-Semibold"/>
                <a:cs typeface="DiodrumArabic-Semibold"/>
              </a:rPr>
              <a:t>تقرير سير الأعمال الربعي</a:t>
            </a:r>
          </a:p>
        </p:txBody>
      </p:sp>
      <p:sp>
        <p:nvSpPr>
          <p:cNvPr id="10" name="srcline"/>
          <p:cNvSpPr txBox="1"/>
          <p:nvPr/>
        </p:nvSpPr>
        <p:spPr>
          <a:xfrm>
            <a:off x="5943600" y="5542845"/>
            <a:ext cx="5532120" cy="1460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 defTabSz="812810" rtl="1">
              <a:buClrTx/>
            </a:pPr>
            <a:r>
              <a:rPr lang="ar-SA" sz="1100" kern="1200" dirty="0">
                <a:solidFill>
                  <a:srgbClr val="FFFFFF">
                    <a:alpha val="50000"/>
                  </a:srgbClr>
                </a:solidFill>
                <a:latin typeface="DiodrumArabic-Regular"/>
                <a:ea typeface="DiodrumArabic-Regular"/>
                <a:cs typeface="DiodrumArabic-Regular"/>
              </a:rPr>
              <a:t>الفترة: يونيو – أغسطس 2026   |   تاريخ العرض: سبتمبر 2026</a:t>
            </a:r>
          </a:p>
        </p:txBody>
      </p:sp>
    </p:spTree>
    <p:extLst>
      <p:ext uri="{BB962C8B-B14F-4D97-AF65-F5344CB8AC3E}">
        <p14:creationId xmlns:p14="http://schemas.microsoft.com/office/powerpoint/2010/main" val="23068825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A1A7BE08-70B4-42B0-A8B0-61E19E526E03}"/>
              </a:ext>
            </a:extLst>
          </p:cNvPr>
          <p:cNvSpPr txBox="1"/>
          <p:nvPr/>
        </p:nvSpPr>
        <p:spPr>
          <a:xfrm>
            <a:off x="7498079" y="1188720"/>
            <a:ext cx="2560320" cy="3847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 defTabSz="812810" rtl="1">
              <a:buClrTx/>
            </a:pPr>
            <a:r>
              <a:rPr lang="ar-SA" sz="2500" kern="1200" dirty="0">
                <a:solidFill>
                  <a:prstClr val="white"/>
                </a:solidFill>
                <a:latin typeface="DiodrumArabic-Bold"/>
                <a:ea typeface="DiodrumArabic-Bold"/>
                <a:cs typeface="DiodrumArabic-Bold"/>
              </a:rPr>
              <a:t>الأجندة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66160" y="1691640"/>
            <a:ext cx="6126480" cy="1234440"/>
          </a:xfrm>
          <a:prstGeom prst="roundRect">
            <a:avLst>
              <a:gd name="adj" fmla="val 8888"/>
            </a:avLst>
          </a:prstGeom>
          <a:solidFill>
            <a:srgbClr val="000000">
              <a:alpha val="25000"/>
            </a:srgbClr>
          </a:solidFill>
          <a:ln>
            <a:noFill/>
          </a:ln>
          <a:effectLst>
            <a:outerShdw blurRad="76200" dist="23812" dir="5400000" rotWithShape="0">
              <a:srgbClr val="24135F">
                <a:alpha val="12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8823960" y="1892808"/>
            <a:ext cx="502920" cy="475488"/>
          </a:xfrm>
          <a:prstGeom prst="roundRect">
            <a:avLst>
              <a:gd name="adj" fmla="val 26923"/>
            </a:avLst>
          </a:prstGeom>
          <a:gradFill>
            <a:gsLst>
              <a:gs pos="0">
                <a:srgbClr val="1CC182"/>
              </a:gs>
              <a:gs pos="90000">
                <a:srgbClr val="0E6141"/>
              </a:gs>
            </a:gsLst>
            <a:lin ang="2700000" scaled="1"/>
          </a:gradFill>
          <a:ln>
            <a:noFill/>
          </a:ln>
          <a:effectLst>
            <a:outerShdw blurRad="76200" dist="23812" dir="5400000" rotWithShape="0">
              <a:srgbClr val="24135F">
                <a:alpha val="12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823960" y="1892808"/>
            <a:ext cx="5029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  <a:noAutofit/>
          </a:bodyPr>
          <a:lstStyle/>
          <a:p>
            <a:pPr algn="ctr" rtl="1"/>
            <a:r>
              <a:rPr lang="ar-SA" sz="1600" b="0" dirty="0">
                <a:solidFill>
                  <a:srgbClr val="FFFFFF"/>
                </a:solidFill>
                <a:latin typeface="DiodrumArabic-Bold" pitchFamily="2" charset="-78"/>
                <a:cs typeface="DiodrumArabic-Bold" pitchFamily="2" charset="-78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1874520"/>
            <a:ext cx="4800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  <a:noAutofit/>
          </a:bodyPr>
          <a:lstStyle/>
          <a:p>
            <a:pPr algn="r" rtl="1"/>
            <a:r>
              <a:rPr lang="ar-SA" sz="1700" b="0" dirty="0">
                <a:solidFill>
                  <a:srgbClr val="FFFFFF"/>
                </a:solidFill>
                <a:latin typeface="DiodrumArabic-Bold" pitchFamily="2" charset="-78"/>
                <a:cs typeface="DiodrumArabic-Bold" pitchFamily="2" charset="-78"/>
              </a:rPr>
              <a:t>البرامج التدريبية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350008"/>
            <a:ext cx="48920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  <a:noAutofit/>
          </a:bodyPr>
          <a:lstStyle/>
          <a:p>
            <a:pPr algn="r" rtl="1"/>
            <a:r>
              <a:rPr lang="ar-SA" sz="1200" b="0" dirty="0">
                <a:solidFill>
                  <a:srgbClr val="9DEBC8"/>
                </a:solidFill>
                <a:latin typeface="DiodrumArabic-Semibold" pitchFamily="2" charset="-78"/>
                <a:cs typeface="DiodrumArabic-Semibold" pitchFamily="2" charset="-78"/>
              </a:rPr>
              <a:t>1.1   </a:t>
            </a:r>
            <a:r>
              <a:rPr lang="ar-SA" sz="1200" b="0" dirty="0">
                <a:solidFill>
                  <a:srgbClr val="FFFFFF"/>
                </a:solidFill>
                <a:latin typeface="DiodrumArabic-Semibold" pitchFamily="2" charset="-78"/>
                <a:cs typeface="DiodrumArabic-Semibold" pitchFamily="2" charset="-78"/>
              </a:rPr>
              <a:t>المنجزات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670048"/>
            <a:ext cx="48920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  <a:noAutofit/>
          </a:bodyPr>
          <a:lstStyle/>
          <a:p>
            <a:pPr algn="r" rtl="1"/>
            <a:r>
              <a:rPr lang="ar-SA" sz="1200" b="0" dirty="0">
                <a:solidFill>
                  <a:srgbClr val="9DEBC8"/>
                </a:solidFill>
                <a:latin typeface="DiodrumArabic-Semibold" pitchFamily="2" charset="-78"/>
                <a:cs typeface="DiodrumArabic-Semibold" pitchFamily="2" charset="-78"/>
              </a:rPr>
              <a:t>1.2   </a:t>
            </a:r>
            <a:r>
              <a:rPr lang="ar-SA" sz="1200" b="0" dirty="0">
                <a:solidFill>
                  <a:srgbClr val="FFFFFF"/>
                </a:solidFill>
                <a:latin typeface="DiodrumArabic-Semibold" pitchFamily="2" charset="-78"/>
                <a:cs typeface="DiodrumArabic-Semibold" pitchFamily="2" charset="-78"/>
              </a:rPr>
              <a:t>المخطط لشهر سبتمبر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3108960"/>
            <a:ext cx="6126480" cy="1691640"/>
          </a:xfrm>
          <a:prstGeom prst="roundRect">
            <a:avLst>
              <a:gd name="adj" fmla="val 6486"/>
            </a:avLst>
          </a:prstGeom>
          <a:solidFill>
            <a:srgbClr val="000000">
              <a:alpha val="25000"/>
            </a:srgbClr>
          </a:solidFill>
          <a:ln>
            <a:noFill/>
          </a:ln>
          <a:effectLst>
            <a:outerShdw blurRad="76200" dist="23812" dir="5400000" rotWithShape="0">
              <a:srgbClr val="24135F">
                <a:alpha val="12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823960" y="3310128"/>
            <a:ext cx="502920" cy="475488"/>
          </a:xfrm>
          <a:prstGeom prst="roundRect">
            <a:avLst>
              <a:gd name="adj" fmla="val 26923"/>
            </a:avLst>
          </a:prstGeom>
          <a:gradFill>
            <a:gsLst>
              <a:gs pos="0">
                <a:srgbClr val="1CC182"/>
              </a:gs>
              <a:gs pos="90000">
                <a:srgbClr val="0E6141"/>
              </a:gs>
            </a:gsLst>
            <a:lin ang="2700000" scaled="1"/>
          </a:gradFill>
          <a:ln>
            <a:noFill/>
          </a:ln>
          <a:effectLst>
            <a:outerShdw blurRad="76200" dist="23812" dir="5400000" rotWithShape="0">
              <a:srgbClr val="24135F">
                <a:alpha val="12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823960" y="3310128"/>
            <a:ext cx="5029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  <a:noAutofit/>
          </a:bodyPr>
          <a:lstStyle/>
          <a:p>
            <a:pPr algn="ctr" rtl="1"/>
            <a:r>
              <a:rPr lang="ar-SA" sz="1600" b="0" dirty="0">
                <a:solidFill>
                  <a:srgbClr val="FFFFFF"/>
                </a:solidFill>
                <a:latin typeface="DiodrumArabic-Bold" pitchFamily="2" charset="-78"/>
                <a:cs typeface="DiodrumArabic-Bold" pitchFamily="2" charset="-78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3291840"/>
            <a:ext cx="4800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  <a:noAutofit/>
          </a:bodyPr>
          <a:lstStyle/>
          <a:p>
            <a:pPr algn="r" rtl="1"/>
            <a:r>
              <a:rPr lang="ar-SA" sz="1700" b="0" dirty="0">
                <a:solidFill>
                  <a:srgbClr val="FFFFFF"/>
                </a:solidFill>
                <a:latin typeface="DiodrumArabic-Bold" pitchFamily="2" charset="-78"/>
                <a:cs typeface="DiodrumArabic-Bold" pitchFamily="2" charset="-78"/>
              </a:rPr>
              <a:t>الجهود والمبادرات القائمة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3767328"/>
            <a:ext cx="48920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  <a:noAutofit/>
          </a:bodyPr>
          <a:lstStyle/>
          <a:p>
            <a:pPr algn="r" rtl="1"/>
            <a:r>
              <a:rPr lang="ar-SA" sz="1200" b="0" dirty="0">
                <a:solidFill>
                  <a:srgbClr val="9DEBC8"/>
                </a:solidFill>
                <a:latin typeface="DiodrumArabic-Semibold" pitchFamily="2" charset="-78"/>
                <a:cs typeface="DiodrumArabic-Semibold" pitchFamily="2" charset="-78"/>
              </a:rPr>
              <a:t>2.1   </a:t>
            </a:r>
            <a:r>
              <a:rPr lang="ar-SA" sz="1200" b="0" dirty="0">
                <a:solidFill>
                  <a:srgbClr val="FFFFFF"/>
                </a:solidFill>
                <a:latin typeface="DiodrumArabic-Semibold" pitchFamily="2" charset="-78"/>
                <a:cs typeface="DiodrumArabic-Semibold" pitchFamily="2" charset="-78"/>
              </a:rPr>
              <a:t>مبادرة الذكاء الاصطناعي مع وزارة الاتصالات وتقنية المعلومات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4087368"/>
            <a:ext cx="48920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  <a:noAutofit/>
          </a:bodyPr>
          <a:lstStyle/>
          <a:p>
            <a:pPr algn="r" rtl="1"/>
            <a:r>
              <a:rPr lang="ar-SA" sz="1200" b="0" dirty="0">
                <a:solidFill>
                  <a:srgbClr val="9DEBC8"/>
                </a:solidFill>
                <a:latin typeface="DiodrumArabic-Semibold" pitchFamily="2" charset="-78"/>
                <a:cs typeface="DiodrumArabic-Semibold" pitchFamily="2" charset="-78"/>
              </a:rPr>
              <a:t>2.2   </a:t>
            </a:r>
            <a:r>
              <a:rPr lang="ar-SA" sz="1200" b="0" dirty="0">
                <a:solidFill>
                  <a:srgbClr val="FFFFFF"/>
                </a:solidFill>
                <a:latin typeface="DiodrumArabic-Semibold" pitchFamily="2" charset="-78"/>
                <a:cs typeface="DiodrumArabic-Semibold" pitchFamily="2" charset="-78"/>
              </a:rPr>
              <a:t>تعزيز استفادة الجهات الحكومية من خدمات الإدارة العامة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4407407"/>
            <a:ext cx="48920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  <a:noAutofit/>
          </a:bodyPr>
          <a:lstStyle/>
          <a:p>
            <a:pPr algn="r" rtl="1"/>
            <a:r>
              <a:rPr lang="ar-SA" sz="1200" b="0" dirty="0">
                <a:solidFill>
                  <a:srgbClr val="9DEBC8"/>
                </a:solidFill>
                <a:latin typeface="DiodrumArabic-Semibold" pitchFamily="2" charset="-78"/>
                <a:cs typeface="DiodrumArabic-Semibold" pitchFamily="2" charset="-78"/>
              </a:rPr>
              <a:t>2.3   </a:t>
            </a:r>
            <a:r>
              <a:rPr lang="ar-SA" sz="1200" b="0" dirty="0">
                <a:solidFill>
                  <a:srgbClr val="FFFFFF"/>
                </a:solidFill>
                <a:latin typeface="DiodrumArabic-Semibold" pitchFamily="2" charset="-78"/>
                <a:cs typeface="DiodrumArabic-Semibold" pitchFamily="2" charset="-78"/>
              </a:rPr>
              <a:t>جائزة الحكومة الرقمية لدول مجلس التعاون الخليجي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66160" y="4983480"/>
            <a:ext cx="6126480" cy="1234440"/>
          </a:xfrm>
          <a:prstGeom prst="roundRect">
            <a:avLst>
              <a:gd name="adj" fmla="val 8888"/>
            </a:avLst>
          </a:prstGeom>
          <a:solidFill>
            <a:srgbClr val="000000">
              <a:alpha val="25000"/>
            </a:srgbClr>
          </a:solidFill>
          <a:ln>
            <a:noFill/>
          </a:ln>
          <a:effectLst>
            <a:outerShdw blurRad="76200" dist="23812" dir="5400000" rotWithShape="0">
              <a:srgbClr val="24135F">
                <a:alpha val="12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8823960" y="5184648"/>
            <a:ext cx="502920" cy="475488"/>
          </a:xfrm>
          <a:prstGeom prst="roundRect">
            <a:avLst>
              <a:gd name="adj" fmla="val 26923"/>
            </a:avLst>
          </a:prstGeom>
          <a:gradFill>
            <a:gsLst>
              <a:gs pos="0">
                <a:srgbClr val="1CC182"/>
              </a:gs>
              <a:gs pos="90000">
                <a:srgbClr val="0E6141"/>
              </a:gs>
            </a:gsLst>
            <a:lin ang="2700000" scaled="1"/>
          </a:gradFill>
          <a:ln>
            <a:noFill/>
          </a:ln>
          <a:effectLst>
            <a:outerShdw blurRad="76200" dist="23812" dir="5400000" rotWithShape="0">
              <a:srgbClr val="24135F">
                <a:alpha val="12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823960" y="5184648"/>
            <a:ext cx="5029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  <a:noAutofit/>
          </a:bodyPr>
          <a:lstStyle/>
          <a:p>
            <a:pPr algn="ctr" rtl="1"/>
            <a:r>
              <a:rPr lang="ar-SA" sz="1600" b="0" dirty="0">
                <a:solidFill>
                  <a:srgbClr val="FFFFFF"/>
                </a:solidFill>
                <a:latin typeface="DiodrumArabic-Bold" pitchFamily="2" charset="-78"/>
                <a:cs typeface="DiodrumArabic-Bold" pitchFamily="2" charset="-78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5166360"/>
            <a:ext cx="4800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  <a:noAutofit/>
          </a:bodyPr>
          <a:lstStyle/>
          <a:p>
            <a:pPr algn="r" rtl="1"/>
            <a:r>
              <a:rPr lang="ar-SA" sz="1700" b="0" dirty="0">
                <a:solidFill>
                  <a:srgbClr val="FFFFFF"/>
                </a:solidFill>
                <a:latin typeface="DiodrumArabic-Bold" pitchFamily="2" charset="-78"/>
                <a:cs typeface="DiodrumArabic-Bold" pitchFamily="2" charset="-78"/>
              </a:rPr>
              <a:t>الخلاصة والخطوات القادمة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0" y="5641848"/>
            <a:ext cx="48920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  <a:noAutofit/>
          </a:bodyPr>
          <a:lstStyle/>
          <a:p>
            <a:pPr algn="r" rtl="1"/>
            <a:r>
              <a:rPr lang="ar-SA" sz="1200" b="0" dirty="0">
                <a:solidFill>
                  <a:srgbClr val="9DEBC8"/>
                </a:solidFill>
                <a:latin typeface="DiodrumArabic-Semibold" pitchFamily="2" charset="-78"/>
                <a:cs typeface="DiodrumArabic-Semibold" pitchFamily="2" charset="-78"/>
              </a:rPr>
              <a:t>3.1   </a:t>
            </a:r>
            <a:r>
              <a:rPr lang="ar-SA" sz="1200" b="0" dirty="0">
                <a:solidFill>
                  <a:srgbClr val="FFFFFF"/>
                </a:solidFill>
                <a:latin typeface="DiodrumArabic-Semibold" pitchFamily="2" charset="-78"/>
                <a:cs typeface="DiodrumArabic-Semibold" pitchFamily="2" charset="-78"/>
              </a:rPr>
              <a:t>المخاطر ونقاط الدعم المطلوبة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5961888"/>
            <a:ext cx="48920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  <a:noAutofit/>
          </a:bodyPr>
          <a:lstStyle/>
          <a:p>
            <a:pPr algn="r" rtl="1"/>
            <a:r>
              <a:rPr lang="ar-SA" sz="1200" b="0" dirty="0">
                <a:solidFill>
                  <a:srgbClr val="9DEBC8"/>
                </a:solidFill>
                <a:latin typeface="DiodrumArabic-Semibold" pitchFamily="2" charset="-78"/>
                <a:cs typeface="DiodrumArabic-Semibold" pitchFamily="2" charset="-78"/>
              </a:rPr>
              <a:t>3.2   </a:t>
            </a:r>
            <a:r>
              <a:rPr lang="ar-SA" sz="1200" b="0" dirty="0">
                <a:solidFill>
                  <a:srgbClr val="FFFFFF"/>
                </a:solidFill>
                <a:latin typeface="DiodrumArabic-Semibold" pitchFamily="2" charset="-78"/>
                <a:cs typeface="DiodrumArabic-Semibold" pitchFamily="2" charset="-78"/>
              </a:rPr>
              <a:t>خطة الفترة القادمة: سبتمبر – ديسمبر 2026</a:t>
            </a:r>
          </a:p>
        </p:txBody>
      </p:sp>
    </p:spTree>
    <p:extLst>
      <p:ext uri="{BB962C8B-B14F-4D97-AF65-F5344CB8AC3E}">
        <p14:creationId xmlns:p14="http://schemas.microsoft.com/office/powerpoint/2010/main" val="17932093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692EA03-53D2-4479-8841-E541579E9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11480" y="155448"/>
            <a:ext cx="822960" cy="548640"/>
          </a:xfrm>
        </p:spPr>
        <p:txBody>
          <a:bodyPr anchor="ctr" lIns="0"/>
          <a:lstStyle/>
          <a:p>
            <a:pPr algn="l"/>
            <a:fld id="{679EF615-E246-4FA6-9E75-123AAEB83405}" type="slidenum">
              <a:rPr lang="en-US" smtClean="0" sz="1200" b="1">
                <a:solidFill>
                  <a:srgbClr val="2A206A"/>
                </a:solidFill>
                <a:latin typeface="DiodrumArabic-Semibold"/>
                <a:cs typeface="DiodrumArabic-Semibold"/>
              </a:rPr>
              <a:pPr/>
              <a:t>5</a:t>
            </a:fld>
            <a:endParaRPr lang="en-PH" dirty="0"/>
          </a:p>
        </p:txBody>
      </p:sp>
      <p:sp>
        <p:nvSpPr>
          <p:cNvPr id="3" name="TextBox 2"/>
          <p:cNvSpPr txBox="1"/>
          <p:nvPr/>
        </p:nvSpPr>
        <p:spPr>
          <a:xfrm>
            <a:off x="1234440" y="155448"/>
            <a:ext cx="105613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  <a:noAutofit/>
          </a:bodyPr>
          <a:lstStyle/>
          <a:p>
            <a:pPr algn="r" rtl="1"/>
            <a:r>
              <a:rPr lang="ar-SA" sz="2400" b="0" dirty="0">
                <a:solidFill>
                  <a:srgbClr val="2A206A"/>
                </a:solidFill>
                <a:latin typeface="DiodrumArabic-Bold" pitchFamily="2" charset="-78"/>
                <a:cs typeface="DiodrumArabic-Bold" pitchFamily="2" charset="-78"/>
              </a:rPr>
              <a:t>الملخص التنفيذي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" y="795528"/>
            <a:ext cx="11420856" cy="0"/>
          </a:xfrm>
          <a:prstGeom prst="line">
            <a:avLst/>
          </a:prstGeom>
          <a:ln w="28575">
            <a:gradFill>
              <a:gsLst>
                <a:gs pos="0">
                  <a:srgbClr val="00ABAF"/>
                </a:gs>
                <a:gs pos="100000">
                  <a:srgbClr val="7C32C9"/>
                </a:gs>
              </a:gsLst>
              <a:lin ang="0" scaled="1"/>
            </a:gradFill>
          </a:ln>
        </p:spPr>
      </p:cxnSp>
      <p:sp>
        <p:nvSpPr>
          <p:cNvPr id="5" name="TextBox 4"/>
          <p:cNvSpPr txBox="1"/>
          <p:nvPr/>
        </p:nvSpPr>
        <p:spPr>
          <a:xfrm>
            <a:off x="411480" y="914400"/>
            <a:ext cx="11384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  <a:noAutofit/>
          </a:bodyPr>
          <a:lstStyle/>
          <a:p>
            <a:pPr algn="r" rtl="1"/>
            <a:r>
              <a:rPr lang="ar-SA" sz="1300" b="0" dirty="0">
                <a:solidFill>
                  <a:srgbClr val="00ABAF"/>
                </a:solidFill>
                <a:latin typeface="DiodrumArabic-Semibold" pitchFamily="2" charset="-78"/>
                <a:cs typeface="DiodrumArabic-Semibold" pitchFamily="2" charset="-78"/>
              </a:rPr>
              <a:t>أبرز نتائج الفترة يونيو – أغسطس 2026 وحالة المبادرات القائمة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21140" y="1371600"/>
            <a:ext cx="2674620" cy="1280160"/>
          </a:xfrm>
          <a:prstGeom prst="roundRect">
            <a:avLst>
              <a:gd name="adj" fmla="val 7142"/>
            </a:avLst>
          </a:prstGeom>
          <a:solidFill>
            <a:srgbClr val="FFFFFF"/>
          </a:solidFill>
          <a:ln w="9525">
            <a:solidFill>
              <a:srgbClr val="E1E0EC"/>
            </a:solidFill>
          </a:ln>
          <a:effectLst>
            <a:outerShdw blurRad="76200" dist="23812" dir="5400000" rotWithShape="0">
              <a:srgbClr val="24135F">
                <a:alpha val="12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304019" y="1536192"/>
            <a:ext cx="23088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  <a:noAutofit/>
          </a:bodyPr>
          <a:lstStyle/>
          <a:p>
            <a:pPr algn="r" rtl="1"/>
            <a:r>
              <a:rPr lang="ar-SA" sz="3000" b="0" dirty="0">
                <a:solidFill>
                  <a:srgbClr val="7C32C9"/>
                </a:solidFill>
                <a:latin typeface="DiodrumArabic-Bold" pitchFamily="2" charset="-78"/>
                <a:cs typeface="DiodrumArabic-Bold" pitchFamily="2" charset="-78"/>
              </a:rPr>
              <a:t>1,273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04019" y="2121408"/>
            <a:ext cx="23088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noAutofit/>
          </a:bodyPr>
          <a:lstStyle/>
          <a:p>
            <a:pPr algn="r" rtl="1"/>
            <a:r>
              <a:rPr lang="ar-SA" sz="1200" b="0" dirty="0">
                <a:solidFill>
                  <a:srgbClr val="2A206A"/>
                </a:solidFill>
                <a:latin typeface="DiodrumArabic-Semibold" pitchFamily="2" charset="-78"/>
                <a:cs typeface="DiodrumArabic-Semibold" pitchFamily="2" charset="-78"/>
              </a:rPr>
              <a:t>مستفيد تراكمي حتى أغسطس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04019" y="2377440"/>
            <a:ext cx="23088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noAutofit/>
          </a:bodyPr>
          <a:lstStyle/>
          <a:p>
            <a:pPr algn="r" rtl="1"/>
            <a:r>
              <a:rPr lang="ar-SA" sz="1000" b="0" dirty="0">
                <a:solidFill>
                  <a:srgbClr val="6E6E86"/>
                </a:solidFill>
                <a:latin typeface="DiodrumArabic-Regular" pitchFamily="2" charset="-78"/>
                <a:cs typeface="DiodrumArabic-Regular" pitchFamily="2" charset="-78"/>
              </a:rPr>
              <a:t>71% من مستهدف 2026 (1,800 مستفيد)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2674620" cy="1280160"/>
          </a:xfrm>
          <a:prstGeom prst="roundRect">
            <a:avLst>
              <a:gd name="adj" fmla="val 7142"/>
            </a:avLst>
          </a:prstGeom>
          <a:solidFill>
            <a:srgbClr val="FFFFFF"/>
          </a:solidFill>
          <a:ln w="9525">
            <a:solidFill>
              <a:srgbClr val="E1E0EC"/>
            </a:solidFill>
          </a:ln>
          <a:effectLst>
            <a:outerShdw blurRad="76200" dist="23812" dir="5400000" rotWithShape="0">
              <a:srgbClr val="24135F">
                <a:alpha val="12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00800" y="1536192"/>
            <a:ext cx="23088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  <a:noAutofit/>
          </a:bodyPr>
          <a:lstStyle/>
          <a:p>
            <a:pPr algn="r" rtl="1"/>
            <a:r>
              <a:rPr lang="ar-SA" sz="3000" b="0" dirty="0">
                <a:solidFill>
                  <a:srgbClr val="7C32C9"/>
                </a:solidFill>
                <a:latin typeface="DiodrumArabic-Bold" pitchFamily="2" charset="-78"/>
                <a:cs typeface="DiodrumArabic-Bold" pitchFamily="2" charset="-78"/>
              </a:rPr>
              <a:t>54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21408"/>
            <a:ext cx="23088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noAutofit/>
          </a:bodyPr>
          <a:lstStyle/>
          <a:p>
            <a:pPr algn="r" rtl="1"/>
            <a:r>
              <a:rPr lang="ar-SA" sz="1200" b="0" dirty="0">
                <a:solidFill>
                  <a:srgbClr val="2A206A"/>
                </a:solidFill>
                <a:latin typeface="DiodrumArabic-Semibold" pitchFamily="2" charset="-78"/>
                <a:cs typeface="DiodrumArabic-Semibold" pitchFamily="2" charset="-78"/>
              </a:rPr>
              <a:t>برنامج وورشة عمل تراكمياً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377440"/>
            <a:ext cx="23088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noAutofit/>
          </a:bodyPr>
          <a:lstStyle/>
          <a:p>
            <a:pPr algn="r" rtl="1"/>
            <a:r>
              <a:rPr lang="ar-SA" sz="1000" b="0" dirty="0">
                <a:solidFill>
                  <a:srgbClr val="6E6E86"/>
                </a:solidFill>
                <a:latin typeface="DiodrumArabic-Regular" pitchFamily="2" charset="-78"/>
                <a:cs typeface="DiodrumArabic-Regular" pitchFamily="2" charset="-78"/>
              </a:rPr>
              <a:t>31 برنامج تدريبي + 23 ورشة عمل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14700" y="1371600"/>
            <a:ext cx="2674620" cy="1280160"/>
          </a:xfrm>
          <a:prstGeom prst="roundRect">
            <a:avLst>
              <a:gd name="adj" fmla="val 7142"/>
            </a:avLst>
          </a:prstGeom>
          <a:solidFill>
            <a:srgbClr val="FFFFFF"/>
          </a:solidFill>
          <a:ln w="9525">
            <a:solidFill>
              <a:srgbClr val="E1E0EC"/>
            </a:solidFill>
          </a:ln>
          <a:effectLst>
            <a:outerShdw blurRad="76200" dist="23812" dir="5400000" rotWithShape="0">
              <a:srgbClr val="24135F">
                <a:alpha val="12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497580" y="1536192"/>
            <a:ext cx="23088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  <a:noAutofit/>
          </a:bodyPr>
          <a:lstStyle/>
          <a:p>
            <a:pPr algn="r" rtl="1"/>
            <a:r>
              <a:rPr lang="ar-SA" sz="3000" b="0" dirty="0">
                <a:solidFill>
                  <a:srgbClr val="7C32C9"/>
                </a:solidFill>
                <a:latin typeface="DiodrumArabic-Bold" pitchFamily="2" charset="-78"/>
                <a:cs typeface="DiodrumArabic-Bold" pitchFamily="2" charset="-78"/>
              </a:rPr>
              <a:t>507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97580" y="2121408"/>
            <a:ext cx="23088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noAutofit/>
          </a:bodyPr>
          <a:lstStyle/>
          <a:p>
            <a:pPr algn="r" rtl="1"/>
            <a:r>
              <a:rPr lang="ar-SA" sz="1200" b="0" dirty="0">
                <a:solidFill>
                  <a:srgbClr val="2A206A"/>
                </a:solidFill>
                <a:latin typeface="DiodrumArabic-Semibold" pitchFamily="2" charset="-78"/>
                <a:cs typeface="DiodrumArabic-Semibold" pitchFamily="2" charset="-78"/>
              </a:rPr>
              <a:t>مستفيد خلال الربع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97580" y="2377440"/>
            <a:ext cx="23088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noAutofit/>
          </a:bodyPr>
          <a:lstStyle/>
          <a:p>
            <a:pPr algn="r" rtl="1"/>
            <a:r>
              <a:rPr lang="ar-SA" sz="1000" b="0" dirty="0">
                <a:solidFill>
                  <a:srgbClr val="6E6E86"/>
                </a:solidFill>
                <a:latin typeface="DiodrumArabic-Regular" pitchFamily="2" charset="-78"/>
                <a:cs typeface="DiodrumArabic-Regular" pitchFamily="2" charset="-78"/>
              </a:rPr>
              <a:t>يونيو 142 | يوليو 190 | أغسطس 175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79" y="1371600"/>
            <a:ext cx="2674620" cy="1280160"/>
          </a:xfrm>
          <a:prstGeom prst="roundRect">
            <a:avLst>
              <a:gd name="adj" fmla="val 7142"/>
            </a:avLst>
          </a:prstGeom>
          <a:solidFill>
            <a:srgbClr val="FFFFFF"/>
          </a:solidFill>
          <a:ln w="9525">
            <a:solidFill>
              <a:srgbClr val="E1E0EC"/>
            </a:solidFill>
          </a:ln>
          <a:effectLst>
            <a:outerShdw blurRad="76200" dist="23812" dir="5400000" rotWithShape="0">
              <a:srgbClr val="24135F">
                <a:alpha val="12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94359" y="1536192"/>
            <a:ext cx="23088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  <a:noAutofit/>
          </a:bodyPr>
          <a:lstStyle/>
          <a:p>
            <a:pPr algn="r" rtl="1"/>
            <a:r>
              <a:rPr lang="ar-SA" sz="3000" b="0" dirty="0">
                <a:solidFill>
                  <a:srgbClr val="7C32C9"/>
                </a:solidFill>
                <a:latin typeface="DiodrumArabic-Bold" pitchFamily="2" charset="-78"/>
                <a:cs typeface="DiodrumArabic-Bold" pitchFamily="2" charset="-78"/>
              </a:rPr>
              <a:t>19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59" y="2121408"/>
            <a:ext cx="23088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noAutofit/>
          </a:bodyPr>
          <a:lstStyle/>
          <a:p>
            <a:pPr algn="r" rtl="1"/>
            <a:r>
              <a:rPr lang="ar-SA" sz="1200" b="0" dirty="0">
                <a:solidFill>
                  <a:srgbClr val="2A206A"/>
                </a:solidFill>
                <a:latin typeface="DiodrumArabic-Semibold" pitchFamily="2" charset="-78"/>
                <a:cs typeface="DiodrumArabic-Semibold" pitchFamily="2" charset="-78"/>
              </a:rPr>
              <a:t>برنامج وورشة خلال الربع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59" y="2377440"/>
            <a:ext cx="23088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noAutofit/>
          </a:bodyPr>
          <a:lstStyle/>
          <a:p>
            <a:pPr algn="r" rtl="1"/>
            <a:r>
              <a:rPr lang="ar-SA" sz="1000" b="0" dirty="0">
                <a:solidFill>
                  <a:srgbClr val="6E6E86"/>
                </a:solidFill>
                <a:latin typeface="DiodrumArabic-Regular" pitchFamily="2" charset="-78"/>
                <a:cs typeface="DiodrumArabic-Regular" pitchFamily="2" charset="-78"/>
              </a:rPr>
              <a:t>6 برامج تدريبية + 13 ورشة عمل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01000" y="2926080"/>
            <a:ext cx="3794760" cy="2788920"/>
          </a:xfrm>
          <a:prstGeom prst="roundRect">
            <a:avLst>
              <a:gd name="adj" fmla="val 3934"/>
            </a:avLst>
          </a:prstGeom>
          <a:gradFill>
            <a:gsLst>
              <a:gs pos="0">
                <a:srgbClr val="1D164B"/>
              </a:gs>
              <a:gs pos="90000">
                <a:srgbClr val="3B2D8A"/>
              </a:gs>
            </a:gsLst>
            <a:lin ang="2700000" scaled="1"/>
          </a:gradFill>
          <a:ln>
            <a:noFill/>
          </a:ln>
          <a:effectLst>
            <a:outerShdw blurRad="76200" dist="23812" dir="5400000" rotWithShape="0">
              <a:srgbClr val="24135F">
                <a:alpha val="12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229600" y="310896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  <a:noAutofit/>
          </a:bodyPr>
          <a:lstStyle/>
          <a:p>
            <a:pPr algn="r" rtl="1"/>
            <a:r>
              <a:rPr lang="ar-SA" sz="1400" b="0" dirty="0">
                <a:solidFill>
                  <a:srgbClr val="1CC182"/>
                </a:solidFill>
                <a:latin typeface="DiodrumArabic-Bold" pitchFamily="2" charset="-78"/>
                <a:cs typeface="DiodrumArabic-Bold" pitchFamily="2" charset="-78"/>
              </a:rPr>
              <a:t>الرسالة الرئيسية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3520440"/>
            <a:ext cx="3337560" cy="2057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noAutofit/>
          </a:bodyPr>
          <a:lstStyle/>
          <a:p>
            <a:pPr algn="r" rtl="1">
              <a:lnSpc>
                <a:spcPct val="125000"/>
              </a:lnSpc>
              <a:spcAft>
                <a:spcPts val="600"/>
              </a:spcAft>
            </a:pPr>
            <a:r>
              <a:rPr lang="ar-SA" sz="1200" b="0" dirty="0">
                <a:solidFill>
                  <a:srgbClr val="FFFFFF"/>
                </a:solidFill>
                <a:latin typeface="DiodrumArabic-Medium" pitchFamily="2" charset="-78"/>
                <a:cs typeface="DiodrumArabic-Medium" pitchFamily="2" charset="-78"/>
              </a:rPr>
              <a:t>البرنامج يسير وفق المستهدف: تحقق 71% من مستهدف 2026 مع بقاء أربعة أشهر، وبوتيرة ربعية (169 مستفيداً شهرياً) تفوق المطلوب لإغلاق الفجوة (132 مستفيداً شهرياً).</a:t>
            </a:r>
          </a:p>
          <a:p>
            <a:pPr algn="r" rtl="1">
              <a:lnSpc>
                <a:spcPct val="125000"/>
              </a:lnSpc>
              <a:spcAft>
                <a:spcPts val="600"/>
              </a:spcAft>
            </a:pPr>
            <a:r>
              <a:rPr lang="ar-SA" sz="1200" b="0" dirty="0">
                <a:solidFill>
                  <a:srgbClr val="FFFFFF"/>
                </a:solidFill>
                <a:latin typeface="DiodrumArabic-Medium" pitchFamily="2" charset="-78"/>
                <a:cs typeface="DiodrumArabic-Medium" pitchFamily="2" charset="-78"/>
              </a:rPr>
              <a:t>المبادرات الثلاث قائمة على المسار، باستثناء متطلب حصر برامج الذكاء الاصطناعي مع وزارة الاتصالات الذي يحتاج إلى تدخل لتفعيل الاستجابة.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2907792"/>
            <a:ext cx="731519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  <a:noAutofit/>
          </a:bodyPr>
          <a:lstStyle/>
          <a:p>
            <a:pPr algn="r" rtl="1"/>
            <a:r>
              <a:rPr lang="ar-SA" sz="1300" b="0" dirty="0">
                <a:solidFill>
                  <a:srgbClr val="2A206A"/>
                </a:solidFill>
                <a:latin typeface="DiodrumArabic-Bold" pitchFamily="2" charset="-78"/>
                <a:cs typeface="DiodrumArabic-Bold" pitchFamily="2" charset="-78"/>
              </a:rPr>
              <a:t>حالة المبادرات القائمة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411480" y="3310128"/>
          <a:ext cx="7315198" cy="2505456"/>
        </p:xfrm>
        <a:graphic>
          <a:graphicData uri="http://schemas.openxmlformats.org/drawingml/2006/table">
            <a:tbl>
              <a:tblPr firstRow="0" bandRow="0"/>
              <a:tblGrid>
                <a:gridCol w="1965959"/>
                <a:gridCol w="2331720"/>
                <a:gridCol w="1143000"/>
                <a:gridCol w="1874519"/>
              </a:tblGrid>
              <a:tr h="365760">
                <a:tc>
                  <a:txBody>
                    <a:bodyPr/>
                    <a:lstStyle/>
                    <a:p>
                      <a:pPr algn="ctr" rtl="1">
                        <a:lnSpc>
                          <a:spcPct val="110000"/>
                        </a:lnSpc>
                      </a:pPr>
                      <a:r>
                        <a:rPr lang="ar-SA" sz="1000" b="0" dirty="0">
                          <a:solidFill>
                            <a:srgbClr val="FFFFFF"/>
                          </a:solidFill>
                          <a:latin typeface="DiodrumArabic-Semibold" pitchFamily="2" charset="-78"/>
                          <a:cs typeface="DiodrumArabic-Semibold" pitchFamily="2" charset="-78"/>
                        </a:rPr>
                        <a:t>الخطوة القادمة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00ABA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0000"/>
                        </a:lnSpc>
                      </a:pPr>
                      <a:r>
                        <a:rPr lang="ar-SA" sz="1000" b="0" dirty="0">
                          <a:solidFill>
                            <a:srgbClr val="FFFFFF"/>
                          </a:solidFill>
                          <a:latin typeface="DiodrumArabic-Semibold" pitchFamily="2" charset="-78"/>
                          <a:cs typeface="DiodrumArabic-Semibold" pitchFamily="2" charset="-78"/>
                        </a:rPr>
                        <a:t>أبرز ما تم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00ABA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0000"/>
                        </a:lnSpc>
                      </a:pPr>
                      <a:r>
                        <a:rPr lang="ar-SA" sz="1000" b="0" dirty="0">
                          <a:solidFill>
                            <a:srgbClr val="FFFFFF"/>
                          </a:solidFill>
                          <a:latin typeface="DiodrumArabic-Semibold" pitchFamily="2" charset="-78"/>
                          <a:cs typeface="DiodrumArabic-Semibold" pitchFamily="2" charset="-78"/>
                        </a:rPr>
                        <a:t>الحالة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00ABA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0000"/>
                        </a:lnSpc>
                      </a:pPr>
                      <a:r>
                        <a:rPr lang="ar-SA" sz="1000" b="0" dirty="0">
                          <a:solidFill>
                            <a:srgbClr val="FFFFFF"/>
                          </a:solidFill>
                          <a:latin typeface="DiodrumArabic-Semibold" pitchFamily="2" charset="-78"/>
                          <a:cs typeface="DiodrumArabic-Semibold" pitchFamily="2" charset="-78"/>
                        </a:rPr>
                        <a:t>المبادرة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00ABA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r" rtl="1">
                        <a:lnSpc>
                          <a:spcPct val="110000"/>
                        </a:lnSpc>
                      </a:pPr>
                      <a:r>
                        <a:rPr lang="ar-SA" sz="1000" b="0" dirty="0">
                          <a:solidFill>
                            <a:srgbClr val="333333"/>
                          </a:solidFill>
                          <a:latin typeface="DiodrumArabic-Medium" pitchFamily="2" charset="-78"/>
                          <a:cs typeface="DiodrumArabic-Medium" pitchFamily="2" charset="-78"/>
                        </a:rPr>
                        <a:t>تفعيل استجابة الوزارة على استبيان حصر البرامج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F4F3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0000"/>
                        </a:lnSpc>
                      </a:pPr>
                      <a:r>
                        <a:rPr lang="ar-SA" sz="1000" b="0" dirty="0">
                          <a:solidFill>
                            <a:srgbClr val="333333"/>
                          </a:solidFill>
                          <a:latin typeface="DiodrumArabic-Medium" pitchFamily="2" charset="-78"/>
                          <a:cs typeface="DiodrumArabic-Medium" pitchFamily="2" charset="-78"/>
                        </a:rPr>
                        <a:t>إنجاز متطلبين من ثلاثة: بيانات 350 مديراً لتقنية المعلومات، ودراسة «التدريب في الذكاء الاصطناعي»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F4F3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0000"/>
                        </a:lnSpc>
                      </a:pPr>
                      <a:r>
                        <a:rPr lang="ar-SA" sz="1000" b="0" dirty="0">
                          <a:solidFill>
                            <a:srgbClr val="333333"/>
                          </a:solidFill>
                          <a:latin typeface="DiodrumArabic-Medium" pitchFamily="2" charset="-78"/>
                          <a:cs typeface="DiodrumArabic-Medium" pitchFamily="2" charset="-78"/>
                        </a:rPr>
                        <a:t>يتطلب متابعة</a:t>
                      </a:r>
                    </a:p>
                  </a:txBody>
                  <a:tcPr marL="73152" marR="329184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F4F3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0000"/>
                        </a:lnSpc>
                      </a:pPr>
                      <a:r>
                        <a:rPr lang="ar-SA" sz="1000" b="0" dirty="0">
                          <a:solidFill>
                            <a:srgbClr val="2A206A"/>
                          </a:solidFill>
                          <a:latin typeface="DiodrumArabic-Semibold" pitchFamily="2" charset="-78"/>
                          <a:cs typeface="DiodrumArabic-Semibold" pitchFamily="2" charset="-78"/>
                        </a:rPr>
                        <a:t>مبادرة الذكاء الاصطناعي مع وزارة الاتصالات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F4F3F9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r" rtl="1">
                        <a:lnSpc>
                          <a:spcPct val="110000"/>
                        </a:lnSpc>
                      </a:pPr>
                      <a:r>
                        <a:rPr lang="ar-SA" sz="1000" b="0" dirty="0">
                          <a:solidFill>
                            <a:srgbClr val="333333"/>
                          </a:solidFill>
                          <a:latin typeface="DiodrumArabic-Medium" pitchFamily="2" charset="-78"/>
                          <a:cs typeface="DiodrumArabic-Medium" pitchFamily="2" charset="-78"/>
                        </a:rPr>
                        <a:t>عقد الاجتماعات التشخيصية وتحديد الاحتياج الفعلي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0000"/>
                        </a:lnSpc>
                      </a:pPr>
                      <a:r>
                        <a:rPr lang="ar-SA" sz="1000" b="0" dirty="0">
                          <a:solidFill>
                            <a:srgbClr val="333333"/>
                          </a:solidFill>
                          <a:latin typeface="DiodrumArabic-Medium" pitchFamily="2" charset="-78"/>
                          <a:cs typeface="DiodrumArabic-Medium" pitchFamily="2" charset="-78"/>
                        </a:rPr>
                        <a:t>7 جهات مستهدفة؛ بدء العمل مع جهتين، و5 جهات في مرحلة التواصل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0000"/>
                        </a:lnSpc>
                      </a:pPr>
                      <a:r>
                        <a:rPr lang="ar-SA" sz="1000" b="0" dirty="0">
                          <a:solidFill>
                            <a:srgbClr val="333333"/>
                          </a:solidFill>
                          <a:latin typeface="DiodrumArabic-Medium" pitchFamily="2" charset="-78"/>
                          <a:cs typeface="DiodrumArabic-Medium" pitchFamily="2" charset="-78"/>
                        </a:rPr>
                        <a:t>على المسار</a:t>
                      </a:r>
                    </a:p>
                  </a:txBody>
                  <a:tcPr marL="73152" marR="329184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0000"/>
                        </a:lnSpc>
                      </a:pPr>
                      <a:r>
                        <a:rPr lang="ar-SA" sz="1000" b="0" dirty="0">
                          <a:solidFill>
                            <a:srgbClr val="2A206A"/>
                          </a:solidFill>
                          <a:latin typeface="DiodrumArabic-Semibold" pitchFamily="2" charset="-78"/>
                          <a:cs typeface="DiodrumArabic-Semibold" pitchFamily="2" charset="-78"/>
                        </a:rPr>
                        <a:t>تعزيز استفادة الجهات من خدمات الإدارة العامة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r" rtl="1">
                        <a:lnSpc>
                          <a:spcPct val="110000"/>
                        </a:lnSpc>
                      </a:pPr>
                      <a:r>
                        <a:rPr lang="ar-SA" sz="1000" b="0" dirty="0">
                          <a:solidFill>
                            <a:srgbClr val="333333"/>
                          </a:solidFill>
                          <a:latin typeface="DiodrumArabic-Medium" pitchFamily="2" charset="-78"/>
                          <a:cs typeface="DiodrumArabic-Medium" pitchFamily="2" charset="-78"/>
                        </a:rPr>
                        <a:t>مرحلة التحكيم من 1 سبتمبر؛ إعلان النتائج 8 أكتوبر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F4F3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0000"/>
                        </a:lnSpc>
                      </a:pPr>
                      <a:r>
                        <a:rPr lang="ar-SA" sz="1000" b="0" dirty="0">
                          <a:solidFill>
                            <a:srgbClr val="333333"/>
                          </a:solidFill>
                          <a:latin typeface="DiodrumArabic-Medium" pitchFamily="2" charset="-78"/>
                          <a:cs typeface="DiodrumArabic-Medium" pitchFamily="2" charset="-78"/>
                        </a:rPr>
                        <a:t>استكمال ملف المشاركة ورفعه (عرض تعريفي، فيديو، ملف الإجابات)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F4F3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0000"/>
                        </a:lnSpc>
                      </a:pPr>
                      <a:r>
                        <a:rPr lang="ar-SA" sz="1000" b="0" dirty="0">
                          <a:solidFill>
                            <a:srgbClr val="333333"/>
                          </a:solidFill>
                          <a:latin typeface="DiodrumArabic-Medium" pitchFamily="2" charset="-78"/>
                          <a:cs typeface="DiodrumArabic-Medium" pitchFamily="2" charset="-78"/>
                        </a:rPr>
                        <a:t>على المسار</a:t>
                      </a:r>
                    </a:p>
                  </a:txBody>
                  <a:tcPr marL="73152" marR="329184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F4F3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0000"/>
                        </a:lnSpc>
                      </a:pPr>
                      <a:r>
                        <a:rPr lang="ar-SA" sz="1000" b="0" dirty="0">
                          <a:solidFill>
                            <a:srgbClr val="2A206A"/>
                          </a:solidFill>
                          <a:latin typeface="DiodrumArabic-Semibold" pitchFamily="2" charset="-78"/>
                          <a:cs typeface="DiodrumArabic-Semibold" pitchFamily="2" charset="-78"/>
                        </a:rPr>
                        <a:t>جائزة الحكومة الرقمية لدول مجلس التعاون 2026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F4F3F9"/>
                    </a:solidFill>
                  </a:tcPr>
                </a:tc>
              </a:tr>
            </a:tbl>
          </a:graphicData>
        </a:graphic>
      </p:graphicFrame>
      <p:sp>
        <p:nvSpPr>
          <p:cNvPr id="27" name="Oval 26"/>
          <p:cNvSpPr/>
          <p:nvPr/>
        </p:nvSpPr>
        <p:spPr>
          <a:xfrm>
            <a:off x="5614416" y="3959352"/>
            <a:ext cx="137160" cy="137160"/>
          </a:xfrm>
          <a:prstGeom prst="ellipse">
            <a:avLst/>
          </a:prstGeom>
          <a:solidFill>
            <a:srgbClr val="F0A32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614416" y="4672584"/>
            <a:ext cx="137160" cy="137160"/>
          </a:xfrm>
          <a:prstGeom prst="ellipse">
            <a:avLst/>
          </a:prstGeom>
          <a:solidFill>
            <a:srgbClr val="1CC1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614416" y="5385816"/>
            <a:ext cx="137160" cy="137160"/>
          </a:xfrm>
          <a:prstGeom prst="ellipse">
            <a:avLst/>
          </a:prstGeom>
          <a:solidFill>
            <a:srgbClr val="1CC1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443579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5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g-num"/>
          <p:cNvSpPr txBox="1"/>
          <p:nvPr/>
        </p:nvSpPr>
        <p:spPr>
          <a:xfrm>
            <a:off x="255129" y="2044007"/>
            <a:ext cx="2418932" cy="276998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defTabSz="812810">
              <a:buClrTx/>
            </a:pPr>
            <a:r>
              <a:rPr lang="en-US" sz="18000" kern="1200" dirty="0">
                <a:solidFill>
                  <a:srgbClr val="1CC182"/>
                </a:solidFill>
                <a:latin typeface="DiodrumArabic-Bold"/>
                <a:ea typeface="DiodrumArabic-Bold"/>
                <a:cs typeface="DiodrumArabic-Bold"/>
              </a:rPr>
              <a:t>01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3607929" y="3182903"/>
            <a:ext cx="7875129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defTabSz="812810" rtl="1">
              <a:buClrTx/>
            </a:pPr>
            <a:r>
              <a:rPr lang="ar-SA" sz="3200" kern="1200" dirty="0">
                <a:solidFill>
                  <a:srgbClr val="FFFFFF"/>
                </a:solidFill>
                <a:latin typeface="DiodrumArabic-Bold"/>
                <a:ea typeface="DiodrumArabic-Bold"/>
                <a:cs typeface="DiodrumArabic-Bold"/>
              </a:rPr>
              <a:t>البرامج التدريبية</a:t>
            </a:r>
          </a:p>
        </p:txBody>
      </p:sp>
      <p:sp>
        <p:nvSpPr>
          <p:cNvPr id="8" name="prog1"/>
          <p:cNvSpPr/>
          <p:nvPr/>
        </p:nvSpPr>
        <p:spPr>
          <a:xfrm>
            <a:off x="10972800" y="2159565"/>
            <a:ext cx="508000" cy="65476"/>
          </a:xfrm>
          <a:prstGeom prst="roundRect">
            <a:avLst>
              <a:gd name="adj" fmla="val 50000"/>
            </a:avLst>
          </a:prstGeom>
          <a:solidFill>
            <a:srgbClr val="1CC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12810">
              <a:buClrTx/>
            </a:pPr>
            <a:endParaRPr sz="3200" kern="1200">
              <a:solidFill>
                <a:prstClr val="white"/>
              </a:solidFill>
              <a:latin typeface="DiodrumArabic-Regular"/>
              <a:cs typeface="DiodrumArabic-Regular"/>
            </a:endParaRPr>
          </a:p>
        </p:txBody>
      </p:sp>
      <p:sp>
        <p:nvSpPr>
          <p:cNvPr id="9" name="prog2"/>
          <p:cNvSpPr/>
          <p:nvPr/>
        </p:nvSpPr>
        <p:spPr>
          <a:xfrm>
            <a:off x="10363200" y="2159565"/>
            <a:ext cx="508000" cy="65476"/>
          </a:xfrm>
          <a:prstGeom prst="roundRect">
            <a:avLst>
              <a:gd name="adj" fmla="val 50000"/>
            </a:avLst>
          </a:prstGeom>
          <a:solidFill>
            <a:srgbClr val="FFFFFF">
              <a:alpha val="20000"/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12810">
              <a:buClrTx/>
            </a:pPr>
            <a:endParaRPr sz="3200" kern="1200">
              <a:solidFill>
                <a:prstClr val="white"/>
              </a:solidFill>
              <a:latin typeface="DiodrumArabic-Regular"/>
              <a:cs typeface="DiodrumArabic-Regular"/>
            </a:endParaRPr>
          </a:p>
        </p:txBody>
      </p:sp>
      <p:sp>
        <p:nvSpPr>
          <p:cNvPr id="9901" name="prog3"/>
          <p:cNvSpPr/>
          <p:nvPr/>
        </p:nvSpPr>
        <p:spPr>
          <a:xfrm>
            <a:off x="9753600" y="2159565"/>
            <a:ext cx="508000" cy="65476"/>
          </a:xfrm>
          <a:prstGeom prst="roundRect">
            <a:avLst>
              <a:gd name="adj" fmla="val 50000"/>
            </a:avLst>
          </a:prstGeom>
          <a:solidFill>
            <a:srgbClr val="FFFFFF">
              <a:alpha val="20000"/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12810">
              <a:buClrTx/>
            </a:pPr>
            <a:endParaRPr sz="3200" kern="1200">
              <a:solidFill>
                <a:prstClr val="white"/>
              </a:solidFill>
              <a:latin typeface="DiodrumArabic-Regular"/>
              <a:cs typeface="DiodrumArabic-Regular"/>
            </a:endParaRPr>
          </a:p>
        </p:txBody>
      </p:sp>
      <p:sp>
        <p:nvSpPr>
          <p:cNvPr id="9902" name="TextBox 9901"/>
          <p:cNvSpPr txBox="1"/>
          <p:nvPr/>
        </p:nvSpPr>
        <p:spPr>
          <a:xfrm>
            <a:off x="3607929" y="3868703"/>
            <a:ext cx="787512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noAutofit/>
          </a:bodyPr>
          <a:lstStyle/>
          <a:p>
            <a:pPr algn="r" rtl="1"/>
            <a:r>
              <a:rPr lang="ar-SA" sz="1500" b="0" dirty="0">
                <a:solidFill>
                  <a:srgbClr val="9DEBC8"/>
                </a:solidFill>
                <a:latin typeface="DiodrumArabic-Semibold" pitchFamily="2" charset="-78"/>
                <a:cs typeface="DiodrumArabic-Semibold" pitchFamily="2" charset="-78"/>
              </a:rPr>
              <a:t>المنجز التراكمي حتى أغسطس، منجز الربع، وخطة شهر سبتمبر</a:t>
            </a:r>
          </a:p>
        </p:txBody>
      </p:sp>
    </p:spTree>
    <p:extLst>
      <p:ext uri="{BB962C8B-B14F-4D97-AF65-F5344CB8AC3E}">
        <p14:creationId xmlns:p14="http://schemas.microsoft.com/office/powerpoint/2010/main" val="29947322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F021ADDF-8E2C-45B8-BF02-B7B1F89E2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5224" y="455907"/>
            <a:ext cx="6975460" cy="522501"/>
          </a:xfrm>
        </p:spPr>
        <p:txBody>
          <a:bodyPr/>
          <a:lstStyle/>
          <a:p>
            <a:r>
              <a:rPr lang="ar-SA" sz="2000" dirty="0">
                <a:solidFill>
                  <a:schemeClr val="accent2">
                    <a:lumMod val="75000"/>
                  </a:schemeClr>
                </a:solidFill>
              </a:rPr>
              <a:t>البرامج التدريبية</a:t>
            </a:r>
            <a:endParaRPr lang="en-US" sz="2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7" name="s1-num-badge">
            <a:extLst>
              <a:ext uri="{FF2B5EF4-FFF2-40B4-BE49-F238E27FC236}">
                <a16:creationId xmlns:a16="http://schemas.microsoft.com/office/drawing/2014/main" id="{CD5DA493-5272-42FA-8365-A3966CC354D1}"/>
              </a:ext>
            </a:extLst>
          </p:cNvPr>
          <p:cNvSpPr/>
          <p:nvPr/>
        </p:nvSpPr>
        <p:spPr>
          <a:xfrm>
            <a:off x="10058400" y="398757"/>
            <a:ext cx="714462" cy="643659"/>
          </a:xfrm>
          <a:prstGeom prst="roundRect">
            <a:avLst>
              <a:gd name="adj" fmla="val 28599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2700000" scaled="1"/>
          </a:gradFill>
          <a:ln>
            <a:noFill/>
          </a:ln>
          <a:effectLst>
            <a:outerShdw blurRad="57150" dist="19050" dir="5400000" rotWithShape="0">
              <a:srgbClr val="24135F">
                <a:alpha val="25098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12810">
              <a:buClrTx/>
            </a:pPr>
            <a:endParaRPr sz="3200" kern="1200">
              <a:solidFill>
                <a:prstClr val="white"/>
              </a:solidFill>
              <a:latin typeface="DiodrumArabic-Regular"/>
              <a:cs typeface="DiodrumArabic-Regular"/>
            </a:endParaRPr>
          </a:p>
        </p:txBody>
      </p:sp>
      <p:sp>
        <p:nvSpPr>
          <p:cNvPr id="78" name="s1-num">
            <a:extLst>
              <a:ext uri="{FF2B5EF4-FFF2-40B4-BE49-F238E27FC236}">
                <a16:creationId xmlns:a16="http://schemas.microsoft.com/office/drawing/2014/main" id="{9D3DF26F-E9FA-4C13-87DC-40C0A14A2F2C}"/>
              </a:ext>
            </a:extLst>
          </p:cNvPr>
          <p:cNvSpPr txBox="1"/>
          <p:nvPr/>
        </p:nvSpPr>
        <p:spPr>
          <a:xfrm>
            <a:off x="10113264" y="493235"/>
            <a:ext cx="603504" cy="43088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 defTabSz="812810">
              <a:buClrTx/>
            </a:pPr>
            <a:r>
              <a:rPr lang="en-US" sz="2800" kern="1200" dirty="0">
                <a:solidFill>
                  <a:srgbClr val="FFFFFF"/>
                </a:solidFill>
                <a:latin typeface="DiodrumArabic-Bold"/>
                <a:ea typeface="DiodrumArabic-Bold"/>
                <a:cs typeface="DiodrumArabic-Bold"/>
              </a:rPr>
              <a:t>01</a:t>
            </a:r>
            <a:endParaRPr lang="en-US" sz="1932" kern="1200" dirty="0">
              <a:solidFill>
                <a:srgbClr val="FFFFFF"/>
              </a:solidFill>
              <a:latin typeface="DiodrumArabic-Bold"/>
              <a:ea typeface="DiodrumArabic-Bold"/>
              <a:cs typeface="DiodrumArabic-Bold"/>
            </a:endParaRPr>
          </a:p>
        </p:txBody>
      </p:sp>
      <p:sp>
        <p:nvSpPr>
          <p:cNvPr id="79" name="Title 12">
            <a:extLst>
              <a:ext uri="{FF2B5EF4-FFF2-40B4-BE49-F238E27FC236}">
                <a16:creationId xmlns:a16="http://schemas.microsoft.com/office/drawing/2014/main" id="{ADD2FCDD-A898-4E2E-84D7-0170DB3FFE6B}"/>
              </a:ext>
            </a:extLst>
          </p:cNvPr>
          <p:cNvSpPr txBox="1">
            <a:spLocks/>
          </p:cNvSpPr>
          <p:nvPr/>
        </p:nvSpPr>
        <p:spPr>
          <a:xfrm>
            <a:off x="1168273" y="3123883"/>
            <a:ext cx="9251950" cy="590931"/>
          </a:xfrm>
          <a:prstGeom prst="rect">
            <a:avLst/>
          </a:prstGeom>
        </p:spPr>
        <p:txBody>
          <a:bodyPr vert="horz" wrap="square" lIns="0" tIns="45720" rIns="0" bIns="45720" rtlCol="0" anchor="t">
            <a:spAutoFit/>
          </a:bodyPr>
          <a:lstStyle>
            <a:lvl1pPr algn="r" defTabSz="914332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chemeClr val="accent4"/>
                </a:solidFill>
                <a:latin typeface="DiodrumArabic-Bold" panose="00000800000000000000" pitchFamily="2" charset="-78"/>
                <a:ea typeface="+mj-ea"/>
                <a:cs typeface="DiodrumArabic-Bold" panose="00000800000000000000" pitchFamily="2" charset="-78"/>
              </a:defRPr>
            </a:lvl1pPr>
          </a:lstStyle>
          <a:p>
            <a:pPr>
              <a:buClrTx/>
              <a:buFontTx/>
            </a:pPr>
            <a:r>
              <a:rPr lang="ar-SA" sz="3600" dirty="0"/>
              <a:t>1.1 المنجزات</a:t>
            </a:r>
          </a:p>
        </p:txBody>
      </p:sp>
      <p:sp>
        <p:nvSpPr>
          <p:cNvPr id="80" name="Slide Number Placeholder 1">
            <a:extLst>
              <a:ext uri="{FF2B5EF4-FFF2-40B4-BE49-F238E27FC236}">
                <a16:creationId xmlns:a16="http://schemas.microsoft.com/office/drawing/2014/main" id="{62A52D15-03C4-4D9B-AB50-612D2A833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11480" y="402336"/>
            <a:ext cx="822960" cy="640080"/>
          </a:xfrm>
        </p:spPr>
        <p:txBody>
          <a:bodyPr anchor="ctr" lIns="0"/>
          <a:lstStyle/>
          <a:p>
            <a:pPr algn="l"/>
            <a:fld id="{679EF615-E246-4FA6-9E75-123AAEB83405}" type="slidenum">
              <a:rPr lang="en-US" smtClean="0" sz="1200" b="1">
                <a:solidFill>
                  <a:srgbClr val="2A206A"/>
                </a:solidFill>
                <a:latin typeface="DiodrumArabic-Semibold"/>
                <a:cs typeface="DiodrumArabic-Semibold"/>
              </a:rPr>
              <a:pPr/>
              <a:t>4</a:t>
            </a:fld>
            <a:endParaRPr lang="en-PH" dirty="0"/>
          </a:p>
        </p:txBody>
      </p:sp>
      <p:sp>
        <p:nvSpPr>
          <p:cNvPr id="81" name="TextBox 80"/>
          <p:cNvSpPr txBox="1"/>
          <p:nvPr/>
        </p:nvSpPr>
        <p:spPr>
          <a:xfrm>
            <a:off x="1170432" y="3931920"/>
            <a:ext cx="925372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noAutofit/>
          </a:bodyPr>
          <a:lstStyle/>
          <a:p>
            <a:pPr algn="r" rtl="1"/>
            <a:r>
              <a:rPr lang="ar-SA" sz="1600" b="0" dirty="0">
                <a:solidFill>
                  <a:srgbClr val="00ABAF"/>
                </a:solidFill>
                <a:latin typeface="DiodrumArabic-Semibold" pitchFamily="2" charset="-78"/>
                <a:cs typeface="DiodrumArabic-Semibold" pitchFamily="2" charset="-78"/>
              </a:rPr>
              <a:t>1,273 مستفيداً حتى أغسطس 2026 (71% من المستهدف)، منهم 507 خلال الربع</a:t>
            </a:r>
          </a:p>
        </p:txBody>
      </p:sp>
    </p:spTree>
    <p:extLst>
      <p:ext uri="{BB962C8B-B14F-4D97-AF65-F5344CB8AC3E}">
        <p14:creationId xmlns:p14="http://schemas.microsoft.com/office/powerpoint/2010/main" val="2743612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692EA03-53D2-4479-8841-E541579E9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11480" y="155448"/>
            <a:ext cx="822960" cy="548640"/>
          </a:xfrm>
        </p:spPr>
        <p:txBody>
          <a:bodyPr anchor="ctr" lIns="0"/>
          <a:lstStyle/>
          <a:p>
            <a:pPr algn="l"/>
            <a:fld id="{679EF615-E246-4FA6-9E75-123AAEB83405}" type="slidenum">
              <a:rPr lang="en-US" smtClean="0" sz="1200" b="1">
                <a:solidFill>
                  <a:srgbClr val="2A206A"/>
                </a:solidFill>
                <a:latin typeface="DiodrumArabic-Semibold"/>
                <a:cs typeface="DiodrumArabic-Semibold"/>
              </a:rPr>
              <a:pPr/>
              <a:t>5</a:t>
            </a:fld>
            <a:endParaRPr lang="en-PH" dirty="0"/>
          </a:p>
        </p:txBody>
      </p:sp>
      <p:sp>
        <p:nvSpPr>
          <p:cNvPr id="3" name="TextBox 2"/>
          <p:cNvSpPr txBox="1"/>
          <p:nvPr/>
        </p:nvSpPr>
        <p:spPr>
          <a:xfrm>
            <a:off x="1234440" y="155448"/>
            <a:ext cx="105613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  <a:noAutofit/>
          </a:bodyPr>
          <a:lstStyle/>
          <a:p>
            <a:pPr algn="r" rtl="1"/>
            <a:r>
              <a:rPr lang="ar-SA" sz="2400" b="0" dirty="0">
                <a:solidFill>
                  <a:srgbClr val="5D2597"/>
                </a:solidFill>
                <a:latin typeface="DiodrumArabic-Bold" pitchFamily="2" charset="-78"/>
                <a:cs typeface="DiodrumArabic-Bold" pitchFamily="2" charset="-78"/>
              </a:rPr>
              <a:t>1.1  </a:t>
            </a:r>
            <a:r>
              <a:rPr lang="ar-SA" sz="2400" b="0" dirty="0">
                <a:solidFill>
                  <a:srgbClr val="2A206A"/>
                </a:solidFill>
                <a:latin typeface="DiodrumArabic-Bold" pitchFamily="2" charset="-78"/>
                <a:cs typeface="DiodrumArabic-Bold" pitchFamily="2" charset="-78"/>
              </a:rPr>
              <a:t>المنجزات التراكمية لبرنامج قدراتك حتى أغسطس 2026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" y="795528"/>
            <a:ext cx="11420856" cy="0"/>
          </a:xfrm>
          <a:prstGeom prst="line">
            <a:avLst/>
          </a:prstGeom>
          <a:ln w="28575">
            <a:gradFill>
              <a:gsLst>
                <a:gs pos="0">
                  <a:srgbClr val="00ABAF"/>
                </a:gs>
                <a:gs pos="100000">
                  <a:srgbClr val="7C32C9"/>
                </a:gs>
              </a:gsLst>
              <a:lin ang="0" scaled="1"/>
            </a:gradFill>
          </a:ln>
        </p:spPr>
      </p:cxnSp>
      <p:sp>
        <p:nvSpPr>
          <p:cNvPr id="5" name="TextBox 4"/>
          <p:cNvSpPr txBox="1"/>
          <p:nvPr/>
        </p:nvSpPr>
        <p:spPr>
          <a:xfrm>
            <a:off x="411480" y="914400"/>
            <a:ext cx="11384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  <a:noAutofit/>
          </a:bodyPr>
          <a:lstStyle/>
          <a:p>
            <a:pPr algn="r" rtl="1"/>
            <a:r>
              <a:rPr lang="ar-SA" sz="1300" b="0" dirty="0">
                <a:solidFill>
                  <a:srgbClr val="00ABAF"/>
                </a:solidFill>
                <a:latin typeface="DiodrumArabic-Semibold" pitchFamily="2" charset="-78"/>
                <a:cs typeface="DiodrumArabic-Semibold" pitchFamily="2" charset="-78"/>
              </a:rPr>
              <a:t>ملخص المنجز منذ بداية 2026 وحتى نهاية أغسطس مقارنة بمستهدف العام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371600"/>
            <a:ext cx="11384280" cy="1554480"/>
          </a:xfrm>
          <a:prstGeom prst="roundRect">
            <a:avLst>
              <a:gd name="adj" fmla="val 7058"/>
            </a:avLst>
          </a:prstGeom>
          <a:gradFill>
            <a:gsLst>
              <a:gs pos="0">
                <a:srgbClr val="1D164B"/>
              </a:gs>
              <a:gs pos="90000">
                <a:srgbClr val="3B2D8A"/>
              </a:gs>
            </a:gsLst>
            <a:lin ang="2700000" scaled="1"/>
          </a:gradFill>
          <a:ln>
            <a:noFill/>
          </a:ln>
          <a:effectLst>
            <a:outerShdw blurRad="76200" dist="23812" dir="5400000" rotWithShape="0">
              <a:srgbClr val="24135F">
                <a:alpha val="12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26680" y="1554480"/>
            <a:ext cx="37490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  <a:noAutofit/>
          </a:bodyPr>
          <a:lstStyle/>
          <a:p>
            <a:pPr algn="r" rtl="1"/>
            <a:r>
              <a:rPr lang="ar-SA" sz="1250" b="0" dirty="0">
                <a:solidFill>
                  <a:srgbClr val="1CC182"/>
                </a:solidFill>
                <a:latin typeface="DiodrumArabic-Semibold" pitchFamily="2" charset="-78"/>
                <a:cs typeface="DiodrumArabic-Semibold" pitchFamily="2" charset="-78"/>
              </a:rPr>
              <a:t>إجمالي المستفيدين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38360" y="1828800"/>
            <a:ext cx="17373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  <a:noAutofit/>
          </a:bodyPr>
          <a:lstStyle/>
          <a:p>
            <a:pPr algn="r" rtl="1"/>
            <a:r>
              <a:rPr lang="ar-SA" sz="3600" b="0" dirty="0">
                <a:solidFill>
                  <a:srgbClr val="FFFFFF"/>
                </a:solidFill>
                <a:latin typeface="DiodrumArabic-Bold" pitchFamily="2" charset="-78"/>
                <a:cs typeface="DiodrumArabic-Bold" pitchFamily="2" charset="-78"/>
              </a:rPr>
              <a:t>1,273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80" y="1874519"/>
            <a:ext cx="1965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noAutofit/>
          </a:bodyPr>
          <a:lstStyle/>
          <a:p>
            <a:pPr algn="r" rtl="1">
              <a:lnSpc>
                <a:spcPct val="115000"/>
              </a:lnSpc>
            </a:pPr>
            <a:r>
              <a:rPr lang="ar-SA" sz="1100" b="0" dirty="0">
                <a:solidFill>
                  <a:srgbClr val="D9D6F0"/>
                </a:solidFill>
                <a:latin typeface="DiodrumArabic-Medium" pitchFamily="2" charset="-78"/>
                <a:cs typeface="DiodrumArabic-Medium" pitchFamily="2" charset="-78"/>
              </a:rPr>
              <a:t>مستفيداً حتى أغسطس 2026</a:t>
            </a:r>
          </a:p>
          <a:p>
            <a:pPr algn="r" rtl="1">
              <a:lnSpc>
                <a:spcPct val="115000"/>
              </a:lnSpc>
            </a:pPr>
            <a:r>
              <a:rPr lang="ar-SA" sz="1100" b="0" dirty="0">
                <a:solidFill>
                  <a:srgbClr val="D9D6F0"/>
                </a:solidFill>
                <a:latin typeface="DiodrumArabic-Medium" pitchFamily="2" charset="-78"/>
                <a:cs typeface="DiodrumArabic-Medium" pitchFamily="2" charset="-78"/>
              </a:rPr>
              <a:t>من مستهدف 1,800 مستفيد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49640" y="2487168"/>
            <a:ext cx="292608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18000"/>
            </a:srgb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9398203" y="2487168"/>
            <a:ext cx="2077516" cy="146304"/>
          </a:xfrm>
          <a:prstGeom prst="roundRect">
            <a:avLst>
              <a:gd name="adj" fmla="val 50000"/>
            </a:avLst>
          </a:prstGeom>
          <a:solidFill>
            <a:srgbClr val="1CC18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726680" y="242316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  <a:noAutofit/>
          </a:bodyPr>
          <a:lstStyle/>
          <a:p>
            <a:pPr algn="l" rtl="1"/>
            <a:r>
              <a:rPr lang="ar-SA" sz="1100" b="0" dirty="0">
                <a:solidFill>
                  <a:srgbClr val="1CC182"/>
                </a:solidFill>
                <a:latin typeface="DiodrumArabic-Bold" pitchFamily="2" charset="-78"/>
                <a:cs typeface="DiodrumArabic-Bold" pitchFamily="2" charset="-78"/>
              </a:rPr>
              <a:t>71%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406640" y="1645920"/>
            <a:ext cx="0" cy="1005840"/>
          </a:xfrm>
          <a:prstGeom prst="line">
            <a:avLst/>
          </a:prstGeom>
          <a:ln w="12700">
            <a:solidFill>
              <a:srgbClr val="6A5FB5"/>
            </a:solidFill>
          </a:ln>
        </p:spPr>
      </p:cxnSp>
      <p:sp>
        <p:nvSpPr>
          <p:cNvPr id="14" name="TextBox 13"/>
          <p:cNvSpPr txBox="1"/>
          <p:nvPr/>
        </p:nvSpPr>
        <p:spPr>
          <a:xfrm>
            <a:off x="4023360" y="1554480"/>
            <a:ext cx="31089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  <a:noAutofit/>
          </a:bodyPr>
          <a:lstStyle/>
          <a:p>
            <a:pPr algn="r" rtl="1"/>
            <a:r>
              <a:rPr lang="ar-SA" sz="1250" b="0" dirty="0">
                <a:solidFill>
                  <a:srgbClr val="1CC182"/>
                </a:solidFill>
                <a:latin typeface="DiodrumArabic-Semibold" pitchFamily="2" charset="-78"/>
                <a:cs typeface="DiodrumArabic-Semibold" pitchFamily="2" charset="-78"/>
              </a:rPr>
              <a:t>إجمالي البرامج وورش العمل الحضورية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1828800"/>
            <a:ext cx="10972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  <a:noAutofit/>
          </a:bodyPr>
          <a:lstStyle/>
          <a:p>
            <a:pPr algn="r" rtl="1"/>
            <a:r>
              <a:rPr lang="ar-SA" sz="3600" b="0" dirty="0">
                <a:solidFill>
                  <a:srgbClr val="FFFFFF"/>
                </a:solidFill>
                <a:latin typeface="DiodrumArabic-Bold" pitchFamily="2" charset="-78"/>
                <a:cs typeface="DiodrumArabic-Bold" pitchFamily="2" charset="-78"/>
              </a:rPr>
              <a:t>54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23360" y="1874519"/>
            <a:ext cx="1920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noAutofit/>
          </a:bodyPr>
          <a:lstStyle/>
          <a:p>
            <a:pPr algn="r" rtl="1">
              <a:lnSpc>
                <a:spcPct val="115000"/>
              </a:lnSpc>
            </a:pPr>
            <a:r>
              <a:rPr lang="ar-SA" sz="1100" b="0" dirty="0">
                <a:solidFill>
                  <a:srgbClr val="D9D6F0"/>
                </a:solidFill>
                <a:latin typeface="DiodrumArabic-Medium" pitchFamily="2" charset="-78"/>
                <a:cs typeface="DiodrumArabic-Medium" pitchFamily="2" charset="-78"/>
              </a:rPr>
              <a:t>برنامجاً وورشة عمل</a:t>
            </a:r>
          </a:p>
          <a:p>
            <a:pPr algn="r" rtl="1">
              <a:lnSpc>
                <a:spcPct val="115000"/>
              </a:lnSpc>
            </a:pPr>
            <a:r>
              <a:rPr lang="ar-SA" sz="1100" b="0" dirty="0">
                <a:solidFill>
                  <a:srgbClr val="D9D6F0"/>
                </a:solidFill>
                <a:latin typeface="DiodrumArabic-Medium" pitchFamily="2" charset="-78"/>
                <a:cs typeface="DiodrumArabic-Medium" pitchFamily="2" charset="-78"/>
              </a:rPr>
              <a:t>حضورية منذ بداية 2026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577840" y="2423160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  <p:txBody>
          <a:bodyPr rtlCol="0" anchor="ctr" lIns="73152" rIns="73152" tIns="0" bIns="0"/>
          <a:lstStyle/>
          <a:p>
            <a:pPr algn="ctr" rtl="1"/>
            <a:r>
              <a:rPr lang="ar-SA" sz="1050" b="0" dirty="0">
                <a:solidFill>
                  <a:srgbClr val="FFFFFF"/>
                </a:solidFill>
                <a:latin typeface="DiodrumArabic-Semibold" pitchFamily="2" charset="-78"/>
                <a:cs typeface="DiodrumArabic-Semibold" pitchFamily="2" charset="-78"/>
              </a:rPr>
              <a:t>31 برنامجاً تدريبياً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23360" y="2423160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  <p:txBody>
          <a:bodyPr rtlCol="0" anchor="ctr" lIns="73152" rIns="73152" tIns="0" bIns="0"/>
          <a:lstStyle/>
          <a:p>
            <a:pPr algn="ctr" rtl="1"/>
            <a:r>
              <a:rPr lang="ar-SA" sz="1050" b="0" dirty="0">
                <a:solidFill>
                  <a:srgbClr val="FFFFFF"/>
                </a:solidFill>
                <a:latin typeface="DiodrumArabic-Semibold" pitchFamily="2" charset="-78"/>
                <a:cs typeface="DiodrumArabic-Semibold" pitchFamily="2" charset="-78"/>
              </a:rPr>
              <a:t>23 ورشة عمل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749040" y="1645920"/>
            <a:ext cx="0" cy="1005840"/>
          </a:xfrm>
          <a:prstGeom prst="line">
            <a:avLst/>
          </a:prstGeom>
          <a:ln w="12700">
            <a:solidFill>
              <a:srgbClr val="6A5FB5"/>
            </a:solidFill>
          </a:ln>
        </p:spPr>
      </p:cxnSp>
      <p:sp>
        <p:nvSpPr>
          <p:cNvPr id="20" name="TextBox 19"/>
          <p:cNvSpPr txBox="1"/>
          <p:nvPr/>
        </p:nvSpPr>
        <p:spPr>
          <a:xfrm>
            <a:off x="685800" y="1554480"/>
            <a:ext cx="27889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  <a:noAutofit/>
          </a:bodyPr>
          <a:lstStyle/>
          <a:p>
            <a:pPr algn="r" rtl="1"/>
            <a:r>
              <a:rPr lang="ar-SA" sz="1250" b="0" dirty="0">
                <a:solidFill>
                  <a:srgbClr val="1CC182"/>
                </a:solidFill>
                <a:latin typeface="DiodrumArabic-Semibold" pitchFamily="2" charset="-78"/>
                <a:cs typeface="DiodrumArabic-Semibold" pitchFamily="2" charset="-78"/>
              </a:rPr>
              <a:t>في مركز الابتكار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68880" y="1828800"/>
            <a:ext cx="10058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  <a:noAutofit/>
          </a:bodyPr>
          <a:lstStyle/>
          <a:p>
            <a:pPr algn="r" rtl="1"/>
            <a:r>
              <a:rPr lang="ar-SA" sz="3600" b="0" dirty="0">
                <a:solidFill>
                  <a:srgbClr val="FFFFFF"/>
                </a:solidFill>
                <a:latin typeface="DiodrumArabic-Bold" pitchFamily="2" charset="-78"/>
                <a:cs typeface="DiodrumArabic-Bold" pitchFamily="2" charset="-78"/>
              </a:rPr>
              <a:t>13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1874519"/>
            <a:ext cx="1691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noAutofit/>
          </a:bodyPr>
          <a:lstStyle/>
          <a:p>
            <a:pPr algn="r" rtl="1">
              <a:lnSpc>
                <a:spcPct val="115000"/>
              </a:lnSpc>
            </a:pPr>
            <a:r>
              <a:rPr lang="ar-SA" sz="1100" b="0" dirty="0">
                <a:solidFill>
                  <a:srgbClr val="D9D6F0"/>
                </a:solidFill>
                <a:latin typeface="DiodrumArabic-Medium" pitchFamily="2" charset="-78"/>
                <a:cs typeface="DiodrumArabic-Medium" pitchFamily="2" charset="-78"/>
              </a:rPr>
              <a:t>برنامجاً وورشة عمل</a:t>
            </a:r>
          </a:p>
          <a:p>
            <a:pPr algn="r" rtl="1">
              <a:lnSpc>
                <a:spcPct val="115000"/>
              </a:lnSpc>
            </a:pPr>
            <a:r>
              <a:rPr lang="ar-SA" sz="1100" b="0" dirty="0">
                <a:solidFill>
                  <a:srgbClr val="D9D6F0"/>
                </a:solidFill>
                <a:latin typeface="DiodrumArabic-Medium" pitchFamily="2" charset="-78"/>
                <a:cs typeface="DiodrumArabic-Medium" pitchFamily="2" charset="-78"/>
              </a:rPr>
              <a:t>أقيمت في مركز الابتكار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554480" y="2423160"/>
            <a:ext cx="1828800" cy="310896"/>
          </a:xfrm>
          <a:prstGeom prst="roundRect">
            <a:avLst>
              <a:gd name="adj" fmla="val 50000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  <p:txBody>
          <a:bodyPr rtlCol="0" anchor="ctr" lIns="73152" rIns="73152" tIns="0" bIns="0"/>
          <a:lstStyle/>
          <a:p>
            <a:pPr algn="ctr" rtl="1"/>
            <a:r>
              <a:rPr lang="ar-SA" sz="1050" b="0" dirty="0">
                <a:solidFill>
                  <a:srgbClr val="FFFFFF"/>
                </a:solidFill>
                <a:latin typeface="DiodrumArabic-Semibold" pitchFamily="2" charset="-78"/>
                <a:cs typeface="DiodrumArabic-Semibold" pitchFamily="2" charset="-78"/>
              </a:rPr>
              <a:t>24% من إجمالي الأنشطة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2898648"/>
            <a:ext cx="113842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  <a:noAutofit/>
          </a:bodyPr>
          <a:lstStyle/>
          <a:p>
            <a:pPr algn="r" rtl="1"/>
            <a:r>
              <a:rPr lang="ar-SA" sz="1300" b="0" dirty="0">
                <a:solidFill>
                  <a:srgbClr val="2A206A"/>
                </a:solidFill>
                <a:latin typeface="DiodrumArabic-Bold" pitchFamily="2" charset="-78"/>
                <a:cs typeface="DiodrumArabic-Bold" pitchFamily="2" charset="-78"/>
              </a:rPr>
              <a:t>قراءة تنفيذية للأرقام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53399" y="3246120"/>
            <a:ext cx="364236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E1E0EC"/>
            </a:solidFill>
          </a:ln>
          <a:effectLst>
            <a:outerShdw blurRad="76200" dist="23812" dir="5400000" rotWithShape="0">
              <a:srgbClr val="24135F">
                <a:alpha val="12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354568" y="3392424"/>
            <a:ext cx="324002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  <a:noAutofit/>
          </a:bodyPr>
          <a:lstStyle/>
          <a:p>
            <a:pPr algn="r" rtl="1"/>
            <a:r>
              <a:rPr lang="ar-SA" sz="1350" b="0" dirty="0">
                <a:solidFill>
                  <a:srgbClr val="2A206A"/>
                </a:solidFill>
                <a:latin typeface="DiodrumArabic-Bold" pitchFamily="2" charset="-78"/>
                <a:cs typeface="DiodrumArabic-Bold" pitchFamily="2" charset="-78"/>
              </a:rPr>
              <a:t>الفجوة المتبقية حتى نهاية 2026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354568" y="3794759"/>
            <a:ext cx="3240024" cy="0"/>
          </a:xfrm>
          <a:prstGeom prst="line">
            <a:avLst/>
          </a:prstGeom>
          <a:ln w="9525">
            <a:solidFill>
              <a:srgbClr val="E1E0EC"/>
            </a:solidFill>
          </a:ln>
        </p:spPr>
      </p:cxnSp>
      <p:sp>
        <p:nvSpPr>
          <p:cNvPr id="28" name="TextBox 27"/>
          <p:cNvSpPr txBox="1"/>
          <p:nvPr/>
        </p:nvSpPr>
        <p:spPr>
          <a:xfrm>
            <a:off x="8354568" y="3886200"/>
            <a:ext cx="3240024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  <a:noAutofit/>
          </a:bodyPr>
          <a:lstStyle/>
          <a:p>
            <a:pPr algn="r" rtl="1"/>
            <a:r>
              <a:rPr lang="ar-SA" sz="3000" b="0" dirty="0">
                <a:solidFill>
                  <a:srgbClr val="7C32C9"/>
                </a:solidFill>
                <a:latin typeface="DiodrumArabic-Bold" pitchFamily="2" charset="-78"/>
                <a:cs typeface="DiodrumArabic-Bold" pitchFamily="2" charset="-78"/>
              </a:rPr>
              <a:t>527</a:t>
            </a:r>
            <a:r>
              <a:rPr lang="ar-SA" sz="1100" b="0" dirty="0">
                <a:solidFill>
                  <a:srgbClr val="6E6E86"/>
                </a:solidFill>
                <a:latin typeface="DiodrumArabic-Medium" pitchFamily="2" charset="-78"/>
                <a:cs typeface="DiodrumArabic-Medium" pitchFamily="2" charset="-78"/>
              </a:rPr>
              <a:t>  مستفيداً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54568" y="4434840"/>
            <a:ext cx="324002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noAutofit/>
          </a:bodyPr>
          <a:lstStyle/>
          <a:p>
            <a:pPr algn="r" rtl="1">
              <a:lnSpc>
                <a:spcPct val="115000"/>
              </a:lnSpc>
            </a:pPr>
            <a:r>
              <a:rPr lang="ar-SA" sz="1050" b="0" dirty="0">
                <a:solidFill>
                  <a:srgbClr val="333333"/>
                </a:solidFill>
                <a:latin typeface="DiodrumArabic-Regular" pitchFamily="2" charset="-78"/>
                <a:cs typeface="DiodrumArabic-Regular" pitchFamily="2" charset="-78"/>
              </a:rPr>
              <a:t>أي ما يعادل ≈132 مستفيداً شهرياً خلال سبتمبر – ديسمبر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82439" y="3246120"/>
            <a:ext cx="364236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E1E0EC"/>
            </a:solidFill>
          </a:ln>
          <a:effectLst>
            <a:outerShdw blurRad="76200" dist="23812" dir="5400000" rotWithShape="0">
              <a:srgbClr val="24135F">
                <a:alpha val="12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4483607" y="3392424"/>
            <a:ext cx="324002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  <a:noAutofit/>
          </a:bodyPr>
          <a:lstStyle/>
          <a:p>
            <a:pPr algn="r" rtl="1"/>
            <a:r>
              <a:rPr lang="ar-SA" sz="1350" b="0" dirty="0">
                <a:solidFill>
                  <a:srgbClr val="2A206A"/>
                </a:solidFill>
                <a:latin typeface="DiodrumArabic-Bold" pitchFamily="2" charset="-78"/>
                <a:cs typeface="DiodrumArabic-Bold" pitchFamily="2" charset="-78"/>
              </a:rPr>
              <a:t>وتيرة الربع الحالي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483607" y="3794759"/>
            <a:ext cx="3240024" cy="0"/>
          </a:xfrm>
          <a:prstGeom prst="line">
            <a:avLst/>
          </a:prstGeom>
          <a:ln w="9525">
            <a:solidFill>
              <a:srgbClr val="E1E0EC"/>
            </a:solidFill>
          </a:ln>
        </p:spPr>
      </p:cxnSp>
      <p:sp>
        <p:nvSpPr>
          <p:cNvPr id="33" name="TextBox 32"/>
          <p:cNvSpPr txBox="1"/>
          <p:nvPr/>
        </p:nvSpPr>
        <p:spPr>
          <a:xfrm>
            <a:off x="4483607" y="3886200"/>
            <a:ext cx="3240024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  <a:noAutofit/>
          </a:bodyPr>
          <a:lstStyle/>
          <a:p>
            <a:pPr algn="r" rtl="1"/>
            <a:r>
              <a:rPr lang="ar-SA" sz="3000" b="0" dirty="0">
                <a:solidFill>
                  <a:srgbClr val="00ABAF"/>
                </a:solidFill>
                <a:latin typeface="DiodrumArabic-Bold" pitchFamily="2" charset="-78"/>
                <a:cs typeface="DiodrumArabic-Bold" pitchFamily="2" charset="-78"/>
              </a:rPr>
              <a:t>169</a:t>
            </a:r>
            <a:r>
              <a:rPr lang="ar-SA" sz="1100" b="0" dirty="0">
                <a:solidFill>
                  <a:srgbClr val="6E6E86"/>
                </a:solidFill>
                <a:latin typeface="DiodrumArabic-Medium" pitchFamily="2" charset="-78"/>
                <a:cs typeface="DiodrumArabic-Medium" pitchFamily="2" charset="-78"/>
              </a:rPr>
              <a:t>  مستفيداً شهرياً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83607" y="4434840"/>
            <a:ext cx="324002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noAutofit/>
          </a:bodyPr>
          <a:lstStyle/>
          <a:p>
            <a:pPr algn="r" rtl="1">
              <a:lnSpc>
                <a:spcPct val="115000"/>
              </a:lnSpc>
            </a:pPr>
            <a:r>
              <a:rPr lang="ar-SA" sz="1050" b="0" dirty="0">
                <a:solidFill>
                  <a:srgbClr val="333333"/>
                </a:solidFill>
                <a:latin typeface="DiodrumArabic-Regular" pitchFamily="2" charset="-78"/>
                <a:cs typeface="DiodrumArabic-Regular" pitchFamily="2" charset="-78"/>
              </a:rPr>
              <a:t>متوسط يونيو – أغسطس (507 ÷ 3 أشهر)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11479" y="3246120"/>
            <a:ext cx="364236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E1E0EC"/>
            </a:solidFill>
          </a:ln>
          <a:effectLst>
            <a:outerShdw blurRad="76200" dist="23812" dir="5400000" rotWithShape="0">
              <a:srgbClr val="24135F">
                <a:alpha val="12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12647" y="3392424"/>
            <a:ext cx="324002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  <a:noAutofit/>
          </a:bodyPr>
          <a:lstStyle/>
          <a:p>
            <a:pPr algn="r" rtl="1"/>
            <a:r>
              <a:rPr lang="ar-SA" sz="1350" b="0" dirty="0">
                <a:solidFill>
                  <a:srgbClr val="2A206A"/>
                </a:solidFill>
                <a:latin typeface="DiodrumArabic-Bold" pitchFamily="2" charset="-78"/>
                <a:cs typeface="DiodrumArabic-Bold" pitchFamily="2" charset="-78"/>
              </a:rPr>
              <a:t>الخلاصة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12647" y="3794759"/>
            <a:ext cx="3240025" cy="0"/>
          </a:xfrm>
          <a:prstGeom prst="line">
            <a:avLst/>
          </a:prstGeom>
          <a:ln w="9525">
            <a:solidFill>
              <a:srgbClr val="E1E0EC"/>
            </a:solidFill>
          </a:ln>
        </p:spPr>
      </p:cxnSp>
      <p:sp>
        <p:nvSpPr>
          <p:cNvPr id="38" name="TextBox 37"/>
          <p:cNvSpPr txBox="1"/>
          <p:nvPr/>
        </p:nvSpPr>
        <p:spPr>
          <a:xfrm>
            <a:off x="612647" y="3886200"/>
            <a:ext cx="3240024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  <a:noAutofit/>
          </a:bodyPr>
          <a:lstStyle/>
          <a:p>
            <a:pPr algn="r" rtl="1"/>
            <a:r>
              <a:rPr lang="ar-SA" sz="2200" b="0" dirty="0">
                <a:solidFill>
                  <a:srgbClr val="119C68"/>
                </a:solidFill>
                <a:latin typeface="DiodrumArabic-Bold" pitchFamily="2" charset="-78"/>
                <a:cs typeface="DiodrumArabic-Bold" pitchFamily="2" charset="-78"/>
              </a:rPr>
              <a:t>على المسار</a:t>
            </a:r>
            <a:r>
              <a:rPr lang="ar-SA" sz="1100" b="0" dirty="0">
                <a:solidFill>
                  <a:srgbClr val="6E6E86"/>
                </a:solidFill>
                <a:latin typeface="DiodrumArabic-Medium" pitchFamily="2" charset="-78"/>
                <a:cs typeface="DiodrumArabic-Medium" pitchFamily="2" charset="-78"/>
              </a:rPr>
              <a:t>  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2647" y="4434840"/>
            <a:ext cx="324002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noAutofit/>
          </a:bodyPr>
          <a:lstStyle/>
          <a:p>
            <a:pPr algn="r" rtl="1">
              <a:lnSpc>
                <a:spcPct val="115000"/>
              </a:lnSpc>
            </a:pPr>
            <a:r>
              <a:rPr lang="ar-SA" sz="1050" b="0" dirty="0">
                <a:solidFill>
                  <a:srgbClr val="333333"/>
                </a:solidFill>
                <a:latin typeface="DiodrumArabic-Regular" pitchFamily="2" charset="-78"/>
                <a:cs typeface="DiodrumArabic-Regular" pitchFamily="2" charset="-78"/>
              </a:rPr>
              <a:t>الوتيرة الحالية تتجاوز المطلوب بنسبة 28%؛ المستهدف قابل للتحقق بشرط المحافظة على وتيرة الربع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1480" y="5257800"/>
            <a:ext cx="11384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noAutofit/>
          </a:bodyPr>
          <a:lstStyle/>
          <a:p>
            <a:pPr algn="r" rtl="1"/>
            <a:r>
              <a:rPr lang="ar-SA" sz="950" b="0" dirty="0">
                <a:solidFill>
                  <a:srgbClr val="6E6E86"/>
                </a:solidFill>
                <a:latin typeface="DiodrumArabic-Regular" pitchFamily="2" charset="-78"/>
                <a:cs typeface="DiodrumArabic-Regular" pitchFamily="2" charset="-78"/>
              </a:rPr>
              <a:t>الأرقام حتى 31 أغسطس 2026. احتساب الفجوة والوتيرة مبني على مستهدف العام البالغ 1,800 مستفيد.</a:t>
            </a:r>
          </a:p>
        </p:txBody>
      </p:sp>
    </p:spTree>
    <p:extLst>
      <p:ext uri="{BB962C8B-B14F-4D97-AF65-F5344CB8AC3E}">
        <p14:creationId xmlns:p14="http://schemas.microsoft.com/office/powerpoint/2010/main" val="1443579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692EA03-53D2-4479-8841-E541579E9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11480" y="155448"/>
            <a:ext cx="822960" cy="548640"/>
          </a:xfrm>
        </p:spPr>
        <p:txBody>
          <a:bodyPr anchor="ctr" lIns="0"/>
          <a:lstStyle/>
          <a:p>
            <a:pPr algn="l"/>
            <a:fld id="{679EF615-E246-4FA6-9E75-123AAEB83405}" type="slidenum">
              <a:rPr lang="en-US" smtClean="0" sz="1200" b="1">
                <a:solidFill>
                  <a:srgbClr val="2A206A"/>
                </a:solidFill>
                <a:latin typeface="DiodrumArabic-Semibold"/>
                <a:cs typeface="DiodrumArabic-Semibold"/>
              </a:rPr>
              <a:pPr/>
              <a:t>5</a:t>
            </a:fld>
            <a:endParaRPr lang="en-PH" dirty="0"/>
          </a:p>
        </p:txBody>
      </p:sp>
      <p:sp>
        <p:nvSpPr>
          <p:cNvPr id="3" name="TextBox 2"/>
          <p:cNvSpPr txBox="1"/>
          <p:nvPr/>
        </p:nvSpPr>
        <p:spPr>
          <a:xfrm>
            <a:off x="1234440" y="155448"/>
            <a:ext cx="105613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  <a:noAutofit/>
          </a:bodyPr>
          <a:lstStyle/>
          <a:p>
            <a:pPr algn="r" rtl="1"/>
            <a:r>
              <a:rPr lang="ar-SA" sz="2400" b="0" dirty="0">
                <a:solidFill>
                  <a:srgbClr val="5D2597"/>
                </a:solidFill>
                <a:latin typeface="DiodrumArabic-Bold" pitchFamily="2" charset="-78"/>
                <a:cs typeface="DiodrumArabic-Bold" pitchFamily="2" charset="-78"/>
              </a:rPr>
              <a:t>1.1  </a:t>
            </a:r>
            <a:r>
              <a:rPr lang="ar-SA" sz="2400" b="0" dirty="0">
                <a:solidFill>
                  <a:srgbClr val="2A206A"/>
                </a:solidFill>
                <a:latin typeface="DiodrumArabic-Bold" pitchFamily="2" charset="-78"/>
                <a:cs typeface="DiodrumArabic-Bold" pitchFamily="2" charset="-78"/>
              </a:rPr>
              <a:t>منجز الربع: يونيو – يوليو – أغسطس 2026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" y="795528"/>
            <a:ext cx="11420856" cy="0"/>
          </a:xfrm>
          <a:prstGeom prst="line">
            <a:avLst/>
          </a:prstGeom>
          <a:ln w="28575">
            <a:gradFill>
              <a:gsLst>
                <a:gs pos="0">
                  <a:srgbClr val="00ABAF"/>
                </a:gs>
                <a:gs pos="100000">
                  <a:srgbClr val="7C32C9"/>
                </a:gs>
              </a:gsLst>
              <a:lin ang="0" scaled="1"/>
            </a:gradFill>
          </a:ln>
        </p:spPr>
      </p:cxnSp>
      <p:sp>
        <p:nvSpPr>
          <p:cNvPr id="5" name="TextBox 4"/>
          <p:cNvSpPr txBox="1"/>
          <p:nvPr/>
        </p:nvSpPr>
        <p:spPr>
          <a:xfrm>
            <a:off x="411480" y="914400"/>
            <a:ext cx="11384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  <a:noAutofit/>
          </a:bodyPr>
          <a:lstStyle/>
          <a:p>
            <a:pPr algn="r" rtl="1"/>
            <a:r>
              <a:rPr lang="ar-SA" sz="1300" b="0" dirty="0">
                <a:solidFill>
                  <a:srgbClr val="00ABAF"/>
                </a:solidFill>
                <a:latin typeface="DiodrumArabic-Semibold" pitchFamily="2" charset="-78"/>
                <a:cs typeface="DiodrumArabic-Semibold" pitchFamily="2" charset="-78"/>
              </a:rPr>
              <a:t>507 مستفيدين عبر 19 برنامجاً وورشة عمل خلال الربع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371600"/>
            <a:ext cx="7452360" cy="868680"/>
          </a:xfrm>
          <a:prstGeom prst="roundRect">
            <a:avLst>
              <a:gd name="adj" fmla="val 12631"/>
            </a:avLst>
          </a:prstGeom>
          <a:gradFill>
            <a:gsLst>
              <a:gs pos="0">
                <a:srgbClr val="1D164B"/>
              </a:gs>
              <a:gs pos="90000">
                <a:srgbClr val="3B2D8A"/>
              </a:gs>
            </a:gsLst>
            <a:lin ang="2700000" scaled="1"/>
          </a:gradFill>
          <a:ln>
            <a:noFill/>
          </a:ln>
          <a:effectLst>
            <a:outerShdw blurRad="76200" dist="23812" dir="5400000" rotWithShape="0">
              <a:srgbClr val="24135F">
                <a:alpha val="12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287000" y="1481328"/>
            <a:ext cx="12344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  <a:noAutofit/>
          </a:bodyPr>
          <a:lstStyle/>
          <a:p>
            <a:pPr algn="r" rtl="1"/>
            <a:r>
              <a:rPr lang="ar-SA" sz="3000" b="0" dirty="0">
                <a:solidFill>
                  <a:srgbClr val="FFFFFF"/>
                </a:solidFill>
                <a:latin typeface="DiodrumArabic-Bold" pitchFamily="2" charset="-78"/>
                <a:cs typeface="DiodrumArabic-Bold" pitchFamily="2" charset="-78"/>
              </a:rPr>
              <a:t>507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6840" y="1554480"/>
            <a:ext cx="12801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  <a:noAutofit/>
          </a:bodyPr>
          <a:lstStyle/>
          <a:p>
            <a:pPr algn="r" rtl="1">
              <a:lnSpc>
                <a:spcPct val="110000"/>
              </a:lnSpc>
            </a:pPr>
            <a:r>
              <a:rPr lang="ar-SA" sz="1100" b="0" dirty="0">
                <a:solidFill>
                  <a:srgbClr val="1CC182"/>
                </a:solidFill>
                <a:latin typeface="DiodrumArabic-Semibold" pitchFamily="2" charset="-78"/>
                <a:cs typeface="DiodrumArabic-Semibold" pitchFamily="2" charset="-78"/>
              </a:rPr>
              <a:t>مستفيداً</a:t>
            </a:r>
          </a:p>
          <a:p>
            <a:pPr algn="r" rtl="1">
              <a:lnSpc>
                <a:spcPct val="110000"/>
              </a:lnSpc>
            </a:pPr>
            <a:r>
              <a:rPr lang="ar-SA" sz="1100" b="0" dirty="0">
                <a:solidFill>
                  <a:srgbClr val="1CC182"/>
                </a:solidFill>
                <a:latin typeface="DiodrumArabic-Semibold" pitchFamily="2" charset="-78"/>
                <a:cs typeface="DiodrumArabic-Semibold" pitchFamily="2" charset="-78"/>
              </a:rPr>
              <a:t>خلال الربع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823959" y="1554480"/>
            <a:ext cx="0" cy="502920"/>
          </a:xfrm>
          <a:prstGeom prst="line">
            <a:avLst/>
          </a:prstGeom>
          <a:ln w="12700">
            <a:solidFill>
              <a:srgbClr val="6A5FB5"/>
            </a:solidFill>
          </a:ln>
        </p:spPr>
      </p:cxnSp>
      <p:sp>
        <p:nvSpPr>
          <p:cNvPr id="10" name="Rounded Rectangle 9"/>
          <p:cNvSpPr/>
          <p:nvPr/>
        </p:nvSpPr>
        <p:spPr>
          <a:xfrm>
            <a:off x="6903720" y="1645920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  <p:txBody>
          <a:bodyPr rtlCol="0" anchor="ctr" lIns="73152" rIns="73152" tIns="0" bIns="0"/>
          <a:lstStyle/>
          <a:p>
            <a:pPr algn="ctr" rtl="1"/>
            <a:r>
              <a:rPr lang="ar-SA" sz="1050" b="0" dirty="0">
                <a:solidFill>
                  <a:srgbClr val="FFFFFF"/>
                </a:solidFill>
                <a:latin typeface="DiodrumArabic-Semibold" pitchFamily="2" charset="-78"/>
                <a:cs typeface="DiodrumArabic-Semibold" pitchFamily="2" charset="-78"/>
              </a:rPr>
              <a:t>6 برامج تدريبية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32120" y="1645920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1CC182">
              <a:alpha val="30000"/>
            </a:srgbClr>
          </a:solidFill>
          <a:ln>
            <a:noFill/>
          </a:ln>
        </p:spPr>
        <p:txBody>
          <a:bodyPr rtlCol="0" anchor="ctr" lIns="73152" rIns="73152" tIns="0" bIns="0"/>
          <a:lstStyle/>
          <a:p>
            <a:pPr algn="ctr" rtl="1"/>
            <a:r>
              <a:rPr lang="ar-SA" sz="1050" b="0" dirty="0">
                <a:solidFill>
                  <a:srgbClr val="FFFFFF"/>
                </a:solidFill>
                <a:latin typeface="DiodrumArabic-Semibold" pitchFamily="2" charset="-78"/>
                <a:cs typeface="DiodrumArabic-Semibold" pitchFamily="2" charset="-78"/>
              </a:rPr>
              <a:t>2 دولية + 4 محلية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1645920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  <p:txBody>
          <a:bodyPr rtlCol="0" anchor="ctr" lIns="73152" rIns="73152" tIns="0" bIns="0"/>
          <a:lstStyle/>
          <a:p>
            <a:pPr algn="ctr" rtl="1"/>
            <a:r>
              <a:rPr lang="ar-SA" sz="1050" b="0" dirty="0">
                <a:solidFill>
                  <a:srgbClr val="FFFFFF"/>
                </a:solidFill>
                <a:latin typeface="DiodrumArabic-Semibold" pitchFamily="2" charset="-78"/>
                <a:cs typeface="DiodrumArabic-Semibold" pitchFamily="2" charset="-78"/>
              </a:rPr>
              <a:t>13 ورشة عمل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64040" y="2514600"/>
            <a:ext cx="2331720" cy="2240280"/>
          </a:xfrm>
          <a:prstGeom prst="roundRect">
            <a:avLst>
              <a:gd name="adj" fmla="val 4081"/>
            </a:avLst>
          </a:prstGeom>
          <a:solidFill>
            <a:srgbClr val="FFFFFF"/>
          </a:solidFill>
          <a:ln w="9525">
            <a:solidFill>
              <a:srgbClr val="E1E0EC"/>
            </a:solidFill>
          </a:ln>
          <a:effectLst>
            <a:outerShdw blurRad="76200" dist="23812" dir="5400000" rotWithShape="0">
              <a:srgbClr val="24135F">
                <a:alpha val="12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65208" y="2660904"/>
            <a:ext cx="192938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  <a:noAutofit/>
          </a:bodyPr>
          <a:lstStyle/>
          <a:p>
            <a:pPr algn="r" rtl="1"/>
            <a:r>
              <a:rPr lang="ar-SA" sz="1350" b="0" dirty="0">
                <a:solidFill>
                  <a:srgbClr val="7C32C9"/>
                </a:solidFill>
                <a:latin typeface="DiodrumArabic-Bold" pitchFamily="2" charset="-78"/>
                <a:cs typeface="DiodrumArabic-Bold" pitchFamily="2" charset="-78"/>
              </a:rPr>
              <a:t>يونيو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665208" y="3063240"/>
            <a:ext cx="1929384" cy="0"/>
          </a:xfrm>
          <a:prstGeom prst="line">
            <a:avLst/>
          </a:prstGeom>
          <a:ln w="9525">
            <a:solidFill>
              <a:srgbClr val="E1E0EC"/>
            </a:solidFill>
          </a:ln>
        </p:spPr>
      </p:cxnSp>
      <p:sp>
        <p:nvSpPr>
          <p:cNvPr id="16" name="TextBox 15"/>
          <p:cNvSpPr txBox="1"/>
          <p:nvPr/>
        </p:nvSpPr>
        <p:spPr>
          <a:xfrm>
            <a:off x="9665208" y="3136392"/>
            <a:ext cx="1929384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  <a:noAutofit/>
          </a:bodyPr>
          <a:lstStyle/>
          <a:p>
            <a:pPr algn="r" rtl="1"/>
            <a:r>
              <a:rPr lang="ar-SA" sz="3000" b="0" dirty="0">
                <a:solidFill>
                  <a:srgbClr val="2A206A"/>
                </a:solidFill>
                <a:latin typeface="DiodrumArabic-Bold" pitchFamily="2" charset="-78"/>
                <a:cs typeface="DiodrumArabic-Bold" pitchFamily="2" charset="-78"/>
              </a:rPr>
              <a:t>142</a:t>
            </a:r>
            <a:r>
              <a:rPr lang="ar-SA" sz="1100" b="0" dirty="0">
                <a:solidFill>
                  <a:srgbClr val="6E6E86"/>
                </a:solidFill>
                <a:latin typeface="DiodrumArabic-Medium" pitchFamily="2" charset="-78"/>
                <a:cs typeface="DiodrumArabic-Medium" pitchFamily="2" charset="-78"/>
              </a:rPr>
              <a:t>  مستفيداً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5208" y="3685032"/>
            <a:ext cx="19293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noAutofit/>
          </a:bodyPr>
          <a:lstStyle/>
          <a:p>
            <a:pPr algn="r" rtl="1"/>
            <a:r>
              <a:rPr lang="ar-SA" sz="1150" b="0" dirty="0">
                <a:solidFill>
                  <a:srgbClr val="00ABAF"/>
                </a:solidFill>
                <a:latin typeface="DiodrumArabic-Semibold" pitchFamily="2" charset="-78"/>
                <a:cs typeface="DiodrumArabic-Semibold" pitchFamily="2" charset="-78"/>
              </a:rPr>
              <a:t>5 برامج وورش عمل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497312" y="3995928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F4F3F9"/>
          </a:solidFill>
          <a:ln w="9525">
            <a:solidFill>
              <a:srgbClr val="E1E0EC"/>
            </a:solidFill>
          </a:ln>
        </p:spPr>
        <p:txBody>
          <a:bodyPr rtlCol="0" anchor="ctr" lIns="73152" rIns="73152" tIns="0" bIns="0"/>
          <a:lstStyle/>
          <a:p>
            <a:pPr algn="ctr" rtl="1"/>
            <a:r>
              <a:rPr lang="ar-SA" sz="950" b="0" dirty="0">
                <a:solidFill>
                  <a:srgbClr val="2A206A"/>
                </a:solidFill>
                <a:latin typeface="DiodrumArabic-Semibold" pitchFamily="2" charset="-78"/>
                <a:cs typeface="DiodrumArabic-Semibold" pitchFamily="2" charset="-78"/>
              </a:rPr>
              <a:t>2 برنامج دولي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08592" y="3995928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F4F3F9"/>
          </a:solidFill>
          <a:ln w="9525">
            <a:solidFill>
              <a:srgbClr val="E1E0EC"/>
            </a:solidFill>
          </a:ln>
        </p:spPr>
        <p:txBody>
          <a:bodyPr rtlCol="0" anchor="ctr" lIns="73152" rIns="73152" tIns="0" bIns="0"/>
          <a:lstStyle/>
          <a:p>
            <a:pPr algn="ctr" rtl="1"/>
            <a:r>
              <a:rPr lang="ar-SA" sz="950" b="0" dirty="0">
                <a:solidFill>
                  <a:srgbClr val="2A206A"/>
                </a:solidFill>
                <a:latin typeface="DiodrumArabic-Semibold" pitchFamily="2" charset="-78"/>
                <a:cs typeface="DiodrumArabic-Semibold" pitchFamily="2" charset="-78"/>
              </a:rPr>
              <a:t>3 ورش عمل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03720" y="2514600"/>
            <a:ext cx="2331720" cy="2240280"/>
          </a:xfrm>
          <a:prstGeom prst="roundRect">
            <a:avLst>
              <a:gd name="adj" fmla="val 4081"/>
            </a:avLst>
          </a:prstGeom>
          <a:solidFill>
            <a:srgbClr val="FFFFFF"/>
          </a:solidFill>
          <a:ln w="9525">
            <a:solidFill>
              <a:srgbClr val="E1E0EC"/>
            </a:solidFill>
          </a:ln>
          <a:effectLst>
            <a:outerShdw blurRad="76200" dist="23812" dir="5400000" rotWithShape="0">
              <a:srgbClr val="24135F">
                <a:alpha val="12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104888" y="2660904"/>
            <a:ext cx="192938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  <a:noAutofit/>
          </a:bodyPr>
          <a:lstStyle/>
          <a:p>
            <a:pPr algn="r" rtl="1"/>
            <a:r>
              <a:rPr lang="ar-SA" sz="1350" b="0" dirty="0">
                <a:solidFill>
                  <a:srgbClr val="7C32C9"/>
                </a:solidFill>
                <a:latin typeface="DiodrumArabic-Bold" pitchFamily="2" charset="-78"/>
                <a:cs typeface="DiodrumArabic-Bold" pitchFamily="2" charset="-78"/>
              </a:rPr>
              <a:t>يوليو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104888" y="3063240"/>
            <a:ext cx="1929384" cy="0"/>
          </a:xfrm>
          <a:prstGeom prst="line">
            <a:avLst/>
          </a:prstGeom>
          <a:ln w="9525">
            <a:solidFill>
              <a:srgbClr val="E1E0EC"/>
            </a:solidFill>
          </a:ln>
        </p:spPr>
      </p:cxnSp>
      <p:sp>
        <p:nvSpPr>
          <p:cNvPr id="23" name="TextBox 22"/>
          <p:cNvSpPr txBox="1"/>
          <p:nvPr/>
        </p:nvSpPr>
        <p:spPr>
          <a:xfrm>
            <a:off x="7104888" y="3136392"/>
            <a:ext cx="1929384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  <a:noAutofit/>
          </a:bodyPr>
          <a:lstStyle/>
          <a:p>
            <a:pPr algn="r" rtl="1"/>
            <a:r>
              <a:rPr lang="ar-SA" sz="3000" b="0" dirty="0">
                <a:solidFill>
                  <a:srgbClr val="2A206A"/>
                </a:solidFill>
                <a:latin typeface="DiodrumArabic-Bold" pitchFamily="2" charset="-78"/>
                <a:cs typeface="DiodrumArabic-Bold" pitchFamily="2" charset="-78"/>
              </a:rPr>
              <a:t>190</a:t>
            </a:r>
            <a:r>
              <a:rPr lang="ar-SA" sz="1100" b="0" dirty="0">
                <a:solidFill>
                  <a:srgbClr val="6E6E86"/>
                </a:solidFill>
                <a:latin typeface="DiodrumArabic-Medium" pitchFamily="2" charset="-78"/>
                <a:cs typeface="DiodrumArabic-Medium" pitchFamily="2" charset="-78"/>
              </a:rPr>
              <a:t>  مستفيداً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04888" y="3685032"/>
            <a:ext cx="19293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noAutofit/>
          </a:bodyPr>
          <a:lstStyle/>
          <a:p>
            <a:pPr algn="r" rtl="1"/>
            <a:r>
              <a:rPr lang="ar-SA" sz="1150" b="0" dirty="0">
                <a:solidFill>
                  <a:srgbClr val="00ABAF"/>
                </a:solidFill>
                <a:latin typeface="DiodrumArabic-Semibold" pitchFamily="2" charset="-78"/>
                <a:cs typeface="DiodrumArabic-Semibold" pitchFamily="2" charset="-78"/>
              </a:rPr>
              <a:t>7 برامج وورش عمل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36992" y="3995928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F4F3F9"/>
          </a:solidFill>
          <a:ln w="9525">
            <a:solidFill>
              <a:srgbClr val="E1E0EC"/>
            </a:solidFill>
          </a:ln>
        </p:spPr>
        <p:txBody>
          <a:bodyPr rtlCol="0" anchor="ctr" lIns="73152" rIns="73152" tIns="0" bIns="0"/>
          <a:lstStyle/>
          <a:p>
            <a:pPr algn="ctr" rtl="1"/>
            <a:r>
              <a:rPr lang="ar-SA" sz="950" b="0" dirty="0">
                <a:solidFill>
                  <a:srgbClr val="2A206A"/>
                </a:solidFill>
                <a:latin typeface="DiodrumArabic-Semibold" pitchFamily="2" charset="-78"/>
                <a:cs typeface="DiodrumArabic-Semibold" pitchFamily="2" charset="-78"/>
              </a:rPr>
              <a:t>2 برنامج محلي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748271" y="3995928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F4F3F9"/>
          </a:solidFill>
          <a:ln w="9525">
            <a:solidFill>
              <a:srgbClr val="E1E0EC"/>
            </a:solidFill>
          </a:ln>
        </p:spPr>
        <p:txBody>
          <a:bodyPr rtlCol="0" anchor="ctr" lIns="73152" rIns="73152" tIns="0" bIns="0"/>
          <a:lstStyle/>
          <a:p>
            <a:pPr algn="ctr" rtl="1"/>
            <a:r>
              <a:rPr lang="ar-SA" sz="950" b="0" dirty="0">
                <a:solidFill>
                  <a:srgbClr val="2A206A"/>
                </a:solidFill>
                <a:latin typeface="DiodrumArabic-Semibold" pitchFamily="2" charset="-78"/>
                <a:cs typeface="DiodrumArabic-Semibold" pitchFamily="2" charset="-78"/>
              </a:rPr>
              <a:t>5 ورش عمل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04888" y="4325112"/>
            <a:ext cx="19293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noAutofit/>
          </a:bodyPr>
          <a:lstStyle/>
          <a:p>
            <a:pPr algn="r" rtl="1"/>
            <a:r>
              <a:rPr lang="ar-SA" sz="950" b="0" dirty="0">
                <a:solidFill>
                  <a:srgbClr val="6E6E86"/>
                </a:solidFill>
                <a:latin typeface="DiodrumArabic-Regular" pitchFamily="2" charset="-78"/>
                <a:cs typeface="DiodrumArabic-Regular" pitchFamily="2" charset="-78"/>
              </a:rPr>
              <a:t>منها 3 ورش في مركز الابتكار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43400" y="2514600"/>
            <a:ext cx="2331720" cy="2240280"/>
          </a:xfrm>
          <a:prstGeom prst="roundRect">
            <a:avLst>
              <a:gd name="adj" fmla="val 4081"/>
            </a:avLst>
          </a:prstGeom>
          <a:solidFill>
            <a:srgbClr val="FFFFFF"/>
          </a:solidFill>
          <a:ln w="9525">
            <a:solidFill>
              <a:srgbClr val="E1E0EC"/>
            </a:solidFill>
          </a:ln>
          <a:effectLst>
            <a:outerShdw blurRad="76200" dist="23812" dir="5400000" rotWithShape="0">
              <a:srgbClr val="24135F">
                <a:alpha val="12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4544568" y="2660904"/>
            <a:ext cx="192938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  <a:noAutofit/>
          </a:bodyPr>
          <a:lstStyle/>
          <a:p>
            <a:pPr algn="r" rtl="1"/>
            <a:r>
              <a:rPr lang="ar-SA" sz="1350" b="0" dirty="0">
                <a:solidFill>
                  <a:srgbClr val="7C32C9"/>
                </a:solidFill>
                <a:latin typeface="DiodrumArabic-Bold" pitchFamily="2" charset="-78"/>
                <a:cs typeface="DiodrumArabic-Bold" pitchFamily="2" charset="-78"/>
              </a:rPr>
              <a:t>أغسطس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544568" y="3063240"/>
            <a:ext cx="1929384" cy="0"/>
          </a:xfrm>
          <a:prstGeom prst="line">
            <a:avLst/>
          </a:prstGeom>
          <a:ln w="9525">
            <a:solidFill>
              <a:srgbClr val="E1E0EC"/>
            </a:solidFill>
          </a:ln>
        </p:spPr>
      </p:cxnSp>
      <p:sp>
        <p:nvSpPr>
          <p:cNvPr id="31" name="TextBox 30"/>
          <p:cNvSpPr txBox="1"/>
          <p:nvPr/>
        </p:nvSpPr>
        <p:spPr>
          <a:xfrm>
            <a:off x="4544568" y="3136392"/>
            <a:ext cx="1929384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  <a:noAutofit/>
          </a:bodyPr>
          <a:lstStyle/>
          <a:p>
            <a:pPr algn="r" rtl="1"/>
            <a:r>
              <a:rPr lang="ar-SA" sz="3000" b="0" dirty="0">
                <a:solidFill>
                  <a:srgbClr val="2A206A"/>
                </a:solidFill>
                <a:latin typeface="DiodrumArabic-Bold" pitchFamily="2" charset="-78"/>
                <a:cs typeface="DiodrumArabic-Bold" pitchFamily="2" charset="-78"/>
              </a:rPr>
              <a:t>175</a:t>
            </a:r>
            <a:r>
              <a:rPr lang="ar-SA" sz="1100" b="0" dirty="0">
                <a:solidFill>
                  <a:srgbClr val="6E6E86"/>
                </a:solidFill>
                <a:latin typeface="DiodrumArabic-Medium" pitchFamily="2" charset="-78"/>
                <a:cs typeface="DiodrumArabic-Medium" pitchFamily="2" charset="-78"/>
              </a:rPr>
              <a:t>  مستفيداً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44568" y="3685032"/>
            <a:ext cx="19293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noAutofit/>
          </a:bodyPr>
          <a:lstStyle/>
          <a:p>
            <a:pPr algn="r" rtl="1"/>
            <a:r>
              <a:rPr lang="ar-SA" sz="1150" b="0" dirty="0">
                <a:solidFill>
                  <a:srgbClr val="00ABAF"/>
                </a:solidFill>
                <a:latin typeface="DiodrumArabic-Semibold" pitchFamily="2" charset="-78"/>
                <a:cs typeface="DiodrumArabic-Semibold" pitchFamily="2" charset="-78"/>
              </a:rPr>
              <a:t>7 برامج وورش عمل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376672" y="3995928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F4F3F9"/>
          </a:solidFill>
          <a:ln w="9525">
            <a:solidFill>
              <a:srgbClr val="E1E0EC"/>
            </a:solidFill>
          </a:ln>
        </p:spPr>
        <p:txBody>
          <a:bodyPr rtlCol="0" anchor="ctr" lIns="73152" rIns="73152" tIns="0" bIns="0"/>
          <a:lstStyle/>
          <a:p>
            <a:pPr algn="ctr" rtl="1"/>
            <a:r>
              <a:rPr lang="ar-SA" sz="950" b="0" dirty="0">
                <a:solidFill>
                  <a:srgbClr val="2A206A"/>
                </a:solidFill>
                <a:latin typeface="DiodrumArabic-Semibold" pitchFamily="2" charset="-78"/>
                <a:cs typeface="DiodrumArabic-Semibold" pitchFamily="2" charset="-78"/>
              </a:rPr>
              <a:t>2 برنامج محلي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187952" y="3995928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F4F3F9"/>
          </a:solidFill>
          <a:ln w="9525">
            <a:solidFill>
              <a:srgbClr val="E1E0EC"/>
            </a:solidFill>
          </a:ln>
        </p:spPr>
        <p:txBody>
          <a:bodyPr rtlCol="0" anchor="ctr" lIns="73152" rIns="73152" tIns="0" bIns="0"/>
          <a:lstStyle/>
          <a:p>
            <a:pPr algn="ctr" rtl="1"/>
            <a:r>
              <a:rPr lang="ar-SA" sz="950" b="0" dirty="0">
                <a:solidFill>
                  <a:srgbClr val="2A206A"/>
                </a:solidFill>
                <a:latin typeface="DiodrumArabic-Semibold" pitchFamily="2" charset="-78"/>
                <a:cs typeface="DiodrumArabic-Semibold" pitchFamily="2" charset="-78"/>
              </a:rPr>
              <a:t>5 ورش عمل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44568" y="4325112"/>
            <a:ext cx="19293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noAutofit/>
          </a:bodyPr>
          <a:lstStyle/>
          <a:p>
            <a:pPr algn="r" rtl="1"/>
            <a:r>
              <a:rPr lang="ar-SA" sz="950" b="0" dirty="0">
                <a:solidFill>
                  <a:srgbClr val="6E6E86"/>
                </a:solidFill>
                <a:latin typeface="DiodrumArabic-Regular" pitchFamily="2" charset="-78"/>
                <a:cs typeface="DiodrumArabic-Regular" pitchFamily="2" charset="-78"/>
              </a:rPr>
              <a:t>منها 3 ورش في مركز الابتكار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11480" y="1371600"/>
            <a:ext cx="3657600" cy="3383280"/>
          </a:xfrm>
          <a:prstGeom prst="roundRect">
            <a:avLst>
              <a:gd name="adj" fmla="val 2702"/>
            </a:avLst>
          </a:prstGeom>
          <a:solidFill>
            <a:srgbClr val="FFFFFF"/>
          </a:solidFill>
          <a:ln w="9525">
            <a:solidFill>
              <a:srgbClr val="E1E0EC"/>
            </a:solidFill>
          </a:ln>
          <a:effectLst>
            <a:outerShdw blurRad="76200" dist="23812" dir="5400000" rotWithShape="0">
              <a:srgbClr val="24135F">
                <a:alpha val="12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594360" y="1508760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  <a:noAutofit/>
          </a:bodyPr>
          <a:lstStyle/>
          <a:p>
            <a:pPr algn="r" rtl="1"/>
            <a:r>
              <a:rPr lang="ar-SA" sz="1300" b="0" dirty="0">
                <a:solidFill>
                  <a:srgbClr val="2A206A"/>
                </a:solidFill>
                <a:latin typeface="DiodrumArabic-Bold" pitchFamily="2" charset="-78"/>
                <a:cs typeface="DiodrumArabic-Bold" pitchFamily="2" charset="-78"/>
              </a:rPr>
              <a:t>المستفيدون شهرياً</a:t>
            </a:r>
          </a:p>
        </p:txBody>
      </p:sp>
      <p:graphicFrame>
        <p:nvGraphicFramePr>
          <p:cNvPr id="38" name="Chart 37"/>
          <p:cNvGraphicFramePr>
            <a:graphicFrameLocks noGrp="1"/>
          </p:cNvGraphicFramePr>
          <p:nvPr/>
        </p:nvGraphicFramePr>
        <p:xfrm>
          <a:off x="548640" y="1874519"/>
          <a:ext cx="338328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411480" y="4983480"/>
            <a:ext cx="11384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noAutofit/>
          </a:bodyPr>
          <a:lstStyle/>
          <a:p>
            <a:pPr algn="r" rtl="1">
              <a:lnSpc>
                <a:spcPct val="120000"/>
              </a:lnSpc>
            </a:pPr>
            <a:r>
              <a:rPr lang="ar-SA" sz="1100" b="0" dirty="0">
                <a:solidFill>
                  <a:srgbClr val="2A206A"/>
                </a:solidFill>
                <a:latin typeface="DiodrumArabic-Bold" pitchFamily="2" charset="-78"/>
                <a:cs typeface="DiodrumArabic-Bold" pitchFamily="2" charset="-78"/>
              </a:rPr>
              <a:t>الاتجاه: </a:t>
            </a:r>
            <a:r>
              <a:rPr lang="ar-SA" sz="1100" b="0" dirty="0">
                <a:solidFill>
                  <a:srgbClr val="333333"/>
                </a:solidFill>
                <a:latin typeface="DiodrumArabic-Medium" pitchFamily="2" charset="-78"/>
                <a:cs typeface="DiodrumArabic-Medium" pitchFamily="2" charset="-78"/>
              </a:rPr>
              <a:t>ارتفاع عدد المستفيدين في يوليو وأغسطس مقارنة بيونيو مع التوسع في ورش العمل (5 ورش شهرياً مقابل 3 في يونيو)، وانتقال التركيز من البرامج الدولية في يونيو إلى البرامج المحلية في يوليو وأغسطس.</a:t>
            </a:r>
          </a:p>
        </p:txBody>
      </p:sp>
    </p:spTree>
    <p:extLst>
      <p:ext uri="{BB962C8B-B14F-4D97-AF65-F5344CB8AC3E}">
        <p14:creationId xmlns:p14="http://schemas.microsoft.com/office/powerpoint/2010/main" val="1443579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F021ADDF-8E2C-45B8-BF02-B7B1F89E2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5224" y="455907"/>
            <a:ext cx="6975460" cy="522501"/>
          </a:xfrm>
        </p:spPr>
        <p:txBody>
          <a:bodyPr/>
          <a:lstStyle/>
          <a:p>
            <a:r>
              <a:rPr lang="ar-SA" sz="2000" dirty="0">
                <a:solidFill>
                  <a:schemeClr val="accent2">
                    <a:lumMod val="75000"/>
                  </a:schemeClr>
                </a:solidFill>
              </a:rPr>
              <a:t>البرامج التدريبية</a:t>
            </a:r>
            <a:endParaRPr lang="en-US" sz="2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7" name="s1-num-badge">
            <a:extLst>
              <a:ext uri="{FF2B5EF4-FFF2-40B4-BE49-F238E27FC236}">
                <a16:creationId xmlns:a16="http://schemas.microsoft.com/office/drawing/2014/main" id="{CD5DA493-5272-42FA-8365-A3966CC354D1}"/>
              </a:ext>
            </a:extLst>
          </p:cNvPr>
          <p:cNvSpPr/>
          <p:nvPr/>
        </p:nvSpPr>
        <p:spPr>
          <a:xfrm>
            <a:off x="10058400" y="398757"/>
            <a:ext cx="714462" cy="643659"/>
          </a:xfrm>
          <a:prstGeom prst="roundRect">
            <a:avLst>
              <a:gd name="adj" fmla="val 28599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2700000" scaled="1"/>
          </a:gradFill>
          <a:ln>
            <a:noFill/>
          </a:ln>
          <a:effectLst>
            <a:outerShdw blurRad="57150" dist="19050" dir="5400000" rotWithShape="0">
              <a:srgbClr val="24135F">
                <a:alpha val="25098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128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3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odrumArabic-Regular"/>
              <a:ea typeface="+mn-ea"/>
              <a:cs typeface="DiodrumArabic-Regular"/>
              <a:sym typeface="Arial"/>
            </a:endParaRPr>
          </a:p>
        </p:txBody>
      </p:sp>
      <p:sp>
        <p:nvSpPr>
          <p:cNvPr id="78" name="s1-num">
            <a:extLst>
              <a:ext uri="{FF2B5EF4-FFF2-40B4-BE49-F238E27FC236}">
                <a16:creationId xmlns:a16="http://schemas.microsoft.com/office/drawing/2014/main" id="{9D3DF26F-E9FA-4C13-87DC-40C0A14A2F2C}"/>
              </a:ext>
            </a:extLst>
          </p:cNvPr>
          <p:cNvSpPr txBox="1"/>
          <p:nvPr/>
        </p:nvSpPr>
        <p:spPr>
          <a:xfrm>
            <a:off x="10113264" y="493235"/>
            <a:ext cx="603504" cy="43088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ctr" defTabSz="8128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iodrumArabic-Bold"/>
                <a:ea typeface="DiodrumArabic-Bold"/>
                <a:cs typeface="DiodrumArabic-Bold"/>
                <a:sym typeface="Arial"/>
              </a:rPr>
              <a:t>01</a:t>
            </a:r>
            <a:endParaRPr kumimoji="0" lang="en-US" sz="1932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iodrumArabic-Bold"/>
              <a:ea typeface="DiodrumArabic-Bold"/>
              <a:cs typeface="DiodrumArabic-Bold"/>
              <a:sym typeface="Arial"/>
            </a:endParaRPr>
          </a:p>
        </p:txBody>
      </p:sp>
      <p:sp>
        <p:nvSpPr>
          <p:cNvPr id="79" name="Title 12">
            <a:extLst>
              <a:ext uri="{FF2B5EF4-FFF2-40B4-BE49-F238E27FC236}">
                <a16:creationId xmlns:a16="http://schemas.microsoft.com/office/drawing/2014/main" id="{ADD2FCDD-A898-4E2E-84D7-0170DB3FFE6B}"/>
              </a:ext>
            </a:extLst>
          </p:cNvPr>
          <p:cNvSpPr txBox="1">
            <a:spLocks/>
          </p:cNvSpPr>
          <p:nvPr/>
        </p:nvSpPr>
        <p:spPr>
          <a:xfrm>
            <a:off x="1168273" y="3123883"/>
            <a:ext cx="9251950" cy="590931"/>
          </a:xfrm>
          <a:prstGeom prst="rect">
            <a:avLst/>
          </a:prstGeom>
        </p:spPr>
        <p:txBody>
          <a:bodyPr vert="horz" wrap="square" lIns="0" tIns="45720" rIns="0" bIns="45720" rtlCol="0" anchor="t">
            <a:spAutoFit/>
          </a:bodyPr>
          <a:lstStyle>
            <a:lvl1pPr algn="r" defTabSz="914332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chemeClr val="accent4"/>
                </a:solidFill>
                <a:latin typeface="DiodrumArabic-Bold" panose="00000800000000000000" pitchFamily="2" charset="-78"/>
                <a:ea typeface="+mj-ea"/>
                <a:cs typeface="DiodrumArabic-Bold" panose="00000800000000000000" pitchFamily="2" charset="-78"/>
              </a:defRPr>
            </a:lvl1pPr>
          </a:lstStyle>
          <a:p>
            <a:pPr marL="0" marR="0" lvl="0" indent="0" algn="r" defTabSz="914332" rtl="1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3600" b="0" i="0" u="none" strike="noStrike" kern="1200" cap="none" spc="0" normalizeH="0" baseline="0" noProof="0" dirty="0">
                <a:ln>
                  <a:noFill/>
                </a:ln>
                <a:solidFill>
                  <a:srgbClr val="2A206A"/>
                </a:solidFill>
                <a:effectLst/>
                <a:uLnTx/>
                <a:uFillTx/>
                <a:latin typeface="DiodrumArabic-Bold" panose="00000800000000000000" pitchFamily="2" charset="-78"/>
                <a:ea typeface="+mj-ea"/>
                <a:cs typeface="DiodrumArabic-Bold" panose="00000800000000000000" pitchFamily="2" charset="-78"/>
                <a:sym typeface="Arial"/>
              </a:rPr>
              <a:t>1.2 المخطط لشهر سبتمبر</a:t>
            </a:r>
          </a:p>
        </p:txBody>
      </p:sp>
      <p:sp>
        <p:nvSpPr>
          <p:cNvPr id="80" name="Slide Number Placeholder 1">
            <a:extLst>
              <a:ext uri="{FF2B5EF4-FFF2-40B4-BE49-F238E27FC236}">
                <a16:creationId xmlns:a16="http://schemas.microsoft.com/office/drawing/2014/main" id="{62A52D15-03C4-4D9B-AB50-612D2A833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11480" y="402336"/>
            <a:ext cx="822960" cy="640080"/>
          </a:xfrm>
        </p:spPr>
        <p:txBody>
          <a:bodyPr anchor="ctr" lIns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679EF615-E246-4FA6-9E75-123AAEB83405}" type="slidenum">
              <a:rPr kumimoji="0" lang="en-US" sz="1200" b="1" i="0" u="none" strike="noStrike" kern="0" cap="none" spc="0" normalizeH="0" baseline="0" noProof="0" smtClean="0">
                <a:solidFill>
                  <a:srgbClr val="2A206A"/>
                </a:solidFill>
                <a:latin typeface="DiodrumArabic-Semibold"/>
                <a:cs typeface="DiodrumArabic-Semibold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6</a:t>
            </a:fld>
            <a:endParaRPr kumimoji="0" lang="en-PH" sz="900" b="0" i="0" u="none" strike="noStrike" kern="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DiodrumArabic-Semibold"/>
              <a:cs typeface="Arial"/>
              <a:sym typeface="Arial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1170432" y="3931920"/>
            <a:ext cx="925372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noAutofit/>
          </a:bodyPr>
          <a:lstStyle/>
          <a:p>
            <a:pPr algn="r" rtl="1"/>
            <a:r>
              <a:rPr lang="ar-SA" sz="1600" b="0" dirty="0">
                <a:solidFill>
                  <a:srgbClr val="00ABAF"/>
                </a:solidFill>
                <a:latin typeface="DiodrumArabic-Semibold" pitchFamily="2" charset="-78"/>
                <a:cs typeface="DiodrumArabic-Semibold" pitchFamily="2" charset="-78"/>
              </a:rPr>
              <a:t>6 أنشطة مخططة: برنامج محلي و5 ورش عمل، 4 منها في مجال الذكاء الاصطناعي</a:t>
            </a:r>
          </a:p>
        </p:txBody>
      </p:sp>
    </p:spTree>
    <p:extLst>
      <p:ext uri="{BB962C8B-B14F-4D97-AF65-F5344CB8AC3E}">
        <p14:creationId xmlns:p14="http://schemas.microsoft.com/office/powerpoint/2010/main" val="17662694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692EA03-53D2-4479-8841-E541579E9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11480" y="155448"/>
            <a:ext cx="822960" cy="548640"/>
          </a:xfrm>
        </p:spPr>
        <p:txBody>
          <a:bodyPr anchor="ctr" lIns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679EF615-E246-4FA6-9E75-123AAEB83405}" type="slidenum">
              <a:rPr kumimoji="0" lang="en-US" sz="1200" b="1" i="0" u="none" strike="noStrike" kern="0" cap="none" spc="0" normalizeH="0" baseline="0" noProof="0" smtClean="0">
                <a:solidFill>
                  <a:srgbClr val="2A206A"/>
                </a:solidFill>
                <a:latin typeface="DiodrumArabic-Semibold"/>
                <a:cs typeface="DiodrumArabic-Semibold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7</a:t>
            </a:fld>
            <a:endParaRPr kumimoji="0" lang="en-PH" sz="900" b="0" i="0" u="none" strike="noStrike" kern="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DiodrumArabic-Semibold"/>
              <a:cs typeface="Arial"/>
              <a:sym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234440" y="155448"/>
            <a:ext cx="105613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  <a:noAutofit/>
          </a:bodyPr>
          <a:lstStyle/>
          <a:p>
            <a:pPr algn="r" rtl="1"/>
            <a:r>
              <a:rPr lang="ar-SA" sz="2400" b="0" dirty="0">
                <a:solidFill>
                  <a:srgbClr val="5D2597"/>
                </a:solidFill>
                <a:latin typeface="DiodrumArabic-Bold" pitchFamily="2" charset="-78"/>
                <a:cs typeface="DiodrumArabic-Bold" pitchFamily="2" charset="-78"/>
              </a:rPr>
              <a:t>1.2  </a:t>
            </a:r>
            <a:r>
              <a:rPr lang="ar-SA" sz="2400" b="0" dirty="0">
                <a:solidFill>
                  <a:srgbClr val="2A206A"/>
                </a:solidFill>
                <a:latin typeface="DiodrumArabic-Bold" pitchFamily="2" charset="-78"/>
                <a:cs typeface="DiodrumArabic-Bold" pitchFamily="2" charset="-78"/>
              </a:rPr>
              <a:t>المخطط لشهر سبتمبر 2026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" y="795528"/>
            <a:ext cx="11420856" cy="0"/>
          </a:xfrm>
          <a:prstGeom prst="line">
            <a:avLst/>
          </a:prstGeom>
          <a:ln w="28575">
            <a:gradFill>
              <a:gsLst>
                <a:gs pos="0">
                  <a:srgbClr val="00ABAF"/>
                </a:gs>
                <a:gs pos="100000">
                  <a:srgbClr val="7C32C9"/>
                </a:gs>
              </a:gsLst>
              <a:lin ang="0" scaled="1"/>
            </a:gradFill>
          </a:ln>
        </p:spPr>
      </p:cxnSp>
      <p:sp>
        <p:nvSpPr>
          <p:cNvPr id="5" name="TextBox 4"/>
          <p:cNvSpPr txBox="1"/>
          <p:nvPr/>
        </p:nvSpPr>
        <p:spPr>
          <a:xfrm>
            <a:off x="411480" y="914400"/>
            <a:ext cx="11384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  <a:noAutofit/>
          </a:bodyPr>
          <a:lstStyle/>
          <a:p>
            <a:pPr algn="r" rtl="1"/>
            <a:r>
              <a:rPr lang="ar-SA" sz="1300" b="0" dirty="0">
                <a:solidFill>
                  <a:srgbClr val="00ABAF"/>
                </a:solidFill>
                <a:latin typeface="DiodrumArabic-Semibold" pitchFamily="2" charset="-78"/>
                <a:cs typeface="DiodrumArabic-Semibold" pitchFamily="2" charset="-78"/>
              </a:rPr>
              <a:t>خطة التنفيذ لشهر سبتمبر وأبرز البرامج وورش العمل المخطط لها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0" y="1371600"/>
            <a:ext cx="7040880" cy="960120"/>
          </a:xfrm>
          <a:prstGeom prst="roundRect">
            <a:avLst>
              <a:gd name="adj" fmla="val 11428"/>
            </a:avLst>
          </a:prstGeom>
          <a:gradFill>
            <a:gsLst>
              <a:gs pos="0">
                <a:srgbClr val="1D164B"/>
              </a:gs>
              <a:gs pos="90000">
                <a:srgbClr val="3B2D8A"/>
              </a:gs>
            </a:gsLst>
            <a:lin ang="2700000" scaled="1"/>
          </a:gradFill>
          <a:ln>
            <a:noFill/>
          </a:ln>
          <a:effectLst>
            <a:outerShdw blurRad="76200" dist="23812" dir="5400000" rotWithShape="0">
              <a:srgbClr val="24135F">
                <a:alpha val="12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789919" y="1508760"/>
            <a:ext cx="7315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  <a:noAutofit/>
          </a:bodyPr>
          <a:lstStyle/>
          <a:p>
            <a:pPr algn="r" rtl="1"/>
            <a:r>
              <a:rPr lang="ar-SA" sz="3400" b="0" dirty="0">
                <a:solidFill>
                  <a:srgbClr val="FFFFFF"/>
                </a:solidFill>
                <a:latin typeface="DiodrumArabic-Bold" pitchFamily="2" charset="-78"/>
                <a:cs typeface="DiodrumArabic-Bold" pitchFamily="2" charset="-78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0" y="1572768"/>
            <a:ext cx="15087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  <a:noAutofit/>
          </a:bodyPr>
          <a:lstStyle/>
          <a:p>
            <a:pPr algn="r" rtl="1">
              <a:lnSpc>
                <a:spcPct val="110000"/>
              </a:lnSpc>
            </a:pPr>
            <a:r>
              <a:rPr lang="ar-SA" sz="1150" b="0" dirty="0">
                <a:solidFill>
                  <a:srgbClr val="1CC182"/>
                </a:solidFill>
                <a:latin typeface="DiodrumArabic-Semibold" pitchFamily="2" charset="-78"/>
                <a:cs typeface="DiodrumArabic-Semibold" pitchFamily="2" charset="-78"/>
              </a:rPr>
              <a:t>أنشطة مخططة</a:t>
            </a:r>
          </a:p>
          <a:p>
            <a:pPr algn="r" rtl="1">
              <a:lnSpc>
                <a:spcPct val="110000"/>
              </a:lnSpc>
            </a:pPr>
            <a:r>
              <a:rPr lang="ar-SA" sz="1150" b="0" dirty="0">
                <a:solidFill>
                  <a:srgbClr val="1CC182"/>
                </a:solidFill>
                <a:latin typeface="DiodrumArabic-Semibold" pitchFamily="2" charset="-78"/>
                <a:cs typeface="DiodrumArabic-Semibold" pitchFamily="2" charset="-78"/>
              </a:rPr>
              <a:t>لشهر سبتمبر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9052559" y="1572768"/>
            <a:ext cx="0" cy="557784"/>
          </a:xfrm>
          <a:prstGeom prst="line">
            <a:avLst/>
          </a:prstGeom>
          <a:ln w="12700">
            <a:solidFill>
              <a:srgbClr val="6A5FB5"/>
            </a:solidFill>
          </a:ln>
        </p:spPr>
      </p:cxn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59" y="1600200"/>
            <a:ext cx="502920" cy="502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858000" y="1554480"/>
            <a:ext cx="14630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  <a:noAutofit/>
          </a:bodyPr>
          <a:lstStyle/>
          <a:p>
            <a:pPr algn="r" rtl="1"/>
            <a:r>
              <a:rPr lang="ar-SA" sz="2200" b="0" dirty="0">
                <a:solidFill>
                  <a:srgbClr val="FFFFFF"/>
                </a:solidFill>
                <a:latin typeface="DiodrumArabic-Bold" pitchFamily="2" charset="-78"/>
                <a:cs typeface="DiodrumArabic-Bold" pitchFamily="2" charset="-78"/>
              </a:rPr>
              <a:t>1</a:t>
            </a:r>
            <a:r>
              <a:rPr lang="ar-SA" sz="1150" b="0" dirty="0">
                <a:solidFill>
                  <a:srgbClr val="D9D6F0"/>
                </a:solidFill>
                <a:latin typeface="DiodrumArabic-Semibold" pitchFamily="2" charset="-78"/>
                <a:cs typeface="DiodrumArabic-Semibold" pitchFamily="2" charset="-78"/>
              </a:rPr>
              <a:t>  برنامج محلي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1600200"/>
            <a:ext cx="502920" cy="5029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754879" y="1554480"/>
            <a:ext cx="13716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  <a:noAutofit/>
          </a:bodyPr>
          <a:lstStyle/>
          <a:p>
            <a:pPr algn="r" rtl="1"/>
            <a:r>
              <a:rPr lang="ar-SA" sz="2200" b="0" dirty="0">
                <a:solidFill>
                  <a:srgbClr val="FFFFFF"/>
                </a:solidFill>
                <a:latin typeface="DiodrumArabic-Bold" pitchFamily="2" charset="-78"/>
                <a:cs typeface="DiodrumArabic-Bold" pitchFamily="2" charset="-78"/>
              </a:rPr>
              <a:t>5</a:t>
            </a:r>
            <a:r>
              <a:rPr lang="ar-SA" sz="1150" b="0" dirty="0">
                <a:solidFill>
                  <a:srgbClr val="D9D6F0"/>
                </a:solidFill>
                <a:latin typeface="DiodrumArabic-Semibold" pitchFamily="2" charset="-78"/>
                <a:cs typeface="DiodrumArabic-Semibold" pitchFamily="2" charset="-78"/>
              </a:rPr>
              <a:t>  ورش عمل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1371600"/>
            <a:ext cx="4114800" cy="960120"/>
          </a:xfrm>
          <a:prstGeom prst="roundRect">
            <a:avLst>
              <a:gd name="adj" fmla="val 9523"/>
            </a:avLst>
          </a:prstGeom>
          <a:solidFill>
            <a:srgbClr val="F4F3F9"/>
          </a:solidFill>
          <a:ln w="9525">
            <a:solidFill>
              <a:srgbClr val="E1E0EC"/>
            </a:solidFill>
          </a:ln>
        </p:spPr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94360" y="1481328"/>
            <a:ext cx="3749039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  <a:noAutofit/>
          </a:bodyPr>
          <a:lstStyle/>
          <a:p>
            <a:pPr algn="r" rtl="1">
              <a:lnSpc>
                <a:spcPct val="118000"/>
              </a:lnSpc>
            </a:pPr>
            <a:r>
              <a:rPr lang="ar-SA" sz="1050" b="0" dirty="0">
                <a:solidFill>
                  <a:srgbClr val="7C32C9"/>
                </a:solidFill>
                <a:latin typeface="DiodrumArabic-Bold" pitchFamily="2" charset="-78"/>
                <a:cs typeface="DiodrumArabic-Bold" pitchFamily="2" charset="-78"/>
              </a:rPr>
              <a:t>التركيز: </a:t>
            </a:r>
            <a:r>
              <a:rPr lang="ar-SA" sz="1050" b="0" dirty="0">
                <a:solidFill>
                  <a:srgbClr val="333333"/>
                </a:solidFill>
                <a:latin typeface="DiodrumArabic-Medium" pitchFamily="2" charset="-78"/>
                <a:cs typeface="DiodrumArabic-Medium" pitchFamily="2" charset="-78"/>
              </a:rPr>
              <a:t>4 من أصل 5 أنشطة مدرجة تتمحور حول الذكاء الاصطناعي، بما يتسق مع أولوية تمكين القيادات الحكومية في هذا المجال.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2542032"/>
            <a:ext cx="113842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  <a:noAutofit/>
          </a:bodyPr>
          <a:lstStyle/>
          <a:p>
            <a:pPr algn="r" rtl="1"/>
            <a:r>
              <a:rPr lang="ar-SA" sz="1300" b="0" dirty="0">
                <a:solidFill>
                  <a:srgbClr val="2A206A"/>
                </a:solidFill>
                <a:latin typeface="DiodrumArabic-Bold" pitchFamily="2" charset="-78"/>
                <a:cs typeface="DiodrumArabic-Bold" pitchFamily="2" charset="-78"/>
              </a:rPr>
              <a:t>أبرز البرامج وورش العمل المخطط لها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411480" y="2907792"/>
          <a:ext cx="11384280" cy="2468880"/>
        </p:xfrm>
        <a:graphic>
          <a:graphicData uri="http://schemas.openxmlformats.org/drawingml/2006/table">
            <a:tbl>
              <a:tblPr firstRow="0" bandRow="0"/>
              <a:tblGrid>
                <a:gridCol w="2743200"/>
                <a:gridCol w="1554480"/>
                <a:gridCol w="6583680"/>
                <a:gridCol w="502920"/>
              </a:tblGrid>
              <a:tr h="365760">
                <a:tc>
                  <a:txBody>
                    <a:bodyPr/>
                    <a:lstStyle/>
                    <a:p>
                      <a:pPr algn="ctr" rtl="1">
                        <a:lnSpc>
                          <a:spcPct val="110000"/>
                        </a:lnSpc>
                      </a:pPr>
                      <a:r>
                        <a:rPr lang="ar-SA" sz="1050" b="0" dirty="0">
                          <a:solidFill>
                            <a:srgbClr val="FFFFFF"/>
                          </a:solidFill>
                          <a:latin typeface="DiodrumArabic-Semibold" pitchFamily="2" charset="-78"/>
                          <a:cs typeface="DiodrumArabic-Semibold" pitchFamily="2" charset="-78"/>
                        </a:rPr>
                        <a:t>الجهة الشريكة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00ABA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0000"/>
                        </a:lnSpc>
                      </a:pPr>
                      <a:r>
                        <a:rPr lang="ar-SA" sz="1050" b="0" dirty="0">
                          <a:solidFill>
                            <a:srgbClr val="FFFFFF"/>
                          </a:solidFill>
                          <a:latin typeface="DiodrumArabic-Semibold" pitchFamily="2" charset="-78"/>
                          <a:cs typeface="DiodrumArabic-Semibold" pitchFamily="2" charset="-78"/>
                        </a:rPr>
                        <a:t>النوع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00ABA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0000"/>
                        </a:lnSpc>
                      </a:pPr>
                      <a:r>
                        <a:rPr lang="ar-SA" sz="1050" b="0" dirty="0">
                          <a:solidFill>
                            <a:srgbClr val="FFFFFF"/>
                          </a:solidFill>
                          <a:latin typeface="DiodrumArabic-Semibold" pitchFamily="2" charset="-78"/>
                          <a:cs typeface="DiodrumArabic-Semibold" pitchFamily="2" charset="-78"/>
                        </a:rPr>
                        <a:t>البرنامج / ورشة العمل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00ABA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0000"/>
                        </a:lnSpc>
                      </a:pPr>
                      <a:r>
                        <a:rPr lang="ar-SA" sz="1050" b="0" dirty="0">
                          <a:solidFill>
                            <a:srgbClr val="FFFFFF"/>
                          </a:solidFill>
                          <a:latin typeface="DiodrumArabic-Semibold" pitchFamily="2" charset="-78"/>
                          <a:cs typeface="DiodrumArabic-Semibold" pitchFamily="2" charset="-78"/>
                        </a:rPr>
                        <a:t>#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00ABA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rtl="1">
                        <a:lnSpc>
                          <a:spcPct val="110000"/>
                        </a:lnSpc>
                      </a:pPr>
                      <a:r>
                        <a:rPr lang="ar-SA" sz="1050" b="0" dirty="0">
                          <a:solidFill>
                            <a:srgbClr val="333333"/>
                          </a:solidFill>
                          <a:latin typeface="DiodrumArabic-Medium" pitchFamily="2" charset="-78"/>
                          <a:cs typeface="DiodrumArabic-Medium" pitchFamily="2" charset="-78"/>
                        </a:rPr>
                        <a:t/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F4F3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0000"/>
                        </a:lnSpc>
                      </a:pPr>
                      <a:r>
                        <a:rPr lang="ar-SA" sz="1050" b="0" dirty="0">
                          <a:solidFill>
                            <a:srgbClr val="333333"/>
                          </a:solidFill>
                          <a:latin typeface="DiodrumArabic-Medium" pitchFamily="2" charset="-78"/>
                          <a:cs typeface="DiodrumArabic-Medium" pitchFamily="2" charset="-78"/>
                        </a:rPr>
                        <a:t>ورشة عمل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F4F3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0000"/>
                        </a:lnSpc>
                      </a:pPr>
                      <a:r>
                        <a:rPr lang="ar-SA" sz="1050" b="0" dirty="0">
                          <a:solidFill>
                            <a:srgbClr val="333333"/>
                          </a:solidFill>
                          <a:latin typeface="DiodrumArabic-Medium" pitchFamily="2" charset="-78"/>
                          <a:cs typeface="DiodrumArabic-Medium" pitchFamily="2" charset="-78"/>
                        </a:rPr>
                        <a:t>الابتكار والتطبيقات الحكومية للذكاء الاصطناعي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F4F3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0000"/>
                        </a:lnSpc>
                      </a:pPr>
                      <a:r>
                        <a:rPr lang="ar-SA" sz="1050" b="0" dirty="0">
                          <a:solidFill>
                            <a:srgbClr val="333333"/>
                          </a:solidFill>
                          <a:latin typeface="DiodrumArabic-Medium" pitchFamily="2" charset="-78"/>
                          <a:cs typeface="DiodrumArabic-Medium" pitchFamily="2" charset="-78"/>
                        </a:rPr>
                        <a:t>1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F4F3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rtl="1">
                        <a:lnSpc>
                          <a:spcPct val="110000"/>
                        </a:lnSpc>
                      </a:pPr>
                      <a:r>
                        <a:rPr lang="ar-SA" sz="1050" b="0" dirty="0">
                          <a:solidFill>
                            <a:srgbClr val="333333"/>
                          </a:solidFill>
                          <a:latin typeface="DiodrumArabic-Medium" pitchFamily="2" charset="-78"/>
                          <a:cs typeface="DiodrumArabic-Medium" pitchFamily="2" charset="-78"/>
                        </a:rPr>
                        <a:t/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0000"/>
                        </a:lnSpc>
                      </a:pPr>
                      <a:r>
                        <a:rPr lang="ar-SA" sz="1050" b="0" dirty="0">
                          <a:solidFill>
                            <a:srgbClr val="333333"/>
                          </a:solidFill>
                          <a:latin typeface="DiodrumArabic-Medium" pitchFamily="2" charset="-78"/>
                          <a:cs typeface="DiodrumArabic-Medium" pitchFamily="2" charset="-78"/>
                        </a:rPr>
                        <a:t>ورشة عمل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0000"/>
                        </a:lnSpc>
                      </a:pPr>
                      <a:r>
                        <a:rPr lang="ar-SA" sz="1050" b="0" dirty="0">
                          <a:solidFill>
                            <a:srgbClr val="333333"/>
                          </a:solidFill>
                          <a:latin typeface="DiodrumArabic-Medium" pitchFamily="2" charset="-78"/>
                          <a:cs typeface="DiodrumArabic-Medium" pitchFamily="2" charset="-78"/>
                        </a:rPr>
                        <a:t>الذكاء الاصطناعي والأتمتة لتمكين القطاعين الحكومي والصناعي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0000"/>
                        </a:lnSpc>
                      </a:pPr>
                      <a:r>
                        <a:rPr lang="ar-SA" sz="1050" b="0" dirty="0">
                          <a:solidFill>
                            <a:srgbClr val="333333"/>
                          </a:solidFill>
                          <a:latin typeface="DiodrumArabic-Medium" pitchFamily="2" charset="-78"/>
                          <a:cs typeface="DiodrumArabic-Medium" pitchFamily="2" charset="-78"/>
                        </a:rPr>
                        <a:t>2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rtl="1">
                        <a:lnSpc>
                          <a:spcPct val="110000"/>
                        </a:lnSpc>
                      </a:pPr>
                      <a:r>
                        <a:rPr lang="ar-SA" sz="1050" b="0" dirty="0">
                          <a:solidFill>
                            <a:srgbClr val="333333"/>
                          </a:solidFill>
                          <a:latin typeface="DiodrumArabic-Medium" pitchFamily="2" charset="-78"/>
                          <a:cs typeface="DiodrumArabic-Medium" pitchFamily="2" charset="-78"/>
                        </a:rPr>
                        <a:t>—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F4F3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0000"/>
                        </a:lnSpc>
                      </a:pPr>
                      <a:r>
                        <a:rPr lang="ar-SA" sz="1050" b="0" dirty="0">
                          <a:solidFill>
                            <a:srgbClr val="333333"/>
                          </a:solidFill>
                          <a:latin typeface="DiodrumArabic-Medium" pitchFamily="2" charset="-78"/>
                          <a:cs typeface="DiodrumArabic-Medium" pitchFamily="2" charset="-78"/>
                        </a:rPr>
                        <a:t>ورشة عمل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F4F3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0000"/>
                        </a:lnSpc>
                      </a:pPr>
                      <a:r>
                        <a:rPr lang="ar-SA" sz="1050" b="0" dirty="0">
                          <a:solidFill>
                            <a:srgbClr val="333333"/>
                          </a:solidFill>
                          <a:latin typeface="DiodrumArabic-Medium" pitchFamily="2" charset="-78"/>
                          <a:cs typeface="DiodrumArabic-Medium" pitchFamily="2" charset="-78"/>
                        </a:rPr>
                        <a:t>اتخاذ القرار في عصر الذكاء الاصطناعي: بين الحكمة والجرأة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F4F3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0000"/>
                        </a:lnSpc>
                      </a:pPr>
                      <a:r>
                        <a:rPr lang="ar-SA" sz="1050" b="0" dirty="0">
                          <a:solidFill>
                            <a:srgbClr val="333333"/>
                          </a:solidFill>
                          <a:latin typeface="DiodrumArabic-Medium" pitchFamily="2" charset="-78"/>
                          <a:cs typeface="DiodrumArabic-Medium" pitchFamily="2" charset="-78"/>
                        </a:rPr>
                        <a:t>3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F4F3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rtl="1">
                        <a:lnSpc>
                          <a:spcPct val="110000"/>
                        </a:lnSpc>
                      </a:pPr>
                      <a:r>
                        <a:rPr lang="ar-SA" sz="1050" b="0" dirty="0">
                          <a:solidFill>
                            <a:srgbClr val="333333"/>
                          </a:solidFill>
                          <a:latin typeface="DiodrumArabic-Medium" pitchFamily="2" charset="-78"/>
                          <a:cs typeface="DiodrumArabic-Medium" pitchFamily="2" charset="-78"/>
                        </a:rPr>
                        <a:t/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0000"/>
                        </a:lnSpc>
                      </a:pPr>
                      <a:r>
                        <a:rPr lang="ar-SA" sz="1050" b="0" dirty="0">
                          <a:solidFill>
                            <a:srgbClr val="333333"/>
                          </a:solidFill>
                          <a:latin typeface="DiodrumArabic-Medium" pitchFamily="2" charset="-78"/>
                          <a:cs typeface="DiodrumArabic-Medium" pitchFamily="2" charset="-78"/>
                        </a:rPr>
                        <a:t>ورشة عمل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0000"/>
                        </a:lnSpc>
                      </a:pPr>
                      <a:r>
                        <a:rPr lang="ar-SA" sz="1050" b="0" dirty="0">
                          <a:solidFill>
                            <a:srgbClr val="333333"/>
                          </a:solidFill>
                          <a:latin typeface="DiodrumArabic-Medium" pitchFamily="2" charset="-78"/>
                          <a:cs typeface="DiodrumArabic-Medium" pitchFamily="2" charset="-78"/>
                        </a:rPr>
                        <a:t>Google Cloud Innovation &amp; AI Enablement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0000"/>
                        </a:lnSpc>
                      </a:pPr>
                      <a:r>
                        <a:rPr lang="ar-SA" sz="1050" b="0" dirty="0">
                          <a:solidFill>
                            <a:srgbClr val="333333"/>
                          </a:solidFill>
                          <a:latin typeface="DiodrumArabic-Medium" pitchFamily="2" charset="-78"/>
                          <a:cs typeface="DiodrumArabic-Medium" pitchFamily="2" charset="-78"/>
                        </a:rPr>
                        <a:t>4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rtl="1">
                        <a:lnSpc>
                          <a:spcPct val="110000"/>
                        </a:lnSpc>
                      </a:pPr>
                      <a:r>
                        <a:rPr lang="ar-SA" sz="1050" b="0" dirty="0">
                          <a:solidFill>
                            <a:srgbClr val="333333"/>
                          </a:solidFill>
                          <a:latin typeface="DiodrumArabic-Medium" pitchFamily="2" charset="-78"/>
                          <a:cs typeface="DiodrumArabic-Medium" pitchFamily="2" charset="-78"/>
                        </a:rPr>
                        <a:t>—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F4F3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0000"/>
                        </a:lnSpc>
                      </a:pPr>
                      <a:r>
                        <a:rPr lang="ar-SA" sz="1050" b="0" dirty="0">
                          <a:solidFill>
                            <a:srgbClr val="333333"/>
                          </a:solidFill>
                          <a:latin typeface="DiodrumArabic-Medium" pitchFamily="2" charset="-78"/>
                          <a:cs typeface="DiodrumArabic-Medium" pitchFamily="2" charset="-78"/>
                        </a:rPr>
                        <a:t>برنامج محلي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F4F3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0000"/>
                        </a:lnSpc>
                      </a:pPr>
                      <a:r>
                        <a:rPr lang="ar-SA" sz="1050" b="0" dirty="0">
                          <a:solidFill>
                            <a:srgbClr val="333333"/>
                          </a:solidFill>
                          <a:latin typeface="DiodrumArabic-Medium" pitchFamily="2" charset="-78"/>
                          <a:cs typeface="DiodrumArabic-Medium" pitchFamily="2" charset="-78"/>
                        </a:rPr>
                        <a:t>تحسين محركات البحث (SEO)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F4F3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0000"/>
                        </a:lnSpc>
                      </a:pPr>
                      <a:r>
                        <a:rPr lang="ar-SA" sz="1050" b="0" dirty="0">
                          <a:solidFill>
                            <a:srgbClr val="333333"/>
                          </a:solidFill>
                          <a:latin typeface="DiodrumArabic-Medium" pitchFamily="2" charset="-78"/>
                          <a:cs typeface="DiodrumArabic-Medium" pitchFamily="2" charset="-78"/>
                        </a:rPr>
                        <a:t>5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F4F3F9"/>
                    </a:solidFill>
                  </a:tcPr>
                </a:tc>
              </a:tr>
            </a:tbl>
          </a:graphicData>
        </a:graphic>
      </p:graphicFrame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02690" y="3337560"/>
            <a:ext cx="760780" cy="292608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91056" y="3712464"/>
            <a:ext cx="384048" cy="384048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96669" y="4654296"/>
            <a:ext cx="1172822" cy="18288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11480" y="5468112"/>
            <a:ext cx="11384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noAutofit/>
          </a:bodyPr>
          <a:lstStyle/>
          <a:p>
            <a:pPr algn="r" rtl="1"/>
            <a:r>
              <a:rPr lang="ar-SA" sz="950" b="0" dirty="0">
                <a:solidFill>
                  <a:srgbClr val="6E6E86"/>
                </a:solidFill>
                <a:latin typeface="DiodrumArabic-Regular" pitchFamily="2" charset="-78"/>
                <a:cs typeface="DiodrumArabic-Regular" pitchFamily="2" charset="-78"/>
              </a:rPr>
              <a:t>الجهات الشريكة وفق ما هو مخطط عند إعداد التقرير، وقد تخضع مواعيد التنفيذ للتغيير.</a:t>
            </a:r>
          </a:p>
        </p:txBody>
      </p:sp>
    </p:spTree>
    <p:extLst>
      <p:ext uri="{BB962C8B-B14F-4D97-AF65-F5344CB8AC3E}">
        <p14:creationId xmlns:p14="http://schemas.microsoft.com/office/powerpoint/2010/main" val="711824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5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g-num"/>
          <p:cNvSpPr txBox="1"/>
          <p:nvPr/>
        </p:nvSpPr>
        <p:spPr>
          <a:xfrm>
            <a:off x="255130" y="2044007"/>
            <a:ext cx="2638543" cy="276998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defTabSz="812810">
              <a:buClrTx/>
            </a:pPr>
            <a:r>
              <a:rPr lang="ar-SA" sz="18000" kern="1200" dirty="0">
                <a:solidFill>
                  <a:srgbClr val="1CC182"/>
                </a:solidFill>
                <a:latin typeface="DiodrumArabic-Bold"/>
                <a:cs typeface="DiodrumArabic-Bold"/>
              </a:rPr>
              <a:t>02</a:t>
            </a:r>
            <a:endParaRPr lang="en-US" sz="18000" kern="1200" dirty="0">
              <a:solidFill>
                <a:srgbClr val="1CC182"/>
              </a:solidFill>
              <a:latin typeface="DiodrumArabic-Bold"/>
              <a:cs typeface="DiodrumArabic-Bold"/>
            </a:endParaRPr>
          </a:p>
        </p:txBody>
      </p:sp>
      <p:sp>
        <p:nvSpPr>
          <p:cNvPr id="6" name="title"/>
          <p:cNvSpPr txBox="1"/>
          <p:nvPr/>
        </p:nvSpPr>
        <p:spPr>
          <a:xfrm>
            <a:off x="4775200" y="3132668"/>
            <a:ext cx="6705600" cy="4994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defTabSz="812810" rtl="1">
              <a:lnSpc>
                <a:spcPct val="120000"/>
              </a:lnSpc>
              <a:buClrTx/>
            </a:pPr>
            <a:r>
              <a:rPr lang="ar-SA" sz="2999" kern="1200" dirty="0">
                <a:solidFill>
                  <a:srgbClr val="FFFFFF"/>
                </a:solidFill>
                <a:latin typeface="DiodrumArabic-Bold"/>
                <a:ea typeface="DiodrumArabic-Bold"/>
                <a:cs typeface="DiodrumArabic-Bold"/>
              </a:rPr>
              <a:t>الجهود والمبادرات القائمة</a:t>
            </a:r>
          </a:p>
        </p:txBody>
      </p:sp>
      <p:sp>
        <p:nvSpPr>
          <p:cNvPr id="22" name="prog1">
            <a:extLst>
              <a:ext uri="{FF2B5EF4-FFF2-40B4-BE49-F238E27FC236}">
                <a16:creationId xmlns:a16="http://schemas.microsoft.com/office/drawing/2014/main" id="{ADB9E06E-78AB-4BA2-9740-A2FD03A37D13}"/>
              </a:ext>
            </a:extLst>
          </p:cNvPr>
          <p:cNvSpPr/>
          <p:nvPr/>
        </p:nvSpPr>
        <p:spPr>
          <a:xfrm>
            <a:off x="10972800" y="2159565"/>
            <a:ext cx="508000" cy="65476"/>
          </a:xfrm>
          <a:prstGeom prst="roundRect">
            <a:avLst>
              <a:gd name="adj" fmla="val 50000"/>
            </a:avLst>
          </a:prstGeom>
          <a:solidFill>
            <a:srgbClr val="FFFFFF">
              <a:alpha val="20000"/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12810">
              <a:buClrTx/>
            </a:pPr>
            <a:endParaRPr sz="3200" kern="1200">
              <a:solidFill>
                <a:prstClr val="white"/>
              </a:solidFill>
              <a:latin typeface="DiodrumArabic-Regular"/>
              <a:cs typeface="DiodrumArabic-Regular"/>
            </a:endParaRPr>
          </a:p>
        </p:txBody>
      </p:sp>
      <p:sp>
        <p:nvSpPr>
          <p:cNvPr id="23" name="prog2">
            <a:extLst>
              <a:ext uri="{FF2B5EF4-FFF2-40B4-BE49-F238E27FC236}">
                <a16:creationId xmlns:a16="http://schemas.microsoft.com/office/drawing/2014/main" id="{B9A1625D-429E-4683-B097-A095A36C72E1}"/>
              </a:ext>
            </a:extLst>
          </p:cNvPr>
          <p:cNvSpPr/>
          <p:nvPr/>
        </p:nvSpPr>
        <p:spPr>
          <a:xfrm>
            <a:off x="10363200" y="2159565"/>
            <a:ext cx="508000" cy="65476"/>
          </a:xfrm>
          <a:prstGeom prst="roundRect">
            <a:avLst>
              <a:gd name="adj" fmla="val 50000"/>
            </a:avLst>
          </a:prstGeom>
          <a:solidFill>
            <a:srgbClr val="1CC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12810">
              <a:buClrTx/>
            </a:pPr>
            <a:endParaRPr sz="3200" kern="1200">
              <a:solidFill>
                <a:prstClr val="white"/>
              </a:solidFill>
              <a:latin typeface="DiodrumArabic-Regular"/>
              <a:cs typeface="DiodrumArabic-Regular"/>
            </a:endParaRPr>
          </a:p>
        </p:txBody>
      </p:sp>
      <p:sp>
        <p:nvSpPr>
          <p:cNvPr id="9901" name="prog3">
            <a:extLst>
              <a:ext uri="{FF2B5EF4-FFF2-40B4-BE49-F238E27FC236}">
                <a16:creationId xmlns:a16="http://schemas.microsoft.com/office/drawing/2014/main" id="{B9A1625D-429E-4683-B097-A095A36C72E1}"/>
              </a:ext>
            </a:extLst>
          </p:cNvPr>
          <p:cNvSpPr/>
          <p:nvPr/>
        </p:nvSpPr>
        <p:spPr>
          <a:xfrm>
            <a:off x="9753600" y="2159565"/>
            <a:ext cx="508000" cy="65476"/>
          </a:xfrm>
          <a:prstGeom prst="roundRect">
            <a:avLst>
              <a:gd name="adj" fmla="val 50000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12810">
              <a:buClrTx/>
            </a:pPr>
            <a:endParaRPr sz="3200" kern="1200">
              <a:solidFill>
                <a:prstClr val="white"/>
              </a:solidFill>
              <a:latin typeface="DiodrumArabic-Regular"/>
              <a:cs typeface="DiodrumArabic-Regular"/>
            </a:endParaRPr>
          </a:p>
        </p:txBody>
      </p:sp>
      <p:sp>
        <p:nvSpPr>
          <p:cNvPr id="9902" name="TextBox 9901"/>
          <p:cNvSpPr txBox="1"/>
          <p:nvPr/>
        </p:nvSpPr>
        <p:spPr>
          <a:xfrm>
            <a:off x="4775200" y="3818468"/>
            <a:ext cx="670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noAutofit/>
          </a:bodyPr>
          <a:lstStyle/>
          <a:p>
            <a:pPr algn="r" rtl="1"/>
            <a:r>
              <a:rPr lang="ar-SA" sz="1500" b="0" dirty="0">
                <a:solidFill>
                  <a:srgbClr val="9DEBC8"/>
                </a:solidFill>
                <a:latin typeface="DiodrumArabic-Semibold" pitchFamily="2" charset="-78"/>
                <a:cs typeface="DiodrumArabic-Semibold" pitchFamily="2" charset="-78"/>
              </a:rPr>
              <a:t>مبادرة الذكاء الاصطناعي مع وزارة الاتصالات، تعزيز استفادة الجهات، والجائزة الخليجية</a:t>
            </a:r>
          </a:p>
        </p:txBody>
      </p:sp>
    </p:spTree>
    <p:extLst>
      <p:ext uri="{BB962C8B-B14F-4D97-AF65-F5344CB8AC3E}">
        <p14:creationId xmlns:p14="http://schemas.microsoft.com/office/powerpoint/2010/main" val="851196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F021ADDF-8E2C-45B8-BF02-B7B1F89E2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5224" y="455907"/>
            <a:ext cx="6975460" cy="522501"/>
          </a:xfrm>
        </p:spPr>
        <p:txBody>
          <a:bodyPr/>
          <a:lstStyle/>
          <a:p>
            <a:r>
              <a:rPr lang="ar-SA" sz="2000" dirty="0">
                <a:solidFill>
                  <a:schemeClr val="accent2">
                    <a:lumMod val="75000"/>
                  </a:schemeClr>
                </a:solidFill>
              </a:rPr>
              <a:t>الجهود والمبادرات القائمة</a:t>
            </a:r>
            <a:endParaRPr lang="en-US" sz="2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7" name="s1-num-badge">
            <a:extLst>
              <a:ext uri="{FF2B5EF4-FFF2-40B4-BE49-F238E27FC236}">
                <a16:creationId xmlns:a16="http://schemas.microsoft.com/office/drawing/2014/main" id="{CD5DA493-5272-42FA-8365-A3966CC354D1}"/>
              </a:ext>
            </a:extLst>
          </p:cNvPr>
          <p:cNvSpPr/>
          <p:nvPr/>
        </p:nvSpPr>
        <p:spPr>
          <a:xfrm>
            <a:off x="10058400" y="398757"/>
            <a:ext cx="714462" cy="643659"/>
          </a:xfrm>
          <a:prstGeom prst="roundRect">
            <a:avLst>
              <a:gd name="adj" fmla="val 28599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2700000" scaled="1"/>
          </a:gradFill>
          <a:ln>
            <a:noFill/>
          </a:ln>
          <a:effectLst>
            <a:outerShdw blurRad="57150" dist="19050" dir="5400000" rotWithShape="0">
              <a:srgbClr val="24135F">
                <a:alpha val="25098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128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3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odrumArabic-Regular"/>
              <a:ea typeface="+mn-ea"/>
              <a:cs typeface="DiodrumArabic-Regular"/>
              <a:sym typeface="Arial"/>
            </a:endParaRPr>
          </a:p>
        </p:txBody>
      </p:sp>
      <p:sp>
        <p:nvSpPr>
          <p:cNvPr id="78" name="s1-num">
            <a:extLst>
              <a:ext uri="{FF2B5EF4-FFF2-40B4-BE49-F238E27FC236}">
                <a16:creationId xmlns:a16="http://schemas.microsoft.com/office/drawing/2014/main" id="{9D3DF26F-E9FA-4C13-87DC-40C0A14A2F2C}"/>
              </a:ext>
            </a:extLst>
          </p:cNvPr>
          <p:cNvSpPr txBox="1"/>
          <p:nvPr/>
        </p:nvSpPr>
        <p:spPr>
          <a:xfrm>
            <a:off x="10113264" y="493235"/>
            <a:ext cx="603504" cy="43088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ctr" defTabSz="8128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ar-SA" sz="2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iodrumArabic-Bold"/>
                <a:ea typeface="DiodrumArabic-Bold"/>
                <a:cs typeface="DiodrumArabic-Bold"/>
                <a:sym typeface="Arial"/>
              </a:rPr>
              <a:t>02</a:t>
            </a:r>
            <a:endParaRPr kumimoji="0" lang="en-US" sz="1932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iodrumArabic-Bold"/>
              <a:ea typeface="DiodrumArabic-Bold"/>
              <a:cs typeface="DiodrumArabic-Bold"/>
              <a:sym typeface="Arial"/>
            </a:endParaRPr>
          </a:p>
        </p:txBody>
      </p:sp>
      <p:sp>
        <p:nvSpPr>
          <p:cNvPr id="79" name="Title 12">
            <a:extLst>
              <a:ext uri="{FF2B5EF4-FFF2-40B4-BE49-F238E27FC236}">
                <a16:creationId xmlns:a16="http://schemas.microsoft.com/office/drawing/2014/main" id="{ADD2FCDD-A898-4E2E-84D7-0170DB3FFE6B}"/>
              </a:ext>
            </a:extLst>
          </p:cNvPr>
          <p:cNvSpPr txBox="1">
            <a:spLocks/>
          </p:cNvSpPr>
          <p:nvPr/>
        </p:nvSpPr>
        <p:spPr>
          <a:xfrm>
            <a:off x="933255" y="3142737"/>
            <a:ext cx="10080858" cy="590931"/>
          </a:xfrm>
          <a:prstGeom prst="rect">
            <a:avLst/>
          </a:prstGeom>
        </p:spPr>
        <p:txBody>
          <a:bodyPr vert="horz" wrap="square" lIns="0" tIns="45720" rIns="0" bIns="45720" rtlCol="0" anchor="t">
            <a:spAutoFit/>
          </a:bodyPr>
          <a:lstStyle>
            <a:lvl1pPr algn="r" defTabSz="914332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chemeClr val="accent4"/>
                </a:solidFill>
                <a:latin typeface="DiodrumArabic-Bold" panose="00000800000000000000" pitchFamily="2" charset="-78"/>
                <a:ea typeface="+mj-ea"/>
                <a:cs typeface="DiodrumArabic-Bold" panose="00000800000000000000" pitchFamily="2" charset="-78"/>
              </a:defRPr>
            </a:lvl1pPr>
          </a:lstStyle>
          <a:p>
            <a:pPr marL="0" marR="0" lvl="0" indent="0" algn="r" defTabSz="914332" rtl="1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3600" b="0" i="0" u="none" strike="noStrike" kern="1200" cap="none" spc="0" normalizeH="0" baseline="0" noProof="0" dirty="0">
                <a:ln>
                  <a:noFill/>
                </a:ln>
                <a:solidFill>
                  <a:srgbClr val="2A206A"/>
                </a:solidFill>
                <a:effectLst/>
                <a:uLnTx/>
                <a:uFillTx/>
                <a:latin typeface="DiodrumArabic-Bold" panose="00000800000000000000" pitchFamily="2" charset="-78"/>
                <a:ea typeface="+mj-ea"/>
                <a:cs typeface="DiodrumArabic-Bold" panose="00000800000000000000" pitchFamily="2" charset="-78"/>
                <a:sym typeface="Arial"/>
              </a:rPr>
              <a:t>2.1 مبادرة الذكاء الاصطناعي مع وزارة الاتصالات</a:t>
            </a:r>
          </a:p>
        </p:txBody>
      </p:sp>
      <p:sp>
        <p:nvSpPr>
          <p:cNvPr id="80" name="Slide Number Placeholder 1">
            <a:extLst>
              <a:ext uri="{FF2B5EF4-FFF2-40B4-BE49-F238E27FC236}">
                <a16:creationId xmlns:a16="http://schemas.microsoft.com/office/drawing/2014/main" id="{62A52D15-03C4-4D9B-AB50-612D2A833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11480" y="402336"/>
            <a:ext cx="822960" cy="640080"/>
          </a:xfrm>
        </p:spPr>
        <p:txBody>
          <a:bodyPr anchor="ctr" lIns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679EF615-E246-4FA6-9E75-123AAEB83405}" type="slidenum">
              <a:rPr kumimoji="0" lang="en-US" sz="1200" b="1" i="0" u="none" strike="noStrike" kern="0" cap="none" spc="0" normalizeH="0" baseline="0" noProof="0" smtClean="0">
                <a:solidFill>
                  <a:srgbClr val="2A206A"/>
                </a:solidFill>
                <a:latin typeface="DiodrumArabic-Semibold"/>
                <a:cs typeface="DiodrumArabic-Semibold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9</a:t>
            </a:fld>
            <a:endParaRPr kumimoji="0" lang="en-PH" sz="900" b="0" i="0" u="none" strike="noStrike" kern="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DiodrumArabic-Semibold"/>
              <a:cs typeface="Arial"/>
              <a:sym typeface="Arial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1170432" y="3931920"/>
            <a:ext cx="925372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noAutofit/>
          </a:bodyPr>
          <a:lstStyle/>
          <a:p>
            <a:pPr algn="r" rtl="1"/>
            <a:r>
              <a:rPr lang="ar-SA" sz="1600" b="0" dirty="0">
                <a:solidFill>
                  <a:srgbClr val="00ABAF"/>
                </a:solidFill>
                <a:latin typeface="DiodrumArabic-Semibold" pitchFamily="2" charset="-78"/>
                <a:cs typeface="DiodrumArabic-Semibold" pitchFamily="2" charset="-78"/>
              </a:rPr>
              <a:t>إنجاز متطلبين من ثلاثة؛ متطلب حصر البرامج بانتظار تفاعل الوزارة</a:t>
            </a:r>
          </a:p>
        </p:txBody>
      </p:sp>
    </p:spTree>
    <p:extLst>
      <p:ext uri="{BB962C8B-B14F-4D97-AF65-F5344CB8AC3E}">
        <p14:creationId xmlns:p14="http://schemas.microsoft.com/office/powerpoint/2010/main" val="22827450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29061F-EB94-3729-CBB7-08F3AF2F28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8524D06-7089-421F-BEDD-AAEC18DA1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11480" y="155448"/>
            <a:ext cx="822960" cy="548640"/>
          </a:xfrm>
        </p:spPr>
        <p:txBody>
          <a:bodyPr anchor="ctr" lIns="0"/>
          <a:lstStyle/>
          <a:p>
            <a:pPr algn="l"/>
            <a:fld id="{679EF615-E246-4FA6-9E75-123AAEB83405}" type="slidenum">
              <a:rPr lang="en-US" smtClean="0" sz="1200" b="1">
                <a:solidFill>
                  <a:srgbClr val="2A206A"/>
                </a:solidFill>
                <a:latin typeface="DiodrumArabic-Semibold"/>
                <a:cs typeface="DiodrumArabic-Semibold"/>
              </a:rPr>
              <a:pPr/>
              <a:t>10</a:t>
            </a:fld>
            <a:endParaRPr lang="en-PH" dirty="0"/>
          </a:p>
        </p:txBody>
      </p:sp>
      <p:sp>
        <p:nvSpPr>
          <p:cNvPr id="3" name="TextBox 2"/>
          <p:cNvSpPr txBox="1"/>
          <p:nvPr/>
        </p:nvSpPr>
        <p:spPr>
          <a:xfrm>
            <a:off x="1234440" y="155448"/>
            <a:ext cx="105613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  <a:noAutofit/>
          </a:bodyPr>
          <a:lstStyle/>
          <a:p>
            <a:pPr algn="r" rtl="1"/>
            <a:r>
              <a:rPr lang="ar-SA" sz="2400" b="0" dirty="0">
                <a:solidFill>
                  <a:srgbClr val="5D2597"/>
                </a:solidFill>
                <a:latin typeface="DiodrumArabic-Bold" pitchFamily="2" charset="-78"/>
                <a:cs typeface="DiodrumArabic-Bold" pitchFamily="2" charset="-78"/>
              </a:rPr>
              <a:t>2.1  </a:t>
            </a:r>
            <a:r>
              <a:rPr lang="ar-SA" sz="2400" b="0" dirty="0">
                <a:solidFill>
                  <a:srgbClr val="2A206A"/>
                </a:solidFill>
                <a:latin typeface="DiodrumArabic-Bold" pitchFamily="2" charset="-78"/>
                <a:cs typeface="DiodrumArabic-Bold" pitchFamily="2" charset="-78"/>
              </a:rPr>
              <a:t>مبادرة الذكاء الاصطناعي المشتركة مع وزارة الاتصالات وتقنية المعلومات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" y="795528"/>
            <a:ext cx="11420856" cy="0"/>
          </a:xfrm>
          <a:prstGeom prst="line">
            <a:avLst/>
          </a:prstGeom>
          <a:ln w="28575">
            <a:gradFill>
              <a:gsLst>
                <a:gs pos="0">
                  <a:srgbClr val="00ABAF"/>
                </a:gs>
                <a:gs pos="100000">
                  <a:srgbClr val="7C32C9"/>
                </a:gs>
              </a:gsLst>
              <a:lin ang="0" scaled="1"/>
            </a:gradFill>
          </a:ln>
        </p:spPr>
      </p:cxnSp>
      <p:sp>
        <p:nvSpPr>
          <p:cNvPr id="5" name="Rounded Rectangle 4"/>
          <p:cNvSpPr/>
          <p:nvPr/>
        </p:nvSpPr>
        <p:spPr>
          <a:xfrm>
            <a:off x="3017520" y="1143000"/>
            <a:ext cx="8778240" cy="914400"/>
          </a:xfrm>
          <a:prstGeom prst="roundRect">
            <a:avLst>
              <a:gd name="adj" fmla="val 12000"/>
            </a:avLst>
          </a:prstGeom>
          <a:gradFill>
            <a:gsLst>
              <a:gs pos="0">
                <a:srgbClr val="1D164B"/>
              </a:gs>
              <a:gs pos="90000">
                <a:srgbClr val="3B2D8A"/>
              </a:gs>
            </a:gsLst>
            <a:lin ang="2700000" scaled="1"/>
          </a:gradFill>
          <a:ln>
            <a:noFill/>
          </a:ln>
          <a:effectLst>
            <a:outerShdw blurRad="76200" dist="23812" dir="5400000" rotWithShape="0">
              <a:srgbClr val="24135F">
                <a:alpha val="12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3246120" y="1252728"/>
            <a:ext cx="8321040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  <a:noAutofit/>
          </a:bodyPr>
          <a:lstStyle/>
          <a:p>
            <a:pPr algn="r" rtl="1">
              <a:lnSpc>
                <a:spcPct val="125000"/>
              </a:lnSpc>
            </a:pPr>
            <a:r>
              <a:rPr lang="ar-SA" sz="1250" b="0" dirty="0">
                <a:solidFill>
                  <a:srgbClr val="FFFFFF"/>
                </a:solidFill>
                <a:latin typeface="DiodrumArabic-Medium" pitchFamily="2" charset="-78"/>
                <a:cs typeface="DiodrumArabic-Medium" pitchFamily="2" charset="-78"/>
              </a:rPr>
              <a:t>ضمن مبادرة الذكاء الاصطناعي المشتركة مع وزارة الاتصالات وتقنية المعلومات، يتولى برنامج قدراتك تنفيذ ثلاثة متطلبات تستهدف تمكين القيادات الحكومية ورفع جاهزيتها في مجال الذكاء الاصطناعي.</a:t>
            </a:r>
          </a:p>
        </p:txBody>
      </p:sp>
      <p:pic>
        <p:nvPicPr>
          <p:cNvPr id="7" name="Picture 6" descr="mcit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325880"/>
            <a:ext cx="2286000" cy="58020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" y="2267712"/>
            <a:ext cx="113842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  <a:noAutofit/>
          </a:bodyPr>
          <a:lstStyle/>
          <a:p>
            <a:pPr algn="r" rtl="1"/>
            <a:r>
              <a:rPr lang="ar-SA" sz="1300" b="0" dirty="0">
                <a:solidFill>
                  <a:srgbClr val="2A206A"/>
                </a:solidFill>
                <a:latin typeface="DiodrumArabic-Bold" pitchFamily="2" charset="-78"/>
                <a:cs typeface="DiodrumArabic-Bold" pitchFamily="2" charset="-78"/>
              </a:rPr>
              <a:t>المتطلبات الثلاثة وحالة كل منها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79" y="2651760"/>
            <a:ext cx="3611880" cy="2606040"/>
          </a:xfrm>
          <a:prstGeom prst="roundRect">
            <a:avLst>
              <a:gd name="adj" fmla="val 3508"/>
            </a:avLst>
          </a:prstGeom>
          <a:solidFill>
            <a:srgbClr val="FFFFFF"/>
          </a:solidFill>
          <a:ln w="9525">
            <a:solidFill>
              <a:srgbClr val="E1E0EC"/>
            </a:solidFill>
          </a:ln>
          <a:effectLst>
            <a:outerShdw blurRad="76200" dist="23812" dir="5400000" rotWithShape="0">
              <a:srgbClr val="24135F">
                <a:alpha val="12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8183879" y="2651760"/>
            <a:ext cx="3611880" cy="713232"/>
          </a:xfrm>
          <a:prstGeom prst="roundRect">
            <a:avLst>
              <a:gd name="adj" fmla="val 12820"/>
            </a:avLst>
          </a:prstGeom>
          <a:gradFill>
            <a:gsLst>
              <a:gs pos="0">
                <a:srgbClr val="7C32C9"/>
              </a:gs>
              <a:gs pos="90000">
                <a:srgbClr val="2A206A"/>
              </a:gs>
            </a:gsLst>
            <a:lin ang="2700000" scaled="1"/>
          </a:gra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366759" y="2724912"/>
            <a:ext cx="32461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  <a:noAutofit/>
          </a:bodyPr>
          <a:lstStyle/>
          <a:p>
            <a:pPr algn="r" rtl="1">
              <a:lnSpc>
                <a:spcPct val="105000"/>
              </a:lnSpc>
            </a:pPr>
            <a:r>
              <a:rPr lang="ar-SA" sz="950" b="0" dirty="0">
                <a:solidFill>
                  <a:srgbClr val="9DEBC8"/>
                </a:solidFill>
                <a:latin typeface="DiodrumArabic-Semibold" pitchFamily="2" charset="-78"/>
                <a:cs typeface="DiodrumArabic-Semibold" pitchFamily="2" charset="-78"/>
              </a:rPr>
              <a:t>المتطلب 1</a:t>
            </a:r>
          </a:p>
          <a:p>
            <a:pPr algn="r" rtl="1">
              <a:lnSpc>
                <a:spcPct val="105000"/>
              </a:lnSpc>
            </a:pPr>
            <a:r>
              <a:rPr lang="ar-SA" sz="1150" b="0" dirty="0">
                <a:solidFill>
                  <a:srgbClr val="FFFFFF"/>
                </a:solidFill>
                <a:latin typeface="DiodrumArabic-Bold" pitchFamily="2" charset="-78"/>
                <a:cs typeface="DiodrumArabic-Bold" pitchFamily="2" charset="-78"/>
              </a:rPr>
              <a:t>حصر برامج الذكاء الاصطناعي والمستفيدين منها في القطاع الحكومي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59" y="3474720"/>
            <a:ext cx="32461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noAutofit/>
          </a:bodyPr>
          <a:lstStyle/>
          <a:p>
            <a:pPr algn="r" rtl="1">
              <a:lnSpc>
                <a:spcPct val="118000"/>
              </a:lnSpc>
            </a:pPr>
            <a:r>
              <a:rPr lang="ar-SA" sz="1050" b="0" dirty="0">
                <a:solidFill>
                  <a:srgbClr val="2A206A"/>
                </a:solidFill>
                <a:latin typeface="DiodrumArabic-Bold" pitchFamily="2" charset="-78"/>
                <a:cs typeface="DiodrumArabic-Bold" pitchFamily="2" charset="-78"/>
              </a:rPr>
              <a:t>ما تم: </a:t>
            </a:r>
            <a:r>
              <a:rPr lang="ar-SA" sz="1050" b="0" dirty="0">
                <a:solidFill>
                  <a:srgbClr val="333333"/>
                </a:solidFill>
                <a:latin typeface="DiodrumArabic-Medium" pitchFamily="2" charset="-78"/>
                <a:cs typeface="DiodrumArabic-Medium" pitchFamily="2" charset="-78"/>
              </a:rPr>
              <a:t>إرسال استبيان إلى الجهات الحكومية لحصر البرامج التدريبية في مجال الذكاء الاصطناعي وأعداد المستفيدين منها.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59" y="4160520"/>
            <a:ext cx="3246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noAutofit/>
          </a:bodyPr>
          <a:lstStyle/>
          <a:p>
            <a:pPr algn="r" rtl="1">
              <a:lnSpc>
                <a:spcPct val="118000"/>
              </a:lnSpc>
            </a:pPr>
            <a:r>
              <a:rPr lang="ar-SA" sz="1050" b="0" dirty="0">
                <a:solidFill>
                  <a:srgbClr val="2A206A"/>
                </a:solidFill>
                <a:latin typeface="DiodrumArabic-Bold" pitchFamily="2" charset="-78"/>
                <a:cs typeface="DiodrumArabic-Bold" pitchFamily="2" charset="-78"/>
              </a:rPr>
              <a:t>المخرج: </a:t>
            </a:r>
            <a:r>
              <a:rPr lang="ar-SA" sz="1050" b="0" dirty="0">
                <a:solidFill>
                  <a:srgbClr val="333333"/>
                </a:solidFill>
                <a:latin typeface="DiodrumArabic-Medium" pitchFamily="2" charset="-78"/>
                <a:cs typeface="DiodrumArabic-Medium" pitchFamily="2" charset="-78"/>
              </a:rPr>
              <a:t>لا يوجد تفاعل من الوزارة حتى تاريخه.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784080" y="4800600"/>
            <a:ext cx="1828800" cy="310896"/>
          </a:xfrm>
          <a:prstGeom prst="roundRect">
            <a:avLst>
              <a:gd name="adj" fmla="val 50000"/>
            </a:avLst>
          </a:prstGeom>
          <a:solidFill>
            <a:srgbClr val="F0A322">
              <a:alpha val="14000"/>
            </a:srgbClr>
          </a:solidFill>
          <a:ln>
            <a:noFill/>
          </a:ln>
        </p:spPr>
        <p:txBody>
          <a:bodyPr rtlCol="0" anchor="ctr" rIns="310896" tIns="0" bIns="0"/>
          <a:lstStyle/>
          <a:p>
            <a:pPr algn="r" rtl="1"/>
            <a:r>
              <a:rPr lang="ar-SA" sz="1050" b="0" dirty="0">
                <a:solidFill>
                  <a:srgbClr val="B36E00"/>
                </a:solidFill>
                <a:latin typeface="DiodrumArabic-Semibold" pitchFamily="2" charset="-78"/>
                <a:cs typeface="DiodrumArabic-Semibold" pitchFamily="2" charset="-78"/>
              </a:rPr>
              <a:t>بانتظار تفاعل الوزارة</a:t>
            </a:r>
          </a:p>
        </p:txBody>
      </p:sp>
      <p:sp>
        <p:nvSpPr>
          <p:cNvPr id="15" name="Oval 14"/>
          <p:cNvSpPr/>
          <p:nvPr/>
        </p:nvSpPr>
        <p:spPr>
          <a:xfrm>
            <a:off x="11365992" y="4882896"/>
            <a:ext cx="146304" cy="146304"/>
          </a:xfrm>
          <a:prstGeom prst="ellipse">
            <a:avLst/>
          </a:prstGeom>
          <a:solidFill>
            <a:srgbClr val="F0A32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297679" y="2651760"/>
            <a:ext cx="3611880" cy="2606040"/>
          </a:xfrm>
          <a:prstGeom prst="roundRect">
            <a:avLst>
              <a:gd name="adj" fmla="val 3508"/>
            </a:avLst>
          </a:prstGeom>
          <a:solidFill>
            <a:srgbClr val="FFFFFF"/>
          </a:solidFill>
          <a:ln w="9525">
            <a:solidFill>
              <a:srgbClr val="E1E0EC"/>
            </a:solidFill>
          </a:ln>
          <a:effectLst>
            <a:outerShdw blurRad="76200" dist="23812" dir="5400000" rotWithShape="0">
              <a:srgbClr val="24135F">
                <a:alpha val="12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4297679" y="2651760"/>
            <a:ext cx="3611880" cy="713232"/>
          </a:xfrm>
          <a:prstGeom prst="roundRect">
            <a:avLst>
              <a:gd name="adj" fmla="val 12820"/>
            </a:avLst>
          </a:prstGeom>
          <a:gradFill>
            <a:gsLst>
              <a:gs pos="0">
                <a:srgbClr val="7C32C9"/>
              </a:gs>
              <a:gs pos="90000">
                <a:srgbClr val="2A206A"/>
              </a:gs>
            </a:gsLst>
            <a:lin ang="2700000" scaled="1"/>
          </a:gra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480559" y="2724912"/>
            <a:ext cx="32461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  <a:noAutofit/>
          </a:bodyPr>
          <a:lstStyle/>
          <a:p>
            <a:pPr algn="r" rtl="1">
              <a:lnSpc>
                <a:spcPct val="105000"/>
              </a:lnSpc>
            </a:pPr>
            <a:r>
              <a:rPr lang="ar-SA" sz="950" b="0" dirty="0">
                <a:solidFill>
                  <a:srgbClr val="9DEBC8"/>
                </a:solidFill>
                <a:latin typeface="DiodrumArabic-Semibold" pitchFamily="2" charset="-78"/>
                <a:cs typeface="DiodrumArabic-Semibold" pitchFamily="2" charset="-78"/>
              </a:rPr>
              <a:t>المتطلب 2</a:t>
            </a:r>
          </a:p>
          <a:p>
            <a:pPr algn="r" rtl="1">
              <a:lnSpc>
                <a:spcPct val="105000"/>
              </a:lnSpc>
            </a:pPr>
            <a:r>
              <a:rPr lang="ar-SA" sz="1150" b="0" dirty="0">
                <a:solidFill>
                  <a:srgbClr val="FFFFFF"/>
                </a:solidFill>
                <a:latin typeface="DiodrumArabic-Bold" pitchFamily="2" charset="-78"/>
                <a:cs typeface="DiodrumArabic-Bold" pitchFamily="2" charset="-78"/>
              </a:rPr>
              <a:t>توفير بيانات العاملين في مجال الاتصالات في القطاع الحكومي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59" y="3474720"/>
            <a:ext cx="32461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noAutofit/>
          </a:bodyPr>
          <a:lstStyle/>
          <a:p>
            <a:pPr algn="r" rtl="1">
              <a:lnSpc>
                <a:spcPct val="118000"/>
              </a:lnSpc>
            </a:pPr>
            <a:r>
              <a:rPr lang="ar-SA" sz="1050" b="0" dirty="0">
                <a:solidFill>
                  <a:srgbClr val="2A206A"/>
                </a:solidFill>
                <a:latin typeface="DiodrumArabic-Bold" pitchFamily="2" charset="-78"/>
                <a:cs typeface="DiodrumArabic-Bold" pitchFamily="2" charset="-78"/>
              </a:rPr>
              <a:t>ما تم: </a:t>
            </a:r>
            <a:r>
              <a:rPr lang="ar-SA" sz="1050" b="0" dirty="0">
                <a:solidFill>
                  <a:srgbClr val="333333"/>
                </a:solidFill>
                <a:latin typeface="DiodrumArabic-Medium" pitchFamily="2" charset="-78"/>
                <a:cs typeface="DiodrumArabic-Medium" pitchFamily="2" charset="-78"/>
              </a:rPr>
              <a:t>تزويد الوزارة بعدد مديري تقنية المعلومات (CIOs) في القطاع الحكومي.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59" y="4160520"/>
            <a:ext cx="3246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noAutofit/>
          </a:bodyPr>
          <a:lstStyle/>
          <a:p>
            <a:pPr algn="r" rtl="1">
              <a:lnSpc>
                <a:spcPct val="118000"/>
              </a:lnSpc>
            </a:pPr>
            <a:r>
              <a:rPr lang="ar-SA" sz="1050" b="0" dirty="0">
                <a:solidFill>
                  <a:srgbClr val="2A206A"/>
                </a:solidFill>
                <a:latin typeface="DiodrumArabic-Bold" pitchFamily="2" charset="-78"/>
                <a:cs typeface="DiodrumArabic-Bold" pitchFamily="2" charset="-78"/>
              </a:rPr>
              <a:t>المخرج: </a:t>
            </a:r>
            <a:r>
              <a:rPr lang="ar-SA" sz="1050" b="0" dirty="0">
                <a:solidFill>
                  <a:srgbClr val="333333"/>
                </a:solidFill>
                <a:latin typeface="DiodrumArabic-Medium" pitchFamily="2" charset="-78"/>
                <a:cs typeface="DiodrumArabic-Medium" pitchFamily="2" charset="-78"/>
              </a:rPr>
              <a:t>350 مديراً لتقنية المعلومات في القطاع الحكومي.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97880" y="4800600"/>
            <a:ext cx="1828800" cy="310896"/>
          </a:xfrm>
          <a:prstGeom prst="roundRect">
            <a:avLst>
              <a:gd name="adj" fmla="val 50000"/>
            </a:avLst>
          </a:prstGeom>
          <a:solidFill>
            <a:srgbClr val="1CC182">
              <a:alpha val="14000"/>
            </a:srgbClr>
          </a:solidFill>
          <a:ln>
            <a:noFill/>
          </a:ln>
        </p:spPr>
        <p:txBody>
          <a:bodyPr rtlCol="0" anchor="ctr" rIns="310896" tIns="0" bIns="0"/>
          <a:lstStyle/>
          <a:p>
            <a:pPr algn="r" rtl="1"/>
            <a:r>
              <a:rPr lang="ar-SA" sz="1050" b="0" dirty="0">
                <a:solidFill>
                  <a:srgbClr val="119C68"/>
                </a:solidFill>
                <a:latin typeface="DiodrumArabic-Semibold" pitchFamily="2" charset="-78"/>
                <a:cs typeface="DiodrumArabic-Semibold" pitchFamily="2" charset="-78"/>
              </a:rPr>
              <a:t>منجز</a:t>
            </a:r>
          </a:p>
        </p:txBody>
      </p:sp>
      <p:sp>
        <p:nvSpPr>
          <p:cNvPr id="22" name="Oval 21"/>
          <p:cNvSpPr/>
          <p:nvPr/>
        </p:nvSpPr>
        <p:spPr>
          <a:xfrm>
            <a:off x="7479792" y="4882896"/>
            <a:ext cx="146304" cy="146304"/>
          </a:xfrm>
          <a:prstGeom prst="ellipse">
            <a:avLst/>
          </a:prstGeom>
          <a:solidFill>
            <a:srgbClr val="1CC1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11479" y="2651760"/>
            <a:ext cx="3611880" cy="2606040"/>
          </a:xfrm>
          <a:prstGeom prst="roundRect">
            <a:avLst>
              <a:gd name="adj" fmla="val 3508"/>
            </a:avLst>
          </a:prstGeom>
          <a:solidFill>
            <a:srgbClr val="FFFFFF"/>
          </a:solidFill>
          <a:ln w="9525">
            <a:solidFill>
              <a:srgbClr val="E1E0EC"/>
            </a:solidFill>
          </a:ln>
          <a:effectLst>
            <a:outerShdw blurRad="76200" dist="23812" dir="5400000" rotWithShape="0">
              <a:srgbClr val="24135F">
                <a:alpha val="12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24" name="Rounded Rectangle 23"/>
          <p:cNvSpPr/>
          <p:nvPr/>
        </p:nvSpPr>
        <p:spPr>
          <a:xfrm>
            <a:off x="411479" y="2651760"/>
            <a:ext cx="3611880" cy="713232"/>
          </a:xfrm>
          <a:prstGeom prst="roundRect">
            <a:avLst>
              <a:gd name="adj" fmla="val 12820"/>
            </a:avLst>
          </a:prstGeom>
          <a:gradFill>
            <a:gsLst>
              <a:gs pos="0">
                <a:srgbClr val="7C32C9"/>
              </a:gs>
              <a:gs pos="90000">
                <a:srgbClr val="2A206A"/>
              </a:gs>
            </a:gsLst>
            <a:lin ang="2700000" scaled="1"/>
          </a:gra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594359" y="2724912"/>
            <a:ext cx="32461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  <a:noAutofit/>
          </a:bodyPr>
          <a:lstStyle/>
          <a:p>
            <a:pPr algn="r" rtl="1">
              <a:lnSpc>
                <a:spcPct val="105000"/>
              </a:lnSpc>
            </a:pPr>
            <a:r>
              <a:rPr lang="ar-SA" sz="950" b="0" dirty="0">
                <a:solidFill>
                  <a:srgbClr val="9DEBC8"/>
                </a:solidFill>
                <a:latin typeface="DiodrumArabic-Semibold" pitchFamily="2" charset="-78"/>
                <a:cs typeface="DiodrumArabic-Semibold" pitchFamily="2" charset="-78"/>
              </a:rPr>
              <a:t>المتطلب 3</a:t>
            </a:r>
          </a:p>
          <a:p>
            <a:pPr algn="r" rtl="1">
              <a:lnSpc>
                <a:spcPct val="105000"/>
              </a:lnSpc>
            </a:pPr>
            <a:r>
              <a:rPr lang="ar-SA" sz="1150" b="0" dirty="0">
                <a:solidFill>
                  <a:srgbClr val="FFFFFF"/>
                </a:solidFill>
                <a:latin typeface="DiodrumArabic-Bold" pitchFamily="2" charset="-78"/>
                <a:cs typeface="DiodrumArabic-Bold" pitchFamily="2" charset="-78"/>
              </a:rPr>
              <a:t>إعداد دراسة بالبرامج المقدمة في الذكاء الاصطناعي للقيادات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59" y="3474720"/>
            <a:ext cx="32461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noAutofit/>
          </a:bodyPr>
          <a:lstStyle/>
          <a:p>
            <a:pPr algn="r" rtl="1">
              <a:lnSpc>
                <a:spcPct val="118000"/>
              </a:lnSpc>
            </a:pPr>
            <a:r>
              <a:rPr lang="ar-SA" sz="1050" b="0" dirty="0">
                <a:solidFill>
                  <a:srgbClr val="2A206A"/>
                </a:solidFill>
                <a:latin typeface="DiodrumArabic-Bold" pitchFamily="2" charset="-78"/>
                <a:cs typeface="DiodrumArabic-Bold" pitchFamily="2" charset="-78"/>
              </a:rPr>
              <a:t>ما تم: </a:t>
            </a:r>
            <a:r>
              <a:rPr lang="ar-SA" sz="1050" b="0" dirty="0">
                <a:solidFill>
                  <a:srgbClr val="333333"/>
                </a:solidFill>
                <a:latin typeface="DiodrumArabic-Medium" pitchFamily="2" charset="-78"/>
                <a:cs typeface="DiodrumArabic-Medium" pitchFamily="2" charset="-78"/>
              </a:rPr>
              <a:t>إعداد دراسة استطلاعية بعنوان «التدريب في الذكاء الاصطناعي» تستهدف تطوير القيادات الحكومية.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59" y="4160520"/>
            <a:ext cx="3246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noAutofit/>
          </a:bodyPr>
          <a:lstStyle/>
          <a:p>
            <a:pPr algn="r" rtl="1">
              <a:lnSpc>
                <a:spcPct val="118000"/>
              </a:lnSpc>
            </a:pPr>
            <a:r>
              <a:rPr lang="ar-SA" sz="1050" b="0" dirty="0">
                <a:solidFill>
                  <a:srgbClr val="2A206A"/>
                </a:solidFill>
                <a:latin typeface="DiodrumArabic-Bold" pitchFamily="2" charset="-78"/>
                <a:cs typeface="DiodrumArabic-Bold" pitchFamily="2" charset="-78"/>
              </a:rPr>
              <a:t>المخرج: </a:t>
            </a:r>
            <a:r>
              <a:rPr lang="ar-SA" sz="1050" b="0" dirty="0">
                <a:solidFill>
                  <a:srgbClr val="333333"/>
                </a:solidFill>
                <a:latin typeface="DiodrumArabic-Medium" pitchFamily="2" charset="-78"/>
                <a:cs typeface="DiodrumArabic-Medium" pitchFamily="2" charset="-78"/>
              </a:rPr>
              <a:t>دراسة جاهزة تسلط الضوء على احتياجات القيادات في الذكاء الاصطناعي وآفاق تطويرها.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011679" y="4800600"/>
            <a:ext cx="1828800" cy="310896"/>
          </a:xfrm>
          <a:prstGeom prst="roundRect">
            <a:avLst>
              <a:gd name="adj" fmla="val 50000"/>
            </a:avLst>
          </a:prstGeom>
          <a:solidFill>
            <a:srgbClr val="1CC182">
              <a:alpha val="14000"/>
            </a:srgbClr>
          </a:solidFill>
          <a:ln>
            <a:noFill/>
          </a:ln>
        </p:spPr>
        <p:txBody>
          <a:bodyPr rtlCol="0" anchor="ctr" rIns="310896" tIns="0" bIns="0"/>
          <a:lstStyle/>
          <a:p>
            <a:pPr algn="r" rtl="1"/>
            <a:r>
              <a:rPr lang="ar-SA" sz="1050" b="0" dirty="0">
                <a:solidFill>
                  <a:srgbClr val="119C68"/>
                </a:solidFill>
                <a:latin typeface="DiodrumArabic-Semibold" pitchFamily="2" charset="-78"/>
                <a:cs typeface="DiodrumArabic-Semibold" pitchFamily="2" charset="-78"/>
              </a:rPr>
              <a:t>منجز</a:t>
            </a:r>
          </a:p>
        </p:txBody>
      </p:sp>
      <p:sp>
        <p:nvSpPr>
          <p:cNvPr id="29" name="Oval 28"/>
          <p:cNvSpPr/>
          <p:nvPr/>
        </p:nvSpPr>
        <p:spPr>
          <a:xfrm>
            <a:off x="3593591" y="4882896"/>
            <a:ext cx="146304" cy="146304"/>
          </a:xfrm>
          <a:prstGeom prst="ellipse">
            <a:avLst/>
          </a:prstGeom>
          <a:solidFill>
            <a:srgbClr val="1CC1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11480" y="5440680"/>
            <a:ext cx="11384280" cy="384048"/>
          </a:xfrm>
          <a:prstGeom prst="roundRect">
            <a:avLst>
              <a:gd name="adj" fmla="val 19047"/>
            </a:avLst>
          </a:prstGeom>
          <a:solidFill>
            <a:srgbClr val="F4F3F9"/>
          </a:solidFill>
          <a:ln w="9525">
            <a:solidFill>
              <a:srgbClr val="E1E0EC"/>
            </a:solidFill>
          </a:ln>
        </p:spPr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594360" y="5440680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  <a:noAutofit/>
          </a:bodyPr>
          <a:lstStyle/>
          <a:p>
            <a:pPr algn="r" rtl="1"/>
            <a:r>
              <a:rPr lang="ar-SA" sz="1050" b="0" dirty="0">
                <a:solidFill>
                  <a:srgbClr val="7C32C9"/>
                </a:solidFill>
                <a:latin typeface="DiodrumArabic-Bold" pitchFamily="2" charset="-78"/>
                <a:cs typeface="DiodrumArabic-Bold" pitchFamily="2" charset="-78"/>
              </a:rPr>
              <a:t>الخطوة التالية المقترحة: </a:t>
            </a:r>
            <a:r>
              <a:rPr lang="ar-SA" sz="1050" b="0" dirty="0">
                <a:solidFill>
                  <a:srgbClr val="333333"/>
                </a:solidFill>
                <a:latin typeface="DiodrumArabic-Medium" pitchFamily="2" charset="-78"/>
                <a:cs typeface="DiodrumArabic-Medium" pitchFamily="2" charset="-78"/>
              </a:rPr>
              <a:t>إعادة توجيه الاستبيان عبر قناة رسمية مع مهلة محددة للرد ونقطة اتصال معتمدة لدى الوزارة، وتسليم الدراسة الاستطلاعية بوصفها مخرجاً نهائياً.</a:t>
            </a:r>
          </a:p>
        </p:txBody>
      </p:sp>
    </p:spTree>
    <p:extLst>
      <p:ext uri="{BB962C8B-B14F-4D97-AF65-F5344CB8AC3E}">
        <p14:creationId xmlns:p14="http://schemas.microsoft.com/office/powerpoint/2010/main" val="4028903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F021ADDF-8E2C-45B8-BF02-B7B1F89E2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5224" y="455907"/>
            <a:ext cx="6975460" cy="522501"/>
          </a:xfrm>
        </p:spPr>
        <p:txBody>
          <a:bodyPr/>
          <a:lstStyle/>
          <a:p>
            <a:r>
              <a:rPr lang="ar-SA" sz="2000" dirty="0">
                <a:solidFill>
                  <a:schemeClr val="accent2">
                    <a:lumMod val="75000"/>
                  </a:schemeClr>
                </a:solidFill>
              </a:rPr>
              <a:t>الجهود والمبادرات القائمة</a:t>
            </a:r>
            <a:endParaRPr lang="en-US" sz="2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7" name="s1-num-badge">
            <a:extLst>
              <a:ext uri="{FF2B5EF4-FFF2-40B4-BE49-F238E27FC236}">
                <a16:creationId xmlns:a16="http://schemas.microsoft.com/office/drawing/2014/main" id="{CD5DA493-5272-42FA-8365-A3966CC354D1}"/>
              </a:ext>
            </a:extLst>
          </p:cNvPr>
          <p:cNvSpPr/>
          <p:nvPr/>
        </p:nvSpPr>
        <p:spPr>
          <a:xfrm>
            <a:off x="10058400" y="398757"/>
            <a:ext cx="714462" cy="643659"/>
          </a:xfrm>
          <a:prstGeom prst="roundRect">
            <a:avLst>
              <a:gd name="adj" fmla="val 28599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2700000" scaled="1"/>
          </a:gradFill>
          <a:ln>
            <a:noFill/>
          </a:ln>
          <a:effectLst>
            <a:outerShdw blurRad="57150" dist="19050" dir="5400000" rotWithShape="0">
              <a:srgbClr val="24135F">
                <a:alpha val="25098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128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3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odrumArabic-Regular"/>
              <a:ea typeface="+mn-ea"/>
              <a:cs typeface="DiodrumArabic-Regular"/>
              <a:sym typeface="Arial"/>
            </a:endParaRPr>
          </a:p>
        </p:txBody>
      </p:sp>
      <p:sp>
        <p:nvSpPr>
          <p:cNvPr id="78" name="s1-num">
            <a:extLst>
              <a:ext uri="{FF2B5EF4-FFF2-40B4-BE49-F238E27FC236}">
                <a16:creationId xmlns:a16="http://schemas.microsoft.com/office/drawing/2014/main" id="{9D3DF26F-E9FA-4C13-87DC-40C0A14A2F2C}"/>
              </a:ext>
            </a:extLst>
          </p:cNvPr>
          <p:cNvSpPr txBox="1"/>
          <p:nvPr/>
        </p:nvSpPr>
        <p:spPr>
          <a:xfrm>
            <a:off x="10113264" y="493235"/>
            <a:ext cx="603504" cy="43088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ctr" defTabSz="8128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ar-SA" sz="2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iodrumArabic-Bold"/>
                <a:ea typeface="DiodrumArabic-Bold"/>
                <a:cs typeface="DiodrumArabic-Bold"/>
                <a:sym typeface="Arial"/>
              </a:rPr>
              <a:t>02</a:t>
            </a:r>
            <a:endParaRPr kumimoji="0" lang="en-US" sz="1932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iodrumArabic-Bold"/>
              <a:ea typeface="DiodrumArabic-Bold"/>
              <a:cs typeface="DiodrumArabic-Bold"/>
              <a:sym typeface="Arial"/>
            </a:endParaRPr>
          </a:p>
        </p:txBody>
      </p:sp>
      <p:sp>
        <p:nvSpPr>
          <p:cNvPr id="79" name="Title 12">
            <a:extLst>
              <a:ext uri="{FF2B5EF4-FFF2-40B4-BE49-F238E27FC236}">
                <a16:creationId xmlns:a16="http://schemas.microsoft.com/office/drawing/2014/main" id="{ADD2FCDD-A898-4E2E-84D7-0170DB3FFE6B}"/>
              </a:ext>
            </a:extLst>
          </p:cNvPr>
          <p:cNvSpPr txBox="1">
            <a:spLocks/>
          </p:cNvSpPr>
          <p:nvPr/>
        </p:nvSpPr>
        <p:spPr>
          <a:xfrm>
            <a:off x="288758" y="2834640"/>
            <a:ext cx="11293642" cy="1089529"/>
          </a:xfrm>
          <a:prstGeom prst="rect">
            <a:avLst/>
          </a:prstGeom>
        </p:spPr>
        <p:txBody>
          <a:bodyPr vert="horz" wrap="square" lIns="0" tIns="45720" rIns="0" bIns="45720" rtlCol="0" anchor="t">
            <a:spAutoFit/>
          </a:bodyPr>
          <a:lstStyle>
            <a:lvl1pPr algn="r" defTabSz="914332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chemeClr val="accent4"/>
                </a:solidFill>
                <a:latin typeface="DiodrumArabic-Bold" panose="00000800000000000000" pitchFamily="2" charset="-78"/>
                <a:ea typeface="+mj-ea"/>
                <a:cs typeface="DiodrumArabic-Bold" panose="00000800000000000000" pitchFamily="2" charset="-78"/>
              </a:defRPr>
            </a:lvl1pPr>
          </a:lstStyle>
          <a:p>
            <a:pPr marL="0" marR="0" lvl="0" indent="0" algn="r" defTabSz="914332" rtl="1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3600" b="0" i="0" u="none" strike="noStrike" kern="1200" cap="none" spc="0" normalizeH="0" baseline="0" noProof="0" dirty="0">
                <a:ln>
                  <a:noFill/>
                </a:ln>
                <a:solidFill>
                  <a:srgbClr val="2A206A"/>
                </a:solidFill>
                <a:effectLst/>
                <a:uLnTx/>
                <a:uFillTx/>
                <a:latin typeface="DiodrumArabic-Bold" panose="00000800000000000000" pitchFamily="2" charset="-78"/>
                <a:ea typeface="+mj-ea"/>
                <a:cs typeface="DiodrumArabic-Bold" panose="00000800000000000000" pitchFamily="2" charset="-78"/>
                <a:sym typeface="Arial"/>
              </a:rPr>
              <a:t>2.2 مبادرة تعزيز استفادة الجهات الحكومية من خدمات الإدارة العامة</a:t>
            </a:r>
          </a:p>
        </p:txBody>
      </p:sp>
      <p:sp>
        <p:nvSpPr>
          <p:cNvPr id="80" name="Slide Number Placeholder 1">
            <a:extLst>
              <a:ext uri="{FF2B5EF4-FFF2-40B4-BE49-F238E27FC236}">
                <a16:creationId xmlns:a16="http://schemas.microsoft.com/office/drawing/2014/main" id="{62A52D15-03C4-4D9B-AB50-612D2A833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11480" y="402336"/>
            <a:ext cx="822960" cy="640080"/>
          </a:xfrm>
        </p:spPr>
        <p:txBody>
          <a:bodyPr anchor="ctr" lIns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679EF615-E246-4FA6-9E75-123AAEB83405}" type="slidenum">
              <a:rPr kumimoji="0" lang="en-US" sz="1200" b="1" i="0" u="none" strike="noStrike" kern="0" cap="none" spc="0" normalizeH="0" baseline="0" noProof="0" smtClean="0">
                <a:solidFill>
                  <a:srgbClr val="2A206A"/>
                </a:solidFill>
                <a:latin typeface="DiodrumArabic-Semibold"/>
                <a:cs typeface="DiodrumArabic-Semibold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11</a:t>
            </a:fld>
            <a:endParaRPr kumimoji="0" lang="en-PH" sz="900" b="0" i="0" u="none" strike="noStrike" kern="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DiodrumArabic-Semibold"/>
              <a:cs typeface="Arial"/>
              <a:sym typeface="Arial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1170432" y="4114800"/>
            <a:ext cx="925372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noAutofit/>
          </a:bodyPr>
          <a:lstStyle/>
          <a:p>
            <a:pPr algn="r" rtl="1"/>
            <a:r>
              <a:rPr lang="ar-SA" sz="1600" b="0" dirty="0">
                <a:solidFill>
                  <a:srgbClr val="00ABAF"/>
                </a:solidFill>
                <a:latin typeface="DiodrumArabic-Semibold" pitchFamily="2" charset="-78"/>
                <a:cs typeface="DiodrumArabic-Semibold" pitchFamily="2" charset="-78"/>
              </a:rPr>
              <a:t>7 جهات مستهدفة: بدء العمل مع جهتين، و5 جهات في مرحلة التواصل</a:t>
            </a:r>
          </a:p>
        </p:txBody>
      </p:sp>
    </p:spTree>
    <p:extLst>
      <p:ext uri="{BB962C8B-B14F-4D97-AF65-F5344CB8AC3E}">
        <p14:creationId xmlns:p14="http://schemas.microsoft.com/office/powerpoint/2010/main" val="468798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29061F-EB94-3729-CBB7-08F3AF2F28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8524D06-7089-421F-BEDD-AAEC18DA1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11480" y="155448"/>
            <a:ext cx="822960" cy="548640"/>
          </a:xfrm>
        </p:spPr>
        <p:txBody>
          <a:bodyPr anchor="ctr" lIns="0"/>
          <a:lstStyle/>
          <a:p>
            <a:pPr algn="l"/>
            <a:fld id="{679EF615-E246-4FA6-9E75-123AAEB83405}" type="slidenum">
              <a:rPr lang="en-US" smtClean="0" sz="1200" b="1">
                <a:solidFill>
                  <a:srgbClr val="2A206A"/>
                </a:solidFill>
                <a:latin typeface="DiodrumArabic-Semibold"/>
                <a:cs typeface="DiodrumArabic-Semibold"/>
              </a:rPr>
              <a:pPr/>
              <a:t>12</a:t>
            </a:fld>
            <a:endParaRPr lang="en-PH" dirty="0"/>
          </a:p>
        </p:txBody>
      </p:sp>
      <p:sp>
        <p:nvSpPr>
          <p:cNvPr id="3" name="TextBox 2"/>
          <p:cNvSpPr txBox="1"/>
          <p:nvPr/>
        </p:nvSpPr>
        <p:spPr>
          <a:xfrm>
            <a:off x="1234440" y="155448"/>
            <a:ext cx="105613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  <a:noAutofit/>
          </a:bodyPr>
          <a:lstStyle/>
          <a:p>
            <a:pPr algn="r" rtl="1"/>
            <a:r>
              <a:rPr lang="ar-SA" sz="2400" b="0" dirty="0">
                <a:solidFill>
                  <a:srgbClr val="5D2597"/>
                </a:solidFill>
                <a:latin typeface="DiodrumArabic-Bold" pitchFamily="2" charset="-78"/>
                <a:cs typeface="DiodrumArabic-Bold" pitchFamily="2" charset="-78"/>
              </a:rPr>
              <a:t>2.2  </a:t>
            </a:r>
            <a:r>
              <a:rPr lang="ar-SA" sz="2400" b="0" dirty="0">
                <a:solidFill>
                  <a:srgbClr val="2A206A"/>
                </a:solidFill>
                <a:latin typeface="DiodrumArabic-Bold" pitchFamily="2" charset="-78"/>
                <a:cs typeface="DiodrumArabic-Bold" pitchFamily="2" charset="-78"/>
              </a:rPr>
              <a:t>مبادرة تعزيز استفادة الجهات الحكومية من خدمات الإدارة العامة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" y="795528"/>
            <a:ext cx="11420856" cy="0"/>
          </a:xfrm>
          <a:prstGeom prst="line">
            <a:avLst/>
          </a:prstGeom>
          <a:ln w="28575">
            <a:gradFill>
              <a:gsLst>
                <a:gs pos="0">
                  <a:srgbClr val="00ABAF"/>
                </a:gs>
                <a:gs pos="100000">
                  <a:srgbClr val="7C32C9"/>
                </a:gs>
              </a:gsLst>
              <a:lin ang="0" scaled="1"/>
            </a:gradFill>
          </a:ln>
        </p:spPr>
      </p:cxnSp>
      <p:sp>
        <p:nvSpPr>
          <p:cNvPr id="5" name="Rounded Rectangle 4"/>
          <p:cNvSpPr/>
          <p:nvPr/>
        </p:nvSpPr>
        <p:spPr>
          <a:xfrm>
            <a:off x="411480" y="1143000"/>
            <a:ext cx="11384280" cy="822960"/>
          </a:xfrm>
          <a:prstGeom prst="roundRect">
            <a:avLst>
              <a:gd name="adj" fmla="val 13333"/>
            </a:avLst>
          </a:prstGeom>
          <a:gradFill>
            <a:gsLst>
              <a:gs pos="0">
                <a:srgbClr val="1D164B"/>
              </a:gs>
              <a:gs pos="90000">
                <a:srgbClr val="3B2D8A"/>
              </a:gs>
            </a:gsLst>
            <a:lin ang="2700000" scaled="1"/>
          </a:gradFill>
          <a:ln>
            <a:noFill/>
          </a:ln>
          <a:effectLst>
            <a:outerShdw blurRad="76200" dist="23812" dir="5400000" rotWithShape="0">
              <a:srgbClr val="24135F">
                <a:alpha val="12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108356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  <a:noAutofit/>
          </a:bodyPr>
          <a:lstStyle/>
          <a:p>
            <a:pPr algn="r" rtl="1">
              <a:lnSpc>
                <a:spcPct val="125000"/>
              </a:lnSpc>
            </a:pPr>
            <a:r>
              <a:rPr lang="ar-SA" sz="1250" b="0" dirty="0">
                <a:solidFill>
                  <a:srgbClr val="FFFFFF"/>
                </a:solidFill>
                <a:latin typeface="DiodrumArabic-Medium" pitchFamily="2" charset="-78"/>
                <a:cs typeface="DiodrumArabic-Medium" pitchFamily="2" charset="-78"/>
              </a:rPr>
              <a:t>مبادرة تستهدف الجهات ذات النتائج المتدنية في القياس والاستفادة المحدودة من خدمات الإدارة العامة، بهدف فهم احتياجاتها الفعلية وتعزيز استفادتها من خدمات المهارات الرقمية والدراسات والاستشارات.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148840"/>
            <a:ext cx="113842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  <a:noAutofit/>
          </a:bodyPr>
          <a:lstStyle/>
          <a:p>
            <a:pPr algn="r" rtl="1"/>
            <a:r>
              <a:rPr lang="ar-SA" sz="1300" b="0" dirty="0">
                <a:solidFill>
                  <a:srgbClr val="2A206A"/>
                </a:solidFill>
                <a:latin typeface="DiodrumArabic-Bold" pitchFamily="2" charset="-78"/>
                <a:cs typeface="DiodrumArabic-Bold" pitchFamily="2" charset="-78"/>
              </a:rPr>
              <a:t>مراحل المبادرة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363027" y="2880360"/>
            <a:ext cx="9481185" cy="0"/>
          </a:xfrm>
          <a:prstGeom prst="line">
            <a:avLst/>
          </a:prstGeom>
          <a:ln w="25400">
            <a:solidFill>
              <a:srgbClr val="E1E0EC"/>
            </a:solidFill>
          </a:ln>
        </p:spPr>
      </p:cxnSp>
      <p:sp>
        <p:nvSpPr>
          <p:cNvPr id="9" name="Oval 8"/>
          <p:cNvSpPr/>
          <p:nvPr/>
        </p:nvSpPr>
        <p:spPr>
          <a:xfrm>
            <a:off x="10707052" y="2743200"/>
            <a:ext cx="274320" cy="274320"/>
          </a:xfrm>
          <a:prstGeom prst="ellipse">
            <a:avLst/>
          </a:prstGeom>
          <a:solidFill>
            <a:srgbClr val="1CC182"/>
          </a:solidFill>
          <a:ln w="1587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07052" y="274320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  <a:noAutofit/>
          </a:bodyPr>
          <a:lstStyle/>
          <a:p>
            <a:pPr algn="ctr" rtl="1"/>
            <a:r>
              <a:rPr lang="ar-SA" sz="950" b="0" dirty="0">
                <a:solidFill>
                  <a:srgbClr val="FFFFFF"/>
                </a:solidFill>
                <a:latin typeface="DiodrumArabic-Bold" pitchFamily="2" charset="-78"/>
                <a:cs typeface="DiodrumArabic-Bold" pitchFamily="2" charset="-78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66985" y="3090672"/>
            <a:ext cx="13544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noAutofit/>
          </a:bodyPr>
          <a:lstStyle/>
          <a:p>
            <a:pPr algn="ctr" rtl="1">
              <a:lnSpc>
                <a:spcPct val="105000"/>
              </a:lnSpc>
            </a:pPr>
            <a:r>
              <a:rPr lang="ar-SA" sz="950" b="0" dirty="0">
                <a:solidFill>
                  <a:srgbClr val="2A206A"/>
                </a:solidFill>
                <a:latin typeface="DiodrumArabic-Semibold" pitchFamily="2" charset="-78"/>
                <a:cs typeface="DiodrumArabic-Semibold" pitchFamily="2" charset="-78"/>
              </a:rPr>
              <a:t>تحديد الجهات</a:t>
            </a:r>
          </a:p>
        </p:txBody>
      </p:sp>
      <p:sp>
        <p:nvSpPr>
          <p:cNvPr id="12" name="Oval 11"/>
          <p:cNvSpPr/>
          <p:nvPr/>
        </p:nvSpPr>
        <p:spPr>
          <a:xfrm>
            <a:off x="9352597" y="2743200"/>
            <a:ext cx="274320" cy="274320"/>
          </a:xfrm>
          <a:prstGeom prst="ellipse">
            <a:avLst/>
          </a:prstGeom>
          <a:solidFill>
            <a:srgbClr val="7C32C9"/>
          </a:solidFill>
          <a:ln w="1587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52597" y="274320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  <a:noAutofit/>
          </a:bodyPr>
          <a:lstStyle/>
          <a:p>
            <a:pPr algn="ctr" rtl="1"/>
            <a:r>
              <a:rPr lang="ar-SA" sz="950" b="0" dirty="0">
                <a:solidFill>
                  <a:srgbClr val="FFFFFF"/>
                </a:solidFill>
                <a:latin typeface="DiodrumArabic-Bold" pitchFamily="2" charset="-78"/>
                <a:cs typeface="DiodrumArabic-Bold" pitchFamily="2" charset="-78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12530" y="3090672"/>
            <a:ext cx="13544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noAutofit/>
          </a:bodyPr>
          <a:lstStyle/>
          <a:p>
            <a:pPr algn="ctr" rtl="1">
              <a:lnSpc>
                <a:spcPct val="105000"/>
              </a:lnSpc>
            </a:pPr>
            <a:r>
              <a:rPr lang="ar-SA" sz="950" b="0" dirty="0">
                <a:solidFill>
                  <a:srgbClr val="2A206A"/>
                </a:solidFill>
                <a:latin typeface="DiodrumArabic-Semibold" pitchFamily="2" charset="-78"/>
                <a:cs typeface="DiodrumArabic-Semibold" pitchFamily="2" charset="-78"/>
              </a:rPr>
              <a:t>التواصل الهاتفي</a:t>
            </a:r>
          </a:p>
        </p:txBody>
      </p:sp>
      <p:sp>
        <p:nvSpPr>
          <p:cNvPr id="15" name="Oval 14"/>
          <p:cNvSpPr/>
          <p:nvPr/>
        </p:nvSpPr>
        <p:spPr>
          <a:xfrm>
            <a:off x="7998142" y="2743200"/>
            <a:ext cx="274320" cy="274320"/>
          </a:xfrm>
          <a:prstGeom prst="ellipse">
            <a:avLst/>
          </a:prstGeom>
          <a:solidFill>
            <a:srgbClr val="7C32C9"/>
          </a:solidFill>
          <a:ln w="1587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98142" y="274320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  <a:noAutofit/>
          </a:bodyPr>
          <a:lstStyle/>
          <a:p>
            <a:pPr algn="ctr" rtl="1"/>
            <a:r>
              <a:rPr lang="ar-SA" sz="950" b="0" dirty="0">
                <a:solidFill>
                  <a:srgbClr val="FFFFFF"/>
                </a:solidFill>
                <a:latin typeface="DiodrumArabic-Bold" pitchFamily="2" charset="-78"/>
                <a:cs typeface="DiodrumArabic-Bold" pitchFamily="2" charset="-78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58075" y="3090672"/>
            <a:ext cx="13544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noAutofit/>
          </a:bodyPr>
          <a:lstStyle/>
          <a:p>
            <a:pPr algn="ctr" rtl="1">
              <a:lnSpc>
                <a:spcPct val="105000"/>
              </a:lnSpc>
            </a:pPr>
            <a:r>
              <a:rPr lang="ar-SA" sz="950" b="0" dirty="0">
                <a:solidFill>
                  <a:srgbClr val="2A206A"/>
                </a:solidFill>
                <a:latin typeface="DiodrumArabic-Semibold" pitchFamily="2" charset="-78"/>
                <a:cs typeface="DiodrumArabic-Semibold" pitchFamily="2" charset="-78"/>
              </a:rPr>
              <a:t>بريد التعريف بالمبادرة</a:t>
            </a:r>
          </a:p>
        </p:txBody>
      </p:sp>
      <p:sp>
        <p:nvSpPr>
          <p:cNvPr id="18" name="Oval 17"/>
          <p:cNvSpPr/>
          <p:nvPr/>
        </p:nvSpPr>
        <p:spPr>
          <a:xfrm>
            <a:off x="6643687" y="2743200"/>
            <a:ext cx="274320" cy="274320"/>
          </a:xfrm>
          <a:prstGeom prst="ellipse">
            <a:avLst/>
          </a:prstGeom>
          <a:solidFill>
            <a:srgbClr val="7C32C9"/>
          </a:solidFill>
          <a:ln w="1587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43687" y="274320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  <a:noAutofit/>
          </a:bodyPr>
          <a:lstStyle/>
          <a:p>
            <a:pPr algn="ctr" rtl="1"/>
            <a:r>
              <a:rPr lang="ar-SA" sz="950" b="0" dirty="0">
                <a:solidFill>
                  <a:srgbClr val="FFFFFF"/>
                </a:solidFill>
                <a:latin typeface="DiodrumArabic-Bold" pitchFamily="2" charset="-78"/>
                <a:cs typeface="DiodrumArabic-Bold" pitchFamily="2" charset="-78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03619" y="3090672"/>
            <a:ext cx="13544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noAutofit/>
          </a:bodyPr>
          <a:lstStyle/>
          <a:p>
            <a:pPr algn="ctr" rtl="1">
              <a:lnSpc>
                <a:spcPct val="105000"/>
              </a:lnSpc>
            </a:pPr>
            <a:r>
              <a:rPr lang="ar-SA" sz="950" b="0" dirty="0">
                <a:solidFill>
                  <a:srgbClr val="2A206A"/>
                </a:solidFill>
                <a:latin typeface="DiodrumArabic-Semibold" pitchFamily="2" charset="-78"/>
                <a:cs typeface="DiodrumArabic-Semibold" pitchFamily="2" charset="-78"/>
              </a:rPr>
              <a:t>تحديد الاجتماع</a:t>
            </a:r>
          </a:p>
        </p:txBody>
      </p:sp>
      <p:sp>
        <p:nvSpPr>
          <p:cNvPr id="21" name="Oval 20"/>
          <p:cNvSpPr/>
          <p:nvPr/>
        </p:nvSpPr>
        <p:spPr>
          <a:xfrm>
            <a:off x="5289232" y="2743200"/>
            <a:ext cx="274320" cy="274320"/>
          </a:xfrm>
          <a:prstGeom prst="ellipse">
            <a:avLst/>
          </a:prstGeom>
          <a:solidFill>
            <a:srgbClr val="7C32C9"/>
          </a:solidFill>
          <a:ln w="1587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89232" y="274320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  <a:noAutofit/>
          </a:bodyPr>
          <a:lstStyle/>
          <a:p>
            <a:pPr algn="ctr" rtl="1"/>
            <a:r>
              <a:rPr lang="ar-SA" sz="950" b="0" dirty="0">
                <a:solidFill>
                  <a:srgbClr val="FFFFFF"/>
                </a:solidFill>
                <a:latin typeface="DiodrumArabic-Bold" pitchFamily="2" charset="-78"/>
                <a:cs typeface="DiodrumArabic-Bold" pitchFamily="2" charset="-78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49165" y="3090672"/>
            <a:ext cx="13544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noAutofit/>
          </a:bodyPr>
          <a:lstStyle/>
          <a:p>
            <a:pPr algn="ctr" rtl="1">
              <a:lnSpc>
                <a:spcPct val="105000"/>
              </a:lnSpc>
            </a:pPr>
            <a:r>
              <a:rPr lang="ar-SA" sz="950" b="0" dirty="0">
                <a:solidFill>
                  <a:srgbClr val="2A206A"/>
                </a:solidFill>
                <a:latin typeface="DiodrumArabic-Semibold" pitchFamily="2" charset="-78"/>
                <a:cs typeface="DiodrumArabic-Semibold" pitchFamily="2" charset="-78"/>
              </a:rPr>
              <a:t>الاجتماع التشخيصي</a:t>
            </a:r>
          </a:p>
        </p:txBody>
      </p:sp>
      <p:sp>
        <p:nvSpPr>
          <p:cNvPr id="24" name="Oval 23"/>
          <p:cNvSpPr/>
          <p:nvPr/>
        </p:nvSpPr>
        <p:spPr>
          <a:xfrm>
            <a:off x="3934777" y="2743200"/>
            <a:ext cx="274320" cy="274320"/>
          </a:xfrm>
          <a:prstGeom prst="ellipse">
            <a:avLst/>
          </a:prstGeom>
          <a:solidFill>
            <a:srgbClr val="C9C6DD"/>
          </a:solidFill>
          <a:ln w="1587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34777" y="274320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  <a:noAutofit/>
          </a:bodyPr>
          <a:lstStyle/>
          <a:p>
            <a:pPr algn="ctr" rtl="1"/>
            <a:r>
              <a:rPr lang="ar-SA" sz="950" b="0" dirty="0">
                <a:solidFill>
                  <a:srgbClr val="FFFFFF"/>
                </a:solidFill>
                <a:latin typeface="DiodrumArabic-Bold" pitchFamily="2" charset="-78"/>
                <a:cs typeface="DiodrumArabic-Bold" pitchFamily="2" charset="-78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94709" y="3090672"/>
            <a:ext cx="13544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noAutofit/>
          </a:bodyPr>
          <a:lstStyle/>
          <a:p>
            <a:pPr algn="ctr" rtl="1">
              <a:lnSpc>
                <a:spcPct val="105000"/>
              </a:lnSpc>
            </a:pPr>
            <a:r>
              <a:rPr lang="ar-SA" sz="950" b="0" dirty="0">
                <a:solidFill>
                  <a:srgbClr val="6E6E86"/>
                </a:solidFill>
                <a:latin typeface="DiodrumArabic-Regular" pitchFamily="2" charset="-78"/>
                <a:cs typeface="DiodrumArabic-Regular" pitchFamily="2" charset="-78"/>
              </a:rPr>
              <a:t>تحليل الإجابات</a:t>
            </a:r>
          </a:p>
        </p:txBody>
      </p:sp>
      <p:sp>
        <p:nvSpPr>
          <p:cNvPr id="27" name="Oval 26"/>
          <p:cNvSpPr/>
          <p:nvPr/>
        </p:nvSpPr>
        <p:spPr>
          <a:xfrm>
            <a:off x="2580322" y="2743200"/>
            <a:ext cx="274320" cy="274320"/>
          </a:xfrm>
          <a:prstGeom prst="ellipse">
            <a:avLst/>
          </a:prstGeom>
          <a:solidFill>
            <a:srgbClr val="C9C6DD"/>
          </a:solidFill>
          <a:ln w="1587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580322" y="274320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  <a:noAutofit/>
          </a:bodyPr>
          <a:lstStyle/>
          <a:p>
            <a:pPr algn="ctr" rtl="1"/>
            <a:r>
              <a:rPr lang="ar-SA" sz="950" b="0" dirty="0">
                <a:solidFill>
                  <a:srgbClr val="FFFFFF"/>
                </a:solidFill>
                <a:latin typeface="DiodrumArabic-Bold" pitchFamily="2" charset="-78"/>
                <a:cs typeface="DiodrumArabic-Bold" pitchFamily="2" charset="-78"/>
              </a:rPr>
              <a:t>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40254" y="3090672"/>
            <a:ext cx="13544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noAutofit/>
          </a:bodyPr>
          <a:lstStyle/>
          <a:p>
            <a:pPr algn="ctr" rtl="1">
              <a:lnSpc>
                <a:spcPct val="105000"/>
              </a:lnSpc>
            </a:pPr>
            <a:r>
              <a:rPr lang="ar-SA" sz="950" b="0" dirty="0">
                <a:solidFill>
                  <a:srgbClr val="6E6E86"/>
                </a:solidFill>
                <a:latin typeface="DiodrumArabic-Regular" pitchFamily="2" charset="-78"/>
                <a:cs typeface="DiodrumArabic-Regular" pitchFamily="2" charset="-78"/>
              </a:rPr>
              <a:t>بناء نموذج الحل وإرساله</a:t>
            </a:r>
          </a:p>
        </p:txBody>
      </p:sp>
      <p:sp>
        <p:nvSpPr>
          <p:cNvPr id="30" name="Oval 29"/>
          <p:cNvSpPr/>
          <p:nvPr/>
        </p:nvSpPr>
        <p:spPr>
          <a:xfrm>
            <a:off x="1225867" y="2743200"/>
            <a:ext cx="274320" cy="274320"/>
          </a:xfrm>
          <a:prstGeom prst="ellipse">
            <a:avLst/>
          </a:prstGeom>
          <a:solidFill>
            <a:srgbClr val="C9C6DD"/>
          </a:solidFill>
          <a:ln w="1587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25867" y="274320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  <a:noAutofit/>
          </a:bodyPr>
          <a:lstStyle/>
          <a:p>
            <a:pPr algn="ctr" rtl="1"/>
            <a:r>
              <a:rPr lang="ar-SA" sz="950" b="0" dirty="0">
                <a:solidFill>
                  <a:srgbClr val="FFFFFF"/>
                </a:solidFill>
                <a:latin typeface="DiodrumArabic-Bold" pitchFamily="2" charset="-78"/>
                <a:cs typeface="DiodrumArabic-Bold" pitchFamily="2" charset="-78"/>
              </a:rPr>
              <a:t>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799" y="3090672"/>
            <a:ext cx="13544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noAutofit/>
          </a:bodyPr>
          <a:lstStyle/>
          <a:p>
            <a:pPr algn="ctr" rtl="1">
              <a:lnSpc>
                <a:spcPct val="105000"/>
              </a:lnSpc>
            </a:pPr>
            <a:r>
              <a:rPr lang="ar-SA" sz="950" b="0" dirty="0">
                <a:solidFill>
                  <a:srgbClr val="6E6E86"/>
                </a:solidFill>
                <a:latin typeface="DiodrumArabic-Regular" pitchFamily="2" charset="-78"/>
                <a:cs typeface="DiodrumArabic-Regular" pitchFamily="2" charset="-78"/>
              </a:rPr>
              <a:t>مناقشة الحل المقترح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51760" y="2148840"/>
            <a:ext cx="8686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  <a:noAutofit/>
          </a:bodyPr>
          <a:lstStyle/>
          <a:p>
            <a:pPr algn="r" rtl="1"/>
            <a:r>
              <a:rPr lang="ar-SA" sz="950" b="0" dirty="0">
                <a:solidFill>
                  <a:srgbClr val="6E6E86"/>
                </a:solidFill>
                <a:latin typeface="DiodrumArabic-Regular" pitchFamily="2" charset="-78"/>
                <a:cs typeface="DiodrumArabic-Regular" pitchFamily="2" charset="-78"/>
              </a:rPr>
              <a:t>منجز</a:t>
            </a:r>
          </a:p>
        </p:txBody>
      </p:sp>
      <p:sp>
        <p:nvSpPr>
          <p:cNvPr id="34" name="Oval 33"/>
          <p:cNvSpPr/>
          <p:nvPr/>
        </p:nvSpPr>
        <p:spPr>
          <a:xfrm>
            <a:off x="3547872" y="2231136"/>
            <a:ext cx="137160" cy="137160"/>
          </a:xfrm>
          <a:prstGeom prst="ellipse">
            <a:avLst/>
          </a:prstGeom>
          <a:solidFill>
            <a:srgbClr val="1CC1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554479" y="2148840"/>
            <a:ext cx="8686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  <a:noAutofit/>
          </a:bodyPr>
          <a:lstStyle/>
          <a:p>
            <a:pPr algn="r" rtl="1"/>
            <a:r>
              <a:rPr lang="ar-SA" sz="950" b="0" dirty="0">
                <a:solidFill>
                  <a:srgbClr val="6E6E86"/>
                </a:solidFill>
                <a:latin typeface="DiodrumArabic-Regular" pitchFamily="2" charset="-78"/>
                <a:cs typeface="DiodrumArabic-Regular" pitchFamily="2" charset="-78"/>
              </a:rPr>
              <a:t>قيد التنفيذ</a:t>
            </a:r>
          </a:p>
        </p:txBody>
      </p:sp>
      <p:sp>
        <p:nvSpPr>
          <p:cNvPr id="36" name="Oval 35"/>
          <p:cNvSpPr/>
          <p:nvPr/>
        </p:nvSpPr>
        <p:spPr>
          <a:xfrm>
            <a:off x="2450591" y="2231136"/>
            <a:ext cx="137160" cy="137160"/>
          </a:xfrm>
          <a:prstGeom prst="ellipse">
            <a:avLst/>
          </a:prstGeom>
          <a:solidFill>
            <a:srgbClr val="7C32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199" y="2148840"/>
            <a:ext cx="8686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  <a:noAutofit/>
          </a:bodyPr>
          <a:lstStyle/>
          <a:p>
            <a:pPr algn="r" rtl="1"/>
            <a:r>
              <a:rPr lang="ar-SA" sz="950" b="0" dirty="0">
                <a:solidFill>
                  <a:srgbClr val="6E6E86"/>
                </a:solidFill>
                <a:latin typeface="DiodrumArabic-Regular" pitchFamily="2" charset="-78"/>
                <a:cs typeface="DiodrumArabic-Regular" pitchFamily="2" charset="-78"/>
              </a:rPr>
              <a:t>قادم</a:t>
            </a:r>
          </a:p>
        </p:txBody>
      </p:sp>
      <p:sp>
        <p:nvSpPr>
          <p:cNvPr id="38" name="Oval 37"/>
          <p:cNvSpPr/>
          <p:nvPr/>
        </p:nvSpPr>
        <p:spPr>
          <a:xfrm>
            <a:off x="1353311" y="2231136"/>
            <a:ext cx="137160" cy="137160"/>
          </a:xfrm>
          <a:prstGeom prst="ellipse">
            <a:avLst/>
          </a:prstGeom>
          <a:solidFill>
            <a:srgbClr val="C9C6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9326880" y="3703320"/>
            <a:ext cx="2468880" cy="2011680"/>
          </a:xfrm>
          <a:prstGeom prst="roundRect">
            <a:avLst>
              <a:gd name="adj" fmla="val 4545"/>
            </a:avLst>
          </a:prstGeom>
          <a:gradFill>
            <a:gsLst>
              <a:gs pos="0">
                <a:srgbClr val="1D164B"/>
              </a:gs>
              <a:gs pos="90000">
                <a:srgbClr val="3B2D8A"/>
              </a:gs>
            </a:gsLst>
            <a:lin ang="2700000" scaled="1"/>
          </a:gradFill>
          <a:ln>
            <a:noFill/>
          </a:ln>
          <a:effectLst>
            <a:outerShdw blurRad="76200" dist="23812" dir="5400000" rotWithShape="0">
              <a:srgbClr val="24135F">
                <a:alpha val="12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9509759" y="3840480"/>
            <a:ext cx="21031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  <a:noAutofit/>
          </a:bodyPr>
          <a:lstStyle/>
          <a:p>
            <a:pPr algn="ctr" rtl="1"/>
            <a:r>
              <a:rPr lang="ar-SA" sz="4400" b="0" dirty="0">
                <a:solidFill>
                  <a:srgbClr val="FFFFFF"/>
                </a:solidFill>
                <a:latin typeface="DiodrumArabic-Bold" pitchFamily="2" charset="-78"/>
                <a:cs typeface="DiodrumArabic-Bold" pitchFamily="2" charset="-78"/>
              </a:rPr>
              <a:t>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509759" y="4599431"/>
            <a:ext cx="2103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noAutofit/>
          </a:bodyPr>
          <a:lstStyle/>
          <a:p>
            <a:pPr algn="ctr" rtl="1">
              <a:lnSpc>
                <a:spcPct val="115000"/>
              </a:lnSpc>
            </a:pPr>
            <a:r>
              <a:rPr lang="ar-SA" sz="1200" b="0" dirty="0">
                <a:solidFill>
                  <a:srgbClr val="1CC182"/>
                </a:solidFill>
                <a:latin typeface="DiodrumArabic-Semibold" pitchFamily="2" charset="-78"/>
                <a:cs typeface="DiodrumArabic-Semibold" pitchFamily="2" charset="-78"/>
              </a:rPr>
              <a:t>جهات مستهدفة</a:t>
            </a:r>
          </a:p>
          <a:p>
            <a:pPr algn="ctr" rtl="1">
              <a:lnSpc>
                <a:spcPct val="115000"/>
              </a:lnSpc>
            </a:pPr>
            <a:r>
              <a:rPr lang="ar-SA" sz="1200" b="0" dirty="0">
                <a:solidFill>
                  <a:srgbClr val="1CC182"/>
                </a:solidFill>
                <a:latin typeface="DiodrumArabic-Semibold" pitchFamily="2" charset="-78"/>
                <a:cs typeface="DiodrumArabic-Semibold" pitchFamily="2" charset="-78"/>
              </a:rPr>
              <a:t>متدنية في مستوى القياس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509759" y="5276088"/>
            <a:ext cx="2103120" cy="292608"/>
          </a:xfrm>
          <a:prstGeom prst="roundRect">
            <a:avLst>
              <a:gd name="adj" fmla="val 50000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  <p:txBody>
          <a:bodyPr rtlCol="0" anchor="ctr" lIns="73152" rIns="73152" tIns="0" bIns="0"/>
          <a:lstStyle/>
          <a:p>
            <a:pPr algn="ctr" rtl="1"/>
            <a:r>
              <a:rPr lang="ar-SA" sz="900" b="0" dirty="0">
                <a:solidFill>
                  <a:srgbClr val="FFFFFF"/>
                </a:solidFill>
                <a:latin typeface="DiodrumArabic-Semibold" pitchFamily="2" charset="-78"/>
                <a:cs typeface="DiodrumArabic-Semibold" pitchFamily="2" charset="-78"/>
              </a:rPr>
              <a:t>2 بدء العمل  |  5 في مرحلة التواصل</a:t>
            </a:r>
          </a:p>
        </p:txBody>
      </p:sp>
      <p:graphicFrame>
        <p:nvGraphicFramePr>
          <p:cNvPr id="43" name="Table 42"/>
          <p:cNvGraphicFramePr>
            <a:graphicFrameLocks noGrp="1"/>
          </p:cNvGraphicFramePr>
          <p:nvPr/>
        </p:nvGraphicFramePr>
        <p:xfrm>
          <a:off x="411480" y="3703320"/>
          <a:ext cx="8641078" cy="2011680"/>
        </p:xfrm>
        <a:graphic>
          <a:graphicData uri="http://schemas.openxmlformats.org/drawingml/2006/table">
            <a:tbl>
              <a:tblPr firstRow="0" bandRow="0"/>
              <a:tblGrid>
                <a:gridCol w="1874519"/>
                <a:gridCol w="1554480"/>
                <a:gridCol w="685800"/>
                <a:gridCol w="4526279"/>
              </a:tblGrid>
              <a:tr h="365760">
                <a:tc>
                  <a:txBody>
                    <a:bodyPr/>
                    <a:lstStyle/>
                    <a:p>
                      <a:pPr algn="ctr" rtl="1">
                        <a:lnSpc>
                          <a:spcPct val="110000"/>
                        </a:lnSpc>
                      </a:pPr>
                      <a:r>
                        <a:rPr lang="ar-SA" sz="1000" b="0" dirty="0">
                          <a:solidFill>
                            <a:srgbClr val="FFFFFF"/>
                          </a:solidFill>
                          <a:latin typeface="DiodrumArabic-Semibold" pitchFamily="2" charset="-78"/>
                          <a:cs typeface="DiodrumArabic-Semibold" pitchFamily="2" charset="-78"/>
                        </a:rPr>
                        <a:t>الخطوة القادمة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00ABA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0000"/>
                        </a:lnSpc>
                      </a:pPr>
                      <a:r>
                        <a:rPr lang="ar-SA" sz="1000" b="0" dirty="0">
                          <a:solidFill>
                            <a:srgbClr val="FFFFFF"/>
                          </a:solidFill>
                          <a:latin typeface="DiodrumArabic-Semibold" pitchFamily="2" charset="-78"/>
                          <a:cs typeface="DiodrumArabic-Semibold" pitchFamily="2" charset="-78"/>
                        </a:rPr>
                        <a:t>المرحلة الحالية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00ABA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0000"/>
                        </a:lnSpc>
                      </a:pPr>
                      <a:r>
                        <a:rPr lang="ar-SA" sz="1000" b="0" dirty="0">
                          <a:solidFill>
                            <a:srgbClr val="FFFFFF"/>
                          </a:solidFill>
                          <a:latin typeface="DiodrumArabic-Semibold" pitchFamily="2" charset="-78"/>
                          <a:cs typeface="DiodrumArabic-Semibold" pitchFamily="2" charset="-78"/>
                        </a:rPr>
                        <a:t>العدد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00ABA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0000"/>
                        </a:lnSpc>
                      </a:pPr>
                      <a:r>
                        <a:rPr lang="ar-SA" sz="1000" b="0" dirty="0">
                          <a:solidFill>
                            <a:srgbClr val="FFFFFF"/>
                          </a:solidFill>
                          <a:latin typeface="DiodrumArabic-Semibold" pitchFamily="2" charset="-78"/>
                          <a:cs typeface="DiodrumArabic-Semibold" pitchFamily="2" charset="-78"/>
                        </a:rPr>
                        <a:t>الجهات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00ABA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rtl="1">
                        <a:lnSpc>
                          <a:spcPct val="110000"/>
                        </a:lnSpc>
                      </a:pPr>
                      <a:r>
                        <a:rPr lang="ar-SA" sz="1000" b="0" dirty="0">
                          <a:solidFill>
                            <a:srgbClr val="333333"/>
                          </a:solidFill>
                          <a:latin typeface="DiodrumArabic-Medium" pitchFamily="2" charset="-78"/>
                          <a:cs typeface="DiodrumArabic-Medium" pitchFamily="2" charset="-78"/>
                        </a:rPr>
                        <a:t>تحديد الاحتياج الفعلي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F4F3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0000"/>
                        </a:lnSpc>
                      </a:pPr>
                      <a:r>
                        <a:rPr lang="ar-SA" sz="1000" b="0" dirty="0">
                          <a:solidFill>
                            <a:srgbClr val="333333"/>
                          </a:solidFill>
                          <a:latin typeface="DiodrumArabic-Medium" pitchFamily="2" charset="-78"/>
                          <a:cs typeface="DiodrumArabic-Medium" pitchFamily="2" charset="-78"/>
                        </a:rPr>
                        <a:t>تم بدء العمل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F4F3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0000"/>
                        </a:lnSpc>
                      </a:pPr>
                      <a:r>
                        <a:rPr lang="ar-SA" sz="1000" b="0" dirty="0">
                          <a:solidFill>
                            <a:srgbClr val="333333"/>
                          </a:solidFill>
                          <a:latin typeface="DiodrumArabic-Medium" pitchFamily="2" charset="-78"/>
                          <a:cs typeface="DiodrumArabic-Medium" pitchFamily="2" charset="-78"/>
                        </a:rPr>
                        <a:t>2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F4F3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0000"/>
                        </a:lnSpc>
                      </a:pPr>
                      <a:r>
                        <a:rPr lang="ar-SA" sz="1000" b="0" dirty="0">
                          <a:solidFill>
                            <a:srgbClr val="333333"/>
                          </a:solidFill>
                          <a:latin typeface="DiodrumArabic-Medium" pitchFamily="2" charset="-78"/>
                          <a:cs typeface="DiodrumArabic-Medium" pitchFamily="2" charset="-78"/>
                        </a:rPr>
                        <a:t>جامعة الطائف، أمانة منطقة الحدود الشمالية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F4F3F9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rtl="1">
                        <a:lnSpc>
                          <a:spcPct val="110000"/>
                        </a:lnSpc>
                      </a:pPr>
                      <a:r>
                        <a:rPr lang="ar-SA" sz="1000" b="0" dirty="0">
                          <a:solidFill>
                            <a:srgbClr val="333333"/>
                          </a:solidFill>
                          <a:latin typeface="DiodrumArabic-Medium" pitchFamily="2" charset="-78"/>
                          <a:cs typeface="DiodrumArabic-Medium" pitchFamily="2" charset="-78"/>
                        </a:rPr>
                        <a:t>تحديد موعد الاجتماع التشخيصي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0000"/>
                        </a:lnSpc>
                      </a:pPr>
                      <a:r>
                        <a:rPr lang="ar-SA" sz="1000" b="0" dirty="0">
                          <a:solidFill>
                            <a:srgbClr val="333333"/>
                          </a:solidFill>
                          <a:latin typeface="DiodrumArabic-Medium" pitchFamily="2" charset="-78"/>
                          <a:cs typeface="DiodrumArabic-Medium" pitchFamily="2" charset="-78"/>
                        </a:rPr>
                        <a:t>في مرحلة التواصل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0000"/>
                        </a:lnSpc>
                      </a:pPr>
                      <a:r>
                        <a:rPr lang="ar-SA" sz="1000" b="0" dirty="0">
                          <a:solidFill>
                            <a:srgbClr val="333333"/>
                          </a:solidFill>
                          <a:latin typeface="DiodrumArabic-Medium" pitchFamily="2" charset="-78"/>
                          <a:cs typeface="DiodrumArabic-Medium" pitchFamily="2" charset="-78"/>
                        </a:rPr>
                        <a:t>5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0000"/>
                        </a:lnSpc>
                      </a:pPr>
                      <a:r>
                        <a:rPr lang="ar-SA" sz="1000" b="0" dirty="0">
                          <a:solidFill>
                            <a:srgbClr val="333333"/>
                          </a:solidFill>
                          <a:latin typeface="DiodrumArabic-Medium" pitchFamily="2" charset="-78"/>
                          <a:cs typeface="DiodrumArabic-Medium" pitchFamily="2" charset="-78"/>
                        </a:rPr>
                        <a:t>صندوق التعليم العالي الجامعي، الهيئة السعودية للمحامين، الرئاسة العامة للبحوث العلمية والإفتاء، الهيئة السعودية للمراجعين والمحاسبين، المركز الوطني للتنمية الصناعية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05329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F021ADDF-8E2C-45B8-BF02-B7B1F89E2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5224" y="455907"/>
            <a:ext cx="6975460" cy="522501"/>
          </a:xfrm>
        </p:spPr>
        <p:txBody>
          <a:bodyPr/>
          <a:lstStyle/>
          <a:p>
            <a:r>
              <a:rPr lang="ar-SA" sz="2000" dirty="0">
                <a:solidFill>
                  <a:schemeClr val="accent2">
                    <a:lumMod val="75000"/>
                  </a:schemeClr>
                </a:solidFill>
              </a:rPr>
              <a:t>الجهود والمبادرات القائمة</a:t>
            </a:r>
            <a:endParaRPr lang="en-US" sz="2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7" name="s1-num-badge">
            <a:extLst>
              <a:ext uri="{FF2B5EF4-FFF2-40B4-BE49-F238E27FC236}">
                <a16:creationId xmlns:a16="http://schemas.microsoft.com/office/drawing/2014/main" id="{CD5DA493-5272-42FA-8365-A3966CC354D1}"/>
              </a:ext>
            </a:extLst>
          </p:cNvPr>
          <p:cNvSpPr/>
          <p:nvPr/>
        </p:nvSpPr>
        <p:spPr>
          <a:xfrm>
            <a:off x="10058400" y="398757"/>
            <a:ext cx="714462" cy="643659"/>
          </a:xfrm>
          <a:prstGeom prst="roundRect">
            <a:avLst>
              <a:gd name="adj" fmla="val 28599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2700000" scaled="1"/>
          </a:gradFill>
          <a:ln>
            <a:noFill/>
          </a:ln>
          <a:effectLst>
            <a:outerShdw blurRad="57150" dist="19050" dir="5400000" rotWithShape="0">
              <a:srgbClr val="24135F">
                <a:alpha val="25098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128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3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odrumArabic-Regular"/>
              <a:ea typeface="+mn-ea"/>
              <a:cs typeface="DiodrumArabic-Regular"/>
              <a:sym typeface="Arial"/>
            </a:endParaRPr>
          </a:p>
        </p:txBody>
      </p:sp>
      <p:sp>
        <p:nvSpPr>
          <p:cNvPr id="78" name="s1-num">
            <a:extLst>
              <a:ext uri="{FF2B5EF4-FFF2-40B4-BE49-F238E27FC236}">
                <a16:creationId xmlns:a16="http://schemas.microsoft.com/office/drawing/2014/main" id="{9D3DF26F-E9FA-4C13-87DC-40C0A14A2F2C}"/>
              </a:ext>
            </a:extLst>
          </p:cNvPr>
          <p:cNvSpPr txBox="1"/>
          <p:nvPr/>
        </p:nvSpPr>
        <p:spPr>
          <a:xfrm>
            <a:off x="10113264" y="493235"/>
            <a:ext cx="603504" cy="43088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ctr" defTabSz="8128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ar-SA" sz="2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iodrumArabic-Bold"/>
                <a:ea typeface="DiodrumArabic-Bold"/>
                <a:cs typeface="DiodrumArabic-Bold"/>
                <a:sym typeface="Arial"/>
              </a:rPr>
              <a:t>02</a:t>
            </a:r>
            <a:endParaRPr kumimoji="0" lang="en-US" sz="1932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iodrumArabic-Bold"/>
              <a:ea typeface="DiodrumArabic-Bold"/>
              <a:cs typeface="DiodrumArabic-Bold"/>
              <a:sym typeface="Arial"/>
            </a:endParaRPr>
          </a:p>
        </p:txBody>
      </p:sp>
      <p:sp>
        <p:nvSpPr>
          <p:cNvPr id="79" name="Title 12">
            <a:extLst>
              <a:ext uri="{FF2B5EF4-FFF2-40B4-BE49-F238E27FC236}">
                <a16:creationId xmlns:a16="http://schemas.microsoft.com/office/drawing/2014/main" id="{ADD2FCDD-A898-4E2E-84D7-0170DB3FFE6B}"/>
              </a:ext>
            </a:extLst>
          </p:cNvPr>
          <p:cNvSpPr txBox="1">
            <a:spLocks/>
          </p:cNvSpPr>
          <p:nvPr/>
        </p:nvSpPr>
        <p:spPr>
          <a:xfrm>
            <a:off x="0" y="2834640"/>
            <a:ext cx="11486148" cy="1089529"/>
          </a:xfrm>
          <a:prstGeom prst="rect">
            <a:avLst/>
          </a:prstGeom>
        </p:spPr>
        <p:txBody>
          <a:bodyPr vert="horz" wrap="square" lIns="0" tIns="45720" rIns="0" bIns="45720" rtlCol="0" anchor="t">
            <a:spAutoFit/>
          </a:bodyPr>
          <a:lstStyle>
            <a:lvl1pPr algn="r" defTabSz="914332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chemeClr val="accent4"/>
                </a:solidFill>
                <a:latin typeface="DiodrumArabic-Bold" panose="00000800000000000000" pitchFamily="2" charset="-78"/>
                <a:ea typeface="+mj-ea"/>
                <a:cs typeface="DiodrumArabic-Bold" panose="00000800000000000000" pitchFamily="2" charset="-78"/>
              </a:defRPr>
            </a:lvl1pPr>
          </a:lstStyle>
          <a:p>
            <a:pPr marL="0" marR="0" lvl="0" indent="0" algn="r" defTabSz="914332" rtl="1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r-SA" sz="3600" dirty="0">
                <a:solidFill>
                  <a:srgbClr val="2A206A"/>
                </a:solidFill>
              </a:rPr>
              <a:t>2.3 جائزة الحكومة الرقمية لدول مجلس التعاون لدول الخليج العربية</a:t>
            </a:r>
            <a:endParaRPr lang="ar-SA" sz="3600" dirty="0">
              <a:solidFill>
                <a:srgbClr val="2A206A"/>
              </a:solidFill>
            </a:endParaRPr>
          </a:p>
        </p:txBody>
      </p:sp>
      <p:sp>
        <p:nvSpPr>
          <p:cNvPr id="80" name="Slide Number Placeholder 1">
            <a:extLst>
              <a:ext uri="{FF2B5EF4-FFF2-40B4-BE49-F238E27FC236}">
                <a16:creationId xmlns:a16="http://schemas.microsoft.com/office/drawing/2014/main" id="{62A52D15-03C4-4D9B-AB50-612D2A833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11480" y="402336"/>
            <a:ext cx="822960" cy="640080"/>
          </a:xfrm>
        </p:spPr>
        <p:txBody>
          <a:bodyPr anchor="ctr" lIns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679EF615-E246-4FA6-9E75-123AAEB83405}" type="slidenum">
              <a:rPr kumimoji="0" lang="en-US" sz="1200" b="1" i="0" u="none" strike="noStrike" kern="0" cap="none" spc="0" normalizeH="0" baseline="0" noProof="0" smtClean="0">
                <a:solidFill>
                  <a:srgbClr val="2A206A"/>
                </a:solidFill>
                <a:latin typeface="DiodrumArabic-Semibold"/>
                <a:cs typeface="DiodrumArabic-Semibold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13</a:t>
            </a:fld>
            <a:endParaRPr kumimoji="0" lang="en-PH" sz="900" b="0" i="0" u="none" strike="noStrike" kern="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DiodrumArabic-Semibold"/>
              <a:cs typeface="Arial"/>
              <a:sym typeface="Arial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1170432" y="4114800"/>
            <a:ext cx="925372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noAutofit/>
          </a:bodyPr>
          <a:lstStyle/>
          <a:p>
            <a:pPr algn="r" rtl="1"/>
            <a:r>
              <a:rPr lang="ar-SA" sz="1600" b="0" dirty="0">
                <a:solidFill>
                  <a:srgbClr val="00ABAF"/>
                </a:solidFill>
                <a:latin typeface="DiodrumArabic-Semibold" pitchFamily="2" charset="-78"/>
                <a:cs typeface="DiodrumArabic-Semibold" pitchFamily="2" charset="-78"/>
              </a:rPr>
              <a:t>اكتمال ملف المشاركة؛ التحكيم بدأ في 1 سبتمبر، وإعلان النتائج في 8 أكتوبر 2026</a:t>
            </a:r>
          </a:p>
        </p:txBody>
      </p:sp>
    </p:spTree>
    <p:extLst>
      <p:ext uri="{BB962C8B-B14F-4D97-AF65-F5344CB8AC3E}">
        <p14:creationId xmlns:p14="http://schemas.microsoft.com/office/powerpoint/2010/main" val="363034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29061F-EB94-3729-CBB7-08F3AF2F28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8524D06-7089-421F-BEDD-AAEC18DA1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11480" y="155448"/>
            <a:ext cx="822960" cy="548640"/>
          </a:xfrm>
        </p:spPr>
        <p:txBody>
          <a:bodyPr anchor="ctr" lIns="0"/>
          <a:lstStyle/>
          <a:p>
            <a:pPr algn="l"/>
            <a:fld id="{679EF615-E246-4FA6-9E75-123AAEB83405}" type="slidenum">
              <a:rPr lang="en-US" smtClean="0" sz="1200" b="1">
                <a:solidFill>
                  <a:srgbClr val="2A206A"/>
                </a:solidFill>
                <a:latin typeface="DiodrumArabic-Semibold"/>
                <a:cs typeface="DiodrumArabic-Semibold"/>
              </a:rPr>
              <a:pPr/>
              <a:t>14</a:t>
            </a:fld>
            <a:endParaRPr lang="en-PH" dirty="0"/>
          </a:p>
        </p:txBody>
      </p:sp>
      <p:sp>
        <p:nvSpPr>
          <p:cNvPr id="3" name="TextBox 2"/>
          <p:cNvSpPr txBox="1"/>
          <p:nvPr/>
        </p:nvSpPr>
        <p:spPr>
          <a:xfrm>
            <a:off x="1234440" y="155448"/>
            <a:ext cx="105613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  <a:noAutofit/>
          </a:bodyPr>
          <a:lstStyle/>
          <a:p>
            <a:pPr algn="r" rtl="1"/>
            <a:r>
              <a:rPr lang="ar-SA" sz="2400" b="0" dirty="0">
                <a:solidFill>
                  <a:srgbClr val="5D2597"/>
                </a:solidFill>
                <a:latin typeface="DiodrumArabic-Bold" pitchFamily="2" charset="-78"/>
                <a:cs typeface="DiodrumArabic-Bold" pitchFamily="2" charset="-78"/>
              </a:rPr>
              <a:t>2.3  </a:t>
            </a:r>
            <a:r>
              <a:rPr lang="ar-SA" sz="2400" b="0" dirty="0">
                <a:solidFill>
                  <a:srgbClr val="2A206A"/>
                </a:solidFill>
                <a:latin typeface="DiodrumArabic-Bold" pitchFamily="2" charset="-78"/>
                <a:cs typeface="DiodrumArabic-Bold" pitchFamily="2" charset="-78"/>
              </a:rPr>
              <a:t>جائزة الحكومة الرقمية لدول مجلس التعاون لدول الخليج العربية 2026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" y="795528"/>
            <a:ext cx="11420856" cy="0"/>
          </a:xfrm>
          <a:prstGeom prst="line">
            <a:avLst/>
          </a:prstGeom>
          <a:ln w="28575">
            <a:gradFill>
              <a:gsLst>
                <a:gs pos="0">
                  <a:srgbClr val="00ABAF"/>
                </a:gs>
                <a:gs pos="100000">
                  <a:srgbClr val="7C32C9"/>
                </a:gs>
              </a:gsLst>
              <a:lin ang="0" scaled="1"/>
            </a:gradFill>
          </a:ln>
        </p:spPr>
      </p:cxnSp>
      <p:sp>
        <p:nvSpPr>
          <p:cNvPr id="5" name="Rounded Rectangle 4"/>
          <p:cNvSpPr/>
          <p:nvPr/>
        </p:nvSpPr>
        <p:spPr>
          <a:xfrm>
            <a:off x="3108960" y="1143000"/>
            <a:ext cx="8686800" cy="914400"/>
          </a:xfrm>
          <a:prstGeom prst="roundRect">
            <a:avLst>
              <a:gd name="adj" fmla="val 12000"/>
            </a:avLst>
          </a:prstGeom>
          <a:gradFill>
            <a:gsLst>
              <a:gs pos="0">
                <a:srgbClr val="1D164B"/>
              </a:gs>
              <a:gs pos="90000">
                <a:srgbClr val="3B2D8A"/>
              </a:gs>
            </a:gsLst>
            <a:lin ang="2700000" scaled="1"/>
          </a:gradFill>
          <a:ln>
            <a:noFill/>
          </a:ln>
          <a:effectLst>
            <a:outerShdw blurRad="76200" dist="23812" dir="5400000" rotWithShape="0">
              <a:srgbClr val="24135F">
                <a:alpha val="12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3337560" y="1252728"/>
            <a:ext cx="8229600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  <a:noAutofit/>
          </a:bodyPr>
          <a:lstStyle/>
          <a:p>
            <a:pPr algn="r" rtl="1">
              <a:lnSpc>
                <a:spcPct val="125000"/>
              </a:lnSpc>
            </a:pPr>
            <a:r>
              <a:rPr lang="ar-SA" sz="1250" b="0" dirty="0">
                <a:solidFill>
                  <a:srgbClr val="FFFFFF"/>
                </a:solidFill>
                <a:latin typeface="DiodrumArabic-Medium" pitchFamily="2" charset="-78"/>
                <a:cs typeface="DiodrumArabic-Medium" pitchFamily="2" charset="-78"/>
              </a:rPr>
              <a:t>مشاركة برنامج قدراتك في جائزة الحكومة الرقمية الخليجية 2026 (الدورة السابعة – مملكة البحرين) ضمن فئة «أفضل مبادرة حكومية لبناء الكفاءات الرقمية».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52728"/>
            <a:ext cx="2560320" cy="66020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709160" y="2286000"/>
            <a:ext cx="70866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1E0EC"/>
            </a:solidFill>
          </a:ln>
          <a:effectLst>
            <a:outerShdw blurRad="76200" dist="23812" dir="5400000" rotWithShape="0">
              <a:srgbClr val="24135F">
                <a:alpha val="12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910328" y="2432304"/>
            <a:ext cx="668426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  <a:noAutofit/>
          </a:bodyPr>
          <a:lstStyle/>
          <a:p>
            <a:pPr algn="r" rtl="1"/>
            <a:r>
              <a:rPr lang="ar-SA" sz="1350" b="0" dirty="0">
                <a:solidFill>
                  <a:srgbClr val="7C32C9"/>
                </a:solidFill>
                <a:latin typeface="DiodrumArabic-Bold" pitchFamily="2" charset="-78"/>
                <a:cs typeface="DiodrumArabic-Bold" pitchFamily="2" charset="-78"/>
              </a:rPr>
              <a:t>رحلة المشاركة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910328" y="2834640"/>
            <a:ext cx="6684264" cy="0"/>
          </a:xfrm>
          <a:prstGeom prst="line">
            <a:avLst/>
          </a:prstGeom>
          <a:ln w="9525">
            <a:solidFill>
              <a:srgbClr val="E1E0EC"/>
            </a:solidFill>
          </a:ln>
        </p:spPr>
      </p:cxnSp>
      <p:cxnSp>
        <p:nvCxnSpPr>
          <p:cNvPr id="11" name="Connector 10"/>
          <p:cNvCxnSpPr/>
          <p:nvPr/>
        </p:nvCxnSpPr>
        <p:spPr>
          <a:xfrm>
            <a:off x="6042660" y="3264408"/>
            <a:ext cx="4419600" cy="0"/>
          </a:xfrm>
          <a:prstGeom prst="line">
            <a:avLst/>
          </a:prstGeom>
          <a:ln w="25400">
            <a:solidFill>
              <a:srgbClr val="E1E0EC"/>
            </a:solidFill>
          </a:ln>
        </p:spPr>
      </p:cxnSp>
      <p:sp>
        <p:nvSpPr>
          <p:cNvPr id="12" name="Oval 11"/>
          <p:cNvSpPr/>
          <p:nvPr/>
        </p:nvSpPr>
        <p:spPr>
          <a:xfrm>
            <a:off x="10352532" y="3154680"/>
            <a:ext cx="219456" cy="219456"/>
          </a:xfrm>
          <a:prstGeom prst="ellipse">
            <a:avLst/>
          </a:prstGeom>
          <a:solidFill>
            <a:srgbClr val="1CC182"/>
          </a:solidFill>
          <a:ln w="1587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57360" y="2834640"/>
            <a:ext cx="2209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  <a:noAutofit/>
          </a:bodyPr>
          <a:lstStyle/>
          <a:p>
            <a:pPr algn="ctr" rtl="1"/>
            <a:r>
              <a:rPr lang="ar-SA" sz="1000" b="0" dirty="0">
                <a:solidFill>
                  <a:srgbClr val="00ABAF"/>
                </a:solidFill>
                <a:latin typeface="DiodrumArabic-Semibold" pitchFamily="2" charset="-78"/>
                <a:cs typeface="DiodrumArabic-Semibold" pitchFamily="2" charset="-78"/>
              </a:rPr>
              <a:t>1 يوليو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57360" y="3447288"/>
            <a:ext cx="2209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  <a:noAutofit/>
          </a:bodyPr>
          <a:lstStyle/>
          <a:p>
            <a:pPr algn="ctr" rtl="1"/>
            <a:r>
              <a:rPr lang="ar-SA" sz="1100" b="0" dirty="0">
                <a:solidFill>
                  <a:srgbClr val="2A206A"/>
                </a:solidFill>
                <a:latin typeface="DiodrumArabic-Bold" pitchFamily="2" charset="-78"/>
                <a:cs typeface="DiodrumArabic-Bold" pitchFamily="2" charset="-78"/>
              </a:rPr>
              <a:t>التسجيل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57360" y="3703320"/>
            <a:ext cx="2209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noAutofit/>
          </a:bodyPr>
          <a:lstStyle/>
          <a:p>
            <a:pPr algn="ctr" rtl="1">
              <a:lnSpc>
                <a:spcPct val="105000"/>
              </a:lnSpc>
            </a:pPr>
            <a:r>
              <a:rPr lang="ar-SA" sz="950" b="0" dirty="0">
                <a:solidFill>
                  <a:srgbClr val="333333"/>
                </a:solidFill>
                <a:latin typeface="DiodrumArabic-Regular" pitchFamily="2" charset="-78"/>
                <a:cs typeface="DiodrumArabic-Regular" pitchFamily="2" charset="-78"/>
              </a:rPr>
              <a:t>التسجيل والمشاركة ورفع الملفات</a:t>
            </a:r>
          </a:p>
        </p:txBody>
      </p:sp>
      <p:sp>
        <p:nvSpPr>
          <p:cNvPr id="16" name="Oval 15"/>
          <p:cNvSpPr/>
          <p:nvPr/>
        </p:nvSpPr>
        <p:spPr>
          <a:xfrm>
            <a:off x="8142732" y="3154680"/>
            <a:ext cx="219456" cy="219456"/>
          </a:xfrm>
          <a:prstGeom prst="ellipse">
            <a:avLst/>
          </a:prstGeom>
          <a:solidFill>
            <a:srgbClr val="7C32C9"/>
          </a:solidFill>
          <a:ln w="1587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47560" y="2834640"/>
            <a:ext cx="2209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  <a:noAutofit/>
          </a:bodyPr>
          <a:lstStyle/>
          <a:p>
            <a:pPr algn="ctr" rtl="1"/>
            <a:r>
              <a:rPr lang="ar-SA" sz="1000" b="0" dirty="0">
                <a:solidFill>
                  <a:srgbClr val="00ABAF"/>
                </a:solidFill>
                <a:latin typeface="DiodrumArabic-Semibold" pitchFamily="2" charset="-78"/>
                <a:cs typeface="DiodrumArabic-Semibold" pitchFamily="2" charset="-78"/>
              </a:rPr>
              <a:t>1 سبتمبر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47560" y="3447288"/>
            <a:ext cx="2209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  <a:noAutofit/>
          </a:bodyPr>
          <a:lstStyle/>
          <a:p>
            <a:pPr algn="ctr" rtl="1"/>
            <a:r>
              <a:rPr lang="ar-SA" sz="1100" b="0" dirty="0">
                <a:solidFill>
                  <a:srgbClr val="2A206A"/>
                </a:solidFill>
                <a:latin typeface="DiodrumArabic-Bold" pitchFamily="2" charset="-78"/>
                <a:cs typeface="DiodrumArabic-Bold" pitchFamily="2" charset="-78"/>
              </a:rPr>
              <a:t>مرحلة التحكيم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47560" y="3703320"/>
            <a:ext cx="2209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noAutofit/>
          </a:bodyPr>
          <a:lstStyle/>
          <a:p>
            <a:pPr algn="ctr" rtl="1">
              <a:lnSpc>
                <a:spcPct val="105000"/>
              </a:lnSpc>
            </a:pPr>
            <a:r>
              <a:rPr lang="ar-SA" sz="950" b="0" dirty="0">
                <a:solidFill>
                  <a:srgbClr val="333333"/>
                </a:solidFill>
                <a:latin typeface="DiodrumArabic-Regular" pitchFamily="2" charset="-78"/>
                <a:cs typeface="DiodrumArabic-Regular" pitchFamily="2" charset="-78"/>
              </a:rPr>
              <a:t>انتقال المشاركة إلى مرحلة التحكيم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95260" y="2587752"/>
            <a:ext cx="914400" cy="228600"/>
          </a:xfrm>
          <a:prstGeom prst="roundRect">
            <a:avLst>
              <a:gd name="adj" fmla="val 50000"/>
            </a:avLst>
          </a:prstGeom>
          <a:solidFill>
            <a:srgbClr val="7C32C9"/>
          </a:solidFill>
          <a:ln>
            <a:noFill/>
          </a:ln>
        </p:spPr>
        <p:txBody>
          <a:bodyPr rtlCol="0" anchor="ctr" lIns="73152" rIns="73152" tIns="0" bIns="0"/>
          <a:lstStyle/>
          <a:p>
            <a:pPr algn="ctr" rtl="1"/>
            <a:r>
              <a:rPr lang="ar-SA" sz="850" b="0" dirty="0">
                <a:solidFill>
                  <a:srgbClr val="FFFFFF"/>
                </a:solidFill>
                <a:latin typeface="DiodrumArabic-Semibold" pitchFamily="2" charset="-78"/>
                <a:cs typeface="DiodrumArabic-Semibold" pitchFamily="2" charset="-78"/>
              </a:rPr>
              <a:t>المرحلة الحالية</a:t>
            </a:r>
          </a:p>
        </p:txBody>
      </p:sp>
      <p:sp>
        <p:nvSpPr>
          <p:cNvPr id="21" name="Oval 20"/>
          <p:cNvSpPr/>
          <p:nvPr/>
        </p:nvSpPr>
        <p:spPr>
          <a:xfrm>
            <a:off x="5932932" y="3154680"/>
            <a:ext cx="219456" cy="219456"/>
          </a:xfrm>
          <a:prstGeom prst="ellipse">
            <a:avLst/>
          </a:prstGeom>
          <a:solidFill>
            <a:srgbClr val="C9C6DD"/>
          </a:solidFill>
          <a:ln w="1587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37760" y="2834640"/>
            <a:ext cx="2209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  <a:noAutofit/>
          </a:bodyPr>
          <a:lstStyle/>
          <a:p>
            <a:pPr algn="ctr" rtl="1"/>
            <a:r>
              <a:rPr lang="ar-SA" sz="1000" b="0" dirty="0">
                <a:solidFill>
                  <a:srgbClr val="00ABAF"/>
                </a:solidFill>
                <a:latin typeface="DiodrumArabic-Semibold" pitchFamily="2" charset="-78"/>
                <a:cs typeface="DiodrumArabic-Semibold" pitchFamily="2" charset="-78"/>
              </a:rPr>
              <a:t>8 أكتوبر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60" y="3447288"/>
            <a:ext cx="2209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  <a:noAutofit/>
          </a:bodyPr>
          <a:lstStyle/>
          <a:p>
            <a:pPr algn="ctr" rtl="1"/>
            <a:r>
              <a:rPr lang="ar-SA" sz="1100" b="0" dirty="0">
                <a:solidFill>
                  <a:srgbClr val="2A206A"/>
                </a:solidFill>
                <a:latin typeface="DiodrumArabic-Bold" pitchFamily="2" charset="-78"/>
                <a:cs typeface="DiodrumArabic-Bold" pitchFamily="2" charset="-78"/>
              </a:rPr>
              <a:t>حفل تكريم الفائزين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7760" y="3703320"/>
            <a:ext cx="2209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noAutofit/>
          </a:bodyPr>
          <a:lstStyle/>
          <a:p>
            <a:pPr algn="ctr" rtl="1">
              <a:lnSpc>
                <a:spcPct val="105000"/>
              </a:lnSpc>
            </a:pPr>
            <a:r>
              <a:rPr lang="ar-SA" sz="950" b="0" dirty="0">
                <a:solidFill>
                  <a:srgbClr val="333333"/>
                </a:solidFill>
                <a:latin typeface="DiodrumArabic-Regular" pitchFamily="2" charset="-78"/>
                <a:cs typeface="DiodrumArabic-Regular" pitchFamily="2" charset="-78"/>
              </a:rPr>
              <a:t>إعلان النتيجة النهائية للفائزين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1480" y="2286000"/>
            <a:ext cx="4023360" cy="1828800"/>
          </a:xfrm>
          <a:prstGeom prst="roundRect">
            <a:avLst>
              <a:gd name="adj" fmla="val 5000"/>
            </a:avLst>
          </a:prstGeom>
          <a:gradFill>
            <a:gsLst>
              <a:gs pos="0">
                <a:srgbClr val="1D164B"/>
              </a:gs>
              <a:gs pos="90000">
                <a:srgbClr val="3B2D8A"/>
              </a:gs>
            </a:gsLst>
            <a:lin ang="2700000" scaled="1"/>
          </a:gradFill>
          <a:ln>
            <a:noFill/>
          </a:ln>
          <a:effectLst>
            <a:outerShdw blurRad="76200" dist="23812" dir="5400000" rotWithShape="0">
              <a:srgbClr val="24135F">
                <a:alpha val="12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12648" y="2423160"/>
            <a:ext cx="362102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  <a:noAutofit/>
          </a:bodyPr>
          <a:lstStyle/>
          <a:p>
            <a:pPr algn="r" rtl="1"/>
            <a:r>
              <a:rPr lang="ar-SA" sz="1350" b="0" dirty="0">
                <a:solidFill>
                  <a:srgbClr val="1CC182"/>
                </a:solidFill>
                <a:latin typeface="DiodrumArabic-Bold" pitchFamily="2" charset="-78"/>
                <a:cs typeface="DiodrumArabic-Bold" pitchFamily="2" charset="-78"/>
              </a:rPr>
              <a:t>الحالة الراهنة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" y="2834640"/>
            <a:ext cx="3621024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noAutofit/>
          </a:bodyPr>
          <a:lstStyle/>
          <a:p>
            <a:pPr algn="r" rtl="1">
              <a:lnSpc>
                <a:spcPct val="125000"/>
              </a:lnSpc>
            </a:pPr>
            <a:r>
              <a:rPr lang="ar-SA" sz="1150" b="0" dirty="0">
                <a:solidFill>
                  <a:srgbClr val="FFFFFF"/>
                </a:solidFill>
                <a:latin typeface="DiodrumArabic-Medium" pitchFamily="2" charset="-78"/>
                <a:cs typeface="DiodrumArabic-Medium" pitchFamily="2" charset="-78"/>
              </a:rPr>
              <a:t>تم استكمال متطلبات المشاركة ورفع الملفات في موعدها، وانتقلت المشاركة إلى مرحلة التحكيم اعتباراً من 1 سبتمبر 2026. إعلان النتائج وحفل التكريم في 8 أكتوبر 2026.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1480" y="4343400"/>
            <a:ext cx="11384280" cy="1371600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9525">
            <a:solidFill>
              <a:srgbClr val="E1E0EC"/>
            </a:solidFill>
          </a:ln>
          <a:effectLst>
            <a:outerShdw blurRad="76200" dist="23812" dir="5400000" rotWithShape="0">
              <a:srgbClr val="24135F">
                <a:alpha val="12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12648" y="4489704"/>
            <a:ext cx="1098194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  <a:noAutofit/>
          </a:bodyPr>
          <a:lstStyle/>
          <a:p>
            <a:pPr algn="r" rtl="1"/>
            <a:r>
              <a:rPr lang="ar-SA" sz="1350" b="0" dirty="0">
                <a:solidFill>
                  <a:srgbClr val="7C32C9"/>
                </a:solidFill>
                <a:latin typeface="DiodrumArabic-Bold" pitchFamily="2" charset="-78"/>
                <a:cs typeface="DiodrumArabic-Bold" pitchFamily="2" charset="-78"/>
              </a:rPr>
              <a:t>الملفات الداعمة للمشاركة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12648" y="4892040"/>
            <a:ext cx="10981944" cy="0"/>
          </a:xfrm>
          <a:prstGeom prst="line">
            <a:avLst/>
          </a:prstGeom>
          <a:ln w="9525">
            <a:solidFill>
              <a:srgbClr val="E1E0EC"/>
            </a:solidFill>
          </a:ln>
        </p:spPr>
      </p:cxnSp>
      <p:sp>
        <p:nvSpPr>
          <p:cNvPr id="31" name="Oval 30"/>
          <p:cNvSpPr/>
          <p:nvPr/>
        </p:nvSpPr>
        <p:spPr>
          <a:xfrm>
            <a:off x="11210544" y="5056632"/>
            <a:ext cx="310896" cy="310896"/>
          </a:xfrm>
          <a:prstGeom prst="ellipse">
            <a:avLst/>
          </a:prstGeom>
          <a:solidFill>
            <a:srgbClr val="1CC1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210544" y="5056632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  <a:noAutofit/>
          </a:bodyPr>
          <a:lstStyle/>
          <a:p>
            <a:pPr algn="ctr" rtl="1"/>
            <a:r>
              <a:rPr lang="ar-SA" sz="1100" b="0" dirty="0">
                <a:solidFill>
                  <a:srgbClr val="FFFFFF"/>
                </a:solidFill>
                <a:latin typeface="DiodrumArabic-Bold" pitchFamily="2" charset="-78"/>
                <a:cs typeface="DiodrumArabic-Bold" pitchFamily="2" charset="-78"/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25383" y="5001768"/>
            <a:ext cx="31120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  <a:noAutofit/>
          </a:bodyPr>
          <a:lstStyle/>
          <a:p>
            <a:pPr algn="r" rtl="1"/>
            <a:r>
              <a:rPr lang="ar-SA" sz="1200" b="0" dirty="0">
                <a:solidFill>
                  <a:srgbClr val="2A206A"/>
                </a:solidFill>
                <a:latin typeface="DiodrumArabic-Bold" pitchFamily="2" charset="-78"/>
                <a:cs typeface="DiodrumArabic-Bold" pitchFamily="2" charset="-78"/>
              </a:rPr>
              <a:t>عرض تعريفي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25383" y="5294376"/>
            <a:ext cx="31120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noAutofit/>
          </a:bodyPr>
          <a:lstStyle/>
          <a:p>
            <a:pPr algn="r" rtl="1">
              <a:lnSpc>
                <a:spcPct val="110000"/>
              </a:lnSpc>
            </a:pPr>
            <a:r>
              <a:rPr lang="ar-SA" sz="1000" b="0" dirty="0">
                <a:solidFill>
                  <a:srgbClr val="333333"/>
                </a:solidFill>
                <a:latin typeface="DiodrumArabic-Regular" pitchFamily="2" charset="-78"/>
                <a:cs typeface="DiodrumArabic-Regular" pitchFamily="2" charset="-78"/>
              </a:rPr>
              <a:t>عرض يوضح المبادرة ونموذجها ونتائجها</a:t>
            </a:r>
          </a:p>
        </p:txBody>
      </p:sp>
      <p:sp>
        <p:nvSpPr>
          <p:cNvPr id="35" name="Oval 34"/>
          <p:cNvSpPr/>
          <p:nvPr/>
        </p:nvSpPr>
        <p:spPr>
          <a:xfrm>
            <a:off x="7549895" y="5056632"/>
            <a:ext cx="310896" cy="310896"/>
          </a:xfrm>
          <a:prstGeom prst="ellipse">
            <a:avLst/>
          </a:prstGeom>
          <a:solidFill>
            <a:srgbClr val="1CC1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49895" y="5056632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  <a:noAutofit/>
          </a:bodyPr>
          <a:lstStyle/>
          <a:p>
            <a:pPr algn="ctr" rtl="1"/>
            <a:r>
              <a:rPr lang="ar-SA" sz="1100" b="0" dirty="0">
                <a:solidFill>
                  <a:srgbClr val="FFFFFF"/>
                </a:solidFill>
                <a:latin typeface="DiodrumArabic-Bold" pitchFamily="2" charset="-78"/>
                <a:cs typeface="DiodrumArabic-Bold" pitchFamily="2" charset="-78"/>
              </a:rP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64735" y="5001768"/>
            <a:ext cx="31120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  <a:noAutofit/>
          </a:bodyPr>
          <a:lstStyle/>
          <a:p>
            <a:pPr algn="r" rtl="1"/>
            <a:r>
              <a:rPr lang="ar-SA" sz="1200" b="0" dirty="0">
                <a:solidFill>
                  <a:srgbClr val="2A206A"/>
                </a:solidFill>
                <a:latin typeface="DiodrumArabic-Bold" pitchFamily="2" charset="-78"/>
                <a:cs typeface="DiodrumArabic-Bold" pitchFamily="2" charset="-78"/>
              </a:rPr>
              <a:t>فيديو تعريفي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64735" y="5294376"/>
            <a:ext cx="31120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noAutofit/>
          </a:bodyPr>
          <a:lstStyle/>
          <a:p>
            <a:pPr algn="r" rtl="1">
              <a:lnSpc>
                <a:spcPct val="110000"/>
              </a:lnSpc>
            </a:pPr>
            <a:r>
              <a:rPr lang="ar-SA" sz="1000" b="0" dirty="0">
                <a:solidFill>
                  <a:srgbClr val="333333"/>
                </a:solidFill>
                <a:latin typeface="DiodrumArabic-Regular" pitchFamily="2" charset="-78"/>
                <a:cs typeface="DiodrumArabic-Regular" pitchFamily="2" charset="-78"/>
              </a:rPr>
              <a:t>فيديو يعرّف بالمبادرة وأبرز نتائجها وأثرها</a:t>
            </a:r>
          </a:p>
        </p:txBody>
      </p:sp>
      <p:sp>
        <p:nvSpPr>
          <p:cNvPr id="39" name="Oval 38"/>
          <p:cNvSpPr/>
          <p:nvPr/>
        </p:nvSpPr>
        <p:spPr>
          <a:xfrm>
            <a:off x="3889247" y="5056632"/>
            <a:ext cx="310896" cy="310896"/>
          </a:xfrm>
          <a:prstGeom prst="ellipse">
            <a:avLst/>
          </a:prstGeom>
          <a:solidFill>
            <a:srgbClr val="1CC1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889247" y="5056632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  <a:noAutofit/>
          </a:bodyPr>
          <a:lstStyle/>
          <a:p>
            <a:pPr algn="ctr" rtl="1"/>
            <a:r>
              <a:rPr lang="ar-SA" sz="1100" b="0" dirty="0">
                <a:solidFill>
                  <a:srgbClr val="FFFFFF"/>
                </a:solidFill>
                <a:latin typeface="DiodrumArabic-Bold" pitchFamily="2" charset="-78"/>
                <a:cs typeface="DiodrumArabic-Bold" pitchFamily="2" charset="-78"/>
              </a:rPr>
              <a:t>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4087" y="5001768"/>
            <a:ext cx="31120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  <a:noAutofit/>
          </a:bodyPr>
          <a:lstStyle/>
          <a:p>
            <a:pPr algn="r" rtl="1"/>
            <a:r>
              <a:rPr lang="ar-SA" sz="1200" b="0" dirty="0">
                <a:solidFill>
                  <a:srgbClr val="2A206A"/>
                </a:solidFill>
                <a:latin typeface="DiodrumArabic-Bold" pitchFamily="2" charset="-78"/>
                <a:cs typeface="DiodrumArabic-Bold" pitchFamily="2" charset="-78"/>
              </a:rPr>
              <a:t>ملف الإجابة على الأسئلة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4087" y="5294376"/>
            <a:ext cx="31120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noAutofit/>
          </a:bodyPr>
          <a:lstStyle/>
          <a:p>
            <a:pPr algn="r" rtl="1">
              <a:lnSpc>
                <a:spcPct val="110000"/>
              </a:lnSpc>
            </a:pPr>
            <a:r>
              <a:rPr lang="ar-SA" sz="1000" b="0" dirty="0">
                <a:solidFill>
                  <a:srgbClr val="333333"/>
                </a:solidFill>
                <a:latin typeface="DiodrumArabic-Regular" pitchFamily="2" charset="-78"/>
                <a:cs typeface="DiodrumArabic-Regular" pitchFamily="2" charset="-78"/>
              </a:rPr>
              <a:t>ملف المشاركة الرئيسي وإجابات متطلبات ونموذج الجائزة</a:t>
            </a:r>
          </a:p>
        </p:txBody>
      </p:sp>
    </p:spTree>
    <p:extLst>
      <p:ext uri="{BB962C8B-B14F-4D97-AF65-F5344CB8AC3E}">
        <p14:creationId xmlns:p14="http://schemas.microsoft.com/office/powerpoint/2010/main" val="3468081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5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g-num"/>
          <p:cNvSpPr txBox="1"/>
          <p:nvPr/>
        </p:nvSpPr>
        <p:spPr>
          <a:xfrm>
            <a:off x="255130" y="2044007"/>
            <a:ext cx="2638543" cy="276998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defTabSz="812810">
              <a:buClrTx/>
            </a:pPr>
            <a:r>
              <a:rPr lang="ar-SA" sz="18000" kern="1200" dirty="0">
                <a:solidFill>
                  <a:srgbClr val="1CC182"/>
                </a:solidFill>
                <a:latin typeface="DiodrumArabic-Bold"/>
                <a:cs typeface="DiodrumArabic-Bold"/>
              </a:rPr>
              <a:t>03</a:t>
            </a:r>
            <a:endParaRPr lang="en-US" sz="18000" kern="1200" dirty="0">
              <a:solidFill>
                <a:srgbClr val="1CC182"/>
              </a:solidFill>
              <a:latin typeface="DiodrumArabic-Bold"/>
              <a:cs typeface="DiodrumArabic-Bold"/>
            </a:endParaRPr>
          </a:p>
        </p:txBody>
      </p:sp>
      <p:sp>
        <p:nvSpPr>
          <p:cNvPr id="6" name="title"/>
          <p:cNvSpPr txBox="1"/>
          <p:nvPr/>
        </p:nvSpPr>
        <p:spPr>
          <a:xfrm>
            <a:off x="4775200" y="3132668"/>
            <a:ext cx="6705600" cy="4994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defTabSz="812810" rtl="1">
              <a:lnSpc>
                <a:spcPct val="120000"/>
              </a:lnSpc>
              <a:buClrTx/>
            </a:pPr>
            <a:r>
              <a:rPr lang="ar-SA" sz="2999" kern="1200" dirty="0">
                <a:solidFill>
                  <a:srgbClr val="FFFFFF"/>
                </a:solidFill>
                <a:latin typeface="DiodrumArabic-Bold"/>
                <a:ea typeface="DiodrumArabic-Bold"/>
                <a:cs typeface="DiodrumArabic-Bold"/>
              </a:rPr>
              <a:t>الخلاصة والخطوات القادمة</a:t>
            </a:r>
          </a:p>
        </p:txBody>
      </p:sp>
      <p:sp>
        <p:nvSpPr>
          <p:cNvPr id="22" name="prog1">
            <a:extLst>
              <a:ext uri="{FF2B5EF4-FFF2-40B4-BE49-F238E27FC236}">
                <a16:creationId xmlns:a16="http://schemas.microsoft.com/office/drawing/2014/main" id="{ADB9E06E-78AB-4BA2-9740-A2FD03A37D13}"/>
              </a:ext>
            </a:extLst>
          </p:cNvPr>
          <p:cNvSpPr/>
          <p:nvPr/>
        </p:nvSpPr>
        <p:spPr>
          <a:xfrm>
            <a:off x="10972800" y="2159565"/>
            <a:ext cx="508000" cy="65476"/>
          </a:xfrm>
          <a:prstGeom prst="roundRect">
            <a:avLst>
              <a:gd name="adj" fmla="val 50000"/>
            </a:avLst>
          </a:prstGeom>
          <a:solidFill>
            <a:srgbClr val="FFFFFF">
              <a:alpha val="20000"/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12810">
              <a:buClrTx/>
            </a:pPr>
            <a:endParaRPr sz="3200" kern="1200">
              <a:solidFill>
                <a:prstClr val="white"/>
              </a:solidFill>
              <a:latin typeface="DiodrumArabic-Regular"/>
              <a:cs typeface="DiodrumArabic-Regular"/>
            </a:endParaRPr>
          </a:p>
        </p:txBody>
      </p:sp>
      <p:sp>
        <p:nvSpPr>
          <p:cNvPr id="23" name="prog2">
            <a:extLst>
              <a:ext uri="{FF2B5EF4-FFF2-40B4-BE49-F238E27FC236}">
                <a16:creationId xmlns:a16="http://schemas.microsoft.com/office/drawing/2014/main" id="{B9A1625D-429E-4683-B097-A095A36C72E1}"/>
              </a:ext>
            </a:extLst>
          </p:cNvPr>
          <p:cNvSpPr/>
          <p:nvPr/>
        </p:nvSpPr>
        <p:spPr>
          <a:xfrm>
            <a:off x="10363200" y="2159565"/>
            <a:ext cx="508000" cy="65476"/>
          </a:xfrm>
          <a:prstGeom prst="roundRect">
            <a:avLst>
              <a:gd name="adj" fmla="val 50000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12810">
              <a:buClrTx/>
            </a:pPr>
            <a:endParaRPr sz="3200" kern="1200">
              <a:solidFill>
                <a:prstClr val="white"/>
              </a:solidFill>
              <a:latin typeface="DiodrumArabic-Regular"/>
              <a:cs typeface="DiodrumArabic-Regular"/>
            </a:endParaRPr>
          </a:p>
        </p:txBody>
      </p:sp>
      <p:sp>
        <p:nvSpPr>
          <p:cNvPr id="9901" name="prog3">
            <a:extLst>
              <a:ext uri="{FF2B5EF4-FFF2-40B4-BE49-F238E27FC236}">
                <a16:creationId xmlns:a16="http://schemas.microsoft.com/office/drawing/2014/main" id="{B9A1625D-429E-4683-B097-A095A36C72E1}"/>
              </a:ext>
            </a:extLst>
          </p:cNvPr>
          <p:cNvSpPr/>
          <p:nvPr/>
        </p:nvSpPr>
        <p:spPr>
          <a:xfrm>
            <a:off x="9753600" y="2159565"/>
            <a:ext cx="508000" cy="65476"/>
          </a:xfrm>
          <a:prstGeom prst="roundRect">
            <a:avLst>
              <a:gd name="adj" fmla="val 50000"/>
            </a:avLst>
          </a:prstGeom>
          <a:solidFill>
            <a:srgbClr val="1CC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12810">
              <a:buClrTx/>
            </a:pPr>
            <a:endParaRPr sz="3200" kern="1200">
              <a:solidFill>
                <a:prstClr val="white"/>
              </a:solidFill>
              <a:latin typeface="DiodrumArabic-Regular"/>
              <a:cs typeface="DiodrumArabic-Regular"/>
            </a:endParaRPr>
          </a:p>
        </p:txBody>
      </p:sp>
      <p:sp>
        <p:nvSpPr>
          <p:cNvPr id="9902" name="TextBox 9901"/>
          <p:cNvSpPr txBox="1"/>
          <p:nvPr/>
        </p:nvSpPr>
        <p:spPr>
          <a:xfrm>
            <a:off x="4775200" y="3818468"/>
            <a:ext cx="670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noAutofit/>
          </a:bodyPr>
          <a:lstStyle/>
          <a:p>
            <a:pPr algn="r" rtl="1"/>
            <a:r>
              <a:rPr lang="ar-SA" sz="1500" b="0" dirty="0">
                <a:solidFill>
                  <a:srgbClr val="9DEBC8"/>
                </a:solidFill>
                <a:latin typeface="DiodrumArabic-Semibold" pitchFamily="2" charset="-78"/>
                <a:cs typeface="DiodrumArabic-Semibold" pitchFamily="2" charset="-78"/>
              </a:rPr>
              <a:t>المخاطر ونقاط الدعم المطلوبة، وخطة الفترة سبتمبر – ديسمبر 2026</a:t>
            </a:r>
          </a:p>
        </p:txBody>
      </p:sp>
    </p:spTree>
    <p:extLst>
      <p:ext uri="{BB962C8B-B14F-4D97-AF65-F5344CB8AC3E}">
        <p14:creationId xmlns:p14="http://schemas.microsoft.com/office/powerpoint/2010/main" val="851196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F021ADDF-8E2C-45B8-BF02-B7B1F89E2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5224" y="455907"/>
            <a:ext cx="6975460" cy="522501"/>
          </a:xfrm>
        </p:spPr>
        <p:txBody>
          <a:bodyPr/>
          <a:lstStyle/>
          <a:p>
            <a:r>
              <a:rPr lang="ar-SA" sz="2000" dirty="0">
                <a:solidFill>
                  <a:schemeClr val="accent2">
                    <a:lumMod val="75000"/>
                  </a:schemeClr>
                </a:solidFill>
              </a:rPr>
              <a:t>الخلاصة والخطوات القادمة</a:t>
            </a:r>
            <a:endParaRPr lang="en-US" sz="2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7" name="s1-num-badge">
            <a:extLst>
              <a:ext uri="{FF2B5EF4-FFF2-40B4-BE49-F238E27FC236}">
                <a16:creationId xmlns:a16="http://schemas.microsoft.com/office/drawing/2014/main" id="{CD5DA493-5272-42FA-8365-A3966CC354D1}"/>
              </a:ext>
            </a:extLst>
          </p:cNvPr>
          <p:cNvSpPr/>
          <p:nvPr/>
        </p:nvSpPr>
        <p:spPr>
          <a:xfrm>
            <a:off x="10058400" y="398757"/>
            <a:ext cx="714462" cy="643659"/>
          </a:xfrm>
          <a:prstGeom prst="roundRect">
            <a:avLst>
              <a:gd name="adj" fmla="val 28599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2700000" scaled="1"/>
          </a:gradFill>
          <a:ln>
            <a:noFill/>
          </a:ln>
          <a:effectLst>
            <a:outerShdw blurRad="57150" dist="19050" dir="5400000" rotWithShape="0">
              <a:srgbClr val="24135F">
                <a:alpha val="25098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12810">
              <a:buClrTx/>
            </a:pPr>
            <a:endParaRPr sz="3200" kern="1200">
              <a:solidFill>
                <a:prstClr val="white"/>
              </a:solidFill>
              <a:latin typeface="DiodrumArabic-Regular"/>
              <a:cs typeface="DiodrumArabic-Regular"/>
            </a:endParaRPr>
          </a:p>
        </p:txBody>
      </p:sp>
      <p:sp>
        <p:nvSpPr>
          <p:cNvPr id="78" name="s1-num">
            <a:extLst>
              <a:ext uri="{FF2B5EF4-FFF2-40B4-BE49-F238E27FC236}">
                <a16:creationId xmlns:a16="http://schemas.microsoft.com/office/drawing/2014/main" id="{9D3DF26F-E9FA-4C13-87DC-40C0A14A2F2C}"/>
              </a:ext>
            </a:extLst>
          </p:cNvPr>
          <p:cNvSpPr txBox="1"/>
          <p:nvPr/>
        </p:nvSpPr>
        <p:spPr>
          <a:xfrm>
            <a:off x="10113264" y="493235"/>
            <a:ext cx="603504" cy="43088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 defTabSz="812810">
              <a:buClrTx/>
            </a:pPr>
            <a:r>
              <a:rPr lang="en-US" sz="2800" kern="1200" dirty="0">
                <a:solidFill>
                  <a:srgbClr val="FFFFFF"/>
                </a:solidFill>
                <a:latin typeface="DiodrumArabic-Bold"/>
                <a:ea typeface="DiodrumArabic-Bold"/>
                <a:cs typeface="DiodrumArabic-Bold"/>
              </a:rPr>
              <a:t>03</a:t>
            </a:r>
            <a:endParaRPr lang="en-US" sz="1932" kern="1200" dirty="0">
              <a:solidFill>
                <a:srgbClr val="FFFFFF"/>
              </a:solidFill>
              <a:latin typeface="DiodrumArabic-Bold"/>
              <a:ea typeface="DiodrumArabic-Bold"/>
              <a:cs typeface="DiodrumArabic-Bold"/>
            </a:endParaRPr>
          </a:p>
        </p:txBody>
      </p:sp>
      <p:sp>
        <p:nvSpPr>
          <p:cNvPr id="79" name="Title 12">
            <a:extLst>
              <a:ext uri="{FF2B5EF4-FFF2-40B4-BE49-F238E27FC236}">
                <a16:creationId xmlns:a16="http://schemas.microsoft.com/office/drawing/2014/main" id="{ADD2FCDD-A898-4E2E-84D7-0170DB3FFE6B}"/>
              </a:ext>
            </a:extLst>
          </p:cNvPr>
          <p:cNvSpPr txBox="1">
            <a:spLocks/>
          </p:cNvSpPr>
          <p:nvPr/>
        </p:nvSpPr>
        <p:spPr>
          <a:xfrm>
            <a:off x="1168273" y="3123883"/>
            <a:ext cx="9251950" cy="590931"/>
          </a:xfrm>
          <a:prstGeom prst="rect">
            <a:avLst/>
          </a:prstGeom>
        </p:spPr>
        <p:txBody>
          <a:bodyPr vert="horz" wrap="square" lIns="0" tIns="45720" rIns="0" bIns="45720" rtlCol="0" anchor="t">
            <a:spAutoFit/>
          </a:bodyPr>
          <a:lstStyle>
            <a:lvl1pPr algn="r" defTabSz="914332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chemeClr val="accent4"/>
                </a:solidFill>
                <a:latin typeface="DiodrumArabic-Bold" panose="00000800000000000000" pitchFamily="2" charset="-78"/>
                <a:ea typeface="+mj-ea"/>
                <a:cs typeface="DiodrumArabic-Bold" panose="00000800000000000000" pitchFamily="2" charset="-78"/>
              </a:defRPr>
            </a:lvl1pPr>
          </a:lstStyle>
          <a:p>
            <a:pPr>
              <a:buClrTx/>
              <a:buFontTx/>
            </a:pPr>
            <a:r>
              <a:rPr lang="ar-SA" sz="3600" dirty="0"/>
              <a:t>3.1 المخاطر ونقاط الدعم المطلوبة</a:t>
            </a:r>
          </a:p>
        </p:txBody>
      </p:sp>
      <p:sp>
        <p:nvSpPr>
          <p:cNvPr id="80" name="Slide Number Placeholder 1">
            <a:extLst>
              <a:ext uri="{FF2B5EF4-FFF2-40B4-BE49-F238E27FC236}">
                <a16:creationId xmlns:a16="http://schemas.microsoft.com/office/drawing/2014/main" id="{62A52D15-03C4-4D9B-AB50-612D2A833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11480" y="402336"/>
            <a:ext cx="822960" cy="640080"/>
          </a:xfrm>
        </p:spPr>
        <p:txBody>
          <a:bodyPr anchor="ctr" lIns="0"/>
          <a:lstStyle/>
          <a:p>
            <a:pPr algn="l"/>
            <a:fld id="{679EF615-E246-4FA6-9E75-123AAEB83405}" type="slidenum">
              <a:rPr lang="en-US" smtClean="0" sz="1200" b="1">
                <a:solidFill>
                  <a:srgbClr val="2A206A"/>
                </a:solidFill>
                <a:latin typeface="DiodrumArabic-Semibold"/>
                <a:cs typeface="DiodrumArabic-Semibold"/>
              </a:rPr>
              <a:pPr/>
              <a:t>4</a:t>
            </a:fld>
            <a:endParaRPr lang="en-PH" dirty="0"/>
          </a:p>
        </p:txBody>
      </p:sp>
      <p:sp>
        <p:nvSpPr>
          <p:cNvPr id="81" name="TextBox 80"/>
          <p:cNvSpPr txBox="1"/>
          <p:nvPr/>
        </p:nvSpPr>
        <p:spPr>
          <a:xfrm>
            <a:off x="1170432" y="3931920"/>
            <a:ext cx="925372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noAutofit/>
          </a:bodyPr>
          <a:lstStyle/>
          <a:p>
            <a:pPr algn="r" rtl="1"/>
            <a:r>
              <a:rPr lang="ar-SA" sz="1600" b="0" dirty="0">
                <a:solidFill>
                  <a:srgbClr val="00ABAF"/>
                </a:solidFill>
                <a:latin typeface="DiodrumArabic-Semibold" pitchFamily="2" charset="-78"/>
                <a:cs typeface="DiodrumArabic-Semibold" pitchFamily="2" charset="-78"/>
              </a:rPr>
              <a:t>ثلاثة تحديات رئيسية تتطلب قراراً أو دعماً من القيادة</a:t>
            </a:r>
          </a:p>
        </p:txBody>
      </p:sp>
    </p:spTree>
    <p:extLst>
      <p:ext uri="{BB962C8B-B14F-4D97-AF65-F5344CB8AC3E}">
        <p14:creationId xmlns:p14="http://schemas.microsoft.com/office/powerpoint/2010/main" val="2743612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692EA03-53D2-4479-8841-E541579E9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11480" y="155448"/>
            <a:ext cx="822960" cy="548640"/>
          </a:xfrm>
        </p:spPr>
        <p:txBody>
          <a:bodyPr anchor="ctr" lIns="0"/>
          <a:lstStyle/>
          <a:p>
            <a:pPr algn="l"/>
            <a:fld id="{679EF615-E246-4FA6-9E75-123AAEB83405}" type="slidenum">
              <a:rPr lang="en-US" smtClean="0" sz="1200" b="1">
                <a:solidFill>
                  <a:srgbClr val="2A206A"/>
                </a:solidFill>
                <a:latin typeface="DiodrumArabic-Semibold"/>
                <a:cs typeface="DiodrumArabic-Semibold"/>
              </a:rPr>
              <a:pPr/>
              <a:t>5</a:t>
            </a:fld>
            <a:endParaRPr lang="en-PH" dirty="0"/>
          </a:p>
        </p:txBody>
      </p:sp>
      <p:sp>
        <p:nvSpPr>
          <p:cNvPr id="3" name="TextBox 2"/>
          <p:cNvSpPr txBox="1"/>
          <p:nvPr/>
        </p:nvSpPr>
        <p:spPr>
          <a:xfrm>
            <a:off x="1234440" y="155448"/>
            <a:ext cx="105613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  <a:noAutofit/>
          </a:bodyPr>
          <a:lstStyle/>
          <a:p>
            <a:pPr algn="r" rtl="1"/>
            <a:r>
              <a:rPr lang="ar-SA" sz="2400" b="0" dirty="0">
                <a:solidFill>
                  <a:srgbClr val="5D2597"/>
                </a:solidFill>
                <a:latin typeface="DiodrumArabic-Bold" pitchFamily="2" charset="-78"/>
                <a:cs typeface="DiodrumArabic-Bold" pitchFamily="2" charset="-78"/>
              </a:rPr>
              <a:t>3.1  </a:t>
            </a:r>
            <a:r>
              <a:rPr lang="ar-SA" sz="2400" b="0" dirty="0">
                <a:solidFill>
                  <a:srgbClr val="2A206A"/>
                </a:solidFill>
                <a:latin typeface="DiodrumArabic-Bold" pitchFamily="2" charset="-78"/>
                <a:cs typeface="DiodrumArabic-Bold" pitchFamily="2" charset="-78"/>
              </a:rPr>
              <a:t>المخاطر ونقاط الدعم المطلوبة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" y="795528"/>
            <a:ext cx="11420856" cy="0"/>
          </a:xfrm>
          <a:prstGeom prst="line">
            <a:avLst/>
          </a:prstGeom>
          <a:ln w="28575">
            <a:gradFill>
              <a:gsLst>
                <a:gs pos="0">
                  <a:srgbClr val="00ABAF"/>
                </a:gs>
                <a:gs pos="100000">
                  <a:srgbClr val="7C32C9"/>
                </a:gs>
              </a:gsLst>
              <a:lin ang="0" scaled="1"/>
            </a:gradFill>
          </a:ln>
        </p:spPr>
      </p:cxnSp>
      <p:sp>
        <p:nvSpPr>
          <p:cNvPr id="5" name="TextBox 4"/>
          <p:cNvSpPr txBox="1"/>
          <p:nvPr/>
        </p:nvSpPr>
        <p:spPr>
          <a:xfrm>
            <a:off x="411480" y="914400"/>
            <a:ext cx="11384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  <a:noAutofit/>
          </a:bodyPr>
          <a:lstStyle/>
          <a:p>
            <a:pPr algn="r" rtl="1"/>
            <a:r>
              <a:rPr lang="ar-SA" sz="1300" b="0" dirty="0">
                <a:solidFill>
                  <a:srgbClr val="00ABAF"/>
                </a:solidFill>
                <a:latin typeface="DiodrumArabic-Semibold" pitchFamily="2" charset="-78"/>
                <a:cs typeface="DiodrumArabic-Semibold" pitchFamily="2" charset="-78"/>
              </a:rPr>
              <a:t>أبرز التحديات التي قد تؤثر على مستهدفات البرنامج، والإجراء المقترح لكل منها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371600"/>
          <a:ext cx="11384280" cy="3264408"/>
        </p:xfrm>
        <a:graphic>
          <a:graphicData uri="http://schemas.openxmlformats.org/drawingml/2006/table">
            <a:tbl>
              <a:tblPr firstRow="0" bandRow="0"/>
              <a:tblGrid>
                <a:gridCol w="960120"/>
                <a:gridCol w="2011680"/>
                <a:gridCol w="2834640"/>
                <a:gridCol w="2743200"/>
                <a:gridCol w="2834640"/>
              </a:tblGrid>
              <a:tr h="384048">
                <a:tc>
                  <a:txBody>
                    <a:bodyPr/>
                    <a:lstStyle/>
                    <a:p>
                      <a:pPr algn="ctr" rtl="1">
                        <a:lnSpc>
                          <a:spcPct val="110000"/>
                        </a:lnSpc>
                      </a:pPr>
                      <a:r>
                        <a:rPr lang="ar-SA" sz="1000" b="0" dirty="0">
                          <a:solidFill>
                            <a:srgbClr val="FFFFFF"/>
                          </a:solidFill>
                          <a:latin typeface="DiodrumArabic-Semibold" pitchFamily="2" charset="-78"/>
                          <a:cs typeface="DiodrumArabic-Semibold" pitchFamily="2" charset="-78"/>
                        </a:rPr>
                        <a:t>الأولوية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00ABA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0000"/>
                        </a:lnSpc>
                      </a:pPr>
                      <a:r>
                        <a:rPr lang="ar-SA" sz="1000" b="0" dirty="0">
                          <a:solidFill>
                            <a:srgbClr val="FFFFFF"/>
                          </a:solidFill>
                          <a:latin typeface="DiodrumArabic-Semibold" pitchFamily="2" charset="-78"/>
                          <a:cs typeface="DiodrumArabic-Semibold" pitchFamily="2" charset="-78"/>
                        </a:rPr>
                        <a:t>الدعم المطلوب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00ABA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0000"/>
                        </a:lnSpc>
                      </a:pPr>
                      <a:r>
                        <a:rPr lang="ar-SA" sz="1000" b="0" dirty="0">
                          <a:solidFill>
                            <a:srgbClr val="FFFFFF"/>
                          </a:solidFill>
                          <a:latin typeface="DiodrumArabic-Semibold" pitchFamily="2" charset="-78"/>
                          <a:cs typeface="DiodrumArabic-Semibold" pitchFamily="2" charset="-78"/>
                        </a:rPr>
                        <a:t>الإجراء المقترح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00ABA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0000"/>
                        </a:lnSpc>
                      </a:pPr>
                      <a:r>
                        <a:rPr lang="ar-SA" sz="1000" b="0" dirty="0">
                          <a:solidFill>
                            <a:srgbClr val="FFFFFF"/>
                          </a:solidFill>
                          <a:latin typeface="DiodrumArabic-Semibold" pitchFamily="2" charset="-78"/>
                          <a:cs typeface="DiodrumArabic-Semibold" pitchFamily="2" charset="-78"/>
                        </a:rPr>
                        <a:t>الأثر المحتمل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00ABA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0000"/>
                        </a:lnSpc>
                      </a:pPr>
                      <a:r>
                        <a:rPr lang="ar-SA" sz="1000" b="0" dirty="0">
                          <a:solidFill>
                            <a:srgbClr val="FFFFFF"/>
                          </a:solidFill>
                          <a:latin typeface="DiodrumArabic-Semibold" pitchFamily="2" charset="-78"/>
                          <a:cs typeface="DiodrumArabic-Semibold" pitchFamily="2" charset="-78"/>
                        </a:rPr>
                        <a:t>التحدي / المخاطرة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00ABA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ctr" rtl="1">
                        <a:lnSpc>
                          <a:spcPct val="110000"/>
                        </a:lnSpc>
                      </a:pPr>
                      <a:r>
                        <a:rPr lang="ar-SA" sz="1000" b="0" dirty="0">
                          <a:solidFill>
                            <a:srgbClr val="333333"/>
                          </a:solidFill>
                          <a:latin typeface="DiodrumArabic-Medium" pitchFamily="2" charset="-78"/>
                          <a:cs typeface="DiodrumArabic-Medium" pitchFamily="2" charset="-78"/>
                        </a:rPr>
                        <a:t>عالية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F4F3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0000"/>
                        </a:lnSpc>
                      </a:pPr>
                      <a:r>
                        <a:rPr lang="ar-SA" sz="1000" b="0" dirty="0">
                          <a:solidFill>
                            <a:srgbClr val="333333"/>
                          </a:solidFill>
                          <a:latin typeface="DiodrumArabic-Medium" pitchFamily="2" charset="-78"/>
                          <a:cs typeface="DiodrumArabic-Medium" pitchFamily="2" charset="-78"/>
                        </a:rPr>
                        <a:t>تصعيد على مستوى القيادة مع الوزارة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F4F3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0000"/>
                        </a:lnSpc>
                      </a:pPr>
                      <a:r>
                        <a:rPr lang="ar-SA" sz="1000" b="0" dirty="0">
                          <a:solidFill>
                            <a:srgbClr val="333333"/>
                          </a:solidFill>
                          <a:latin typeface="DiodrumArabic-Medium" pitchFamily="2" charset="-78"/>
                          <a:cs typeface="DiodrumArabic-Medium" pitchFamily="2" charset="-78"/>
                        </a:rPr>
                        <a:t>إعادة توجيه الاستبيان عبر قناة رسمية مع مهلة محددة للرد ونقطة اتصال معتمدة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F4F3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0000"/>
                        </a:lnSpc>
                      </a:pPr>
                      <a:r>
                        <a:rPr lang="ar-SA" sz="1000" b="0" dirty="0">
                          <a:solidFill>
                            <a:srgbClr val="333333"/>
                          </a:solidFill>
                          <a:latin typeface="DiodrumArabic-Medium" pitchFamily="2" charset="-78"/>
                          <a:cs typeface="DiodrumArabic-Medium" pitchFamily="2" charset="-78"/>
                        </a:rPr>
                        <a:t>تعثر المتطلب الأول من المبادرة المشتركة، وتأخر بناء قاعدة بيانات البرامج والمستفيدين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F4F3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0000"/>
                        </a:lnSpc>
                      </a:pPr>
                      <a:r>
                        <a:rPr lang="ar-SA" sz="1000" b="0" dirty="0">
                          <a:solidFill>
                            <a:srgbClr val="2A206A"/>
                          </a:solidFill>
                          <a:latin typeface="DiodrumArabic-Semibold" pitchFamily="2" charset="-78"/>
                          <a:cs typeface="DiodrumArabic-Semibold" pitchFamily="2" charset="-78"/>
                        </a:rPr>
                        <a:t>عدم تفاعل وزارة الاتصالات مع استبيان حصر برامج الذكاء الاصطناعي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F4F3F9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ctr" rtl="1">
                        <a:lnSpc>
                          <a:spcPct val="110000"/>
                        </a:lnSpc>
                      </a:pPr>
                      <a:r>
                        <a:rPr lang="ar-SA" sz="1000" b="0" dirty="0">
                          <a:solidFill>
                            <a:srgbClr val="333333"/>
                          </a:solidFill>
                          <a:latin typeface="DiodrumArabic-Medium" pitchFamily="2" charset="-78"/>
                          <a:cs typeface="DiodrumArabic-Medium" pitchFamily="2" charset="-78"/>
                        </a:rPr>
                        <a:t>متوسطة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0000"/>
                        </a:lnSpc>
                      </a:pPr>
                      <a:r>
                        <a:rPr lang="ar-SA" sz="1000" b="0" dirty="0">
                          <a:solidFill>
                            <a:srgbClr val="333333"/>
                          </a:solidFill>
                          <a:latin typeface="DiodrumArabic-Medium" pitchFamily="2" charset="-78"/>
                          <a:cs typeface="DiodrumArabic-Medium" pitchFamily="2" charset="-78"/>
                        </a:rPr>
                        <a:t>اعتماد خطة سبتمبر – ديسمبر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0000"/>
                        </a:lnSpc>
                      </a:pPr>
                      <a:r>
                        <a:rPr lang="ar-SA" sz="1000" b="0" dirty="0">
                          <a:solidFill>
                            <a:srgbClr val="333333"/>
                          </a:solidFill>
                          <a:latin typeface="DiodrumArabic-Medium" pitchFamily="2" charset="-78"/>
                          <a:cs typeface="DiodrumArabic-Medium" pitchFamily="2" charset="-78"/>
                        </a:rPr>
                        <a:t>تثبيت خطة شهرية بحد أدنى 135 مستفيداً، والتوسع في ورش العمل والشراكات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0000"/>
                        </a:lnSpc>
                      </a:pPr>
                      <a:r>
                        <a:rPr lang="ar-SA" sz="1000" b="0" dirty="0">
                          <a:solidFill>
                            <a:srgbClr val="333333"/>
                          </a:solidFill>
                          <a:latin typeface="DiodrumArabic-Medium" pitchFamily="2" charset="-78"/>
                          <a:cs typeface="DiodrumArabic-Medium" pitchFamily="2" charset="-78"/>
                        </a:rPr>
                        <a:t>فجوة 527 مستفيداً خلال 4 أشهر؛ أي تراجع في الوتيرة (كما في يونيو) يهدد المستهدف السنوي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0000"/>
                        </a:lnSpc>
                      </a:pPr>
                      <a:r>
                        <a:rPr lang="ar-SA" sz="1000" b="0" dirty="0">
                          <a:solidFill>
                            <a:srgbClr val="2A206A"/>
                          </a:solidFill>
                          <a:latin typeface="DiodrumArabic-Semibold" pitchFamily="2" charset="-78"/>
                          <a:cs typeface="DiodrumArabic-Semibold" pitchFamily="2" charset="-78"/>
                        </a:rPr>
                        <a:t>اعتماد تحقيق مستهدف 1,800 مستفيد على استمرار وتيرة الربع الحالي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ctr" rtl="1">
                        <a:lnSpc>
                          <a:spcPct val="110000"/>
                        </a:lnSpc>
                      </a:pPr>
                      <a:r>
                        <a:rPr lang="ar-SA" sz="1000" b="0" dirty="0">
                          <a:solidFill>
                            <a:srgbClr val="333333"/>
                          </a:solidFill>
                          <a:latin typeface="DiodrumArabic-Medium" pitchFamily="2" charset="-78"/>
                          <a:cs typeface="DiodrumArabic-Medium" pitchFamily="2" charset="-78"/>
                        </a:rPr>
                        <a:t>متوسطة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F4F3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0000"/>
                        </a:lnSpc>
                      </a:pPr>
                      <a:r>
                        <a:rPr lang="ar-SA" sz="1000" b="0" dirty="0">
                          <a:solidFill>
                            <a:srgbClr val="333333"/>
                          </a:solidFill>
                          <a:latin typeface="DiodrumArabic-Medium" pitchFamily="2" charset="-78"/>
                          <a:cs typeface="DiodrumArabic-Medium" pitchFamily="2" charset="-78"/>
                        </a:rPr>
                        <a:t>دعم بمخاطبات رسمية على مستوى الإدارة العامة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F4F3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0000"/>
                        </a:lnSpc>
                      </a:pPr>
                      <a:r>
                        <a:rPr lang="ar-SA" sz="1000" b="0" dirty="0">
                          <a:solidFill>
                            <a:srgbClr val="333333"/>
                          </a:solidFill>
                          <a:latin typeface="DiodrumArabic-Medium" pitchFamily="2" charset="-78"/>
                          <a:cs typeface="DiodrumArabic-Medium" pitchFamily="2" charset="-78"/>
                        </a:rPr>
                        <a:t>مخاطبات رسمية للجهات وتحديد مواعيد الاجتماعات التشخيصية خلال سبتمبر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F4F3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0000"/>
                        </a:lnSpc>
                      </a:pPr>
                      <a:r>
                        <a:rPr lang="ar-SA" sz="1000" b="0" dirty="0">
                          <a:solidFill>
                            <a:srgbClr val="333333"/>
                          </a:solidFill>
                          <a:latin typeface="DiodrumArabic-Medium" pitchFamily="2" charset="-78"/>
                          <a:cs typeface="DiodrumArabic-Medium" pitchFamily="2" charset="-78"/>
                        </a:rPr>
                        <a:t>تأخر الاجتماعات التشخيصية وتأجيل بناء نماذج الحلول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F4F3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0000"/>
                        </a:lnSpc>
                      </a:pPr>
                      <a:r>
                        <a:rPr lang="ar-SA" sz="1000" b="0" dirty="0">
                          <a:solidFill>
                            <a:srgbClr val="2A206A"/>
                          </a:solidFill>
                          <a:latin typeface="DiodrumArabic-Semibold" pitchFamily="2" charset="-78"/>
                          <a:cs typeface="DiodrumArabic-Semibold" pitchFamily="2" charset="-78"/>
                        </a:rPr>
                        <a:t>بطء استجابة الجهات المستهدفة في مبادرة تعزيز الاستفادة (5 من 7 في مرحلة التواصل)</a:t>
                      </a:r>
                    </a:p>
                  </a:txBody>
                  <a:tcPr marL="73152" marR="73152" marT="36576" marB="36576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F4F3F9"/>
                    </a:solidFill>
                  </a:tcPr>
                </a:tc>
              </a:tr>
            </a:tbl>
          </a:graphicData>
        </a:graphic>
      </p:graphicFrame>
      <p:sp>
        <p:nvSpPr>
          <p:cNvPr id="7" name="Oval 6"/>
          <p:cNvSpPr/>
          <p:nvPr/>
        </p:nvSpPr>
        <p:spPr>
          <a:xfrm>
            <a:off x="1207008" y="2167127"/>
            <a:ext cx="137160" cy="137160"/>
          </a:xfrm>
          <a:prstGeom prst="ellipse">
            <a:avLst/>
          </a:prstGeom>
          <a:solidFill>
            <a:srgbClr val="E052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07008" y="3127247"/>
            <a:ext cx="137160" cy="137160"/>
          </a:xfrm>
          <a:prstGeom prst="ellipse">
            <a:avLst/>
          </a:prstGeom>
          <a:solidFill>
            <a:srgbClr val="F0A32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07008" y="4087368"/>
            <a:ext cx="137160" cy="137160"/>
          </a:xfrm>
          <a:prstGeom prst="ellipse">
            <a:avLst/>
          </a:prstGeom>
          <a:solidFill>
            <a:srgbClr val="F0A32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11480" y="4910328"/>
            <a:ext cx="11384280" cy="1051560"/>
          </a:xfrm>
          <a:prstGeom prst="roundRect">
            <a:avLst>
              <a:gd name="adj" fmla="val 8695"/>
            </a:avLst>
          </a:prstGeom>
          <a:gradFill>
            <a:gsLst>
              <a:gs pos="0">
                <a:srgbClr val="1D164B"/>
              </a:gs>
              <a:gs pos="90000">
                <a:srgbClr val="3B2D8A"/>
              </a:gs>
            </a:gsLst>
            <a:lin ang="2700000" scaled="1"/>
          </a:gradFill>
          <a:ln>
            <a:noFill/>
          </a:ln>
          <a:effectLst>
            <a:outerShdw blurRad="76200" dist="23812" dir="5400000" rotWithShape="0">
              <a:srgbClr val="24135F">
                <a:alpha val="12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0080" y="5020056"/>
            <a:ext cx="109270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  <a:noAutofit/>
          </a:bodyPr>
          <a:lstStyle/>
          <a:p>
            <a:pPr algn="r" rtl="1"/>
            <a:r>
              <a:rPr lang="ar-SA" sz="1300" b="0" dirty="0">
                <a:solidFill>
                  <a:srgbClr val="1CC182"/>
                </a:solidFill>
                <a:latin typeface="DiodrumArabic-Bold" pitchFamily="2" charset="-78"/>
                <a:cs typeface="DiodrumArabic-Bold" pitchFamily="2" charset="-78"/>
              </a:rPr>
              <a:t>القرارات المطلوبة من القيادة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367528"/>
            <a:ext cx="10927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noAutofit/>
          </a:bodyPr>
          <a:lstStyle/>
          <a:p>
            <a:pPr algn="r" rtl="1">
              <a:lnSpc>
                <a:spcPct val="118000"/>
              </a:lnSpc>
            </a:pPr>
            <a:r>
              <a:rPr lang="ar-SA" sz="1100" b="0" dirty="0">
                <a:solidFill>
                  <a:srgbClr val="9DEBC8"/>
                </a:solidFill>
                <a:latin typeface="DiodrumArabic-Bold" pitchFamily="2" charset="-78"/>
                <a:cs typeface="DiodrumArabic-Bold" pitchFamily="2" charset="-78"/>
              </a:rPr>
              <a:t>1.  </a:t>
            </a:r>
            <a:r>
              <a:rPr lang="ar-SA" sz="1100" b="0" dirty="0">
                <a:solidFill>
                  <a:srgbClr val="FFFFFF"/>
                </a:solidFill>
                <a:latin typeface="DiodrumArabic-Medium" pitchFamily="2" charset="-78"/>
                <a:cs typeface="DiodrumArabic-Medium" pitchFamily="2" charset="-78"/>
              </a:rPr>
              <a:t>اعتماد التصعيد الرسمي مع وزارة الاتصالات وتقنية المعلومات لتفعيل الاستجابة على استبيان حصر برامج الذكاء الاصطناعي.</a:t>
            </a:r>
          </a:p>
          <a:p>
            <a:pPr algn="r" rtl="1">
              <a:lnSpc>
                <a:spcPct val="118000"/>
              </a:lnSpc>
            </a:pPr>
            <a:r>
              <a:rPr lang="ar-SA" sz="1100" b="0" dirty="0">
                <a:solidFill>
                  <a:srgbClr val="9DEBC8"/>
                </a:solidFill>
                <a:latin typeface="DiodrumArabic-Bold" pitchFamily="2" charset="-78"/>
                <a:cs typeface="DiodrumArabic-Bold" pitchFamily="2" charset="-78"/>
              </a:rPr>
              <a:t>2.  </a:t>
            </a:r>
            <a:r>
              <a:rPr lang="ar-SA" sz="1100" b="0" dirty="0">
                <a:solidFill>
                  <a:srgbClr val="FFFFFF"/>
                </a:solidFill>
                <a:latin typeface="DiodrumArabic-Medium" pitchFamily="2" charset="-78"/>
                <a:cs typeface="DiodrumArabic-Medium" pitchFamily="2" charset="-78"/>
              </a:rPr>
              <a:t>اعتماد خطة سبتمبر – ديسمبر 2026 بحد أدنى 135 مستفيداً شهرياً، ودعم المخاطبات الرسمية للجهات السبع المستهدفة.</a:t>
            </a:r>
          </a:p>
        </p:txBody>
      </p:sp>
    </p:spTree>
    <p:extLst>
      <p:ext uri="{BB962C8B-B14F-4D97-AF65-F5344CB8AC3E}">
        <p14:creationId xmlns:p14="http://schemas.microsoft.com/office/powerpoint/2010/main" val="1443579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F021ADDF-8E2C-45B8-BF02-B7B1F89E2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5224" y="455907"/>
            <a:ext cx="6975460" cy="522501"/>
          </a:xfrm>
        </p:spPr>
        <p:txBody>
          <a:bodyPr/>
          <a:lstStyle/>
          <a:p>
            <a:r>
              <a:rPr lang="ar-SA" sz="2000" dirty="0">
                <a:solidFill>
                  <a:schemeClr val="accent2">
                    <a:lumMod val="75000"/>
                  </a:schemeClr>
                </a:solidFill>
              </a:rPr>
              <a:t>الخلاصة والخطوات القادمة</a:t>
            </a:r>
            <a:endParaRPr lang="en-US" sz="2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7" name="s1-num-badge">
            <a:extLst>
              <a:ext uri="{FF2B5EF4-FFF2-40B4-BE49-F238E27FC236}">
                <a16:creationId xmlns:a16="http://schemas.microsoft.com/office/drawing/2014/main" id="{CD5DA493-5272-42FA-8365-A3966CC354D1}"/>
              </a:ext>
            </a:extLst>
          </p:cNvPr>
          <p:cNvSpPr/>
          <p:nvPr/>
        </p:nvSpPr>
        <p:spPr>
          <a:xfrm>
            <a:off x="10058400" y="398757"/>
            <a:ext cx="714462" cy="643659"/>
          </a:xfrm>
          <a:prstGeom prst="roundRect">
            <a:avLst>
              <a:gd name="adj" fmla="val 28599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2700000" scaled="1"/>
          </a:gradFill>
          <a:ln>
            <a:noFill/>
          </a:ln>
          <a:effectLst>
            <a:outerShdw blurRad="57150" dist="19050" dir="5400000" rotWithShape="0">
              <a:srgbClr val="24135F">
                <a:alpha val="25098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12810">
              <a:buClrTx/>
            </a:pPr>
            <a:endParaRPr sz="3200" kern="1200">
              <a:solidFill>
                <a:prstClr val="white"/>
              </a:solidFill>
              <a:latin typeface="DiodrumArabic-Regular"/>
              <a:cs typeface="DiodrumArabic-Regular"/>
            </a:endParaRPr>
          </a:p>
        </p:txBody>
      </p:sp>
      <p:sp>
        <p:nvSpPr>
          <p:cNvPr id="78" name="s1-num">
            <a:extLst>
              <a:ext uri="{FF2B5EF4-FFF2-40B4-BE49-F238E27FC236}">
                <a16:creationId xmlns:a16="http://schemas.microsoft.com/office/drawing/2014/main" id="{9D3DF26F-E9FA-4C13-87DC-40C0A14A2F2C}"/>
              </a:ext>
            </a:extLst>
          </p:cNvPr>
          <p:cNvSpPr txBox="1"/>
          <p:nvPr/>
        </p:nvSpPr>
        <p:spPr>
          <a:xfrm>
            <a:off x="10113264" y="493235"/>
            <a:ext cx="603504" cy="43088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 defTabSz="812810">
              <a:buClrTx/>
            </a:pPr>
            <a:r>
              <a:rPr lang="en-US" sz="2800" kern="1200" dirty="0">
                <a:solidFill>
                  <a:srgbClr val="FFFFFF"/>
                </a:solidFill>
                <a:latin typeface="DiodrumArabic-Bold"/>
                <a:ea typeface="DiodrumArabic-Bold"/>
                <a:cs typeface="DiodrumArabic-Bold"/>
              </a:rPr>
              <a:t>03</a:t>
            </a:r>
            <a:endParaRPr lang="en-US" sz="1932" kern="1200" dirty="0">
              <a:solidFill>
                <a:srgbClr val="FFFFFF"/>
              </a:solidFill>
              <a:latin typeface="DiodrumArabic-Bold"/>
              <a:ea typeface="DiodrumArabic-Bold"/>
              <a:cs typeface="DiodrumArabic-Bold"/>
            </a:endParaRPr>
          </a:p>
        </p:txBody>
      </p:sp>
      <p:sp>
        <p:nvSpPr>
          <p:cNvPr id="79" name="Title 12">
            <a:extLst>
              <a:ext uri="{FF2B5EF4-FFF2-40B4-BE49-F238E27FC236}">
                <a16:creationId xmlns:a16="http://schemas.microsoft.com/office/drawing/2014/main" id="{ADD2FCDD-A898-4E2E-84D7-0170DB3FFE6B}"/>
              </a:ext>
            </a:extLst>
          </p:cNvPr>
          <p:cNvSpPr txBox="1">
            <a:spLocks/>
          </p:cNvSpPr>
          <p:nvPr/>
        </p:nvSpPr>
        <p:spPr>
          <a:xfrm>
            <a:off x="1168273" y="3123883"/>
            <a:ext cx="9251950" cy="590931"/>
          </a:xfrm>
          <a:prstGeom prst="rect">
            <a:avLst/>
          </a:prstGeom>
        </p:spPr>
        <p:txBody>
          <a:bodyPr vert="horz" wrap="square" lIns="0" tIns="45720" rIns="0" bIns="45720" rtlCol="0" anchor="t">
            <a:spAutoFit/>
          </a:bodyPr>
          <a:lstStyle>
            <a:lvl1pPr algn="r" defTabSz="914332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chemeClr val="accent4"/>
                </a:solidFill>
                <a:latin typeface="DiodrumArabic-Bold" panose="00000800000000000000" pitchFamily="2" charset="-78"/>
                <a:ea typeface="+mj-ea"/>
                <a:cs typeface="DiodrumArabic-Bold" panose="00000800000000000000" pitchFamily="2" charset="-78"/>
              </a:defRPr>
            </a:lvl1pPr>
          </a:lstStyle>
          <a:p>
            <a:pPr>
              <a:buClrTx/>
              <a:buFontTx/>
            </a:pPr>
            <a:r>
              <a:rPr lang="ar-SA" sz="3600" dirty="0"/>
              <a:t>3.2 خطة الفترة القادمة</a:t>
            </a:r>
          </a:p>
        </p:txBody>
      </p:sp>
      <p:sp>
        <p:nvSpPr>
          <p:cNvPr id="80" name="Slide Number Placeholder 1">
            <a:extLst>
              <a:ext uri="{FF2B5EF4-FFF2-40B4-BE49-F238E27FC236}">
                <a16:creationId xmlns:a16="http://schemas.microsoft.com/office/drawing/2014/main" id="{62A52D15-03C4-4D9B-AB50-612D2A833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11480" y="402336"/>
            <a:ext cx="822960" cy="640080"/>
          </a:xfrm>
        </p:spPr>
        <p:txBody>
          <a:bodyPr anchor="ctr" lIns="0"/>
          <a:lstStyle/>
          <a:p>
            <a:pPr algn="l"/>
            <a:fld id="{679EF615-E246-4FA6-9E75-123AAEB83405}" type="slidenum">
              <a:rPr lang="en-US" smtClean="0" sz="1200" b="1">
                <a:solidFill>
                  <a:srgbClr val="2A206A"/>
                </a:solidFill>
                <a:latin typeface="DiodrumArabic-Semibold"/>
                <a:cs typeface="DiodrumArabic-Semibold"/>
              </a:rPr>
              <a:pPr/>
              <a:t>4</a:t>
            </a:fld>
            <a:endParaRPr lang="en-PH" dirty="0"/>
          </a:p>
        </p:txBody>
      </p:sp>
      <p:sp>
        <p:nvSpPr>
          <p:cNvPr id="81" name="TextBox 80"/>
          <p:cNvSpPr txBox="1"/>
          <p:nvPr/>
        </p:nvSpPr>
        <p:spPr>
          <a:xfrm>
            <a:off x="1170432" y="3931920"/>
            <a:ext cx="925372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noAutofit/>
          </a:bodyPr>
          <a:lstStyle/>
          <a:p>
            <a:pPr algn="r" rtl="1"/>
            <a:r>
              <a:rPr lang="ar-SA" sz="1600" b="0" dirty="0">
                <a:solidFill>
                  <a:srgbClr val="00ABAF"/>
                </a:solidFill>
                <a:latin typeface="DiodrumArabic-Semibold" pitchFamily="2" charset="-78"/>
                <a:cs typeface="DiodrumArabic-Semibold" pitchFamily="2" charset="-78"/>
              </a:rPr>
              <a:t>أولويات سبتمبر – ديسمبر 2026 لإغلاق مستهدفات العام</a:t>
            </a:r>
          </a:p>
        </p:txBody>
      </p:sp>
    </p:spTree>
    <p:extLst>
      <p:ext uri="{BB962C8B-B14F-4D97-AF65-F5344CB8AC3E}">
        <p14:creationId xmlns:p14="http://schemas.microsoft.com/office/powerpoint/2010/main" val="2743612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692EA03-53D2-4479-8841-E541579E9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11480" y="155448"/>
            <a:ext cx="822960" cy="548640"/>
          </a:xfrm>
        </p:spPr>
        <p:txBody>
          <a:bodyPr anchor="ctr" lIns="0"/>
          <a:lstStyle/>
          <a:p>
            <a:pPr algn="l"/>
            <a:fld id="{679EF615-E246-4FA6-9E75-123AAEB83405}" type="slidenum">
              <a:rPr lang="en-US" smtClean="0" sz="1200" b="1">
                <a:solidFill>
                  <a:srgbClr val="2A206A"/>
                </a:solidFill>
                <a:latin typeface="DiodrumArabic-Semibold"/>
                <a:cs typeface="DiodrumArabic-Semibold"/>
              </a:rPr>
              <a:pPr/>
              <a:t>5</a:t>
            </a:fld>
            <a:endParaRPr lang="en-PH" dirty="0"/>
          </a:p>
        </p:txBody>
      </p:sp>
      <p:sp>
        <p:nvSpPr>
          <p:cNvPr id="3" name="TextBox 2"/>
          <p:cNvSpPr txBox="1"/>
          <p:nvPr/>
        </p:nvSpPr>
        <p:spPr>
          <a:xfrm>
            <a:off x="1234440" y="155448"/>
            <a:ext cx="105613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  <a:noAutofit/>
          </a:bodyPr>
          <a:lstStyle/>
          <a:p>
            <a:pPr algn="r" rtl="1"/>
            <a:r>
              <a:rPr lang="ar-SA" sz="2400" b="0" dirty="0">
                <a:solidFill>
                  <a:srgbClr val="5D2597"/>
                </a:solidFill>
                <a:latin typeface="DiodrumArabic-Bold" pitchFamily="2" charset="-78"/>
                <a:cs typeface="DiodrumArabic-Bold" pitchFamily="2" charset="-78"/>
              </a:rPr>
              <a:t>3.2  </a:t>
            </a:r>
            <a:r>
              <a:rPr lang="ar-SA" sz="2400" b="0" dirty="0">
                <a:solidFill>
                  <a:srgbClr val="2A206A"/>
                </a:solidFill>
                <a:latin typeface="DiodrumArabic-Bold" pitchFamily="2" charset="-78"/>
                <a:cs typeface="DiodrumArabic-Bold" pitchFamily="2" charset="-78"/>
              </a:rPr>
              <a:t>خطة الفترة القادمة: سبتمبر – ديسمبر 2026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" y="795528"/>
            <a:ext cx="11420856" cy="0"/>
          </a:xfrm>
          <a:prstGeom prst="line">
            <a:avLst/>
          </a:prstGeom>
          <a:ln w="28575">
            <a:gradFill>
              <a:gsLst>
                <a:gs pos="0">
                  <a:srgbClr val="00ABAF"/>
                </a:gs>
                <a:gs pos="100000">
                  <a:srgbClr val="7C32C9"/>
                </a:gs>
              </a:gsLst>
              <a:lin ang="0" scaled="1"/>
            </a:gradFill>
          </a:ln>
        </p:spPr>
      </p:cxnSp>
      <p:sp>
        <p:nvSpPr>
          <p:cNvPr id="5" name="TextBox 4"/>
          <p:cNvSpPr txBox="1"/>
          <p:nvPr/>
        </p:nvSpPr>
        <p:spPr>
          <a:xfrm>
            <a:off x="411480" y="914400"/>
            <a:ext cx="11384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  <a:noAutofit/>
          </a:bodyPr>
          <a:lstStyle/>
          <a:p>
            <a:pPr algn="r" rtl="1"/>
            <a:r>
              <a:rPr lang="ar-SA" sz="1300" b="0" dirty="0">
                <a:solidFill>
                  <a:srgbClr val="00ABAF"/>
                </a:solidFill>
                <a:latin typeface="DiodrumArabic-Semibold" pitchFamily="2" charset="-78"/>
                <a:cs typeface="DiodrumArabic-Semibold" pitchFamily="2" charset="-78"/>
              </a:rPr>
              <a:t>أولويات كل مسار والمستهدف بنهاية الفترة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00566" y="1371600"/>
            <a:ext cx="2695194" cy="3017520"/>
          </a:xfrm>
          <a:prstGeom prst="roundRect">
            <a:avLst>
              <a:gd name="adj" fmla="val 3392"/>
            </a:avLst>
          </a:prstGeom>
          <a:solidFill>
            <a:srgbClr val="FFFFFF"/>
          </a:solidFill>
          <a:ln w="9525">
            <a:solidFill>
              <a:srgbClr val="E1E0EC"/>
            </a:solidFill>
          </a:ln>
          <a:effectLst>
            <a:outerShdw blurRad="76200" dist="23812" dir="5400000" rotWithShape="0">
              <a:srgbClr val="24135F">
                <a:alpha val="12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301734" y="1517904"/>
            <a:ext cx="229285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  <a:noAutofit/>
          </a:bodyPr>
          <a:lstStyle/>
          <a:p>
            <a:pPr algn="r" rtl="1"/>
            <a:r>
              <a:rPr lang="ar-SA" sz="1350" b="0" dirty="0">
                <a:solidFill>
                  <a:srgbClr val="7C32C9"/>
                </a:solidFill>
                <a:latin typeface="DiodrumArabic-Bold" pitchFamily="2" charset="-78"/>
                <a:cs typeface="DiodrumArabic-Bold" pitchFamily="2" charset="-78"/>
              </a:rPr>
              <a:t>البرامج التدريبية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9301734" y="1920240"/>
            <a:ext cx="2292858" cy="0"/>
          </a:xfrm>
          <a:prstGeom prst="line">
            <a:avLst/>
          </a:prstGeom>
          <a:ln w="9525">
            <a:solidFill>
              <a:srgbClr val="E1E0EC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9283446" y="2029967"/>
            <a:ext cx="2329434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noAutofit/>
          </a:bodyPr>
          <a:lstStyle/>
          <a:p>
            <a:pPr algn="r" rtl="1" marL="164592" indent="-164592">
              <a:lnSpc>
                <a:spcPct val="115000"/>
              </a:lnSpc>
              <a:spcAft>
                <a:spcPts val="400"/>
              </a:spcAft>
              <a:buClr>
                <a:srgbClr val="7C32C9"/>
              </a:buClr>
              <a:buFont typeface="Arial"/>
              <a:buChar char="•"/>
            </a:pPr>
            <a:r>
              <a:rPr lang="ar-SA" sz="1050" b="0" dirty="0">
                <a:solidFill>
                  <a:srgbClr val="333333"/>
                </a:solidFill>
                <a:latin typeface="DiodrumArabic-Medium" pitchFamily="2" charset="-78"/>
                <a:cs typeface="DiodrumArabic-Medium" pitchFamily="2" charset="-78"/>
              </a:rPr>
              <a:t>تنفيذ 6 أنشطة في سبتمبر (برنامج محلي و5 ورش عمل)</a:t>
            </a:r>
          </a:p>
          <a:p>
            <a:pPr algn="r" rtl="1" marL="164592" indent="-164592">
              <a:lnSpc>
                <a:spcPct val="115000"/>
              </a:lnSpc>
              <a:spcAft>
                <a:spcPts val="400"/>
              </a:spcAft>
              <a:buClr>
                <a:srgbClr val="7C32C9"/>
              </a:buClr>
              <a:buFont typeface="Arial"/>
              <a:buChar char="•"/>
            </a:pPr>
            <a:r>
              <a:rPr lang="ar-SA" sz="1050" b="0" dirty="0">
                <a:solidFill>
                  <a:srgbClr val="333333"/>
                </a:solidFill>
                <a:latin typeface="DiodrumArabic-Medium" pitchFamily="2" charset="-78"/>
                <a:cs typeface="DiodrumArabic-Medium" pitchFamily="2" charset="-78"/>
              </a:rPr>
              <a:t>المحافظة على وتيرة لا تقل عن 135 مستفيداً شهرياً</a:t>
            </a:r>
          </a:p>
          <a:p>
            <a:pPr algn="r" rtl="1" marL="164592" indent="-164592">
              <a:lnSpc>
                <a:spcPct val="115000"/>
              </a:lnSpc>
              <a:spcAft>
                <a:spcPts val="400"/>
              </a:spcAft>
              <a:buClr>
                <a:srgbClr val="7C32C9"/>
              </a:buClr>
              <a:buFont typeface="Arial"/>
              <a:buChar char="•"/>
            </a:pPr>
            <a:r>
              <a:rPr lang="ar-SA" sz="1050" b="0" dirty="0">
                <a:solidFill>
                  <a:srgbClr val="333333"/>
                </a:solidFill>
                <a:latin typeface="DiodrumArabic-Medium" pitchFamily="2" charset="-78"/>
                <a:cs typeface="DiodrumArabic-Medium" pitchFamily="2" charset="-78"/>
              </a:rPr>
              <a:t>التوسع في ورش العمل والشراكات الجامعية والتقنية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37726" y="3657600"/>
            <a:ext cx="2420874" cy="594360"/>
          </a:xfrm>
          <a:prstGeom prst="roundRect">
            <a:avLst>
              <a:gd name="adj" fmla="val 12307"/>
            </a:avLst>
          </a:prstGeom>
          <a:solidFill>
            <a:srgbClr val="F4F3F9"/>
          </a:solidFill>
          <a:ln w="9525">
            <a:solidFill>
              <a:srgbClr val="E1E0EC"/>
            </a:solidFill>
          </a:ln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9166" y="3675887"/>
            <a:ext cx="2237994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  <a:noAutofit/>
          </a:bodyPr>
          <a:lstStyle/>
          <a:p>
            <a:pPr algn="r" rtl="1">
              <a:lnSpc>
                <a:spcPct val="110000"/>
              </a:lnSpc>
            </a:pPr>
            <a:r>
              <a:rPr lang="ar-SA" sz="1000" b="0" dirty="0">
                <a:solidFill>
                  <a:srgbClr val="119C68"/>
                </a:solidFill>
                <a:latin typeface="DiodrumArabic-Bold" pitchFamily="2" charset="-78"/>
                <a:cs typeface="DiodrumArabic-Bold" pitchFamily="2" charset="-78"/>
              </a:rPr>
              <a:t>المستهدف: </a:t>
            </a:r>
            <a:r>
              <a:rPr lang="ar-SA" sz="1000" b="0" dirty="0">
                <a:solidFill>
                  <a:srgbClr val="2A206A"/>
                </a:solidFill>
                <a:latin typeface="DiodrumArabic-Semibold" pitchFamily="2" charset="-78"/>
                <a:cs typeface="DiodrumArabic-Semibold" pitchFamily="2" charset="-78"/>
              </a:rPr>
              <a:t>الوصول إلى 1,800 مستفيد بنهاية ديسمبر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4204" y="1371600"/>
            <a:ext cx="2695194" cy="3017520"/>
          </a:xfrm>
          <a:prstGeom prst="roundRect">
            <a:avLst>
              <a:gd name="adj" fmla="val 3392"/>
            </a:avLst>
          </a:prstGeom>
          <a:solidFill>
            <a:srgbClr val="FFFFFF"/>
          </a:solidFill>
          <a:ln w="9525">
            <a:solidFill>
              <a:srgbClr val="E1E0EC"/>
            </a:solidFill>
          </a:ln>
          <a:effectLst>
            <a:outerShdw blurRad="76200" dist="23812" dir="5400000" rotWithShape="0">
              <a:srgbClr val="24135F">
                <a:alpha val="12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405372" y="1517904"/>
            <a:ext cx="229285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  <a:noAutofit/>
          </a:bodyPr>
          <a:lstStyle/>
          <a:p>
            <a:pPr algn="r" rtl="1"/>
            <a:r>
              <a:rPr lang="ar-SA" sz="1350" b="0" dirty="0">
                <a:solidFill>
                  <a:srgbClr val="7C32C9"/>
                </a:solidFill>
                <a:latin typeface="DiodrumArabic-Bold" pitchFamily="2" charset="-78"/>
                <a:cs typeface="DiodrumArabic-Bold" pitchFamily="2" charset="-78"/>
              </a:rPr>
              <a:t>مبادرة الذكاء الاصطناعي مع وزارة الاتصالات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405372" y="1920240"/>
            <a:ext cx="2292858" cy="0"/>
          </a:xfrm>
          <a:prstGeom prst="line">
            <a:avLst/>
          </a:prstGeom>
          <a:ln w="9525">
            <a:solidFill>
              <a:srgbClr val="E1E0EC"/>
            </a:solidFill>
          </a:ln>
        </p:spPr>
      </p:cxnSp>
      <p:sp>
        <p:nvSpPr>
          <p:cNvPr id="15" name="TextBox 14"/>
          <p:cNvSpPr txBox="1"/>
          <p:nvPr/>
        </p:nvSpPr>
        <p:spPr>
          <a:xfrm>
            <a:off x="6387084" y="2029967"/>
            <a:ext cx="2329434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noAutofit/>
          </a:bodyPr>
          <a:lstStyle/>
          <a:p>
            <a:pPr algn="r" rtl="1" marL="164592" indent="-164592">
              <a:lnSpc>
                <a:spcPct val="115000"/>
              </a:lnSpc>
              <a:spcAft>
                <a:spcPts val="400"/>
              </a:spcAft>
              <a:buClr>
                <a:srgbClr val="7C32C9"/>
              </a:buClr>
              <a:buFont typeface="Arial"/>
              <a:buChar char="•"/>
            </a:pPr>
            <a:r>
              <a:rPr lang="ar-SA" sz="1050" b="0" dirty="0">
                <a:solidFill>
                  <a:srgbClr val="333333"/>
                </a:solidFill>
                <a:latin typeface="DiodrumArabic-Medium" pitchFamily="2" charset="-78"/>
                <a:cs typeface="DiodrumArabic-Medium" pitchFamily="2" charset="-78"/>
              </a:rPr>
              <a:t>إغلاق متطلب حصر برامج الذكاء الاصطناعي بعد التصعيد</a:t>
            </a:r>
          </a:p>
          <a:p>
            <a:pPr algn="r" rtl="1" marL="164592" indent="-164592">
              <a:lnSpc>
                <a:spcPct val="115000"/>
              </a:lnSpc>
              <a:spcAft>
                <a:spcPts val="400"/>
              </a:spcAft>
              <a:buClr>
                <a:srgbClr val="7C32C9"/>
              </a:buClr>
              <a:buFont typeface="Arial"/>
              <a:buChar char="•"/>
            </a:pPr>
            <a:r>
              <a:rPr lang="ar-SA" sz="1050" b="0" dirty="0">
                <a:solidFill>
                  <a:srgbClr val="333333"/>
                </a:solidFill>
                <a:latin typeface="DiodrumArabic-Medium" pitchFamily="2" charset="-78"/>
                <a:cs typeface="DiodrumArabic-Medium" pitchFamily="2" charset="-78"/>
              </a:rPr>
              <a:t>تسليم الدراسة الاستطلاعية للوزارة بوصفها مخرجاً نهائياً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41364" y="3657600"/>
            <a:ext cx="2420874" cy="594360"/>
          </a:xfrm>
          <a:prstGeom prst="roundRect">
            <a:avLst>
              <a:gd name="adj" fmla="val 12307"/>
            </a:avLst>
          </a:prstGeom>
          <a:solidFill>
            <a:srgbClr val="F4F3F9"/>
          </a:solidFill>
          <a:ln w="9525">
            <a:solidFill>
              <a:srgbClr val="E1E0EC"/>
            </a:solidFill>
          </a:ln>
        </p:spPr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32804" y="3675887"/>
            <a:ext cx="2237994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  <a:noAutofit/>
          </a:bodyPr>
          <a:lstStyle/>
          <a:p>
            <a:pPr algn="r" rtl="1">
              <a:lnSpc>
                <a:spcPct val="110000"/>
              </a:lnSpc>
            </a:pPr>
            <a:r>
              <a:rPr lang="ar-SA" sz="1000" b="0" dirty="0">
                <a:solidFill>
                  <a:srgbClr val="119C68"/>
                </a:solidFill>
                <a:latin typeface="DiodrumArabic-Bold" pitchFamily="2" charset="-78"/>
                <a:cs typeface="DiodrumArabic-Bold" pitchFamily="2" charset="-78"/>
              </a:rPr>
              <a:t>المستهدف: </a:t>
            </a:r>
            <a:r>
              <a:rPr lang="ar-SA" sz="1000" b="0" dirty="0">
                <a:solidFill>
                  <a:srgbClr val="2A206A"/>
                </a:solidFill>
                <a:latin typeface="DiodrumArabic-Semibold" pitchFamily="2" charset="-78"/>
                <a:cs typeface="DiodrumArabic-Semibold" pitchFamily="2" charset="-78"/>
              </a:rPr>
              <a:t>إنجاز المتطلبات الثلاثة كاملة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07841" y="1371600"/>
            <a:ext cx="2695194" cy="3017520"/>
          </a:xfrm>
          <a:prstGeom prst="roundRect">
            <a:avLst>
              <a:gd name="adj" fmla="val 3392"/>
            </a:avLst>
          </a:prstGeom>
          <a:solidFill>
            <a:srgbClr val="FFFFFF"/>
          </a:solidFill>
          <a:ln w="9525">
            <a:solidFill>
              <a:srgbClr val="E1E0EC"/>
            </a:solidFill>
          </a:ln>
          <a:effectLst>
            <a:outerShdw blurRad="76200" dist="23812" dir="5400000" rotWithShape="0">
              <a:srgbClr val="24135F">
                <a:alpha val="12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3509009" y="1517904"/>
            <a:ext cx="229285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  <a:noAutofit/>
          </a:bodyPr>
          <a:lstStyle/>
          <a:p>
            <a:pPr algn="r" rtl="1"/>
            <a:r>
              <a:rPr lang="ar-SA" sz="1350" b="0" dirty="0">
                <a:solidFill>
                  <a:srgbClr val="7C32C9"/>
                </a:solidFill>
                <a:latin typeface="DiodrumArabic-Bold" pitchFamily="2" charset="-78"/>
                <a:cs typeface="DiodrumArabic-Bold" pitchFamily="2" charset="-78"/>
              </a:rPr>
              <a:t>مبادرة تعزيز استفادة الجهات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509009" y="1920240"/>
            <a:ext cx="2292859" cy="0"/>
          </a:xfrm>
          <a:prstGeom prst="line">
            <a:avLst/>
          </a:prstGeom>
          <a:ln w="9525">
            <a:solidFill>
              <a:srgbClr val="E1E0EC"/>
            </a:solidFill>
          </a:ln>
        </p:spPr>
      </p:cxnSp>
      <p:sp>
        <p:nvSpPr>
          <p:cNvPr id="21" name="TextBox 20"/>
          <p:cNvSpPr txBox="1"/>
          <p:nvPr/>
        </p:nvSpPr>
        <p:spPr>
          <a:xfrm>
            <a:off x="3490721" y="2029967"/>
            <a:ext cx="2329434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noAutofit/>
          </a:bodyPr>
          <a:lstStyle/>
          <a:p>
            <a:pPr algn="r" rtl="1" marL="164592" indent="-164592">
              <a:lnSpc>
                <a:spcPct val="115000"/>
              </a:lnSpc>
              <a:spcAft>
                <a:spcPts val="400"/>
              </a:spcAft>
              <a:buClr>
                <a:srgbClr val="7C32C9"/>
              </a:buClr>
              <a:buFont typeface="Arial"/>
              <a:buChar char="•"/>
            </a:pPr>
            <a:r>
              <a:rPr lang="ar-SA" sz="1050" b="0" dirty="0">
                <a:solidFill>
                  <a:srgbClr val="333333"/>
                </a:solidFill>
                <a:latin typeface="DiodrumArabic-Medium" pitchFamily="2" charset="-78"/>
                <a:cs typeface="DiodrumArabic-Medium" pitchFamily="2" charset="-78"/>
              </a:rPr>
              <a:t>عقد الاجتماعات التشخيصية مع الجهات الخمس</a:t>
            </a:r>
          </a:p>
          <a:p>
            <a:pPr algn="r" rtl="1" marL="164592" indent="-164592">
              <a:lnSpc>
                <a:spcPct val="115000"/>
              </a:lnSpc>
              <a:spcAft>
                <a:spcPts val="400"/>
              </a:spcAft>
              <a:buClr>
                <a:srgbClr val="7C32C9"/>
              </a:buClr>
              <a:buFont typeface="Arial"/>
              <a:buChar char="•"/>
            </a:pPr>
            <a:r>
              <a:rPr lang="ar-SA" sz="1050" b="0" dirty="0">
                <a:solidFill>
                  <a:srgbClr val="333333"/>
                </a:solidFill>
                <a:latin typeface="DiodrumArabic-Medium" pitchFamily="2" charset="-78"/>
                <a:cs typeface="DiodrumArabic-Medium" pitchFamily="2" charset="-78"/>
              </a:rPr>
              <a:t>تحديد الاحتياج الفعلي وبناء نموذج الحل لجامعة الطائف وأمانة الحدود الشمالية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45001" y="3657600"/>
            <a:ext cx="2420874" cy="594360"/>
          </a:xfrm>
          <a:prstGeom prst="roundRect">
            <a:avLst>
              <a:gd name="adj" fmla="val 12307"/>
            </a:avLst>
          </a:prstGeom>
          <a:solidFill>
            <a:srgbClr val="F4F3F9"/>
          </a:solidFill>
          <a:ln w="9525">
            <a:solidFill>
              <a:srgbClr val="E1E0EC"/>
            </a:solidFill>
          </a:ln>
        </p:spPr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3536441" y="3675887"/>
            <a:ext cx="2237994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  <a:noAutofit/>
          </a:bodyPr>
          <a:lstStyle/>
          <a:p>
            <a:pPr algn="r" rtl="1">
              <a:lnSpc>
                <a:spcPct val="110000"/>
              </a:lnSpc>
            </a:pPr>
            <a:r>
              <a:rPr lang="ar-SA" sz="1000" b="0" dirty="0">
                <a:solidFill>
                  <a:srgbClr val="119C68"/>
                </a:solidFill>
                <a:latin typeface="DiodrumArabic-Bold" pitchFamily="2" charset="-78"/>
                <a:cs typeface="DiodrumArabic-Bold" pitchFamily="2" charset="-78"/>
              </a:rPr>
              <a:t>المستهدف: </a:t>
            </a:r>
            <a:r>
              <a:rPr lang="ar-SA" sz="1000" b="0" dirty="0">
                <a:solidFill>
                  <a:srgbClr val="2A206A"/>
                </a:solidFill>
                <a:latin typeface="DiodrumArabic-Semibold" pitchFamily="2" charset="-78"/>
                <a:cs typeface="DiodrumArabic-Semibold" pitchFamily="2" charset="-78"/>
              </a:rPr>
              <a:t>نماذج حلول معتمدة للجهات السبع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1479" y="1371600"/>
            <a:ext cx="2695194" cy="3017520"/>
          </a:xfrm>
          <a:prstGeom prst="roundRect">
            <a:avLst>
              <a:gd name="adj" fmla="val 3392"/>
            </a:avLst>
          </a:prstGeom>
          <a:solidFill>
            <a:srgbClr val="FFFFFF"/>
          </a:solidFill>
          <a:ln w="9525">
            <a:solidFill>
              <a:srgbClr val="E1E0EC"/>
            </a:solidFill>
          </a:ln>
          <a:effectLst>
            <a:outerShdw blurRad="76200" dist="23812" dir="5400000" rotWithShape="0">
              <a:srgbClr val="24135F">
                <a:alpha val="12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12647" y="1517904"/>
            <a:ext cx="229285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  <a:noAutofit/>
          </a:bodyPr>
          <a:lstStyle/>
          <a:p>
            <a:pPr algn="r" rtl="1"/>
            <a:r>
              <a:rPr lang="ar-SA" sz="1350" b="0" dirty="0">
                <a:solidFill>
                  <a:srgbClr val="7C32C9"/>
                </a:solidFill>
                <a:latin typeface="DiodrumArabic-Bold" pitchFamily="2" charset="-78"/>
                <a:cs typeface="DiodrumArabic-Bold" pitchFamily="2" charset="-78"/>
              </a:rPr>
              <a:t>الجائزة الخليجية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12647" y="1920240"/>
            <a:ext cx="2292858" cy="0"/>
          </a:xfrm>
          <a:prstGeom prst="line">
            <a:avLst/>
          </a:prstGeom>
          <a:ln w="9525">
            <a:solidFill>
              <a:srgbClr val="E1E0EC"/>
            </a:solidFill>
          </a:ln>
        </p:spPr>
      </p:cxnSp>
      <p:sp>
        <p:nvSpPr>
          <p:cNvPr id="27" name="TextBox 26"/>
          <p:cNvSpPr txBox="1"/>
          <p:nvPr/>
        </p:nvSpPr>
        <p:spPr>
          <a:xfrm>
            <a:off x="594359" y="2029967"/>
            <a:ext cx="2329434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noAutofit/>
          </a:bodyPr>
          <a:lstStyle/>
          <a:p>
            <a:pPr algn="r" rtl="1" marL="164592" indent="-164592">
              <a:lnSpc>
                <a:spcPct val="115000"/>
              </a:lnSpc>
              <a:spcAft>
                <a:spcPts val="400"/>
              </a:spcAft>
              <a:buClr>
                <a:srgbClr val="7C32C9"/>
              </a:buClr>
              <a:buFont typeface="Arial"/>
              <a:buChar char="•"/>
            </a:pPr>
            <a:r>
              <a:rPr lang="ar-SA" sz="1050" b="0" dirty="0">
                <a:solidFill>
                  <a:srgbClr val="333333"/>
                </a:solidFill>
                <a:latin typeface="DiodrumArabic-Medium" pitchFamily="2" charset="-78"/>
                <a:cs typeface="DiodrumArabic-Medium" pitchFamily="2" charset="-78"/>
              </a:rPr>
              <a:t>متابعة مرحلة التحكيم مع أمانة الجائزة</a:t>
            </a:r>
          </a:p>
          <a:p>
            <a:pPr algn="r" rtl="1" marL="164592" indent="-164592">
              <a:lnSpc>
                <a:spcPct val="115000"/>
              </a:lnSpc>
              <a:spcAft>
                <a:spcPts val="400"/>
              </a:spcAft>
              <a:buClr>
                <a:srgbClr val="7C32C9"/>
              </a:buClr>
              <a:buFont typeface="Arial"/>
              <a:buChar char="•"/>
            </a:pPr>
            <a:r>
              <a:rPr lang="ar-SA" sz="1050" b="0" dirty="0">
                <a:solidFill>
                  <a:srgbClr val="333333"/>
                </a:solidFill>
                <a:latin typeface="DiodrumArabic-Medium" pitchFamily="2" charset="-78"/>
                <a:cs typeface="DiodrumArabic-Medium" pitchFamily="2" charset="-78"/>
              </a:rPr>
              <a:t>الاستعداد لحفل التكريم في 8 أكتوبر 2026</a:t>
            </a:r>
          </a:p>
          <a:p>
            <a:pPr algn="r" rtl="1" marL="164592" indent="-164592">
              <a:lnSpc>
                <a:spcPct val="115000"/>
              </a:lnSpc>
              <a:spcAft>
                <a:spcPts val="400"/>
              </a:spcAft>
              <a:buClr>
                <a:srgbClr val="7C32C9"/>
              </a:buClr>
              <a:buFont typeface="Arial"/>
              <a:buChar char="•"/>
            </a:pPr>
            <a:r>
              <a:rPr lang="ar-SA" sz="1050" b="0" dirty="0">
                <a:solidFill>
                  <a:srgbClr val="333333"/>
                </a:solidFill>
                <a:latin typeface="DiodrumArabic-Medium" pitchFamily="2" charset="-78"/>
                <a:cs typeface="DiodrumArabic-Medium" pitchFamily="2" charset="-78"/>
              </a:rPr>
              <a:t>تجهيز خطة تواصل للنتيجة بالحالتين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39" y="3657600"/>
            <a:ext cx="2420874" cy="594360"/>
          </a:xfrm>
          <a:prstGeom prst="roundRect">
            <a:avLst>
              <a:gd name="adj" fmla="val 12307"/>
            </a:avLst>
          </a:prstGeom>
          <a:solidFill>
            <a:srgbClr val="F4F3F9"/>
          </a:solidFill>
          <a:ln w="9525">
            <a:solidFill>
              <a:srgbClr val="E1E0EC"/>
            </a:solidFill>
          </a:ln>
        </p:spPr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40079" y="3675887"/>
            <a:ext cx="2237994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  <a:noAutofit/>
          </a:bodyPr>
          <a:lstStyle/>
          <a:p>
            <a:pPr algn="r" rtl="1">
              <a:lnSpc>
                <a:spcPct val="110000"/>
              </a:lnSpc>
            </a:pPr>
            <a:r>
              <a:rPr lang="ar-SA" sz="1000" b="0" dirty="0">
                <a:solidFill>
                  <a:srgbClr val="119C68"/>
                </a:solidFill>
                <a:latin typeface="DiodrumArabic-Bold" pitchFamily="2" charset="-78"/>
                <a:cs typeface="DiodrumArabic-Bold" pitchFamily="2" charset="-78"/>
              </a:rPr>
              <a:t>المستهدف: </a:t>
            </a:r>
            <a:r>
              <a:rPr lang="ar-SA" sz="1000" b="0" dirty="0">
                <a:solidFill>
                  <a:srgbClr val="2A206A"/>
                </a:solidFill>
                <a:latin typeface="DiodrumArabic-Semibold" pitchFamily="2" charset="-78"/>
                <a:cs typeface="DiodrumArabic-Semibold" pitchFamily="2" charset="-78"/>
              </a:rPr>
              <a:t>إعلان النتيجة في 8 أكتوبر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4709160"/>
            <a:ext cx="113842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  <a:noAutofit/>
          </a:bodyPr>
          <a:lstStyle/>
          <a:p>
            <a:pPr algn="r" rtl="1"/>
            <a:r>
              <a:rPr lang="ar-SA" sz="1250" b="0" dirty="0">
                <a:solidFill>
                  <a:srgbClr val="2A206A"/>
                </a:solidFill>
                <a:latin typeface="DiodrumArabic-Bold" pitchFamily="2" charset="-78"/>
                <a:cs typeface="DiodrumArabic-Bold" pitchFamily="2" charset="-78"/>
              </a:rPr>
              <a:t>أبرز المحطات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00566" y="5056632"/>
            <a:ext cx="2695194" cy="658368"/>
          </a:xfrm>
          <a:prstGeom prst="roundRect">
            <a:avLst>
              <a:gd name="adj" fmla="val 11111"/>
            </a:avLst>
          </a:prstGeom>
          <a:solidFill>
            <a:srgbClr val="F4F3F9"/>
          </a:solidFill>
          <a:ln w="9525">
            <a:solidFill>
              <a:srgbClr val="E1E0EC"/>
            </a:solidFill>
          </a:ln>
        </p:spPr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9237726" y="5093208"/>
            <a:ext cx="242087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  <a:noAutofit/>
          </a:bodyPr>
          <a:lstStyle/>
          <a:p>
            <a:pPr algn="r" rtl="1"/>
            <a:r>
              <a:rPr lang="ar-SA" sz="1100" b="0" dirty="0">
                <a:solidFill>
                  <a:srgbClr val="7C32C9"/>
                </a:solidFill>
                <a:latin typeface="DiodrumArabic-Bold" pitchFamily="2" charset="-78"/>
                <a:cs typeface="DiodrumArabic-Bold" pitchFamily="2" charset="-78"/>
              </a:rPr>
              <a:t>سبتمبر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37726" y="5349240"/>
            <a:ext cx="242087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noAutofit/>
          </a:bodyPr>
          <a:lstStyle/>
          <a:p>
            <a:pPr algn="r" rtl="1">
              <a:lnSpc>
                <a:spcPct val="105000"/>
              </a:lnSpc>
            </a:pPr>
            <a:r>
              <a:rPr lang="ar-SA" sz="950" b="0" dirty="0">
                <a:solidFill>
                  <a:srgbClr val="333333"/>
                </a:solidFill>
                <a:latin typeface="DiodrumArabic-Regular" pitchFamily="2" charset="-78"/>
                <a:cs typeface="DiodrumArabic-Regular" pitchFamily="2" charset="-78"/>
              </a:rPr>
              <a:t>تنفيذ 6 أنشطة | بدء تحكيم الجائزة | تصعيد استبيان الوزارة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04204" y="5056632"/>
            <a:ext cx="2695194" cy="658368"/>
          </a:xfrm>
          <a:prstGeom prst="roundRect">
            <a:avLst>
              <a:gd name="adj" fmla="val 11111"/>
            </a:avLst>
          </a:prstGeom>
          <a:solidFill>
            <a:srgbClr val="F4F3F9"/>
          </a:solidFill>
          <a:ln w="9525">
            <a:solidFill>
              <a:srgbClr val="E1E0EC"/>
            </a:solidFill>
          </a:ln>
        </p:spPr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341364" y="5093208"/>
            <a:ext cx="242087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  <a:noAutofit/>
          </a:bodyPr>
          <a:lstStyle/>
          <a:p>
            <a:pPr algn="r" rtl="1"/>
            <a:r>
              <a:rPr lang="ar-SA" sz="1100" b="0" dirty="0">
                <a:solidFill>
                  <a:srgbClr val="7C32C9"/>
                </a:solidFill>
                <a:latin typeface="DiodrumArabic-Bold" pitchFamily="2" charset="-78"/>
                <a:cs typeface="DiodrumArabic-Bold" pitchFamily="2" charset="-78"/>
              </a:rPr>
              <a:t>أكتوبر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41364" y="5349240"/>
            <a:ext cx="242087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noAutofit/>
          </a:bodyPr>
          <a:lstStyle/>
          <a:p>
            <a:pPr algn="r" rtl="1">
              <a:lnSpc>
                <a:spcPct val="105000"/>
              </a:lnSpc>
            </a:pPr>
            <a:r>
              <a:rPr lang="ar-SA" sz="950" b="0" dirty="0">
                <a:solidFill>
                  <a:srgbClr val="333333"/>
                </a:solidFill>
                <a:latin typeface="DiodrumArabic-Regular" pitchFamily="2" charset="-78"/>
                <a:cs typeface="DiodrumArabic-Regular" pitchFamily="2" charset="-78"/>
              </a:rPr>
              <a:t>8 أكتوبر: إعلان نتائج الجائزة الخليجية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307841" y="5056632"/>
            <a:ext cx="2695194" cy="658368"/>
          </a:xfrm>
          <a:prstGeom prst="roundRect">
            <a:avLst>
              <a:gd name="adj" fmla="val 11111"/>
            </a:avLst>
          </a:prstGeom>
          <a:solidFill>
            <a:srgbClr val="F4F3F9"/>
          </a:solidFill>
          <a:ln w="9525">
            <a:solidFill>
              <a:srgbClr val="E1E0EC"/>
            </a:solidFill>
          </a:ln>
        </p:spPr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3445001" y="5093208"/>
            <a:ext cx="242087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  <a:noAutofit/>
          </a:bodyPr>
          <a:lstStyle/>
          <a:p>
            <a:pPr algn="r" rtl="1"/>
            <a:r>
              <a:rPr lang="ar-SA" sz="1100" b="0" dirty="0">
                <a:solidFill>
                  <a:srgbClr val="7C32C9"/>
                </a:solidFill>
                <a:latin typeface="DiodrumArabic-Bold" pitchFamily="2" charset="-78"/>
                <a:cs typeface="DiodrumArabic-Bold" pitchFamily="2" charset="-78"/>
              </a:rPr>
              <a:t>نوفمبر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45001" y="5349240"/>
            <a:ext cx="242087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noAutofit/>
          </a:bodyPr>
          <a:lstStyle/>
          <a:p>
            <a:pPr algn="r" rtl="1">
              <a:lnSpc>
                <a:spcPct val="105000"/>
              </a:lnSpc>
            </a:pPr>
            <a:r>
              <a:rPr lang="ar-SA" sz="950" b="0" dirty="0">
                <a:solidFill>
                  <a:srgbClr val="333333"/>
                </a:solidFill>
                <a:latin typeface="DiodrumArabic-Regular" pitchFamily="2" charset="-78"/>
                <a:cs typeface="DiodrumArabic-Regular" pitchFamily="2" charset="-78"/>
              </a:rPr>
              <a:t>الاجتماعات التشخيصية ونماذج الحلول للجهات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11479" y="5056632"/>
            <a:ext cx="2695194" cy="658368"/>
          </a:xfrm>
          <a:prstGeom prst="roundRect">
            <a:avLst>
              <a:gd name="adj" fmla="val 11111"/>
            </a:avLst>
          </a:prstGeom>
          <a:solidFill>
            <a:srgbClr val="F4F3F9"/>
          </a:solidFill>
          <a:ln w="9525">
            <a:solidFill>
              <a:srgbClr val="E1E0EC"/>
            </a:solidFill>
          </a:ln>
        </p:spPr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548639" y="5093208"/>
            <a:ext cx="242087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  <a:noAutofit/>
          </a:bodyPr>
          <a:lstStyle/>
          <a:p>
            <a:pPr algn="r" rtl="1"/>
            <a:r>
              <a:rPr lang="ar-SA" sz="1100" b="0" dirty="0">
                <a:solidFill>
                  <a:srgbClr val="7C32C9"/>
                </a:solidFill>
                <a:latin typeface="DiodrumArabic-Bold" pitchFamily="2" charset="-78"/>
                <a:cs typeface="DiodrumArabic-Bold" pitchFamily="2" charset="-78"/>
              </a:rPr>
              <a:t>ديسمبر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39" y="5349240"/>
            <a:ext cx="242087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  <a:noAutofit/>
          </a:bodyPr>
          <a:lstStyle/>
          <a:p>
            <a:pPr algn="r" rtl="1">
              <a:lnSpc>
                <a:spcPct val="105000"/>
              </a:lnSpc>
            </a:pPr>
            <a:r>
              <a:rPr lang="ar-SA" sz="950" b="0" dirty="0">
                <a:solidFill>
                  <a:srgbClr val="333333"/>
                </a:solidFill>
                <a:latin typeface="DiodrumArabic-Regular" pitchFamily="2" charset="-78"/>
                <a:cs typeface="DiodrumArabic-Regular" pitchFamily="2" charset="-78"/>
              </a:rPr>
              <a:t>إغلاق مستهدف 1,800 مستفيد</a:t>
            </a:r>
          </a:p>
        </p:txBody>
      </p:sp>
    </p:spTree>
    <p:extLst>
      <p:ext uri="{BB962C8B-B14F-4D97-AF65-F5344CB8AC3E}">
        <p14:creationId xmlns:p14="http://schemas.microsoft.com/office/powerpoint/2010/main" val="1443579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063337B-499E-402F-9062-2D1A3D46A0CE}"/>
              </a:ext>
            </a:extLst>
          </p:cNvPr>
          <p:cNvSpPr txBox="1"/>
          <p:nvPr/>
        </p:nvSpPr>
        <p:spPr>
          <a:xfrm>
            <a:off x="8533900" y="1468899"/>
            <a:ext cx="1519648" cy="3847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 defTabSz="812810" rtl="1">
              <a:buClrTx/>
            </a:pPr>
            <a:r>
              <a:rPr lang="ar-SA" sz="2500" kern="1200" dirty="0">
                <a:solidFill>
                  <a:prstClr val="white"/>
                </a:solidFill>
                <a:latin typeface="DiodrumArabic-Bold"/>
                <a:ea typeface="DiodrumArabic-Bold"/>
                <a:cs typeface="DiodrumArabic-Bold"/>
              </a:rPr>
              <a:t>شكراً لكــم  </a:t>
            </a:r>
          </a:p>
        </p:txBody>
      </p:sp>
    </p:spTree>
    <p:extLst>
      <p:ext uri="{BB962C8B-B14F-4D97-AF65-F5344CB8AC3E}">
        <p14:creationId xmlns:p14="http://schemas.microsoft.com/office/powerpoint/2010/main" val="320865854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STSLIDEVIEWED" val="267,4,Slide1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6_Office Theme">
  <a:themeElements>
    <a:clrScheme name="DGA brand V3">
      <a:dk1>
        <a:sysClr val="windowText" lastClr="000000"/>
      </a:dk1>
      <a:lt1>
        <a:sysClr val="window" lastClr="FFFFFF"/>
      </a:lt1>
      <a:dk2>
        <a:srgbClr val="44546A"/>
      </a:dk2>
      <a:lt2>
        <a:srgbClr val="FFFFFF"/>
      </a:lt2>
      <a:accent1>
        <a:srgbClr val="1CC182"/>
      </a:accent1>
      <a:accent2>
        <a:srgbClr val="7C32C9"/>
      </a:accent2>
      <a:accent3>
        <a:srgbClr val="00ABAF"/>
      </a:accent3>
      <a:accent4>
        <a:srgbClr val="2A206A"/>
      </a:accent4>
      <a:accent5>
        <a:srgbClr val="0082DE"/>
      </a:accent5>
      <a:accent6>
        <a:srgbClr val="3C33B1"/>
      </a:accent6>
      <a:hlink>
        <a:srgbClr val="0099FF"/>
      </a:hlink>
      <a:folHlink>
        <a:srgbClr val="A85C82"/>
      </a:folHlink>
    </a:clrScheme>
    <a:fontScheme name="DGA font">
      <a:majorFont>
        <a:latin typeface="DiodrumArabic-Semibold"/>
        <a:ea typeface=""/>
        <a:cs typeface="DiodrumArabic-Semibold"/>
      </a:majorFont>
      <a:minorFont>
        <a:latin typeface="DiodrumArabic-Medium"/>
        <a:ea typeface=""/>
        <a:cs typeface="DiodrumArabic-Medium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0F5922D8-4AC6-446B-85D5-A9906B3085AF}" vid="{D76656DE-EB0F-476F-AA0B-A4EB005C8A5C}"/>
    </a:ext>
  </a:extLst>
</a:theme>
</file>

<file path=ppt/theme/theme2.xml><?xml version="1.0" encoding="utf-8"?>
<a:theme xmlns:a="http://schemas.openxmlformats.org/drawingml/2006/main" name="Office Theme [1787577115809]">
  <a:themeElements>
    <a:clrScheme name="DGA brand V3">
      <a:dk1>
        <a:sysClr val="windowText" lastClr="000000"/>
      </a:dk1>
      <a:lt1>
        <a:sysClr val="window" lastClr="FFFFFF"/>
      </a:lt1>
      <a:dk2>
        <a:srgbClr val="44546A"/>
      </a:dk2>
      <a:lt2>
        <a:srgbClr val="FFFFFF"/>
      </a:lt2>
      <a:accent1>
        <a:srgbClr val="1CC182"/>
      </a:accent1>
      <a:accent2>
        <a:srgbClr val="7C32C9"/>
      </a:accent2>
      <a:accent3>
        <a:srgbClr val="00ABAF"/>
      </a:accent3>
      <a:accent4>
        <a:srgbClr val="2A206A"/>
      </a:accent4>
      <a:accent5>
        <a:srgbClr val="0082DE"/>
      </a:accent5>
      <a:accent6>
        <a:srgbClr val="3C33B1"/>
      </a:accent6>
      <a:hlink>
        <a:srgbClr val="0099FF"/>
      </a:hlink>
      <a:folHlink>
        <a:srgbClr val="A85C82"/>
      </a:folHlink>
    </a:clrScheme>
    <a:fontScheme name="Office">
      <a:majorFont>
        <a:latin typeface="DiodrumArabic-Bold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iodrumArabic-Regula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1_Office Theme [1787577115809]">
  <a:themeElements>
    <a:clrScheme name="DGA brand V3">
      <a:dk1>
        <a:sysClr val="windowText" lastClr="000000"/>
      </a:dk1>
      <a:lt1>
        <a:sysClr val="window" lastClr="FFFFFF"/>
      </a:lt1>
      <a:dk2>
        <a:srgbClr val="44546A"/>
      </a:dk2>
      <a:lt2>
        <a:srgbClr val="FFFFFF"/>
      </a:lt2>
      <a:accent1>
        <a:srgbClr val="1CC182"/>
      </a:accent1>
      <a:accent2>
        <a:srgbClr val="7C32C9"/>
      </a:accent2>
      <a:accent3>
        <a:srgbClr val="00ABAF"/>
      </a:accent3>
      <a:accent4>
        <a:srgbClr val="2A206A"/>
      </a:accent4>
      <a:accent5>
        <a:srgbClr val="0082DE"/>
      </a:accent5>
      <a:accent6>
        <a:srgbClr val="3C33B1"/>
      </a:accent6>
      <a:hlink>
        <a:srgbClr val="0099FF"/>
      </a:hlink>
      <a:folHlink>
        <a:srgbClr val="A85C82"/>
      </a:folHlink>
    </a:clrScheme>
    <a:fontScheme name="Office">
      <a:majorFont>
        <a:latin typeface="DiodrumArabic-Bold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iodrumArabic-Regula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613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03DBC7A-1A29-4341-A39B-8A54FB79A2CB}">
  <we:reference id="wa200010001" version="1.0.0.1" store="en-US" storeType="OMEX"/>
  <we:alternateReferences>
    <we:reference id="WA200010001" version="1.0.0.1" store="WA200010001" storeType="OMEX"/>
  </we:alternateReferences>
  <we:properties>
    <we:property name="claude.fileId" value="&quot;8ad7ded0-fd46-4ceb-984f-c0af964ab244&quot;"/>
  </we:properties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FE0D52C3C8F65469FEB3CF373959CC5" ma:contentTypeVersion="15" ma:contentTypeDescription="Create a new document." ma:contentTypeScope="" ma:versionID="55b4a93dead6a3e02c3886415224c026">
  <xsd:schema xmlns:xsd="http://www.w3.org/2001/XMLSchema" xmlns:xs="http://www.w3.org/2001/XMLSchema" xmlns:p="http://schemas.microsoft.com/office/2006/metadata/properties" xmlns:ns2="4dc0dfcf-6ac6-48c9-a404-84bdfb1cd927" xmlns:ns3="0cff6292-cc8f-467e-a122-439d246d0572" targetNamespace="http://schemas.microsoft.com/office/2006/metadata/properties" ma:root="true" ma:fieldsID="d9ca5a12980a9087c6c8256512a9c9e7" ns2:_="" ns3:_="">
    <xsd:import namespace="4dc0dfcf-6ac6-48c9-a404-84bdfb1cd927"/>
    <xsd:import namespace="0cff6292-cc8f-467e-a122-439d246d057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LengthInSecond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dc0dfcf-6ac6-48c9-a404-84bdfb1cd92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4f96108a-6aff-4dab-afc9-a2b18d53be6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ff6292-cc8f-467e-a122-439d246d0572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a5482546-e6e0-4b38-b86b-98d2c4ea59f8}" ma:internalName="TaxCatchAll" ma:showField="CatchAllData" ma:web="0cff6292-cc8f-467e-a122-439d246d057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dc0dfcf-6ac6-48c9-a404-84bdfb1cd927">
      <Terms xmlns="http://schemas.microsoft.com/office/infopath/2007/PartnerControls"/>
    </lcf76f155ced4ddcb4097134ff3c332f>
    <TaxCatchAll xmlns="0cff6292-cc8f-467e-a122-439d246d0572" xsi:nil="true"/>
  </documentManagement>
</p:properties>
</file>

<file path=customXml/itemProps1.xml><?xml version="1.0" encoding="utf-8"?>
<ds:datastoreItem xmlns:ds="http://schemas.openxmlformats.org/officeDocument/2006/customXml" ds:itemID="{20682B11-8ADB-416A-B0B9-86E5E414A0C5}">
  <ds:schemaRefs>
    <ds:schemaRef ds:uri="0cff6292-cc8f-467e-a122-439d246d0572"/>
    <ds:schemaRef ds:uri="4dc0dfcf-6ac6-48c9-a404-84bdfb1cd92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CCCCCE3C-BB73-4EF7-8D83-1E6DD5369A7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C898E8B-24FC-4411-BFB0-46DEA670D20D}">
  <ds:schemaRefs>
    <ds:schemaRef ds:uri="0cff6292-cc8f-467e-a122-439d246d0572"/>
    <ds:schemaRef ds:uri="4dc0dfcf-6ac6-48c9-a404-84bdfb1cd927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1367</TotalTime>
  <Words>790</Words>
  <Application>Microsoft Office PowerPoint</Application>
  <PresentationFormat>Widescreen</PresentationFormat>
  <Paragraphs>166</Paragraphs>
  <Slides>15</Slides>
  <Notes>10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7" baseType="lpstr">
      <vt:lpstr>☞DIODRUM ARABIC MEDIUM</vt:lpstr>
      <vt:lpstr>☞DIODRUM ARABIC SEMIBOLD</vt:lpstr>
      <vt:lpstr>Arial</vt:lpstr>
      <vt:lpstr>DiodrumArabic-Bold</vt:lpstr>
      <vt:lpstr>DiodrumArabic-Medium</vt:lpstr>
      <vt:lpstr>DiodrumArabic-Regular</vt:lpstr>
      <vt:lpstr>DiodrumArabic-Semibold</vt:lpstr>
      <vt:lpstr>SST Arabic</vt:lpstr>
      <vt:lpstr>6_Office Theme</vt:lpstr>
      <vt:lpstr>Office Theme [1787577115809]</vt:lpstr>
      <vt:lpstr>1_Office Theme [1787577115809]</vt:lpstr>
      <vt:lpstr>think-cell Slide</vt:lpstr>
      <vt:lpstr>PowerPoint Presentation</vt:lpstr>
      <vt:lpstr>PowerPoint Presentation</vt:lpstr>
      <vt:lpstr>PowerPoint Presentation</vt:lpstr>
      <vt:lpstr>البرامج التدريبية </vt:lpstr>
      <vt:lpstr>1.1 المنجزات</vt:lpstr>
      <vt:lpstr>البرامج التدريبية </vt:lpstr>
      <vt:lpstr>1.2 المخطط لشهر سبتمبر</vt:lpstr>
      <vt:lpstr>PowerPoint Presentation</vt:lpstr>
      <vt:lpstr>الجهود والمبادرات القائمة </vt:lpstr>
      <vt:lpstr>PowerPoint Presentation</vt:lpstr>
      <vt:lpstr>الجهود والمبادرات القائمة </vt:lpstr>
      <vt:lpstr>PowerPoint Presentation</vt:lpstr>
      <vt:lpstr>الجهود والمبادرات القائمة 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تقرير سير الأعمال - رقم الاجتماع (1) - 2026</dc:title>
  <dc:creator>Abdullah A. Bin Jadid</dc:creator>
  <cp:lastModifiedBy>Bushra H. Alqahtani</cp:lastModifiedBy>
  <cp:revision>121</cp:revision>
  <dcterms:modified xsi:type="dcterms:W3CDTF">2026-09-02T08:18:17Z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0x0101005FE0D52C3C8F65469FEB3CF373959CC5</vt:lpwstr>
  </property>
  <property fmtid="{D5CDD505-2E9C-101B-9397-08002B2CF9AE}" pid="3" name="MediaServiceImageTags">
    <vt:lpwstr/>
  </property>
  <property fmtid="{D5CDD505-2E9C-101B-9397-08002B2CF9AE}" pid="4" name="SecloreClassification">
    <vt:lpwstr>{"Digital Government Authority PolicyServer (1a7ebbe3db99ca5051382e332a026aed8ec1d067)":{"ClassificationDisplayName":"Restricted","ClassificationMode":"ClassificationMode_UserDriven","LabelId":"10007","Version":"1"}}</vt:lpwstr>
  </property>
  <property fmtid="{D5CDD505-2E9C-101B-9397-08002B2CF9AE}" pid="5" name="SecloreClassificationDisplayName_1a7ebbe3db99ca5051382e332a026aed8ec1d067">
    <vt:lpwstr>Restricted</vt:lpwstr>
  </property>
  <property fmtid="{D5CDD505-2E9C-101B-9397-08002B2CF9AE}" pid="6" name="SecloreClassificationFooterTextValue">
    <vt:lpwstr>Restricted - مقيد</vt:lpwstr>
  </property>
  <property fmtid="{D5CDD505-2E9C-101B-9397-08002B2CF9AE}" pid="7" name="SecloreClassificationFooterColorHex">
    <vt:lpwstr>#f0c231</vt:lpwstr>
  </property>
  <property fmtid="{D5CDD505-2E9C-101B-9397-08002B2CF9AE}" pid="8" name="SecloreClassificationFooterFontSize">
    <vt:lpwstr>12</vt:lpwstr>
  </property>
  <property fmtid="{D5CDD505-2E9C-101B-9397-08002B2CF9AE}" pid="9" name="SecloreClassificationFooterAlignment">
    <vt:lpwstr>Center</vt:lpwstr>
  </property>
</Properties>
</file>