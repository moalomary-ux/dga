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1.svg" ContentType="image/svg+xml"/>
  <Override PartName="/ppt/media/image24.svg" ContentType="image/svg+xml"/>
  <Override PartName="/ppt/media/image26.svg" ContentType="image/svg+xml"/>
  <Override PartName="/ppt/media/image2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805" r:id="rId2"/>
  </p:sldMasterIdLst>
  <p:notesMasterIdLst>
    <p:notesMasterId r:id="rId69"/>
  </p:notesMasterIdLst>
  <p:handoutMasterIdLst>
    <p:handoutMasterId r:id="rId70"/>
  </p:handout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Lst>
  <p:sldSz cx="12192000" cy="6858000"/>
  <p:notesSz cx="6858000" cy="9144000"/>
  <p:embeddedFontLst>
    <p:embeddedFont>
      <p:font typeface="☞DIODRUM ARABIC" pitchFamily="2" charset="-78"/>
      <p:regular r:id="rId71"/>
      <p:bold r:id="rId72"/>
    </p:embeddedFont>
    <p:embeddedFont>
      <p:font typeface="☞DIODRUM ARABIC LIGHT" pitchFamily="2" charset="-78"/>
      <p:regular r:id="rId73"/>
    </p:embeddedFont>
    <p:embeddedFont>
      <p:font typeface="☞DIODRUM ARABIC MEDIUM" pitchFamily="2" charset="-78"/>
      <p:regular r:id="rId74"/>
    </p:embeddedFont>
    <p:embeddedFont>
      <p:font typeface="☞DIODRUM ARABIC SEMIBOLD" pitchFamily="2" charset="-78"/>
      <p:regular r:id="rId75"/>
      <p:bold r:id="rId76"/>
    </p:embeddedFont>
    <p:embeddedFont>
      <p:font typeface="Tahoma" panose="020B0604030504040204" pitchFamily="34" charset="0"/>
      <p:regular r:id="rId77"/>
      <p:bold r:id="rId78"/>
    </p:embeddedFont>
  </p:embeddedFontLst>
  <p:custShowLst>
    <p:custShow name="إحاطة موجزة للمحافظ (9 شرائح)" id="0">
      <p:sldLst>
        <p:sld r:id="rId17"/>
        <p:sld r:id="rId19"/>
        <p:sld r:id="rId23"/>
        <p:sld r:id="rId26"/>
        <p:sld r:id="rId27"/>
        <p:sld r:id="rId28"/>
        <p:sld r:id="rId35"/>
        <p:sld r:id="rId37"/>
        <p:sld r:id="rId39"/>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1651"/>
    <a:srgbClr val="00ABAF"/>
    <a:srgbClr val="3E32B8"/>
    <a:srgbClr val="2D1C6E"/>
    <a:srgbClr val="7C31CA"/>
    <a:srgbClr val="00AEB1"/>
    <a:srgbClr val="1DC182"/>
    <a:srgbClr val="57575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18"/>
    <p:restoredTop sz="96327"/>
  </p:normalViewPr>
  <p:slideViewPr>
    <p:cSldViewPr snapToGrid="0" snapToObjects="1">
      <p:cViewPr varScale="1">
        <p:scale>
          <a:sx n="112" d="100"/>
          <a:sy n="112" d="100"/>
        </p:scale>
        <p:origin x="216" y="432"/>
      </p:cViewPr>
      <p:guideLst/>
    </p:cSldViewPr>
  </p:slid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75" d="100"/>
          <a:sy n="75" d="100"/>
        </p:scale>
        <p:origin x="1696"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font" Target="fonts/font1.fntdata"/><Relationship Id="rId72" Type="http://schemas.openxmlformats.org/officeDocument/2006/relationships/font" Target="fonts/font2.fntdata"/><Relationship Id="rId73" Type="http://schemas.openxmlformats.org/officeDocument/2006/relationships/font" Target="fonts/font3.fntdata"/><Relationship Id="rId74" Type="http://schemas.openxmlformats.org/officeDocument/2006/relationships/font" Target="fonts/font4.fntdata"/><Relationship Id="rId75" Type="http://schemas.openxmlformats.org/officeDocument/2006/relationships/font" Target="fonts/font5.fntdata"/><Relationship Id="rId76" Type="http://schemas.openxmlformats.org/officeDocument/2006/relationships/font" Target="fonts/font6.fntdata"/><Relationship Id="rId77" Type="http://schemas.openxmlformats.org/officeDocument/2006/relationships/font" Target="fonts/font7.fntdata"/><Relationship Id="rId78" Type="http://schemas.openxmlformats.org/officeDocument/2006/relationships/font" Target="fonts/font8.fntdata"/><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7C9E42-D0DC-2C35-32C8-2B2DDD11FE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a:extLst>
              <a:ext uri="{FF2B5EF4-FFF2-40B4-BE49-F238E27FC236}">
                <a16:creationId xmlns:a16="http://schemas.microsoft.com/office/drawing/2014/main" id="{D34B272E-EE51-99D1-CD3A-68E0205FB5B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65338A-900D-DD46-B680-8D1F011BBA8F}" type="datetimeFigureOut">
              <a:rPr lang="en-SA" smtClean="0"/>
              <a:t>23/05/2024 R</a:t>
            </a:fld>
            <a:endParaRPr lang="en-SA"/>
          </a:p>
        </p:txBody>
      </p:sp>
      <p:sp>
        <p:nvSpPr>
          <p:cNvPr id="4" name="Footer Placeholder 3">
            <a:extLst>
              <a:ext uri="{FF2B5EF4-FFF2-40B4-BE49-F238E27FC236}">
                <a16:creationId xmlns:a16="http://schemas.microsoft.com/office/drawing/2014/main" id="{51157C51-3C0A-2904-410B-538DCA8766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5" name="Slide Number Placeholder 4">
            <a:extLst>
              <a:ext uri="{FF2B5EF4-FFF2-40B4-BE49-F238E27FC236}">
                <a16:creationId xmlns:a16="http://schemas.microsoft.com/office/drawing/2014/main" id="{611FDCE3-59FF-9CE1-513E-4EB61CA145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A02244-58AA-3149-AE54-09BBFAC6E4C4}" type="slidenum">
              <a:rPr lang="en-SA" smtClean="0"/>
              <a:t>‹#›</a:t>
            </a:fld>
            <a:endParaRPr lang="en-SA"/>
          </a:p>
        </p:txBody>
      </p:sp>
    </p:spTree>
    <p:extLst>
      <p:ext uri="{BB962C8B-B14F-4D97-AF65-F5344CB8AC3E}">
        <p14:creationId xmlns:p14="http://schemas.microsoft.com/office/powerpoint/2010/main" val="14842649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1A83B2-4682-9745-842D-AAF27AD12992}" type="datetimeFigureOut">
              <a:rPr lang="en-US" smtClean="0"/>
              <a:t>5/23/24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0E140-C9A0-6448-B24B-B1577119C39A}" type="slidenum">
              <a:rPr lang="en-US" smtClean="0"/>
              <a:t>‹#›</a:t>
            </a:fld>
            <a:endParaRPr lang="en-US"/>
          </a:p>
        </p:txBody>
      </p:sp>
    </p:spTree>
    <p:extLst>
      <p:ext uri="{BB962C8B-B14F-4D97-AF65-F5344CB8AC3E}">
        <p14:creationId xmlns:p14="http://schemas.microsoft.com/office/powerpoint/2010/main" val="338346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 في نص العرض الأصلي — الصفحة 1 في هذا الملف</a:t>
            </a:r>
          </a:p>
          <a:p>
            <a:pPr algn="r" rtl="1"/>
            <a:r>
              <a:rPr lang="ar-SA" sz="1200" b="1" dirty="0"/>
              <a:t>⚠ تنبيه من إعداد العرض — التصنيف</a:t>
            </a:r>
          </a:p>
          <a:p>
            <a:pPr algn="r" rtl="1"/>
            <a:r>
              <a:rPr lang="ar-SA" sz="1200" b="0" dirty="0"/>
              <a:t>وُضعت تسمية «عام - Public» في التذييل كما تشترط هوية الهيئة. المحتوى (حالة التنسيق مع الوزارة، أرقام غير مؤكدة، لا ميزانية معتمدة) قد يستوجب تصنيفًا أعلى مثل «مقيّد» قبل تداول الملف؛ تُعدّل التسمية مرة واحدة من نمط الشرائح (Slide Master) أو من متغير CLASSIFICATION في الشيفرة.</a:t>
            </a:r>
          </a:p>
          <a:p>
            <a:pPr algn="r" rtl="1"/>
            <a:r>
              <a:rPr lang="ar-SA" sz="1200" b="1" dirty="0"/>
              <a:t>افتتاحية مقترحة للتقديم</a:t>
            </a:r>
          </a:p>
          <a:p>
            <a:pPr algn="r" rtl="1"/>
            <a:r>
              <a:rPr lang="ar-SA" sz="1200" b="0" dirty="0"/>
              <a:t>معاليكم، نعرض اليوم أين وصل العمل المشترك مع وزارة الاتصالات وتقنية المعلومات في مسار التدريب في الذكاء الاصطناعي، وما قدمه برنامج قدراتك لدعمه. شاركنا في خمسة اجتماعات بحسب سجل التحديث، واستمر تنفيذ البرامج بالتوازي مع إعداد المدخلات المطلوبة. ومع تقدم النقاش، اتضح أن تحديد عدد المتدربين وحده لا يكفي؛ إذ نحتاج إلى تحديد من نستهدف، وما القدرة التي يحتاجها، ومن يتابع تطبيقها داخل الجهة. لذلك نرفع لمعاليكم تصورًا يربط التدريب بالتبني والإنتاجية، ويبدأ بجهات ذات أولوية ضمن إطار يمكن توسيعه على مستوى الحكومة.</a:t>
            </a:r>
          </a:p>
          <a:p>
            <a:pPr algn="r" rtl="1"/>
            <a:r>
              <a:rPr lang="ar-SA" sz="1200" b="1" dirty="0"/>
              <a:t>هدف العرض</a:t>
            </a:r>
          </a:p>
          <a:p>
            <a:pPr algn="r" rtl="1"/>
            <a:r>
              <a:rPr lang="ar-SA" sz="1200" b="0" dirty="0"/>
              <a:t>إحاطة معاليكم بما تم في العمل المشترك، وتوضيح التوجه المقترح لبناء قدرات حكومية تُترجم إلى تطبيق فعلي للذكاء الاصطناعي.</a:t>
            </a:r>
          </a:p>
          <a:p>
            <a:pPr algn="r" rtl="1"/>
            <a:r>
              <a:rPr lang="ar-SA" sz="1200" b="1" dirty="0"/>
              <a:t>ملاحظة تحريرية (داخلية)</a:t>
            </a:r>
          </a:p>
          <a:p>
            <a:pPr algn="r" rtl="1"/>
            <a:r>
              <a:rPr lang="ar-SA" sz="1200" b="0" dirty="0"/>
              <a:t>نسخة عمل للمراجعة. تفصل بين ما ورد في المرفقات، وإفادات النقاش، والتوصيات المقترحة. تُستكمل البنود المحددة في سجل الإثبات قبل اعتماد العرض. معلومات الاجتماعات والأعداد تُنسب إلى مصادرها حتى تأكيدها.</a:t>
            </a:r>
          </a:p>
          <a:p>
            <a:pPr algn="r" rtl="1"/>
            <a:r>
              <a:rPr lang="ar-SA" sz="1200" b="0" dirty="0"/>
              <a:t>يضم النص 18 شريحة و5 ملاحق. نص الشريحة موجّه للعرض، وملاحظات التقديم موجّهة للمتحدث، وسجل الإثبات لاستكمال البيانات قبل الاعتماد.</a:t>
            </a:r>
          </a:p>
          <a:p>
            <a:pPr algn="r" rtl="1"/>
            <a:r>
              <a:rPr lang="ar-SA" sz="1200" b="1" dirty="0"/>
              <a:t>للمراجعة قبل الاجتماع (سجل الإثبات)</a:t>
            </a:r>
          </a:p>
          <a:p>
            <a:pPr algn="r" rtl="1"/>
            <a:r>
              <a:rPr lang="ar-SA" sz="1200" b="0" dirty="0"/>
              <a:t>تأكيد تاريخ الاجتماع والمسمى الرسمي للمبادرة واللجنة في عنوان العرض.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هدف العرض</a:t>
            </a:r>
          </a:p>
          <a:p>
            <a:pPr algn="r" rtl="1"/>
            <a:r>
              <a:rPr lang="ar-SA" sz="1200" b="0" dirty="0"/>
              <a:t>إحاطة معاليكم بما تم في العمل المشترك، وتوضيح التوجه المقترح لبناء قدرات حكومية تُترجم إلى تطبيق فعلي للذكاء الاصطناعي.</a:t>
            </a:r>
          </a:p>
          <a:p>
            <a:pPr algn="r" rtl="1"/>
            <a:r>
              <a:rPr lang="ar-SA" sz="1200" b="1" dirty="0"/>
              <a:t>بنية العرض</a:t>
            </a:r>
          </a:p>
          <a:p>
            <a:pPr algn="r" rtl="1"/>
            <a:r>
              <a:rPr lang="ar-SA" sz="1200" b="0" dirty="0"/>
              <a:t>ملخص تنفيذي، ثم أربعة محاور تجيب عن: أين وصلنا؟ وما النموذج المقترح؟ وكيف نصمم المسارات والشراكات والتمويل؟ وكيف ننفذ ونقيس ونقرر؟ — ثم الملاحق للرجوع عند الحاجة.</a:t>
            </a:r>
          </a:p>
          <a:p>
            <a:pPr algn="r" rtl="1"/>
            <a:r>
              <a:rPr lang="ar-SA" sz="1200" b="0" dirty="0"/>
              <a:t>يضم النص 18 شريحة و5 ملاحق. نص الشريحة موجّه للعرض، وملاحظات التقديم موجّهة للمتحدث، وسجل الإثبات لاستكمال البيانات قبل الاعتماد.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2 في نص العرض الأصلي — الصفحة 3 في هذا الملف</a:t>
            </a:r>
          </a:p>
          <a:p>
            <a:pPr algn="r" rtl="1"/>
            <a:r>
              <a:rPr lang="ar-SA" sz="1200" b="1" dirty="0"/>
              <a:t>ملاحظات التقديم</a:t>
            </a:r>
          </a:p>
          <a:p>
            <a:pPr algn="r" rtl="1"/>
            <a:r>
              <a:rPr lang="ar-SA" sz="1200" b="0" dirty="0"/>
              <a:t>ما نرفعه لمعاليكم هو حصيلة عمل قائم وتصور للخطوة التالية. استمرت برامج قدراتك أثناء التنسيق، وقدمت الاجتماعات فهمًا أدق لما يلزم لتصميم المبادرة. نرى أن الانتقال إلى التنفيذ يحتاج إلى اتفاق محدد: الوزارة تقود المسار المشترك، وقدراتك يسهم ضمن نطاق حكومي متفق عليه، والجهات تحدد احتياجاتها وتتولى متابعة التطبيق داخلها. بهذه الصورة يمكن اعتماد الأعداد والبرامج على أساس واضح، وتقييم النتائج بما يفيد العمل الحكومي.</a:t>
            </a:r>
          </a:p>
          <a:p>
            <a:pPr algn="r" rtl="1"/>
            <a:r>
              <a:rPr lang="ar-SA" sz="1200" b="1" dirty="0"/>
              <a:t>حالة المحتوى</a:t>
            </a:r>
          </a:p>
          <a:p>
            <a:pPr algn="r" rtl="1"/>
            <a:r>
              <a:rPr lang="ar-SA" sz="1200" b="0" dirty="0"/>
              <a:t>الاجتماعات والمساهمات واردة في المصادر؛ النموذج وطريقة البدء توصية للمواءمة.</a:t>
            </a:r>
          </a:p>
          <a:p>
            <a:pPr algn="r" rtl="1"/>
            <a:r>
              <a:rPr lang="ar-SA" sz="1200" b="1" dirty="0"/>
              <a:t>مرجع المحتوى</a:t>
            </a:r>
          </a:p>
          <a:p>
            <a:pPr algn="r" rtl="1"/>
            <a:r>
              <a:rPr lang="ar-SA" sz="1200" b="0" dirty="0"/>
              <a:t>مسودة تحديث 5 أكتوبر، الشرائح 3 و6 و7؛ وثيقة المهمة الوطنية، الصفحات 2–5؛ إفادة محمد العُمري.</a:t>
            </a:r>
          </a:p>
          <a:p>
            <a:pPr algn="r" rtl="1"/>
            <a:r>
              <a:rPr lang="ar-SA" sz="1200" b="1" dirty="0"/>
              <a:t>للمراجعة قبل الاجتماع (سجل الإثبات)</a:t>
            </a:r>
          </a:p>
          <a:p>
            <a:pPr algn="r" rtl="1"/>
            <a:r>
              <a:rPr lang="ar-SA" sz="1200" b="0" dirty="0"/>
              <a:t>تأكيد العدد الإجمالي للاجتماعات، وحالة اعتماد الجهات الخمس؛ تجنب عرض التصور المقترح كقرار مشترك معتمد.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القسم الأول: أين وصلنا؟</a:t>
            </a:r>
          </a:p>
          <a:p>
            <a:pPr algn="r" rtl="1"/>
            <a:r>
              <a:rPr lang="ar-SA" sz="1200" b="0" dirty="0"/>
              <a:t>الأدوار والاجتماعات وما أُنجز حتى الآن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3 في نص العرض الأصلي — الصفحة 5 في هذا الملف</a:t>
            </a:r>
          </a:p>
          <a:p>
            <a:pPr algn="r" rtl="1"/>
            <a:r>
              <a:rPr lang="ar-SA" sz="1200" b="1" dirty="0"/>
              <a:t>ملاحظات التقديم</a:t>
            </a:r>
          </a:p>
          <a:p>
            <a:pPr algn="r" rtl="1"/>
            <a:r>
              <a:rPr lang="ar-SA" sz="1200" b="0" dirty="0"/>
              <a:t>من المهم الفصل بين قيادة المبادرة الوطنية، وتنظيم المسار الحكومي، وتقديم التدريب، وملكية بيانات الموظفين. هذه مسؤوليات مترابطة وقد تتوزع على أكثر من طرف. نرى أن دور قدراتك يُبنى على اختصاص الهيئة وخبرتها في القيادات والتحول الرقمي، ويُوثق في نطاق عمل واضح مع الوزارة والجهات المعنية. ويتضمن ذلك من يعتمد المستهدف، ومن يجمع البيانات، ومن ينفذ البرنامج، ومن يملك متابعة أثره داخل الجهة. هذا اتفاق تنفيذي يُستكمل في ضوء الاختصاصات والتكليفات المعتمدة.</a:t>
            </a:r>
          </a:p>
          <a:p>
            <a:pPr algn="r" rtl="1"/>
            <a:r>
              <a:rPr lang="ar-SA" sz="1200" b="1" dirty="0"/>
              <a:t>حالة المحتوى</a:t>
            </a:r>
          </a:p>
          <a:p>
            <a:pPr algn="r" rtl="1"/>
            <a:r>
              <a:rPr lang="ar-SA" sz="1200" b="0" dirty="0"/>
              <a:t>قيادة الوزارة ودعم قدراتك من إفادة المستخدم؛ التفصيل التنفيذي والتنسيق مع سدايا مقترح.</a:t>
            </a:r>
          </a:p>
          <a:p>
            <a:pPr algn="r" rtl="1"/>
            <a:r>
              <a:rPr lang="ar-SA" sz="1200" b="1" dirty="0"/>
              <a:t>مرجع المحتوى</a:t>
            </a:r>
          </a:p>
          <a:p>
            <a:pPr algn="r" rtl="1"/>
            <a:r>
              <a:rPr lang="ar-SA" sz="1200" b="0" dirty="0"/>
              <a:t>إفادة محمد العُمري؛ مسودة التحديث، الشرائح 3 و6 و7؛ وثيقة المهمة الوطنية، الصفحات 2 و3 و5.</a:t>
            </a:r>
          </a:p>
          <a:p>
            <a:pPr algn="r" rtl="1"/>
            <a:r>
              <a:rPr lang="ar-SA" sz="1200" b="1" dirty="0"/>
              <a:t>للمراجعة قبل الاجتماع (سجل الإثبات)</a:t>
            </a:r>
          </a:p>
          <a:p>
            <a:pPr algn="r" rtl="1"/>
            <a:r>
              <a:rPr lang="ar-SA" sz="1200" b="0" dirty="0"/>
              <a:t>تأكيد الألقاب الوظيفية للأستاذ محمد الربيعان والأستاذة صفاء الراشد، والاسم الرسمي للفريق واللجنة؛ مراجعة توزيع المسؤوليات مع الوزارة قبل وصفه بأنه متفق عليه.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4 في نص العرض الأصلي — الصفحة 6 في هذا الملف</a:t>
            </a:r>
          </a:p>
          <a:p>
            <a:pPr algn="r" rtl="1"/>
            <a:r>
              <a:rPr lang="ar-SA" sz="1200" b="1" dirty="0"/>
              <a:t>ملاحظات التقديم</a:t>
            </a:r>
          </a:p>
          <a:p>
            <a:pPr algn="r" rtl="1"/>
            <a:r>
              <a:rPr lang="ar-SA" sz="1200" b="0" dirty="0"/>
              <a:t>بحسب مسودة التحديث، شارك الفريق في خمسة اجتماعات. بدأت النقاشات بما هو قائم من تدريب وبيانات، ثم انتقلت إلى سؤال من نستهدف وبأي حجم، وأخيرًا إلى كيفية الحصول على معلومات تساعد على اتخاذ القرار. أبرز مخرج عملي في الاجتماع الأخير هو الاتجاه إلى الجهات الخمس ذات الأولوية. نرى أن هذه الخطوة تتيح تحويل النقاش العام إلى احتياج محدد لكل جهة. وستُستكمل تواريخ الاجتماعات ومحاضرها لربط كل مخرج باجتماعه بدقة؛ ولذلك تُعرض هنا مراحل النقاش دون افتراض توزيع غير موثق للاجتماعات الأربعة الأولى.</a:t>
            </a:r>
          </a:p>
          <a:p>
            <a:pPr algn="r" rtl="1"/>
            <a:r>
              <a:rPr lang="ar-SA" sz="1200" b="1" dirty="0"/>
              <a:t>حالة المحتوى</a:t>
            </a:r>
          </a:p>
          <a:p>
            <a:pPr algn="r" rtl="1"/>
            <a:r>
              <a:rPr lang="ar-SA" sz="1200" b="0" dirty="0"/>
              <a:t>عدد الاجتماعات ومراحل النقاش مستندان إلى المسودة؛ التواريخ والمخرجات التفصيلية لكل اجتماع تحتاج إثباتًا.</a:t>
            </a:r>
          </a:p>
          <a:p>
            <a:pPr algn="r" rtl="1"/>
            <a:r>
              <a:rPr lang="ar-SA" sz="1200" b="1" dirty="0"/>
              <a:t>مرجع المحتوى</a:t>
            </a:r>
          </a:p>
          <a:p>
            <a:pPr algn="r" rtl="1"/>
            <a:r>
              <a:rPr lang="ar-SA" sz="1200" b="0" dirty="0"/>
              <a:t>مسودة تحديث 5 أكتوبر، الشريحة 3.</a:t>
            </a:r>
          </a:p>
          <a:p>
            <a:pPr algn="r" rtl="1"/>
            <a:r>
              <a:rPr lang="ar-SA" sz="1200" b="1" dirty="0"/>
              <a:t>للمراجعة قبل الاجتماع (سجل الإثبات)</a:t>
            </a:r>
          </a:p>
          <a:p>
            <a:pPr algn="r" rtl="1"/>
            <a:r>
              <a:rPr lang="ar-SA" sz="1200" b="0" dirty="0"/>
              <a:t>إرفاق سجل الاجتماعات الخمسة: التاريخ، المشاركون، موضوع الاجتماع، القرار أو المخرج، ومسؤول المتابعة. لا تُعامل تواريخ خارطة الطريق الوطنية كتواريخ اجتماعات.</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5 في نص العرض الأصلي — الصفحة 7 في هذا الملف</a:t>
            </a:r>
          </a:p>
          <a:p>
            <a:pPr algn="r" rtl="1"/>
            <a:r>
              <a:rPr lang="ar-SA" sz="1200" b="1" dirty="0"/>
              <a:t>ملاحظات التقديم</a:t>
            </a:r>
          </a:p>
          <a:p>
            <a:pPr algn="r" rtl="1"/>
            <a:r>
              <a:rPr lang="ar-SA" sz="1200" b="0" dirty="0"/>
              <a:t>هذه الأعمال تمثل ما قدمه قدراتك من قاعدة تنفيذية ومعرفية يمكن أن تستفيد منها المبادرة. بعض البرامج نُفذ قبل بدء التنسيق الحالي، لذا نعرضه ضمن جهود قدراتك في 2026 ولا ننسبه كله إلى المبادرة الجديدة. كما نفصل بين البرنامج المخطط والمنفذ، وبين سجل مسؤولي التقنية وحصر جميع موظفي الحكومة. أما التواصل مع الجهات، فلم تكن البيانات المطلوبة قد وردت بحسب آخر مسودة؛ وتحتاج حالة الردود إلى تحديث قبل الاجتماع. الورشة القادمة في FDE هي خطوة تعريفية تسبق تصميم المسار التطبيقي.</a:t>
            </a:r>
          </a:p>
          <a:p>
            <a:pPr algn="r" rtl="1"/>
            <a:r>
              <a:rPr lang="ar-SA" sz="1200" b="1" dirty="0"/>
              <a:t>حالة المحتوى</a:t>
            </a:r>
          </a:p>
          <a:p>
            <a:pPr algn="r" rtl="1"/>
            <a:r>
              <a:rPr lang="ar-SA" sz="1200" b="0" dirty="0"/>
              <a:t>أرقام التنفيذ والتواصل واردة في المسودة؛ الدراسة من المرفق؛ ورشة 7 أكتوبر مخططة وليست منفذة.</a:t>
            </a:r>
          </a:p>
          <a:p>
            <a:pPr algn="r" rtl="1"/>
            <a:r>
              <a:rPr lang="ar-SA" sz="1200" b="1" dirty="0"/>
              <a:t>مرجع المحتوى</a:t>
            </a:r>
          </a:p>
          <a:p>
            <a:pPr algn="r" rtl="1"/>
            <a:r>
              <a:rPr lang="ar-SA" sz="1200" b="0" dirty="0"/>
              <a:t>مسودة التحديث، الشرائح 4 و6 و7؛ الدراسة المعيارية، الصفحات 3 و6 و8.</a:t>
            </a:r>
          </a:p>
          <a:p>
            <a:pPr algn="r" rtl="1"/>
            <a:r>
              <a:rPr lang="ar-SA" sz="1200" b="1" dirty="0"/>
              <a:t>للمراجعة قبل الاجتماع (سجل الإثبات)</a:t>
            </a:r>
          </a:p>
          <a:p>
            <a:pPr algn="r" rtl="1"/>
            <a:r>
              <a:rPr lang="ar-SA" sz="1200" b="0" dirty="0"/>
              <a:t>تأكيد تاريخ قطع الأرقام؛ هل 222 أفراد فريدون أم مشاركات؟ هل البرامج الثمانية كلها ضمن النطاق ذاته؟ تحديث الردود من الجهات الـ52، وصف سجل الـ350، وتأكيد عقد الورشة وموعدها.</a:t>
            </a:r>
          </a:p>
          <a:p>
            <a:pPr algn="r" rtl="1"/>
            <a:r>
              <a:rPr lang="ar-SA" sz="1200" b="1" dirty="0"/>
              <a:t>⚠ تنبيه من إعداد العرض</a:t>
            </a:r>
          </a:p>
          <a:p>
            <a:pPr algn="r" rtl="1"/>
            <a:r>
              <a:rPr lang="ar-SA" sz="1200" b="0" dirty="0"/>
              <a:t>تعارض أرقام (بحسب ترقيم النص الأصلي): الشريحة 5 تذكر 8 برامج وورش عمل استفاد منها 272 موظفًا (الشركاء المرتبطون بمكتب رفع الإنتاجية)، بينما تذكر الشريحة 14 والملحق 3 وسجل الإثبات رقم 222 مستفيدًا لثمانية برامج. يُحسم أي الرقمين هو المعتمد قبل العرض.</a:t>
            </a:r>
          </a:p>
          <a:p>
            <a:pPr algn="r" rtl="1"/>
            <a:r>
              <a:rPr lang="ar-SA" sz="1200" b="1" dirty="0"/>
              <a:t>⚠ تنبيه من إعداد العرض</a:t>
            </a:r>
          </a:p>
          <a:p>
            <a:pPr algn="r" rtl="1"/>
            <a:r>
              <a:rPr lang="ar-SA" sz="1200" b="0" dirty="0"/>
              <a:t>لا تُجمع الأرقام الثلاثة (627 و770 و272) في رقم واحد؛ قد توجد برامج وأفراد مشتركون، ونطاق كل رقم مختلف. تاريخ القطع غير مذكور في المصدر.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القسم الثاني: النموذج المقترح</a:t>
            </a:r>
          </a:p>
          <a:p>
            <a:pPr algn="r" rtl="1"/>
            <a:r>
              <a:rPr lang="ar-SA" sz="1200" b="0" dirty="0"/>
              <a:t>خيارات التصميم والإطار والمسارات والمستهدف والبيانات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6 في نص العرض الأصلي — الصفحة 9 في هذا الملف</a:t>
            </a:r>
          </a:p>
          <a:p>
            <a:pPr algn="r" rtl="1"/>
            <a:r>
              <a:rPr lang="ar-SA" sz="1200" b="1" dirty="0"/>
              <a:t>ملاحظات التقديم</a:t>
            </a:r>
          </a:p>
          <a:p>
            <a:pPr algn="r" rtl="1"/>
            <a:r>
              <a:rPr lang="ar-SA" sz="1200" b="0" dirty="0"/>
              <a:t>هذه الخيارات تفسر لماذا لم يتحول النقاش حتى الآن إلى قائمة نهائية بالبرامج والأعداد. عندما يختلف المقصود بالنطاق، تختلف بياناته وحجمه وتكلفته. وعندما يكون العرض مبنيًا على ما يقدمه الشريك، قد تختلف ملاءمته عن برنامج نصممه على احتياج الجهة. المقترح هو تثبيت هذه الخيارات في وثيقة عمل مشتركة قصيرة، ثم بناء تفاصيل البرامج عليها. ونرى أهمية مطالب الوزارة بالبيانات؛ إذ يساعد التحقق منها على اعتماد مستهدف واقعي وتوجيه الموارد إلى الفئات والجهات الأكثر احتياجًا.</a:t>
            </a:r>
          </a:p>
          <a:p>
            <a:pPr algn="r" rtl="1"/>
            <a:r>
              <a:rPr lang="ar-SA" sz="1200" b="1" dirty="0"/>
              <a:t>حالة المحتوى</a:t>
            </a:r>
          </a:p>
          <a:p>
            <a:pPr algn="r" rtl="1"/>
            <a:r>
              <a:rPr lang="ar-SA" sz="1200" b="0" dirty="0"/>
              <a:t>تحليل وتوصية من قدراتك مبنيان على موضوعات النقاش، وليسا اتفاقًا معتمدًا.</a:t>
            </a:r>
          </a:p>
          <a:p>
            <a:pPr algn="r" rtl="1"/>
            <a:r>
              <a:rPr lang="ar-SA" sz="1200" b="1" dirty="0"/>
              <a:t>مرجع المحتوى</a:t>
            </a:r>
          </a:p>
          <a:p>
            <a:pPr algn="r" rtl="1"/>
            <a:r>
              <a:rPr lang="ar-SA" sz="1200" b="0" dirty="0"/>
              <a:t>إفادة محمد العُمري؛ مسودة التحديث، الشرائح 3 و6 و7؛ وثيقة المهمة الوطنية، الصفحات 3–5.</a:t>
            </a:r>
          </a:p>
          <a:p>
            <a:pPr algn="r" rtl="1"/>
            <a:r>
              <a:rPr lang="ar-SA" sz="1200" b="1" dirty="0"/>
              <a:t>للمراجعة قبل الاجتماع (سجل الإثبات)</a:t>
            </a:r>
          </a:p>
          <a:p>
            <a:pPr algn="r" rtl="1"/>
            <a:r>
              <a:rPr lang="ar-SA" sz="1200" b="0" dirty="0"/>
              <a:t>مراجعة وضع كل خيار: هل نوقش فقط، أم صدرت بشأنه توصية، أم اعتُمد؟ توثيق حالة القرار قبل عرض الصياغة النهائية.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7 في نص العرض الأصلي — الصفحة 10 في هذا الملف</a:t>
            </a:r>
          </a:p>
          <a:p>
            <a:pPr algn="r" rtl="1"/>
            <a:r>
              <a:rPr lang="ar-SA" sz="1200" b="1" dirty="0"/>
              <a:t>ملاحظات التقديم</a:t>
            </a:r>
          </a:p>
          <a:p>
            <a:pPr algn="r" rtl="1"/>
            <a:r>
              <a:rPr lang="ar-SA" sz="1200" b="0" dirty="0"/>
              <a:t>السؤال عن تدريب الحكومة كلها أو الجهات ذات الأولوية يجمع قرارين مختلفين: نطاق الإطار، وترتيب التنفيذ. نرى أن يكون الإطار قابلًا للاستخدام على مستوى الحكومة، وأن يتركز الجهد المخصص في البداية على جهات محددة يمكن تشخيص احتياجاتها ومتابعة نتائجها. بذلك تتوفر معايير مشتركة للتوسع، ويصبح اختيار الجهات مفهومًا. كما أن حساسية الجهة لا تعني تلقائيًا الإسراع في تدريبها أو تأجيلها؛ بل تعني تصميمًا وضوابط مناسبة لسياقها، وقد تبدأ بحالات منخفضة الحساسية أو ببرنامج قيادي قبل أي تطبيق تقني.</a:t>
            </a:r>
          </a:p>
          <a:p>
            <a:pPr algn="r" rtl="1"/>
            <a:r>
              <a:rPr lang="ar-SA" sz="1200" b="1" dirty="0"/>
              <a:t>حالة المحتوى</a:t>
            </a:r>
          </a:p>
          <a:p>
            <a:pPr algn="r" rtl="1"/>
            <a:r>
              <a:rPr lang="ar-SA" sz="1200" b="0" dirty="0"/>
              <a:t>إطار التغطية ومعايير الاختيار والتوسع توصية؛ التوجه إلى خمس جهات وارد في المسودة.</a:t>
            </a:r>
          </a:p>
          <a:p>
            <a:pPr algn="r" rtl="1"/>
            <a:r>
              <a:rPr lang="ar-SA" sz="1200" b="1" dirty="0"/>
              <a:t>مرجع المحتوى</a:t>
            </a:r>
          </a:p>
          <a:p>
            <a:pPr algn="r" rtl="1"/>
            <a:r>
              <a:rPr lang="ar-SA" sz="1200" b="0" dirty="0"/>
              <a:t>مسودة التحديث، الشرائح 3 و7؛ إفادة محمد العُمري.</a:t>
            </a:r>
          </a:p>
          <a:p>
            <a:pPr algn="r" rtl="1"/>
            <a:r>
              <a:rPr lang="ar-SA" sz="1200" b="1" dirty="0"/>
              <a:t>للمراجعة قبل الاجتماع (سجل الإثبات)</a:t>
            </a:r>
          </a:p>
          <a:p>
            <a:pPr algn="r" rtl="1"/>
            <a:r>
              <a:rPr lang="ar-SA" sz="1200" b="0" dirty="0"/>
              <a:t>تأكيد الجهات الخمس، وصاحب قرار اختيارها، وعلاقة اختيارها بمعايير الأولوية والجاهزية، وعدم وصفها بأنها تمثل جميع الحكومة.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8 في نص العرض الأصلي — الصفحة 11 في هذا الملف</a:t>
            </a:r>
          </a:p>
          <a:p>
            <a:pPr algn="r" rtl="1"/>
            <a:r>
              <a:rPr lang="ar-SA" sz="1200" b="1" dirty="0"/>
              <a:t>ملاحظات التقديم</a:t>
            </a:r>
          </a:p>
          <a:p>
            <a:pPr algn="r" rtl="1"/>
            <a:r>
              <a:rPr lang="ar-SA" sz="1200" b="0" dirty="0"/>
              <a:t>المسارات الثلاثة هي طريقة لتنظيم البرامج؛ أما الشرائح الوظيفية فهي وسيلة لتحديد المستفيدين داخلها. لذلك يمكن مواءمتها مع تقسيم الوزارة للقيادات والمديرين والتقنيين والمطورين وعموم العاملين. ونضيف في مسار المحترفين خبراء المجالات؛ لأن فهم الإجراء وجودته لا يملكه التقني وحده. وقد يحتاج الموظف إلى محتوى تأسيسي ثم مسار متخصص، مع احتسابه مرة واحدة عند قياس عدد المستفيدين الفريدين. أما الباحثون عن عمل، فهم ضمن النطاق الوطني الأوسع ويحتاجون إلى مسار يُحدد مع الطرف المسؤول عنه.</a:t>
            </a:r>
          </a:p>
          <a:p>
            <a:pPr algn="r" rtl="1"/>
            <a:r>
              <a:rPr lang="ar-SA" sz="1200" b="1" dirty="0"/>
              <a:t>حالة المحتوى</a:t>
            </a:r>
          </a:p>
          <a:p>
            <a:pPr algn="r" rtl="1"/>
            <a:r>
              <a:rPr lang="ar-SA" sz="1200" b="0" dirty="0"/>
              <a:t>نموذج مقترح من قدراتك؛ ليس إعادة تصنيف رسمية للمسميات أو المراتب.</a:t>
            </a:r>
          </a:p>
          <a:p>
            <a:pPr algn="r" rtl="1"/>
            <a:r>
              <a:rPr lang="ar-SA" sz="1200" b="1" dirty="0"/>
              <a:t>مرجع المحتوى</a:t>
            </a:r>
          </a:p>
          <a:p>
            <a:pPr algn="r" rtl="1"/>
            <a:r>
              <a:rPr lang="ar-SA" sz="1200" b="0" dirty="0"/>
              <a:t>إفادة محمد العُمري؛ وثيقة المهمة الوطنية، الصفحة 4؛ الدراسة المعيارية، الصفحة 8؛ OECD، Building an AI-ready public workforce، 2026.</a:t>
            </a:r>
          </a:p>
          <a:p>
            <a:pPr algn="r" rtl="1"/>
            <a:r>
              <a:rPr lang="ar-SA" sz="1200" b="1" dirty="0"/>
              <a:t>للمراجعة قبل الاجتماع (سجل الإثبات)</a:t>
            </a:r>
          </a:p>
          <a:p>
            <a:pPr algn="r" rtl="1"/>
            <a:r>
              <a:rPr lang="ar-SA" sz="1200" b="0" dirty="0"/>
              <a:t>الاتفاق على تعريف كل مسار وربطه بشرائح الوزارة، وتحديد موضع المديرين وخبراء المجالات، وكيفية احتساب المستفيدين دون تكرار.</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9 في نص العرض الأصلي — الصفحة 12 في هذا الملف</a:t>
            </a:r>
          </a:p>
          <a:p>
            <a:pPr algn="r" rtl="1"/>
            <a:r>
              <a:rPr lang="ar-SA" sz="1200" b="1" dirty="0"/>
              <a:t>ملاحظات التقديم</a:t>
            </a:r>
          </a:p>
          <a:p>
            <a:pPr algn="r" rtl="1"/>
            <a:r>
              <a:rPr lang="ar-SA" sz="1200" b="0" dirty="0"/>
              <a:t>رقم 130 ألف قد يفيد في تقدير حجم العمل، لكنه لا يحدد وحده من يحتاج تدريبًا أو ما نوعه. وهو يعادل 5.2% تقريبًا من 2.5 مليون؛ وهذه علاقة حسابية وليست منهجية تثبت ملاءمة المستهدف. كذلك، فإن نسبة 5% للقيادات، إذا طبقت على 130 ألف، تعطي 6,500 مستفيد. لذا يجب تحديد هل تشمل المديرين بمستوياتهم، أم القيادات العليا فقط؛ فنطاق البرامج المخصصة لأربعة مستويات قيادية يحتاج حصرًا مستقلًا. نتفق مع أهمية التحقق من البيانات، ونرى أن يظل الرقم فرضية إلى حين تحديد هذه العناصر.</a:t>
            </a:r>
          </a:p>
          <a:p>
            <a:pPr algn="r" rtl="1"/>
            <a:r>
              <a:rPr lang="ar-SA" sz="1200" b="1" dirty="0"/>
              <a:t>حالة المحتوى</a:t>
            </a:r>
          </a:p>
          <a:p>
            <a:pPr algn="r" rtl="1"/>
            <a:r>
              <a:rPr lang="ar-SA" sz="1200" b="0" dirty="0"/>
              <a:t>130 ألف و2.5 مليون ونسب التوزيع من إفادة المستخدم عن النقاش؛ لا تتوفر منهجية BCG الأصلية ضمن المرفقات.</a:t>
            </a:r>
          </a:p>
          <a:p>
            <a:pPr algn="r" rtl="1"/>
            <a:r>
              <a:rPr lang="ar-SA" sz="1200" b="1" dirty="0"/>
              <a:t>مرجع المحتوى</a:t>
            </a:r>
          </a:p>
          <a:p>
            <a:pPr algn="r" rtl="1"/>
            <a:r>
              <a:rPr lang="ar-SA" sz="1200" b="0" dirty="0"/>
              <a:t>إفادة محمد العُمري بشأن النقاش مع BCG والوزارة.</a:t>
            </a:r>
          </a:p>
          <a:p>
            <a:pPr algn="r" rtl="1"/>
            <a:r>
              <a:rPr lang="ar-SA" sz="1200" b="1" dirty="0"/>
              <a:t>للمراجعة قبل الاجتماع (سجل الإثبات)</a:t>
            </a:r>
          </a:p>
          <a:p>
            <a:pPr algn="r" rtl="1"/>
            <a:r>
              <a:rPr lang="ar-SA" sz="1200" b="0" dirty="0"/>
              <a:t>الحصول على ورقة BCG أو العرض الأصلي، ومصدر عدد الموظفين وتعريفهم، وفترة التدريب، ومقام نسب 5% و15%، وتعريف القيادة والخبراء. لا تُنسب الأرقام إلى دراسة مثبتة قبل الحصول عليها.</a:t>
            </a:r>
          </a:p>
          <a:p>
            <a:pPr algn="r" rtl="1"/>
            <a:r>
              <a:rPr lang="ar-SA" sz="1200" b="1" dirty="0"/>
              <a:t>⚠ تنبيه من إعداد العرض</a:t>
            </a:r>
          </a:p>
          <a:p>
            <a:pPr algn="r" rtl="1"/>
            <a:r>
              <a:rPr lang="ar-SA" sz="1200" b="0" dirty="0"/>
              <a:t>حساب للتحقق (من إعداد العرض): 130,000 ÷ 2,500,000 = 5.2%؛ وتوزيع 5% / 15% / 80% يعطي حسابيًا 6,500 / 19,500 / 104,000 — تفسير حسابي مشروط فقط، وليس مستهدفًا.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10 في نص العرض الأصلي — الصفحة 13 في هذا الملف</a:t>
            </a:r>
          </a:p>
          <a:p>
            <a:pPr algn="r" rtl="1"/>
            <a:r>
              <a:rPr lang="ar-SA" sz="1200" b="1" dirty="0"/>
              <a:t>ملاحظات التقديم</a:t>
            </a:r>
          </a:p>
          <a:p>
            <a:pPr algn="r" rtl="1"/>
            <a:r>
              <a:rPr lang="ar-SA" sz="1200" b="0" dirty="0"/>
              <a:t>الوزارة طلبت بيانات مهمة: كم عدد الموظفين، ومن تدرب، وما البرامج التي أخذها. قدمنا المتاح لدى قدراتك، لكن الوصول إلى صورة حكومية شاملة يتطلب مشاركة الجهات المالكة للبيانات. ونقترح فصل ذلك عن تشخيص الجهات الخمس: نستكمل التقدير الوطني بالتنسيق مع ملاك البيانات، وفي الوقت نفسه نحدد داخل كل جهة أولى احتياجًا عمليًا يمكن بناء برنامج عليه. مصادر الهيئة عن التبني وحالات الاستخدام تساعد في هذه المرحلة، مع إبقاء سجل الموظفين وسجل التدريب مصدرين مستقلين. ويتم تنفيذ أي برنامج ممول بعد اعتماد نطاقه ومتطلباته.</a:t>
            </a:r>
          </a:p>
          <a:p>
            <a:pPr algn="r" rtl="1"/>
            <a:r>
              <a:rPr lang="ar-SA" sz="1200" b="1" dirty="0"/>
              <a:t>حالة المحتوى</a:t>
            </a:r>
          </a:p>
          <a:p>
            <a:pPr algn="r" rtl="1"/>
            <a:r>
              <a:rPr lang="ar-SA" sz="1200" b="0" dirty="0"/>
              <a:t>طلبات البيانات واستجابة قدراتك واردة في المسودة؛ المساران وقالب التشخيص توصية.</a:t>
            </a:r>
          </a:p>
          <a:p>
            <a:pPr algn="r" rtl="1"/>
            <a:r>
              <a:rPr lang="ar-SA" sz="1200" b="1" dirty="0"/>
              <a:t>مرجع المحتوى</a:t>
            </a:r>
          </a:p>
          <a:p>
            <a:pPr algn="r" rtl="1"/>
            <a:r>
              <a:rPr lang="ar-SA" sz="1200" b="0" dirty="0"/>
              <a:t>مسودة التحديث، الشريحة 6؛ مذكرة بيانات تبني الذكاء الاصطناعي المعدة في 3 أغسطس؛ المراسلة المؤرخة 29 يوليو و5 أغسطس 2026.</a:t>
            </a:r>
          </a:p>
          <a:p>
            <a:pPr algn="r" rtl="1"/>
            <a:r>
              <a:rPr lang="ar-SA" sz="1200" b="1" dirty="0"/>
              <a:t>للمراجعة قبل الاجتماع (سجل الإثبات)</a:t>
            </a:r>
          </a:p>
          <a:p>
            <a:pPr algn="r" rtl="1"/>
            <a:r>
              <a:rPr lang="ar-SA" sz="1200" b="0" dirty="0"/>
              <a:t>تحديد ملاك بيانات الموظفين والتدريب وقنوات طلبها، وتحديث نتائج مخاطبة الجهات. المراسلة تخص دراسة أثر الذكاء الاصطناعي على المهن؛ تُستخدم لبيان مصادر متاحة، ولا تُعامل كتفويض لحصر جميع موظفي الحكومة.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القسم الثالث: تصميم المسارات والشراكات والتمويل</a:t>
            </a:r>
          </a:p>
          <a:p>
            <a:pPr algn="r" rtl="1"/>
            <a:r>
              <a:rPr lang="ar-SA" sz="1200" b="0" dirty="0"/>
              <a:t>القيادات والمحترفون والوعي، وعروض الشركاء، والتمويل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11 في نص العرض الأصلي — الصفحة 15 في هذا الملف</a:t>
            </a:r>
          </a:p>
          <a:p>
            <a:pPr algn="r" rtl="1"/>
            <a:r>
              <a:rPr lang="ar-SA" sz="1200" b="1" dirty="0"/>
              <a:t>ملاحظات التقديم</a:t>
            </a:r>
          </a:p>
          <a:p>
            <a:pPr algn="r" rtl="1"/>
            <a:r>
              <a:rPr lang="ar-SA" sz="1200" b="0" dirty="0"/>
              <a:t>الفارق الأساسي هو طبيعة القرار الذي نريد أن يصبح القائد أقدر على اتخاذه. لذلك نوصي ببرنامج مخصص للوزراء والقيادات العليا، يستفيد من الملفات الحكومية المحلية ويتيح نقاشًا مناسبًا لخصوصيتها، مع توظيف البرامج القائمة وتخصيصها للمستويات التنفيذية حيث تكون ملائمة. لدى قدراتك خبرة في بناء برامج القيادات يمكن توثيقها بأمثلة عند العرض. ويبقى تصنيف كل مشارك تابعًا لنطاق صلاحياته الفعلي؛ فقد يختلف موقع الرئيس التنفيذي من جهة إلى أخرى. والخطوة القادمة هي تحديد الفئات والحالات وتصميم البرنامج وتسعيره قبل رفع خيار التمويل.</a:t>
            </a:r>
          </a:p>
          <a:p>
            <a:pPr algn="r" rtl="1"/>
            <a:r>
              <a:rPr lang="ar-SA" sz="1200" b="1" dirty="0"/>
              <a:t>حالة المحتوى</a:t>
            </a:r>
          </a:p>
          <a:p>
            <a:pPr algn="r" rtl="1"/>
            <a:r>
              <a:rPr lang="ar-SA" sz="1200" b="0" dirty="0"/>
              <a:t>المستويات وطريقة التقديم توصية مبنية على الدراسة؛ تصميم البرنامج والتكلفة والميزانية غير معتمدة.</a:t>
            </a:r>
          </a:p>
          <a:p>
            <a:pPr algn="r" rtl="1"/>
            <a:r>
              <a:rPr lang="ar-SA" sz="1200" b="1" dirty="0"/>
              <a:t>مرجع المحتوى</a:t>
            </a:r>
          </a:p>
          <a:p>
            <a:pPr algn="r" rtl="1"/>
            <a:r>
              <a:rPr lang="ar-SA" sz="1200" b="0" dirty="0"/>
              <a:t>الدراسة المعيارية، الصفحات 8–13 و21–26؛ إفادة محمد العُمري.</a:t>
            </a:r>
          </a:p>
          <a:p>
            <a:pPr algn="r" rtl="1"/>
            <a:r>
              <a:rPr lang="ar-SA" sz="1200" b="1" dirty="0"/>
              <a:t>للمراجعة قبل الاجتماع (سجل الإثبات)</a:t>
            </a:r>
          </a:p>
          <a:p>
            <a:pPr algn="r" rtl="1"/>
            <a:r>
              <a:rPr lang="ar-SA" sz="1200" b="0" dirty="0"/>
              <a:t>تثبيت تعريف المستويات والترشيح بحسب نطاق المسؤولية، وإرفاق مثالين موثقين لخبرة قدراتك في برامج القيادات. أسعار الدراسة استرشادية ولا تُعرض كميزانية أو عروض تعاقدية.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12 في نص العرض الأصلي — الصفحة 16 في هذا الملف</a:t>
            </a:r>
          </a:p>
          <a:p>
            <a:pPr algn="r" rtl="1"/>
            <a:r>
              <a:rPr lang="ar-SA" sz="1200" b="1" dirty="0"/>
              <a:t>ملاحظات التقديم</a:t>
            </a:r>
          </a:p>
          <a:p>
            <a:pPr algn="r" rtl="1"/>
            <a:r>
              <a:rPr lang="ar-SA" sz="1200" b="0" dirty="0"/>
              <a:t>نقصد بالمحترفين المتخصصين الذين يستطيعون نقل الاستخدام من فكرة إلى عمل يمكن تشغيله وتقييمه. هذا يشمل التقني، لكنه يشمل أيضًا خبير المجال الذي يعرف جودة القرار أو الإجراء. ونرى أن يتعلما ويعملا معًا على حالة استخدام. أما FDE، فنستخدمه لوصف عمل تقني قريب من مشكلة الجهة، ويحتاج إلى فهم للعمل وتطوير وتغذية راجعة مستمرة. الورشة التعريفية خطوة أولى؛ والبرنامج التطبيقي يحتاج إلى اختيار المشاركين والحالات وبيئة العمل والإرشاد والشريك المناسب. تفاصيله ما زالت قيد التطوير.</a:t>
            </a:r>
          </a:p>
          <a:p>
            <a:pPr algn="r" rtl="1"/>
            <a:r>
              <a:rPr lang="ar-SA" sz="1200" b="1" dirty="0"/>
              <a:t>حالة المحتوى</a:t>
            </a:r>
          </a:p>
          <a:p>
            <a:pPr algn="r" rtl="1"/>
            <a:r>
              <a:rPr lang="ar-SA" sz="1200" b="0" dirty="0"/>
              <a:t>التواصل والورشة مخططان بحسب المسودة؛ نموذج المحترفين وFDE التفصيلي مقترح.</a:t>
            </a:r>
          </a:p>
          <a:p>
            <a:pPr algn="r" rtl="1"/>
            <a:r>
              <a:rPr lang="ar-SA" sz="1200" b="1" dirty="0"/>
              <a:t>مرجع المحتوى</a:t>
            </a:r>
          </a:p>
          <a:p>
            <a:pPr algn="r" rtl="1"/>
            <a:r>
              <a:rPr lang="ar-SA" sz="1200" b="0" dirty="0"/>
              <a:t>مسودة التحديث، الشريحة 7؛ إفادة محمد العُمري؛ وثيقة المهمة الوطنية، الصفحة 4؛ Palantir Architecture Center — Overview، تعريف Forward Deployed Engineering.</a:t>
            </a:r>
          </a:p>
          <a:p>
            <a:pPr algn="r" rtl="1"/>
            <a:r>
              <a:rPr lang="ar-SA" sz="1200" b="1" dirty="0"/>
              <a:t>للمراجعة قبل الاجتماع (سجل الإثبات)</a:t>
            </a:r>
          </a:p>
          <a:p>
            <a:pPr algn="r" rtl="1"/>
            <a:r>
              <a:rPr lang="ar-SA" sz="1200" b="0" dirty="0"/>
              <a:t>تأكيد موعد الورشة والشركاء، وعدم وصفها بأنها تأهيل مكتمل لـFDE. تحديد المقصود بالمسار، ومعايير الدخول، والمخرج التطبيقي، والإرشاد بعد التدريب؛ لا توجد توصية شراء لمزود محدد.</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13 في نص العرض الأصلي — الصفحة 17 في هذا الملف</a:t>
            </a:r>
          </a:p>
          <a:p>
            <a:pPr algn="r" rtl="1"/>
            <a:r>
              <a:rPr lang="ar-SA" sz="1200" b="1" dirty="0"/>
              <a:t>ملاحظات التقديم</a:t>
            </a:r>
          </a:p>
          <a:p>
            <a:pPr algn="r" rtl="1"/>
            <a:r>
              <a:rPr lang="ar-SA" sz="1200" b="0" dirty="0"/>
              <a:t>في رأي قدراتك، نجاح التدريب هنا يعتمد على ما يحدث بعد الجلسة أيضًا. يحتاج الموظف إلى فهم أين تفيده الأداة، وما حدودها، وكيف يراجع مخرجاتها، وإلى أداة يمكنه استخدامها ضمن بيئة الجهة. لذلك نقترح محتوى تأسيسيًا ثابتًا نسبيًا، وتطبيقات تتحدث بحسب الحاجة، ودعمًا داخل العمل. ويشمل إدارة التغيير مشاركة المديرين، ومعالجة مخاوف الموظفين وأسئلتهم، وإظهار نتائج الاستخدام المناسبة. بهذه الطريقة يصبح التدريب جزءًا من تبنٍّ مستمر يمكن متابعته وتطويره.</a:t>
            </a:r>
          </a:p>
          <a:p>
            <a:pPr algn="r" rtl="1"/>
            <a:r>
              <a:rPr lang="ar-SA" sz="1200" b="1" dirty="0"/>
              <a:t>حالة المحتوى</a:t>
            </a:r>
          </a:p>
          <a:p>
            <a:pPr algn="r" rtl="1"/>
            <a:r>
              <a:rPr lang="ar-SA" sz="1200" b="0" dirty="0"/>
              <a:t>تصور مقترح من قدراتك؛ أمثلة المهام تُختار بحسب سياسات وأدوات كل جهة.</a:t>
            </a:r>
          </a:p>
          <a:p>
            <a:pPr algn="r" rtl="1"/>
            <a:r>
              <a:rPr lang="ar-SA" sz="1200" b="1" dirty="0"/>
              <a:t>مرجع المحتوى</a:t>
            </a:r>
          </a:p>
          <a:p>
            <a:pPr algn="r" rtl="1"/>
            <a:r>
              <a:rPr lang="ar-SA" sz="1200" b="0" dirty="0"/>
              <a:t>إفادة محمد العُمري؛ وثيقة المهمة الوطنية، الصفحات 3 و4؛ OECD، Building an AI-ready public workforce، 2026.</a:t>
            </a:r>
          </a:p>
          <a:p>
            <a:pPr algn="r" rtl="1"/>
            <a:r>
              <a:rPr lang="ar-SA" sz="1200" b="1" dirty="0"/>
              <a:t>للمراجعة قبل الاجتماع (سجل الإثبات)</a:t>
            </a:r>
          </a:p>
          <a:p>
            <a:pPr algn="r" rtl="1"/>
            <a:r>
              <a:rPr lang="ar-SA" sz="1200" b="0" dirty="0"/>
              <a:t>تحديد الأدوات المتاحة في الجهات الأولى، وضوابط استخدامها، ومسؤول الدعم بعد التدريب، ووتيرة مراجعة المحتوى بحسب الحاجة.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14 في نص العرض الأصلي — الصفحة 18 في هذا الملف</a:t>
            </a:r>
          </a:p>
          <a:p>
            <a:pPr algn="r" rtl="1"/>
            <a:r>
              <a:rPr lang="ar-SA" sz="1200" b="1" dirty="0"/>
              <a:t>ملاحظات التقديم</a:t>
            </a:r>
          </a:p>
          <a:p>
            <a:pPr algn="r" rtl="1"/>
            <a:r>
              <a:rPr lang="ar-SA" sz="1200" b="0" dirty="0"/>
              <a:t>تعدد المزودين والمسميات يمكن إدارته عندما يكون لدينا وصف موحد لما يتعلمه المستفيد وما يطبقه بعد البرنامج. ونحتاج إلى الدقة نفسها في المقاعد: ملف المتابعة يذكر 800 كمستهدف سنوي، بينما يذكر 165 في البرامج المقدمة و115 منفذًا. لذلك نراجع صياغة الالتزامات في المسودة الأصلية ونثبت ما تدعمه الوثائق. كما نطابق نطاق الأعداد مع تقرير قدراتك قبل المقارنة. هذه المتابعة تساعد على معرفة أين يتوفر عرض مناسب، وأين نحتاج إلى تخصيص، وأين توجد حاجة لم تُغط بعد.</a:t>
            </a:r>
          </a:p>
          <a:p>
            <a:pPr algn="r" rtl="1"/>
            <a:r>
              <a:rPr lang="ar-SA" sz="1200" b="1" dirty="0"/>
              <a:t>حالة المحتوى</a:t>
            </a:r>
          </a:p>
          <a:p>
            <a:pPr algn="r" rtl="1"/>
            <a:r>
              <a:rPr lang="ar-SA" sz="1200" b="0" dirty="0"/>
              <a:t>الأرقام كما في ملف الشركاء وقت إعداده؛ التصنيف والمتابعة الموحدة توصية. لا تثبت المرفقات أن 800 كلها التزامات مؤكدة.</a:t>
            </a:r>
          </a:p>
          <a:p>
            <a:pPr algn="r" rtl="1"/>
            <a:r>
              <a:rPr lang="ar-SA" sz="1200" b="1" dirty="0"/>
              <a:t>مرجع المحتوى</a:t>
            </a:r>
          </a:p>
          <a:p>
            <a:pPr algn="r" rtl="1"/>
            <a:r>
              <a:rPr lang="ar-SA" sz="1200" b="0" dirty="0"/>
              <a:t>AI National Productivity Acceleration Initiative — DGA — Comprehensive، الشرائح 1–6؛ Consolidated، الشريحة 1؛ مسودة التحديث، الشريحة 4.</a:t>
            </a:r>
          </a:p>
          <a:p>
            <a:pPr algn="r" rtl="1"/>
            <a:r>
              <a:rPr lang="ar-SA" sz="1200" b="1" dirty="0"/>
              <a:t>للمراجعة قبل الاجتماع (سجل الإثبات)</a:t>
            </a:r>
          </a:p>
          <a:p>
            <a:pPr algn="r" rtl="1"/>
            <a:r>
              <a:rPr lang="ar-SA" sz="1200" b="0" dirty="0"/>
              <a:t>تأكيد تاريخ الملف ونطاقه؛ الحصول على مستندات الالتزام؛ مطابقة 115 مع 222 على مستوى البرامج والمستفيدين؛ تحديث حالة الشركاء السبعة. تجنب عرض نسبة إنجاز مبنية على نطاقين أو تاريخين مختلفين.</a:t>
            </a:r>
          </a:p>
          <a:p>
            <a:pPr algn="r" rtl="1"/>
            <a:r>
              <a:rPr lang="ar-SA" sz="1200" b="1" dirty="0"/>
              <a:t>⚠ تنبيه من إعداد العرض</a:t>
            </a:r>
          </a:p>
          <a:p>
            <a:pPr algn="r" rtl="1"/>
            <a:r>
              <a:rPr lang="ar-SA" sz="1200" b="0" dirty="0"/>
              <a:t>النص الأصلي لهذه الشريحة يقول: «هذه الأعداد لها نطاق متابعة مختلف عن إجمالي قدراتك البالغ 222 مستفيدًا». رقم 222 يتعارض مع الأرقام المحدّثة في الشريحة 5 (627 و272)، لذا أُشير هنا إلى «أرقام قدراتك في الشريحة 5» دون ذكر الرقم إلى أن يُحسم.</a:t>
            </a:r>
          </a:p>
          <a:p>
            <a:pPr algn="r" rtl="1"/>
            <a:r>
              <a:rPr lang="ar-SA" sz="1200" b="1" dirty="0"/>
              <a:t>⚠ تنبيه من إعداد العرض</a:t>
            </a:r>
          </a:p>
          <a:p>
            <a:pPr algn="r" rtl="1"/>
            <a:r>
              <a:rPr lang="ar-SA" sz="1200" b="0" dirty="0"/>
              <a:t>مجاميع جدول الشركاء في الملحق 3-ب (1,600 و165 و115) تطابق الأرقام الواردة في هذه الشريحة؛ تم التحقق من جمعها.</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15 في نص العرض الأصلي — الصفحة 19 في هذا الملف</a:t>
            </a:r>
          </a:p>
          <a:p>
            <a:pPr algn="r" rtl="1"/>
            <a:r>
              <a:rPr lang="ar-SA" sz="1200" b="1" dirty="0"/>
              <a:t>ملاحظات التقديم</a:t>
            </a:r>
          </a:p>
          <a:p>
            <a:pPr algn="r" rtl="1"/>
            <a:r>
              <a:rPr lang="ar-SA" sz="1200" b="0" dirty="0"/>
              <a:t>الاعتماد على المساهمات يتيح فرصًا مهمة، لكن بعض احتياجات القيادات العليا أو التطبيق داخل الجهات يحتاج إلى تصميم مستقل ودعم بعد التدريب. لذلك نقترح الجمع بين ما يقدمه الشركاء ويطابق الاحتياج، وتمويل موجه لما يتطلب تخصيصًا. لا نستطيع رفع مبلغ إجمالي موثوق قبل تحديد حجم الفئات والحالات وطريقة التقديم. المطلوب في هذه المرحلة تطوير حزمة محددة وتسعيرها وبيان مصدر التمويل الممكن، ثم رفع خيارات واضحة للاعتماد. أسعار الدراسة السابقة مرجع أولي للمقارنة وتحتاج تحديثًا وتسعيرًا لنطاق التنفيذ الفعلي.</a:t>
            </a:r>
          </a:p>
          <a:p>
            <a:pPr algn="r" rtl="1"/>
            <a:r>
              <a:rPr lang="ar-SA" sz="1200" b="1" dirty="0"/>
              <a:t>حالة المحتوى</a:t>
            </a:r>
          </a:p>
          <a:p>
            <a:pPr algn="r" rtl="1"/>
            <a:r>
              <a:rPr lang="ar-SA" sz="1200" b="0" dirty="0"/>
              <a:t>مقترح تمويل؛ الميزانية ومصادرها والتكاليف النهائية غير محسومة.</a:t>
            </a:r>
          </a:p>
          <a:p>
            <a:pPr algn="r" rtl="1"/>
            <a:r>
              <a:rPr lang="ar-SA" sz="1200" b="1" dirty="0"/>
              <a:t>مرجع المحتوى</a:t>
            </a:r>
          </a:p>
          <a:p>
            <a:pPr algn="r" rtl="1"/>
            <a:r>
              <a:rPr lang="ar-SA" sz="1200" b="0" dirty="0"/>
              <a:t>إفادة محمد العُمري؛ الدراسة المعيارية، الصفحات 6 و21–26؛ وثيقة المهمة الوطنية، الصفحة 5.</a:t>
            </a:r>
          </a:p>
          <a:p>
            <a:pPr algn="r" rtl="1"/>
            <a:r>
              <a:rPr lang="ar-SA" sz="1200" b="1" dirty="0"/>
              <a:t>للمراجعة قبل الاجتماع (سجل الإثبات)</a:t>
            </a:r>
          </a:p>
          <a:p>
            <a:pPr algn="r" rtl="1"/>
            <a:r>
              <a:rPr lang="ar-SA" sz="1200" b="0" dirty="0"/>
              <a:t>مراجعة أي ميزانيات أو التزامات تمويل متاحة، والحصول على أسعار متجانسة في وحدات التكلفة والنطاق. لا يُستنتج مبلغ معتمد من أسعار برامج منفردة في الدراسة.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القسم الرابع: التنفيذ والقياس والتوجيهات</a:t>
            </a:r>
          </a:p>
          <a:p>
            <a:pPr algn="r" rtl="1"/>
            <a:r>
              <a:rPr lang="ar-SA" sz="1200" b="0" dirty="0"/>
              <a:t>خطة العمل، ومؤشرات القياس، والمطلوب من معاليكم</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16 في نص العرض الأصلي — الصفحة 21 في هذا الملف</a:t>
            </a:r>
          </a:p>
          <a:p>
            <a:pPr algn="r" rtl="1"/>
            <a:r>
              <a:rPr lang="ar-SA" sz="1200" b="1" dirty="0"/>
              <a:t>ملاحظات التقديم</a:t>
            </a:r>
          </a:p>
          <a:p>
            <a:pPr algn="r" rtl="1"/>
            <a:r>
              <a:rPr lang="ar-SA" sz="1200" b="0" dirty="0"/>
              <a:t>نريد أن ينتج العمل القادم عناصر يمكن مراجعتها واتخاذ قرار بشأنها. في البداية نوثق النطاق والمسؤوليات ونعرف من يزودنا بالبيانات. بعد ذلك نصمم حزمة برامج على احتياجات الجهات ونحدد أسعارها وشركاءها. ثم نجرب ما تتوافر متطلباته ونتابع أثره قبل التوسع. إطار 30 و60 و90 يومًا مقترح لتنظيم العمل، وتثبت مواعيده بعد الاتفاق على المتطلبات؛ خصوصًا الوصول إلى البيانات واعتماد التمويل لما يحتاج تمويلًا. وسنرفع في التحديث القادم ما حُسم وما يحتاج قرارًا، مع المسؤول والمخرج لكل بند.</a:t>
            </a:r>
          </a:p>
          <a:p>
            <a:pPr algn="r" rtl="1"/>
            <a:r>
              <a:rPr lang="ar-SA" sz="1200" b="1" dirty="0"/>
              <a:t>حالة المحتوى</a:t>
            </a:r>
          </a:p>
          <a:p>
            <a:pPr algn="r" rtl="1"/>
            <a:r>
              <a:rPr lang="ar-SA" sz="1200" b="0" dirty="0"/>
              <a:t>خارطة تنفيذ مقترحة؛ ليست التزامًا زمنيًا أو ماليًا معتمدًا.</a:t>
            </a:r>
          </a:p>
          <a:p>
            <a:pPr algn="r" rtl="1"/>
            <a:r>
              <a:rPr lang="ar-SA" sz="1200" b="1" dirty="0"/>
              <a:t>مرجع المحتوى</a:t>
            </a:r>
          </a:p>
          <a:p>
            <a:pPr algn="r" rtl="1"/>
            <a:r>
              <a:rPr lang="ar-SA" sz="1200" b="0" dirty="0"/>
              <a:t>تصور مقترح من قدراتك استنادًا إلى مسودة التحديث ووثيقة المهمة الوطنية.</a:t>
            </a:r>
          </a:p>
          <a:p>
            <a:pPr algn="r" rtl="1"/>
            <a:r>
              <a:rPr lang="ar-SA" sz="1200" b="1" dirty="0"/>
              <a:t>للمراجعة قبل الاجتماع (سجل الإثبات)</a:t>
            </a:r>
          </a:p>
          <a:p>
            <a:pPr algn="r" rtl="1"/>
            <a:r>
              <a:rPr lang="ar-SA" sz="1200" b="0" dirty="0"/>
              <a:t>تحديد تاريخ بدء الخطة، ومسؤول كل مرحلة، وتواريخ وصول البيانات واعتماد البرامج والتمويل. لا يُعلن تنفيذ برامج مدفوعة قبل توافر اعتمادها.</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17 في نص العرض الأصلي — الصفحة 22 في هذا الملف</a:t>
            </a:r>
          </a:p>
          <a:p>
            <a:pPr algn="r" rtl="1"/>
            <a:r>
              <a:rPr lang="ar-SA" sz="1200" b="1" dirty="0"/>
              <a:t>ملاحظات التقديم</a:t>
            </a:r>
          </a:p>
          <a:p>
            <a:pPr algn="r" rtl="1"/>
            <a:r>
              <a:rPr lang="ar-SA" sz="1200" b="0" dirty="0"/>
              <a:t>تقارير البرامج الحالية تعطينا أعدادًا ونسب رضا تساعد على تقييم التجربة التدريبية. ونقترح استكمالها بما يظهر أثرها في العمل. يختلف ذلك بين المسارات: القائد قد يخرج بقرار حوكمة أو أولوية تنفيذ، والمحترف بتطبيق قابل للاختبار، والموظف بتحسين مهمة محددة. وفي القياس نثبت خط الأساس ونطاق المقارنة، حتى يكون أي تحسن منسوبًا إلى حالة واضحة. وتملك الجهة متابعة التطبيق في عملها، بينما يدعم البرنامج جمع النتائج وفق مؤشرات مشتركة. لا ندعي وجود مكاسب إنتاجية شاملة قبل قياسها.</a:t>
            </a:r>
          </a:p>
          <a:p>
            <a:pPr algn="r" rtl="1"/>
            <a:r>
              <a:rPr lang="ar-SA" sz="1200" b="1" dirty="0"/>
              <a:t>حالة المحتوى</a:t>
            </a:r>
          </a:p>
          <a:p>
            <a:pPr algn="r" rtl="1"/>
            <a:r>
              <a:rPr lang="ar-SA" sz="1200" b="0" dirty="0"/>
              <a:t>إطار قياس مقترح؛ لا توجد في المدخلات نتائج أثر إنتاجي شاملة لهذه البرامج.</a:t>
            </a:r>
          </a:p>
          <a:p>
            <a:pPr algn="r" rtl="1"/>
            <a:r>
              <a:rPr lang="ar-SA" sz="1200" b="1" dirty="0"/>
              <a:t>مرجع المحتوى</a:t>
            </a:r>
          </a:p>
          <a:p>
            <a:pPr algn="r" rtl="1"/>
            <a:r>
              <a:rPr lang="ar-SA" sz="1200" b="0" dirty="0"/>
              <a:t>وثيقة المهمة الوطنية، الصفحات 2 و3 و7؛ الدراسة المعيارية، الصفحات 25–26؛ مسودة التحديث، الشريحة 5.</a:t>
            </a:r>
          </a:p>
          <a:p>
            <a:pPr algn="r" rtl="1"/>
            <a:r>
              <a:rPr lang="ar-SA" sz="1200" b="1" dirty="0"/>
              <a:t>للمراجعة قبل الاجتماع (سجل الإثبات)</a:t>
            </a:r>
          </a:p>
          <a:p>
            <a:pPr algn="r" rtl="1"/>
            <a:r>
              <a:rPr lang="ar-SA" sz="1200" b="0" dirty="0"/>
              <a:t>تحديد المؤشرات وخط الأساس وآلية المتابعة لكل برنامج؛ فصل الرضا عن جودة التعلم وعن الأثر الفعلي، وتحديد مصدر النتائج ومسؤول التحقق منها.</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الشريحة 18 في نص العرض الأصلي — الصفحة 23 في هذا الملف</a:t>
            </a:r>
          </a:p>
          <a:p>
            <a:pPr algn="r" rtl="1"/>
            <a:r>
              <a:rPr lang="ar-SA" sz="1200" b="1" dirty="0"/>
              <a:t>ملاحظات التقديم</a:t>
            </a:r>
          </a:p>
          <a:p>
            <a:pPr algn="r" rtl="1"/>
            <a:r>
              <a:rPr lang="ar-SA" sz="1200" b="0" dirty="0"/>
              <a:t>معاليكم، نرى أن هذه التوجيهات تعطينا أساسًا واضحًا لاستكمال العمل مع الوزارة. لدينا برامج قائمة، ومدخلات تمت مشاركتها، ودراسة للقيادات، وبداية لتطوير المسار التطبيقي. والمطلوب الآن تحويل ذلك إلى نطاق مسؤوليات وبرامج ومستهدفات يمكن مراجعتها. سنعود لمعاليكم بتوزيع أدوار متفق عليه، واحتياجات الجهات الأولى، وخيارات برامج وتكلفة وتمويل، ومؤشرات لقياس التطبيق. ويظل اعتماد الأعداد الكبيرة أو الالتزامات المالية مرتبطًا باستكمال بياناتها ونطاقها.</a:t>
            </a:r>
          </a:p>
          <a:p>
            <a:pPr algn="r" rtl="1"/>
            <a:r>
              <a:rPr lang="ar-SA" sz="1200" b="1" dirty="0"/>
              <a:t>حالة المحتوى</a:t>
            </a:r>
          </a:p>
          <a:p>
            <a:pPr algn="r" rtl="1"/>
            <a:r>
              <a:rPr lang="ar-SA" sz="1200" b="0" dirty="0"/>
              <a:t>طلبات توجيه مقترحة لمعالي المحافظ؛ القرارات المشتركة تُستكمل مع الأطراف المعنية.</a:t>
            </a:r>
          </a:p>
          <a:p>
            <a:pPr algn="r" rtl="1"/>
            <a:r>
              <a:rPr lang="ar-SA" sz="1200" b="1" dirty="0"/>
              <a:t>مرجع المحتوى</a:t>
            </a:r>
          </a:p>
          <a:p>
            <a:pPr algn="r" rtl="1"/>
            <a:r>
              <a:rPr lang="ar-SA" sz="1200" b="0" dirty="0"/>
              <a:t>تصور قدراتك المقترح؛ إفادة محمد العُمري؛ مسودة التحديث، الشريحة 7.</a:t>
            </a:r>
          </a:p>
          <a:p>
            <a:pPr algn="r" rtl="1"/>
            <a:r>
              <a:rPr lang="ar-SA" sz="1200" b="1" dirty="0"/>
              <a:t>للمراجعة قبل الاجتماع (سجل الإثبات)</a:t>
            </a:r>
          </a:p>
          <a:p>
            <a:pPr algn="r" rtl="1"/>
            <a:r>
              <a:rPr lang="ar-SA" sz="1200" b="0" dirty="0"/>
              <a:t>مراجعة سلطة القرار: توجيه أعمال الهيئة ومواءمتها مع الوزارة، ودعم طلب البيانات، ورفع خيارات التمويل؛ لا تُصاغ كتوجيه نافذ على جهات خارج نطاق اختصاص المعالي.</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الملاحق</a:t>
            </a:r>
          </a:p>
          <a:p>
            <a:pPr algn="r" rtl="1"/>
            <a:r>
              <a:rPr lang="ar-SA" sz="1200" b="0" dirty="0"/>
              <a:t>للرجوع عند الحاجة أثناء النقاش؛ لا تُعرض ضمن المسار الأساسي.</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1</a:t>
            </a:r>
          </a:p>
          <a:p>
            <a:pPr algn="r" rtl="1"/>
            <a:r>
              <a:rPr lang="ar-SA" sz="1200" b="0" dirty="0"/>
              <a:t>طلبات الفريق القائد واستجابة قدراتك.</a:t>
            </a:r>
          </a:p>
          <a:p>
            <a:pPr algn="r" rtl="1"/>
            <a:r>
              <a:rPr lang="ar-SA" sz="1200" b="1" dirty="0"/>
              <a:t>مرجع الملحق</a:t>
            </a:r>
          </a:p>
          <a:p>
            <a:pPr algn="r" rtl="1"/>
            <a:r>
              <a:rPr lang="ar-SA" sz="1200" b="0" dirty="0"/>
              <a:t>مسودة التحديث، الشريحة 6؛ الدراسة المعيارية، الصفحة 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2</a:t>
            </a:r>
          </a:p>
          <a:p>
            <a:pPr algn="r" rtl="1"/>
            <a:r>
              <a:rPr lang="ar-SA" sz="1200" b="0" dirty="0"/>
              <a:t>سجل الاجتماعات الذي يُستكمل من المحاضر.</a:t>
            </a:r>
          </a:p>
          <a:p>
            <a:pPr algn="r" rtl="1"/>
            <a:r>
              <a:rPr lang="ar-SA" sz="1200" b="0" dirty="0"/>
              <a:t>عدد الاجتماعات الخمسة وارد في مسودة التحديث. التواريخ والتفصيل لكل اجتماع غير متاحة في المرفقات؛ تبقى الخانات التالية للاستكمال، بينما تُعرض مراحل النقاش الموثقة في الشريحة 4 من النص الأصلي (الصفحة 6 في هذا الملف).</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3 — ضبط الأرقام ونطاق المقارنة</a:t>
            </a:r>
          </a:p>
          <a:p>
            <a:pPr algn="r" rtl="1"/>
            <a:r>
              <a:rPr lang="ar-SA" sz="1200" b="0" dirty="0"/>
              <a:t>توجد ثلاثة أنواع من الأعداد في المدخلات: نشاط قدراتك، ومتابعة برامج الشركاء، وفرضيات الاستهداف. تُراجع مستقلّة قبل التجميع أو المقارنة.</a:t>
            </a:r>
          </a:p>
          <a:p>
            <a:pPr algn="r" rtl="1"/>
            <a:r>
              <a:rPr lang="ar-SA" sz="1200" b="1" dirty="0"/>
              <a:t>⚠ تنبيه من إعداد العرض</a:t>
            </a:r>
          </a:p>
          <a:p>
            <a:pPr algn="r" rtl="1"/>
            <a:r>
              <a:rPr lang="ar-SA" sz="1200" b="0" dirty="0"/>
              <a:t>الصف الأول (627 / 770 / 272) أُضيف لمطابقة شريحة الإنجاز المحدّثة (الشريحة 5 في النص الأصلي)؛ وتعارض رقم 222 مع 272 يحتاج حسمًا.</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3 — أرقام الشركاء</a:t>
            </a:r>
          </a:p>
          <a:p>
            <a:pPr algn="r" rtl="1"/>
            <a:r>
              <a:rPr lang="ar-SA" sz="1200" b="0" dirty="0"/>
              <a:t>أرقام الشركاء: Microsoft: مستهدف سنتين 260، مقاعد مقدمة 85، منفذ 69؛ Amazon: 130، 40، 33؛ SAP: 130، 40، 13. بقية مستهدف السنتين: Google Cloud 500، وHUMAIN 240، وPwC 210، وIBM 130؛ لا توجد برامج مقدمة لها في الملف وقت إعداده.</a:t>
            </a:r>
          </a:p>
          <a:p>
            <a:pPr algn="r" rtl="1"/>
            <a:r>
              <a:rPr lang="ar-SA" sz="1200" b="0" dirty="0"/>
              <a:t>لا تُجمع 115 و222؛ وقد توجد برامج وأفراد مشتركون.</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3 — ضبط فرضيات الاستهداف</a:t>
            </a:r>
          </a:p>
          <a:p>
            <a:pPr algn="r" rtl="1"/>
            <a:r>
              <a:rPr lang="ar-SA" sz="1200" b="0" dirty="0"/>
              <a:t>130,000 / 2.5 مليون: فرضية استهداف وافتراض لعدد الموظفين وردا في النقاش بحسب إفادة المستخدم. 5% / 15% / 80%: توزيع تقريبي متداول؛ إذا طُبق على 130 ألفًا ينتج 6,500 / 19,500 / 104,000 كتفسير حسابي مشروط فقط.</a:t>
            </a:r>
          </a:p>
          <a:p>
            <a:pPr algn="r" rtl="1"/>
            <a:r>
              <a:rPr lang="ar-SA" sz="1200" b="0" dirty="0"/>
              <a:t>لا تُجمع 115 و222؛ وقد توجد برامج وأفراد مشتركون. ولا تُجمع الجهات المستفيدة من برامج مختلفة لاستخراج عدد جهات فريد.</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4</a:t>
            </a:r>
          </a:p>
          <a:p>
            <a:pPr algn="r" rtl="1"/>
            <a:r>
              <a:rPr lang="ar-SA" sz="1200" b="0" dirty="0"/>
              <a:t>أمثلة البرامج القيادية المنفذة كما في مسودة تحديث قدراتك.</a:t>
            </a:r>
          </a:p>
          <a:p>
            <a:pPr algn="r" rtl="1"/>
            <a:r>
              <a:rPr lang="ar-SA" sz="1200" b="0" dirty="0"/>
              <a:t>الأمثلة تدعم عرض التجربة التنفيذية، ويحتاج ربطها بالمبادرة الحالية وتواريخها إلى المطابقة.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5 — إجابات مختصرة لأسئلة متوقعة من المعالي</a:t>
            </a:r>
          </a:p>
          <a:p>
            <a:pPr algn="r" rtl="1"/>
            <a:r>
              <a:rPr lang="ar-SA" sz="1200" b="0" dirty="0"/>
              <a:t>عُدّل عنوان الشريحة المعروض بحذف «من المعالي» لأنها موجهة لمعاليه؛ والنص الأصلي في هذه الملاحظة.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5 — إجابات مختصرة لأسئلة متوقعة من المعالي</a:t>
            </a:r>
          </a:p>
          <a:p>
            <a:pPr algn="r" rtl="1"/>
            <a:r>
              <a:rPr lang="ar-SA" sz="1200" b="0" dirty="0"/>
              <a:t>عُدّل عنوان الشريحة المعروض بحذف «من المعالي» لأنها موجهة لمعاليه؛ والنص الأصلي في هذه الملاحظة.</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ملحق 5 — إجابات مختصرة لأسئلة متوقعة من المعالي</a:t>
            </a:r>
          </a:p>
          <a:p>
            <a:pPr algn="r" rtl="1"/>
            <a:r>
              <a:rPr lang="ar-SA" sz="1200" b="0" dirty="0"/>
              <a:t>عُدّل عنوان الشريحة المعروض بحذف «من المعالي» لأنها موجهة لمعاليه؛ والنص الأصلي في هذه الملاحظة.</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المراجع ونطاق استخدامها</a:t>
            </a:r>
          </a:p>
          <a:p>
            <a:pPr algn="r" rtl="1"/>
            <a:r>
              <a:rPr lang="ar-SA" sz="1200" b="0" dirty="0"/>
              <a:t>بُني المحتوى على المرفقات وإفادة محمد العُمري. المراجع الخارجية استُخدمت لتدعيم تعريف القدرات ومفهوم FDE فقط. المقترحات التنفيذية تحتاج مواءمة واعتمادًا بحسب نطاق كل طرف.</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المراجع ونطاق استخدامها</a:t>
            </a:r>
          </a:p>
          <a:p>
            <a:pPr algn="r" rtl="1"/>
            <a:r>
              <a:rPr lang="ar-SA" sz="1200" b="0" dirty="0"/>
              <a:t>بُني المحتوى على المرفقات وإفادة محمد العُمري. المراجع الخارجية استُخدمت لتدعيم تعريف القدرات ومفهوم FDE فقط. المقترحات التنفيذية تحتاج مواءمة واعتمادًا بحسب نطاق كل طرف.</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المراجع ونطاق استخدامها</a:t>
            </a:r>
          </a:p>
          <a:p>
            <a:pPr algn="r" rtl="1"/>
            <a:r>
              <a:rPr lang="ar-SA" sz="1200" b="0" dirty="0"/>
              <a:t>بُني المحتوى على المرفقات وإفادة محمد العُمري. المراجع الخارجية استُخدمت لتدعيم تعريف القدرات ومفهوم FDE فقط. المقترحات التنفيذية تحتاج مواءمة واعتمادًا بحسب نطاق كل طرف.</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داخلي</a:t>
            </a:r>
          </a:p>
          <a:p>
            <a:pPr algn="r" rtl="1"/>
            <a:r>
              <a:rPr lang="ar-SA" sz="1200" b="0" dirty="0"/>
              <a:t>ملاحظات من إعداد العرض.</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داخلي</a:t>
            </a:r>
          </a:p>
          <a:p>
            <a:pPr algn="r" rtl="1"/>
            <a:r>
              <a:rPr lang="ar-SA" sz="1200" b="0" dirty="0"/>
              <a:t>سجل الإثبات قبل الاجتماع — من النص الأصلي.</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داخلي</a:t>
            </a:r>
          </a:p>
          <a:p>
            <a:pPr algn="r" rtl="1"/>
            <a:r>
              <a:rPr lang="ar-SA" sz="1200" b="0" dirty="0"/>
              <a:t>سجل الإثبات قبل الاجتماع — من النص الأصلي.</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داخلي</a:t>
            </a:r>
          </a:p>
          <a:p>
            <a:pPr algn="r" rtl="1"/>
            <a:r>
              <a:rPr lang="ar-SA" sz="1200" b="0" dirty="0"/>
              <a:t>سجل الإثبات قبل الاجتماع — من النص الأصلي.</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r" rtl="1"/>
            <a:r>
              <a:rPr lang="ar-SA" sz="1200" b="1" dirty="0"/>
              <a:t>داخلي</a:t>
            </a:r>
          </a:p>
          <a:p>
            <a:pPr algn="r" rtl="1"/>
            <a:r>
              <a:rPr lang="ar-SA" sz="1200" b="0" dirty="0"/>
              <a:t>سجل الإثبات قبل الاجتماع — من النص الأصلي.</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8.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3.png"/><Relationship Id="rId4"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3.png"/><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3.png"/><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3.png"/><Relationship Id="rId4"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8.jpeg"/><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 Id="rId3" Type="http://schemas.openxmlformats.org/officeDocument/2006/relationships/image" Target="../media/image20.png"/><Relationship Id="rId4" Type="http://schemas.openxmlformats.org/officeDocument/2006/relationships/image" Target="../media/image21.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image" Target="../media/image2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0.png"/><Relationship Id="rId5" Type="http://schemas.openxmlformats.org/officeDocument/2006/relationships/image" Target="../media/image21.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itle 7"/>
          <p:cNvSpPr>
            <a:spLocks noGrp="1"/>
          </p:cNvSpPr>
          <p:nvPr>
            <p:ph type="title"/>
          </p:nvPr>
        </p:nvSpPr>
        <p:spPr>
          <a:xfrm>
            <a:off x="841248" y="365760"/>
            <a:ext cx="10515600" cy="1005840"/>
          </a:xfrm>
          <a:prstGeom prst="rect">
            <a:avLst/>
          </a:prstGeom>
        </p:spPr>
        <p:txBody>
          <a:bodyPr lIns="0" tIns="0" rIns="0" bIns="0" rtlCol="0" anchor="b">
            <a:noAutofit/>
          </a:bodyPr>
          <a:lstStyle>
            <a:lvl1pPr marL="0" indent="0" algn="r" rtl="1">
              <a:lnSpc>
                <a:spcPts val="3700"/>
              </a:lnSpc>
              <a:spcBef>
                <a:spcPts val="0"/>
              </a:spcBef>
              <a:buNone/>
              <a:defRPr sz="2800" b="1" i="0" kern="1200">
                <a:solidFill>
                  <a:srgbClr val="7C32C9"/>
                </a:solidFill>
                <a:latin typeface="☞DIODRUM ARABIC SEMIBOLD" pitchFamily="2" charset="-78"/>
                <a:ea typeface="+mj-ea"/>
                <a:cs typeface="☞DIODRUM ARABIC SEMIBOLD" pitchFamily="2" charset="-78"/>
              </a:defRPr>
            </a:lvl1pPr>
          </a:lstStyle>
          <a:p>
            <a:r>
              <a:rPr lang="ar-SA"/>
              <a:t>عنوان الشريحة: رسالة واحدة واضحة</a:t>
            </a:r>
          </a:p>
        </p:txBody>
      </p:sp>
      <p:sp>
        <p:nvSpPr>
          <p:cNvPr id="6" name="Slide Number Placeholder 1">
            <a:extLst>
              <a:ext uri="{FF2B5EF4-FFF2-40B4-BE49-F238E27FC236}">
                <a16:creationId xmlns:a16="http://schemas.microsoft.com/office/drawing/2014/main" id="{9AB59991-90CB-EAA6-2ABB-8445FB4AAB76}"/>
              </a:ext>
            </a:extLst>
          </p:cNvPr>
          <p:cNvSpPr>
            <a:spLocks noGrp="1"/>
          </p:cNvSpPr>
          <p:nvPr>
            <p:ph type="sldNum" sz="quarter" idx="11"/>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
        <p:nvSpPr>
          <p:cNvPr id="9" name="Lede Placeholder"/>
          <p:cNvSpPr>
            <a:spLocks noGrp="1"/>
          </p:cNvSpPr>
          <p:nvPr>
            <p:ph type="body" sz="quarter" idx="13" hasCustomPrompt="1"/>
          </p:nvPr>
        </p:nvSpPr>
        <p:spPr>
          <a:xfrm>
            <a:off x="841248" y="1444752"/>
            <a:ext cx="10515600" cy="420624"/>
          </a:xfrm>
          <a:prstGeom prst="rect">
            <a:avLst/>
          </a:prstGeom>
        </p:spPr>
        <p:txBody>
          <a:bodyPr lIns="0" tIns="0" rIns="0" bIns="0" rtlCol="0" anchor="t">
            <a:noAutofit/>
          </a:bodyPr>
          <a:lstStyle>
            <a:lvl1pPr marL="0" indent="0" algn="r" rtl="1">
              <a:lnSpc>
                <a:spcPts val="2400"/>
              </a:lnSpc>
              <a:spcBef>
                <a:spcPts val="0"/>
              </a:spcBef>
              <a:buNone/>
              <a:defRPr sz="1600" b="0" i="0" kern="1200">
                <a:solidFill>
                  <a:srgbClr val="00ABAF"/>
                </a:solidFill>
                <a:latin typeface="☞DIODRUM ARABIC MEDIUM" pitchFamily="2" charset="-78"/>
                <a:ea typeface="+mn-ea"/>
                <a:cs typeface="☞DIODRUM ARABIC MEDIUM" pitchFamily="2" charset="-78"/>
              </a:defRPr>
            </a:lvl1pPr>
          </a:lstStyle>
          <a:p>
            <a:pPr lvl="0"/>
            <a:r>
              <a:rPr lang="ar-SA"/>
              <a:t>الجملة الداعمة للرسالة</a:t>
            </a:r>
          </a:p>
        </p:txBody>
      </p:sp>
      <p:sp>
        <p:nvSpPr>
          <p:cNvPr id="10" name="Classification"/>
          <p:cNvSpPr txBox="1"/>
          <p:nvPr/>
        </p:nvSpPr>
        <p:spPr>
          <a:xfrm>
            <a:off x="4727448" y="6400800"/>
            <a:ext cx="2743200" cy="329184"/>
          </a:xfrm>
          <a:prstGeom prst="rect">
            <a:avLst/>
          </a:prstGeom>
          <a:noFill/>
          <a:ln>
            <a:noFill/>
          </a:ln>
        </p:spPr>
        <p:txBody>
          <a:bodyPr wrap="square" lIns="0" tIns="0" rIns="0" bIns="0" rtlCol="0" anchor="ctr">
            <a:noAutofit/>
          </a:bodyPr>
          <a:lstStyle/>
          <a:p>
            <a:pPr marL="0" indent="0" algn="ctr" rtl="1">
              <a:lnSpc>
                <a:spcPts val="156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
        <p:nvSpPr>
          <p:cNvPr id="11" name="Deck short title"/>
          <p:cNvSpPr txBox="1"/>
          <p:nvPr/>
        </p:nvSpPr>
        <p:spPr>
          <a:xfrm>
            <a:off x="7223760" y="6400800"/>
            <a:ext cx="4023360" cy="329184"/>
          </a:xfrm>
          <a:prstGeom prst="rect">
            <a:avLst/>
          </a:prstGeom>
          <a:noFill/>
          <a:ln>
            <a:noFill/>
          </a:ln>
        </p:spPr>
        <p:txBody>
          <a:bodyPr wrap="square" lIns="0" tIns="0" rIns="0" bIns="0" rtlCol="0" anchor="ctr">
            <a:noAutofit/>
          </a:bodyPr>
          <a:lstStyle/>
          <a:p>
            <a:pPr marL="0" indent="0" algn="r" rtl="1">
              <a:lnSpc>
                <a:spcPts val="1300"/>
              </a:lnSpc>
              <a:spcBef>
                <a:spcPts val="0"/>
              </a:spcBef>
              <a:spcAft>
                <a:spcPts val="0"/>
              </a:spcAft>
              <a:buNone/>
            </a:pPr>
            <a:r>
              <a:rPr lang="ar-SA" sz="1000" b="0" i="0" dirty="0" noProof="1">
                <a:solidFill>
                  <a:srgbClr val="5F5F6B"/>
                </a:solidFill>
                <a:latin typeface="☞DIODRUM ARABIC MEDIUM" pitchFamily="2" charset="-78"/>
                <a:cs typeface="☞DIODRUM ARABIC MEDIUM" pitchFamily="2" charset="-78"/>
              </a:rPr>
              <a:t>التدريب في الذكاء الاصطناعي  |  تحديث لمعالي المحافظ</a:t>
            </a:r>
            <a:endParaRPr lang="ar-SA" sz="1000" dirty="0"/>
          </a:p>
        </p:txBody>
      </p:sp>
    </p:spTree>
    <p:extLst>
      <p:ext uri="{BB962C8B-B14F-4D97-AF65-F5344CB8AC3E}">
        <p14:creationId xmlns:p14="http://schemas.microsoft.com/office/powerpoint/2010/main" val="21147380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512" userDrawn="1">
          <p15:clr>
            <a:srgbClr val="FBAE40"/>
          </p15:clr>
        </p15:guide>
        <p15:guide id="4" orient="horz" pos="6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6_Title Slide">
    <p:spTree>
      <p:nvGrpSpPr>
        <p:cNvPr id="1" name=""/>
        <p:cNvGrpSpPr/>
        <p:nvPr/>
      </p:nvGrpSpPr>
      <p:grpSpPr>
        <a:xfrm>
          <a:off x="0" y="0"/>
          <a:ext cx="0" cy="0"/>
          <a:chOff x="0" y="0"/>
          <a:chExt cx="0" cy="0"/>
        </a:xfrm>
      </p:grpSpPr>
      <p:sp>
        <p:nvSpPr>
          <p:cNvPr id="3" name="Picture Placeholder 2"/>
          <p:cNvSpPr>
            <a:spLocks noGrp="1"/>
          </p:cNvSpPr>
          <p:nvPr>
            <p:ph type="pic" sz="quarter" idx="11" hasCustomPrompt="1"/>
          </p:nvPr>
        </p:nvSpPr>
        <p:spPr>
          <a:xfrm>
            <a:off x="0" y="0"/>
            <a:ext cx="6096000"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Slide Number Placeholder 1">
            <a:extLst>
              <a:ext uri="{FF2B5EF4-FFF2-40B4-BE49-F238E27FC236}">
                <a16:creationId xmlns:a16="http://schemas.microsoft.com/office/drawing/2014/main" id="{79B313E2-73F3-8520-9BD3-76ACCAAD417A}"/>
              </a:ext>
            </a:extLst>
          </p:cNvPr>
          <p:cNvSpPr>
            <a:spLocks noGrp="1"/>
          </p:cNvSpPr>
          <p:nvPr>
            <p:ph type="sldNum" sz="quarter" idx="12"/>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8754706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7_Title Slide">
    <p:spTree>
      <p:nvGrpSpPr>
        <p:cNvPr id="1" name=""/>
        <p:cNvGrpSpPr/>
        <p:nvPr/>
      </p:nvGrpSpPr>
      <p:grpSpPr>
        <a:xfrm>
          <a:off x="0" y="0"/>
          <a:ext cx="0" cy="0"/>
          <a:chOff x="0" y="0"/>
          <a:chExt cx="0" cy="0"/>
        </a:xfrm>
      </p:grpSpPr>
      <p:sp>
        <p:nvSpPr>
          <p:cNvPr id="3" name="Picture Placeholder 2"/>
          <p:cNvSpPr>
            <a:spLocks noGrp="1"/>
          </p:cNvSpPr>
          <p:nvPr>
            <p:ph type="pic" sz="quarter" idx="11" hasCustomPrompt="1"/>
          </p:nvPr>
        </p:nvSpPr>
        <p:spPr>
          <a:xfrm>
            <a:off x="0" y="0"/>
            <a:ext cx="3058390"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2" hasCustomPrompt="1"/>
          </p:nvPr>
        </p:nvSpPr>
        <p:spPr>
          <a:xfrm>
            <a:off x="3058390" y="0"/>
            <a:ext cx="3058390"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Slide Number Placeholder 1">
            <a:extLst>
              <a:ext uri="{FF2B5EF4-FFF2-40B4-BE49-F238E27FC236}">
                <a16:creationId xmlns:a16="http://schemas.microsoft.com/office/drawing/2014/main" id="{A3D71715-4678-0119-750A-47E1519B4851}"/>
              </a:ext>
            </a:extLst>
          </p:cNvPr>
          <p:cNvSpPr>
            <a:spLocks noGrp="1"/>
          </p:cNvSpPr>
          <p:nvPr>
            <p:ph type="sldNum" sz="quarter" idx="13"/>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17505478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8_Title Slide">
    <p:spTree>
      <p:nvGrpSpPr>
        <p:cNvPr id="1" name=""/>
        <p:cNvGrpSpPr/>
        <p:nvPr/>
      </p:nvGrpSpPr>
      <p:grpSpPr>
        <a:xfrm>
          <a:off x="0" y="0"/>
          <a:ext cx="0" cy="0"/>
          <a:chOff x="0" y="0"/>
          <a:chExt cx="0" cy="0"/>
        </a:xfrm>
      </p:grpSpPr>
      <p:sp>
        <p:nvSpPr>
          <p:cNvPr id="3" name="Picture Placeholder 2"/>
          <p:cNvSpPr>
            <a:spLocks noGrp="1"/>
          </p:cNvSpPr>
          <p:nvPr>
            <p:ph type="pic" sz="quarter" idx="11" hasCustomPrompt="1"/>
          </p:nvPr>
        </p:nvSpPr>
        <p:spPr>
          <a:xfrm>
            <a:off x="0" y="0"/>
            <a:ext cx="3058390"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2" hasCustomPrompt="1"/>
          </p:nvPr>
        </p:nvSpPr>
        <p:spPr>
          <a:xfrm>
            <a:off x="3058390" y="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3" hasCustomPrompt="1"/>
          </p:nvPr>
        </p:nvSpPr>
        <p:spPr>
          <a:xfrm>
            <a:off x="3058390" y="342900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4D075EE4-D7D6-CDC7-3C66-FBAAA2938A2F}"/>
              </a:ext>
            </a:extLst>
          </p:cNvPr>
          <p:cNvSpPr>
            <a:spLocks noGrp="1"/>
          </p:cNvSpPr>
          <p:nvPr>
            <p:ph type="ftr" sz="quarter" idx="14"/>
          </p:nvPr>
        </p:nvSpPr>
        <p:spPr>
          <a:xfrm>
            <a:off x="4038600" y="6356350"/>
            <a:ext cx="4114800" cy="365125"/>
          </a:xfrm>
          <a:prstGeom prst="rect">
            <a:avLst/>
          </a:prstGeom>
        </p:spPr>
        <p:txBody>
          <a:bodyPr/>
          <a:lstStyle/>
          <a:p>
            <a:endParaRPr lang="en-SA"/>
          </a:p>
        </p:txBody>
      </p:sp>
      <p:sp>
        <p:nvSpPr>
          <p:cNvPr id="7" name="Slide Number Placeholder 1">
            <a:extLst>
              <a:ext uri="{FF2B5EF4-FFF2-40B4-BE49-F238E27FC236}">
                <a16:creationId xmlns:a16="http://schemas.microsoft.com/office/drawing/2014/main" id="{648D95BE-BEF4-EB92-4ED6-F6915A92EAEE}"/>
              </a:ext>
            </a:extLst>
          </p:cNvPr>
          <p:cNvSpPr>
            <a:spLocks noGrp="1"/>
          </p:cNvSpPr>
          <p:nvPr>
            <p:ph type="sldNum" sz="quarter" idx="15"/>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45377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4" name="Picture Placeholder 2"/>
          <p:cNvSpPr>
            <a:spLocks noGrp="1"/>
          </p:cNvSpPr>
          <p:nvPr>
            <p:ph type="pic" sz="quarter" idx="12" hasCustomPrompt="1"/>
          </p:nvPr>
        </p:nvSpPr>
        <p:spPr>
          <a:xfrm>
            <a:off x="3058391" y="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3" hasCustomPrompt="1"/>
          </p:nvPr>
        </p:nvSpPr>
        <p:spPr>
          <a:xfrm>
            <a:off x="3058391" y="342900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4" hasCustomPrompt="1"/>
          </p:nvPr>
        </p:nvSpPr>
        <p:spPr>
          <a:xfrm>
            <a:off x="0" y="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5" hasCustomPrompt="1"/>
          </p:nvPr>
        </p:nvSpPr>
        <p:spPr>
          <a:xfrm>
            <a:off x="0" y="3429000"/>
            <a:ext cx="3058390"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Slide Number Placeholder 1">
            <a:extLst>
              <a:ext uri="{FF2B5EF4-FFF2-40B4-BE49-F238E27FC236}">
                <a16:creationId xmlns:a16="http://schemas.microsoft.com/office/drawing/2014/main" id="{E153C4FF-A908-3B1F-1065-9333E1702BFE}"/>
              </a:ext>
            </a:extLst>
          </p:cNvPr>
          <p:cNvSpPr>
            <a:spLocks noGrp="1"/>
          </p:cNvSpPr>
          <p:nvPr>
            <p:ph type="sldNum" sz="quarter" idx="11"/>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1066075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0_Title Slide">
    <p:spTree>
      <p:nvGrpSpPr>
        <p:cNvPr id="1" name=""/>
        <p:cNvGrpSpPr/>
        <p:nvPr/>
      </p:nvGrpSpPr>
      <p:grpSpPr>
        <a:xfrm>
          <a:off x="0" y="0"/>
          <a:ext cx="0" cy="0"/>
          <a:chOff x="0" y="0"/>
          <a:chExt cx="0" cy="0"/>
        </a:xfrm>
      </p:grpSpPr>
      <p:sp>
        <p:nvSpPr>
          <p:cNvPr id="6" name="Picture Placeholder 2"/>
          <p:cNvSpPr>
            <a:spLocks noGrp="1"/>
          </p:cNvSpPr>
          <p:nvPr>
            <p:ph type="pic" sz="quarter" idx="14" hasCustomPrompt="1"/>
          </p:nvPr>
        </p:nvSpPr>
        <p:spPr>
          <a:xfrm>
            <a:off x="513348" y="1028699"/>
            <a:ext cx="3624966" cy="3937377"/>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4" name="Picture Placeholder 2"/>
          <p:cNvSpPr>
            <a:spLocks noGrp="1"/>
          </p:cNvSpPr>
          <p:nvPr>
            <p:ph type="pic" sz="quarter" idx="17" hasCustomPrompt="1"/>
          </p:nvPr>
        </p:nvSpPr>
        <p:spPr>
          <a:xfrm>
            <a:off x="2856243" y="2099045"/>
            <a:ext cx="1639163" cy="180757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5" name="Picture Placeholder 2"/>
          <p:cNvSpPr>
            <a:spLocks noGrp="1"/>
          </p:cNvSpPr>
          <p:nvPr>
            <p:ph type="pic" sz="quarter" idx="18" hasCustomPrompt="1"/>
          </p:nvPr>
        </p:nvSpPr>
        <p:spPr>
          <a:xfrm>
            <a:off x="2856243" y="4031612"/>
            <a:ext cx="1639163" cy="180757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6" name="Picture Placeholder 2"/>
          <p:cNvSpPr>
            <a:spLocks noGrp="1"/>
          </p:cNvSpPr>
          <p:nvPr>
            <p:ph type="pic" sz="quarter" idx="19" hasCustomPrompt="1"/>
          </p:nvPr>
        </p:nvSpPr>
        <p:spPr>
          <a:xfrm>
            <a:off x="4612832" y="2715721"/>
            <a:ext cx="1639163" cy="180757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7" name="Picture Placeholder 2"/>
          <p:cNvSpPr>
            <a:spLocks noGrp="1"/>
          </p:cNvSpPr>
          <p:nvPr>
            <p:ph type="pic" sz="quarter" idx="20" hasCustomPrompt="1"/>
          </p:nvPr>
        </p:nvSpPr>
        <p:spPr>
          <a:xfrm>
            <a:off x="4612832" y="4648288"/>
            <a:ext cx="1639163" cy="180757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Slide Number Placeholder 1">
            <a:extLst>
              <a:ext uri="{FF2B5EF4-FFF2-40B4-BE49-F238E27FC236}">
                <a16:creationId xmlns:a16="http://schemas.microsoft.com/office/drawing/2014/main" id="{98785045-C120-F242-4440-143FAD2F5F13}"/>
              </a:ext>
            </a:extLst>
          </p:cNvPr>
          <p:cNvSpPr>
            <a:spLocks noGrp="1"/>
          </p:cNvSpPr>
          <p:nvPr>
            <p:ph type="sldNum" sz="quarter" idx="11"/>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2120741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399816-1C21-3CF6-00D7-7E9F835E7599}"/>
              </a:ext>
            </a:extLst>
          </p:cNvPr>
          <p:cNvSpPr txBox="1">
            <a:spLocks/>
          </p:cNvSpPr>
          <p:nvPr userDrawn="1"/>
        </p:nvSpPr>
        <p:spPr>
          <a:xfrm>
            <a:off x="11442357" y="6402477"/>
            <a:ext cx="400809"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00AEB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19682174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8D316C5-5FEF-6124-64D3-38F95BD98E40}"/>
              </a:ext>
            </a:extLst>
          </p:cNvPr>
          <p:cNvSpPr/>
          <p:nvPr userDrawn="1"/>
        </p:nvSpPr>
        <p:spPr>
          <a:xfrm>
            <a:off x="0" y="0"/>
            <a:ext cx="12192000" cy="6858000"/>
          </a:xfrm>
          <a:prstGeom prst="rect">
            <a:avLst/>
          </a:prstGeom>
          <a:solidFill>
            <a:srgbClr val="1B16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SA"/>
          </a:p>
        </p:txBody>
      </p:sp>
      <p:sp>
        <p:nvSpPr>
          <p:cNvPr id="2" name="Slide Number Placeholder 1">
            <a:extLst>
              <a:ext uri="{FF2B5EF4-FFF2-40B4-BE49-F238E27FC236}">
                <a16:creationId xmlns:a16="http://schemas.microsoft.com/office/drawing/2014/main" id="{EC399816-1C21-3CF6-00D7-7E9F835E7599}"/>
              </a:ext>
            </a:extLst>
          </p:cNvPr>
          <p:cNvSpPr txBox="1">
            <a:spLocks/>
          </p:cNvSpPr>
          <p:nvPr userDrawn="1"/>
        </p:nvSpPr>
        <p:spPr>
          <a:xfrm>
            <a:off x="11442357" y="6402477"/>
            <a:ext cx="400809" cy="365125"/>
          </a:xfrm>
          <a:prstGeom prst="rect">
            <a:avLst/>
          </a:prstGeom>
          <a:ln>
            <a:noFill/>
          </a:ln>
        </p:spPr>
        <p:txBody>
          <a:bodyPr vert="horz" lIns="91440" tIns="45720" rIns="91440" bIns="45720" rtlCol="0" anchor="ctr"/>
          <a:lstStyle>
            <a:defPPr>
              <a:defRPr lang="en-US"/>
            </a:defPPr>
            <a:lvl1pPr marL="0" algn="r" defTabSz="914400" rtl="0" eaLnBrk="1" latinLnBrk="0" hangingPunct="1">
              <a:defRPr sz="1200" kern="1200">
                <a:solidFill>
                  <a:srgbClr val="00AEB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83386A-6F2F-1D4B-9C0A-84490692B308}" type="slidenum">
              <a:rPr lang="en-SA" smtClean="0"/>
              <a:pPr/>
              <a:t>‹#›</a:t>
            </a:fld>
            <a:endParaRPr lang="en-SA" dirty="0"/>
          </a:p>
        </p:txBody>
      </p:sp>
      <p:cxnSp>
        <p:nvCxnSpPr>
          <p:cNvPr id="4" name="Straight Connector 3">
            <a:extLst>
              <a:ext uri="{FF2B5EF4-FFF2-40B4-BE49-F238E27FC236}">
                <a16:creationId xmlns:a16="http://schemas.microsoft.com/office/drawing/2014/main" id="{101D5ADB-B21E-8EC6-B47E-E9274D69DB74}"/>
              </a:ext>
            </a:extLst>
          </p:cNvPr>
          <p:cNvCxnSpPr>
            <a:cxnSpLocks/>
          </p:cNvCxnSpPr>
          <p:nvPr userDrawn="1"/>
        </p:nvCxnSpPr>
        <p:spPr>
          <a:xfrm flipH="1">
            <a:off x="11843166" y="0"/>
            <a:ext cx="0" cy="638048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E151B54-CA4E-A8B7-91FD-6E91250AEED3}"/>
              </a:ext>
            </a:extLst>
          </p:cNvPr>
          <p:cNvCxnSpPr/>
          <p:nvPr userDrawn="1"/>
        </p:nvCxnSpPr>
        <p:spPr>
          <a:xfrm>
            <a:off x="11461707" y="6380480"/>
            <a:ext cx="3814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blue and green line&#10;&#10;Description automatically generated with medium confidence">
            <a:extLst>
              <a:ext uri="{FF2B5EF4-FFF2-40B4-BE49-F238E27FC236}">
                <a16:creationId xmlns:a16="http://schemas.microsoft.com/office/drawing/2014/main" id="{C3E2D0E0-7706-8143-6F5A-0F917C38621B}"/>
              </a:ext>
            </a:extLst>
          </p:cNvPr>
          <p:cNvPicPr>
            <a:picLocks noChangeAspect="1"/>
          </p:cNvPicPr>
          <p:nvPr userDrawn="1"/>
        </p:nvPicPr>
        <p:blipFill>
          <a:blip r:embed="rId2"/>
          <a:stretch>
            <a:fillRect/>
          </a:stretch>
        </p:blipFill>
        <p:spPr>
          <a:xfrm>
            <a:off x="0" y="6161018"/>
            <a:ext cx="1371600" cy="696982"/>
          </a:xfrm>
          <a:prstGeom prst="rect">
            <a:avLst/>
          </a:prstGeom>
        </p:spPr>
      </p:pic>
    </p:spTree>
    <p:extLst>
      <p:ext uri="{BB962C8B-B14F-4D97-AF65-F5344CB8AC3E}">
        <p14:creationId xmlns:p14="http://schemas.microsoft.com/office/powerpoint/2010/main" val="3489393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844017-23D2-3805-720B-771F6CB5D07C}"/>
              </a:ext>
            </a:extLst>
          </p:cNvPr>
          <p:cNvSpPr/>
          <p:nvPr userDrawn="1"/>
        </p:nvSpPr>
        <p:spPr>
          <a:xfrm>
            <a:off x="11376212" y="0"/>
            <a:ext cx="591670" cy="640247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a:p>
        </p:txBody>
      </p:sp>
      <p:sp>
        <p:nvSpPr>
          <p:cNvPr id="3" name="Slide Number Placeholder 1">
            <a:extLst>
              <a:ext uri="{FF2B5EF4-FFF2-40B4-BE49-F238E27FC236}">
                <a16:creationId xmlns:a16="http://schemas.microsoft.com/office/drawing/2014/main" id="{39C045D9-3D5E-9BF1-DECE-DFCD151FCCD5}"/>
              </a:ext>
            </a:extLst>
          </p:cNvPr>
          <p:cNvSpPr>
            <a:spLocks noGrp="1"/>
          </p:cNvSpPr>
          <p:nvPr>
            <p:ph type="sldNum" sz="quarter" idx="11"/>
          </p:nvPr>
        </p:nvSpPr>
        <p:spPr>
          <a:xfrm>
            <a:off x="11442356" y="6402477"/>
            <a:ext cx="400809" cy="365125"/>
          </a:xfrm>
          <a:prstGeom prst="rect">
            <a:avLst/>
          </a:prstGeom>
        </p:spPr>
        <p:txBody>
          <a:bodyPr/>
          <a:lstStyle/>
          <a:p>
            <a:fld id="{E783386A-6F2F-1D4B-9C0A-84490692B308}" type="slidenum">
              <a:rPr lang="en-SA" smtClean="0"/>
              <a:pPr/>
              <a:t>‹#›</a:t>
            </a:fld>
            <a:endParaRPr lang="en-SA" dirty="0"/>
          </a:p>
        </p:txBody>
      </p:sp>
    </p:spTree>
    <p:extLst>
      <p:ext uri="{BB962C8B-B14F-4D97-AF65-F5344CB8AC3E}">
        <p14:creationId xmlns:p14="http://schemas.microsoft.com/office/powerpoint/2010/main" val="4103412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9_Title Slide">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148281"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3" name="Picture Placeholder 2"/>
          <p:cNvSpPr>
            <a:spLocks noGrp="1"/>
          </p:cNvSpPr>
          <p:nvPr>
            <p:ph type="pic" sz="quarter" idx="11"/>
          </p:nvPr>
        </p:nvSpPr>
        <p:spPr>
          <a:xfrm>
            <a:off x="148281"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4" name="Picture Placeholder 2"/>
          <p:cNvSpPr>
            <a:spLocks noGrp="1"/>
          </p:cNvSpPr>
          <p:nvPr>
            <p:ph type="pic" sz="quarter" idx="12"/>
          </p:nvPr>
        </p:nvSpPr>
        <p:spPr>
          <a:xfrm>
            <a:off x="148281"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5" name="Picture Placeholder 2"/>
          <p:cNvSpPr>
            <a:spLocks noGrp="1"/>
          </p:cNvSpPr>
          <p:nvPr>
            <p:ph type="pic" sz="quarter" idx="13"/>
          </p:nvPr>
        </p:nvSpPr>
        <p:spPr>
          <a:xfrm>
            <a:off x="4158048"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6" name="Picture Placeholder 2"/>
          <p:cNvSpPr>
            <a:spLocks noGrp="1"/>
          </p:cNvSpPr>
          <p:nvPr>
            <p:ph type="pic" sz="quarter" idx="14"/>
          </p:nvPr>
        </p:nvSpPr>
        <p:spPr>
          <a:xfrm>
            <a:off x="4158048"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7" name="Picture Placeholder 2"/>
          <p:cNvSpPr>
            <a:spLocks noGrp="1"/>
          </p:cNvSpPr>
          <p:nvPr>
            <p:ph type="pic" sz="quarter" idx="15"/>
          </p:nvPr>
        </p:nvSpPr>
        <p:spPr>
          <a:xfrm>
            <a:off x="4158048"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8" name="Picture Placeholder 2"/>
          <p:cNvSpPr>
            <a:spLocks noGrp="1"/>
          </p:cNvSpPr>
          <p:nvPr>
            <p:ph type="pic" sz="quarter" idx="16"/>
          </p:nvPr>
        </p:nvSpPr>
        <p:spPr>
          <a:xfrm>
            <a:off x="8167816"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9" name="Picture Placeholder 2"/>
          <p:cNvSpPr>
            <a:spLocks noGrp="1"/>
          </p:cNvSpPr>
          <p:nvPr>
            <p:ph type="pic" sz="quarter" idx="17"/>
          </p:nvPr>
        </p:nvSpPr>
        <p:spPr>
          <a:xfrm>
            <a:off x="8167816"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0" name="Picture Placeholder 2"/>
          <p:cNvSpPr>
            <a:spLocks noGrp="1"/>
          </p:cNvSpPr>
          <p:nvPr>
            <p:ph type="pic" sz="quarter" idx="18"/>
          </p:nvPr>
        </p:nvSpPr>
        <p:spPr>
          <a:xfrm>
            <a:off x="8167816"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1" name="Footer Placeholder 10">
            <a:extLst>
              <a:ext uri="{FF2B5EF4-FFF2-40B4-BE49-F238E27FC236}">
                <a16:creationId xmlns:a16="http://schemas.microsoft.com/office/drawing/2014/main" id="{0A1C1EEE-B016-19CD-1BB4-4CA25C44B3CF}"/>
              </a:ext>
            </a:extLst>
          </p:cNvPr>
          <p:cNvSpPr>
            <a:spLocks noGrp="1"/>
          </p:cNvSpPr>
          <p:nvPr>
            <p:ph type="ftr" sz="quarter" idx="19"/>
          </p:nvPr>
        </p:nvSpPr>
        <p:spPr>
          <a:xfrm>
            <a:off x="4038600" y="6356350"/>
            <a:ext cx="4114800" cy="365125"/>
          </a:xfrm>
          <a:prstGeom prst="rect">
            <a:avLst/>
          </a:prstGeom>
        </p:spPr>
        <p:txBody>
          <a:bodyPr/>
          <a:lstStyle/>
          <a:p>
            <a:endParaRPr lang="en-SA"/>
          </a:p>
        </p:txBody>
      </p:sp>
      <p:sp>
        <p:nvSpPr>
          <p:cNvPr id="12" name="Slide Number Placeholder 11">
            <a:extLst>
              <a:ext uri="{FF2B5EF4-FFF2-40B4-BE49-F238E27FC236}">
                <a16:creationId xmlns:a16="http://schemas.microsoft.com/office/drawing/2014/main" id="{6EAEE2DA-0848-0682-7D39-E65D325AA509}"/>
              </a:ext>
            </a:extLst>
          </p:cNvPr>
          <p:cNvSpPr>
            <a:spLocks noGrp="1"/>
          </p:cNvSpPr>
          <p:nvPr>
            <p:ph type="sldNum" sz="quarter" idx="20"/>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12384989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0_Title Slide">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148281" y="135925"/>
            <a:ext cx="7908324" cy="6586149"/>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2" name="Picture Placeholder 2"/>
          <p:cNvSpPr>
            <a:spLocks noGrp="1"/>
          </p:cNvSpPr>
          <p:nvPr>
            <p:ph type="pic" sz="quarter" idx="16"/>
          </p:nvPr>
        </p:nvSpPr>
        <p:spPr>
          <a:xfrm>
            <a:off x="8167816"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3" name="Picture Placeholder 2"/>
          <p:cNvSpPr>
            <a:spLocks noGrp="1"/>
          </p:cNvSpPr>
          <p:nvPr>
            <p:ph type="pic" sz="quarter" idx="17"/>
          </p:nvPr>
        </p:nvSpPr>
        <p:spPr>
          <a:xfrm>
            <a:off x="8167816"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4" name="Picture Placeholder 2"/>
          <p:cNvSpPr>
            <a:spLocks noGrp="1"/>
          </p:cNvSpPr>
          <p:nvPr>
            <p:ph type="pic" sz="quarter" idx="18"/>
          </p:nvPr>
        </p:nvSpPr>
        <p:spPr>
          <a:xfrm>
            <a:off x="8167816"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2" name="Footer Placeholder 1">
            <a:extLst>
              <a:ext uri="{FF2B5EF4-FFF2-40B4-BE49-F238E27FC236}">
                <a16:creationId xmlns:a16="http://schemas.microsoft.com/office/drawing/2014/main" id="{DE17A8C2-5A38-F111-13F2-E6D59F24491D}"/>
              </a:ext>
            </a:extLst>
          </p:cNvPr>
          <p:cNvSpPr>
            <a:spLocks noGrp="1"/>
          </p:cNvSpPr>
          <p:nvPr>
            <p:ph type="ftr" sz="quarter" idx="19"/>
          </p:nvPr>
        </p:nvSpPr>
        <p:spPr>
          <a:xfrm>
            <a:off x="4038600" y="6356350"/>
            <a:ext cx="4114800" cy="365125"/>
          </a:xfrm>
          <a:prstGeom prst="rect">
            <a:avLst/>
          </a:prstGeom>
        </p:spPr>
        <p:txBody>
          <a:bodyPr/>
          <a:lstStyle/>
          <a:p>
            <a:endParaRPr lang="en-SA"/>
          </a:p>
        </p:txBody>
      </p:sp>
      <p:sp>
        <p:nvSpPr>
          <p:cNvPr id="3" name="Slide Number Placeholder 2">
            <a:extLst>
              <a:ext uri="{FF2B5EF4-FFF2-40B4-BE49-F238E27FC236}">
                <a16:creationId xmlns:a16="http://schemas.microsoft.com/office/drawing/2014/main" id="{E402AD14-7B41-0997-B2CF-DFD32526B1C4}"/>
              </a:ext>
            </a:extLst>
          </p:cNvPr>
          <p:cNvSpPr>
            <a:spLocks noGrp="1"/>
          </p:cNvSpPr>
          <p:nvPr>
            <p:ph type="sldNum" sz="quarter" idx="20"/>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10433887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1_Title Slide">
    <p:spTree>
      <p:nvGrpSpPr>
        <p:cNvPr id="1" name=""/>
        <p:cNvGrpSpPr/>
        <p:nvPr/>
      </p:nvGrpSpPr>
      <p:grpSpPr>
        <a:xfrm>
          <a:off x="0" y="0"/>
          <a:ext cx="0" cy="0"/>
          <a:chOff x="0" y="0"/>
          <a:chExt cx="0" cy="0"/>
        </a:xfrm>
      </p:grpSpPr>
      <p:sp>
        <p:nvSpPr>
          <p:cNvPr id="6" name="Picture Placeholder 2"/>
          <p:cNvSpPr>
            <a:spLocks noGrp="1"/>
          </p:cNvSpPr>
          <p:nvPr>
            <p:ph type="pic" sz="quarter" idx="10"/>
          </p:nvPr>
        </p:nvSpPr>
        <p:spPr>
          <a:xfrm>
            <a:off x="148281" y="135926"/>
            <a:ext cx="7896014" cy="4349576"/>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7" name="Picture Placeholder 2"/>
          <p:cNvSpPr>
            <a:spLocks noGrp="1"/>
          </p:cNvSpPr>
          <p:nvPr>
            <p:ph type="pic" sz="quarter" idx="12"/>
          </p:nvPr>
        </p:nvSpPr>
        <p:spPr>
          <a:xfrm>
            <a:off x="148281"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8" name="Picture Placeholder 2"/>
          <p:cNvSpPr>
            <a:spLocks noGrp="1"/>
          </p:cNvSpPr>
          <p:nvPr>
            <p:ph type="pic" sz="quarter" idx="15"/>
          </p:nvPr>
        </p:nvSpPr>
        <p:spPr>
          <a:xfrm>
            <a:off x="4158048"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9" name="Picture Placeholder 2"/>
          <p:cNvSpPr>
            <a:spLocks noGrp="1"/>
          </p:cNvSpPr>
          <p:nvPr>
            <p:ph type="pic" sz="quarter" idx="16"/>
          </p:nvPr>
        </p:nvSpPr>
        <p:spPr>
          <a:xfrm>
            <a:off x="8167816"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0" name="Picture Placeholder 2"/>
          <p:cNvSpPr>
            <a:spLocks noGrp="1"/>
          </p:cNvSpPr>
          <p:nvPr>
            <p:ph type="pic" sz="quarter" idx="17"/>
          </p:nvPr>
        </p:nvSpPr>
        <p:spPr>
          <a:xfrm>
            <a:off x="8167816"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5" name="Picture Placeholder 2"/>
          <p:cNvSpPr>
            <a:spLocks noGrp="1"/>
          </p:cNvSpPr>
          <p:nvPr>
            <p:ph type="pic" sz="quarter" idx="18"/>
          </p:nvPr>
        </p:nvSpPr>
        <p:spPr>
          <a:xfrm>
            <a:off x="8167816"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2" name="Footer Placeholder 1">
            <a:extLst>
              <a:ext uri="{FF2B5EF4-FFF2-40B4-BE49-F238E27FC236}">
                <a16:creationId xmlns:a16="http://schemas.microsoft.com/office/drawing/2014/main" id="{00CB387C-C78B-4196-DB5C-F6C6C9ECB00A}"/>
              </a:ext>
            </a:extLst>
          </p:cNvPr>
          <p:cNvSpPr>
            <a:spLocks noGrp="1"/>
          </p:cNvSpPr>
          <p:nvPr>
            <p:ph type="ftr" sz="quarter" idx="19"/>
          </p:nvPr>
        </p:nvSpPr>
        <p:spPr>
          <a:xfrm>
            <a:off x="4038600" y="6356350"/>
            <a:ext cx="4114800" cy="365125"/>
          </a:xfrm>
          <a:prstGeom prst="rect">
            <a:avLst/>
          </a:prstGeom>
        </p:spPr>
        <p:txBody>
          <a:bodyPr/>
          <a:lstStyle/>
          <a:p>
            <a:endParaRPr lang="en-SA"/>
          </a:p>
        </p:txBody>
      </p:sp>
      <p:sp>
        <p:nvSpPr>
          <p:cNvPr id="3" name="Slide Number Placeholder 2">
            <a:extLst>
              <a:ext uri="{FF2B5EF4-FFF2-40B4-BE49-F238E27FC236}">
                <a16:creationId xmlns:a16="http://schemas.microsoft.com/office/drawing/2014/main" id="{D7D3898E-50D4-E98C-97F1-DC00F72A4AB3}"/>
              </a:ext>
            </a:extLst>
          </p:cNvPr>
          <p:cNvSpPr>
            <a:spLocks noGrp="1"/>
          </p:cNvSpPr>
          <p:nvPr>
            <p:ph type="sldNum" sz="quarter" idx="20"/>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396377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2_Title Slide">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148281"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2" name="Picture Placeholder 2"/>
          <p:cNvSpPr>
            <a:spLocks noGrp="1"/>
          </p:cNvSpPr>
          <p:nvPr>
            <p:ph type="pic" sz="quarter" idx="12"/>
          </p:nvPr>
        </p:nvSpPr>
        <p:spPr>
          <a:xfrm>
            <a:off x="148281" y="2372498"/>
            <a:ext cx="3886247" cy="4349577"/>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3" name="Picture Placeholder 2"/>
          <p:cNvSpPr>
            <a:spLocks noGrp="1"/>
          </p:cNvSpPr>
          <p:nvPr>
            <p:ph type="pic" sz="quarter" idx="13"/>
          </p:nvPr>
        </p:nvSpPr>
        <p:spPr>
          <a:xfrm>
            <a:off x="4158048" y="135926"/>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4" name="Picture Placeholder 2"/>
          <p:cNvSpPr>
            <a:spLocks noGrp="1"/>
          </p:cNvSpPr>
          <p:nvPr>
            <p:ph type="pic" sz="quarter" idx="14"/>
          </p:nvPr>
        </p:nvSpPr>
        <p:spPr>
          <a:xfrm>
            <a:off x="4158048" y="2372498"/>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6" name="Picture Placeholder 2"/>
          <p:cNvSpPr>
            <a:spLocks noGrp="1"/>
          </p:cNvSpPr>
          <p:nvPr>
            <p:ph type="pic" sz="quarter" idx="15"/>
          </p:nvPr>
        </p:nvSpPr>
        <p:spPr>
          <a:xfrm>
            <a:off x="4158048"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7" name="Picture Placeholder 2"/>
          <p:cNvSpPr>
            <a:spLocks noGrp="1"/>
          </p:cNvSpPr>
          <p:nvPr>
            <p:ph type="pic" sz="quarter" idx="16"/>
          </p:nvPr>
        </p:nvSpPr>
        <p:spPr>
          <a:xfrm>
            <a:off x="8167816" y="135926"/>
            <a:ext cx="3886247" cy="4349576"/>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8" name="Picture Placeholder 2"/>
          <p:cNvSpPr>
            <a:spLocks noGrp="1"/>
          </p:cNvSpPr>
          <p:nvPr>
            <p:ph type="pic" sz="quarter" idx="18"/>
          </p:nvPr>
        </p:nvSpPr>
        <p:spPr>
          <a:xfrm>
            <a:off x="8167816" y="4609071"/>
            <a:ext cx="3886247" cy="2113004"/>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2" name="Footer Placeholder 1">
            <a:extLst>
              <a:ext uri="{FF2B5EF4-FFF2-40B4-BE49-F238E27FC236}">
                <a16:creationId xmlns:a16="http://schemas.microsoft.com/office/drawing/2014/main" id="{C16AFE43-0110-4D30-5A6E-F4783C6C2EB0}"/>
              </a:ext>
            </a:extLst>
          </p:cNvPr>
          <p:cNvSpPr>
            <a:spLocks noGrp="1"/>
          </p:cNvSpPr>
          <p:nvPr>
            <p:ph type="ftr" sz="quarter" idx="19"/>
          </p:nvPr>
        </p:nvSpPr>
        <p:spPr>
          <a:xfrm>
            <a:off x="4038600" y="6356350"/>
            <a:ext cx="4114800" cy="365125"/>
          </a:xfrm>
          <a:prstGeom prst="rect">
            <a:avLst/>
          </a:prstGeom>
        </p:spPr>
        <p:txBody>
          <a:bodyPr/>
          <a:lstStyle/>
          <a:p>
            <a:endParaRPr lang="en-SA"/>
          </a:p>
        </p:txBody>
      </p:sp>
      <p:sp>
        <p:nvSpPr>
          <p:cNvPr id="3" name="Slide Number Placeholder 2">
            <a:extLst>
              <a:ext uri="{FF2B5EF4-FFF2-40B4-BE49-F238E27FC236}">
                <a16:creationId xmlns:a16="http://schemas.microsoft.com/office/drawing/2014/main" id="{40ECAD2B-DB63-9F50-2B70-EC250D0C3035}"/>
              </a:ext>
            </a:extLst>
          </p:cNvPr>
          <p:cNvSpPr>
            <a:spLocks noGrp="1"/>
          </p:cNvSpPr>
          <p:nvPr>
            <p:ph type="sldNum" sz="quarter" idx="20"/>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1396918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3_Title Slide">
    <p:spTree>
      <p:nvGrpSpPr>
        <p:cNvPr id="1" name=""/>
        <p:cNvGrpSpPr/>
        <p:nvPr/>
      </p:nvGrpSpPr>
      <p:grpSpPr>
        <a:xfrm>
          <a:off x="0" y="0"/>
          <a:ext cx="0" cy="0"/>
          <a:chOff x="0" y="0"/>
          <a:chExt cx="0" cy="0"/>
        </a:xfrm>
      </p:grpSpPr>
      <p:sp>
        <p:nvSpPr>
          <p:cNvPr id="9" name="Picture Placeholder 2"/>
          <p:cNvSpPr>
            <a:spLocks noGrp="1"/>
          </p:cNvSpPr>
          <p:nvPr>
            <p:ph type="pic" sz="quarter" idx="12"/>
          </p:nvPr>
        </p:nvSpPr>
        <p:spPr>
          <a:xfrm>
            <a:off x="148281" y="135926"/>
            <a:ext cx="3886247" cy="6586149"/>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0" name="Picture Placeholder 2"/>
          <p:cNvSpPr>
            <a:spLocks noGrp="1"/>
          </p:cNvSpPr>
          <p:nvPr>
            <p:ph type="pic" sz="quarter" idx="13"/>
          </p:nvPr>
        </p:nvSpPr>
        <p:spPr>
          <a:xfrm>
            <a:off x="4158048" y="135925"/>
            <a:ext cx="3886247" cy="6586149"/>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15" name="Picture Placeholder 2"/>
          <p:cNvSpPr>
            <a:spLocks noGrp="1"/>
          </p:cNvSpPr>
          <p:nvPr>
            <p:ph type="pic" sz="quarter" idx="16"/>
          </p:nvPr>
        </p:nvSpPr>
        <p:spPr>
          <a:xfrm>
            <a:off x="8167816" y="135926"/>
            <a:ext cx="3886247" cy="6586148"/>
          </a:xfrm>
          <a:prstGeom prst="rect">
            <a:avLst/>
          </a:prstGeom>
          <a:pattFill prst="lgCheck">
            <a:fgClr>
              <a:schemeClr val="bg1">
                <a:lumMod val="90000"/>
                <a:lumOff val="10000"/>
              </a:schemeClr>
            </a:fgClr>
            <a:bgClr>
              <a:schemeClr val="bg1"/>
            </a:bgClr>
          </a:pattFill>
        </p:spPr>
        <p:txBody>
          <a:bodyPr anchor="ctr"/>
          <a:lstStyle>
            <a:lvl1pPr algn="ctr">
              <a:defRPr>
                <a:latin typeface="Tahoma" panose="020B0604030504040204" pitchFamily="34" charset="0"/>
                <a:ea typeface="Tahoma" panose="020B0604030504040204" pitchFamily="34" charset="0"/>
                <a:cs typeface="Tahoma" panose="020B0604030504040204" pitchFamily="34" charset="0"/>
              </a:defRPr>
            </a:lvl1pPr>
          </a:lstStyle>
          <a:p>
            <a:r>
              <a:rPr lang="en-US"/>
              <a:t>Click icon to add picture</a:t>
            </a:r>
          </a:p>
        </p:txBody>
      </p:sp>
      <p:sp>
        <p:nvSpPr>
          <p:cNvPr id="2" name="Footer Placeholder 1">
            <a:extLst>
              <a:ext uri="{FF2B5EF4-FFF2-40B4-BE49-F238E27FC236}">
                <a16:creationId xmlns:a16="http://schemas.microsoft.com/office/drawing/2014/main" id="{0D0B7617-8A6F-3BEC-7F47-F5F8E0EF0ED3}"/>
              </a:ext>
            </a:extLst>
          </p:cNvPr>
          <p:cNvSpPr>
            <a:spLocks noGrp="1"/>
          </p:cNvSpPr>
          <p:nvPr>
            <p:ph type="ftr" sz="quarter" idx="17"/>
          </p:nvPr>
        </p:nvSpPr>
        <p:spPr>
          <a:xfrm>
            <a:off x="4038600" y="6356350"/>
            <a:ext cx="4114800" cy="365125"/>
          </a:xfrm>
          <a:prstGeom prst="rect">
            <a:avLst/>
          </a:prstGeom>
        </p:spPr>
        <p:txBody>
          <a:bodyPr/>
          <a:lstStyle/>
          <a:p>
            <a:endParaRPr lang="en-SA"/>
          </a:p>
        </p:txBody>
      </p:sp>
      <p:sp>
        <p:nvSpPr>
          <p:cNvPr id="3" name="Slide Number Placeholder 2">
            <a:extLst>
              <a:ext uri="{FF2B5EF4-FFF2-40B4-BE49-F238E27FC236}">
                <a16:creationId xmlns:a16="http://schemas.microsoft.com/office/drawing/2014/main" id="{4C0A5EF0-A3DC-A87A-0C84-554A2D7B9C0B}"/>
              </a:ext>
            </a:extLst>
          </p:cNvPr>
          <p:cNvSpPr>
            <a:spLocks noGrp="1"/>
          </p:cNvSpPr>
          <p:nvPr>
            <p:ph type="sldNum" sz="quarter" idx="18"/>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1664423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9B7CA09-053C-C3EA-1A33-0C1A59628394}"/>
              </a:ext>
            </a:extLst>
          </p:cNvPr>
          <p:cNvSpPr>
            <a:spLocks noGrp="1"/>
          </p:cNvSpPr>
          <p:nvPr>
            <p:ph type="ftr" sz="quarter" idx="10"/>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4A47C7B8-7D17-7E90-2074-49BF93E32A5E}"/>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2924134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12" name="Picture Placeholder 2"/>
          <p:cNvSpPr>
            <a:spLocks noGrp="1"/>
          </p:cNvSpPr>
          <p:nvPr>
            <p:ph type="pic" sz="quarter" idx="13" hasCustomPrompt="1"/>
          </p:nvPr>
        </p:nvSpPr>
        <p:spPr>
          <a:xfrm>
            <a:off x="3388861" y="2473036"/>
            <a:ext cx="4114800" cy="2919847"/>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3" name="Picture Placeholder 2"/>
          <p:cNvSpPr>
            <a:spLocks noGrp="1"/>
          </p:cNvSpPr>
          <p:nvPr>
            <p:ph type="pic" sz="quarter" idx="14" hasCustomPrompt="1"/>
          </p:nvPr>
        </p:nvSpPr>
        <p:spPr>
          <a:xfrm>
            <a:off x="5757986" y="1028700"/>
            <a:ext cx="2497282" cy="1880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1" hasCustomPrompt="1"/>
          </p:nvPr>
        </p:nvSpPr>
        <p:spPr>
          <a:xfrm>
            <a:off x="500186" y="1475510"/>
            <a:ext cx="3512127" cy="24003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2" hasCustomPrompt="1"/>
          </p:nvPr>
        </p:nvSpPr>
        <p:spPr>
          <a:xfrm>
            <a:off x="2838141" y="2909455"/>
            <a:ext cx="1776845" cy="303414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64981DC5-7B60-DEA8-C0D5-EA06FCC7F081}"/>
              </a:ext>
            </a:extLst>
          </p:cNvPr>
          <p:cNvSpPr>
            <a:spLocks noGrp="1"/>
          </p:cNvSpPr>
          <p:nvPr>
            <p:ph type="ftr" sz="quarter" idx="15"/>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FC2BA78C-B807-62D5-C0E7-4E4774F94C98}"/>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1730026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8" name="Picture Placeholder 2"/>
          <p:cNvSpPr>
            <a:spLocks noGrp="1"/>
          </p:cNvSpPr>
          <p:nvPr>
            <p:ph type="pic" sz="quarter" idx="10" hasCustomPrompt="1"/>
          </p:nvPr>
        </p:nvSpPr>
        <p:spPr>
          <a:xfrm>
            <a:off x="7074886" y="185427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9" name="Picture Placeholder 2"/>
          <p:cNvSpPr>
            <a:spLocks noGrp="1"/>
          </p:cNvSpPr>
          <p:nvPr>
            <p:ph type="pic" sz="quarter" idx="11" hasCustomPrompt="1"/>
          </p:nvPr>
        </p:nvSpPr>
        <p:spPr>
          <a:xfrm>
            <a:off x="4619117" y="102870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0" name="Picture Placeholder 2"/>
          <p:cNvSpPr>
            <a:spLocks noGrp="1"/>
          </p:cNvSpPr>
          <p:nvPr>
            <p:ph type="pic" sz="quarter" idx="12" hasCustomPrompt="1"/>
          </p:nvPr>
        </p:nvSpPr>
        <p:spPr>
          <a:xfrm>
            <a:off x="3878453" y="267984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1" name="Picture Placeholder 2"/>
          <p:cNvSpPr>
            <a:spLocks noGrp="1"/>
          </p:cNvSpPr>
          <p:nvPr>
            <p:ph type="pic" sz="quarter" idx="13" hasCustomPrompt="1"/>
          </p:nvPr>
        </p:nvSpPr>
        <p:spPr>
          <a:xfrm>
            <a:off x="4603173" y="433098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3" name="Picture Placeholder 2"/>
          <p:cNvSpPr>
            <a:spLocks noGrp="1"/>
          </p:cNvSpPr>
          <p:nvPr>
            <p:ph type="pic" sz="quarter" idx="14" hasCustomPrompt="1"/>
          </p:nvPr>
        </p:nvSpPr>
        <p:spPr>
          <a:xfrm>
            <a:off x="7073299" y="515655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4" name="Picture Placeholder 2"/>
          <p:cNvSpPr>
            <a:spLocks noGrp="1"/>
          </p:cNvSpPr>
          <p:nvPr>
            <p:ph type="pic" sz="quarter" idx="15" hasCustomPrompt="1"/>
          </p:nvPr>
        </p:nvSpPr>
        <p:spPr>
          <a:xfrm>
            <a:off x="9604940" y="3505410"/>
            <a:ext cx="739077" cy="737755"/>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dirty="0"/>
              <a:t>Insert Image</a:t>
            </a:r>
          </a:p>
        </p:txBody>
      </p:sp>
      <p:sp>
        <p:nvSpPr>
          <p:cNvPr id="2" name="Footer Placeholder 1">
            <a:extLst>
              <a:ext uri="{FF2B5EF4-FFF2-40B4-BE49-F238E27FC236}">
                <a16:creationId xmlns:a16="http://schemas.microsoft.com/office/drawing/2014/main" id="{C60CA5F2-C604-D331-F347-BB006D0CB356}"/>
              </a:ext>
            </a:extLst>
          </p:cNvPr>
          <p:cNvSpPr>
            <a:spLocks noGrp="1"/>
          </p:cNvSpPr>
          <p:nvPr>
            <p:ph type="ftr" sz="quarter" idx="16"/>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0C9EDD97-39FC-CF4A-CEBD-61F327DDE729}"/>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2547491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Picture Placeholder 2"/>
          <p:cNvSpPr>
            <a:spLocks noGrp="1"/>
          </p:cNvSpPr>
          <p:nvPr>
            <p:ph type="pic" sz="quarter" idx="10" hasCustomPrompt="1"/>
          </p:nvPr>
        </p:nvSpPr>
        <p:spPr>
          <a:xfrm>
            <a:off x="2400300" y="1028700"/>
            <a:ext cx="3695700" cy="24003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3" name="Footer Placeholder 2">
            <a:extLst>
              <a:ext uri="{FF2B5EF4-FFF2-40B4-BE49-F238E27FC236}">
                <a16:creationId xmlns:a16="http://schemas.microsoft.com/office/drawing/2014/main" id="{4420A089-76E9-1756-26ED-EFDBC75BB222}"/>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E27ADA8E-6815-A2AE-3C40-C8BC8A355F33}"/>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65344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11" name="Picture Placeholder 2"/>
          <p:cNvSpPr>
            <a:spLocks noGrp="1"/>
          </p:cNvSpPr>
          <p:nvPr>
            <p:ph type="pic" sz="quarter" idx="17" hasCustomPrompt="1"/>
          </p:nvPr>
        </p:nvSpPr>
        <p:spPr>
          <a:xfrm>
            <a:off x="6860188" y="1458098"/>
            <a:ext cx="1742302" cy="357110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2" name="Picture Placeholder 2"/>
          <p:cNvSpPr>
            <a:spLocks noGrp="1"/>
          </p:cNvSpPr>
          <p:nvPr>
            <p:ph type="pic" sz="quarter" idx="18" hasCustomPrompt="1"/>
          </p:nvPr>
        </p:nvSpPr>
        <p:spPr>
          <a:xfrm>
            <a:off x="8680491" y="1915299"/>
            <a:ext cx="1742302" cy="357110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8" name="Picture Placeholder 2"/>
          <p:cNvSpPr>
            <a:spLocks noGrp="1"/>
          </p:cNvSpPr>
          <p:nvPr>
            <p:ph type="pic" sz="quarter" idx="14" hasCustomPrompt="1"/>
          </p:nvPr>
        </p:nvSpPr>
        <p:spPr>
          <a:xfrm>
            <a:off x="1399273" y="1915299"/>
            <a:ext cx="1742302" cy="357110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9" name="Picture Placeholder 2"/>
          <p:cNvSpPr>
            <a:spLocks noGrp="1"/>
          </p:cNvSpPr>
          <p:nvPr>
            <p:ph type="pic" sz="quarter" idx="15" hasCustomPrompt="1"/>
          </p:nvPr>
        </p:nvSpPr>
        <p:spPr>
          <a:xfrm>
            <a:off x="3219578" y="1507526"/>
            <a:ext cx="1742302" cy="357110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0" name="Picture Placeholder 2"/>
          <p:cNvSpPr>
            <a:spLocks noGrp="1"/>
          </p:cNvSpPr>
          <p:nvPr>
            <p:ph type="pic" sz="quarter" idx="16" hasCustomPrompt="1"/>
          </p:nvPr>
        </p:nvSpPr>
        <p:spPr>
          <a:xfrm>
            <a:off x="5039883" y="2063580"/>
            <a:ext cx="1742302" cy="3571102"/>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99F4ED3D-C254-F4E1-87D2-56A8D4E05BB2}"/>
              </a:ext>
            </a:extLst>
          </p:cNvPr>
          <p:cNvSpPr>
            <a:spLocks noGrp="1"/>
          </p:cNvSpPr>
          <p:nvPr>
            <p:ph type="ftr" sz="quarter" idx="19"/>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137FAC3D-5539-E6CF-00EE-BD37D5078E51}"/>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4298415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22" name="Picture Placeholder 2"/>
          <p:cNvSpPr>
            <a:spLocks noGrp="1"/>
          </p:cNvSpPr>
          <p:nvPr>
            <p:ph type="pic" sz="quarter" idx="20" hasCustomPrompt="1"/>
          </p:nvPr>
        </p:nvSpPr>
        <p:spPr>
          <a:xfrm>
            <a:off x="3116578"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3" name="Picture Placeholder 2"/>
          <p:cNvSpPr>
            <a:spLocks noGrp="1"/>
          </p:cNvSpPr>
          <p:nvPr>
            <p:ph type="pic" sz="quarter" idx="21" hasCustomPrompt="1"/>
          </p:nvPr>
        </p:nvSpPr>
        <p:spPr>
          <a:xfrm>
            <a:off x="5055418"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8" name="Picture Placeholder 2"/>
          <p:cNvSpPr>
            <a:spLocks noGrp="1"/>
          </p:cNvSpPr>
          <p:nvPr>
            <p:ph type="pic" sz="quarter" idx="16" hasCustomPrompt="1"/>
          </p:nvPr>
        </p:nvSpPr>
        <p:spPr>
          <a:xfrm>
            <a:off x="1177738"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9" name="Picture Placeholder 2"/>
          <p:cNvSpPr>
            <a:spLocks noGrp="1"/>
          </p:cNvSpPr>
          <p:nvPr>
            <p:ph type="pic" sz="quarter" idx="17" hasCustomPrompt="1"/>
          </p:nvPr>
        </p:nvSpPr>
        <p:spPr>
          <a:xfrm>
            <a:off x="3116578"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0" name="Picture Placeholder 2"/>
          <p:cNvSpPr>
            <a:spLocks noGrp="1"/>
          </p:cNvSpPr>
          <p:nvPr>
            <p:ph type="pic" sz="quarter" idx="18" hasCustomPrompt="1"/>
          </p:nvPr>
        </p:nvSpPr>
        <p:spPr>
          <a:xfrm>
            <a:off x="5055418"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1" name="Picture Placeholder 2"/>
          <p:cNvSpPr>
            <a:spLocks noGrp="1"/>
          </p:cNvSpPr>
          <p:nvPr>
            <p:ph type="pic" sz="quarter" idx="19" hasCustomPrompt="1"/>
          </p:nvPr>
        </p:nvSpPr>
        <p:spPr>
          <a:xfrm>
            <a:off x="1177738"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E2DC485F-8151-2750-69C9-8EE8690E72DA}"/>
              </a:ext>
            </a:extLst>
          </p:cNvPr>
          <p:cNvSpPr>
            <a:spLocks noGrp="1"/>
          </p:cNvSpPr>
          <p:nvPr>
            <p:ph type="ftr" sz="quarter" idx="22"/>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5334E98D-AC58-E200-1245-C0CE61C8E502}"/>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003497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22" name="Picture Placeholder 2"/>
          <p:cNvSpPr>
            <a:spLocks noGrp="1"/>
          </p:cNvSpPr>
          <p:nvPr>
            <p:ph type="pic" sz="quarter" idx="20" hasCustomPrompt="1"/>
          </p:nvPr>
        </p:nvSpPr>
        <p:spPr>
          <a:xfrm>
            <a:off x="7611288"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3" name="Picture Placeholder 2"/>
          <p:cNvSpPr>
            <a:spLocks noGrp="1"/>
          </p:cNvSpPr>
          <p:nvPr>
            <p:ph type="pic" sz="quarter" idx="21" hasCustomPrompt="1"/>
          </p:nvPr>
        </p:nvSpPr>
        <p:spPr>
          <a:xfrm>
            <a:off x="9348285"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8" name="Picture Placeholder 2"/>
          <p:cNvSpPr>
            <a:spLocks noGrp="1"/>
          </p:cNvSpPr>
          <p:nvPr>
            <p:ph type="pic" sz="quarter" idx="16" hasCustomPrompt="1"/>
          </p:nvPr>
        </p:nvSpPr>
        <p:spPr>
          <a:xfrm>
            <a:off x="5874292"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9" name="Picture Placeholder 2"/>
          <p:cNvSpPr>
            <a:spLocks noGrp="1"/>
          </p:cNvSpPr>
          <p:nvPr>
            <p:ph type="pic" sz="quarter" idx="17" hasCustomPrompt="1"/>
          </p:nvPr>
        </p:nvSpPr>
        <p:spPr>
          <a:xfrm>
            <a:off x="7611288"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0" name="Picture Placeholder 2"/>
          <p:cNvSpPr>
            <a:spLocks noGrp="1"/>
          </p:cNvSpPr>
          <p:nvPr>
            <p:ph type="pic" sz="quarter" idx="18" hasCustomPrompt="1"/>
          </p:nvPr>
        </p:nvSpPr>
        <p:spPr>
          <a:xfrm>
            <a:off x="9348285"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1" name="Picture Placeholder 2"/>
          <p:cNvSpPr>
            <a:spLocks noGrp="1"/>
          </p:cNvSpPr>
          <p:nvPr>
            <p:ph type="pic" sz="quarter" idx="19" hasCustomPrompt="1"/>
          </p:nvPr>
        </p:nvSpPr>
        <p:spPr>
          <a:xfrm>
            <a:off x="5874292"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8" name="Picture Placeholder 2"/>
          <p:cNvSpPr>
            <a:spLocks noGrp="1"/>
          </p:cNvSpPr>
          <p:nvPr>
            <p:ph type="pic" sz="quarter" idx="22" hasCustomPrompt="1"/>
          </p:nvPr>
        </p:nvSpPr>
        <p:spPr>
          <a:xfrm>
            <a:off x="4137296"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9" name="Picture Placeholder 2"/>
          <p:cNvSpPr>
            <a:spLocks noGrp="1"/>
          </p:cNvSpPr>
          <p:nvPr>
            <p:ph type="pic" sz="quarter" idx="23" hasCustomPrompt="1"/>
          </p:nvPr>
        </p:nvSpPr>
        <p:spPr>
          <a:xfrm>
            <a:off x="4137296"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0" name="Picture Placeholder 2"/>
          <p:cNvSpPr>
            <a:spLocks noGrp="1"/>
          </p:cNvSpPr>
          <p:nvPr>
            <p:ph type="pic" sz="quarter" idx="24" hasCustomPrompt="1"/>
          </p:nvPr>
        </p:nvSpPr>
        <p:spPr>
          <a:xfrm>
            <a:off x="2400300" y="1459259"/>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11" name="Picture Placeholder 2"/>
          <p:cNvSpPr>
            <a:spLocks noGrp="1"/>
          </p:cNvSpPr>
          <p:nvPr>
            <p:ph type="pic" sz="quarter" idx="25" hasCustomPrompt="1"/>
          </p:nvPr>
        </p:nvSpPr>
        <p:spPr>
          <a:xfrm>
            <a:off x="2400300" y="3743414"/>
            <a:ext cx="1449178" cy="144574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86A55C2B-6198-9E25-22E2-8C884A74684B}"/>
              </a:ext>
            </a:extLst>
          </p:cNvPr>
          <p:cNvSpPr>
            <a:spLocks noGrp="1"/>
          </p:cNvSpPr>
          <p:nvPr>
            <p:ph type="ftr" sz="quarter" idx="26"/>
          </p:nvPr>
        </p:nvSpPr>
        <p:spPr>
          <a:xfrm>
            <a:off x="4038600" y="6356350"/>
            <a:ext cx="4114800" cy="365125"/>
          </a:xfrm>
          <a:prstGeom prst="rect">
            <a:avLst/>
          </a:prstGeom>
        </p:spPr>
        <p:txBody>
          <a:bodyPr/>
          <a:lstStyle/>
          <a:p>
            <a:endParaRPr lang="en-SA"/>
          </a:p>
        </p:txBody>
      </p:sp>
      <p:sp>
        <p:nvSpPr>
          <p:cNvPr id="4" name="Slide Number Placeholder 10">
            <a:extLst>
              <a:ext uri="{FF2B5EF4-FFF2-40B4-BE49-F238E27FC236}">
                <a16:creationId xmlns:a16="http://schemas.microsoft.com/office/drawing/2014/main" id="{CC7D4E48-2B64-566D-4A6D-2D206CF458FF}"/>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763187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2" name="Picture Placeholder 2"/>
          <p:cNvSpPr>
            <a:spLocks noGrp="1"/>
          </p:cNvSpPr>
          <p:nvPr>
            <p:ph type="pic" sz="quarter" idx="10" hasCustomPrompt="1"/>
          </p:nvPr>
        </p:nvSpPr>
        <p:spPr>
          <a:xfrm>
            <a:off x="1456623" y="16002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1" hasCustomPrompt="1"/>
          </p:nvPr>
        </p:nvSpPr>
        <p:spPr>
          <a:xfrm>
            <a:off x="3285423" y="16002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2" hasCustomPrompt="1"/>
          </p:nvPr>
        </p:nvSpPr>
        <p:spPr>
          <a:xfrm>
            <a:off x="5114223" y="16002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3" hasCustomPrompt="1"/>
          </p:nvPr>
        </p:nvSpPr>
        <p:spPr>
          <a:xfrm>
            <a:off x="1456623" y="34290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4" hasCustomPrompt="1"/>
          </p:nvPr>
        </p:nvSpPr>
        <p:spPr>
          <a:xfrm>
            <a:off x="3285423" y="34290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8" name="Picture Placeholder 2"/>
          <p:cNvSpPr>
            <a:spLocks noGrp="1"/>
          </p:cNvSpPr>
          <p:nvPr>
            <p:ph type="pic" sz="quarter" idx="15" hasCustomPrompt="1"/>
          </p:nvPr>
        </p:nvSpPr>
        <p:spPr>
          <a:xfrm>
            <a:off x="5114223" y="34290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3" name="Footer Placeholder 2">
            <a:extLst>
              <a:ext uri="{FF2B5EF4-FFF2-40B4-BE49-F238E27FC236}">
                <a16:creationId xmlns:a16="http://schemas.microsoft.com/office/drawing/2014/main" id="{6698A87E-650A-CD62-0731-7F6C38E91ADF}"/>
              </a:ext>
            </a:extLst>
          </p:cNvPr>
          <p:cNvSpPr>
            <a:spLocks noGrp="1"/>
          </p:cNvSpPr>
          <p:nvPr>
            <p:ph type="ftr" sz="quarter" idx="16"/>
          </p:nvPr>
        </p:nvSpPr>
        <p:spPr>
          <a:xfrm>
            <a:off x="4038600" y="6356350"/>
            <a:ext cx="4114800" cy="365125"/>
          </a:xfrm>
          <a:prstGeom prst="rect">
            <a:avLst/>
          </a:prstGeom>
        </p:spPr>
        <p:txBody>
          <a:bodyPr/>
          <a:lstStyle/>
          <a:p>
            <a:endParaRPr lang="en-SA"/>
          </a:p>
        </p:txBody>
      </p:sp>
      <p:sp>
        <p:nvSpPr>
          <p:cNvPr id="10" name="Slide Number Placeholder 10">
            <a:extLst>
              <a:ext uri="{FF2B5EF4-FFF2-40B4-BE49-F238E27FC236}">
                <a16:creationId xmlns:a16="http://schemas.microsoft.com/office/drawing/2014/main" id="{4899FE5D-A75C-E41F-DD6C-AF366886DBB4}"/>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9557989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2" name="Picture Placeholder 2"/>
          <p:cNvSpPr>
            <a:spLocks noGrp="1"/>
          </p:cNvSpPr>
          <p:nvPr>
            <p:ph type="pic" sz="quarter" idx="10" hasCustomPrompt="1"/>
          </p:nvPr>
        </p:nvSpPr>
        <p:spPr>
          <a:xfrm>
            <a:off x="5626443" y="2514600"/>
            <a:ext cx="1828800" cy="18288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3" name="Footer Placeholder 2">
            <a:extLst>
              <a:ext uri="{FF2B5EF4-FFF2-40B4-BE49-F238E27FC236}">
                <a16:creationId xmlns:a16="http://schemas.microsoft.com/office/drawing/2014/main" id="{EC30E27D-D32C-E705-8C50-9774B04525CD}"/>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F15F0AF0-B4DE-4C05-696E-7459076A851E}"/>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560307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7755924"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579007A9-B5F6-D9DB-DFD0-2D77E99491BD}"/>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795BB863-BFFE-A57B-11D9-63C210471A71}"/>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9098505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12192001" cy="3429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4DDC3469-3D38-29BA-1FFA-2CC13938BF7D}"/>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2D7C8F0C-06A0-1BC2-6F10-77B1CDA834AB}"/>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8590315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9791701"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C7054A2D-A527-BBA8-CE18-9394909B8B2B}"/>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4C885090-AE73-A423-1CFC-62AE64B3C1AD}"/>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5663696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12192001"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C0E0FA05-0DBF-921C-80C1-0963954700D5}"/>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4" name="Slide Number Placeholder 3">
            <a:extLst>
              <a:ext uri="{FF2B5EF4-FFF2-40B4-BE49-F238E27FC236}">
                <a16:creationId xmlns:a16="http://schemas.microsoft.com/office/drawing/2014/main" id="{32443A9F-037C-751A-172F-EC5474DA9126}"/>
              </a:ext>
            </a:extLst>
          </p:cNvPr>
          <p:cNvSpPr>
            <a:spLocks noGrp="1"/>
          </p:cNvSpPr>
          <p:nvPr>
            <p:ph type="sldNum" sz="quarter" idx="12"/>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5594129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1" y="0"/>
            <a:ext cx="3054096"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1" hasCustomPrompt="1"/>
          </p:nvPr>
        </p:nvSpPr>
        <p:spPr>
          <a:xfrm>
            <a:off x="3054095" y="0"/>
            <a:ext cx="3054096"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2" hasCustomPrompt="1"/>
          </p:nvPr>
        </p:nvSpPr>
        <p:spPr>
          <a:xfrm>
            <a:off x="6108191" y="0"/>
            <a:ext cx="3054096"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3" hasCustomPrompt="1"/>
          </p:nvPr>
        </p:nvSpPr>
        <p:spPr>
          <a:xfrm>
            <a:off x="9162287" y="0"/>
            <a:ext cx="3054096"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BDA85A22-C941-61E2-06B7-ECF824E67351}"/>
              </a:ext>
            </a:extLst>
          </p:cNvPr>
          <p:cNvSpPr>
            <a:spLocks noGrp="1"/>
          </p:cNvSpPr>
          <p:nvPr>
            <p:ph type="ftr" sz="quarter" idx="14"/>
          </p:nvPr>
        </p:nvSpPr>
        <p:spPr>
          <a:xfrm>
            <a:off x="4038600" y="6356350"/>
            <a:ext cx="4114800" cy="365125"/>
          </a:xfrm>
          <a:prstGeom prst="rect">
            <a:avLst/>
          </a:prstGeom>
        </p:spPr>
        <p:txBody>
          <a:bodyPr/>
          <a:lstStyle/>
          <a:p>
            <a:endParaRPr lang="en-SA"/>
          </a:p>
        </p:txBody>
      </p:sp>
      <p:sp>
        <p:nvSpPr>
          <p:cNvPr id="4" name="Slide Number Placeholder 3">
            <a:extLst>
              <a:ext uri="{FF2B5EF4-FFF2-40B4-BE49-F238E27FC236}">
                <a16:creationId xmlns:a16="http://schemas.microsoft.com/office/drawing/2014/main" id="{56DE23ED-8567-A4E6-4AA5-4253DE4CD8A5}"/>
              </a:ext>
            </a:extLst>
          </p:cNvPr>
          <p:cNvSpPr>
            <a:spLocks noGrp="1"/>
          </p:cNvSpPr>
          <p:nvPr>
            <p:ph type="sldNum" sz="quarter" idx="15"/>
          </p:nvPr>
        </p:nvSpPr>
        <p:spPr>
          <a:xfrm>
            <a:off x="9099966" y="6402477"/>
            <a:ext cx="2743200" cy="365125"/>
          </a:xfrm>
          <a:prstGeom prst="rect">
            <a:avLst/>
          </a:prstGeom>
        </p:spPr>
        <p:txBody>
          <a:bodyPr/>
          <a:lstStyle/>
          <a:p>
            <a:fld id="{E783386A-6F2F-1D4B-9C0A-84490692B308}" type="slidenum">
              <a:rPr lang="en-SA" smtClean="0"/>
              <a:pPr/>
              <a:t>‹#›</a:t>
            </a:fld>
            <a:endParaRPr lang="en-SA"/>
          </a:p>
        </p:txBody>
      </p:sp>
    </p:spTree>
    <p:extLst>
      <p:ext uri="{BB962C8B-B14F-4D97-AF65-F5344CB8AC3E}">
        <p14:creationId xmlns:p14="http://schemas.microsoft.com/office/powerpoint/2010/main" val="16382535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6096001" cy="393302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cxnSp>
        <p:nvCxnSpPr>
          <p:cNvPr id="4" name="Straight Connector 3"/>
          <p:cNvCxnSpPr/>
          <p:nvPr userDrawn="1"/>
        </p:nvCxnSpPr>
        <p:spPr>
          <a:xfrm>
            <a:off x="-1822" y="3952787"/>
            <a:ext cx="11760685" cy="0"/>
          </a:xfrm>
          <a:prstGeom prst="line">
            <a:avLst/>
          </a:prstGeom>
          <a:ln w="38100">
            <a:solidFill>
              <a:srgbClr val="00AEB1"/>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2195EB38-3558-B6F6-BCBA-D1E380968222}"/>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6" name="Slide Number Placeholder 10">
            <a:extLst>
              <a:ext uri="{FF2B5EF4-FFF2-40B4-BE49-F238E27FC236}">
                <a16:creationId xmlns:a16="http://schemas.microsoft.com/office/drawing/2014/main" id="{E9203AFD-508C-D876-2A8C-1D40BF538D07}"/>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2424749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1" y="1462489"/>
            <a:ext cx="2628900" cy="393302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C6741BF5-6431-454D-CAF2-3261CED9BC4F}"/>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02153594-1AFF-749A-F095-07B65AE0335F}"/>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625843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0" y="1"/>
            <a:ext cx="3695699"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139E7BBF-4FC8-093C-7DCA-16E89CA37F56}"/>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2BC56948-98B7-9F3B-D432-0E1AFC566E0C}"/>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203067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1"/>
            <a:ext cx="2145957" cy="685800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3671DABE-16B0-5FB3-EB9C-34A350203709}"/>
              </a:ext>
            </a:extLst>
          </p:cNvPr>
          <p:cNvSpPr>
            <a:spLocks noGrp="1"/>
          </p:cNvSpPr>
          <p:nvPr>
            <p:ph type="ftr" sz="quarter" idx="11"/>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DE3B9F8C-974B-BD8E-BAD5-6E4CCCF8E3AC}"/>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979601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37071" y="1770106"/>
            <a:ext cx="3064457" cy="1987239"/>
          </a:xfrm>
          <a:prstGeom prst="rect">
            <a:avLst/>
          </a:prstGeom>
          <a:no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1" hasCustomPrompt="1"/>
          </p:nvPr>
        </p:nvSpPr>
        <p:spPr>
          <a:xfrm>
            <a:off x="3027386" y="1770106"/>
            <a:ext cx="3064457" cy="1987239"/>
          </a:xfrm>
          <a:prstGeom prst="rect">
            <a:avLst/>
          </a:prstGeom>
          <a:no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2" hasCustomPrompt="1"/>
          </p:nvPr>
        </p:nvSpPr>
        <p:spPr>
          <a:xfrm>
            <a:off x="6091843" y="1770106"/>
            <a:ext cx="3064457" cy="1987239"/>
          </a:xfrm>
          <a:prstGeom prst="rect">
            <a:avLst/>
          </a:prstGeom>
          <a:no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3" hasCustomPrompt="1"/>
          </p:nvPr>
        </p:nvSpPr>
        <p:spPr>
          <a:xfrm>
            <a:off x="9156300" y="1770106"/>
            <a:ext cx="3064457" cy="1987239"/>
          </a:xfrm>
          <a:prstGeom prst="rect">
            <a:avLst/>
          </a:prstGeom>
          <a:no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4" hasCustomPrompt="1"/>
          </p:nvPr>
        </p:nvSpPr>
        <p:spPr>
          <a:xfrm>
            <a:off x="3948161" y="1448830"/>
            <a:ext cx="4287364" cy="2780270"/>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754EA0D4-1D5A-006C-64CD-900BB9CAD8B5}"/>
              </a:ext>
            </a:extLst>
          </p:cNvPr>
          <p:cNvSpPr>
            <a:spLocks noGrp="1"/>
          </p:cNvSpPr>
          <p:nvPr>
            <p:ph type="ftr" sz="quarter" idx="15"/>
          </p:nvPr>
        </p:nvSpPr>
        <p:spPr>
          <a:xfrm>
            <a:off x="4038600" y="6356350"/>
            <a:ext cx="4114800" cy="365125"/>
          </a:xfrm>
          <a:prstGeom prst="rect">
            <a:avLst/>
          </a:prstGeom>
        </p:spPr>
        <p:txBody>
          <a:bodyPr/>
          <a:lstStyle/>
          <a:p>
            <a:endParaRPr lang="en-SA"/>
          </a:p>
        </p:txBody>
      </p:sp>
      <p:sp>
        <p:nvSpPr>
          <p:cNvPr id="9" name="Slide Number Placeholder 10">
            <a:extLst>
              <a:ext uri="{FF2B5EF4-FFF2-40B4-BE49-F238E27FC236}">
                <a16:creationId xmlns:a16="http://schemas.microsoft.com/office/drawing/2014/main" id="{583CE8D8-4F60-B4A7-DB8F-708EF40FE330}"/>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7661460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1" y="1462489"/>
            <a:ext cx="2628900" cy="393302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1" hasCustomPrompt="1"/>
          </p:nvPr>
        </p:nvSpPr>
        <p:spPr>
          <a:xfrm>
            <a:off x="5155291" y="1892596"/>
            <a:ext cx="2053920" cy="3072808"/>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2" hasCustomPrompt="1"/>
          </p:nvPr>
        </p:nvSpPr>
        <p:spPr>
          <a:xfrm>
            <a:off x="9611833" y="1892596"/>
            <a:ext cx="1669648" cy="3072808"/>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A265914C-566B-141C-F159-A9FA1B68A60C}"/>
              </a:ext>
            </a:extLst>
          </p:cNvPr>
          <p:cNvSpPr>
            <a:spLocks noGrp="1"/>
          </p:cNvSpPr>
          <p:nvPr>
            <p:ph type="ftr" sz="quarter" idx="13"/>
          </p:nvPr>
        </p:nvSpPr>
        <p:spPr>
          <a:xfrm>
            <a:off x="4038600" y="6356350"/>
            <a:ext cx="4114800" cy="365125"/>
          </a:xfrm>
          <a:prstGeom prst="rect">
            <a:avLst/>
          </a:prstGeom>
        </p:spPr>
        <p:txBody>
          <a:bodyPr/>
          <a:lstStyle/>
          <a:p>
            <a:endParaRPr lang="en-SA"/>
          </a:p>
        </p:txBody>
      </p:sp>
      <p:sp>
        <p:nvSpPr>
          <p:cNvPr id="7" name="Slide Number Placeholder 10">
            <a:extLst>
              <a:ext uri="{FF2B5EF4-FFF2-40B4-BE49-F238E27FC236}">
                <a16:creationId xmlns:a16="http://schemas.microsoft.com/office/drawing/2014/main" id="{8AA13BAB-CAA1-6E06-5BEC-44359F16C226}"/>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5512017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1" y="1581665"/>
            <a:ext cx="1961635" cy="324982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1" hasCustomPrompt="1"/>
          </p:nvPr>
        </p:nvSpPr>
        <p:spPr>
          <a:xfrm>
            <a:off x="4594655" y="1581665"/>
            <a:ext cx="1961635" cy="324982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2" hasCustomPrompt="1"/>
          </p:nvPr>
        </p:nvSpPr>
        <p:spPr>
          <a:xfrm>
            <a:off x="6789009" y="1581665"/>
            <a:ext cx="1961635" cy="324982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8" name="Picture Placeholder 2"/>
          <p:cNvSpPr>
            <a:spLocks noGrp="1"/>
          </p:cNvSpPr>
          <p:nvPr>
            <p:ph type="pic" sz="quarter" idx="13" hasCustomPrompt="1"/>
          </p:nvPr>
        </p:nvSpPr>
        <p:spPr>
          <a:xfrm>
            <a:off x="8983362" y="1581665"/>
            <a:ext cx="1961635" cy="324982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C5B7B779-8EC5-6811-70CA-3C6A938542DA}"/>
              </a:ext>
            </a:extLst>
          </p:cNvPr>
          <p:cNvSpPr>
            <a:spLocks noGrp="1"/>
          </p:cNvSpPr>
          <p:nvPr>
            <p:ph type="ftr" sz="quarter" idx="14"/>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5DC17E92-4D55-F879-F006-A4DE69505E44}"/>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9001046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0" y="3428999"/>
            <a:ext cx="3695699" cy="2959443"/>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4" name="Picture Placeholder 2"/>
          <p:cNvSpPr>
            <a:spLocks noGrp="1"/>
          </p:cNvSpPr>
          <p:nvPr>
            <p:ph type="pic" sz="quarter" idx="11" hasCustomPrompt="1"/>
          </p:nvPr>
        </p:nvSpPr>
        <p:spPr>
          <a:xfrm>
            <a:off x="9749481" y="3429000"/>
            <a:ext cx="1981200" cy="142720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5" name="Picture Placeholder 2"/>
          <p:cNvSpPr>
            <a:spLocks noGrp="1"/>
          </p:cNvSpPr>
          <p:nvPr>
            <p:ph type="pic" sz="quarter" idx="12" hasCustomPrompt="1"/>
          </p:nvPr>
        </p:nvSpPr>
        <p:spPr>
          <a:xfrm>
            <a:off x="9749481" y="4961236"/>
            <a:ext cx="1981200" cy="1427206"/>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6" name="Picture Placeholder 2"/>
          <p:cNvSpPr>
            <a:spLocks noGrp="1"/>
          </p:cNvSpPr>
          <p:nvPr>
            <p:ph type="pic" sz="quarter" idx="13" hasCustomPrompt="1"/>
          </p:nvPr>
        </p:nvSpPr>
        <p:spPr>
          <a:xfrm>
            <a:off x="7253415" y="1028699"/>
            <a:ext cx="4477265" cy="2295269"/>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64DD793A-A92D-3C73-1613-470F23AE4E9C}"/>
              </a:ext>
            </a:extLst>
          </p:cNvPr>
          <p:cNvSpPr>
            <a:spLocks noGrp="1"/>
          </p:cNvSpPr>
          <p:nvPr>
            <p:ph type="ftr" sz="quarter" idx="14"/>
          </p:nvPr>
        </p:nvSpPr>
        <p:spPr>
          <a:xfrm>
            <a:off x="4038600" y="6356350"/>
            <a:ext cx="4114800" cy="365125"/>
          </a:xfrm>
          <a:prstGeom prst="rect">
            <a:avLst/>
          </a:prstGeom>
        </p:spPr>
        <p:txBody>
          <a:bodyPr/>
          <a:lstStyle/>
          <a:p>
            <a:endParaRPr lang="en-SA"/>
          </a:p>
        </p:txBody>
      </p:sp>
      <p:sp>
        <p:nvSpPr>
          <p:cNvPr id="8" name="Slide Number Placeholder 10">
            <a:extLst>
              <a:ext uri="{FF2B5EF4-FFF2-40B4-BE49-F238E27FC236}">
                <a16:creationId xmlns:a16="http://schemas.microsoft.com/office/drawing/2014/main" id="{EB7DFCE8-12A5-0833-BD4B-867B8DBB6A03}"/>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10054188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2400301" y="2001794"/>
            <a:ext cx="2690684" cy="247135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7" name="Picture Placeholder 2"/>
          <p:cNvSpPr>
            <a:spLocks noGrp="1"/>
          </p:cNvSpPr>
          <p:nvPr>
            <p:ph type="pic" sz="quarter" idx="11" hasCustomPrompt="1"/>
          </p:nvPr>
        </p:nvSpPr>
        <p:spPr>
          <a:xfrm>
            <a:off x="5427706" y="2001794"/>
            <a:ext cx="2690684" cy="247135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8" name="Picture Placeholder 2"/>
          <p:cNvSpPr>
            <a:spLocks noGrp="1"/>
          </p:cNvSpPr>
          <p:nvPr>
            <p:ph type="pic" sz="quarter" idx="12" hasCustomPrompt="1"/>
          </p:nvPr>
        </p:nvSpPr>
        <p:spPr>
          <a:xfrm>
            <a:off x="8455111" y="2001794"/>
            <a:ext cx="2690684" cy="2471351"/>
          </a:xfrm>
          <a:prstGeom prst="rect">
            <a:avLst/>
          </a:prstGeom>
          <a:pattFill prst="wdUpDiag">
            <a:fgClr>
              <a:schemeClr val="bg1">
                <a:lumMod val="75000"/>
                <a:lumOff val="25000"/>
              </a:schemeClr>
            </a:fgClr>
            <a:bgClr>
              <a:schemeClr val="bg1"/>
            </a:bgClr>
          </a:pattFill>
        </p:spPr>
        <p:txBody>
          <a:bodyPr anchor="ctr"/>
          <a:lstStyle>
            <a:lvl1pPr algn="ctr">
              <a:defRPr sz="1400" b="0" i="0">
                <a:latin typeface="Tahoma" panose="020B0604030504040204" pitchFamily="34" charset="0"/>
                <a:ea typeface="Tahoma" panose="020B0604030504040204" pitchFamily="34" charset="0"/>
                <a:cs typeface="Tahoma" panose="020B0604030504040204" pitchFamily="34" charset="0"/>
              </a:defRPr>
            </a:lvl1pPr>
          </a:lstStyle>
          <a:p>
            <a:r>
              <a:rPr lang="en-US"/>
              <a:t>Insert Image</a:t>
            </a:r>
            <a:endParaRPr lang="en-US" dirty="0"/>
          </a:p>
        </p:txBody>
      </p:sp>
      <p:sp>
        <p:nvSpPr>
          <p:cNvPr id="2" name="Footer Placeholder 1">
            <a:extLst>
              <a:ext uri="{FF2B5EF4-FFF2-40B4-BE49-F238E27FC236}">
                <a16:creationId xmlns:a16="http://schemas.microsoft.com/office/drawing/2014/main" id="{7AC86169-73DE-425F-7F3A-F46FAEF515C0}"/>
              </a:ext>
            </a:extLst>
          </p:cNvPr>
          <p:cNvSpPr>
            <a:spLocks noGrp="1"/>
          </p:cNvSpPr>
          <p:nvPr>
            <p:ph type="ftr" sz="quarter" idx="13"/>
          </p:nvPr>
        </p:nvSpPr>
        <p:spPr>
          <a:xfrm>
            <a:off x="4038600" y="6356350"/>
            <a:ext cx="4114800" cy="365125"/>
          </a:xfrm>
          <a:prstGeom prst="rect">
            <a:avLst/>
          </a:prstGeom>
        </p:spPr>
        <p:txBody>
          <a:bodyPr/>
          <a:lstStyle/>
          <a:p>
            <a:endParaRPr lang="en-SA"/>
          </a:p>
        </p:txBody>
      </p:sp>
      <p:sp>
        <p:nvSpPr>
          <p:cNvPr id="5" name="Slide Number Placeholder 10">
            <a:extLst>
              <a:ext uri="{FF2B5EF4-FFF2-40B4-BE49-F238E27FC236}">
                <a16:creationId xmlns:a16="http://schemas.microsoft.com/office/drawing/2014/main" id="{1AA4BD77-F88D-9973-7552-3FB7D1621E2F}"/>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298605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512">
          <p15:clr>
            <a:srgbClr val="FBAE40"/>
          </p15:clr>
        </p15:guide>
        <p15:guide id="4" orient="horz" pos="6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pic>
        <p:nvPicPr>
          <p:cNvPr id="6" name="Picture 5" descr="A black and purple background&#10;&#10;Description automatically generated">
            <a:extLst>
              <a:ext uri="{FF2B5EF4-FFF2-40B4-BE49-F238E27FC236}">
                <a16:creationId xmlns:a16="http://schemas.microsoft.com/office/drawing/2014/main" id="{64083405-FB90-DE6A-D430-F5C95286B4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04" y="-1016"/>
            <a:ext cx="12190196" cy="6859016"/>
          </a:xfrm>
          <a:prstGeom prst="rect">
            <a:avLst/>
          </a:prstGeom>
        </p:spPr>
      </p:pic>
      <p:pic>
        <p:nvPicPr>
          <p:cNvPr id="9" name="Picture 8" descr="A black background with blue text&#10;&#10;Description automatically generated">
            <a:extLst>
              <a:ext uri="{FF2B5EF4-FFF2-40B4-BE49-F238E27FC236}">
                <a16:creationId xmlns:a16="http://schemas.microsoft.com/office/drawing/2014/main" id="{DE3C5AB7-0DA2-6355-3808-343954EB35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94121" y="440188"/>
            <a:ext cx="2405993" cy="736719"/>
          </a:xfrm>
          <a:prstGeom prst="rect">
            <a:avLst/>
          </a:prstGeom>
        </p:spPr>
      </p:pic>
      <p:sp>
        <p:nvSpPr>
          <p:cNvPr id="10" name="Title 13">
            <a:extLst>
              <a:ext uri="{FF2B5EF4-FFF2-40B4-BE49-F238E27FC236}">
                <a16:creationId xmlns:a16="http://schemas.microsoft.com/office/drawing/2014/main" id="{15712979-D6DA-7F4B-CB0D-5B89E0D9DC56}"/>
              </a:ext>
            </a:extLst>
          </p:cNvPr>
          <p:cNvSpPr>
            <a:spLocks noGrp="1"/>
          </p:cNvSpPr>
          <p:nvPr>
            <p:ph type="title" hasCustomPrompt="1"/>
          </p:nvPr>
        </p:nvSpPr>
        <p:spPr>
          <a:xfrm>
            <a:off x="6506734" y="2478424"/>
            <a:ext cx="4849009"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20801775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6" name="Picture 5" descr="A black and purple background&#10;&#10;Description automatically generated">
            <a:extLst>
              <a:ext uri="{FF2B5EF4-FFF2-40B4-BE49-F238E27FC236}">
                <a16:creationId xmlns:a16="http://schemas.microsoft.com/office/drawing/2014/main" id="{64083405-FB90-DE6A-D430-F5C95286B4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04" y="-1016"/>
            <a:ext cx="12190196" cy="6859016"/>
          </a:xfrm>
          <a:prstGeom prst="rect">
            <a:avLst/>
          </a:prstGeom>
        </p:spPr>
      </p:pic>
      <p:pic>
        <p:nvPicPr>
          <p:cNvPr id="9" name="Picture 8" descr="A black background with blue text&#10;&#10;Description automatically generated">
            <a:extLst>
              <a:ext uri="{FF2B5EF4-FFF2-40B4-BE49-F238E27FC236}">
                <a16:creationId xmlns:a16="http://schemas.microsoft.com/office/drawing/2014/main" id="{DE3C5AB7-0DA2-6355-3808-343954EB354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94121" y="440188"/>
            <a:ext cx="2405993" cy="736719"/>
          </a:xfrm>
          <a:prstGeom prst="rect">
            <a:avLst/>
          </a:prstGeom>
        </p:spPr>
      </p:pic>
      <p:sp>
        <p:nvSpPr>
          <p:cNvPr id="10" name="Title 13">
            <a:extLst>
              <a:ext uri="{FF2B5EF4-FFF2-40B4-BE49-F238E27FC236}">
                <a16:creationId xmlns:a16="http://schemas.microsoft.com/office/drawing/2014/main" id="{15712979-D6DA-7F4B-CB0D-5B89E0D9DC56}"/>
              </a:ext>
            </a:extLst>
          </p:cNvPr>
          <p:cNvSpPr>
            <a:spLocks noGrp="1"/>
          </p:cNvSpPr>
          <p:nvPr>
            <p:ph type="title" hasCustomPrompt="1"/>
          </p:nvPr>
        </p:nvSpPr>
        <p:spPr>
          <a:xfrm>
            <a:off x="6506734" y="2478424"/>
            <a:ext cx="4849009"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25446014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9" name="Picture 8" descr="A black background with blue text&#10;&#10;Description automatically generated">
            <a:extLst>
              <a:ext uri="{FF2B5EF4-FFF2-40B4-BE49-F238E27FC236}">
                <a16:creationId xmlns:a16="http://schemas.microsoft.com/office/drawing/2014/main" id="{DE3C5AB7-0DA2-6355-3808-343954EB35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94121" y="440188"/>
            <a:ext cx="2405993" cy="736719"/>
          </a:xfrm>
          <a:prstGeom prst="rect">
            <a:avLst/>
          </a:prstGeom>
        </p:spPr>
      </p:pic>
      <p:sp>
        <p:nvSpPr>
          <p:cNvPr id="10" name="Title 13">
            <a:extLst>
              <a:ext uri="{FF2B5EF4-FFF2-40B4-BE49-F238E27FC236}">
                <a16:creationId xmlns:a16="http://schemas.microsoft.com/office/drawing/2014/main" id="{15712979-D6DA-7F4B-CB0D-5B89E0D9DC56}"/>
              </a:ext>
            </a:extLst>
          </p:cNvPr>
          <p:cNvSpPr>
            <a:spLocks noGrp="1"/>
          </p:cNvSpPr>
          <p:nvPr>
            <p:ph type="title" hasCustomPrompt="1"/>
          </p:nvPr>
        </p:nvSpPr>
        <p:spPr>
          <a:xfrm>
            <a:off x="6506734" y="2478424"/>
            <a:ext cx="4849009"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pic>
        <p:nvPicPr>
          <p:cNvPr id="7" name="Graphic 6">
            <a:extLst>
              <a:ext uri="{FF2B5EF4-FFF2-40B4-BE49-F238E27FC236}">
                <a16:creationId xmlns:a16="http://schemas.microsoft.com/office/drawing/2014/main" id="{27A14A56-B8B0-73BB-6E0C-BD19B88A5F9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0" y="4757049"/>
            <a:ext cx="5355771" cy="2100951"/>
          </a:xfrm>
          <a:prstGeom prst="rect">
            <a:avLst/>
          </a:prstGeom>
        </p:spPr>
      </p:pic>
    </p:spTree>
    <p:extLst>
      <p:ext uri="{BB962C8B-B14F-4D97-AF65-F5344CB8AC3E}">
        <p14:creationId xmlns:p14="http://schemas.microsoft.com/office/powerpoint/2010/main" val="4897472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_Blank">
    <p:spTree>
      <p:nvGrpSpPr>
        <p:cNvPr id="1" name=""/>
        <p:cNvGrpSpPr/>
        <p:nvPr/>
      </p:nvGrpSpPr>
      <p:grpSpPr>
        <a:xfrm>
          <a:off x="0" y="0"/>
          <a:ext cx="0" cy="0"/>
          <a:chOff x="0" y="0"/>
          <a:chExt cx="0" cy="0"/>
        </a:xfrm>
      </p:grpSpPr>
      <p:pic>
        <p:nvPicPr>
          <p:cNvPr id="9" name="Picture 8" descr="A black background with blue text&#10;&#10;Description automatically generated">
            <a:extLst>
              <a:ext uri="{FF2B5EF4-FFF2-40B4-BE49-F238E27FC236}">
                <a16:creationId xmlns:a16="http://schemas.microsoft.com/office/drawing/2014/main" id="{DE3C5AB7-0DA2-6355-3808-343954EB35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94121" y="440188"/>
            <a:ext cx="2405993" cy="736719"/>
          </a:xfrm>
          <a:prstGeom prst="rect">
            <a:avLst/>
          </a:prstGeom>
        </p:spPr>
      </p:pic>
      <p:sp>
        <p:nvSpPr>
          <p:cNvPr id="10" name="Title 13">
            <a:extLst>
              <a:ext uri="{FF2B5EF4-FFF2-40B4-BE49-F238E27FC236}">
                <a16:creationId xmlns:a16="http://schemas.microsoft.com/office/drawing/2014/main" id="{15712979-D6DA-7F4B-CB0D-5B89E0D9DC56}"/>
              </a:ext>
            </a:extLst>
          </p:cNvPr>
          <p:cNvSpPr>
            <a:spLocks noGrp="1"/>
          </p:cNvSpPr>
          <p:nvPr>
            <p:ph type="title" hasCustomPrompt="1"/>
          </p:nvPr>
        </p:nvSpPr>
        <p:spPr>
          <a:xfrm>
            <a:off x="6506734" y="2478424"/>
            <a:ext cx="4849009"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pic>
        <p:nvPicPr>
          <p:cNvPr id="3" name="Graphic 2">
            <a:extLst>
              <a:ext uri="{FF2B5EF4-FFF2-40B4-BE49-F238E27FC236}">
                <a16:creationId xmlns:a16="http://schemas.microsoft.com/office/drawing/2014/main" id="{75812A97-D2A7-7A04-4C23-BEB7F971AC38}"/>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0" y="4622670"/>
            <a:ext cx="5315857" cy="2235329"/>
          </a:xfrm>
          <a:prstGeom prst="rect">
            <a:avLst/>
          </a:prstGeom>
        </p:spPr>
      </p:pic>
    </p:spTree>
    <p:extLst>
      <p:ext uri="{BB962C8B-B14F-4D97-AF65-F5344CB8AC3E}">
        <p14:creationId xmlns:p14="http://schemas.microsoft.com/office/powerpoint/2010/main" val="32906704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21085-A0DB-B8FD-25E9-560AE39DEC41}"/>
              </a:ext>
            </a:extLst>
          </p:cNvPr>
          <p:cNvSpPr>
            <a:spLocks noGrp="1"/>
          </p:cNvSpPr>
          <p:nvPr>
            <p:ph type="dt" sz="half" idx="10"/>
          </p:nvPr>
        </p:nvSpPr>
        <p:spPr/>
        <p:txBody>
          <a:bodyPr/>
          <a:lstStyle/>
          <a:p>
            <a:fld id="{60762C07-E45F-2C42-8B1C-7F18F63F59A3}" type="datetimeFigureOut">
              <a:rPr lang="en-SA" smtClean="0"/>
              <a:t>23/05/2024 R</a:t>
            </a:fld>
            <a:endParaRPr lang="en-SA"/>
          </a:p>
        </p:txBody>
      </p:sp>
      <p:sp>
        <p:nvSpPr>
          <p:cNvPr id="3" name="Footer Placeholder 2">
            <a:extLst>
              <a:ext uri="{FF2B5EF4-FFF2-40B4-BE49-F238E27FC236}">
                <a16:creationId xmlns:a16="http://schemas.microsoft.com/office/drawing/2014/main" id="{AB5ED216-318F-31E2-EAD6-BD6D8ED5937D}"/>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C3044315-05BF-48B7-216C-39F0E6281D7F}"/>
              </a:ext>
            </a:extLst>
          </p:cNvPr>
          <p:cNvSpPr>
            <a:spLocks noGrp="1"/>
          </p:cNvSpPr>
          <p:nvPr>
            <p:ph type="sldNum" sz="quarter" idx="12"/>
          </p:nvPr>
        </p:nvSpPr>
        <p:spPr>
          <a:xfrm>
            <a:off x="8610600" y="6356350"/>
            <a:ext cx="2743200" cy="365125"/>
          </a:xfrm>
          <a:prstGeom prst="rect">
            <a:avLst/>
          </a:prstGeom>
        </p:spPr>
        <p:txBody>
          <a:bodyPr/>
          <a:lstStyle/>
          <a:p>
            <a:fld id="{ED8F8D68-E6B0-794B-8BEC-D4502D5B090C}" type="slidenum">
              <a:rPr lang="en-SA" smtClean="0"/>
              <a:t>‹#›</a:t>
            </a:fld>
            <a:endParaRPr lang="en-SA"/>
          </a:p>
        </p:txBody>
      </p:sp>
      <p:pic>
        <p:nvPicPr>
          <p:cNvPr id="7" name="Picture 6" descr="A city skyline at night&#10;&#10;Description automatically generated">
            <a:extLst>
              <a:ext uri="{FF2B5EF4-FFF2-40B4-BE49-F238E27FC236}">
                <a16:creationId xmlns:a16="http://schemas.microsoft.com/office/drawing/2014/main" id="{0DD6C459-833C-0428-BD5A-4ACBF24E9FB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05" y="0"/>
            <a:ext cx="12188390" cy="6858000"/>
          </a:xfrm>
          <a:prstGeom prst="rect">
            <a:avLst/>
          </a:prstGeom>
        </p:spPr>
      </p:pic>
      <p:pic>
        <p:nvPicPr>
          <p:cNvPr id="6" name="Picture 5" descr="A black and purple background&#10;&#10;Description automatically generated">
            <a:extLst>
              <a:ext uri="{FF2B5EF4-FFF2-40B4-BE49-F238E27FC236}">
                <a16:creationId xmlns:a16="http://schemas.microsoft.com/office/drawing/2014/main" id="{64083405-FB90-DE6A-D430-F5C95286B4D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804" y="0"/>
            <a:ext cx="12190196" cy="6859016"/>
          </a:xfrm>
          <a:prstGeom prst="rect">
            <a:avLst/>
          </a:prstGeom>
        </p:spPr>
      </p:pic>
      <p:pic>
        <p:nvPicPr>
          <p:cNvPr id="5" name="Picture 4">
            <a:extLst>
              <a:ext uri="{FF2B5EF4-FFF2-40B4-BE49-F238E27FC236}">
                <a16:creationId xmlns:a16="http://schemas.microsoft.com/office/drawing/2014/main" id="{71F87516-50EE-B169-16AA-B5ABA1A3A9FD}"/>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481207" y="436954"/>
            <a:ext cx="2314201" cy="710372"/>
          </a:xfrm>
          <a:prstGeom prst="rect">
            <a:avLst/>
          </a:prstGeom>
        </p:spPr>
      </p:pic>
      <p:sp>
        <p:nvSpPr>
          <p:cNvPr id="8" name="Title 13">
            <a:extLst>
              <a:ext uri="{FF2B5EF4-FFF2-40B4-BE49-F238E27FC236}">
                <a16:creationId xmlns:a16="http://schemas.microsoft.com/office/drawing/2014/main" id="{25BF1BD6-F8E5-9460-5266-D2A4D9896349}"/>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2366835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21085-A0DB-B8FD-25E9-560AE39DEC41}"/>
              </a:ext>
            </a:extLst>
          </p:cNvPr>
          <p:cNvSpPr>
            <a:spLocks noGrp="1"/>
          </p:cNvSpPr>
          <p:nvPr>
            <p:ph type="dt" sz="half" idx="10"/>
          </p:nvPr>
        </p:nvSpPr>
        <p:spPr/>
        <p:txBody>
          <a:bodyPr/>
          <a:lstStyle/>
          <a:p>
            <a:fld id="{60762C07-E45F-2C42-8B1C-7F18F63F59A3}" type="datetimeFigureOut">
              <a:rPr lang="en-SA" smtClean="0"/>
              <a:t>23/05/2024 R</a:t>
            </a:fld>
            <a:endParaRPr lang="en-SA"/>
          </a:p>
        </p:txBody>
      </p:sp>
      <p:sp>
        <p:nvSpPr>
          <p:cNvPr id="3" name="Footer Placeholder 2">
            <a:extLst>
              <a:ext uri="{FF2B5EF4-FFF2-40B4-BE49-F238E27FC236}">
                <a16:creationId xmlns:a16="http://schemas.microsoft.com/office/drawing/2014/main" id="{AB5ED216-318F-31E2-EAD6-BD6D8ED5937D}"/>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C3044315-05BF-48B7-216C-39F0E6281D7F}"/>
              </a:ext>
            </a:extLst>
          </p:cNvPr>
          <p:cNvSpPr>
            <a:spLocks noGrp="1"/>
          </p:cNvSpPr>
          <p:nvPr>
            <p:ph type="sldNum" sz="quarter" idx="12"/>
          </p:nvPr>
        </p:nvSpPr>
        <p:spPr>
          <a:xfrm>
            <a:off x="8610600" y="6356350"/>
            <a:ext cx="2743200" cy="365125"/>
          </a:xfrm>
          <a:prstGeom prst="rect">
            <a:avLst/>
          </a:prstGeom>
        </p:spPr>
        <p:txBody>
          <a:bodyPr/>
          <a:lstStyle/>
          <a:p>
            <a:fld id="{ED8F8D68-E6B0-794B-8BEC-D4502D5B090C}" type="slidenum">
              <a:rPr lang="en-SA" smtClean="0"/>
              <a:t>‹#›</a:t>
            </a:fld>
            <a:endParaRPr lang="en-SA"/>
          </a:p>
        </p:txBody>
      </p:sp>
      <p:pic>
        <p:nvPicPr>
          <p:cNvPr id="8" name="Picture 7">
            <a:extLst>
              <a:ext uri="{FF2B5EF4-FFF2-40B4-BE49-F238E27FC236}">
                <a16:creationId xmlns:a16="http://schemas.microsoft.com/office/drawing/2014/main" id="{95662B16-4ACF-C490-5D05-9EB3F853439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804" y="0"/>
            <a:ext cx="12190194" cy="6859016"/>
          </a:xfrm>
          <a:prstGeom prst="rect">
            <a:avLst/>
          </a:prstGeom>
        </p:spPr>
      </p:pic>
      <p:pic>
        <p:nvPicPr>
          <p:cNvPr id="9" name="Picture 8" descr="A black and purple background&#10;&#10;Description automatically generated">
            <a:extLst>
              <a:ext uri="{FF2B5EF4-FFF2-40B4-BE49-F238E27FC236}">
                <a16:creationId xmlns:a16="http://schemas.microsoft.com/office/drawing/2014/main" id="{36A8691A-0DE8-262B-862C-80DB86EB893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804" y="0"/>
            <a:ext cx="12190196" cy="6859016"/>
          </a:xfrm>
          <a:prstGeom prst="rect">
            <a:avLst/>
          </a:prstGeom>
        </p:spPr>
      </p:pic>
      <p:pic>
        <p:nvPicPr>
          <p:cNvPr id="10" name="Picture 9">
            <a:extLst>
              <a:ext uri="{FF2B5EF4-FFF2-40B4-BE49-F238E27FC236}">
                <a16:creationId xmlns:a16="http://schemas.microsoft.com/office/drawing/2014/main" id="{4935825C-BDA9-C972-D382-2B78DB3473F0}"/>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481207" y="436954"/>
            <a:ext cx="2314201" cy="710372"/>
          </a:xfrm>
          <a:prstGeom prst="rect">
            <a:avLst/>
          </a:prstGeom>
        </p:spPr>
      </p:pic>
      <p:sp>
        <p:nvSpPr>
          <p:cNvPr id="5" name="Title 13">
            <a:extLst>
              <a:ext uri="{FF2B5EF4-FFF2-40B4-BE49-F238E27FC236}">
                <a16:creationId xmlns:a16="http://schemas.microsoft.com/office/drawing/2014/main" id="{5EB675B8-3FA9-FE8C-8AE9-9E282064271B}"/>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17131263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21085-A0DB-B8FD-25E9-560AE39DEC41}"/>
              </a:ext>
            </a:extLst>
          </p:cNvPr>
          <p:cNvSpPr>
            <a:spLocks noGrp="1"/>
          </p:cNvSpPr>
          <p:nvPr>
            <p:ph type="dt" sz="half" idx="10"/>
          </p:nvPr>
        </p:nvSpPr>
        <p:spPr/>
        <p:txBody>
          <a:bodyPr/>
          <a:lstStyle/>
          <a:p>
            <a:fld id="{60762C07-E45F-2C42-8B1C-7F18F63F59A3}" type="datetimeFigureOut">
              <a:rPr lang="en-SA" smtClean="0"/>
              <a:t>23/05/2024 R</a:t>
            </a:fld>
            <a:endParaRPr lang="en-SA"/>
          </a:p>
        </p:txBody>
      </p:sp>
      <p:sp>
        <p:nvSpPr>
          <p:cNvPr id="3" name="Footer Placeholder 2">
            <a:extLst>
              <a:ext uri="{FF2B5EF4-FFF2-40B4-BE49-F238E27FC236}">
                <a16:creationId xmlns:a16="http://schemas.microsoft.com/office/drawing/2014/main" id="{AB5ED216-318F-31E2-EAD6-BD6D8ED5937D}"/>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C3044315-05BF-48B7-216C-39F0E6281D7F}"/>
              </a:ext>
            </a:extLst>
          </p:cNvPr>
          <p:cNvSpPr>
            <a:spLocks noGrp="1"/>
          </p:cNvSpPr>
          <p:nvPr>
            <p:ph type="sldNum" sz="quarter" idx="12"/>
          </p:nvPr>
        </p:nvSpPr>
        <p:spPr>
          <a:xfrm>
            <a:off x="8610600" y="6356350"/>
            <a:ext cx="2743200" cy="365125"/>
          </a:xfrm>
          <a:prstGeom prst="rect">
            <a:avLst/>
          </a:prstGeom>
        </p:spPr>
        <p:txBody>
          <a:bodyPr/>
          <a:lstStyle/>
          <a:p>
            <a:fld id="{ED8F8D68-E6B0-794B-8BEC-D4502D5B090C}" type="slidenum">
              <a:rPr lang="en-SA" smtClean="0"/>
              <a:t>‹#›</a:t>
            </a:fld>
            <a:endParaRPr lang="en-SA"/>
          </a:p>
        </p:txBody>
      </p:sp>
      <p:pic>
        <p:nvPicPr>
          <p:cNvPr id="6" name="Picture 5" descr="A close-up of a globe&#10;&#10;Description automatically generated">
            <a:extLst>
              <a:ext uri="{FF2B5EF4-FFF2-40B4-BE49-F238E27FC236}">
                <a16:creationId xmlns:a16="http://schemas.microsoft.com/office/drawing/2014/main" id="{964C5774-00BF-AD77-376F-BC439A7AF8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flipH="1">
            <a:off x="1804" y="0"/>
            <a:ext cx="12190195" cy="6859016"/>
          </a:xfrm>
          <a:prstGeom prst="rect">
            <a:avLst/>
          </a:prstGeom>
        </p:spPr>
      </p:pic>
      <p:pic>
        <p:nvPicPr>
          <p:cNvPr id="7" name="Picture 6" descr="A black and purple background&#10;&#10;Description automatically generated">
            <a:extLst>
              <a:ext uri="{FF2B5EF4-FFF2-40B4-BE49-F238E27FC236}">
                <a16:creationId xmlns:a16="http://schemas.microsoft.com/office/drawing/2014/main" id="{96D85D07-05F2-9CD4-8487-CF8B6ED0CD8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804" y="0"/>
            <a:ext cx="12190196" cy="6859016"/>
          </a:xfrm>
          <a:prstGeom prst="rect">
            <a:avLst/>
          </a:prstGeom>
        </p:spPr>
      </p:pic>
      <p:pic>
        <p:nvPicPr>
          <p:cNvPr id="5" name="Picture 4">
            <a:extLst>
              <a:ext uri="{FF2B5EF4-FFF2-40B4-BE49-F238E27FC236}">
                <a16:creationId xmlns:a16="http://schemas.microsoft.com/office/drawing/2014/main" id="{E7DCBF5E-CCF7-6C64-6C06-9C79B0228CD2}"/>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481207" y="436954"/>
            <a:ext cx="2314201" cy="710372"/>
          </a:xfrm>
          <a:prstGeom prst="rect">
            <a:avLst/>
          </a:prstGeom>
        </p:spPr>
      </p:pic>
      <p:sp>
        <p:nvSpPr>
          <p:cNvPr id="9" name="Title 13">
            <a:extLst>
              <a:ext uri="{FF2B5EF4-FFF2-40B4-BE49-F238E27FC236}">
                <a16:creationId xmlns:a16="http://schemas.microsoft.com/office/drawing/2014/main" id="{684BEF72-AFF8-F6FE-E80F-45541C612467}"/>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122458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21085-A0DB-B8FD-25E9-560AE39DEC41}"/>
              </a:ext>
            </a:extLst>
          </p:cNvPr>
          <p:cNvSpPr>
            <a:spLocks noGrp="1"/>
          </p:cNvSpPr>
          <p:nvPr>
            <p:ph type="dt" sz="half" idx="10"/>
          </p:nvPr>
        </p:nvSpPr>
        <p:spPr/>
        <p:txBody>
          <a:bodyPr/>
          <a:lstStyle/>
          <a:p>
            <a:fld id="{60762C07-E45F-2C42-8B1C-7F18F63F59A3}" type="datetimeFigureOut">
              <a:rPr lang="en-SA" smtClean="0"/>
              <a:t>23/05/2024 R</a:t>
            </a:fld>
            <a:endParaRPr lang="en-SA"/>
          </a:p>
        </p:txBody>
      </p:sp>
      <p:sp>
        <p:nvSpPr>
          <p:cNvPr id="3" name="Footer Placeholder 2">
            <a:extLst>
              <a:ext uri="{FF2B5EF4-FFF2-40B4-BE49-F238E27FC236}">
                <a16:creationId xmlns:a16="http://schemas.microsoft.com/office/drawing/2014/main" id="{AB5ED216-318F-31E2-EAD6-BD6D8ED5937D}"/>
              </a:ext>
            </a:extLst>
          </p:cNvPr>
          <p:cNvSpPr>
            <a:spLocks noGrp="1"/>
          </p:cNvSpPr>
          <p:nvPr>
            <p:ph type="ftr" sz="quarter" idx="11"/>
          </p:nvPr>
        </p:nvSpPr>
        <p:spPr/>
        <p:txBody>
          <a:bodyPr/>
          <a:lstStyle/>
          <a:p>
            <a:endParaRPr lang="en-SA"/>
          </a:p>
        </p:txBody>
      </p:sp>
      <p:sp>
        <p:nvSpPr>
          <p:cNvPr id="4" name="Slide Number Placeholder 3">
            <a:extLst>
              <a:ext uri="{FF2B5EF4-FFF2-40B4-BE49-F238E27FC236}">
                <a16:creationId xmlns:a16="http://schemas.microsoft.com/office/drawing/2014/main" id="{C3044315-05BF-48B7-216C-39F0E6281D7F}"/>
              </a:ext>
            </a:extLst>
          </p:cNvPr>
          <p:cNvSpPr>
            <a:spLocks noGrp="1"/>
          </p:cNvSpPr>
          <p:nvPr>
            <p:ph type="sldNum" sz="quarter" idx="12"/>
          </p:nvPr>
        </p:nvSpPr>
        <p:spPr>
          <a:xfrm>
            <a:off x="8610600" y="6356350"/>
            <a:ext cx="2743200" cy="365125"/>
          </a:xfrm>
          <a:prstGeom prst="rect">
            <a:avLst/>
          </a:prstGeom>
        </p:spPr>
        <p:txBody>
          <a:bodyPr/>
          <a:lstStyle/>
          <a:p>
            <a:fld id="{ED8F8D68-E6B0-794B-8BEC-D4502D5B090C}" type="slidenum">
              <a:rPr lang="en-SA" smtClean="0"/>
              <a:t>‹#›</a:t>
            </a:fld>
            <a:endParaRPr lang="en-SA"/>
          </a:p>
        </p:txBody>
      </p:sp>
      <p:pic>
        <p:nvPicPr>
          <p:cNvPr id="6" name="Picture 5">
            <a:extLst>
              <a:ext uri="{FF2B5EF4-FFF2-40B4-BE49-F238E27FC236}">
                <a16:creationId xmlns:a16="http://schemas.microsoft.com/office/drawing/2014/main" id="{964C5774-00BF-AD77-376F-BC439A7AF88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flipH="1">
            <a:off x="1804" y="0"/>
            <a:ext cx="12190194" cy="6859016"/>
          </a:xfrm>
          <a:prstGeom prst="rect">
            <a:avLst/>
          </a:prstGeom>
        </p:spPr>
      </p:pic>
      <p:pic>
        <p:nvPicPr>
          <p:cNvPr id="7" name="Picture 6" descr="A black and purple background&#10;&#10;Description automatically generated">
            <a:extLst>
              <a:ext uri="{FF2B5EF4-FFF2-40B4-BE49-F238E27FC236}">
                <a16:creationId xmlns:a16="http://schemas.microsoft.com/office/drawing/2014/main" id="{96D85D07-05F2-9CD4-8487-CF8B6ED0CD8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804" y="0"/>
            <a:ext cx="12190196" cy="6859016"/>
          </a:xfrm>
          <a:prstGeom prst="rect">
            <a:avLst/>
          </a:prstGeom>
        </p:spPr>
      </p:pic>
      <p:pic>
        <p:nvPicPr>
          <p:cNvPr id="5" name="Picture 4">
            <a:extLst>
              <a:ext uri="{FF2B5EF4-FFF2-40B4-BE49-F238E27FC236}">
                <a16:creationId xmlns:a16="http://schemas.microsoft.com/office/drawing/2014/main" id="{E7DCBF5E-CCF7-6C64-6C06-9C79B0228CD2}"/>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481207" y="436954"/>
            <a:ext cx="2314201" cy="710372"/>
          </a:xfrm>
          <a:prstGeom prst="rect">
            <a:avLst/>
          </a:prstGeom>
        </p:spPr>
      </p:pic>
      <p:sp>
        <p:nvSpPr>
          <p:cNvPr id="9" name="Title 13">
            <a:extLst>
              <a:ext uri="{FF2B5EF4-FFF2-40B4-BE49-F238E27FC236}">
                <a16:creationId xmlns:a16="http://schemas.microsoft.com/office/drawing/2014/main" id="{684BEF72-AFF8-F6FE-E80F-45541C612467}"/>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Tree>
    <p:extLst>
      <p:ext uri="{BB962C8B-B14F-4D97-AF65-F5344CB8AC3E}">
        <p14:creationId xmlns:p14="http://schemas.microsoft.com/office/powerpoint/2010/main" val="5292890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9_Blank">
    <p:spTree>
      <p:nvGrpSpPr>
        <p:cNvPr id="1" name=""/>
        <p:cNvGrpSpPr/>
        <p:nvPr/>
      </p:nvGrpSpPr>
      <p:grpSpPr>
        <a:xfrm>
          <a:off x="0" y="0"/>
          <a:ext cx="0" cy="0"/>
          <a:chOff x="0" y="0"/>
          <a:chExt cx="0" cy="0"/>
        </a:xfrm>
      </p:grpSpPr>
      <p:pic>
        <p:nvPicPr>
          <p:cNvPr id="43" name="Picture 42" descr="A blue and black background&#10;&#10;Description automatically generated">
            <a:extLst>
              <a:ext uri="{FF2B5EF4-FFF2-40B4-BE49-F238E27FC236}">
                <a16:creationId xmlns:a16="http://schemas.microsoft.com/office/drawing/2014/main" id="{4CB1A082-DCC2-EE2A-5F9B-7CFC3CA0C9E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016"/>
            <a:ext cx="12193808" cy="6856984"/>
          </a:xfrm>
          <a:prstGeom prst="rect">
            <a:avLst/>
          </a:prstGeom>
        </p:spPr>
      </p:pic>
      <p:sp>
        <p:nvSpPr>
          <p:cNvPr id="42" name="Title 13">
            <a:extLst>
              <a:ext uri="{FF2B5EF4-FFF2-40B4-BE49-F238E27FC236}">
                <a16:creationId xmlns:a16="http://schemas.microsoft.com/office/drawing/2014/main" id="{78AC692F-3C52-F95E-5F80-A01CFC44AEAC}"/>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
        <p:nvSpPr>
          <p:cNvPr id="5" name="Rounded Rectangle 4">
            <a:extLst>
              <a:ext uri="{FF2B5EF4-FFF2-40B4-BE49-F238E27FC236}">
                <a16:creationId xmlns:a16="http://schemas.microsoft.com/office/drawing/2014/main" id="{DDCA76DB-FC52-13ED-63ED-06BB1BF0BD9A}"/>
              </a:ext>
            </a:extLst>
          </p:cNvPr>
          <p:cNvSpPr/>
          <p:nvPr userDrawn="1"/>
        </p:nvSpPr>
        <p:spPr>
          <a:xfrm flipH="1">
            <a:off x="1139471" y="1121425"/>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blipFill dpi="0" rotWithShape="0">
            <a:blip r:embed="rId3" cstate="email">
              <a:extLst>
                <a:ext uri="{28A0092B-C50C-407E-A947-70E740481C1C}">
                  <a14:useLocalDpi xmlns:a14="http://schemas.microsoft.com/office/drawing/2010/main"/>
                </a:ext>
              </a:extLst>
            </a:blip>
            <a:srcRect/>
            <a:stretch>
              <a:fillRect/>
            </a:stretch>
          </a:blipFill>
          <a:ln>
            <a:noFill/>
          </a:ln>
        </p:spPr>
        <p:style>
          <a:lnRef idx="0">
            <a:scrgbClr r="0" g="0" b="0"/>
          </a:lnRef>
          <a:fillRef idx="0">
            <a:scrgbClr r="0" g="0" b="0"/>
          </a:fillRef>
          <a:effectRef idx="0">
            <a:scrgbClr r="0" g="0" b="0"/>
          </a:effectRef>
          <a:fontRef idx="minor">
            <a:schemeClr val="lt1"/>
          </a:fontRef>
        </p:style>
        <p:txBody>
          <a:bodyPr rtlCol="0" anchor="ctr"/>
          <a:lstStyle/>
          <a:p>
            <a:pPr marL="0" algn="ctr" defTabSz="914400" rtl="1" eaLnBrk="1" latinLnBrk="0" hangingPunct="1"/>
            <a:endParaRPr lang="en-US"/>
          </a:p>
        </p:txBody>
      </p:sp>
      <p:sp>
        <p:nvSpPr>
          <p:cNvPr id="6" name="Rounded Rectangle 4">
            <a:extLst>
              <a:ext uri="{FF2B5EF4-FFF2-40B4-BE49-F238E27FC236}">
                <a16:creationId xmlns:a16="http://schemas.microsoft.com/office/drawing/2014/main" id="{E8536CF3-84EE-8D24-632B-C4C15E1F79AC}"/>
              </a:ext>
            </a:extLst>
          </p:cNvPr>
          <p:cNvSpPr/>
          <p:nvPr userDrawn="1"/>
        </p:nvSpPr>
        <p:spPr>
          <a:xfrm flipH="1">
            <a:off x="979813" y="954424"/>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A7C03FF-71ED-7B76-9108-838C7FA1EE4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553779" y="411053"/>
            <a:ext cx="2314201" cy="710372"/>
          </a:xfrm>
          <a:prstGeom prst="rect">
            <a:avLst/>
          </a:prstGeom>
        </p:spPr>
      </p:pic>
    </p:spTree>
    <p:extLst>
      <p:ext uri="{BB962C8B-B14F-4D97-AF65-F5344CB8AC3E}">
        <p14:creationId xmlns:p14="http://schemas.microsoft.com/office/powerpoint/2010/main" val="19921717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9C643A-ADC9-EE69-4C03-1AD73F09AFB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804" y="2032"/>
            <a:ext cx="12190195" cy="6854952"/>
          </a:xfrm>
          <a:prstGeom prst="rect">
            <a:avLst/>
          </a:prstGeom>
        </p:spPr>
      </p:pic>
      <p:sp>
        <p:nvSpPr>
          <p:cNvPr id="42" name="Title 13">
            <a:extLst>
              <a:ext uri="{FF2B5EF4-FFF2-40B4-BE49-F238E27FC236}">
                <a16:creationId xmlns:a16="http://schemas.microsoft.com/office/drawing/2014/main" id="{78AC692F-3C52-F95E-5F80-A01CFC44AEAC}"/>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
        <p:nvSpPr>
          <p:cNvPr id="5" name="Rounded Rectangle 4">
            <a:extLst>
              <a:ext uri="{FF2B5EF4-FFF2-40B4-BE49-F238E27FC236}">
                <a16:creationId xmlns:a16="http://schemas.microsoft.com/office/drawing/2014/main" id="{DDCA76DB-FC52-13ED-63ED-06BB1BF0BD9A}"/>
              </a:ext>
            </a:extLst>
          </p:cNvPr>
          <p:cNvSpPr/>
          <p:nvPr userDrawn="1"/>
        </p:nvSpPr>
        <p:spPr>
          <a:xfrm flipH="1">
            <a:off x="1139471" y="1121425"/>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blipFill>
            <a:blip r:embed="rId3" cstate="email">
              <a:extLst>
                <a:ext uri="{28A0092B-C50C-407E-A947-70E740481C1C}">
                  <a14:useLocalDpi xmlns:a14="http://schemas.microsoft.com/office/drawing/2010/main"/>
                </a:ext>
              </a:extLst>
            </a:blip>
            <a:stretch>
              <a:fillRect/>
            </a:stretch>
          </a:bli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4">
            <a:extLst>
              <a:ext uri="{FF2B5EF4-FFF2-40B4-BE49-F238E27FC236}">
                <a16:creationId xmlns:a16="http://schemas.microsoft.com/office/drawing/2014/main" id="{E8536CF3-84EE-8D24-632B-C4C15E1F79AC}"/>
              </a:ext>
            </a:extLst>
          </p:cNvPr>
          <p:cNvSpPr/>
          <p:nvPr userDrawn="1"/>
        </p:nvSpPr>
        <p:spPr>
          <a:xfrm flipH="1">
            <a:off x="979813" y="954424"/>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A7C03FF-71ED-7B76-9108-838C7FA1EE4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553779" y="411053"/>
            <a:ext cx="2314201" cy="710372"/>
          </a:xfrm>
          <a:prstGeom prst="rect">
            <a:avLst/>
          </a:prstGeom>
        </p:spPr>
      </p:pic>
    </p:spTree>
    <p:extLst>
      <p:ext uri="{BB962C8B-B14F-4D97-AF65-F5344CB8AC3E}">
        <p14:creationId xmlns:p14="http://schemas.microsoft.com/office/powerpoint/2010/main" val="35311972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9C643A-ADC9-EE69-4C03-1AD73F09AFB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804" y="2032"/>
            <a:ext cx="12190195" cy="6854952"/>
          </a:xfrm>
          <a:prstGeom prst="rect">
            <a:avLst/>
          </a:prstGeom>
        </p:spPr>
      </p:pic>
      <p:sp>
        <p:nvSpPr>
          <p:cNvPr id="42" name="Title 13">
            <a:extLst>
              <a:ext uri="{FF2B5EF4-FFF2-40B4-BE49-F238E27FC236}">
                <a16:creationId xmlns:a16="http://schemas.microsoft.com/office/drawing/2014/main" id="{78AC692F-3C52-F95E-5F80-A01CFC44AEAC}"/>
              </a:ext>
            </a:extLst>
          </p:cNvPr>
          <p:cNvSpPr>
            <a:spLocks noGrp="1"/>
          </p:cNvSpPr>
          <p:nvPr>
            <p:ph type="title" hasCustomPrompt="1"/>
          </p:nvPr>
        </p:nvSpPr>
        <p:spPr>
          <a:xfrm>
            <a:off x="6506734" y="2478424"/>
            <a:ext cx="4849009" cy="1463675"/>
          </a:xfrm>
        </p:spPr>
        <p:txBody>
          <a:bodyPr/>
          <a:lstStyle>
            <a:lvl1pPr algn="r" rtl="1">
              <a:defRPr b="1" i="0">
                <a:solidFill>
                  <a:srgbClr val="00AEB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رئيسي</a:t>
            </a:r>
            <a:endParaRPr lang="en-US" dirty="0"/>
          </a:p>
        </p:txBody>
      </p:sp>
      <p:sp>
        <p:nvSpPr>
          <p:cNvPr id="5" name="Rounded Rectangle 4">
            <a:extLst>
              <a:ext uri="{FF2B5EF4-FFF2-40B4-BE49-F238E27FC236}">
                <a16:creationId xmlns:a16="http://schemas.microsoft.com/office/drawing/2014/main" id="{DDCA76DB-FC52-13ED-63ED-06BB1BF0BD9A}"/>
              </a:ext>
            </a:extLst>
          </p:cNvPr>
          <p:cNvSpPr/>
          <p:nvPr userDrawn="1"/>
        </p:nvSpPr>
        <p:spPr>
          <a:xfrm flipH="1">
            <a:off x="1139471" y="1121425"/>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blipFill dpi="0" rotWithShape="0">
            <a:blip r:embed="rId3" cstate="email">
              <a:extLst>
                <a:ext uri="{28A0092B-C50C-407E-A947-70E740481C1C}">
                  <a14:useLocalDpi xmlns:a14="http://schemas.microsoft.com/office/drawing/2010/main"/>
                </a:ext>
              </a:extLst>
            </a:blip>
            <a:srcRect/>
            <a:stretch>
              <a:fillRect/>
            </a:stretch>
          </a:bli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4">
            <a:extLst>
              <a:ext uri="{FF2B5EF4-FFF2-40B4-BE49-F238E27FC236}">
                <a16:creationId xmlns:a16="http://schemas.microsoft.com/office/drawing/2014/main" id="{E8536CF3-84EE-8D24-632B-C4C15E1F79AC}"/>
              </a:ext>
            </a:extLst>
          </p:cNvPr>
          <p:cNvSpPr/>
          <p:nvPr userDrawn="1"/>
        </p:nvSpPr>
        <p:spPr>
          <a:xfrm flipH="1">
            <a:off x="979813" y="954424"/>
            <a:ext cx="4038514" cy="5324184"/>
          </a:xfrm>
          <a:custGeom>
            <a:avLst/>
            <a:gdLst>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5100255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265304 w 4030134"/>
              <a:gd name="connsiteY6" fmla="*/ 5365559 h 5365559"/>
              <a:gd name="connsiteX7" fmla="*/ 0 w 4030134"/>
              <a:gd name="connsiteY7" fmla="*/ 2644922 h 5365559"/>
              <a:gd name="connsiteX8" fmla="*/ 0 w 4030134"/>
              <a:gd name="connsiteY8" fmla="*/ 265304 h 5365559"/>
              <a:gd name="connsiteX0" fmla="*/ 0 w 4030134"/>
              <a:gd name="connsiteY0" fmla="*/ 265304 h 5365559"/>
              <a:gd name="connsiteX1" fmla="*/ 265304 w 4030134"/>
              <a:gd name="connsiteY1" fmla="*/ 0 h 5365559"/>
              <a:gd name="connsiteX2" fmla="*/ 3764830 w 4030134"/>
              <a:gd name="connsiteY2" fmla="*/ 0 h 5365559"/>
              <a:gd name="connsiteX3" fmla="*/ 4030134 w 4030134"/>
              <a:gd name="connsiteY3" fmla="*/ 265304 h 5365559"/>
              <a:gd name="connsiteX4" fmla="*/ 4030134 w 4030134"/>
              <a:gd name="connsiteY4" fmla="*/ 5100255 h 5365559"/>
              <a:gd name="connsiteX5" fmla="*/ 3764830 w 4030134"/>
              <a:gd name="connsiteY5" fmla="*/ 5365559 h 5365559"/>
              <a:gd name="connsiteX6" fmla="*/ 366904 w 4030134"/>
              <a:gd name="connsiteY6" fmla="*/ 3316626 h 5365559"/>
              <a:gd name="connsiteX7" fmla="*/ 0 w 4030134"/>
              <a:gd name="connsiteY7" fmla="*/ 2644922 h 5365559"/>
              <a:gd name="connsiteX8" fmla="*/ 0 w 4030134"/>
              <a:gd name="connsiteY8" fmla="*/ 265304 h 5365559"/>
              <a:gd name="connsiteX0" fmla="*/ 0 w 4030134"/>
              <a:gd name="connsiteY0" fmla="*/ 265304 h 5331692"/>
              <a:gd name="connsiteX1" fmla="*/ 265304 w 4030134"/>
              <a:gd name="connsiteY1" fmla="*/ 0 h 5331692"/>
              <a:gd name="connsiteX2" fmla="*/ 3764830 w 4030134"/>
              <a:gd name="connsiteY2" fmla="*/ 0 h 5331692"/>
              <a:gd name="connsiteX3" fmla="*/ 4030134 w 4030134"/>
              <a:gd name="connsiteY3" fmla="*/ 265304 h 5331692"/>
              <a:gd name="connsiteX4" fmla="*/ 4030134 w 4030134"/>
              <a:gd name="connsiteY4" fmla="*/ 5100255 h 5331692"/>
              <a:gd name="connsiteX5" fmla="*/ 3256830 w 4030134"/>
              <a:gd name="connsiteY5" fmla="*/ 5331692 h 5331692"/>
              <a:gd name="connsiteX6" fmla="*/ 366904 w 4030134"/>
              <a:gd name="connsiteY6" fmla="*/ 3316626 h 5331692"/>
              <a:gd name="connsiteX7" fmla="*/ 0 w 4030134"/>
              <a:gd name="connsiteY7" fmla="*/ 2644922 h 5331692"/>
              <a:gd name="connsiteX8" fmla="*/ 0 w 4030134"/>
              <a:gd name="connsiteY8" fmla="*/ 265304 h 5331692"/>
              <a:gd name="connsiteX0" fmla="*/ 0 w 4030134"/>
              <a:gd name="connsiteY0" fmla="*/ 265304 h 5337328"/>
              <a:gd name="connsiteX1" fmla="*/ 265304 w 4030134"/>
              <a:gd name="connsiteY1" fmla="*/ 0 h 5337328"/>
              <a:gd name="connsiteX2" fmla="*/ 3764830 w 4030134"/>
              <a:gd name="connsiteY2" fmla="*/ 0 h 5337328"/>
              <a:gd name="connsiteX3" fmla="*/ 4030134 w 4030134"/>
              <a:gd name="connsiteY3" fmla="*/ 265304 h 5337328"/>
              <a:gd name="connsiteX4" fmla="*/ 4030134 w 4030134"/>
              <a:gd name="connsiteY4" fmla="*/ 5100255 h 5337328"/>
              <a:gd name="connsiteX5" fmla="*/ 3256830 w 4030134"/>
              <a:gd name="connsiteY5" fmla="*/ 5331692 h 5337328"/>
              <a:gd name="connsiteX6" fmla="*/ 366904 w 4030134"/>
              <a:gd name="connsiteY6" fmla="*/ 3316626 h 5337328"/>
              <a:gd name="connsiteX7" fmla="*/ 0 w 4030134"/>
              <a:gd name="connsiteY7" fmla="*/ 2644922 h 5337328"/>
              <a:gd name="connsiteX8" fmla="*/ 0 w 4030134"/>
              <a:gd name="connsiteY8" fmla="*/ 265304 h 5337328"/>
              <a:gd name="connsiteX0" fmla="*/ 0 w 4030134"/>
              <a:gd name="connsiteY0" fmla="*/ 265304 h 5338267"/>
              <a:gd name="connsiteX1" fmla="*/ 265304 w 4030134"/>
              <a:gd name="connsiteY1" fmla="*/ 0 h 5338267"/>
              <a:gd name="connsiteX2" fmla="*/ 3764830 w 4030134"/>
              <a:gd name="connsiteY2" fmla="*/ 0 h 5338267"/>
              <a:gd name="connsiteX3" fmla="*/ 4030134 w 4030134"/>
              <a:gd name="connsiteY3" fmla="*/ 265304 h 5338267"/>
              <a:gd name="connsiteX4" fmla="*/ 4030134 w 4030134"/>
              <a:gd name="connsiteY4" fmla="*/ 5100255 h 5338267"/>
              <a:gd name="connsiteX5" fmla="*/ 3256830 w 4030134"/>
              <a:gd name="connsiteY5" fmla="*/ 5331692 h 5338267"/>
              <a:gd name="connsiteX6" fmla="*/ 434638 w 4030134"/>
              <a:gd name="connsiteY6" fmla="*/ 3536759 h 5338267"/>
              <a:gd name="connsiteX7" fmla="*/ 0 w 4030134"/>
              <a:gd name="connsiteY7" fmla="*/ 2644922 h 5338267"/>
              <a:gd name="connsiteX8" fmla="*/ 0 w 4030134"/>
              <a:gd name="connsiteY8" fmla="*/ 265304 h 5338267"/>
              <a:gd name="connsiteX0" fmla="*/ 21795 w 4051929"/>
              <a:gd name="connsiteY0" fmla="*/ 265304 h 5338267"/>
              <a:gd name="connsiteX1" fmla="*/ 287099 w 4051929"/>
              <a:gd name="connsiteY1" fmla="*/ 0 h 5338267"/>
              <a:gd name="connsiteX2" fmla="*/ 3786625 w 4051929"/>
              <a:gd name="connsiteY2" fmla="*/ 0 h 5338267"/>
              <a:gd name="connsiteX3" fmla="*/ 4051929 w 4051929"/>
              <a:gd name="connsiteY3" fmla="*/ 265304 h 5338267"/>
              <a:gd name="connsiteX4" fmla="*/ 4051929 w 4051929"/>
              <a:gd name="connsiteY4" fmla="*/ 5100255 h 5338267"/>
              <a:gd name="connsiteX5" fmla="*/ 3278625 w 4051929"/>
              <a:gd name="connsiteY5" fmla="*/ 5331692 h 5338267"/>
              <a:gd name="connsiteX6" fmla="*/ 456433 w 4051929"/>
              <a:gd name="connsiteY6" fmla="*/ 3536759 h 5338267"/>
              <a:gd name="connsiteX7" fmla="*/ 21795 w 4051929"/>
              <a:gd name="connsiteY7" fmla="*/ 2644922 h 5338267"/>
              <a:gd name="connsiteX8" fmla="*/ 21795 w 4051929"/>
              <a:gd name="connsiteY8" fmla="*/ 265304 h 5338267"/>
              <a:gd name="connsiteX0" fmla="*/ 21795 w 4051929"/>
              <a:gd name="connsiteY0" fmla="*/ 265304 h 5338805"/>
              <a:gd name="connsiteX1" fmla="*/ 287099 w 4051929"/>
              <a:gd name="connsiteY1" fmla="*/ 0 h 5338805"/>
              <a:gd name="connsiteX2" fmla="*/ 3786625 w 4051929"/>
              <a:gd name="connsiteY2" fmla="*/ 0 h 5338805"/>
              <a:gd name="connsiteX3" fmla="*/ 4051929 w 4051929"/>
              <a:gd name="connsiteY3" fmla="*/ 265304 h 5338805"/>
              <a:gd name="connsiteX4" fmla="*/ 4051929 w 4051929"/>
              <a:gd name="connsiteY4" fmla="*/ 5100255 h 5338805"/>
              <a:gd name="connsiteX5" fmla="*/ 3278625 w 4051929"/>
              <a:gd name="connsiteY5" fmla="*/ 5331692 h 5338805"/>
              <a:gd name="connsiteX6" fmla="*/ 456433 w 4051929"/>
              <a:gd name="connsiteY6" fmla="*/ 3536759 h 5338805"/>
              <a:gd name="connsiteX7" fmla="*/ 21795 w 4051929"/>
              <a:gd name="connsiteY7" fmla="*/ 2644922 h 5338805"/>
              <a:gd name="connsiteX8" fmla="*/ 21795 w 4051929"/>
              <a:gd name="connsiteY8" fmla="*/ 265304 h 5338805"/>
              <a:gd name="connsiteX0" fmla="*/ 21795 w 4051929"/>
              <a:gd name="connsiteY0" fmla="*/ 265304 h 5126803"/>
              <a:gd name="connsiteX1" fmla="*/ 287099 w 4051929"/>
              <a:gd name="connsiteY1" fmla="*/ 0 h 5126803"/>
              <a:gd name="connsiteX2" fmla="*/ 3786625 w 4051929"/>
              <a:gd name="connsiteY2" fmla="*/ 0 h 5126803"/>
              <a:gd name="connsiteX3" fmla="*/ 4051929 w 4051929"/>
              <a:gd name="connsiteY3" fmla="*/ 265304 h 5126803"/>
              <a:gd name="connsiteX4" fmla="*/ 4051929 w 4051929"/>
              <a:gd name="connsiteY4" fmla="*/ 5100255 h 5126803"/>
              <a:gd name="connsiteX5" fmla="*/ 2923025 w 4051929"/>
              <a:gd name="connsiteY5" fmla="*/ 4739025 h 5126803"/>
              <a:gd name="connsiteX6" fmla="*/ 456433 w 4051929"/>
              <a:gd name="connsiteY6" fmla="*/ 3536759 h 5126803"/>
              <a:gd name="connsiteX7" fmla="*/ 21795 w 4051929"/>
              <a:gd name="connsiteY7" fmla="*/ 2644922 h 5126803"/>
              <a:gd name="connsiteX8" fmla="*/ 21795 w 4051929"/>
              <a:gd name="connsiteY8" fmla="*/ 265304 h 5126803"/>
              <a:gd name="connsiteX0" fmla="*/ 21795 w 4051929"/>
              <a:gd name="connsiteY0" fmla="*/ 265304 h 5305141"/>
              <a:gd name="connsiteX1" fmla="*/ 287099 w 4051929"/>
              <a:gd name="connsiteY1" fmla="*/ 0 h 5305141"/>
              <a:gd name="connsiteX2" fmla="*/ 3786625 w 4051929"/>
              <a:gd name="connsiteY2" fmla="*/ 0 h 5305141"/>
              <a:gd name="connsiteX3" fmla="*/ 4051929 w 4051929"/>
              <a:gd name="connsiteY3" fmla="*/ 265304 h 5305141"/>
              <a:gd name="connsiteX4" fmla="*/ 4051929 w 4051929"/>
              <a:gd name="connsiteY4" fmla="*/ 5100255 h 5305141"/>
              <a:gd name="connsiteX5" fmla="*/ 3227825 w 4051929"/>
              <a:gd name="connsiteY5" fmla="*/ 5297825 h 5305141"/>
              <a:gd name="connsiteX6" fmla="*/ 456433 w 4051929"/>
              <a:gd name="connsiteY6" fmla="*/ 3536759 h 5305141"/>
              <a:gd name="connsiteX7" fmla="*/ 21795 w 4051929"/>
              <a:gd name="connsiteY7" fmla="*/ 2644922 h 5305141"/>
              <a:gd name="connsiteX8" fmla="*/ 21795 w 4051929"/>
              <a:gd name="connsiteY8" fmla="*/ 265304 h 5305141"/>
              <a:gd name="connsiteX0" fmla="*/ 21795 w 4051929"/>
              <a:gd name="connsiteY0" fmla="*/ 265304 h 5297825"/>
              <a:gd name="connsiteX1" fmla="*/ 287099 w 4051929"/>
              <a:gd name="connsiteY1" fmla="*/ 0 h 5297825"/>
              <a:gd name="connsiteX2" fmla="*/ 3786625 w 4051929"/>
              <a:gd name="connsiteY2" fmla="*/ 0 h 5297825"/>
              <a:gd name="connsiteX3" fmla="*/ 4051929 w 4051929"/>
              <a:gd name="connsiteY3" fmla="*/ 265304 h 5297825"/>
              <a:gd name="connsiteX4" fmla="*/ 4051929 w 4051929"/>
              <a:gd name="connsiteY4" fmla="*/ 5100255 h 5297825"/>
              <a:gd name="connsiteX5" fmla="*/ 3227825 w 4051929"/>
              <a:gd name="connsiteY5" fmla="*/ 5297825 h 5297825"/>
              <a:gd name="connsiteX6" fmla="*/ 456433 w 4051929"/>
              <a:gd name="connsiteY6" fmla="*/ 3536759 h 5297825"/>
              <a:gd name="connsiteX7" fmla="*/ 21795 w 4051929"/>
              <a:gd name="connsiteY7" fmla="*/ 2644922 h 5297825"/>
              <a:gd name="connsiteX8" fmla="*/ 21795 w 4051929"/>
              <a:gd name="connsiteY8" fmla="*/ 265304 h 5297825"/>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456433 w 4051929"/>
              <a:gd name="connsiteY6" fmla="*/ 3536759 h 5300363"/>
              <a:gd name="connsiteX7" fmla="*/ 21795 w 4051929"/>
              <a:gd name="connsiteY7" fmla="*/ 2644922 h 5300363"/>
              <a:gd name="connsiteX8" fmla="*/ 21795 w 4051929"/>
              <a:gd name="connsiteY8" fmla="*/ 265304 h 5300363"/>
              <a:gd name="connsiteX0" fmla="*/ 21795 w 4051929"/>
              <a:gd name="connsiteY0" fmla="*/ 265304 h 5300363"/>
              <a:gd name="connsiteX1" fmla="*/ 287099 w 4051929"/>
              <a:gd name="connsiteY1" fmla="*/ 0 h 5300363"/>
              <a:gd name="connsiteX2" fmla="*/ 3786625 w 4051929"/>
              <a:gd name="connsiteY2" fmla="*/ 0 h 5300363"/>
              <a:gd name="connsiteX3" fmla="*/ 4051929 w 4051929"/>
              <a:gd name="connsiteY3" fmla="*/ 265304 h 5300363"/>
              <a:gd name="connsiteX4" fmla="*/ 4051929 w 4051929"/>
              <a:gd name="connsiteY4" fmla="*/ 5100255 h 5300363"/>
              <a:gd name="connsiteX5" fmla="*/ 3227825 w 4051929"/>
              <a:gd name="connsiteY5" fmla="*/ 5297825 h 5300363"/>
              <a:gd name="connsiteX6" fmla="*/ 2290863 w 4051929"/>
              <a:gd name="connsiteY6" fmla="*/ 4904509 h 5300363"/>
              <a:gd name="connsiteX7" fmla="*/ 456433 w 4051929"/>
              <a:gd name="connsiteY7" fmla="*/ 3536759 h 5300363"/>
              <a:gd name="connsiteX8" fmla="*/ 21795 w 4051929"/>
              <a:gd name="connsiteY8" fmla="*/ 2644922 h 5300363"/>
              <a:gd name="connsiteX9" fmla="*/ 21795 w 4051929"/>
              <a:gd name="connsiteY9" fmla="*/ 265304 h 5300363"/>
              <a:gd name="connsiteX0" fmla="*/ 21795 w 4051929"/>
              <a:gd name="connsiteY0" fmla="*/ 265304 h 5298318"/>
              <a:gd name="connsiteX1" fmla="*/ 287099 w 4051929"/>
              <a:gd name="connsiteY1" fmla="*/ 0 h 5298318"/>
              <a:gd name="connsiteX2" fmla="*/ 3786625 w 4051929"/>
              <a:gd name="connsiteY2" fmla="*/ 0 h 5298318"/>
              <a:gd name="connsiteX3" fmla="*/ 4051929 w 4051929"/>
              <a:gd name="connsiteY3" fmla="*/ 265304 h 5298318"/>
              <a:gd name="connsiteX4" fmla="*/ 4034996 w 4051929"/>
              <a:gd name="connsiteY4" fmla="*/ 4744655 h 5298318"/>
              <a:gd name="connsiteX5" fmla="*/ 3227825 w 4051929"/>
              <a:gd name="connsiteY5" fmla="*/ 5297825 h 5298318"/>
              <a:gd name="connsiteX6" fmla="*/ 2290863 w 4051929"/>
              <a:gd name="connsiteY6" fmla="*/ 4904509 h 5298318"/>
              <a:gd name="connsiteX7" fmla="*/ 456433 w 4051929"/>
              <a:gd name="connsiteY7" fmla="*/ 3536759 h 5298318"/>
              <a:gd name="connsiteX8" fmla="*/ 21795 w 4051929"/>
              <a:gd name="connsiteY8" fmla="*/ 2644922 h 5298318"/>
              <a:gd name="connsiteX9" fmla="*/ 21795 w 4051929"/>
              <a:gd name="connsiteY9" fmla="*/ 265304 h 5298318"/>
              <a:gd name="connsiteX0" fmla="*/ 21795 w 4249613"/>
              <a:gd name="connsiteY0" fmla="*/ 265304 h 5332149"/>
              <a:gd name="connsiteX1" fmla="*/ 287099 w 4249613"/>
              <a:gd name="connsiteY1" fmla="*/ 0 h 5332149"/>
              <a:gd name="connsiteX2" fmla="*/ 3786625 w 4249613"/>
              <a:gd name="connsiteY2" fmla="*/ 0 h 5332149"/>
              <a:gd name="connsiteX3" fmla="*/ 4051929 w 4249613"/>
              <a:gd name="connsiteY3" fmla="*/ 265304 h 5332149"/>
              <a:gd name="connsiteX4" fmla="*/ 4034996 w 4249613"/>
              <a:gd name="connsiteY4" fmla="*/ 4744655 h 5332149"/>
              <a:gd name="connsiteX5" fmla="*/ 3939025 w 4249613"/>
              <a:gd name="connsiteY5" fmla="*/ 5331692 h 5332149"/>
              <a:gd name="connsiteX6" fmla="*/ 2290863 w 4249613"/>
              <a:gd name="connsiteY6" fmla="*/ 4904509 h 5332149"/>
              <a:gd name="connsiteX7" fmla="*/ 456433 w 4249613"/>
              <a:gd name="connsiteY7" fmla="*/ 3536759 h 5332149"/>
              <a:gd name="connsiteX8" fmla="*/ 21795 w 4249613"/>
              <a:gd name="connsiteY8" fmla="*/ 2644922 h 5332149"/>
              <a:gd name="connsiteX9" fmla="*/ 21795 w 4249613"/>
              <a:gd name="connsiteY9" fmla="*/ 265304 h 5332149"/>
              <a:gd name="connsiteX0" fmla="*/ 21795 w 4084839"/>
              <a:gd name="connsiteY0" fmla="*/ 265304 h 5315232"/>
              <a:gd name="connsiteX1" fmla="*/ 287099 w 4084839"/>
              <a:gd name="connsiteY1" fmla="*/ 0 h 5315232"/>
              <a:gd name="connsiteX2" fmla="*/ 3786625 w 4084839"/>
              <a:gd name="connsiteY2" fmla="*/ 0 h 5315232"/>
              <a:gd name="connsiteX3" fmla="*/ 4051929 w 4084839"/>
              <a:gd name="connsiteY3" fmla="*/ 265304 h 5315232"/>
              <a:gd name="connsiteX4" fmla="*/ 4034996 w 4084839"/>
              <a:gd name="connsiteY4" fmla="*/ 4744655 h 5315232"/>
              <a:gd name="connsiteX5" fmla="*/ 3651159 w 4084839"/>
              <a:gd name="connsiteY5" fmla="*/ 5314758 h 5315232"/>
              <a:gd name="connsiteX6" fmla="*/ 2290863 w 4084839"/>
              <a:gd name="connsiteY6" fmla="*/ 4904509 h 5315232"/>
              <a:gd name="connsiteX7" fmla="*/ 456433 w 4084839"/>
              <a:gd name="connsiteY7" fmla="*/ 3536759 h 5315232"/>
              <a:gd name="connsiteX8" fmla="*/ 21795 w 4084839"/>
              <a:gd name="connsiteY8" fmla="*/ 2644922 h 5315232"/>
              <a:gd name="connsiteX9" fmla="*/ 21795 w 4084839"/>
              <a:gd name="connsiteY9" fmla="*/ 265304 h 5315232"/>
              <a:gd name="connsiteX0" fmla="*/ 21795 w 4051929"/>
              <a:gd name="connsiteY0" fmla="*/ 265304 h 5318546"/>
              <a:gd name="connsiteX1" fmla="*/ 287099 w 4051929"/>
              <a:gd name="connsiteY1" fmla="*/ 0 h 5318546"/>
              <a:gd name="connsiteX2" fmla="*/ 3786625 w 4051929"/>
              <a:gd name="connsiteY2" fmla="*/ 0 h 5318546"/>
              <a:gd name="connsiteX3" fmla="*/ 4051929 w 4051929"/>
              <a:gd name="connsiteY3" fmla="*/ 265304 h 5318546"/>
              <a:gd name="connsiteX4" fmla="*/ 4034996 w 4051929"/>
              <a:gd name="connsiteY4" fmla="*/ 4744655 h 5318546"/>
              <a:gd name="connsiteX5" fmla="*/ 3651159 w 4051929"/>
              <a:gd name="connsiteY5" fmla="*/ 5314758 h 5318546"/>
              <a:gd name="connsiteX6" fmla="*/ 2290863 w 4051929"/>
              <a:gd name="connsiteY6" fmla="*/ 4904509 h 5318546"/>
              <a:gd name="connsiteX7" fmla="*/ 456433 w 4051929"/>
              <a:gd name="connsiteY7" fmla="*/ 3536759 h 5318546"/>
              <a:gd name="connsiteX8" fmla="*/ 21795 w 4051929"/>
              <a:gd name="connsiteY8" fmla="*/ 2644922 h 5318546"/>
              <a:gd name="connsiteX9" fmla="*/ 21795 w 4051929"/>
              <a:gd name="connsiteY9" fmla="*/ 265304 h 5318546"/>
              <a:gd name="connsiteX0" fmla="*/ 21795 w 4051929"/>
              <a:gd name="connsiteY0" fmla="*/ 265304 h 5320405"/>
              <a:gd name="connsiteX1" fmla="*/ 287099 w 4051929"/>
              <a:gd name="connsiteY1" fmla="*/ 0 h 5320405"/>
              <a:gd name="connsiteX2" fmla="*/ 3786625 w 4051929"/>
              <a:gd name="connsiteY2" fmla="*/ 0 h 5320405"/>
              <a:gd name="connsiteX3" fmla="*/ 4051929 w 4051929"/>
              <a:gd name="connsiteY3" fmla="*/ 265304 h 5320405"/>
              <a:gd name="connsiteX4" fmla="*/ 4016142 w 4051929"/>
              <a:gd name="connsiteY4" fmla="*/ 4914337 h 5320405"/>
              <a:gd name="connsiteX5" fmla="*/ 3651159 w 4051929"/>
              <a:gd name="connsiteY5" fmla="*/ 5314758 h 5320405"/>
              <a:gd name="connsiteX6" fmla="*/ 2290863 w 4051929"/>
              <a:gd name="connsiteY6" fmla="*/ 4904509 h 5320405"/>
              <a:gd name="connsiteX7" fmla="*/ 456433 w 4051929"/>
              <a:gd name="connsiteY7" fmla="*/ 3536759 h 5320405"/>
              <a:gd name="connsiteX8" fmla="*/ 21795 w 4051929"/>
              <a:gd name="connsiteY8" fmla="*/ 2644922 h 5320405"/>
              <a:gd name="connsiteX9" fmla="*/ 21795 w 4051929"/>
              <a:gd name="connsiteY9" fmla="*/ 265304 h 5320405"/>
              <a:gd name="connsiteX0" fmla="*/ 21795 w 4051929"/>
              <a:gd name="connsiteY0" fmla="*/ 265304 h 5329488"/>
              <a:gd name="connsiteX1" fmla="*/ 287099 w 4051929"/>
              <a:gd name="connsiteY1" fmla="*/ 0 h 5329488"/>
              <a:gd name="connsiteX2" fmla="*/ 3786625 w 4051929"/>
              <a:gd name="connsiteY2" fmla="*/ 0 h 5329488"/>
              <a:gd name="connsiteX3" fmla="*/ 4051929 w 4051929"/>
              <a:gd name="connsiteY3" fmla="*/ 265304 h 5329488"/>
              <a:gd name="connsiteX4" fmla="*/ 4016142 w 4051929"/>
              <a:gd name="connsiteY4" fmla="*/ 4914337 h 5329488"/>
              <a:gd name="connsiteX5" fmla="*/ 3651159 w 4051929"/>
              <a:gd name="connsiteY5" fmla="*/ 5314758 h 5329488"/>
              <a:gd name="connsiteX6" fmla="*/ 3020393 w 4051929"/>
              <a:gd name="connsiteY6" fmla="*/ 5210706 h 5329488"/>
              <a:gd name="connsiteX7" fmla="*/ 2290863 w 4051929"/>
              <a:gd name="connsiteY7" fmla="*/ 4904509 h 5329488"/>
              <a:gd name="connsiteX8" fmla="*/ 456433 w 4051929"/>
              <a:gd name="connsiteY8" fmla="*/ 3536759 h 5329488"/>
              <a:gd name="connsiteX9" fmla="*/ 21795 w 4051929"/>
              <a:gd name="connsiteY9" fmla="*/ 2644922 h 5329488"/>
              <a:gd name="connsiteX10" fmla="*/ 21795 w 4051929"/>
              <a:gd name="connsiteY10" fmla="*/ 265304 h 5329488"/>
              <a:gd name="connsiteX0" fmla="*/ 21795 w 4051929"/>
              <a:gd name="connsiteY0" fmla="*/ 265304 h 5354030"/>
              <a:gd name="connsiteX1" fmla="*/ 287099 w 4051929"/>
              <a:gd name="connsiteY1" fmla="*/ 0 h 5354030"/>
              <a:gd name="connsiteX2" fmla="*/ 3786625 w 4051929"/>
              <a:gd name="connsiteY2" fmla="*/ 0 h 5354030"/>
              <a:gd name="connsiteX3" fmla="*/ 4051929 w 4051929"/>
              <a:gd name="connsiteY3" fmla="*/ 265304 h 5354030"/>
              <a:gd name="connsiteX4" fmla="*/ 4016142 w 4051929"/>
              <a:gd name="connsiteY4" fmla="*/ 4914337 h 5354030"/>
              <a:gd name="connsiteX5" fmla="*/ 3651159 w 4051929"/>
              <a:gd name="connsiteY5" fmla="*/ 5314758 h 5354030"/>
              <a:gd name="connsiteX6" fmla="*/ 3180649 w 4051929"/>
              <a:gd name="connsiteY6" fmla="*/ 5304974 h 5354030"/>
              <a:gd name="connsiteX7" fmla="*/ 2290863 w 4051929"/>
              <a:gd name="connsiteY7" fmla="*/ 4904509 h 5354030"/>
              <a:gd name="connsiteX8" fmla="*/ 456433 w 4051929"/>
              <a:gd name="connsiteY8" fmla="*/ 3536759 h 5354030"/>
              <a:gd name="connsiteX9" fmla="*/ 21795 w 4051929"/>
              <a:gd name="connsiteY9" fmla="*/ 2644922 h 5354030"/>
              <a:gd name="connsiteX10" fmla="*/ 21795 w 4051929"/>
              <a:gd name="connsiteY10" fmla="*/ 265304 h 5354030"/>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90863 w 4051929"/>
              <a:gd name="connsiteY7" fmla="*/ 4904509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300290 w 4051929"/>
              <a:gd name="connsiteY7" fmla="*/ 4602851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21795 w 4051929"/>
              <a:gd name="connsiteY0" fmla="*/ 265304 h 5334879"/>
              <a:gd name="connsiteX1" fmla="*/ 287099 w 4051929"/>
              <a:gd name="connsiteY1" fmla="*/ 0 h 5334879"/>
              <a:gd name="connsiteX2" fmla="*/ 3786625 w 4051929"/>
              <a:gd name="connsiteY2" fmla="*/ 0 h 5334879"/>
              <a:gd name="connsiteX3" fmla="*/ 4051929 w 4051929"/>
              <a:gd name="connsiteY3" fmla="*/ 265304 h 5334879"/>
              <a:gd name="connsiteX4" fmla="*/ 4016142 w 4051929"/>
              <a:gd name="connsiteY4" fmla="*/ 4914337 h 5334879"/>
              <a:gd name="connsiteX5" fmla="*/ 3651159 w 4051929"/>
              <a:gd name="connsiteY5" fmla="*/ 5314758 h 5334879"/>
              <a:gd name="connsiteX6" fmla="*/ 3180649 w 4051929"/>
              <a:gd name="connsiteY6" fmla="*/ 5304974 h 5334879"/>
              <a:gd name="connsiteX7" fmla="*/ 2206022 w 4051929"/>
              <a:gd name="connsiteY7" fmla="*/ 4800814 h 5334879"/>
              <a:gd name="connsiteX8" fmla="*/ 456433 w 4051929"/>
              <a:gd name="connsiteY8" fmla="*/ 3536759 h 5334879"/>
              <a:gd name="connsiteX9" fmla="*/ 21795 w 4051929"/>
              <a:gd name="connsiteY9" fmla="*/ 2644922 h 5334879"/>
              <a:gd name="connsiteX10" fmla="*/ 21795 w 4051929"/>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7626 w 4047760"/>
              <a:gd name="connsiteY0" fmla="*/ 265304 h 5334879"/>
              <a:gd name="connsiteX1" fmla="*/ 282930 w 4047760"/>
              <a:gd name="connsiteY1" fmla="*/ 0 h 5334879"/>
              <a:gd name="connsiteX2" fmla="*/ 3782456 w 4047760"/>
              <a:gd name="connsiteY2" fmla="*/ 0 h 5334879"/>
              <a:gd name="connsiteX3" fmla="*/ 4047760 w 4047760"/>
              <a:gd name="connsiteY3" fmla="*/ 265304 h 5334879"/>
              <a:gd name="connsiteX4" fmla="*/ 4011973 w 4047760"/>
              <a:gd name="connsiteY4" fmla="*/ 4914337 h 5334879"/>
              <a:gd name="connsiteX5" fmla="*/ 3646990 w 4047760"/>
              <a:gd name="connsiteY5" fmla="*/ 5314758 h 5334879"/>
              <a:gd name="connsiteX6" fmla="*/ 3176480 w 4047760"/>
              <a:gd name="connsiteY6" fmla="*/ 5304974 h 5334879"/>
              <a:gd name="connsiteX7" fmla="*/ 2201853 w 4047760"/>
              <a:gd name="connsiteY7" fmla="*/ 4800814 h 5334879"/>
              <a:gd name="connsiteX8" fmla="*/ 452264 w 4047760"/>
              <a:gd name="connsiteY8" fmla="*/ 3536759 h 5334879"/>
              <a:gd name="connsiteX9" fmla="*/ 17626 w 4047760"/>
              <a:gd name="connsiteY9" fmla="*/ 2644922 h 5334879"/>
              <a:gd name="connsiteX10" fmla="*/ 17626 w 4047760"/>
              <a:gd name="connsiteY10" fmla="*/ 265304 h 5334879"/>
              <a:gd name="connsiteX0" fmla="*/ 16759 w 4046893"/>
              <a:gd name="connsiteY0" fmla="*/ 265304 h 5334879"/>
              <a:gd name="connsiteX1" fmla="*/ 282063 w 4046893"/>
              <a:gd name="connsiteY1" fmla="*/ 0 h 5334879"/>
              <a:gd name="connsiteX2" fmla="*/ 3781589 w 4046893"/>
              <a:gd name="connsiteY2" fmla="*/ 0 h 5334879"/>
              <a:gd name="connsiteX3" fmla="*/ 4046893 w 4046893"/>
              <a:gd name="connsiteY3" fmla="*/ 265304 h 5334879"/>
              <a:gd name="connsiteX4" fmla="*/ 4011106 w 4046893"/>
              <a:gd name="connsiteY4" fmla="*/ 4914337 h 5334879"/>
              <a:gd name="connsiteX5" fmla="*/ 3646123 w 4046893"/>
              <a:gd name="connsiteY5" fmla="*/ 5314758 h 5334879"/>
              <a:gd name="connsiteX6" fmla="*/ 3175613 w 4046893"/>
              <a:gd name="connsiteY6" fmla="*/ 5304974 h 5334879"/>
              <a:gd name="connsiteX7" fmla="*/ 2200986 w 4046893"/>
              <a:gd name="connsiteY7" fmla="*/ 4800814 h 5334879"/>
              <a:gd name="connsiteX8" fmla="*/ 451397 w 4046893"/>
              <a:gd name="connsiteY8" fmla="*/ 3536759 h 5334879"/>
              <a:gd name="connsiteX9" fmla="*/ 16759 w 4046893"/>
              <a:gd name="connsiteY9" fmla="*/ 2644922 h 5334879"/>
              <a:gd name="connsiteX10" fmla="*/ 16759 w 4046893"/>
              <a:gd name="connsiteY10" fmla="*/ 265304 h 5334879"/>
              <a:gd name="connsiteX0" fmla="*/ 8380 w 4038514"/>
              <a:gd name="connsiteY0" fmla="*/ 265304 h 5334879"/>
              <a:gd name="connsiteX1" fmla="*/ 273684 w 4038514"/>
              <a:gd name="connsiteY1" fmla="*/ 0 h 5334879"/>
              <a:gd name="connsiteX2" fmla="*/ 3773210 w 4038514"/>
              <a:gd name="connsiteY2" fmla="*/ 0 h 5334879"/>
              <a:gd name="connsiteX3" fmla="*/ 4038514 w 4038514"/>
              <a:gd name="connsiteY3" fmla="*/ 265304 h 5334879"/>
              <a:gd name="connsiteX4" fmla="*/ 4002727 w 4038514"/>
              <a:gd name="connsiteY4" fmla="*/ 4914337 h 5334879"/>
              <a:gd name="connsiteX5" fmla="*/ 3637744 w 4038514"/>
              <a:gd name="connsiteY5" fmla="*/ 5314758 h 5334879"/>
              <a:gd name="connsiteX6" fmla="*/ 3167234 w 4038514"/>
              <a:gd name="connsiteY6" fmla="*/ 5304974 h 5334879"/>
              <a:gd name="connsiteX7" fmla="*/ 2192607 w 4038514"/>
              <a:gd name="connsiteY7" fmla="*/ 4800814 h 5334879"/>
              <a:gd name="connsiteX8" fmla="*/ 443018 w 4038514"/>
              <a:gd name="connsiteY8" fmla="*/ 3536759 h 5334879"/>
              <a:gd name="connsiteX9" fmla="*/ 8380 w 4038514"/>
              <a:gd name="connsiteY9" fmla="*/ 2644922 h 5334879"/>
              <a:gd name="connsiteX10" fmla="*/ 8380 w 4038514"/>
              <a:gd name="connsiteY10" fmla="*/ 265304 h 5334879"/>
              <a:gd name="connsiteX0" fmla="*/ 8380 w 4038514"/>
              <a:gd name="connsiteY0" fmla="*/ 265304 h 5322499"/>
              <a:gd name="connsiteX1" fmla="*/ 273684 w 4038514"/>
              <a:gd name="connsiteY1" fmla="*/ 0 h 5322499"/>
              <a:gd name="connsiteX2" fmla="*/ 3773210 w 4038514"/>
              <a:gd name="connsiteY2" fmla="*/ 0 h 5322499"/>
              <a:gd name="connsiteX3" fmla="*/ 4038514 w 4038514"/>
              <a:gd name="connsiteY3" fmla="*/ 265304 h 5322499"/>
              <a:gd name="connsiteX4" fmla="*/ 4002727 w 4038514"/>
              <a:gd name="connsiteY4" fmla="*/ 4914337 h 5322499"/>
              <a:gd name="connsiteX5" fmla="*/ 3637744 w 4038514"/>
              <a:gd name="connsiteY5" fmla="*/ 5314758 h 5322499"/>
              <a:gd name="connsiteX6" fmla="*/ 3167234 w 4038514"/>
              <a:gd name="connsiteY6" fmla="*/ 5304974 h 5322499"/>
              <a:gd name="connsiteX7" fmla="*/ 2192607 w 4038514"/>
              <a:gd name="connsiteY7" fmla="*/ 4800814 h 5322499"/>
              <a:gd name="connsiteX8" fmla="*/ 443018 w 4038514"/>
              <a:gd name="connsiteY8" fmla="*/ 3536759 h 5322499"/>
              <a:gd name="connsiteX9" fmla="*/ 8380 w 4038514"/>
              <a:gd name="connsiteY9" fmla="*/ 2644922 h 5322499"/>
              <a:gd name="connsiteX10" fmla="*/ 8380 w 4038514"/>
              <a:gd name="connsiteY10" fmla="*/ 265304 h 5322499"/>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30554"/>
              <a:gd name="connsiteX1" fmla="*/ 273684 w 4038514"/>
              <a:gd name="connsiteY1" fmla="*/ 0 h 5330554"/>
              <a:gd name="connsiteX2" fmla="*/ 3773210 w 4038514"/>
              <a:gd name="connsiteY2" fmla="*/ 0 h 5330554"/>
              <a:gd name="connsiteX3" fmla="*/ 4038514 w 4038514"/>
              <a:gd name="connsiteY3" fmla="*/ 265304 h 5330554"/>
              <a:gd name="connsiteX4" fmla="*/ 4002727 w 4038514"/>
              <a:gd name="connsiteY4" fmla="*/ 4914337 h 5330554"/>
              <a:gd name="connsiteX5" fmla="*/ 3750866 w 4038514"/>
              <a:gd name="connsiteY5" fmla="*/ 5324184 h 5330554"/>
              <a:gd name="connsiteX6" fmla="*/ 3167234 w 4038514"/>
              <a:gd name="connsiteY6" fmla="*/ 5304974 h 5330554"/>
              <a:gd name="connsiteX7" fmla="*/ 2192607 w 4038514"/>
              <a:gd name="connsiteY7" fmla="*/ 4800814 h 5330554"/>
              <a:gd name="connsiteX8" fmla="*/ 443018 w 4038514"/>
              <a:gd name="connsiteY8" fmla="*/ 3536759 h 5330554"/>
              <a:gd name="connsiteX9" fmla="*/ 8380 w 4038514"/>
              <a:gd name="connsiteY9" fmla="*/ 2644922 h 5330554"/>
              <a:gd name="connsiteX10" fmla="*/ 8380 w 4038514"/>
              <a:gd name="connsiteY10" fmla="*/ 265304 h 5330554"/>
              <a:gd name="connsiteX0" fmla="*/ 8380 w 4038514"/>
              <a:gd name="connsiteY0" fmla="*/ 265304 h 5324184"/>
              <a:gd name="connsiteX1" fmla="*/ 273684 w 4038514"/>
              <a:gd name="connsiteY1" fmla="*/ 0 h 5324184"/>
              <a:gd name="connsiteX2" fmla="*/ 3773210 w 4038514"/>
              <a:gd name="connsiteY2" fmla="*/ 0 h 5324184"/>
              <a:gd name="connsiteX3" fmla="*/ 4038514 w 4038514"/>
              <a:gd name="connsiteY3" fmla="*/ 265304 h 5324184"/>
              <a:gd name="connsiteX4" fmla="*/ 4002727 w 4038514"/>
              <a:gd name="connsiteY4" fmla="*/ 4914337 h 5324184"/>
              <a:gd name="connsiteX5" fmla="*/ 3750866 w 4038514"/>
              <a:gd name="connsiteY5" fmla="*/ 5324184 h 5324184"/>
              <a:gd name="connsiteX6" fmla="*/ 3167234 w 4038514"/>
              <a:gd name="connsiteY6" fmla="*/ 5304974 h 5324184"/>
              <a:gd name="connsiteX7" fmla="*/ 2192607 w 4038514"/>
              <a:gd name="connsiteY7" fmla="*/ 4800814 h 5324184"/>
              <a:gd name="connsiteX8" fmla="*/ 443018 w 4038514"/>
              <a:gd name="connsiteY8" fmla="*/ 3536759 h 5324184"/>
              <a:gd name="connsiteX9" fmla="*/ 8380 w 4038514"/>
              <a:gd name="connsiteY9" fmla="*/ 2644922 h 5324184"/>
              <a:gd name="connsiteX10" fmla="*/ 8380 w 4038514"/>
              <a:gd name="connsiteY10" fmla="*/ 265304 h 532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8514" h="5324184">
                <a:moveTo>
                  <a:pt x="8380" y="265304"/>
                </a:moveTo>
                <a:cubicBezTo>
                  <a:pt x="8380" y="118781"/>
                  <a:pt x="127161" y="0"/>
                  <a:pt x="273684" y="0"/>
                </a:cubicBezTo>
                <a:lnTo>
                  <a:pt x="3773210" y="0"/>
                </a:lnTo>
                <a:cubicBezTo>
                  <a:pt x="3919733" y="0"/>
                  <a:pt x="4038514" y="118781"/>
                  <a:pt x="4038514" y="265304"/>
                </a:cubicBezTo>
                <a:cubicBezTo>
                  <a:pt x="4032870" y="1758421"/>
                  <a:pt x="4008371" y="3421220"/>
                  <a:pt x="4002727" y="4914337"/>
                </a:cubicBezTo>
                <a:cubicBezTo>
                  <a:pt x="3993300" y="5202262"/>
                  <a:pt x="3891453" y="5308997"/>
                  <a:pt x="3750866" y="5324184"/>
                </a:cubicBezTo>
                <a:cubicBezTo>
                  <a:pt x="3339811" y="5317018"/>
                  <a:pt x="3158280" y="5307362"/>
                  <a:pt x="3167234" y="5304974"/>
                </a:cubicBezTo>
                <a:cubicBezTo>
                  <a:pt x="2667141" y="5189465"/>
                  <a:pt x="2619934" y="5079805"/>
                  <a:pt x="2192607" y="4800814"/>
                </a:cubicBezTo>
                <a:cubicBezTo>
                  <a:pt x="1765280" y="4521823"/>
                  <a:pt x="906038" y="3903930"/>
                  <a:pt x="443018" y="3536759"/>
                </a:cubicBezTo>
                <a:cubicBezTo>
                  <a:pt x="37258" y="3237720"/>
                  <a:pt x="17807" y="3008262"/>
                  <a:pt x="8380" y="2644922"/>
                </a:cubicBezTo>
                <a:cubicBezTo>
                  <a:pt x="-10473" y="1889423"/>
                  <a:pt x="8380" y="1058510"/>
                  <a:pt x="8380" y="265304"/>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A7C03FF-71ED-7B76-9108-838C7FA1EE4C}"/>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9553779" y="411053"/>
            <a:ext cx="2314201" cy="710372"/>
          </a:xfrm>
          <a:prstGeom prst="rect">
            <a:avLst/>
          </a:prstGeom>
        </p:spPr>
      </p:pic>
    </p:spTree>
    <p:extLst>
      <p:ext uri="{BB962C8B-B14F-4D97-AF65-F5344CB8AC3E}">
        <p14:creationId xmlns:p14="http://schemas.microsoft.com/office/powerpoint/2010/main" val="408688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pic>
        <p:nvPicPr>
          <p:cNvPr id="6" name="Picture 5" descr="A blue and black background&#10;&#10;Description automatically generated">
            <a:extLst>
              <a:ext uri="{FF2B5EF4-FFF2-40B4-BE49-F238E27FC236}">
                <a16:creationId xmlns:a16="http://schemas.microsoft.com/office/drawing/2014/main" id="{8B33D114-8785-A91B-DCDD-71F084736FD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390" cy="6858000"/>
          </a:xfrm>
          <a:prstGeom prst="rect">
            <a:avLst/>
          </a:prstGeom>
        </p:spPr>
      </p:pic>
      <p:sp>
        <p:nvSpPr>
          <p:cNvPr id="7" name="Rectangle 6">
            <a:extLst>
              <a:ext uri="{FF2B5EF4-FFF2-40B4-BE49-F238E27FC236}">
                <a16:creationId xmlns:a16="http://schemas.microsoft.com/office/drawing/2014/main" id="{8A3B3896-A4A6-3B74-EF7D-D5B12635F082}"/>
              </a:ext>
            </a:extLst>
          </p:cNvPr>
          <p:cNvSpPr/>
          <p:nvPr userDrawn="1"/>
        </p:nvSpPr>
        <p:spPr>
          <a:xfrm>
            <a:off x="6096000" y="965499"/>
            <a:ext cx="6096000" cy="4927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a:p>
        </p:txBody>
      </p:sp>
      <p:pic>
        <p:nvPicPr>
          <p:cNvPr id="11" name="Graphic 10">
            <a:extLst>
              <a:ext uri="{FF2B5EF4-FFF2-40B4-BE49-F238E27FC236}">
                <a16:creationId xmlns:a16="http://schemas.microsoft.com/office/drawing/2014/main" id="{2BD0251F-7413-8183-8506-901A5C3045F4}"/>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129823" y="3011169"/>
            <a:ext cx="447953" cy="646430"/>
          </a:xfrm>
          <a:prstGeom prst="rect">
            <a:avLst/>
          </a:prstGeom>
        </p:spPr>
      </p:pic>
      <p:sp>
        <p:nvSpPr>
          <p:cNvPr id="14" name="Title 13">
            <a:extLst>
              <a:ext uri="{FF2B5EF4-FFF2-40B4-BE49-F238E27FC236}">
                <a16:creationId xmlns:a16="http://schemas.microsoft.com/office/drawing/2014/main" id="{D3C8C220-2E61-8F1E-EF42-A3697EDEE054}"/>
              </a:ext>
            </a:extLst>
          </p:cNvPr>
          <p:cNvSpPr>
            <a:spLocks noGrp="1"/>
          </p:cNvSpPr>
          <p:nvPr>
            <p:ph type="title" hasCustomPrompt="1"/>
          </p:nvPr>
        </p:nvSpPr>
        <p:spPr>
          <a:xfrm>
            <a:off x="6605195" y="2697162"/>
            <a:ext cx="4339814"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فاصل رئيسي</a:t>
            </a:r>
            <a:endParaRPr lang="en-US" dirty="0"/>
          </a:p>
        </p:txBody>
      </p:sp>
    </p:spTree>
    <p:extLst>
      <p:ext uri="{BB962C8B-B14F-4D97-AF65-F5344CB8AC3E}">
        <p14:creationId xmlns:p14="http://schemas.microsoft.com/office/powerpoint/2010/main" val="3947932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7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CD21C2-AF7B-BA5D-52FD-45C8DA9A20F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6898627" cy="6858000"/>
          </a:xfrm>
          <a:prstGeom prst="rect">
            <a:avLst/>
          </a:prstGeom>
        </p:spPr>
      </p:pic>
      <p:sp>
        <p:nvSpPr>
          <p:cNvPr id="15" name="Title 13">
            <a:extLst>
              <a:ext uri="{FF2B5EF4-FFF2-40B4-BE49-F238E27FC236}">
                <a16:creationId xmlns:a16="http://schemas.microsoft.com/office/drawing/2014/main" id="{593710C4-A9E3-2965-75F8-A74D8F328B20}"/>
              </a:ext>
            </a:extLst>
          </p:cNvPr>
          <p:cNvSpPr>
            <a:spLocks noGrp="1"/>
          </p:cNvSpPr>
          <p:nvPr>
            <p:ph type="title" hasCustomPrompt="1"/>
          </p:nvPr>
        </p:nvSpPr>
        <p:spPr>
          <a:xfrm>
            <a:off x="7242585" y="644657"/>
            <a:ext cx="4483250" cy="1501494"/>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فاصل رئيسي</a:t>
            </a:r>
            <a:endParaRPr lang="en-US" dirty="0"/>
          </a:p>
        </p:txBody>
      </p:sp>
      <p:sp>
        <p:nvSpPr>
          <p:cNvPr id="18" name="Rectangle 17">
            <a:extLst>
              <a:ext uri="{FF2B5EF4-FFF2-40B4-BE49-F238E27FC236}">
                <a16:creationId xmlns:a16="http://schemas.microsoft.com/office/drawing/2014/main" id="{FAA1B1BE-70DE-F28C-D64B-9198399A3CED}"/>
              </a:ext>
            </a:extLst>
          </p:cNvPr>
          <p:cNvSpPr/>
          <p:nvPr userDrawn="1"/>
        </p:nvSpPr>
        <p:spPr>
          <a:xfrm>
            <a:off x="9339433" y="3147228"/>
            <a:ext cx="2852567" cy="3710772"/>
          </a:xfrm>
          <a:prstGeom prst="rect">
            <a:avLst/>
          </a:prstGeom>
          <a: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l="42000" t="-1000" r="-37000" b="100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a:p>
        </p:txBody>
      </p:sp>
    </p:spTree>
    <p:extLst>
      <p:ext uri="{BB962C8B-B14F-4D97-AF65-F5344CB8AC3E}">
        <p14:creationId xmlns:p14="http://schemas.microsoft.com/office/powerpoint/2010/main" val="42536465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3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FB83C5-7928-AB58-26EA-0F244B63F659}"/>
              </a:ext>
            </a:extLst>
          </p:cNvPr>
          <p:cNvSpPr/>
          <p:nvPr userDrawn="1"/>
        </p:nvSpPr>
        <p:spPr>
          <a:xfrm>
            <a:off x="0" y="0"/>
            <a:ext cx="12192000" cy="6858000"/>
          </a:xfrm>
          <a:prstGeom prst="rect">
            <a:avLst/>
          </a:prstGeom>
          <a:solidFill>
            <a:srgbClr val="1B16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US"/>
          </a:p>
        </p:txBody>
      </p:sp>
      <p:sp>
        <p:nvSpPr>
          <p:cNvPr id="15" name="Title 13">
            <a:extLst>
              <a:ext uri="{FF2B5EF4-FFF2-40B4-BE49-F238E27FC236}">
                <a16:creationId xmlns:a16="http://schemas.microsoft.com/office/drawing/2014/main" id="{593710C4-A9E3-2965-75F8-A74D8F328B20}"/>
              </a:ext>
            </a:extLst>
          </p:cNvPr>
          <p:cNvSpPr>
            <a:spLocks noGrp="1"/>
          </p:cNvSpPr>
          <p:nvPr>
            <p:ph type="title" hasCustomPrompt="1"/>
          </p:nvPr>
        </p:nvSpPr>
        <p:spPr>
          <a:xfrm>
            <a:off x="3686096" y="2678253"/>
            <a:ext cx="4819809" cy="1501494"/>
          </a:xfrm>
        </p:spPr>
        <p:txBody>
          <a:bodyPr/>
          <a:lstStyle>
            <a:lvl1pPr algn="r" rtl="1">
              <a:defRPr b="1" i="0">
                <a:solidFill>
                  <a:schemeClr val="bg1"/>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فاصل رئيسي</a:t>
            </a:r>
            <a:endParaRPr lang="en-US" dirty="0"/>
          </a:p>
        </p:txBody>
      </p:sp>
      <p:pic>
        <p:nvPicPr>
          <p:cNvPr id="4" name="Graphic 3">
            <a:extLst>
              <a:ext uri="{FF2B5EF4-FFF2-40B4-BE49-F238E27FC236}">
                <a16:creationId xmlns:a16="http://schemas.microsoft.com/office/drawing/2014/main" id="{7A4983A3-4689-D683-236F-EE5C62936E8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209800" y="5055958"/>
            <a:ext cx="7772400" cy="925830"/>
          </a:xfrm>
          <a:prstGeom prst="rect">
            <a:avLst/>
          </a:prstGeom>
        </p:spPr>
      </p:pic>
      <p:pic>
        <p:nvPicPr>
          <p:cNvPr id="9" name="Graphic 8">
            <a:extLst>
              <a:ext uri="{FF2B5EF4-FFF2-40B4-BE49-F238E27FC236}">
                <a16:creationId xmlns:a16="http://schemas.microsoft.com/office/drawing/2014/main" id="{976EC8FE-8EEB-5519-868C-4080779749D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46603" y="371512"/>
            <a:ext cx="371512" cy="536121"/>
          </a:xfrm>
          <a:prstGeom prst="rect">
            <a:avLst/>
          </a:prstGeom>
        </p:spPr>
      </p:pic>
    </p:spTree>
    <p:extLst>
      <p:ext uri="{BB962C8B-B14F-4D97-AF65-F5344CB8AC3E}">
        <p14:creationId xmlns:p14="http://schemas.microsoft.com/office/powerpoint/2010/main" val="266184044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Blank">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36FB43D6-5DB7-477D-EFB8-5A3AA40F4789}"/>
              </a:ext>
            </a:extLst>
          </p:cNvPr>
          <p:cNvGrpSpPr/>
          <p:nvPr userDrawn="1"/>
        </p:nvGrpSpPr>
        <p:grpSpPr>
          <a:xfrm>
            <a:off x="15895" y="5578506"/>
            <a:ext cx="12160209" cy="1279494"/>
            <a:chOff x="-660284" y="3613598"/>
            <a:chExt cx="12408180" cy="1305585"/>
          </a:xfrm>
        </p:grpSpPr>
        <p:pic>
          <p:nvPicPr>
            <p:cNvPr id="14" name="Graphic 13">
              <a:extLst>
                <a:ext uri="{FF2B5EF4-FFF2-40B4-BE49-F238E27FC236}">
                  <a16:creationId xmlns:a16="http://schemas.microsoft.com/office/drawing/2014/main" id="{43F2203B-F21B-1E51-207E-0E4F65221AA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84354" y="3613598"/>
              <a:ext cx="463542" cy="668927"/>
            </a:xfrm>
            <a:prstGeom prst="rect">
              <a:avLst/>
            </a:prstGeom>
          </p:spPr>
        </p:pic>
        <p:pic>
          <p:nvPicPr>
            <p:cNvPr id="2" name="Graphic 1">
              <a:extLst>
                <a:ext uri="{FF2B5EF4-FFF2-40B4-BE49-F238E27FC236}">
                  <a16:creationId xmlns:a16="http://schemas.microsoft.com/office/drawing/2014/main" id="{6D666A60-63BD-D329-9650-8735CBD992B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99046" y="3613598"/>
              <a:ext cx="463542" cy="668927"/>
            </a:xfrm>
            <a:prstGeom prst="rect">
              <a:avLst/>
            </a:prstGeom>
          </p:spPr>
        </p:pic>
        <p:pic>
          <p:nvPicPr>
            <p:cNvPr id="3" name="Graphic 2">
              <a:extLst>
                <a:ext uri="{FF2B5EF4-FFF2-40B4-BE49-F238E27FC236}">
                  <a16:creationId xmlns:a16="http://schemas.microsoft.com/office/drawing/2014/main" id="{F702C679-9C29-869C-D5FB-38AA8650F89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91700" y="4250256"/>
              <a:ext cx="463542" cy="668927"/>
            </a:xfrm>
            <a:prstGeom prst="rect">
              <a:avLst/>
            </a:prstGeom>
          </p:spPr>
        </p:pic>
        <p:pic>
          <p:nvPicPr>
            <p:cNvPr id="7" name="Graphic 6">
              <a:extLst>
                <a:ext uri="{FF2B5EF4-FFF2-40B4-BE49-F238E27FC236}">
                  <a16:creationId xmlns:a16="http://schemas.microsoft.com/office/drawing/2014/main" id="{BFEE4496-AD42-A355-C3CE-0EC9F6BBD17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06392" y="4250256"/>
              <a:ext cx="463542" cy="668927"/>
            </a:xfrm>
            <a:prstGeom prst="rect">
              <a:avLst/>
            </a:prstGeom>
          </p:spPr>
        </p:pic>
        <p:pic>
          <p:nvPicPr>
            <p:cNvPr id="9" name="Graphic 8">
              <a:extLst>
                <a:ext uri="{FF2B5EF4-FFF2-40B4-BE49-F238E27FC236}">
                  <a16:creationId xmlns:a16="http://schemas.microsoft.com/office/drawing/2014/main" id="{A63ABACE-C63B-B8B9-C984-A91F698C081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15466" y="3613598"/>
              <a:ext cx="463542" cy="668927"/>
            </a:xfrm>
            <a:prstGeom prst="rect">
              <a:avLst/>
            </a:prstGeom>
          </p:spPr>
        </p:pic>
        <p:pic>
          <p:nvPicPr>
            <p:cNvPr id="10" name="Graphic 9">
              <a:extLst>
                <a:ext uri="{FF2B5EF4-FFF2-40B4-BE49-F238E27FC236}">
                  <a16:creationId xmlns:a16="http://schemas.microsoft.com/office/drawing/2014/main" id="{254232BF-F87B-3B78-4641-758B2F24CE3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158" y="3613598"/>
              <a:ext cx="463542" cy="668927"/>
            </a:xfrm>
            <a:prstGeom prst="rect">
              <a:avLst/>
            </a:prstGeom>
          </p:spPr>
        </p:pic>
        <p:pic>
          <p:nvPicPr>
            <p:cNvPr id="11" name="Graphic 10">
              <a:extLst>
                <a:ext uri="{FF2B5EF4-FFF2-40B4-BE49-F238E27FC236}">
                  <a16:creationId xmlns:a16="http://schemas.microsoft.com/office/drawing/2014/main" id="{7149B5ED-51BC-B083-1816-AB7FBBA01B0D}"/>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22812" y="4250256"/>
              <a:ext cx="463542" cy="668927"/>
            </a:xfrm>
            <a:prstGeom prst="rect">
              <a:avLst/>
            </a:prstGeom>
          </p:spPr>
        </p:pic>
        <p:pic>
          <p:nvPicPr>
            <p:cNvPr id="13" name="Graphic 12">
              <a:extLst>
                <a:ext uri="{FF2B5EF4-FFF2-40B4-BE49-F238E27FC236}">
                  <a16:creationId xmlns:a16="http://schemas.microsoft.com/office/drawing/2014/main" id="{A9D0A687-4A63-6958-3515-465619DA878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537504" y="4250256"/>
              <a:ext cx="463542" cy="668927"/>
            </a:xfrm>
            <a:prstGeom prst="rect">
              <a:avLst/>
            </a:prstGeom>
          </p:spPr>
        </p:pic>
        <p:pic>
          <p:nvPicPr>
            <p:cNvPr id="15" name="Graphic 14">
              <a:extLst>
                <a:ext uri="{FF2B5EF4-FFF2-40B4-BE49-F238E27FC236}">
                  <a16:creationId xmlns:a16="http://schemas.microsoft.com/office/drawing/2014/main" id="{E1038414-12EE-2851-755F-3A7201EE244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18425" y="3613598"/>
              <a:ext cx="463542" cy="668927"/>
            </a:xfrm>
            <a:prstGeom prst="rect">
              <a:avLst/>
            </a:prstGeom>
          </p:spPr>
        </p:pic>
        <p:pic>
          <p:nvPicPr>
            <p:cNvPr id="16" name="Graphic 15">
              <a:extLst>
                <a:ext uri="{FF2B5EF4-FFF2-40B4-BE49-F238E27FC236}">
                  <a16:creationId xmlns:a16="http://schemas.microsoft.com/office/drawing/2014/main" id="{E4BF6625-C1AB-A478-5B7A-F28887C356E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33117" y="3613598"/>
              <a:ext cx="463542" cy="668927"/>
            </a:xfrm>
            <a:prstGeom prst="rect">
              <a:avLst/>
            </a:prstGeom>
          </p:spPr>
        </p:pic>
        <p:pic>
          <p:nvPicPr>
            <p:cNvPr id="17" name="Graphic 16">
              <a:extLst>
                <a:ext uri="{FF2B5EF4-FFF2-40B4-BE49-F238E27FC236}">
                  <a16:creationId xmlns:a16="http://schemas.microsoft.com/office/drawing/2014/main" id="{4FB8BFED-DECE-5767-B8EC-FD457B145B5D}"/>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825771" y="4250256"/>
              <a:ext cx="463542" cy="668927"/>
            </a:xfrm>
            <a:prstGeom prst="rect">
              <a:avLst/>
            </a:prstGeom>
          </p:spPr>
        </p:pic>
        <p:pic>
          <p:nvPicPr>
            <p:cNvPr id="18" name="Graphic 17">
              <a:extLst>
                <a:ext uri="{FF2B5EF4-FFF2-40B4-BE49-F238E27FC236}">
                  <a16:creationId xmlns:a16="http://schemas.microsoft.com/office/drawing/2014/main" id="{6B8B5EDB-4829-ABC1-F567-0ACD5E9FBF6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040463" y="4250256"/>
              <a:ext cx="463542" cy="668927"/>
            </a:xfrm>
            <a:prstGeom prst="rect">
              <a:avLst/>
            </a:prstGeom>
          </p:spPr>
        </p:pic>
        <p:pic>
          <p:nvPicPr>
            <p:cNvPr id="19" name="Graphic 18">
              <a:extLst>
                <a:ext uri="{FF2B5EF4-FFF2-40B4-BE49-F238E27FC236}">
                  <a16:creationId xmlns:a16="http://schemas.microsoft.com/office/drawing/2014/main" id="{F66F2E86-FF57-9E34-1EED-2CA5032C23E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649537" y="3613598"/>
              <a:ext cx="463542" cy="668927"/>
            </a:xfrm>
            <a:prstGeom prst="rect">
              <a:avLst/>
            </a:prstGeom>
          </p:spPr>
        </p:pic>
        <p:pic>
          <p:nvPicPr>
            <p:cNvPr id="20" name="Graphic 19">
              <a:extLst>
                <a:ext uri="{FF2B5EF4-FFF2-40B4-BE49-F238E27FC236}">
                  <a16:creationId xmlns:a16="http://schemas.microsoft.com/office/drawing/2014/main" id="{78E737DF-4E60-626D-4CA1-CED9BD2514A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64229" y="3613598"/>
              <a:ext cx="463542" cy="668927"/>
            </a:xfrm>
            <a:prstGeom prst="rect">
              <a:avLst/>
            </a:prstGeom>
          </p:spPr>
        </p:pic>
        <p:pic>
          <p:nvPicPr>
            <p:cNvPr id="21" name="Graphic 20">
              <a:extLst>
                <a:ext uri="{FF2B5EF4-FFF2-40B4-BE49-F238E27FC236}">
                  <a16:creationId xmlns:a16="http://schemas.microsoft.com/office/drawing/2014/main" id="{D90525D4-9EAE-1AFD-D8A6-0A0322223E5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56883" y="4250256"/>
              <a:ext cx="463542" cy="668927"/>
            </a:xfrm>
            <a:prstGeom prst="rect">
              <a:avLst/>
            </a:prstGeom>
          </p:spPr>
        </p:pic>
        <p:pic>
          <p:nvPicPr>
            <p:cNvPr id="22" name="Graphic 21">
              <a:extLst>
                <a:ext uri="{FF2B5EF4-FFF2-40B4-BE49-F238E27FC236}">
                  <a16:creationId xmlns:a16="http://schemas.microsoft.com/office/drawing/2014/main" id="{C12FE940-3C6C-1B3B-058A-79DF6021E99D}"/>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71575" y="4250256"/>
              <a:ext cx="463542" cy="668927"/>
            </a:xfrm>
            <a:prstGeom prst="rect">
              <a:avLst/>
            </a:prstGeom>
          </p:spPr>
        </p:pic>
        <p:pic>
          <p:nvPicPr>
            <p:cNvPr id="23" name="Graphic 22">
              <a:extLst>
                <a:ext uri="{FF2B5EF4-FFF2-40B4-BE49-F238E27FC236}">
                  <a16:creationId xmlns:a16="http://schemas.microsoft.com/office/drawing/2014/main" id="{F011934E-D344-00C5-D66E-E6BBD332657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152495" y="3613598"/>
              <a:ext cx="463542" cy="668927"/>
            </a:xfrm>
            <a:prstGeom prst="rect">
              <a:avLst/>
            </a:prstGeom>
          </p:spPr>
        </p:pic>
        <p:pic>
          <p:nvPicPr>
            <p:cNvPr id="24" name="Graphic 23">
              <a:extLst>
                <a:ext uri="{FF2B5EF4-FFF2-40B4-BE49-F238E27FC236}">
                  <a16:creationId xmlns:a16="http://schemas.microsoft.com/office/drawing/2014/main" id="{E1B49E27-6844-F666-5902-DE1937EEC54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67187" y="3613598"/>
              <a:ext cx="463542" cy="668927"/>
            </a:xfrm>
            <a:prstGeom prst="rect">
              <a:avLst/>
            </a:prstGeom>
          </p:spPr>
        </p:pic>
        <p:pic>
          <p:nvPicPr>
            <p:cNvPr id="25" name="Graphic 24">
              <a:extLst>
                <a:ext uri="{FF2B5EF4-FFF2-40B4-BE49-F238E27FC236}">
                  <a16:creationId xmlns:a16="http://schemas.microsoft.com/office/drawing/2014/main" id="{A3942C61-2E99-8435-34C8-35CA43360FE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59841" y="4250256"/>
              <a:ext cx="463542" cy="668927"/>
            </a:xfrm>
            <a:prstGeom prst="rect">
              <a:avLst/>
            </a:prstGeom>
          </p:spPr>
        </p:pic>
        <p:pic>
          <p:nvPicPr>
            <p:cNvPr id="26" name="Graphic 25">
              <a:extLst>
                <a:ext uri="{FF2B5EF4-FFF2-40B4-BE49-F238E27FC236}">
                  <a16:creationId xmlns:a16="http://schemas.microsoft.com/office/drawing/2014/main" id="{9C718909-8F20-12DC-BC61-E2AF47BAD45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974533" y="4250256"/>
              <a:ext cx="463542" cy="668927"/>
            </a:xfrm>
            <a:prstGeom prst="rect">
              <a:avLst/>
            </a:prstGeom>
          </p:spPr>
        </p:pic>
        <p:pic>
          <p:nvPicPr>
            <p:cNvPr id="27" name="Graphic 26">
              <a:extLst>
                <a:ext uri="{FF2B5EF4-FFF2-40B4-BE49-F238E27FC236}">
                  <a16:creationId xmlns:a16="http://schemas.microsoft.com/office/drawing/2014/main" id="{5DB55C0A-7781-9F78-7E19-66F62B1615B2}"/>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83607" y="3613598"/>
              <a:ext cx="463542" cy="668927"/>
            </a:xfrm>
            <a:prstGeom prst="rect">
              <a:avLst/>
            </a:prstGeom>
          </p:spPr>
        </p:pic>
        <p:pic>
          <p:nvPicPr>
            <p:cNvPr id="28" name="Graphic 27">
              <a:extLst>
                <a:ext uri="{FF2B5EF4-FFF2-40B4-BE49-F238E27FC236}">
                  <a16:creationId xmlns:a16="http://schemas.microsoft.com/office/drawing/2014/main" id="{AEC9554E-8DA6-1988-EEB5-05746553752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798299" y="3613598"/>
              <a:ext cx="463542" cy="668927"/>
            </a:xfrm>
            <a:prstGeom prst="rect">
              <a:avLst/>
            </a:prstGeom>
          </p:spPr>
        </p:pic>
        <p:pic>
          <p:nvPicPr>
            <p:cNvPr id="29" name="Graphic 28">
              <a:extLst>
                <a:ext uri="{FF2B5EF4-FFF2-40B4-BE49-F238E27FC236}">
                  <a16:creationId xmlns:a16="http://schemas.microsoft.com/office/drawing/2014/main" id="{5F69713E-C733-8585-D8EB-01481CFE5DC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190953" y="4250256"/>
              <a:ext cx="463542" cy="668927"/>
            </a:xfrm>
            <a:prstGeom prst="rect">
              <a:avLst/>
            </a:prstGeom>
          </p:spPr>
        </p:pic>
        <p:pic>
          <p:nvPicPr>
            <p:cNvPr id="30" name="Graphic 29">
              <a:extLst>
                <a:ext uri="{FF2B5EF4-FFF2-40B4-BE49-F238E27FC236}">
                  <a16:creationId xmlns:a16="http://schemas.microsoft.com/office/drawing/2014/main" id="{A65A73D7-168D-01F4-57FA-850AEE77095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405645" y="4250256"/>
              <a:ext cx="463542" cy="668927"/>
            </a:xfrm>
            <a:prstGeom prst="rect">
              <a:avLst/>
            </a:prstGeom>
          </p:spPr>
        </p:pic>
        <p:pic>
          <p:nvPicPr>
            <p:cNvPr id="31" name="Graphic 30">
              <a:extLst>
                <a:ext uri="{FF2B5EF4-FFF2-40B4-BE49-F238E27FC236}">
                  <a16:creationId xmlns:a16="http://schemas.microsoft.com/office/drawing/2014/main" id="{1687AF59-E4EC-ED64-6F49-C1D0C103E5C0}"/>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86566" y="3613598"/>
              <a:ext cx="463542" cy="668927"/>
            </a:xfrm>
            <a:prstGeom prst="rect">
              <a:avLst/>
            </a:prstGeom>
          </p:spPr>
        </p:pic>
        <p:pic>
          <p:nvPicPr>
            <p:cNvPr id="32" name="Graphic 31">
              <a:extLst>
                <a:ext uri="{FF2B5EF4-FFF2-40B4-BE49-F238E27FC236}">
                  <a16:creationId xmlns:a16="http://schemas.microsoft.com/office/drawing/2014/main" id="{3BAEB76D-EFC7-07AD-1EE0-80786B9BE59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01258" y="3613598"/>
              <a:ext cx="463542" cy="668927"/>
            </a:xfrm>
            <a:prstGeom prst="rect">
              <a:avLst/>
            </a:prstGeom>
          </p:spPr>
        </p:pic>
        <p:pic>
          <p:nvPicPr>
            <p:cNvPr id="33" name="Graphic 32">
              <a:extLst>
                <a:ext uri="{FF2B5EF4-FFF2-40B4-BE49-F238E27FC236}">
                  <a16:creationId xmlns:a16="http://schemas.microsoft.com/office/drawing/2014/main" id="{E62C8A1F-9995-250D-08E7-4E47364C24E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93912" y="4250256"/>
              <a:ext cx="463542" cy="668927"/>
            </a:xfrm>
            <a:prstGeom prst="rect">
              <a:avLst/>
            </a:prstGeom>
          </p:spPr>
        </p:pic>
        <p:pic>
          <p:nvPicPr>
            <p:cNvPr id="34" name="Graphic 33">
              <a:extLst>
                <a:ext uri="{FF2B5EF4-FFF2-40B4-BE49-F238E27FC236}">
                  <a16:creationId xmlns:a16="http://schemas.microsoft.com/office/drawing/2014/main" id="{A94C2989-1F8E-8E53-D6FD-804D3806603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08604" y="4250256"/>
              <a:ext cx="463542" cy="668927"/>
            </a:xfrm>
            <a:prstGeom prst="rect">
              <a:avLst/>
            </a:prstGeom>
          </p:spPr>
        </p:pic>
        <p:pic>
          <p:nvPicPr>
            <p:cNvPr id="35" name="Graphic 34">
              <a:extLst>
                <a:ext uri="{FF2B5EF4-FFF2-40B4-BE49-F238E27FC236}">
                  <a16:creationId xmlns:a16="http://schemas.microsoft.com/office/drawing/2014/main" id="{020B9393-2339-950D-25C5-F269E45F3E68}"/>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17678" y="3613598"/>
              <a:ext cx="463542" cy="668927"/>
            </a:xfrm>
            <a:prstGeom prst="rect">
              <a:avLst/>
            </a:prstGeom>
          </p:spPr>
        </p:pic>
        <p:pic>
          <p:nvPicPr>
            <p:cNvPr id="36" name="Graphic 35">
              <a:extLst>
                <a:ext uri="{FF2B5EF4-FFF2-40B4-BE49-F238E27FC236}">
                  <a16:creationId xmlns:a16="http://schemas.microsoft.com/office/drawing/2014/main" id="{7950B4FA-0696-3E86-9003-D441C0E024A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7630" y="3613598"/>
              <a:ext cx="463542" cy="668927"/>
            </a:xfrm>
            <a:prstGeom prst="rect">
              <a:avLst/>
            </a:prstGeom>
          </p:spPr>
        </p:pic>
        <p:pic>
          <p:nvPicPr>
            <p:cNvPr id="37" name="Graphic 36">
              <a:extLst>
                <a:ext uri="{FF2B5EF4-FFF2-40B4-BE49-F238E27FC236}">
                  <a16:creationId xmlns:a16="http://schemas.microsoft.com/office/drawing/2014/main" id="{EAEC5640-C477-8FB6-D202-521CA8F67A8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25024" y="4250256"/>
              <a:ext cx="463542" cy="668927"/>
            </a:xfrm>
            <a:prstGeom prst="rect">
              <a:avLst/>
            </a:prstGeom>
          </p:spPr>
        </p:pic>
        <p:pic>
          <p:nvPicPr>
            <p:cNvPr id="38" name="Graphic 37">
              <a:extLst>
                <a:ext uri="{FF2B5EF4-FFF2-40B4-BE49-F238E27FC236}">
                  <a16:creationId xmlns:a16="http://schemas.microsoft.com/office/drawing/2014/main" id="{A8A79BCF-B1E8-308A-E08A-11F11A00CA5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60284" y="4250256"/>
              <a:ext cx="463542" cy="668927"/>
            </a:xfrm>
            <a:prstGeom prst="rect">
              <a:avLst/>
            </a:prstGeom>
          </p:spPr>
        </p:pic>
      </p:grpSp>
      <p:pic>
        <p:nvPicPr>
          <p:cNvPr id="41" name="Graphic 40">
            <a:extLst>
              <a:ext uri="{FF2B5EF4-FFF2-40B4-BE49-F238E27FC236}">
                <a16:creationId xmlns:a16="http://schemas.microsoft.com/office/drawing/2014/main" id="{FE2D674F-44BA-AE0F-B11F-677921D79AE6}"/>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346014" y="447953"/>
            <a:ext cx="447953" cy="646430"/>
          </a:xfrm>
          <a:prstGeom prst="rect">
            <a:avLst/>
          </a:prstGeom>
        </p:spPr>
      </p:pic>
      <p:sp>
        <p:nvSpPr>
          <p:cNvPr id="42" name="Title 13">
            <a:extLst>
              <a:ext uri="{FF2B5EF4-FFF2-40B4-BE49-F238E27FC236}">
                <a16:creationId xmlns:a16="http://schemas.microsoft.com/office/drawing/2014/main" id="{78AC692F-3C52-F95E-5F80-A01CFC44AEAC}"/>
              </a:ext>
            </a:extLst>
          </p:cNvPr>
          <p:cNvSpPr>
            <a:spLocks noGrp="1"/>
          </p:cNvSpPr>
          <p:nvPr>
            <p:ph type="title" hasCustomPrompt="1"/>
          </p:nvPr>
        </p:nvSpPr>
        <p:spPr>
          <a:xfrm>
            <a:off x="3671496" y="2697163"/>
            <a:ext cx="4849009" cy="1463675"/>
          </a:xfrm>
        </p:spPr>
        <p:txBody>
          <a:bodyPr/>
          <a:lstStyle>
            <a:lvl1pPr algn="r" rtl="1">
              <a:defRPr b="1" i="0">
                <a:solidFill>
                  <a:srgbClr val="2D1C6E"/>
                </a:solidFill>
                <a:latin typeface="☞DIODRUM ARABIC SEMIBOLD" pitchFamily="2" charset="-78"/>
                <a:cs typeface="☞DIODRUM ARABIC SEMIBOLD" pitchFamily="2" charset="-78"/>
              </a:defRPr>
            </a:lvl1pPr>
          </a:lstStyle>
          <a:p>
            <a:pPr algn="r" defTabSz="914400" rtl="0" eaLnBrk="1" latinLnBrk="0" hangingPunct="1">
              <a:lnSpc>
                <a:spcPct val="90000"/>
              </a:lnSpc>
              <a:spcBef>
                <a:spcPct val="0"/>
              </a:spcBef>
              <a:buNone/>
            </a:pPr>
            <a:r>
              <a:rPr lang="ar-SA" dirty="0"/>
              <a:t>عنوان فاصل رئيسي</a:t>
            </a:r>
            <a:endParaRPr lang="en-US" dirty="0"/>
          </a:p>
        </p:txBody>
      </p:sp>
    </p:spTree>
    <p:extLst>
      <p:ext uri="{BB962C8B-B14F-4D97-AF65-F5344CB8AC3E}">
        <p14:creationId xmlns:p14="http://schemas.microsoft.com/office/powerpoint/2010/main" val="4156033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D21085-A0DB-B8FD-25E9-560AE39DEC41}"/>
              </a:ext>
            </a:extLst>
          </p:cNvPr>
          <p:cNvSpPr>
            <a:spLocks noGrp="1"/>
          </p:cNvSpPr>
          <p:nvPr>
            <p:ph type="dt" sz="half" idx="10"/>
          </p:nvPr>
        </p:nvSpPr>
        <p:spPr/>
        <p:txBody>
          <a:bodyPr/>
          <a:lstStyle/>
          <a:p>
            <a:fld id="{60762C07-E45F-2C42-8B1C-7F18F63F59A3}" type="datetimeFigureOut">
              <a:rPr lang="en-SA" smtClean="0"/>
              <a:t>23/05/2024 R</a:t>
            </a:fld>
            <a:endParaRPr lang="en-SA"/>
          </a:p>
        </p:txBody>
      </p:sp>
      <p:sp>
        <p:nvSpPr>
          <p:cNvPr id="3" name="Footer Placeholder 2">
            <a:extLst>
              <a:ext uri="{FF2B5EF4-FFF2-40B4-BE49-F238E27FC236}">
                <a16:creationId xmlns:a16="http://schemas.microsoft.com/office/drawing/2014/main" id="{AB5ED216-318F-31E2-EAD6-BD6D8ED5937D}"/>
              </a:ext>
            </a:extLst>
          </p:cNvPr>
          <p:cNvSpPr>
            <a:spLocks noGrp="1"/>
          </p:cNvSpPr>
          <p:nvPr>
            <p:ph type="ftr" sz="quarter" idx="11"/>
          </p:nvPr>
        </p:nvSpPr>
        <p:spPr/>
        <p:txBody>
          <a:bodyPr/>
          <a:lstStyle/>
          <a:p>
            <a:endParaRPr lang="en-SA"/>
          </a:p>
        </p:txBody>
      </p:sp>
      <p:sp>
        <p:nvSpPr>
          <p:cNvPr id="5" name="Slide Number Placeholder 10">
            <a:extLst>
              <a:ext uri="{FF2B5EF4-FFF2-40B4-BE49-F238E27FC236}">
                <a16:creationId xmlns:a16="http://schemas.microsoft.com/office/drawing/2014/main" id="{5F1B06F1-C3E5-4D17-7960-170D051281AE}"/>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21937068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 Id="rId4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 Placeholder 1">
            <a:extLst>
              <a:ext uri="{FF2B5EF4-FFF2-40B4-BE49-F238E27FC236}">
                <a16:creationId xmlns:a16="http://schemas.microsoft.com/office/drawing/2014/main" id="{7AD50ABD-7FCD-5157-B935-8775060E82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dirty="0"/>
          </a:p>
        </p:txBody>
      </p:sp>
      <p:sp>
        <p:nvSpPr>
          <p:cNvPr id="7" name="Title Placeholder 3">
            <a:extLst>
              <a:ext uri="{FF2B5EF4-FFF2-40B4-BE49-F238E27FC236}">
                <a16:creationId xmlns:a16="http://schemas.microsoft.com/office/drawing/2014/main" id="{3E4A0C03-A7CC-1CB4-B161-F4F877AC5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A"/>
          </a:p>
        </p:txBody>
      </p:sp>
      <p:cxnSp>
        <p:nvCxnSpPr>
          <p:cNvPr id="3" name="Straight Connector 2">
            <a:extLst>
              <a:ext uri="{FF2B5EF4-FFF2-40B4-BE49-F238E27FC236}">
                <a16:creationId xmlns:a16="http://schemas.microsoft.com/office/drawing/2014/main" id="{0D9434C8-6F7D-91B2-1524-E279B9646256}"/>
              </a:ext>
            </a:extLst>
          </p:cNvPr>
          <p:cNvCxnSpPr>
            <a:cxnSpLocks/>
          </p:cNvCxnSpPr>
          <p:nvPr userDrawn="1"/>
        </p:nvCxnSpPr>
        <p:spPr>
          <a:xfrm flipH="1">
            <a:off x="11843166" y="0"/>
            <a:ext cx="0" cy="6380480"/>
          </a:xfrm>
          <a:prstGeom prst="line">
            <a:avLst/>
          </a:prstGeom>
          <a:ln>
            <a:solidFill>
              <a:srgbClr val="575756">
                <a:alpha val="20000"/>
              </a:srgb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ADBD289-760C-4577-84D3-3A862E7661B5}"/>
              </a:ext>
            </a:extLst>
          </p:cNvPr>
          <p:cNvCxnSpPr/>
          <p:nvPr userDrawn="1"/>
        </p:nvCxnSpPr>
        <p:spPr>
          <a:xfrm>
            <a:off x="11461707" y="6380480"/>
            <a:ext cx="381459" cy="0"/>
          </a:xfrm>
          <a:prstGeom prst="line">
            <a:avLst/>
          </a:prstGeom>
          <a:ln>
            <a:solidFill>
              <a:srgbClr val="575756">
                <a:alpha val="20000"/>
              </a:srgbClr>
            </a:solidFill>
          </a:ln>
        </p:spPr>
        <p:style>
          <a:lnRef idx="1">
            <a:schemeClr val="accent1"/>
          </a:lnRef>
          <a:fillRef idx="0">
            <a:schemeClr val="accent1"/>
          </a:fillRef>
          <a:effectRef idx="0">
            <a:schemeClr val="accent1"/>
          </a:effectRef>
          <a:fontRef idx="minor">
            <a:schemeClr val="tx1"/>
          </a:fontRef>
        </p:style>
      </p:cxnSp>
      <p:sp>
        <p:nvSpPr>
          <p:cNvPr id="11" name="Slide Number Placeholder 10">
            <a:extLst>
              <a:ext uri="{FF2B5EF4-FFF2-40B4-BE49-F238E27FC236}">
                <a16:creationId xmlns:a16="http://schemas.microsoft.com/office/drawing/2014/main" id="{6481E2E0-BBBD-2F1D-77C9-0261D92A30B4}"/>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pic>
        <p:nvPicPr>
          <p:cNvPr id="5" name="Picture 4" descr="A blue and purple lines on a black background&#10;&#10;Description automatically generated">
            <a:extLst>
              <a:ext uri="{FF2B5EF4-FFF2-40B4-BE49-F238E27FC236}">
                <a16:creationId xmlns:a16="http://schemas.microsoft.com/office/drawing/2014/main" id="{DB280614-BAB2-73DF-2F35-A30E9AF3ED2F}"/>
              </a:ext>
            </a:extLst>
          </p:cNvPr>
          <p:cNvPicPr>
            <a:picLocks noChangeAspect="1"/>
          </p:cNvPicPr>
          <p:nvPr userDrawn="1"/>
        </p:nvPicPr>
        <p:blipFill>
          <a:blip r:embed="rId40"/>
          <a:stretch>
            <a:fillRect/>
          </a:stretch>
        </p:blipFill>
        <p:spPr>
          <a:xfrm>
            <a:off x="0" y="6164786"/>
            <a:ext cx="1364186" cy="693214"/>
          </a:xfrm>
          <a:prstGeom prst="rect">
            <a:avLst/>
          </a:prstGeom>
        </p:spPr>
      </p:pic>
    </p:spTree>
    <p:extLst>
      <p:ext uri="{BB962C8B-B14F-4D97-AF65-F5344CB8AC3E}">
        <p14:creationId xmlns:p14="http://schemas.microsoft.com/office/powerpoint/2010/main" val="1633108117"/>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76" r:id="rId3"/>
    <p:sldLayoutId id="2147483677" r:id="rId4"/>
    <p:sldLayoutId id="2147483678" r:id="rId5"/>
    <p:sldLayoutId id="2147483679" r:id="rId6"/>
    <p:sldLayoutId id="2147483650" r:id="rId7"/>
    <p:sldLayoutId id="2147483839" r:id="rId8"/>
    <p:sldLayoutId id="2147483693" r:id="rId9"/>
    <p:sldLayoutId id="2147483688" r:id="rId10"/>
    <p:sldLayoutId id="2147483689" r:id="rId11"/>
    <p:sldLayoutId id="2147483690" r:id="rId12"/>
    <p:sldLayoutId id="2147483691" r:id="rId13"/>
    <p:sldLayoutId id="2147483692" r:id="rId14"/>
    <p:sldLayoutId id="2147483671" r:id="rId15"/>
    <p:sldLayoutId id="2147483665" r:id="rId16"/>
    <p:sldLayoutId id="2147483664" r:id="rId17"/>
    <p:sldLayoutId id="2147483657" r:id="rId18"/>
    <p:sldLayoutId id="2147483668" r:id="rId19"/>
    <p:sldLayoutId id="2147483669" r:id="rId20"/>
    <p:sldLayoutId id="2147483670" r:id="rId21"/>
    <p:sldLayoutId id="2147483666" r:id="rId22"/>
    <p:sldLayoutId id="2147483667" r:id="rId23"/>
    <p:sldLayoutId id="2147483651" r:id="rId24"/>
    <p:sldLayoutId id="2147483659" r:id="rId25"/>
    <p:sldLayoutId id="2147483652" r:id="rId26"/>
    <p:sldLayoutId id="2147483658" r:id="rId27"/>
    <p:sldLayoutId id="2147483672" r:id="rId28"/>
    <p:sldLayoutId id="2147483653" r:id="rId29"/>
    <p:sldLayoutId id="2147483654" r:id="rId30"/>
    <p:sldLayoutId id="2147483660" r:id="rId31"/>
    <p:sldLayoutId id="2147483674" r:id="rId32"/>
    <p:sldLayoutId id="2147483662" r:id="rId33"/>
    <p:sldLayoutId id="2147483656" r:id="rId34"/>
    <p:sldLayoutId id="2147483663" r:id="rId35"/>
    <p:sldLayoutId id="2147483655" r:id="rId36"/>
    <p:sldLayoutId id="2147483673" r:id="rId37"/>
    <p:sldLayoutId id="2147483838" r:id="rId38"/>
  </p:sldLayoutIdLst>
  <p:hf hdr="0" ftr="0"/>
  <p:txStyles>
    <p:titleStyle>
      <a:lvl1pPr algn="r" defTabSz="914400" rtl="1" eaLnBrk="1" latinLnBrk="0" hangingPunct="1">
        <a:lnSpc>
          <a:spcPct val="90000"/>
        </a:lnSpc>
        <a:spcBef>
          <a:spcPct val="0"/>
        </a:spcBef>
        <a:buNone/>
        <a:defRPr sz="4400" b="1" kern="1200">
          <a:solidFill>
            <a:srgbClr val="2D1C6E"/>
          </a:solidFill>
          <a:latin typeface="☞DIODRUM ARABIC MEDIUM" pitchFamily="2" charset="-78"/>
          <a:ea typeface="+mj-ea"/>
          <a:cs typeface="☞DIODRUM ARABIC MEDIUM" pitchFamily="2" charset="-78"/>
        </a:defRPr>
      </a:lvl1pPr>
    </p:titleStyle>
    <p:bodyStyle>
      <a:lvl1pPr marL="228600" indent="-228600" algn="r" defTabSz="914400" rtl="1" eaLnBrk="1" latinLnBrk="0" hangingPunct="1">
        <a:lnSpc>
          <a:spcPct val="90000"/>
        </a:lnSpc>
        <a:spcBef>
          <a:spcPts val="1000"/>
        </a:spcBef>
        <a:buFont typeface="Arial"/>
        <a:buChar char="•"/>
        <a:defRPr sz="2800" kern="1200">
          <a:solidFill>
            <a:srgbClr val="575756"/>
          </a:solidFill>
          <a:latin typeface="☞DIODRUM ARABIC MEDIUM" pitchFamily="2" charset="-78"/>
          <a:ea typeface="+mn-ea"/>
          <a:cs typeface="☞DIODRUM ARABIC MEDIUM" pitchFamily="2" charset="-78"/>
        </a:defRPr>
      </a:lvl1pPr>
      <a:lvl2pPr marL="685800" indent="-228600" algn="r" defTabSz="914400" rtl="1" eaLnBrk="1" latinLnBrk="0" hangingPunct="1">
        <a:lnSpc>
          <a:spcPct val="90000"/>
        </a:lnSpc>
        <a:spcBef>
          <a:spcPts val="500"/>
        </a:spcBef>
        <a:buFont typeface="Arial"/>
        <a:buChar char="•"/>
        <a:defRPr sz="2400" kern="1200">
          <a:solidFill>
            <a:srgbClr val="575756"/>
          </a:solidFill>
          <a:latin typeface="☞DIODRUM ARABIC MEDIUM" pitchFamily="2" charset="-78"/>
          <a:ea typeface="+mn-ea"/>
          <a:cs typeface="☞DIODRUM ARABIC MEDIUM" pitchFamily="2" charset="-78"/>
        </a:defRPr>
      </a:lvl2pPr>
      <a:lvl3pPr marL="1143000" indent="-228600" algn="r" defTabSz="914400" rtl="1" eaLnBrk="1" latinLnBrk="0" hangingPunct="1">
        <a:lnSpc>
          <a:spcPct val="90000"/>
        </a:lnSpc>
        <a:spcBef>
          <a:spcPts val="500"/>
        </a:spcBef>
        <a:buFont typeface="Arial"/>
        <a:buChar char="•"/>
        <a:defRPr sz="2000" kern="1200">
          <a:solidFill>
            <a:srgbClr val="575756"/>
          </a:solidFill>
          <a:latin typeface="☞DIODRUM ARABIC MEDIUM" pitchFamily="2" charset="-78"/>
          <a:ea typeface="+mn-ea"/>
          <a:cs typeface="☞DIODRUM ARABIC MEDIUM" pitchFamily="2" charset="-78"/>
        </a:defRPr>
      </a:lvl3pPr>
      <a:lvl4pPr marL="1600200" indent="-228600" algn="r" defTabSz="914400" rtl="1" eaLnBrk="1" latinLnBrk="0" hangingPunct="1">
        <a:lnSpc>
          <a:spcPct val="90000"/>
        </a:lnSpc>
        <a:spcBef>
          <a:spcPts val="500"/>
        </a:spcBef>
        <a:buFont typeface="Arial"/>
        <a:buChar char="•"/>
        <a:defRPr sz="1800" kern="1200">
          <a:solidFill>
            <a:srgbClr val="575756"/>
          </a:solidFill>
          <a:latin typeface="☞DIODRUM ARABIC MEDIUM" pitchFamily="2" charset="-78"/>
          <a:ea typeface="+mn-ea"/>
          <a:cs typeface="☞DIODRUM ARABIC MEDIUM" pitchFamily="2" charset="-78"/>
        </a:defRPr>
      </a:lvl4pPr>
      <a:lvl5pPr marL="2057400" indent="-228600" algn="r" defTabSz="914400" rtl="1" eaLnBrk="1" latinLnBrk="0" hangingPunct="1">
        <a:lnSpc>
          <a:spcPct val="90000"/>
        </a:lnSpc>
        <a:spcBef>
          <a:spcPts val="500"/>
        </a:spcBef>
        <a:buFont typeface="Arial"/>
        <a:buChar char="•"/>
        <a:defRPr sz="1800" kern="1200">
          <a:solidFill>
            <a:srgbClr val="575756"/>
          </a:solidFill>
          <a:latin typeface="☞DIODRUM ARABIC MEDIUM" pitchFamily="2" charset="-78"/>
          <a:ea typeface="+mn-ea"/>
          <a:cs typeface="☞DIODRUM ARABIC MEDIUM" pitchFamily="2" charset="-78"/>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CA1D76-4CE3-D246-8CF8-1D3B19889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A"/>
          </a:p>
        </p:txBody>
      </p:sp>
      <p:sp>
        <p:nvSpPr>
          <p:cNvPr id="3" name="Text Placeholder 2">
            <a:extLst>
              <a:ext uri="{FF2B5EF4-FFF2-40B4-BE49-F238E27FC236}">
                <a16:creationId xmlns:a16="http://schemas.microsoft.com/office/drawing/2014/main" id="{18F8D08F-847D-8E80-A4D0-C40292DB6E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4" name="Date Placeholder 3">
            <a:extLst>
              <a:ext uri="{FF2B5EF4-FFF2-40B4-BE49-F238E27FC236}">
                <a16:creationId xmlns:a16="http://schemas.microsoft.com/office/drawing/2014/main" id="{3C1C7369-BA91-2246-06C9-4CE8187EC8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762C07-E45F-2C42-8B1C-7F18F63F59A3}" type="datetimeFigureOut">
              <a:rPr lang="en-SA" smtClean="0"/>
              <a:t>23/05/2024 R</a:t>
            </a:fld>
            <a:endParaRPr lang="en-SA"/>
          </a:p>
        </p:txBody>
      </p:sp>
      <p:sp>
        <p:nvSpPr>
          <p:cNvPr id="5" name="Footer Placeholder 4">
            <a:extLst>
              <a:ext uri="{FF2B5EF4-FFF2-40B4-BE49-F238E27FC236}">
                <a16:creationId xmlns:a16="http://schemas.microsoft.com/office/drawing/2014/main" id="{99C366C9-CA10-60A3-D3BF-AEC91D3387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A"/>
          </a:p>
        </p:txBody>
      </p:sp>
      <p:sp>
        <p:nvSpPr>
          <p:cNvPr id="7" name="Slide Number Placeholder 10">
            <a:extLst>
              <a:ext uri="{FF2B5EF4-FFF2-40B4-BE49-F238E27FC236}">
                <a16:creationId xmlns:a16="http://schemas.microsoft.com/office/drawing/2014/main" id="{4629EE39-211E-E001-396C-D3B1522F36E0}"/>
              </a:ext>
            </a:extLst>
          </p:cNvPr>
          <p:cNvSpPr>
            <a:spLocks noGrp="1"/>
          </p:cNvSpPr>
          <p:nvPr>
            <p:ph type="sldNum" sz="quarter" idx="4"/>
          </p:nvPr>
        </p:nvSpPr>
        <p:spPr>
          <a:xfrm>
            <a:off x="11353800" y="6402477"/>
            <a:ext cx="489366" cy="365125"/>
          </a:xfrm>
          <a:prstGeom prst="rect">
            <a:avLst/>
          </a:prstGeom>
        </p:spPr>
        <p:txBody>
          <a:bodyPr vert="horz" lIns="91440" tIns="45720" rIns="91440" bIns="45720" rtlCol="0" anchor="ctr"/>
          <a:lstStyle>
            <a:lvl1pPr algn="r">
              <a:defRPr sz="1200">
                <a:solidFill>
                  <a:srgbClr val="00AEB1"/>
                </a:solidFill>
              </a:defRPr>
            </a:lvl1pPr>
          </a:lstStyle>
          <a:p>
            <a:fld id="{E783386A-6F2F-1D4B-9C0A-84490692B308}" type="slidenum">
              <a:rPr lang="en-SA" smtClean="0"/>
              <a:pPr/>
              <a:t>‹#›</a:t>
            </a:fld>
            <a:endParaRPr lang="en-SA"/>
          </a:p>
        </p:txBody>
      </p:sp>
    </p:spTree>
    <p:extLst>
      <p:ext uri="{BB962C8B-B14F-4D97-AF65-F5344CB8AC3E}">
        <p14:creationId xmlns:p14="http://schemas.microsoft.com/office/powerpoint/2010/main" val="3259852743"/>
      </p:ext>
    </p:extLst>
  </p:cSld>
  <p:clrMap bg1="dk1" tx1="lt1" bg2="dk2" tx2="lt2" accent1="accent1" accent2="accent2" accent3="accent3" accent4="accent4" accent5="accent5" accent6="accent6" hlink="hlink" folHlink="folHlink"/>
  <p:sldLayoutIdLst>
    <p:sldLayoutId id="2147483812" r:id="rId1"/>
    <p:sldLayoutId id="2147483827" r:id="rId2"/>
    <p:sldLayoutId id="2147483828" r:id="rId3"/>
    <p:sldLayoutId id="2147483819" r:id="rId4"/>
    <p:sldLayoutId id="2147483815" r:id="rId5"/>
    <p:sldLayoutId id="2147483816" r:id="rId6"/>
    <p:sldLayoutId id="2147483836" r:id="rId7"/>
    <p:sldLayoutId id="2147483823" r:id="rId8"/>
    <p:sldLayoutId id="2147483826" r:id="rId9"/>
    <p:sldLayoutId id="2147483837" r:id="rId10"/>
    <p:sldLayoutId id="2147483817" r:id="rId11"/>
    <p:sldLayoutId id="2147483821" r:id="rId12"/>
    <p:sldLayoutId id="2147483832" r:id="rId13"/>
    <p:sldLayoutId id="2147483822" r:id="rId14"/>
    <p:sldLayoutId id="214748381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4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image" Target="../media/image7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oecd.org/en/publications/building-an-ai-ready-public-workforce_b89244c7-en/full-report.html" TargetMode="External"/><Relationship Id="rId3" Type="http://schemas.openxmlformats.org/officeDocument/2006/relationships/hyperlink" Target="https://www.palantir.com/docs/foundry/architecture-center/overview" TargetMode="Externa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2395728"/>
            <a:ext cx="6876288" cy="1371600"/>
          </a:xfrm>
        </p:spPr>
        <p:txBody>
          <a:bodyPr lIns="0" tIns="0" rIns="0" bIns="0" anchor="t"/>
          <a:lstStyle/>
          <a:p>
            <a:pPr algn="r" rtl="1">
              <a:lnSpc>
                <a:spcPts val="5200"/>
              </a:lnSpc>
            </a:pPr>
            <a:r>
              <a:rPr lang="ar-SA" sz="4000" b="1" dirty="0" noProof="1">
                <a:solidFill>
                  <a:srgbClr val="FFFFFF"/>
                </a:solidFill>
                <a:latin typeface="☞DIODRUM ARABIC SEMIBOLD" pitchFamily="2" charset="-78"/>
                <a:cs typeface="☞DIODRUM ARABIC SEMIBOLD" pitchFamily="2" charset="-78"/>
              </a:rPr>
              <a:t>التدريب في الذكاء الاصطناعي</a:t>
            </a:r>
          </a:p>
        </p:txBody>
      </p:sp>
      <p:sp>
        <p:nvSpPr>
          <p:cNvPr id="3" name="اسم البرنامج"/>
          <p:cNvSpPr txBox="1"/>
          <p:nvPr/>
        </p:nvSpPr>
        <p:spPr>
          <a:xfrm>
            <a:off x="4480560" y="1901952"/>
            <a:ext cx="6876288" cy="402336"/>
          </a:xfrm>
          <a:prstGeom prst="rect">
            <a:avLst/>
          </a:prstGeom>
          <a:noFill/>
          <a:ln>
            <a:noFill/>
          </a:ln>
        </p:spPr>
        <p:txBody>
          <a:bodyPr wrap="square" lIns="0" tIns="0" rIns="0" bIns="0" rtlCol="0" anchor="b">
            <a:noAutofit/>
          </a:bodyPr>
          <a:lstStyle/>
          <a:p>
            <a:pPr marL="0" indent="0" algn="r"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برنامج قدراتك  |  هيئة الحكومة الرقمية</a:t>
            </a:r>
            <a:endParaRPr lang="ar-SA" sz="1800" dirty="0"/>
          </a:p>
        </p:txBody>
      </p:sp>
      <p:sp>
        <p:nvSpPr>
          <p:cNvPr id="4" name="العنوان الفرعي"/>
          <p:cNvSpPr txBox="1"/>
          <p:nvPr/>
        </p:nvSpPr>
        <p:spPr>
          <a:xfrm>
            <a:off x="4480560" y="3858768"/>
            <a:ext cx="6876288" cy="566928"/>
          </a:xfrm>
          <a:prstGeom prst="rect">
            <a:avLst/>
          </a:prstGeom>
          <a:noFill/>
          <a:ln>
            <a:noFill/>
          </a:ln>
        </p:spPr>
        <p:txBody>
          <a:bodyPr wrap="square" lIns="0" tIns="0" rIns="0" bIns="0" rtlCol="0" anchor="t">
            <a:noAutofit/>
          </a:bodyPr>
          <a:lstStyle/>
          <a:p>
            <a:pPr marL="0" indent="0" algn="r" rtl="1">
              <a:lnSpc>
                <a:spcPts val="3600"/>
              </a:lnSpc>
              <a:spcBef>
                <a:spcPts val="0"/>
              </a:spcBef>
              <a:spcAft>
                <a:spcPts val="0"/>
              </a:spcAft>
              <a:buNone/>
            </a:pPr>
            <a:r>
              <a:rPr lang="ar-SA" sz="2600" b="0" i="0" dirty="0" noProof="1">
                <a:solidFill>
                  <a:srgbClr val="FFFFFF"/>
                </a:solidFill>
                <a:latin typeface="☞DIODRUM ARABIC MEDIUM" pitchFamily="2" charset="-78"/>
                <a:cs typeface="☞DIODRUM ARABIC MEDIUM" pitchFamily="2" charset="-78"/>
              </a:rPr>
              <a:t>تحديث لمعالي المحافظ</a:t>
            </a:r>
            <a:endParaRPr lang="ar-SA" sz="2600" dirty="0"/>
          </a:p>
        </p:txBody>
      </p:sp>
      <p:sp>
        <p:nvSpPr>
          <p:cNvPr id="5" name="المُعِد والتاريخ"/>
          <p:cNvSpPr txBox="1"/>
          <p:nvPr/>
        </p:nvSpPr>
        <p:spPr>
          <a:xfrm>
            <a:off x="4480560" y="4553712"/>
            <a:ext cx="687628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D5D3E8"/>
                </a:solidFill>
                <a:latin typeface="☞DIODRUM ARABIC MEDIUM" pitchFamily="2" charset="-78"/>
                <a:cs typeface="☞DIODRUM ARABIC MEDIUM" pitchFamily="2" charset="-78"/>
              </a:rPr>
              <a:t>محمد العُمري   |   تحديث 5 أكتوبر 2026</a:t>
            </a:r>
            <a:endParaRPr lang="ar-SA" sz="1600" dirty="0"/>
          </a:p>
        </p:txBody>
      </p:sp>
      <p:sp>
        <p:nvSpPr>
          <p:cNvPr id="6"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هدف العرض ومحاوره</a:t>
            </a:r>
          </a:p>
        </p:txBody>
      </p:sp>
      <p:sp>
        <p:nvSpPr>
          <p:cNvPr id="3" name="Slide Number"/>
          <p:cNvSpPr>
            <a:spLocks noGrp="1"/>
          </p:cNvSpPr>
          <p:nvPr>
            <p:ph type="sldNum" sz="quarter" idx="11"/>
          </p:nvPr>
        </p:nvSpPr>
        <p:spPr/>
        <p:txBody>
          <a:bodyPr/>
          <a:lstStyle/>
          <a:p>
            <a:fld id="{E783386A-6F2F-1D4B-9C0A-84490692B308}" type="slidenum">
              <a:rPr lang="en-US"/>
              <a:t>‹#›</a:t>
            </a:fld>
            <a:endParaRPr lang="en-US" dirty="0"/>
          </a:p>
        </p:txBody>
      </p:sp>
      <p:sp>
        <p:nvSpPr>
          <p:cNvPr id="4" name="لوحة هدف العرض"/>
          <p:cNvSpPr/>
          <p:nvPr/>
        </p:nvSpPr>
        <p:spPr>
          <a:xfrm>
            <a:off x="6355080" y="1645920"/>
            <a:ext cx="5001768" cy="4315968"/>
          </a:xfrm>
          <a:prstGeom prst="roundRect">
            <a:avLst>
              <a:gd name="adj" fmla="val 3813"/>
            </a:avLst>
          </a:prstGeom>
          <a:solidFill>
            <a:srgbClr val="2A206A"/>
          </a:solidFill>
          <a:ln>
            <a:noFill/>
          </a:ln>
        </p:spPr>
        <p:txBody>
          <a:bodyPr wrap="square" lIns="91440" tIns="45720" rIns="91440" bIns="45720" rtlCol="0" anchor="t">
            <a:noAutofit/>
          </a:bodyPr>
          <a:lstStyle/>
          <a:p>
            <a:endParaRPr lang="ar-SA"/>
          </a:p>
        </p:txBody>
      </p:sp>
      <p:sp>
        <p:nvSpPr>
          <p:cNvPr id="5" name="وسم الهدف"/>
          <p:cNvSpPr txBox="1"/>
          <p:nvPr/>
        </p:nvSpPr>
        <p:spPr>
          <a:xfrm>
            <a:off x="6720840" y="1993392"/>
            <a:ext cx="427024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1CC182"/>
                </a:solidFill>
                <a:latin typeface="☞DIODRUM ARABIC SEMIBOLD" pitchFamily="2" charset="-78"/>
                <a:cs typeface="☞DIODRUM ARABIC SEMIBOLD" pitchFamily="2" charset="-78"/>
              </a:rPr>
              <a:t>هدف العرض</a:t>
            </a:r>
            <a:endParaRPr lang="ar-SA" sz="1600" dirty="0"/>
          </a:p>
        </p:txBody>
      </p:sp>
      <p:sp>
        <p:nvSpPr>
          <p:cNvPr id="6" name="نص الهدف"/>
          <p:cNvSpPr txBox="1"/>
          <p:nvPr/>
        </p:nvSpPr>
        <p:spPr>
          <a:xfrm>
            <a:off x="6720840" y="2468880"/>
            <a:ext cx="4270248" cy="2103120"/>
          </a:xfrm>
          <a:prstGeom prst="rect">
            <a:avLst/>
          </a:prstGeom>
          <a:noFill/>
          <a:ln>
            <a:noFill/>
          </a:ln>
        </p:spPr>
        <p:txBody>
          <a:bodyPr wrap="square" lIns="0" tIns="0" rIns="0" bIns="0" rtlCol="0" anchor="t">
            <a:noAutofit/>
          </a:bodyPr>
          <a:lstStyle/>
          <a:p>
            <a:pPr marL="0" indent="0" algn="r" rtl="1">
              <a:lnSpc>
                <a:spcPts val="3400"/>
              </a:lnSpc>
              <a:spcBef>
                <a:spcPts val="0"/>
              </a:spcBef>
              <a:spcAft>
                <a:spcPts val="0"/>
              </a:spcAft>
              <a:buNone/>
            </a:pPr>
            <a:r>
              <a:rPr lang="ar-SA" sz="2200" b="0" i="0" dirty="0" noProof="1">
                <a:solidFill>
                  <a:srgbClr val="FFFFFF"/>
                </a:solidFill>
                <a:latin typeface="☞DIODRUM ARABIC MEDIUM" pitchFamily="2" charset="-78"/>
                <a:cs typeface="☞DIODRUM ARABIC MEDIUM" pitchFamily="2" charset="-78"/>
              </a:rPr>
              <a:t>إحاطة معاليكم بما تم في العمل المشترك، وتوضيح التوجه المقترح لبناء قدرات حكومية تُترجم إلى تطبيق فعلي للذكاء الاصطناعي.</a:t>
            </a:r>
            <a:endParaRPr lang="ar-SA" sz="2200" dirty="0"/>
          </a:p>
        </p:txBody>
      </p:sp>
      <p:cxnSp>
        <p:nvCxnSpPr>
          <p:cNvPr id="7" name="فاصل"/>
          <p:cNvCxnSpPr/>
          <p:nvPr/>
        </p:nvCxnSpPr>
        <p:spPr>
          <a:xfrm>
            <a:off x="6720840" y="4617720"/>
            <a:ext cx="4270248" cy="0"/>
          </a:xfrm>
          <a:prstGeom prst="line">
            <a:avLst/>
          </a:prstGeom>
          <a:ln w="12700" cap="rnd">
            <a:solidFill>
              <a:srgbClr val="5B52A0"/>
            </a:solidFill>
          </a:ln>
        </p:spPr>
      </p:cxnSp>
      <p:sp>
        <p:nvSpPr>
          <p:cNvPr id="8" name="المطلوب"/>
          <p:cNvSpPr txBox="1"/>
          <p:nvPr/>
        </p:nvSpPr>
        <p:spPr>
          <a:xfrm>
            <a:off x="6720840" y="4773168"/>
            <a:ext cx="4270248" cy="1097280"/>
          </a:xfrm>
          <a:prstGeom prst="rect">
            <a:avLst/>
          </a:prstGeom>
          <a:noFill/>
          <a:ln>
            <a:noFill/>
          </a:ln>
        </p:spPr>
        <p:txBody>
          <a:bodyPr wrap="square" lIns="0" tIns="0" rIns="0" bIns="0" rtlCol="0" anchor="t">
            <a:noAutofit/>
          </a:bodyPr>
          <a:lstStyle/>
          <a:p>
            <a:pPr marL="0" indent="0" algn="r" rtl="1">
              <a:lnSpc>
                <a:spcPts val="2100"/>
              </a:lnSpc>
              <a:spcBef>
                <a:spcPts val="0"/>
              </a:spcBef>
              <a:spcAft>
                <a:spcPts val="0"/>
              </a:spcAft>
              <a:buNone/>
            </a:pPr>
            <a:r>
              <a:rPr lang="ar-SA" sz="1400" b="0" i="0" dirty="0" noProof="1">
                <a:solidFill>
                  <a:srgbClr val="1CC182"/>
                </a:solidFill>
                <a:latin typeface="☞DIODRUM ARABIC SEMIBOLD" pitchFamily="2" charset="-78"/>
                <a:cs typeface="☞DIODRUM ARABIC SEMIBOLD" pitchFamily="2" charset="-78"/>
              </a:rPr>
              <a:t>المطلوب من معاليكم</a:t>
            </a:r>
            <a:endParaRPr lang="ar-SA" sz="1400" dirty="0"/>
          </a:p>
          <a:p>
            <a:pPr marL="0" indent="0" algn="r" rtl="1">
              <a:lnSpc>
                <a:spcPts val="2600"/>
              </a:lnSpc>
              <a:spcBef>
                <a:spcPts val="0"/>
              </a:spcBef>
              <a:spcAft>
                <a:spcPts val="0"/>
              </a:spcAft>
              <a:buNone/>
            </a:pPr>
            <a:r>
              <a:rPr lang="ar-SA" sz="1700" b="0" i="0" dirty="0" noProof="1">
                <a:solidFill>
                  <a:srgbClr val="FFFFFF"/>
                </a:solidFill>
                <a:latin typeface="☞DIODRUM ARABIC MEDIUM" pitchFamily="2" charset="-78"/>
                <a:cs typeface="☞DIODRUM ARABIC MEDIUM" pitchFamily="2" charset="-78"/>
              </a:rPr>
              <a:t>أربعة توجيهات لاستكمال العمل المشترك — الشريحة 23</a:t>
            </a:r>
            <a:endParaRPr lang="ar-SA" sz="1700" dirty="0"/>
          </a:p>
        </p:txBody>
      </p:sp>
      <p:sp>
        <p:nvSpPr>
          <p:cNvPr id="9" name="عنوان المحاور"/>
          <p:cNvSpPr txBox="1"/>
          <p:nvPr/>
        </p:nvSpPr>
        <p:spPr>
          <a:xfrm>
            <a:off x="841248" y="1645920"/>
            <a:ext cx="5212080" cy="41148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200" b="1" i="0" dirty="0" noProof="1">
                <a:solidFill>
                  <a:srgbClr val="7C32C9"/>
                </a:solidFill>
                <a:latin typeface="☞DIODRUM ARABIC SEMIBOLD" pitchFamily="2" charset="-78"/>
                <a:cs typeface="☞DIODRUM ARABIC SEMIBOLD" pitchFamily="2" charset="-78"/>
              </a:rPr>
              <a:t>المحاور</a:t>
            </a:r>
            <a:endParaRPr lang="ar-SA" sz="2200" dirty="0"/>
          </a:p>
        </p:txBody>
      </p:sp>
      <p:sp>
        <p:nvSpPr>
          <p:cNvPr id="10" name="رقم"/>
          <p:cNvSpPr/>
          <p:nvPr/>
        </p:nvSpPr>
        <p:spPr>
          <a:xfrm>
            <a:off x="5577840" y="2249424"/>
            <a:ext cx="475488" cy="475488"/>
          </a:xfrm>
          <a:prstGeom prst="ellipse">
            <a:avLst/>
          </a:prstGeom>
          <a:solidFill>
            <a:srgbClr val="1CC182"/>
          </a:solidFill>
          <a:ln>
            <a:noFill/>
          </a:ln>
        </p:spPr>
        <p:txBody>
          <a:bodyPr wrap="square" lIns="0" tIns="0" rIns="0" bIns="0" rtlCol="0" anchor="ctr">
            <a:noAutofit/>
          </a:bodyPr>
          <a:lstStyle/>
          <a:p>
            <a:pPr marL="0" indent="0" algn="ctr" rtl="1">
              <a:lnSpc>
                <a:spcPts val="2160"/>
              </a:lnSpc>
              <a:spcBef>
                <a:spcPts val="0"/>
              </a:spcBef>
              <a:spcAft>
                <a:spcPts val="0"/>
              </a:spcAft>
              <a:buNone/>
            </a:pPr>
            <a:r>
              <a:rPr lang="ar-SA" sz="1800" b="1" i="0" dirty="0" noProof="1">
                <a:solidFill>
                  <a:srgbClr val="FFFFFF"/>
                </a:solidFill>
                <a:latin typeface="☞DIODRUM ARABIC SEMIBOLD" pitchFamily="2" charset="-78"/>
                <a:cs typeface="☞DIODRUM ARABIC SEMIBOLD" pitchFamily="2" charset="-78"/>
              </a:rPr>
              <a:t>1</a:t>
            </a:r>
            <a:endParaRPr lang="ar-SA" sz="1800" dirty="0"/>
          </a:p>
        </p:txBody>
      </p:sp>
      <p:sp>
        <p:nvSpPr>
          <p:cNvPr id="11" name="اسم المحور"/>
          <p:cNvSpPr txBox="1"/>
          <p:nvPr/>
        </p:nvSpPr>
        <p:spPr>
          <a:xfrm>
            <a:off x="1664208" y="2194560"/>
            <a:ext cx="3730752"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0" i="0" dirty="0" noProof="1">
                <a:solidFill>
                  <a:srgbClr val="2A206A"/>
                </a:solidFill>
                <a:latin typeface="☞DIODRUM ARABIC SEMIBOLD" pitchFamily="2" charset="-78"/>
                <a:cs typeface="☞DIODRUM ARABIC SEMIBOLD" pitchFamily="2" charset="-78"/>
              </a:rPr>
              <a:t>أين وصلنا؟</a:t>
            </a:r>
            <a:endParaRPr lang="ar-SA" sz="1800" dirty="0"/>
          </a:p>
        </p:txBody>
      </p:sp>
      <p:sp>
        <p:nvSpPr>
          <p:cNvPr id="12" name="وصف المحور"/>
          <p:cNvSpPr txBox="1"/>
          <p:nvPr/>
        </p:nvSpPr>
        <p:spPr>
          <a:xfrm>
            <a:off x="1664208" y="2542032"/>
            <a:ext cx="3730752" cy="310896"/>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الأدوار والاجتماعات وما أُنجز حتى الآن</a:t>
            </a:r>
            <a:endParaRPr lang="ar-SA" sz="1200" dirty="0"/>
          </a:p>
        </p:txBody>
      </p:sp>
      <p:cxnSp>
        <p:nvCxnSpPr>
          <p:cNvPr id="13" name="نقاط"/>
          <p:cNvCxnSpPr/>
          <p:nvPr/>
        </p:nvCxnSpPr>
        <p:spPr>
          <a:xfrm>
            <a:off x="1408176" y="2441448"/>
            <a:ext cx="2805836" cy="0"/>
          </a:xfrm>
          <a:prstGeom prst="line">
            <a:avLst/>
          </a:prstGeom>
          <a:ln w="15875" cap="rnd">
            <a:solidFill>
              <a:srgbClr val="B8B8C8"/>
            </a:solidFill>
            <a:prstDash val="sysDot"/>
          </a:ln>
        </p:spPr>
      </p:cxnSp>
      <p:sp>
        <p:nvSpPr>
          <p:cNvPr id="14" name="رقم الصفحة"/>
          <p:cNvSpPr txBox="1"/>
          <p:nvPr/>
        </p:nvSpPr>
        <p:spPr>
          <a:xfrm>
            <a:off x="841248" y="2194560"/>
            <a:ext cx="457200" cy="365760"/>
          </a:xfrm>
          <a:prstGeom prst="rect">
            <a:avLst/>
          </a:prstGeom>
          <a:noFill/>
          <a:ln>
            <a:noFill/>
          </a:ln>
        </p:spPr>
        <p:txBody>
          <a:bodyPr wrap="square" lIns="0" tIns="0" rIns="0" bIns="0" rtlCol="0" anchor="t">
            <a:noAutofit/>
          </a:bodyPr>
          <a:lstStyle/>
          <a:p>
            <a:pPr marL="0" indent="0" algn="l"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4</a:t>
            </a:r>
            <a:endParaRPr lang="ar-SA" sz="1800" dirty="0"/>
          </a:p>
        </p:txBody>
      </p:sp>
      <p:sp>
        <p:nvSpPr>
          <p:cNvPr id="15" name="رقم"/>
          <p:cNvSpPr/>
          <p:nvPr/>
        </p:nvSpPr>
        <p:spPr>
          <a:xfrm>
            <a:off x="5577840" y="3008376"/>
            <a:ext cx="475488" cy="475488"/>
          </a:xfrm>
          <a:prstGeom prst="ellipse">
            <a:avLst/>
          </a:prstGeom>
          <a:solidFill>
            <a:srgbClr val="1CC182"/>
          </a:solidFill>
          <a:ln>
            <a:noFill/>
          </a:ln>
        </p:spPr>
        <p:txBody>
          <a:bodyPr wrap="square" lIns="0" tIns="0" rIns="0" bIns="0" rtlCol="0" anchor="ctr">
            <a:noAutofit/>
          </a:bodyPr>
          <a:lstStyle/>
          <a:p>
            <a:pPr marL="0" indent="0" algn="ctr" rtl="1">
              <a:lnSpc>
                <a:spcPts val="2160"/>
              </a:lnSpc>
              <a:spcBef>
                <a:spcPts val="0"/>
              </a:spcBef>
              <a:spcAft>
                <a:spcPts val="0"/>
              </a:spcAft>
              <a:buNone/>
            </a:pPr>
            <a:r>
              <a:rPr lang="ar-SA" sz="1800" b="1" i="0" dirty="0" noProof="1">
                <a:solidFill>
                  <a:srgbClr val="FFFFFF"/>
                </a:solidFill>
                <a:latin typeface="☞DIODRUM ARABIC SEMIBOLD" pitchFamily="2" charset="-78"/>
                <a:cs typeface="☞DIODRUM ARABIC SEMIBOLD" pitchFamily="2" charset="-78"/>
              </a:rPr>
              <a:t>2</a:t>
            </a:r>
            <a:endParaRPr lang="ar-SA" sz="1800" dirty="0"/>
          </a:p>
        </p:txBody>
      </p:sp>
      <p:sp>
        <p:nvSpPr>
          <p:cNvPr id="16" name="اسم المحور"/>
          <p:cNvSpPr txBox="1"/>
          <p:nvPr/>
        </p:nvSpPr>
        <p:spPr>
          <a:xfrm>
            <a:off x="1664208" y="2953512"/>
            <a:ext cx="3730752"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0" i="0" dirty="0" noProof="1">
                <a:solidFill>
                  <a:srgbClr val="2A206A"/>
                </a:solidFill>
                <a:latin typeface="☞DIODRUM ARABIC SEMIBOLD" pitchFamily="2" charset="-78"/>
                <a:cs typeface="☞DIODRUM ARABIC SEMIBOLD" pitchFamily="2" charset="-78"/>
              </a:rPr>
              <a:t>النموذج المقترح</a:t>
            </a:r>
            <a:endParaRPr lang="ar-SA" sz="1800" dirty="0"/>
          </a:p>
        </p:txBody>
      </p:sp>
      <p:sp>
        <p:nvSpPr>
          <p:cNvPr id="17" name="وصف المحور"/>
          <p:cNvSpPr txBox="1"/>
          <p:nvPr/>
        </p:nvSpPr>
        <p:spPr>
          <a:xfrm>
            <a:off x="1664208" y="3300984"/>
            <a:ext cx="3730752" cy="310896"/>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خيارات التصميم والإطار والمسارات والمستهدف والبيانات</a:t>
            </a:r>
            <a:endParaRPr lang="ar-SA" sz="1200" dirty="0"/>
          </a:p>
        </p:txBody>
      </p:sp>
      <p:cxnSp>
        <p:nvCxnSpPr>
          <p:cNvPr id="18" name="نقاط"/>
          <p:cNvCxnSpPr/>
          <p:nvPr/>
        </p:nvCxnSpPr>
        <p:spPr>
          <a:xfrm>
            <a:off x="1408176" y="3200400"/>
            <a:ext cx="2289658" cy="0"/>
          </a:xfrm>
          <a:prstGeom prst="line">
            <a:avLst/>
          </a:prstGeom>
          <a:ln w="15875" cap="rnd">
            <a:solidFill>
              <a:srgbClr val="B8B8C8"/>
            </a:solidFill>
            <a:prstDash val="sysDot"/>
          </a:ln>
        </p:spPr>
      </p:cxnSp>
      <p:sp>
        <p:nvSpPr>
          <p:cNvPr id="19" name="رقم الصفحة"/>
          <p:cNvSpPr txBox="1"/>
          <p:nvPr/>
        </p:nvSpPr>
        <p:spPr>
          <a:xfrm>
            <a:off x="841248" y="2953512"/>
            <a:ext cx="457200" cy="365760"/>
          </a:xfrm>
          <a:prstGeom prst="rect">
            <a:avLst/>
          </a:prstGeom>
          <a:noFill/>
          <a:ln>
            <a:noFill/>
          </a:ln>
        </p:spPr>
        <p:txBody>
          <a:bodyPr wrap="square" lIns="0" tIns="0" rIns="0" bIns="0" rtlCol="0" anchor="t">
            <a:noAutofit/>
          </a:bodyPr>
          <a:lstStyle/>
          <a:p>
            <a:pPr marL="0" indent="0" algn="l"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8</a:t>
            </a:r>
            <a:endParaRPr lang="ar-SA" sz="1800" dirty="0"/>
          </a:p>
        </p:txBody>
      </p:sp>
      <p:sp>
        <p:nvSpPr>
          <p:cNvPr id="20" name="رقم"/>
          <p:cNvSpPr/>
          <p:nvPr/>
        </p:nvSpPr>
        <p:spPr>
          <a:xfrm>
            <a:off x="5577840" y="3767328"/>
            <a:ext cx="475488" cy="475488"/>
          </a:xfrm>
          <a:prstGeom prst="ellipse">
            <a:avLst/>
          </a:prstGeom>
          <a:solidFill>
            <a:srgbClr val="1CC182"/>
          </a:solidFill>
          <a:ln>
            <a:noFill/>
          </a:ln>
        </p:spPr>
        <p:txBody>
          <a:bodyPr wrap="square" lIns="0" tIns="0" rIns="0" bIns="0" rtlCol="0" anchor="ctr">
            <a:noAutofit/>
          </a:bodyPr>
          <a:lstStyle/>
          <a:p>
            <a:pPr marL="0" indent="0" algn="ctr" rtl="1">
              <a:lnSpc>
                <a:spcPts val="2160"/>
              </a:lnSpc>
              <a:spcBef>
                <a:spcPts val="0"/>
              </a:spcBef>
              <a:spcAft>
                <a:spcPts val="0"/>
              </a:spcAft>
              <a:buNone/>
            </a:pPr>
            <a:r>
              <a:rPr lang="ar-SA" sz="1800" b="1" i="0" dirty="0" noProof="1">
                <a:solidFill>
                  <a:srgbClr val="FFFFFF"/>
                </a:solidFill>
                <a:latin typeface="☞DIODRUM ARABIC SEMIBOLD" pitchFamily="2" charset="-78"/>
                <a:cs typeface="☞DIODRUM ARABIC SEMIBOLD" pitchFamily="2" charset="-78"/>
              </a:rPr>
              <a:t>3</a:t>
            </a:r>
            <a:endParaRPr lang="ar-SA" sz="1800" dirty="0"/>
          </a:p>
        </p:txBody>
      </p:sp>
      <p:sp>
        <p:nvSpPr>
          <p:cNvPr id="21" name="اسم المحور"/>
          <p:cNvSpPr txBox="1"/>
          <p:nvPr/>
        </p:nvSpPr>
        <p:spPr>
          <a:xfrm>
            <a:off x="1664208" y="3712464"/>
            <a:ext cx="3730752"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0" i="0" dirty="0" noProof="1">
                <a:solidFill>
                  <a:srgbClr val="2A206A"/>
                </a:solidFill>
                <a:latin typeface="☞DIODRUM ARABIC SEMIBOLD" pitchFamily="2" charset="-78"/>
                <a:cs typeface="☞DIODRUM ARABIC SEMIBOLD" pitchFamily="2" charset="-78"/>
              </a:rPr>
              <a:t>تصميم المسارات والشراكات والتمويل</a:t>
            </a:r>
            <a:endParaRPr lang="ar-SA" sz="1800" dirty="0"/>
          </a:p>
        </p:txBody>
      </p:sp>
      <p:sp>
        <p:nvSpPr>
          <p:cNvPr id="22" name="وصف المحور"/>
          <p:cNvSpPr txBox="1"/>
          <p:nvPr/>
        </p:nvSpPr>
        <p:spPr>
          <a:xfrm>
            <a:off x="1664208" y="4059936"/>
            <a:ext cx="3730752" cy="310896"/>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القيادات والمحترفون والوعي، وعروض الشركاء، والتمويل</a:t>
            </a:r>
            <a:endParaRPr lang="ar-SA" sz="1200" dirty="0"/>
          </a:p>
        </p:txBody>
      </p:sp>
      <p:sp>
        <p:nvSpPr>
          <p:cNvPr id="23" name="رقم الصفحة"/>
          <p:cNvSpPr txBox="1"/>
          <p:nvPr/>
        </p:nvSpPr>
        <p:spPr>
          <a:xfrm>
            <a:off x="841248" y="3712464"/>
            <a:ext cx="457200" cy="365760"/>
          </a:xfrm>
          <a:prstGeom prst="rect">
            <a:avLst/>
          </a:prstGeom>
          <a:noFill/>
          <a:ln>
            <a:noFill/>
          </a:ln>
        </p:spPr>
        <p:txBody>
          <a:bodyPr wrap="square" lIns="0" tIns="0" rIns="0" bIns="0" rtlCol="0" anchor="t">
            <a:noAutofit/>
          </a:bodyPr>
          <a:lstStyle/>
          <a:p>
            <a:pPr marL="0" indent="0" algn="l"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14</a:t>
            </a:r>
            <a:endParaRPr lang="ar-SA" sz="1800" dirty="0"/>
          </a:p>
        </p:txBody>
      </p:sp>
      <p:sp>
        <p:nvSpPr>
          <p:cNvPr id="24" name="رقم"/>
          <p:cNvSpPr/>
          <p:nvPr/>
        </p:nvSpPr>
        <p:spPr>
          <a:xfrm>
            <a:off x="5577840" y="4526280"/>
            <a:ext cx="475488" cy="475488"/>
          </a:xfrm>
          <a:prstGeom prst="ellipse">
            <a:avLst/>
          </a:prstGeom>
          <a:solidFill>
            <a:srgbClr val="1CC182"/>
          </a:solidFill>
          <a:ln>
            <a:noFill/>
          </a:ln>
        </p:spPr>
        <p:txBody>
          <a:bodyPr wrap="square" lIns="0" tIns="0" rIns="0" bIns="0" rtlCol="0" anchor="ctr">
            <a:noAutofit/>
          </a:bodyPr>
          <a:lstStyle/>
          <a:p>
            <a:pPr marL="0" indent="0" algn="ctr" rtl="1">
              <a:lnSpc>
                <a:spcPts val="2160"/>
              </a:lnSpc>
              <a:spcBef>
                <a:spcPts val="0"/>
              </a:spcBef>
              <a:spcAft>
                <a:spcPts val="0"/>
              </a:spcAft>
              <a:buNone/>
            </a:pPr>
            <a:r>
              <a:rPr lang="ar-SA" sz="1800" b="1" i="0" dirty="0" noProof="1">
                <a:solidFill>
                  <a:srgbClr val="FFFFFF"/>
                </a:solidFill>
                <a:latin typeface="☞DIODRUM ARABIC SEMIBOLD" pitchFamily="2" charset="-78"/>
                <a:cs typeface="☞DIODRUM ARABIC SEMIBOLD" pitchFamily="2" charset="-78"/>
              </a:rPr>
              <a:t>4</a:t>
            </a:r>
            <a:endParaRPr lang="ar-SA" sz="1800" dirty="0"/>
          </a:p>
        </p:txBody>
      </p:sp>
      <p:sp>
        <p:nvSpPr>
          <p:cNvPr id="25" name="اسم المحور"/>
          <p:cNvSpPr txBox="1"/>
          <p:nvPr/>
        </p:nvSpPr>
        <p:spPr>
          <a:xfrm>
            <a:off x="1664208" y="4471416"/>
            <a:ext cx="3730752"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0" i="0" dirty="0" noProof="1">
                <a:solidFill>
                  <a:srgbClr val="2A206A"/>
                </a:solidFill>
                <a:latin typeface="☞DIODRUM ARABIC SEMIBOLD" pitchFamily="2" charset="-78"/>
                <a:cs typeface="☞DIODRUM ARABIC SEMIBOLD" pitchFamily="2" charset="-78"/>
              </a:rPr>
              <a:t>التنفيذ والقياس والتوجيهات</a:t>
            </a:r>
            <a:endParaRPr lang="ar-SA" sz="1800" dirty="0"/>
          </a:p>
        </p:txBody>
      </p:sp>
      <p:sp>
        <p:nvSpPr>
          <p:cNvPr id="26" name="وصف المحور"/>
          <p:cNvSpPr txBox="1"/>
          <p:nvPr/>
        </p:nvSpPr>
        <p:spPr>
          <a:xfrm>
            <a:off x="1664208" y="4818888"/>
            <a:ext cx="3730752" cy="310896"/>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خطة العمل، ومؤشرات القياس، والمطلوب من معاليكم</a:t>
            </a:r>
            <a:endParaRPr lang="ar-SA" sz="1200" dirty="0"/>
          </a:p>
        </p:txBody>
      </p:sp>
      <p:cxnSp>
        <p:nvCxnSpPr>
          <p:cNvPr id="27" name="نقاط"/>
          <p:cNvCxnSpPr/>
          <p:nvPr/>
        </p:nvCxnSpPr>
        <p:spPr>
          <a:xfrm>
            <a:off x="1408176" y="4718304"/>
            <a:ext cx="1154201" cy="0"/>
          </a:xfrm>
          <a:prstGeom prst="line">
            <a:avLst/>
          </a:prstGeom>
          <a:ln w="15875" cap="rnd">
            <a:solidFill>
              <a:srgbClr val="B8B8C8"/>
            </a:solidFill>
            <a:prstDash val="sysDot"/>
          </a:ln>
        </p:spPr>
      </p:cxnSp>
      <p:sp>
        <p:nvSpPr>
          <p:cNvPr id="28" name="رقم الصفحة"/>
          <p:cNvSpPr txBox="1"/>
          <p:nvPr/>
        </p:nvSpPr>
        <p:spPr>
          <a:xfrm>
            <a:off x="841248" y="4471416"/>
            <a:ext cx="457200" cy="365760"/>
          </a:xfrm>
          <a:prstGeom prst="rect">
            <a:avLst/>
          </a:prstGeom>
          <a:noFill/>
          <a:ln>
            <a:noFill/>
          </a:ln>
        </p:spPr>
        <p:txBody>
          <a:bodyPr wrap="square" lIns="0" tIns="0" rIns="0" bIns="0" rtlCol="0" anchor="t">
            <a:noAutofit/>
          </a:bodyPr>
          <a:lstStyle/>
          <a:p>
            <a:pPr marL="0" indent="0" algn="l"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20</a:t>
            </a:r>
            <a:endParaRPr lang="ar-SA" sz="1800" dirty="0"/>
          </a:p>
        </p:txBody>
      </p:sp>
      <p:sp>
        <p:nvSpPr>
          <p:cNvPr id="29" name="رقم"/>
          <p:cNvSpPr/>
          <p:nvPr/>
        </p:nvSpPr>
        <p:spPr>
          <a:xfrm>
            <a:off x="5577840" y="5285232"/>
            <a:ext cx="475488" cy="475488"/>
          </a:xfrm>
          <a:prstGeom prst="ellipse">
            <a:avLst/>
          </a:prstGeom>
          <a:solidFill>
            <a:srgbClr val="ECEAF4"/>
          </a:solidFill>
          <a:ln>
            <a:noFill/>
          </a:ln>
        </p:spPr>
        <p:txBody>
          <a:bodyPr wrap="square" lIns="91440" tIns="45720" rIns="91440" bIns="45720" rtlCol="0" anchor="t">
            <a:noAutofit/>
          </a:bodyPr>
          <a:lstStyle/>
          <a:p>
            <a:endParaRPr lang="ar-SA"/>
          </a:p>
        </p:txBody>
      </p:sp>
      <p:pic>
        <p:nvPicPr>
          <p:cNvPr id="30" name="أيقونة FolderOpen" descr=""/>
          <p:cNvPicPr>
            <a:picLocks noChangeAspect="1"/>
          </p:cNvPicPr>
          <p:nvPr/>
        </p:nvPicPr>
        <p:blipFill>
          <a:blip r:embed="rId2"/>
          <a:stretch>
            <a:fillRect/>
          </a:stretch>
        </p:blipFill>
        <p:spPr>
          <a:xfrm>
            <a:off x="5696712" y="5404104"/>
            <a:ext cx="237744" cy="237744"/>
          </a:xfrm>
          <a:prstGeom prst="rect">
            <a:avLst/>
          </a:prstGeom>
        </p:spPr>
      </p:pic>
      <p:sp>
        <p:nvSpPr>
          <p:cNvPr id="31" name="اسم المحور"/>
          <p:cNvSpPr txBox="1"/>
          <p:nvPr/>
        </p:nvSpPr>
        <p:spPr>
          <a:xfrm>
            <a:off x="1664208" y="5230368"/>
            <a:ext cx="3730752"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0" i="0" dirty="0" noProof="1">
                <a:solidFill>
                  <a:srgbClr val="2A206A"/>
                </a:solidFill>
                <a:latin typeface="☞DIODRUM ARABIC SEMIBOLD" pitchFamily="2" charset="-78"/>
                <a:cs typeface="☞DIODRUM ARABIC SEMIBOLD" pitchFamily="2" charset="-78"/>
              </a:rPr>
              <a:t>الملاحق</a:t>
            </a:r>
            <a:endParaRPr lang="ar-SA" sz="1800" dirty="0"/>
          </a:p>
        </p:txBody>
      </p:sp>
      <p:sp>
        <p:nvSpPr>
          <p:cNvPr id="32" name="وصف المحور"/>
          <p:cNvSpPr txBox="1"/>
          <p:nvPr/>
        </p:nvSpPr>
        <p:spPr>
          <a:xfrm>
            <a:off x="1664208" y="5577840"/>
            <a:ext cx="3730752" cy="310896"/>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بيانات داعمة، وضبط الأرقام، وإجابات مختصرة، والمراجع</a:t>
            </a:r>
            <a:endParaRPr lang="ar-SA" sz="1200" dirty="0"/>
          </a:p>
        </p:txBody>
      </p:sp>
      <p:cxnSp>
        <p:nvCxnSpPr>
          <p:cNvPr id="33" name="نقاط"/>
          <p:cNvCxnSpPr/>
          <p:nvPr/>
        </p:nvCxnSpPr>
        <p:spPr>
          <a:xfrm>
            <a:off x="1408176" y="5477256"/>
            <a:ext cx="3094558" cy="0"/>
          </a:xfrm>
          <a:prstGeom prst="line">
            <a:avLst/>
          </a:prstGeom>
          <a:ln w="15875" cap="rnd">
            <a:solidFill>
              <a:srgbClr val="B8B8C8"/>
            </a:solidFill>
            <a:prstDash val="sysDot"/>
          </a:ln>
        </p:spPr>
      </p:cxnSp>
      <p:sp>
        <p:nvSpPr>
          <p:cNvPr id="34" name="رقم الصفحة"/>
          <p:cNvSpPr txBox="1"/>
          <p:nvPr/>
        </p:nvSpPr>
        <p:spPr>
          <a:xfrm>
            <a:off x="841248" y="5230368"/>
            <a:ext cx="457200" cy="365760"/>
          </a:xfrm>
          <a:prstGeom prst="rect">
            <a:avLst/>
          </a:prstGeom>
          <a:noFill/>
          <a:ln>
            <a:noFill/>
          </a:ln>
        </p:spPr>
        <p:txBody>
          <a:bodyPr wrap="square" lIns="0" tIns="0" rIns="0" bIns="0" rtlCol="0" anchor="t">
            <a:noAutofit/>
          </a:bodyPr>
          <a:lstStyle/>
          <a:p>
            <a:pPr marL="0" indent="0" algn="l" rtl="1">
              <a:lnSpc>
                <a:spcPts val="26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24</a:t>
            </a:r>
            <a:endParaRPr lang="ar-SA" sz="18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لدينا تقدم في التدريب، والمرحلة التالية</a:t>
            </a:r>
            <a:br>
              <a:rPr lang="ar-SA" dirty="0"/>
            </a:br>
            <a:r>
              <a:rPr lang="ar-SA" dirty="0" noProof="1"/>
              <a:t>تحتاج إلى نموذج يربطه باحتياج الجهات</a:t>
            </a:r>
          </a:p>
        </p:txBody>
      </p:sp>
      <p:sp>
        <p:nvSpPr>
          <p:cNvPr id="3" name="Text Placeholder 2"/>
          <p:cNvSpPr>
            <a:spLocks noGrp="1"/>
          </p:cNvSpPr>
          <p:nvPr>
            <p:ph type="body" idx="13" sz="quarter"/>
          </p:nvPr>
        </p:nvSpPr>
        <p:spPr/>
        <p:txBody>
          <a:bodyPr/>
          <a:lstStyle/>
          <a:p>
            <a:r>
              <a:rPr lang="ar-SA" dirty="0" noProof="1"/>
              <a:t>الرسالة التنفيذية: نبني على الجهود القائمة، ونحدد كيف تخدم هدف التبني ورفع الإنتاجية.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بطاقة ما تم"/>
          <p:cNvSpPr/>
          <p:nvPr/>
        </p:nvSpPr>
        <p:spPr>
          <a:xfrm>
            <a:off x="8869680" y="2011680"/>
            <a:ext cx="2487168" cy="3063240"/>
          </a:xfrm>
          <a:prstGeom prst="roundRect">
            <a:avLst>
              <a:gd name="adj" fmla="val 5147"/>
            </a:avLst>
          </a:prstGeom>
          <a:solidFill>
            <a:srgbClr val="F5F5F5"/>
          </a:solidFill>
          <a:ln>
            <a:noFill/>
          </a:ln>
        </p:spPr>
        <p:txBody>
          <a:bodyPr wrap="square" lIns="91440" tIns="45720" rIns="91440" bIns="45720" rtlCol="0" anchor="t">
            <a:noAutofit/>
          </a:bodyPr>
          <a:lstStyle/>
          <a:p>
            <a:endParaRPr lang="ar-SA"/>
          </a:p>
        </p:txBody>
      </p:sp>
      <p:sp>
        <p:nvSpPr>
          <p:cNvPr id="6" name="دائرة أيقونة"/>
          <p:cNvSpPr/>
          <p:nvPr/>
        </p:nvSpPr>
        <p:spPr>
          <a:xfrm>
            <a:off x="10607040" y="2212848"/>
            <a:ext cx="566928" cy="566928"/>
          </a:xfrm>
          <a:prstGeom prst="ellipse">
            <a:avLst/>
          </a:prstGeom>
          <a:solidFill>
            <a:srgbClr val="E5F6F6"/>
          </a:solidFill>
          <a:ln>
            <a:noFill/>
          </a:ln>
        </p:spPr>
      </p:sp>
      <p:pic>
        <p:nvPicPr>
          <p:cNvPr id="7" name="أيقونة CheckCircle" descr=""/>
          <p:cNvPicPr>
            <a:picLocks noChangeAspect="1"/>
          </p:cNvPicPr>
          <p:nvPr/>
        </p:nvPicPr>
        <p:blipFill>
          <a:blip r:embed="rId2"/>
          <a:stretch>
            <a:fillRect/>
          </a:stretch>
        </p:blipFill>
        <p:spPr>
          <a:xfrm>
            <a:off x="10737433" y="2343241"/>
            <a:ext cx="306141" cy="306141"/>
          </a:xfrm>
          <a:prstGeom prst="rect">
            <a:avLst/>
          </a:prstGeom>
        </p:spPr>
      </p:pic>
      <p:sp>
        <p:nvSpPr>
          <p:cNvPr id="8" name="عنوان ما تم"/>
          <p:cNvSpPr txBox="1"/>
          <p:nvPr/>
        </p:nvSpPr>
        <p:spPr>
          <a:xfrm>
            <a:off x="9052560" y="2907792"/>
            <a:ext cx="2121408"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1" i="0" dirty="0" noProof="1">
                <a:solidFill>
                  <a:srgbClr val="7C32C9"/>
                </a:solidFill>
                <a:latin typeface="☞DIODRUM ARABIC SEMIBOLD" pitchFamily="2" charset="-78"/>
                <a:cs typeface="☞DIODRUM ARABIC SEMIBOLD" pitchFamily="2" charset="-78"/>
              </a:rPr>
              <a:t>ما تم</a:t>
            </a:r>
            <a:endParaRPr lang="ar-SA" sz="1800" dirty="0"/>
          </a:p>
        </p:txBody>
      </p:sp>
      <p:sp>
        <p:nvSpPr>
          <p:cNvPr id="9" name="نص ما تم"/>
          <p:cNvSpPr txBox="1"/>
          <p:nvPr/>
        </p:nvSpPr>
        <p:spPr>
          <a:xfrm>
            <a:off x="9052560" y="3337560"/>
            <a:ext cx="2121408" cy="1664208"/>
          </a:xfrm>
          <a:prstGeom prst="rect">
            <a:avLst/>
          </a:prstGeom>
          <a:noFill/>
          <a:ln>
            <a:noFill/>
          </a:ln>
        </p:spPr>
        <p:txBody>
          <a:bodyPr wrap="square" lIns="0" tIns="0" rIns="0" bIns="0" rtlCol="0" anchor="t">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خمسة اجتماعات تنسيقية بحسب المسودة، ومشاركة بيانات قدراتك، وإعداد دراسة للقيادات، ومتابعة البرامج والشركاء.</a:t>
            </a:r>
            <a:endParaRPr lang="ar-SA" sz="1400" dirty="0"/>
          </a:p>
        </p:txBody>
      </p:sp>
      <p:sp>
        <p:nvSpPr>
          <p:cNvPr id="10" name="بطاقة ما اتضح"/>
          <p:cNvSpPr/>
          <p:nvPr/>
        </p:nvSpPr>
        <p:spPr>
          <a:xfrm>
            <a:off x="6199632" y="2011680"/>
            <a:ext cx="2487168" cy="3063240"/>
          </a:xfrm>
          <a:prstGeom prst="roundRect">
            <a:avLst>
              <a:gd name="adj" fmla="val 5147"/>
            </a:avLst>
          </a:prstGeom>
          <a:solidFill>
            <a:srgbClr val="F5F5F5"/>
          </a:solidFill>
          <a:ln>
            <a:noFill/>
          </a:ln>
        </p:spPr>
        <p:txBody>
          <a:bodyPr wrap="square" lIns="91440" tIns="45720" rIns="91440" bIns="45720" rtlCol="0" anchor="t">
            <a:noAutofit/>
          </a:bodyPr>
          <a:lstStyle/>
          <a:p>
            <a:endParaRPr lang="ar-SA"/>
          </a:p>
        </p:txBody>
      </p:sp>
      <p:sp>
        <p:nvSpPr>
          <p:cNvPr id="11" name="دائرة أيقونة"/>
          <p:cNvSpPr/>
          <p:nvPr/>
        </p:nvSpPr>
        <p:spPr>
          <a:xfrm>
            <a:off x="7936992" y="2212848"/>
            <a:ext cx="566928" cy="566928"/>
          </a:xfrm>
          <a:prstGeom prst="ellipse">
            <a:avLst/>
          </a:prstGeom>
          <a:solidFill>
            <a:srgbClr val="E5F6F6"/>
          </a:solidFill>
          <a:ln>
            <a:noFill/>
          </a:ln>
        </p:spPr>
      </p:sp>
      <p:pic>
        <p:nvPicPr>
          <p:cNvPr id="12" name="أيقونة MagnifyingGlass" descr=""/>
          <p:cNvPicPr>
            <a:picLocks noChangeAspect="1"/>
          </p:cNvPicPr>
          <p:nvPr/>
        </p:nvPicPr>
        <p:blipFill>
          <a:blip r:embed="rId3"/>
          <a:stretch>
            <a:fillRect/>
          </a:stretch>
        </p:blipFill>
        <p:spPr>
          <a:xfrm>
            <a:off x="8067385" y="2343241"/>
            <a:ext cx="306141" cy="306141"/>
          </a:xfrm>
          <a:prstGeom prst="rect">
            <a:avLst/>
          </a:prstGeom>
        </p:spPr>
      </p:pic>
      <p:sp>
        <p:nvSpPr>
          <p:cNvPr id="13" name="عنوان ما اتضح"/>
          <p:cNvSpPr txBox="1"/>
          <p:nvPr/>
        </p:nvSpPr>
        <p:spPr>
          <a:xfrm>
            <a:off x="6382512" y="2907792"/>
            <a:ext cx="2121408"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1" i="0" dirty="0" noProof="1">
                <a:solidFill>
                  <a:srgbClr val="7C32C9"/>
                </a:solidFill>
                <a:latin typeface="☞DIODRUM ARABIC SEMIBOLD" pitchFamily="2" charset="-78"/>
                <a:cs typeface="☞DIODRUM ARABIC SEMIBOLD" pitchFamily="2" charset="-78"/>
              </a:rPr>
              <a:t>ما اتضح</a:t>
            </a:r>
            <a:endParaRPr lang="ar-SA" sz="1800" dirty="0"/>
          </a:p>
        </p:txBody>
      </p:sp>
      <p:sp>
        <p:nvSpPr>
          <p:cNvPr id="14" name="نص ما اتضح"/>
          <p:cNvSpPr txBox="1"/>
          <p:nvPr/>
        </p:nvSpPr>
        <p:spPr>
          <a:xfrm>
            <a:off x="6382512" y="3337560"/>
            <a:ext cx="2121408" cy="1664208"/>
          </a:xfrm>
          <a:prstGeom prst="rect">
            <a:avLst/>
          </a:prstGeom>
          <a:noFill/>
          <a:ln>
            <a:noFill/>
          </a:ln>
        </p:spPr>
        <p:txBody>
          <a:bodyPr wrap="square" lIns="0" tIns="0" rIns="0" bIns="0" rtlCol="0" anchor="t">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اعتماد حجم التدريب وتصميمه يتطلب الاتفاق على النطاق، والفئات المستهدفة، ومصادر البيانات، وآلية التنفيذ والتمويل.</a:t>
            </a:r>
            <a:endParaRPr lang="ar-SA" sz="1400" dirty="0"/>
          </a:p>
        </p:txBody>
      </p:sp>
      <p:sp>
        <p:nvSpPr>
          <p:cNvPr id="15" name="بطاقة ما نقترحه"/>
          <p:cNvSpPr/>
          <p:nvPr/>
        </p:nvSpPr>
        <p:spPr>
          <a:xfrm>
            <a:off x="3529584" y="2011680"/>
            <a:ext cx="2487168" cy="3063240"/>
          </a:xfrm>
          <a:prstGeom prst="roundRect">
            <a:avLst>
              <a:gd name="adj" fmla="val 5147"/>
            </a:avLst>
          </a:prstGeom>
          <a:solidFill>
            <a:srgbClr val="F5F5F5"/>
          </a:solidFill>
          <a:ln>
            <a:noFill/>
          </a:ln>
        </p:spPr>
        <p:txBody>
          <a:bodyPr wrap="square" lIns="91440" tIns="45720" rIns="91440" bIns="45720" rtlCol="0" anchor="t">
            <a:noAutofit/>
          </a:bodyPr>
          <a:lstStyle/>
          <a:p>
            <a:endParaRPr lang="ar-SA"/>
          </a:p>
        </p:txBody>
      </p:sp>
      <p:sp>
        <p:nvSpPr>
          <p:cNvPr id="16" name="دائرة أيقونة"/>
          <p:cNvSpPr/>
          <p:nvPr/>
        </p:nvSpPr>
        <p:spPr>
          <a:xfrm>
            <a:off x="5266944" y="2212848"/>
            <a:ext cx="566928" cy="566928"/>
          </a:xfrm>
          <a:prstGeom prst="ellipse">
            <a:avLst/>
          </a:prstGeom>
          <a:solidFill>
            <a:srgbClr val="E5F6F6"/>
          </a:solidFill>
          <a:ln>
            <a:noFill/>
          </a:ln>
        </p:spPr>
      </p:sp>
      <p:pic>
        <p:nvPicPr>
          <p:cNvPr id="17" name="أيقونة Lightbulb" descr=""/>
          <p:cNvPicPr>
            <a:picLocks noChangeAspect="1"/>
          </p:cNvPicPr>
          <p:nvPr/>
        </p:nvPicPr>
        <p:blipFill>
          <a:blip r:embed="rId4"/>
          <a:stretch>
            <a:fillRect/>
          </a:stretch>
        </p:blipFill>
        <p:spPr>
          <a:xfrm>
            <a:off x="5397337" y="2343241"/>
            <a:ext cx="306141" cy="306141"/>
          </a:xfrm>
          <a:prstGeom prst="rect">
            <a:avLst/>
          </a:prstGeom>
        </p:spPr>
      </p:pic>
      <p:sp>
        <p:nvSpPr>
          <p:cNvPr id="18" name="عنوان ما نقترحه"/>
          <p:cNvSpPr txBox="1"/>
          <p:nvPr/>
        </p:nvSpPr>
        <p:spPr>
          <a:xfrm>
            <a:off x="3712464" y="2907792"/>
            <a:ext cx="2121408"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1" i="0" dirty="0" noProof="1">
                <a:solidFill>
                  <a:srgbClr val="7C32C9"/>
                </a:solidFill>
                <a:latin typeface="☞DIODRUM ARABIC SEMIBOLD" pitchFamily="2" charset="-78"/>
                <a:cs typeface="☞DIODRUM ARABIC SEMIBOLD" pitchFamily="2" charset="-78"/>
              </a:rPr>
              <a:t>ما نقترحه</a:t>
            </a:r>
            <a:endParaRPr lang="ar-SA" sz="1800" dirty="0"/>
          </a:p>
        </p:txBody>
      </p:sp>
      <p:sp>
        <p:nvSpPr>
          <p:cNvPr id="19" name="نص ما نقترحه"/>
          <p:cNvSpPr txBox="1"/>
          <p:nvPr/>
        </p:nvSpPr>
        <p:spPr>
          <a:xfrm>
            <a:off x="3712464" y="3337560"/>
            <a:ext cx="2121408" cy="1664208"/>
          </a:xfrm>
          <a:prstGeom prst="rect">
            <a:avLst/>
          </a:prstGeom>
          <a:noFill/>
          <a:ln>
            <a:noFill/>
          </a:ln>
        </p:spPr>
        <p:txBody>
          <a:bodyPr wrap="square" lIns="0" tIns="0" rIns="0" bIns="0" rtlCol="0" anchor="t">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ثلاثة مسارات مترابطة — قيادات، ومحترفون، ووعي وتبنٍّ — تُصمم بحسب دور الموظف وأولوية الجهة.</a:t>
            </a:r>
            <a:endParaRPr lang="ar-SA" sz="1400" dirty="0"/>
          </a:p>
        </p:txBody>
      </p:sp>
      <p:sp>
        <p:nvSpPr>
          <p:cNvPr id="20" name="بطاقة طريقة البدء"/>
          <p:cNvSpPr/>
          <p:nvPr/>
        </p:nvSpPr>
        <p:spPr>
          <a:xfrm>
            <a:off x="859536" y="2011680"/>
            <a:ext cx="2487168" cy="3063240"/>
          </a:xfrm>
          <a:prstGeom prst="roundRect">
            <a:avLst>
              <a:gd name="adj" fmla="val 5147"/>
            </a:avLst>
          </a:prstGeom>
          <a:solidFill>
            <a:srgbClr val="F5F5F5"/>
          </a:solidFill>
          <a:ln>
            <a:noFill/>
          </a:ln>
        </p:spPr>
        <p:txBody>
          <a:bodyPr wrap="square" lIns="91440" tIns="45720" rIns="91440" bIns="45720" rtlCol="0" anchor="t">
            <a:noAutofit/>
          </a:bodyPr>
          <a:lstStyle/>
          <a:p>
            <a:endParaRPr lang="ar-SA"/>
          </a:p>
        </p:txBody>
      </p:sp>
      <p:sp>
        <p:nvSpPr>
          <p:cNvPr id="21" name="دائرة أيقونة"/>
          <p:cNvSpPr/>
          <p:nvPr/>
        </p:nvSpPr>
        <p:spPr>
          <a:xfrm>
            <a:off x="2596896" y="2212848"/>
            <a:ext cx="566928" cy="566928"/>
          </a:xfrm>
          <a:prstGeom prst="ellipse">
            <a:avLst/>
          </a:prstGeom>
          <a:solidFill>
            <a:srgbClr val="E5F6F6"/>
          </a:solidFill>
          <a:ln>
            <a:noFill/>
          </a:ln>
        </p:spPr>
      </p:sp>
      <p:pic>
        <p:nvPicPr>
          <p:cNvPr id="22" name="أيقونة RocketLaunch" descr=""/>
          <p:cNvPicPr>
            <a:picLocks noChangeAspect="1"/>
          </p:cNvPicPr>
          <p:nvPr/>
        </p:nvPicPr>
        <p:blipFill>
          <a:blip r:embed="rId5"/>
          <a:stretch>
            <a:fillRect/>
          </a:stretch>
        </p:blipFill>
        <p:spPr>
          <a:xfrm>
            <a:off x="2727289" y="2343241"/>
            <a:ext cx="306141" cy="306141"/>
          </a:xfrm>
          <a:prstGeom prst="rect">
            <a:avLst/>
          </a:prstGeom>
        </p:spPr>
      </p:pic>
      <p:sp>
        <p:nvSpPr>
          <p:cNvPr id="23" name="عنوان طريقة البدء"/>
          <p:cNvSpPr txBox="1"/>
          <p:nvPr/>
        </p:nvSpPr>
        <p:spPr>
          <a:xfrm>
            <a:off x="1042416" y="2907792"/>
            <a:ext cx="2121408" cy="365760"/>
          </a:xfrm>
          <a:prstGeom prst="rect">
            <a:avLst/>
          </a:prstGeom>
          <a:noFill/>
          <a:ln>
            <a:noFill/>
          </a:ln>
        </p:spPr>
        <p:txBody>
          <a:bodyPr wrap="square" lIns="0" tIns="0" rIns="0" bIns="0" rtlCol="0" anchor="t">
            <a:noAutofit/>
          </a:bodyPr>
          <a:lstStyle/>
          <a:p>
            <a:pPr marL="0" indent="0" algn="r" rtl="1">
              <a:lnSpc>
                <a:spcPts val="2600"/>
              </a:lnSpc>
              <a:spcBef>
                <a:spcPts val="0"/>
              </a:spcBef>
              <a:spcAft>
                <a:spcPts val="0"/>
              </a:spcAft>
              <a:buNone/>
            </a:pPr>
            <a:r>
              <a:rPr lang="ar-SA" sz="1800" b="1" i="0" dirty="0" noProof="1">
                <a:solidFill>
                  <a:srgbClr val="7C32C9"/>
                </a:solidFill>
                <a:latin typeface="☞DIODRUM ARABIC SEMIBOLD" pitchFamily="2" charset="-78"/>
                <a:cs typeface="☞DIODRUM ARABIC SEMIBOLD" pitchFamily="2" charset="-78"/>
              </a:rPr>
              <a:t>طريقة البدء</a:t>
            </a:r>
            <a:endParaRPr lang="ar-SA" sz="1800" dirty="0"/>
          </a:p>
        </p:txBody>
      </p:sp>
      <p:sp>
        <p:nvSpPr>
          <p:cNvPr id="24" name="نص طريقة البدء"/>
          <p:cNvSpPr txBox="1"/>
          <p:nvPr/>
        </p:nvSpPr>
        <p:spPr>
          <a:xfrm>
            <a:off x="1042416" y="3337560"/>
            <a:ext cx="2121408" cy="1664208"/>
          </a:xfrm>
          <a:prstGeom prst="rect">
            <a:avLst/>
          </a:prstGeom>
          <a:noFill/>
          <a:ln>
            <a:noFill/>
          </a:ln>
        </p:spPr>
        <p:txBody>
          <a:bodyPr wrap="square" lIns="0" tIns="0" rIns="0" bIns="0" rtlCol="0" anchor="t">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إطار مشترك للحكومة، وتنفيذ نوعي متدرج يبدأ بالجهات الخمس ذات الأولوية، مع استكمال البيانات اللازمة لتحديد مستهدفات التوسع.</a:t>
            </a:r>
            <a:endParaRPr lang="ar-SA" sz="1400" dirty="0"/>
          </a:p>
        </p:txBody>
      </p:sp>
      <p:sp>
        <p:nvSpPr>
          <p:cNvPr id="25" name="المطلوب"/>
          <p:cNvSpPr/>
          <p:nvPr/>
        </p:nvSpPr>
        <p:spPr>
          <a:xfrm>
            <a:off x="841248" y="5285232"/>
            <a:ext cx="10515600" cy="676656"/>
          </a:xfrm>
          <a:prstGeom prst="roundRect">
            <a:avLst>
              <a:gd name="adj" fmla="val 16216"/>
            </a:avLst>
          </a:prstGeom>
          <a:solidFill>
            <a:srgbClr val="2A206A"/>
          </a:solidFill>
          <a:ln>
            <a:noFill/>
          </a:ln>
        </p:spPr>
        <p:txBody>
          <a:bodyPr wrap="square" lIns="91440" tIns="45720" rIns="91440" bIns="45720" rtlCol="0" anchor="t">
            <a:noAutofit/>
          </a:bodyPr>
          <a:lstStyle/>
          <a:p>
            <a:endParaRPr lang="ar-SA"/>
          </a:p>
        </p:txBody>
      </p:sp>
      <p:sp>
        <p:nvSpPr>
          <p:cNvPr id="26" name="دائرة أيقونة"/>
          <p:cNvSpPr/>
          <p:nvPr/>
        </p:nvSpPr>
        <p:spPr>
          <a:xfrm>
            <a:off x="10680192" y="5376672"/>
            <a:ext cx="493776" cy="493776"/>
          </a:xfrm>
          <a:prstGeom prst="ellipse">
            <a:avLst/>
          </a:prstGeom>
          <a:solidFill>
            <a:srgbClr val="1CC182"/>
          </a:solidFill>
          <a:ln>
            <a:noFill/>
          </a:ln>
        </p:spPr>
      </p:sp>
      <p:pic>
        <p:nvPicPr>
          <p:cNvPr id="27" name="أيقونة Flag" descr=""/>
          <p:cNvPicPr>
            <a:picLocks noChangeAspect="1"/>
          </p:cNvPicPr>
          <p:nvPr/>
        </p:nvPicPr>
        <p:blipFill>
          <a:blip r:embed="rId6"/>
          <a:stretch>
            <a:fillRect/>
          </a:stretch>
        </p:blipFill>
        <p:spPr>
          <a:xfrm>
            <a:off x="10793760" y="5490240"/>
            <a:ext cx="266639" cy="266639"/>
          </a:xfrm>
          <a:prstGeom prst="rect">
            <a:avLst/>
          </a:prstGeom>
        </p:spPr>
      </p:pic>
      <p:sp>
        <p:nvSpPr>
          <p:cNvPr id="28" name="المطلوب نص"/>
          <p:cNvSpPr txBox="1"/>
          <p:nvPr/>
        </p:nvSpPr>
        <p:spPr>
          <a:xfrm>
            <a:off x="1069848" y="5285232"/>
            <a:ext cx="9427464" cy="676656"/>
          </a:xfrm>
          <a:prstGeom prst="rect">
            <a:avLst/>
          </a:prstGeom>
          <a:noFill/>
          <a:ln>
            <a:noFill/>
          </a:ln>
        </p:spPr>
        <p:txBody>
          <a:bodyPr wrap="square" lIns="0" tIns="0" rIns="0" bIns="0" rtlCol="0" anchor="ctr">
            <a:noAutofit/>
          </a:bodyPr>
          <a:lstStyle/>
          <a:p>
            <a:pPr marL="0" indent="0" algn="r" rtl="1">
              <a:lnSpc>
                <a:spcPts val="2250"/>
              </a:lnSpc>
              <a:spcBef>
                <a:spcPts val="0"/>
              </a:spcBef>
              <a:spcAft>
                <a:spcPts val="0"/>
              </a:spcAft>
              <a:buNone/>
            </a:pPr>
            <a:r>
              <a:rPr lang="ar-SA" sz="1600" b="0" i="0" dirty="0" noProof="1">
                <a:solidFill>
                  <a:srgbClr val="FFFFFF"/>
                </a:solidFill>
                <a:latin typeface="☞DIODRUM ARABIC SEMIBOLD" pitchFamily="2" charset="-78"/>
                <a:cs typeface="☞DIODRUM ARABIC SEMIBOLD" pitchFamily="2" charset="-78"/>
              </a:rPr>
              <a:t>المطلوب من معاليكم:  </a:t>
            </a:r>
            <a:r>
              <a:rPr lang="ar-SA" sz="1600" b="0" i="0" dirty="0" noProof="1">
                <a:solidFill>
                  <a:srgbClr val="FFFFFF"/>
                </a:solidFill>
                <a:latin typeface="☞DIODRUM ARABIC MEDIUM" pitchFamily="2" charset="-78"/>
                <a:cs typeface="☞DIODRUM ARABIC MEDIUM" pitchFamily="2" charset="-78"/>
              </a:rPr>
              <a:t>أربعة توجيهات لاستكمال العمل المشترك والانتقال إلى التنفيذ — الشريحة 23</a:t>
            </a:r>
            <a:endParaRPr lang="ar-SA" sz="1600" dirty="0"/>
          </a:p>
        </p:txBody>
      </p:sp>
      <p:sp>
        <p:nvSpPr>
          <p:cNvPr id="29"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تحديث 5 أكتوبر (الشرائح 3 و6 و7)؛ وثيقة المهمة الوطنية (ص 2-5).  الحالة: الاجتماعات والمساهمات من المصادر؛ النموذج وطريقة البدء توصية.</a:t>
            </a:r>
            <a:endParaRPr lang="ar-SA" sz="105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6876288" cy="1143000"/>
          </a:xfrm>
        </p:spPr>
        <p:txBody>
          <a:bodyPr lIns="0" tIns="0" rIns="0" bIns="0" anchor="t"/>
          <a:lstStyle/>
          <a:p>
            <a:pPr algn="r" rtl="1">
              <a:lnSpc>
                <a:spcPts val="4800"/>
              </a:lnSpc>
            </a:pPr>
            <a:r>
              <a:rPr lang="ar-SA" sz="3600" b="1" dirty="0" noProof="1">
                <a:solidFill>
                  <a:srgbClr val="FFFFFF"/>
                </a:solidFill>
                <a:latin typeface="☞DIODRUM ARABIC SEMIBOLD" pitchFamily="2" charset="-78"/>
                <a:cs typeface="☞DIODRUM ARABIC SEMIBOLD" pitchFamily="2" charset="-78"/>
              </a:rPr>
              <a:t>أين وصلنا؟</a:t>
            </a:r>
          </a:p>
        </p:txBody>
      </p:sp>
      <p:sp>
        <p:nvSpPr>
          <p:cNvPr id="3" name="رقم القسم"/>
          <p:cNvSpPr/>
          <p:nvPr/>
        </p:nvSpPr>
        <p:spPr>
          <a:xfrm>
            <a:off x="10305288" y="2084832"/>
            <a:ext cx="1051560" cy="1051560"/>
          </a:xfrm>
          <a:prstGeom prst="ellipse">
            <a:avLst/>
          </a:prstGeom>
          <a:solidFill>
            <a:srgbClr val="1CC182"/>
          </a:solidFill>
          <a:ln>
            <a:noFill/>
          </a:ln>
        </p:spPr>
        <p:txBody>
          <a:bodyPr wrap="square" lIns="0" tIns="0" rIns="0" bIns="0" rtlCol="0" anchor="ctr">
            <a:noAutofit/>
          </a:bodyPr>
          <a:lstStyle/>
          <a:p>
            <a:pPr marL="0" indent="0" algn="ctr" rtl="1">
              <a:lnSpc>
                <a:spcPts val="6000"/>
              </a:lnSpc>
              <a:spcBef>
                <a:spcPts val="0"/>
              </a:spcBef>
              <a:spcAft>
                <a:spcPts val="0"/>
              </a:spcAft>
              <a:buNone/>
            </a:pPr>
            <a:r>
              <a:rPr lang="ar-SA" sz="4600" b="1" i="0" dirty="0" noProof="1">
                <a:solidFill>
                  <a:srgbClr val="FFFFFF"/>
                </a:solidFill>
                <a:latin typeface="☞DIODRUM ARABIC SEMIBOLD" pitchFamily="2" charset="-78"/>
                <a:cs typeface="☞DIODRUM ARABIC SEMIBOLD" pitchFamily="2" charset="-78"/>
              </a:rPr>
              <a:t>1</a:t>
            </a:r>
            <a:endParaRPr lang="ar-SA" sz="4600" dirty="0"/>
          </a:p>
        </p:txBody>
      </p:sp>
      <p:sp>
        <p:nvSpPr>
          <p:cNvPr id="4" name="وصف القسم"/>
          <p:cNvSpPr txBox="1"/>
          <p:nvPr/>
        </p:nvSpPr>
        <p:spPr>
          <a:xfrm>
            <a:off x="4480560" y="4498848"/>
            <a:ext cx="6876288" cy="82296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000" b="0" i="0" dirty="0" noProof="1">
                <a:solidFill>
                  <a:srgbClr val="D5D3E8"/>
                </a:solidFill>
                <a:latin typeface="☞DIODRUM ARABIC MEDIUM" pitchFamily="2" charset="-78"/>
                <a:cs typeface="☞DIODRUM ARABIC MEDIUM" pitchFamily="2" charset="-78"/>
              </a:rPr>
              <a:t>الأدوار والاجتماعات وما أُنجز حتى الآن</a:t>
            </a:r>
            <a:endParaRPr lang="ar-SA" sz="2000" dirty="0"/>
          </a:p>
        </p:txBody>
      </p:sp>
      <p:sp>
        <p:nvSpPr>
          <p:cNvPr id="5"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قيادة الوزارة ودعم قدراتك يحتاجان إلى توزيع تنفيذي واضح للأدوار</a:t>
            </a:r>
          </a:p>
        </p:txBody>
      </p:sp>
      <p:sp>
        <p:nvSpPr>
          <p:cNvPr id="3" name="Text Placeholder 2"/>
          <p:cNvSpPr>
            <a:spLocks noGrp="1"/>
          </p:cNvSpPr>
          <p:nvPr>
            <p:ph type="body" idx="13" sz="quarter"/>
          </p:nvPr>
        </p:nvSpPr>
        <p:spPr/>
        <p:txBody>
          <a:bodyPr/>
          <a:lstStyle/>
          <a:p>
            <a:r>
              <a:rPr lang="ar-SA" dirty="0" noProof="1"/>
              <a:t>نقترح تثبيت المسؤولية عن التنسيق، وتصميم البرامج، والبيانات، والتنفيذ، وقياس الأثر.</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1  ·  أين وصلنا؟</a:t>
            </a:r>
            <a:endParaRPr lang="ar-SA" sz="1100" dirty="0"/>
          </a:p>
        </p:txBody>
      </p:sp>
      <p:sp>
        <p:nvSpPr>
          <p:cNvPr id="6" name="بطاقة وزارة الاتصالات وتقنية المعلومات"/>
          <p:cNvSpPr/>
          <p:nvPr/>
        </p:nvSpPr>
        <p:spPr>
          <a:xfrm>
            <a:off x="841248" y="2011680"/>
            <a:ext cx="10515600" cy="1019556"/>
          </a:xfrm>
          <a:prstGeom prst="roundRect">
            <a:avLst>
              <a:gd name="adj" fmla="val 12556"/>
            </a:avLst>
          </a:prstGeom>
          <a:solidFill>
            <a:srgbClr val="F5F5F5"/>
          </a:solidFill>
          <a:ln>
            <a:noFill/>
          </a:ln>
        </p:spPr>
        <p:txBody>
          <a:bodyPr wrap="square" lIns="91440" tIns="45720" rIns="91440" bIns="45720" rtlCol="0" anchor="t">
            <a:noAutofit/>
          </a:bodyPr>
          <a:lstStyle/>
          <a:p>
            <a:endParaRPr lang="ar-SA"/>
          </a:p>
        </p:txBody>
      </p:sp>
      <p:sp>
        <p:nvSpPr>
          <p:cNvPr id="7" name="دائرة أيقونة"/>
          <p:cNvSpPr/>
          <p:nvPr/>
        </p:nvSpPr>
        <p:spPr>
          <a:xfrm>
            <a:off x="10588752" y="2237994"/>
            <a:ext cx="566928" cy="566928"/>
          </a:xfrm>
          <a:prstGeom prst="ellipse">
            <a:avLst/>
          </a:prstGeom>
          <a:solidFill>
            <a:srgbClr val="F1E9FA"/>
          </a:solidFill>
          <a:ln>
            <a:noFill/>
          </a:ln>
        </p:spPr>
      </p:sp>
      <p:pic>
        <p:nvPicPr>
          <p:cNvPr id="8" name="أيقونة Buildings" descr=""/>
          <p:cNvPicPr>
            <a:picLocks noChangeAspect="1"/>
          </p:cNvPicPr>
          <p:nvPr/>
        </p:nvPicPr>
        <p:blipFill>
          <a:blip r:embed="rId2"/>
          <a:stretch>
            <a:fillRect/>
          </a:stretch>
        </p:blipFill>
        <p:spPr>
          <a:xfrm>
            <a:off x="10719145" y="2368387"/>
            <a:ext cx="306141" cy="306141"/>
          </a:xfrm>
          <a:prstGeom prst="rect">
            <a:avLst/>
          </a:prstGeom>
        </p:spPr>
      </p:pic>
      <p:sp>
        <p:nvSpPr>
          <p:cNvPr id="9" name="الجهة وزارة الاتصالات وتقنية المعلومات"/>
          <p:cNvSpPr txBox="1"/>
          <p:nvPr/>
        </p:nvSpPr>
        <p:spPr>
          <a:xfrm>
            <a:off x="7891272" y="2011680"/>
            <a:ext cx="2514600" cy="1019556"/>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وزارة الاتصالات وتقنية المعلومات</a:t>
            </a:r>
            <a:endParaRPr lang="ar-SA" sz="1600" dirty="0"/>
          </a:p>
        </p:txBody>
      </p:sp>
      <p:sp>
        <p:nvSpPr>
          <p:cNvPr id="10" name="دور وزارة الاتصالات وتقنية المعلومات"/>
          <p:cNvSpPr txBox="1"/>
          <p:nvPr/>
        </p:nvSpPr>
        <p:spPr>
          <a:xfrm>
            <a:off x="1097280" y="2011680"/>
            <a:ext cx="6519672" cy="1019556"/>
          </a:xfrm>
          <a:prstGeom prst="rect">
            <a:avLst/>
          </a:prstGeom>
          <a:noFill/>
          <a:ln>
            <a:noFill/>
          </a:ln>
        </p:spPr>
        <p:txBody>
          <a:bodyPr wrap="square" lIns="0" tIns="0" rIns="0" bIns="0" rtlCol="0" anchor="ctr">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الفريق القائد للعمل المشترك، بمشاركة سعادة الوكيل الأستاذ محمد الربيعان، والأستاذة صفاء الراشد، وفريق مهارات المستقبل. يُستكمل معها الاتفاق على إطار المبادرة وتنسيق الشركاء ومستهدفاتها.</a:t>
            </a:r>
            <a:endParaRPr lang="ar-SA" sz="1400" dirty="0"/>
          </a:p>
        </p:txBody>
      </p:sp>
      <p:sp>
        <p:nvSpPr>
          <p:cNvPr id="11" name="بطاقة هيئة الحكومة الرقمية — قدراتك"/>
          <p:cNvSpPr/>
          <p:nvPr/>
        </p:nvSpPr>
        <p:spPr>
          <a:xfrm>
            <a:off x="841248" y="3113532"/>
            <a:ext cx="10515600" cy="1019556"/>
          </a:xfrm>
          <a:prstGeom prst="roundRect">
            <a:avLst>
              <a:gd name="adj" fmla="val 12556"/>
            </a:avLst>
          </a:prstGeom>
          <a:solidFill>
            <a:srgbClr val="F5F5F5"/>
          </a:solidFill>
          <a:ln>
            <a:noFill/>
          </a:ln>
        </p:spPr>
        <p:txBody>
          <a:bodyPr wrap="square" lIns="91440" tIns="45720" rIns="91440" bIns="45720" rtlCol="0" anchor="t">
            <a:noAutofit/>
          </a:bodyPr>
          <a:lstStyle/>
          <a:p>
            <a:endParaRPr lang="ar-SA"/>
          </a:p>
        </p:txBody>
      </p:sp>
      <p:sp>
        <p:nvSpPr>
          <p:cNvPr id="12" name="دائرة أيقونة"/>
          <p:cNvSpPr/>
          <p:nvPr/>
        </p:nvSpPr>
        <p:spPr>
          <a:xfrm>
            <a:off x="10588752" y="3339846"/>
            <a:ext cx="566928" cy="566928"/>
          </a:xfrm>
          <a:prstGeom prst="ellipse">
            <a:avLst/>
          </a:prstGeom>
          <a:solidFill>
            <a:srgbClr val="E5F6F6"/>
          </a:solidFill>
          <a:ln>
            <a:noFill/>
          </a:ln>
        </p:spPr>
      </p:sp>
      <p:pic>
        <p:nvPicPr>
          <p:cNvPr id="13" name="أيقونة GraduationCap" descr=""/>
          <p:cNvPicPr>
            <a:picLocks noChangeAspect="1"/>
          </p:cNvPicPr>
          <p:nvPr/>
        </p:nvPicPr>
        <p:blipFill>
          <a:blip r:embed="rId3"/>
          <a:stretch>
            <a:fillRect/>
          </a:stretch>
        </p:blipFill>
        <p:spPr>
          <a:xfrm>
            <a:off x="10719145" y="3470239"/>
            <a:ext cx="306141" cy="306141"/>
          </a:xfrm>
          <a:prstGeom prst="rect">
            <a:avLst/>
          </a:prstGeom>
        </p:spPr>
      </p:pic>
      <p:sp>
        <p:nvSpPr>
          <p:cNvPr id="14" name="الجهة هيئة الحكومة الرقمية — قدراتك"/>
          <p:cNvSpPr txBox="1"/>
          <p:nvPr/>
        </p:nvSpPr>
        <p:spPr>
          <a:xfrm>
            <a:off x="7891272" y="3113532"/>
            <a:ext cx="2514600" cy="1019556"/>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00ABAF"/>
                </a:solidFill>
                <a:latin typeface="☞DIODRUM ARABIC SEMIBOLD" pitchFamily="2" charset="-78"/>
                <a:cs typeface="☞DIODRUM ARABIC SEMIBOLD" pitchFamily="2" charset="-78"/>
              </a:rPr>
              <a:t>هيئة الحكومة الرقمية — قدراتك</a:t>
            </a:r>
            <a:endParaRPr lang="ar-SA" sz="1600" dirty="0"/>
          </a:p>
        </p:txBody>
      </p:sp>
      <p:sp>
        <p:nvSpPr>
          <p:cNvPr id="15" name="دور هيئة الحكومة الرقمية — قدراتك"/>
          <p:cNvSpPr txBox="1"/>
          <p:nvPr/>
        </p:nvSpPr>
        <p:spPr>
          <a:xfrm>
            <a:off x="1097280" y="3113532"/>
            <a:ext cx="6519672" cy="1019556"/>
          </a:xfrm>
          <a:prstGeom prst="rect">
            <a:avLst/>
          </a:prstGeom>
          <a:noFill/>
          <a:ln>
            <a:noFill/>
          </a:ln>
        </p:spPr>
        <p:txBody>
          <a:bodyPr wrap="square" lIns="0" tIns="0" rIns="0" bIns="0" rtlCol="0" anchor="ctr">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الفريق الداعم بقيادة محمد العُمري. قدم بيانات البرامج والدراسة القيادية، ويقترح الإسهام في تصميم مسارات الحكومة، خصوصًا القيادات والقدرات المرتبطة بالتحول الرقمي، ضمن نطاق متفق عليه.</a:t>
            </a:r>
            <a:endParaRPr lang="ar-SA" sz="1400" dirty="0"/>
          </a:p>
        </p:txBody>
      </p:sp>
      <p:sp>
        <p:nvSpPr>
          <p:cNvPr id="16" name="بطاقة الجهات الحكومية المشاركة"/>
          <p:cNvSpPr/>
          <p:nvPr/>
        </p:nvSpPr>
        <p:spPr>
          <a:xfrm>
            <a:off x="841248" y="4215384"/>
            <a:ext cx="10515600" cy="841248"/>
          </a:xfrm>
          <a:prstGeom prst="roundRect">
            <a:avLst>
              <a:gd name="adj" fmla="val 15217"/>
            </a:avLst>
          </a:prstGeom>
          <a:solidFill>
            <a:srgbClr val="F5F5F5"/>
          </a:solidFill>
          <a:ln>
            <a:noFill/>
          </a:ln>
        </p:spPr>
        <p:txBody>
          <a:bodyPr wrap="square" lIns="91440" tIns="45720" rIns="91440" bIns="45720" rtlCol="0" anchor="t">
            <a:noAutofit/>
          </a:bodyPr>
          <a:lstStyle/>
          <a:p>
            <a:endParaRPr lang="ar-SA"/>
          </a:p>
        </p:txBody>
      </p:sp>
      <p:sp>
        <p:nvSpPr>
          <p:cNvPr id="17" name="دائرة أيقونة"/>
          <p:cNvSpPr/>
          <p:nvPr/>
        </p:nvSpPr>
        <p:spPr>
          <a:xfrm>
            <a:off x="10588752" y="4352544"/>
            <a:ext cx="566928" cy="566928"/>
          </a:xfrm>
          <a:prstGeom prst="ellipse">
            <a:avLst/>
          </a:prstGeom>
          <a:solidFill>
            <a:srgbClr val="F1E9FA"/>
          </a:solidFill>
          <a:ln>
            <a:noFill/>
          </a:ln>
        </p:spPr>
      </p:sp>
      <p:pic>
        <p:nvPicPr>
          <p:cNvPr id="18" name="أيقونة UsersThree" descr=""/>
          <p:cNvPicPr>
            <a:picLocks noChangeAspect="1"/>
          </p:cNvPicPr>
          <p:nvPr/>
        </p:nvPicPr>
        <p:blipFill>
          <a:blip r:embed="rId4"/>
          <a:stretch>
            <a:fillRect/>
          </a:stretch>
        </p:blipFill>
        <p:spPr>
          <a:xfrm>
            <a:off x="10719145" y="4482937"/>
            <a:ext cx="306141" cy="306141"/>
          </a:xfrm>
          <a:prstGeom prst="rect">
            <a:avLst/>
          </a:prstGeom>
        </p:spPr>
      </p:pic>
      <p:sp>
        <p:nvSpPr>
          <p:cNvPr id="19" name="الجهة الجهات الحكومية المشاركة"/>
          <p:cNvSpPr txBox="1"/>
          <p:nvPr/>
        </p:nvSpPr>
        <p:spPr>
          <a:xfrm>
            <a:off x="7891272" y="4215384"/>
            <a:ext cx="2514600" cy="841248"/>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الجهات الحكومية المشاركة</a:t>
            </a:r>
            <a:endParaRPr lang="ar-SA" sz="1600" dirty="0"/>
          </a:p>
        </p:txBody>
      </p:sp>
      <p:sp>
        <p:nvSpPr>
          <p:cNvPr id="20" name="دور الجهات الحكومية المشاركة"/>
          <p:cNvSpPr txBox="1"/>
          <p:nvPr/>
        </p:nvSpPr>
        <p:spPr>
          <a:xfrm>
            <a:off x="1097280" y="4215384"/>
            <a:ext cx="6519672" cy="841248"/>
          </a:xfrm>
          <a:prstGeom prst="rect">
            <a:avLst/>
          </a:prstGeom>
          <a:noFill/>
          <a:ln>
            <a:noFill/>
          </a:ln>
        </p:spPr>
        <p:txBody>
          <a:bodyPr wrap="square" lIns="0" tIns="0" rIns="0" bIns="0" rtlCol="0" anchor="ctr">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تحدد أولوية الاستخدام والفئات المرشحة، وتوفر بيانات الاحتياج، وتسمي مسؤولًا عن التطبيق والمتابعة داخل الجهة.</a:t>
            </a:r>
            <a:endParaRPr lang="ar-SA" sz="1400" dirty="0"/>
          </a:p>
        </p:txBody>
      </p:sp>
      <p:sp>
        <p:nvSpPr>
          <p:cNvPr id="21" name="بطاقة الجهات الوطنية والشركاء"/>
          <p:cNvSpPr/>
          <p:nvPr/>
        </p:nvSpPr>
        <p:spPr>
          <a:xfrm>
            <a:off x="841248" y="5138928"/>
            <a:ext cx="10515600" cy="841248"/>
          </a:xfrm>
          <a:prstGeom prst="roundRect">
            <a:avLst>
              <a:gd name="adj" fmla="val 15217"/>
            </a:avLst>
          </a:prstGeom>
          <a:solidFill>
            <a:srgbClr val="F5F5F5"/>
          </a:solidFill>
          <a:ln>
            <a:noFill/>
          </a:ln>
        </p:spPr>
        <p:txBody>
          <a:bodyPr wrap="square" lIns="91440" tIns="45720" rIns="91440" bIns="45720" rtlCol="0" anchor="t">
            <a:noAutofit/>
          </a:bodyPr>
          <a:lstStyle/>
          <a:p>
            <a:endParaRPr lang="ar-SA"/>
          </a:p>
        </p:txBody>
      </p:sp>
      <p:sp>
        <p:nvSpPr>
          <p:cNvPr id="22" name="دائرة أيقونة"/>
          <p:cNvSpPr/>
          <p:nvPr/>
        </p:nvSpPr>
        <p:spPr>
          <a:xfrm>
            <a:off x="10588752" y="5276088"/>
            <a:ext cx="566928" cy="566928"/>
          </a:xfrm>
          <a:prstGeom prst="ellipse">
            <a:avLst/>
          </a:prstGeom>
          <a:solidFill>
            <a:srgbClr val="E5F6F6"/>
          </a:solidFill>
          <a:ln>
            <a:noFill/>
          </a:ln>
        </p:spPr>
      </p:sp>
      <p:pic>
        <p:nvPicPr>
          <p:cNvPr id="23" name="أيقونة Handshake" descr=""/>
          <p:cNvPicPr>
            <a:picLocks noChangeAspect="1"/>
          </p:cNvPicPr>
          <p:nvPr/>
        </p:nvPicPr>
        <p:blipFill>
          <a:blip r:embed="rId5"/>
          <a:stretch>
            <a:fillRect/>
          </a:stretch>
        </p:blipFill>
        <p:spPr>
          <a:xfrm>
            <a:off x="10719145" y="5406481"/>
            <a:ext cx="306141" cy="306141"/>
          </a:xfrm>
          <a:prstGeom prst="rect">
            <a:avLst/>
          </a:prstGeom>
        </p:spPr>
      </p:pic>
      <p:sp>
        <p:nvSpPr>
          <p:cNvPr id="24" name="الجهة الجهات الوطنية والشركاء"/>
          <p:cNvSpPr txBox="1"/>
          <p:nvPr/>
        </p:nvSpPr>
        <p:spPr>
          <a:xfrm>
            <a:off x="7891272" y="5138928"/>
            <a:ext cx="2514600" cy="841248"/>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00ABAF"/>
                </a:solidFill>
                <a:latin typeface="☞DIODRUM ARABIC SEMIBOLD" pitchFamily="2" charset="-78"/>
                <a:cs typeface="☞DIODRUM ARABIC SEMIBOLD" pitchFamily="2" charset="-78"/>
              </a:rPr>
              <a:t>الجهات الوطنية والشركاء</a:t>
            </a:r>
            <a:endParaRPr lang="ar-SA" sz="1600" dirty="0"/>
          </a:p>
        </p:txBody>
      </p:sp>
      <p:sp>
        <p:nvSpPr>
          <p:cNvPr id="25" name="دور الجهات الوطنية والشركاء"/>
          <p:cNvSpPr txBox="1"/>
          <p:nvPr/>
        </p:nvSpPr>
        <p:spPr>
          <a:xfrm>
            <a:off x="1097280" y="5138928"/>
            <a:ext cx="6519672" cy="841248"/>
          </a:xfrm>
          <a:prstGeom prst="rect">
            <a:avLst/>
          </a:prstGeom>
          <a:noFill/>
          <a:ln>
            <a:noFill/>
          </a:ln>
        </p:spPr>
        <p:txBody>
          <a:bodyPr wrap="square" lIns="0" tIns="0" rIns="0" bIns="0" rtlCol="0" anchor="ctr">
            <a:noAutofit/>
          </a:bodyPr>
          <a:lstStyle/>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تُدمج البرامج ذات الصلة، بما فيها جهود سدايا، في خطة تنسيق مشتركة تُظهر التغطية والتكامل وفرص الاستفادة من العروض القائمة.</a:t>
            </a:r>
            <a:endParaRPr lang="ar-SA" sz="1400" dirty="0"/>
          </a:p>
        </p:txBody>
      </p:sp>
      <p:sp>
        <p:nvSpPr>
          <p:cNvPr id="26"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(الشرائح 3 و6 و7)؛ وثيقة المهمة الوطنية (ص 2 و3 و5).  الحالة: قيادة الوزارة ودعم قدراتك كما وردا؛ التفصيل التنفيذي والتنسيق مع سدايا مقترح.</a:t>
            </a:r>
            <a:endParaRPr lang="ar-SA" sz="10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خمسة اجتماعات نقلت النقاش</a:t>
            </a:r>
            <a:br>
              <a:rPr lang="ar-SA" dirty="0"/>
            </a:br>
            <a:r>
              <a:rPr lang="ar-SA" dirty="0" noProof="1"/>
              <a:t>من عرض البرامج إلى تحديد احتياج الحكومة</a:t>
            </a:r>
          </a:p>
        </p:txBody>
      </p:sp>
      <p:sp>
        <p:nvSpPr>
          <p:cNvPr id="3" name="Text Placeholder 2"/>
          <p:cNvSpPr>
            <a:spLocks noGrp="1"/>
          </p:cNvSpPr>
          <p:nvPr>
            <p:ph type="body" idx="13" sz="quarter"/>
          </p:nvPr>
        </p:nvSpPr>
        <p:spPr/>
        <p:txBody>
          <a:bodyPr/>
          <a:lstStyle/>
          <a:p>
            <a:r>
              <a:rPr lang="ar-SA" dirty="0" noProof="1"/>
              <a:t>العدد وارد في مسودة التحديث؛ وفيما يلي خلاصة الموضوعات كما تصفها المسودة.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1  ·  أين وصلنا؟</a:t>
            </a:r>
            <a:endParaRPr lang="ar-SA" sz="1100" dirty="0"/>
          </a:p>
        </p:txBody>
      </p:sp>
      <p:sp>
        <p:nvSpPr>
          <p:cNvPr id="6" name="عدد الاجتماعات"/>
          <p:cNvSpPr/>
          <p:nvPr/>
        </p:nvSpPr>
        <p:spPr>
          <a:xfrm>
            <a:off x="9573768" y="2011680"/>
            <a:ext cx="1783080" cy="3931920"/>
          </a:xfrm>
          <a:prstGeom prst="roundRect">
            <a:avLst>
              <a:gd name="adj" fmla="val 8205"/>
            </a:avLst>
          </a:prstGeom>
          <a:solidFill>
            <a:srgbClr val="2A206A"/>
          </a:solidFill>
          <a:ln>
            <a:noFill/>
          </a:ln>
        </p:spPr>
        <p:txBody>
          <a:bodyPr wrap="square" lIns="91440" tIns="45720" rIns="91440" bIns="45720" rtlCol="0" anchor="t">
            <a:noAutofit/>
          </a:bodyPr>
          <a:lstStyle/>
          <a:p>
            <a:endParaRPr lang="ar-SA"/>
          </a:p>
        </p:txBody>
      </p:sp>
      <p:sp>
        <p:nvSpPr>
          <p:cNvPr id="7" name="رقم 5"/>
          <p:cNvSpPr txBox="1"/>
          <p:nvPr/>
        </p:nvSpPr>
        <p:spPr>
          <a:xfrm>
            <a:off x="9573768" y="2468880"/>
            <a:ext cx="1783080" cy="1280160"/>
          </a:xfrm>
          <a:prstGeom prst="rect">
            <a:avLst/>
          </a:prstGeom>
          <a:noFill/>
          <a:ln>
            <a:noFill/>
          </a:ln>
        </p:spPr>
        <p:txBody>
          <a:bodyPr wrap="square" lIns="0" tIns="0" rIns="0" bIns="0" rtlCol="0" anchor="ctr">
            <a:noAutofit/>
          </a:bodyPr>
          <a:lstStyle/>
          <a:p>
            <a:pPr marL="0" indent="0" algn="ctr" rtl="1">
              <a:lnSpc>
                <a:spcPts val="9600"/>
              </a:lnSpc>
              <a:spcBef>
                <a:spcPts val="0"/>
              </a:spcBef>
              <a:spcAft>
                <a:spcPts val="0"/>
              </a:spcAft>
              <a:buNone/>
            </a:pPr>
            <a:r>
              <a:rPr lang="ar-SA" sz="8000" b="1" i="0" dirty="0" noProof="1">
                <a:solidFill>
                  <a:srgbClr val="FFFFFF"/>
                </a:solidFill>
                <a:latin typeface="☞DIODRUM ARABIC SEMIBOLD" pitchFamily="2" charset="-78"/>
                <a:cs typeface="☞DIODRUM ARABIC SEMIBOLD" pitchFamily="2" charset="-78"/>
              </a:rPr>
              <a:t>5</a:t>
            </a:r>
            <a:endParaRPr lang="ar-SA" sz="8000" dirty="0"/>
          </a:p>
        </p:txBody>
      </p:sp>
      <p:sp>
        <p:nvSpPr>
          <p:cNvPr id="8" name="وصف العدد"/>
          <p:cNvSpPr txBox="1"/>
          <p:nvPr/>
        </p:nvSpPr>
        <p:spPr>
          <a:xfrm>
            <a:off x="9683496" y="3749040"/>
            <a:ext cx="1563624" cy="1188720"/>
          </a:xfrm>
          <a:prstGeom prst="rect">
            <a:avLst/>
          </a:prstGeom>
          <a:noFill/>
          <a:ln>
            <a:noFill/>
          </a:ln>
        </p:spPr>
        <p:txBody>
          <a:bodyPr wrap="square" lIns="0" tIns="0" rIns="0" bIns="0" rtlCol="0" anchor="t">
            <a:noAutofit/>
          </a:bodyPr>
          <a:lstStyle/>
          <a:p>
            <a:pPr marL="0" indent="0" algn="ctr" rtl="1">
              <a:lnSpc>
                <a:spcPts val="2600"/>
              </a:lnSpc>
              <a:spcBef>
                <a:spcPts val="0"/>
              </a:spcBef>
              <a:spcAft>
                <a:spcPts val="0"/>
              </a:spcAft>
              <a:buNone/>
            </a:pPr>
            <a:r>
              <a:rPr lang="ar-SA" sz="1800" b="0" i="0" dirty="0" noProof="1">
                <a:solidFill>
                  <a:srgbClr val="FFFFFF"/>
                </a:solidFill>
                <a:latin typeface="☞DIODRUM ARABIC SEMIBOLD" pitchFamily="2" charset="-78"/>
                <a:cs typeface="☞DIODRUM ARABIC SEMIBOLD" pitchFamily="2" charset="-78"/>
              </a:rPr>
              <a:t>اجتماعات تنسيقية</a:t>
            </a:r>
            <a:endParaRPr lang="ar-SA" sz="1800" dirty="0"/>
          </a:p>
          <a:p>
            <a:pPr marL="0" indent="0" algn="ctr" rtl="1">
              <a:lnSpc>
                <a:spcPts val="1900"/>
              </a:lnSpc>
              <a:spcBef>
                <a:spcPts val="0"/>
              </a:spcBef>
              <a:spcAft>
                <a:spcPts val="0"/>
              </a:spcAft>
              <a:buNone/>
            </a:pPr>
            <a:r>
              <a:rPr lang="ar-SA" sz="1300" b="0" i="0" dirty="0" noProof="1">
                <a:solidFill>
                  <a:srgbClr val="D5D3E8"/>
                </a:solidFill>
                <a:latin typeface="☞DIODRUM ARABIC MEDIUM" pitchFamily="2" charset="-78"/>
                <a:cs typeface="☞DIODRUM ARABIC MEDIUM" pitchFamily="2" charset="-78"/>
              </a:rPr>
              <a:t>بحسب مسودة التحديث</a:t>
            </a:r>
            <a:endParaRPr lang="ar-SA" sz="1300" dirty="0"/>
          </a:p>
        </p:txBody>
      </p:sp>
      <p:sp>
        <p:nvSpPr>
          <p:cNvPr id="9" name="وسم"/>
          <p:cNvSpPr/>
          <p:nvPr/>
        </p:nvSpPr>
        <p:spPr>
          <a:xfrm>
            <a:off x="9774936" y="5212080"/>
            <a:ext cx="1380744" cy="347472"/>
          </a:xfrm>
          <a:prstGeom prst="roundRect">
            <a:avLst>
              <a:gd name="adj" fmla="val 50000"/>
            </a:avLst>
          </a:prstGeom>
          <a:solidFill>
            <a:srgbClr val="1CC182"/>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2A206A"/>
                </a:solidFill>
                <a:latin typeface="☞DIODRUM ARABIC SEMIBOLD" pitchFamily="2" charset="-78"/>
                <a:cs typeface="☞DIODRUM ARABIC SEMIBOLD" pitchFamily="2" charset="-78"/>
              </a:rPr>
              <a:t>العدد من المسودة</a:t>
            </a:r>
            <a:endParaRPr lang="ar-SA" sz="1200" dirty="0"/>
          </a:p>
        </p:txBody>
      </p:sp>
      <p:sp>
        <p:nvSpPr>
          <p:cNvPr id="10" name="مرحلة الاجتماعات الأولى"/>
          <p:cNvSpPr/>
          <p:nvPr/>
        </p:nvSpPr>
        <p:spPr>
          <a:xfrm flipH="1">
            <a:off x="6662928" y="2011680"/>
            <a:ext cx="2746248" cy="603504"/>
          </a:xfrm>
          <a:prstGeom prst="homePlate">
            <a:avLst>
              <a:gd name="adj" fmla="val 32000"/>
            </a:avLst>
          </a:prstGeom>
          <a:solidFill>
            <a:srgbClr val="7C32C9"/>
          </a:solidFill>
          <a:ln>
            <a:noFill/>
          </a:ln>
        </p:spPr>
        <p:txBody>
          <a:bodyPr wrap="square" lIns="347472" tIns="0" rIns="137160" bIns="0" rtlCol="0" anchor="ctr">
            <a:noAutofit/>
          </a:bodyPr>
          <a:lstStyle/>
          <a:p>
            <a:pPr marL="0" indent="0" algn="ctr" rtl="1">
              <a:lnSpc>
                <a:spcPts val="2240"/>
              </a:lnSpc>
              <a:spcBef>
                <a:spcPts val="0"/>
              </a:spcBef>
              <a:spcAft>
                <a:spcPts val="0"/>
              </a:spcAft>
              <a:buNone/>
            </a:pPr>
            <a:r>
              <a:rPr lang="ar-SA" sz="1600" b="0" i="0" dirty="0" noProof="1">
                <a:solidFill>
                  <a:srgbClr val="FFFFFF"/>
                </a:solidFill>
                <a:latin typeface="☞DIODRUM ARABIC SEMIBOLD" pitchFamily="2" charset="-78"/>
                <a:cs typeface="☞DIODRUM ARABIC SEMIBOLD" pitchFamily="2" charset="-78"/>
              </a:rPr>
              <a:t>الاجتماعات الأولى</a:t>
            </a:r>
            <a:endParaRPr lang="ar-SA" sz="1600" dirty="0"/>
          </a:p>
        </p:txBody>
      </p:sp>
      <p:sp>
        <p:nvSpPr>
          <p:cNvPr id="11" name="أبرز ما تناولته الاجتماعات الأولى"/>
          <p:cNvSpPr/>
          <p:nvPr/>
        </p:nvSpPr>
        <p:spPr>
          <a:xfrm>
            <a:off x="6662928" y="2724912"/>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12" name="أبرز ما تناولته نص"/>
          <p:cNvSpPr txBox="1"/>
          <p:nvPr/>
        </p:nvSpPr>
        <p:spPr>
          <a:xfrm>
            <a:off x="6827520" y="2834640"/>
            <a:ext cx="2417064" cy="13327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أبرز ما تناولته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جهود قدراتك، والبرامج المنفذة والمخططة في 2026، والبيانات المتاحة عن القيادات والموظفين والتدريب.</a:t>
            </a:r>
            <a:endParaRPr lang="ar-SA" sz="1400" dirty="0"/>
          </a:p>
        </p:txBody>
      </p:sp>
      <p:sp>
        <p:nvSpPr>
          <p:cNvPr id="13" name="ما ترتب عليها الاجتماعات الأولى"/>
          <p:cNvSpPr/>
          <p:nvPr/>
        </p:nvSpPr>
        <p:spPr>
          <a:xfrm>
            <a:off x="6662928" y="4334256"/>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14" name="ما ترتب عليها نص"/>
          <p:cNvSpPr txBox="1"/>
          <p:nvPr/>
        </p:nvSpPr>
        <p:spPr>
          <a:xfrm>
            <a:off x="6827520" y="4443984"/>
            <a:ext cx="2417064"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ما ترتب عليها</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مشاركة حصر البرامج والمستفيدين والمدخلات المتاحة لدى قدراتك.</a:t>
            </a:r>
            <a:endParaRPr lang="ar-SA" sz="1400" dirty="0"/>
          </a:p>
        </p:txBody>
      </p:sp>
      <p:sp>
        <p:nvSpPr>
          <p:cNvPr id="15" name="مرحلة الاجتماعات اللاحقة"/>
          <p:cNvSpPr/>
          <p:nvPr/>
        </p:nvSpPr>
        <p:spPr>
          <a:xfrm flipH="1">
            <a:off x="3752088" y="2011680"/>
            <a:ext cx="2746248" cy="603504"/>
          </a:xfrm>
          <a:prstGeom prst="homePlate">
            <a:avLst>
              <a:gd name="adj" fmla="val 32000"/>
            </a:avLst>
          </a:prstGeom>
          <a:solidFill>
            <a:srgbClr val="00ABAF"/>
          </a:solidFill>
          <a:ln>
            <a:noFill/>
          </a:ln>
        </p:spPr>
        <p:txBody>
          <a:bodyPr wrap="square" lIns="347472" tIns="0" rIns="137160" bIns="0" rtlCol="0" anchor="ctr">
            <a:noAutofit/>
          </a:bodyPr>
          <a:lstStyle/>
          <a:p>
            <a:pPr marL="0" indent="0" algn="ctr" rtl="1">
              <a:lnSpc>
                <a:spcPts val="2240"/>
              </a:lnSpc>
              <a:spcBef>
                <a:spcPts val="0"/>
              </a:spcBef>
              <a:spcAft>
                <a:spcPts val="0"/>
              </a:spcAft>
              <a:buNone/>
            </a:pPr>
            <a:r>
              <a:rPr lang="ar-SA" sz="1600" b="0" i="0" dirty="0" noProof="1">
                <a:solidFill>
                  <a:srgbClr val="FFFFFF"/>
                </a:solidFill>
                <a:latin typeface="☞DIODRUM ARABIC SEMIBOLD" pitchFamily="2" charset="-78"/>
                <a:cs typeface="☞DIODRUM ARABIC SEMIBOLD" pitchFamily="2" charset="-78"/>
              </a:rPr>
              <a:t>الاجتماعات اللاحقة</a:t>
            </a:r>
            <a:endParaRPr lang="ar-SA" sz="1600" dirty="0"/>
          </a:p>
        </p:txBody>
      </p:sp>
      <p:sp>
        <p:nvSpPr>
          <p:cNvPr id="16" name="أبرز ما تناولته الاجتماعات اللاحقة"/>
          <p:cNvSpPr/>
          <p:nvPr/>
        </p:nvSpPr>
        <p:spPr>
          <a:xfrm>
            <a:off x="3752088" y="2724912"/>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17" name="أبرز ما تناولته نص"/>
          <p:cNvSpPr txBox="1"/>
          <p:nvPr/>
        </p:nvSpPr>
        <p:spPr>
          <a:xfrm>
            <a:off x="3916680" y="2834640"/>
            <a:ext cx="2417064" cy="13327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أبرز ما تناولته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حجم الشرائح المستهدفة، وبرامج القيادات، وبناء القدرات المتخصصة، والبيانات اللازمة لتقدير حجم التدريب.</a:t>
            </a:r>
            <a:endParaRPr lang="ar-SA" sz="1400" dirty="0"/>
          </a:p>
        </p:txBody>
      </p:sp>
      <p:sp>
        <p:nvSpPr>
          <p:cNvPr id="18" name="ما ترتب عليها الاجتماعات اللاحقة"/>
          <p:cNvSpPr/>
          <p:nvPr/>
        </p:nvSpPr>
        <p:spPr>
          <a:xfrm>
            <a:off x="3752088" y="4334256"/>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19" name="ما ترتب عليها نص"/>
          <p:cNvSpPr txBox="1"/>
          <p:nvPr/>
        </p:nvSpPr>
        <p:spPr>
          <a:xfrm>
            <a:off x="3916680" y="4443984"/>
            <a:ext cx="2417064"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ما ترتب عليها</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إعداد الدراسة المعيارية للقيادات وتوضيح حدود البيانات المتاحة لدى البرنامج.</a:t>
            </a:r>
            <a:endParaRPr lang="ar-SA" sz="1400" dirty="0"/>
          </a:p>
        </p:txBody>
      </p:sp>
      <p:sp>
        <p:nvSpPr>
          <p:cNvPr id="20" name="مرحلة الاجتماع الخامس"/>
          <p:cNvSpPr/>
          <p:nvPr/>
        </p:nvSpPr>
        <p:spPr>
          <a:xfrm flipH="1">
            <a:off x="841248" y="2011680"/>
            <a:ext cx="2746248" cy="603504"/>
          </a:xfrm>
          <a:prstGeom prst="homePlate">
            <a:avLst>
              <a:gd name="adj" fmla="val 32000"/>
            </a:avLst>
          </a:prstGeom>
          <a:solidFill>
            <a:srgbClr val="2A206A"/>
          </a:solidFill>
          <a:ln>
            <a:noFill/>
          </a:ln>
        </p:spPr>
        <p:txBody>
          <a:bodyPr wrap="square" lIns="347472" tIns="0" rIns="137160" bIns="0" rtlCol="0" anchor="ctr">
            <a:noAutofit/>
          </a:bodyPr>
          <a:lstStyle/>
          <a:p>
            <a:pPr marL="0" indent="0" algn="ctr" rtl="1">
              <a:lnSpc>
                <a:spcPts val="2240"/>
              </a:lnSpc>
              <a:spcBef>
                <a:spcPts val="0"/>
              </a:spcBef>
              <a:spcAft>
                <a:spcPts val="0"/>
              </a:spcAft>
              <a:buNone/>
            </a:pPr>
            <a:r>
              <a:rPr lang="ar-SA" sz="1600" b="0" i="0" dirty="0" noProof="1">
                <a:solidFill>
                  <a:srgbClr val="FFFFFF"/>
                </a:solidFill>
                <a:latin typeface="☞DIODRUM ARABIC SEMIBOLD" pitchFamily="2" charset="-78"/>
                <a:cs typeface="☞DIODRUM ARABIC SEMIBOLD" pitchFamily="2" charset="-78"/>
              </a:rPr>
              <a:t>الاجتماع الخامس</a:t>
            </a:r>
            <a:endParaRPr lang="ar-SA" sz="1600" dirty="0"/>
          </a:p>
        </p:txBody>
      </p:sp>
      <p:sp>
        <p:nvSpPr>
          <p:cNvPr id="21" name="أبرز ما تناولته الاجتماع الخامس"/>
          <p:cNvSpPr/>
          <p:nvPr/>
        </p:nvSpPr>
        <p:spPr>
          <a:xfrm>
            <a:off x="841248" y="2724912"/>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22" name="أبرز ما تناولته نص"/>
          <p:cNvSpPr txBox="1"/>
          <p:nvPr/>
        </p:nvSpPr>
        <p:spPr>
          <a:xfrm>
            <a:off x="1005840" y="2834640"/>
            <a:ext cx="2417064" cy="13327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أبرز ما تناولته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مصادر أعداد الموظفين بمشاركة لجنة رفع الإنتاجية، والاستفادة من البيانات الحالية في تحديد النطاق والفئات.</a:t>
            </a:r>
            <a:endParaRPr lang="ar-SA" sz="1400" dirty="0"/>
          </a:p>
        </p:txBody>
      </p:sp>
      <p:sp>
        <p:nvSpPr>
          <p:cNvPr id="23" name="ما ترتب عليها الاجتماع الخامس"/>
          <p:cNvSpPr/>
          <p:nvPr/>
        </p:nvSpPr>
        <p:spPr>
          <a:xfrm>
            <a:off x="841248" y="4334256"/>
            <a:ext cx="2746248" cy="1554480"/>
          </a:xfrm>
          <a:prstGeom prst="roundRect">
            <a:avLst>
              <a:gd name="adj" fmla="val 8235"/>
            </a:avLst>
          </a:prstGeom>
          <a:solidFill>
            <a:srgbClr val="F5F5F5"/>
          </a:solidFill>
          <a:ln>
            <a:noFill/>
          </a:ln>
        </p:spPr>
        <p:txBody>
          <a:bodyPr wrap="square" lIns="91440" tIns="45720" rIns="91440" bIns="45720" rtlCol="0" anchor="t">
            <a:noAutofit/>
          </a:bodyPr>
          <a:lstStyle/>
          <a:p>
            <a:endParaRPr lang="ar-SA"/>
          </a:p>
        </p:txBody>
      </p:sp>
      <p:sp>
        <p:nvSpPr>
          <p:cNvPr id="24" name="ما ترتب عليها نص"/>
          <p:cNvSpPr txBox="1"/>
          <p:nvPr/>
        </p:nvSpPr>
        <p:spPr>
          <a:xfrm>
            <a:off x="1005840" y="4443984"/>
            <a:ext cx="2417064" cy="13327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ما ترتب عليها</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التوجه إلى التنسيق المباشر مع الجهات الحكومية الخمس ذات الأولوية لفهم احتياجاتها وبناء نطاق التنفيذ.</a:t>
            </a:r>
            <a:endParaRPr lang="ar-SA" sz="1400" dirty="0"/>
          </a:p>
        </p:txBody>
      </p:sp>
      <p:sp>
        <p:nvSpPr>
          <p:cNvPr id="25"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تحديث 5 أكتوبر (الشريحة 3).  الحالة: العدد ومراحل النقاش من المسودة؛ التواريخ والمخرجات لكل اجتماع تُستكمل من المحاضر (الملحق 2).</a:t>
            </a:r>
            <a:endParaRPr lang="ar-SA" sz="10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استمر التدريب بالتوازي مع تجهيز المدخلات اللازمة للمبادرة</a:t>
            </a:r>
          </a:p>
        </p:txBody>
      </p:sp>
      <p:sp>
        <p:nvSpPr>
          <p:cNvPr id="3" name="Text Placeholder 2"/>
          <p:cNvSpPr>
            <a:spLocks noGrp="1"/>
          </p:cNvSpPr>
          <p:nvPr>
            <p:ph type="body" idx="13" sz="quarter"/>
          </p:nvPr>
        </p:nvSpPr>
        <p:spPr/>
        <p:txBody>
          <a:bodyPr/>
          <a:lstStyle/>
          <a:p>
            <a:r>
              <a:rPr lang="ar-SA" dirty="0" noProof="1"/>
              <a:t>مساهمتنا شملت التنفيذ، وتجهيز المعلومات، وتطوير خيارات البرامج القادمة.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1  ·  أين وصلنا؟</a:t>
            </a:r>
            <a:endParaRPr lang="ar-SA" sz="1100" dirty="0"/>
          </a:p>
        </p:txBody>
      </p:sp>
      <p:sp>
        <p:nvSpPr>
          <p:cNvPr id="6" name="مؤشر 627"/>
          <p:cNvSpPr/>
          <p:nvPr/>
        </p:nvSpPr>
        <p:spPr>
          <a:xfrm>
            <a:off x="7973568" y="2011680"/>
            <a:ext cx="3383280" cy="1682496"/>
          </a:xfrm>
          <a:prstGeom prst="roundRect">
            <a:avLst>
              <a:gd name="adj" fmla="val 8695"/>
            </a:avLst>
          </a:prstGeom>
          <a:solidFill>
            <a:srgbClr val="F1E9FA"/>
          </a:solidFill>
          <a:ln>
            <a:noFill/>
          </a:ln>
        </p:spPr>
        <p:txBody>
          <a:bodyPr wrap="square" lIns="91440" tIns="45720" rIns="91440" bIns="45720" rtlCol="0" anchor="t">
            <a:noAutofit/>
          </a:bodyPr>
          <a:lstStyle/>
          <a:p>
            <a:endParaRPr lang="ar-SA"/>
          </a:p>
        </p:txBody>
      </p:sp>
      <p:sp>
        <p:nvSpPr>
          <p:cNvPr id="7" name="الرقم"/>
          <p:cNvSpPr txBox="1"/>
          <p:nvPr/>
        </p:nvSpPr>
        <p:spPr>
          <a:xfrm>
            <a:off x="8202168" y="2084832"/>
            <a:ext cx="2926080" cy="786384"/>
          </a:xfrm>
          <a:prstGeom prst="rect">
            <a:avLst/>
          </a:prstGeom>
          <a:noFill/>
          <a:ln>
            <a:noFill/>
          </a:ln>
        </p:spPr>
        <p:txBody>
          <a:bodyPr wrap="square" lIns="0" tIns="0" rIns="0" bIns="0" rtlCol="0" anchor="ctr">
            <a:noAutofit/>
          </a:bodyPr>
          <a:lstStyle/>
          <a:p>
            <a:pPr marL="0" indent="0" algn="r" rtl="1">
              <a:lnSpc>
                <a:spcPts val="6200"/>
              </a:lnSpc>
              <a:spcBef>
                <a:spcPts val="0"/>
              </a:spcBef>
              <a:spcAft>
                <a:spcPts val="0"/>
              </a:spcAft>
              <a:buNone/>
            </a:pPr>
            <a:r>
              <a:rPr lang="ar-SA" sz="4600" b="1" i="0" dirty="0" noProof="1">
                <a:solidFill>
                  <a:srgbClr val="7C32C9"/>
                </a:solidFill>
                <a:latin typeface="☞DIODRUM ARABIC SEMIBOLD" pitchFamily="2" charset="-78"/>
                <a:cs typeface="☞DIODRUM ARABIC SEMIBOLD" pitchFamily="2" charset="-78"/>
              </a:rPr>
              <a:t>627</a:t>
            </a:r>
            <a:r>
              <a:rPr lang="ar-SA" sz="1700" b="0" i="0" dirty="0" noProof="1">
                <a:solidFill>
                  <a:srgbClr val="2A206A"/>
                </a:solidFill>
                <a:latin typeface="☞DIODRUM ARABIC SEMIBOLD" pitchFamily="2" charset="-78"/>
                <a:cs typeface="☞DIODRUM ARABIC SEMIBOLD" pitchFamily="2" charset="-78"/>
              </a:rPr>
              <a:t>  مستفيدًا</a:t>
            </a:r>
            <a:endParaRPr lang="ar-SA" sz="4600" dirty="0"/>
          </a:p>
        </p:txBody>
      </p:sp>
      <p:sp>
        <p:nvSpPr>
          <p:cNvPr id="8" name="وصف الرقم"/>
          <p:cNvSpPr txBox="1"/>
          <p:nvPr/>
        </p:nvSpPr>
        <p:spPr>
          <a:xfrm>
            <a:off x="8202168" y="2907792"/>
            <a:ext cx="2926080" cy="749808"/>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برنامج قدراتك في الذكاء الاصطناعي لعام 2026 حتى الآن: 10 برامج وورشة عمل توعوية (حضوري وأونلاين).</a:t>
            </a:r>
            <a:endParaRPr lang="ar-SA" sz="1400" dirty="0"/>
          </a:p>
        </p:txBody>
      </p:sp>
      <p:sp>
        <p:nvSpPr>
          <p:cNvPr id="9" name="مؤشر 770"/>
          <p:cNvSpPr/>
          <p:nvPr/>
        </p:nvSpPr>
        <p:spPr>
          <a:xfrm>
            <a:off x="4407408" y="2011680"/>
            <a:ext cx="3383280" cy="1682496"/>
          </a:xfrm>
          <a:prstGeom prst="roundRect">
            <a:avLst>
              <a:gd name="adj" fmla="val 8695"/>
            </a:avLst>
          </a:prstGeom>
          <a:solidFill>
            <a:srgbClr val="E5F6F6"/>
          </a:solidFill>
          <a:ln>
            <a:noFill/>
          </a:ln>
        </p:spPr>
        <p:txBody>
          <a:bodyPr wrap="square" lIns="91440" tIns="45720" rIns="91440" bIns="45720" rtlCol="0" anchor="t">
            <a:noAutofit/>
          </a:bodyPr>
          <a:lstStyle/>
          <a:p>
            <a:endParaRPr lang="ar-SA"/>
          </a:p>
        </p:txBody>
      </p:sp>
      <p:sp>
        <p:nvSpPr>
          <p:cNvPr id="10" name="الرقم"/>
          <p:cNvSpPr txBox="1"/>
          <p:nvPr/>
        </p:nvSpPr>
        <p:spPr>
          <a:xfrm>
            <a:off x="4636008" y="2084832"/>
            <a:ext cx="2926080" cy="786384"/>
          </a:xfrm>
          <a:prstGeom prst="rect">
            <a:avLst/>
          </a:prstGeom>
          <a:noFill/>
          <a:ln>
            <a:noFill/>
          </a:ln>
        </p:spPr>
        <p:txBody>
          <a:bodyPr wrap="square" lIns="0" tIns="0" rIns="0" bIns="0" rtlCol="0" anchor="ctr">
            <a:noAutofit/>
          </a:bodyPr>
          <a:lstStyle/>
          <a:p>
            <a:pPr marL="0" indent="0" algn="r" rtl="1">
              <a:lnSpc>
                <a:spcPts val="6200"/>
              </a:lnSpc>
              <a:spcBef>
                <a:spcPts val="0"/>
              </a:spcBef>
              <a:spcAft>
                <a:spcPts val="0"/>
              </a:spcAft>
              <a:buNone/>
            </a:pPr>
            <a:r>
              <a:rPr lang="ar-SA" sz="4600" b="1" i="0" dirty="0" noProof="1">
                <a:solidFill>
                  <a:srgbClr val="00ABAF"/>
                </a:solidFill>
                <a:latin typeface="☞DIODRUM ARABIC SEMIBOLD" pitchFamily="2" charset="-78"/>
                <a:cs typeface="☞DIODRUM ARABIC SEMIBOLD" pitchFamily="2" charset="-78"/>
              </a:rPr>
              <a:t>770</a:t>
            </a:r>
            <a:r>
              <a:rPr lang="ar-SA" sz="1700" b="0" i="0" dirty="0" noProof="1">
                <a:solidFill>
                  <a:srgbClr val="2A206A"/>
                </a:solidFill>
                <a:latin typeface="☞DIODRUM ARABIC SEMIBOLD" pitchFamily="2" charset="-78"/>
                <a:cs typeface="☞DIODRUM ARABIC SEMIBOLD" pitchFamily="2" charset="-78"/>
              </a:rPr>
              <a:t>  مستفيدًا</a:t>
            </a:r>
            <a:endParaRPr lang="ar-SA" sz="4600" dirty="0"/>
          </a:p>
        </p:txBody>
      </p:sp>
      <p:sp>
        <p:nvSpPr>
          <p:cNvPr id="11" name="وصف الرقم"/>
          <p:cNvSpPr txBox="1"/>
          <p:nvPr/>
        </p:nvSpPr>
        <p:spPr>
          <a:xfrm>
            <a:off x="4636008" y="2907792"/>
            <a:ext cx="2926080" cy="749808"/>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شركاء رواد السحابة: تدريب في 23 برنامجًا.</a:t>
            </a:r>
            <a:endParaRPr lang="ar-SA" sz="1400" dirty="0"/>
          </a:p>
        </p:txBody>
      </p:sp>
      <p:sp>
        <p:nvSpPr>
          <p:cNvPr id="12" name="مؤشر 272"/>
          <p:cNvSpPr/>
          <p:nvPr/>
        </p:nvSpPr>
        <p:spPr>
          <a:xfrm>
            <a:off x="841248" y="2011680"/>
            <a:ext cx="3383280" cy="1682496"/>
          </a:xfrm>
          <a:prstGeom prst="roundRect">
            <a:avLst>
              <a:gd name="adj" fmla="val 8695"/>
            </a:avLst>
          </a:prstGeom>
          <a:solidFill>
            <a:srgbClr val="F1E9FA"/>
          </a:solidFill>
          <a:ln>
            <a:noFill/>
          </a:ln>
        </p:spPr>
        <p:txBody>
          <a:bodyPr wrap="square" lIns="91440" tIns="45720" rIns="91440" bIns="45720" rtlCol="0" anchor="t">
            <a:noAutofit/>
          </a:bodyPr>
          <a:lstStyle/>
          <a:p>
            <a:endParaRPr lang="ar-SA"/>
          </a:p>
        </p:txBody>
      </p:sp>
      <p:sp>
        <p:nvSpPr>
          <p:cNvPr id="13" name="الرقم"/>
          <p:cNvSpPr txBox="1"/>
          <p:nvPr/>
        </p:nvSpPr>
        <p:spPr>
          <a:xfrm>
            <a:off x="1069848" y="2084832"/>
            <a:ext cx="2926080" cy="786384"/>
          </a:xfrm>
          <a:prstGeom prst="rect">
            <a:avLst/>
          </a:prstGeom>
          <a:noFill/>
          <a:ln>
            <a:noFill/>
          </a:ln>
        </p:spPr>
        <p:txBody>
          <a:bodyPr wrap="square" lIns="0" tIns="0" rIns="0" bIns="0" rtlCol="0" anchor="ctr">
            <a:noAutofit/>
          </a:bodyPr>
          <a:lstStyle/>
          <a:p>
            <a:pPr marL="0" indent="0" algn="r" rtl="1">
              <a:lnSpc>
                <a:spcPts val="6200"/>
              </a:lnSpc>
              <a:spcBef>
                <a:spcPts val="0"/>
              </a:spcBef>
              <a:spcAft>
                <a:spcPts val="0"/>
              </a:spcAft>
              <a:buNone/>
            </a:pPr>
            <a:r>
              <a:rPr lang="ar-SA" sz="4600" b="1" i="0" dirty="0" noProof="1">
                <a:solidFill>
                  <a:srgbClr val="7C32C9"/>
                </a:solidFill>
                <a:latin typeface="☞DIODRUM ARABIC SEMIBOLD" pitchFamily="2" charset="-78"/>
                <a:cs typeface="☞DIODRUM ARABIC SEMIBOLD" pitchFamily="2" charset="-78"/>
              </a:rPr>
              <a:t>272</a:t>
            </a:r>
            <a:r>
              <a:rPr lang="ar-SA" sz="1700" b="0" i="0" dirty="0" noProof="1">
                <a:solidFill>
                  <a:srgbClr val="2A206A"/>
                </a:solidFill>
                <a:latin typeface="☞DIODRUM ARABIC SEMIBOLD" pitchFamily="2" charset="-78"/>
                <a:cs typeface="☞DIODRUM ARABIC SEMIBOLD" pitchFamily="2" charset="-78"/>
              </a:rPr>
              <a:t>  موظفًا حكوميًا</a:t>
            </a:r>
            <a:endParaRPr lang="ar-SA" sz="4600" dirty="0"/>
          </a:p>
        </p:txBody>
      </p:sp>
      <p:sp>
        <p:nvSpPr>
          <p:cNvPr id="14" name="وصف الرقم"/>
          <p:cNvSpPr txBox="1"/>
          <p:nvPr/>
        </p:nvSpPr>
        <p:spPr>
          <a:xfrm>
            <a:off x="1069848" y="2907792"/>
            <a:ext cx="2926080" cy="749808"/>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شركاء ربطنا بهم الزملاء في مكتب رفع الإنتاجية: تنفيذ 8 برامج وورش عمل.</a:t>
            </a:r>
            <a:endParaRPr lang="ar-SA" sz="1400" dirty="0"/>
          </a:p>
        </p:txBody>
      </p:sp>
      <p:sp>
        <p:nvSpPr>
          <p:cNvPr id="15" name="رقم 12 من 32"/>
          <p:cNvSpPr/>
          <p:nvPr/>
        </p:nvSpPr>
        <p:spPr>
          <a:xfrm>
            <a:off x="8851392" y="3803904"/>
            <a:ext cx="2505456" cy="1645920"/>
          </a:xfrm>
          <a:prstGeom prst="roundRect">
            <a:avLst>
              <a:gd name="adj" fmla="val 7777"/>
            </a:avLst>
          </a:prstGeom>
          <a:solidFill>
            <a:srgbClr val="F5F5F5"/>
          </a:solidFill>
          <a:ln>
            <a:noFill/>
          </a:ln>
        </p:spPr>
        <p:txBody>
          <a:bodyPr wrap="square" lIns="91440" tIns="45720" rIns="91440" bIns="45720" rtlCol="0" anchor="t">
            <a:noAutofit/>
          </a:bodyPr>
          <a:lstStyle/>
          <a:p>
            <a:endParaRPr lang="ar-SA"/>
          </a:p>
        </p:txBody>
      </p:sp>
      <p:sp>
        <p:nvSpPr>
          <p:cNvPr id="16" name="الرقم"/>
          <p:cNvSpPr txBox="1"/>
          <p:nvPr/>
        </p:nvSpPr>
        <p:spPr>
          <a:xfrm>
            <a:off x="9034272" y="3895344"/>
            <a:ext cx="2139696" cy="502920"/>
          </a:xfrm>
          <a:prstGeom prst="rect">
            <a:avLst/>
          </a:prstGeom>
          <a:noFill/>
          <a:ln>
            <a:noFill/>
          </a:ln>
        </p:spPr>
        <p:txBody>
          <a:bodyPr wrap="square" lIns="0" tIns="0" rIns="0" bIns="0" rtlCol="0" anchor="ctr">
            <a:noAutofit/>
          </a:bodyPr>
          <a:lstStyle/>
          <a:p>
            <a:pPr marL="0" indent="0" algn="r" rtl="1">
              <a:lnSpc>
                <a:spcPts val="3800"/>
              </a:lnSpc>
              <a:spcBef>
                <a:spcPts val="0"/>
              </a:spcBef>
              <a:spcAft>
                <a:spcPts val="0"/>
              </a:spcAft>
              <a:buNone/>
            </a:pPr>
            <a:r>
              <a:rPr lang="ar-SA" sz="2800" b="1" i="0" dirty="0" noProof="1">
                <a:solidFill>
                  <a:srgbClr val="7C32C9"/>
                </a:solidFill>
                <a:latin typeface="☞DIODRUM ARABIC SEMIBOLD" pitchFamily="2" charset="-78"/>
                <a:cs typeface="☞DIODRUM ARABIC SEMIBOLD" pitchFamily="2" charset="-78"/>
              </a:rPr>
              <a:t>12 من 32</a:t>
            </a:r>
            <a:endParaRPr lang="ar-SA" sz="2800" dirty="0"/>
          </a:p>
        </p:txBody>
      </p:sp>
      <p:sp>
        <p:nvSpPr>
          <p:cNvPr id="17" name="وصف"/>
          <p:cNvSpPr txBox="1"/>
          <p:nvPr/>
        </p:nvSpPr>
        <p:spPr>
          <a:xfrm>
            <a:off x="9034272" y="4425696"/>
            <a:ext cx="2139696" cy="98755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برنامجًا قياديًا أبرزتها الدراسة المعيارية، مع نموذج مقترح لأربعة مستويات قيادية.</a:t>
            </a:r>
            <a:endParaRPr lang="ar-SA" sz="1300" dirty="0"/>
          </a:p>
        </p:txBody>
      </p:sp>
      <p:sp>
        <p:nvSpPr>
          <p:cNvPr id="18" name="رقم 52 جهة"/>
          <p:cNvSpPr/>
          <p:nvPr/>
        </p:nvSpPr>
        <p:spPr>
          <a:xfrm>
            <a:off x="6181344" y="3803904"/>
            <a:ext cx="2505456" cy="1645920"/>
          </a:xfrm>
          <a:prstGeom prst="roundRect">
            <a:avLst>
              <a:gd name="adj" fmla="val 7777"/>
            </a:avLst>
          </a:prstGeom>
          <a:solidFill>
            <a:srgbClr val="F5F5F5"/>
          </a:solidFill>
          <a:ln>
            <a:noFill/>
          </a:ln>
        </p:spPr>
        <p:txBody>
          <a:bodyPr wrap="square" lIns="91440" tIns="45720" rIns="91440" bIns="45720" rtlCol="0" anchor="t">
            <a:noAutofit/>
          </a:bodyPr>
          <a:lstStyle/>
          <a:p>
            <a:endParaRPr lang="ar-SA"/>
          </a:p>
        </p:txBody>
      </p:sp>
      <p:sp>
        <p:nvSpPr>
          <p:cNvPr id="19" name="الرقم"/>
          <p:cNvSpPr txBox="1"/>
          <p:nvPr/>
        </p:nvSpPr>
        <p:spPr>
          <a:xfrm>
            <a:off x="6364224" y="3895344"/>
            <a:ext cx="2139696" cy="502920"/>
          </a:xfrm>
          <a:prstGeom prst="rect">
            <a:avLst/>
          </a:prstGeom>
          <a:noFill/>
          <a:ln>
            <a:noFill/>
          </a:ln>
        </p:spPr>
        <p:txBody>
          <a:bodyPr wrap="square" lIns="0" tIns="0" rIns="0" bIns="0" rtlCol="0" anchor="ctr">
            <a:noAutofit/>
          </a:bodyPr>
          <a:lstStyle/>
          <a:p>
            <a:pPr marL="0" indent="0" algn="r" rtl="1">
              <a:lnSpc>
                <a:spcPts val="3800"/>
              </a:lnSpc>
              <a:spcBef>
                <a:spcPts val="0"/>
              </a:spcBef>
              <a:spcAft>
                <a:spcPts val="0"/>
              </a:spcAft>
              <a:buNone/>
            </a:pPr>
            <a:r>
              <a:rPr lang="ar-SA" sz="2800" b="1" i="0" dirty="0" noProof="1">
                <a:solidFill>
                  <a:srgbClr val="00ABAF"/>
                </a:solidFill>
                <a:latin typeface="☞DIODRUM ARABIC SEMIBOLD" pitchFamily="2" charset="-78"/>
                <a:cs typeface="☞DIODRUM ARABIC SEMIBOLD" pitchFamily="2" charset="-78"/>
              </a:rPr>
              <a:t>52 جهة</a:t>
            </a:r>
            <a:endParaRPr lang="ar-SA" sz="2800" dirty="0"/>
          </a:p>
        </p:txBody>
      </p:sp>
      <p:sp>
        <p:nvSpPr>
          <p:cNvPr id="20" name="وصف"/>
          <p:cNvSpPr txBox="1"/>
          <p:nvPr/>
        </p:nvSpPr>
        <p:spPr>
          <a:xfrm>
            <a:off x="6364224" y="4425696"/>
            <a:ext cx="2139696" cy="98755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جرى التواصل معها لحصر التدريب في الذكاء الاصطناعي؛ ولم ترد البيانات بعد.</a:t>
            </a:r>
            <a:endParaRPr lang="ar-SA" sz="1300" dirty="0"/>
          </a:p>
        </p:txBody>
      </p:sp>
      <p:sp>
        <p:nvSpPr>
          <p:cNvPr id="21" name="رقم 350"/>
          <p:cNvSpPr/>
          <p:nvPr/>
        </p:nvSpPr>
        <p:spPr>
          <a:xfrm>
            <a:off x="3511296" y="3803904"/>
            <a:ext cx="2505456" cy="1645920"/>
          </a:xfrm>
          <a:prstGeom prst="roundRect">
            <a:avLst>
              <a:gd name="adj" fmla="val 7777"/>
            </a:avLst>
          </a:prstGeom>
          <a:solidFill>
            <a:srgbClr val="F5F5F5"/>
          </a:solidFill>
          <a:ln>
            <a:noFill/>
          </a:ln>
        </p:spPr>
        <p:txBody>
          <a:bodyPr wrap="square" lIns="91440" tIns="45720" rIns="91440" bIns="45720" rtlCol="0" anchor="t">
            <a:noAutofit/>
          </a:bodyPr>
          <a:lstStyle/>
          <a:p>
            <a:endParaRPr lang="ar-SA"/>
          </a:p>
        </p:txBody>
      </p:sp>
      <p:sp>
        <p:nvSpPr>
          <p:cNvPr id="22" name="الرقم"/>
          <p:cNvSpPr txBox="1"/>
          <p:nvPr/>
        </p:nvSpPr>
        <p:spPr>
          <a:xfrm>
            <a:off x="3694176" y="3895344"/>
            <a:ext cx="2139696" cy="502920"/>
          </a:xfrm>
          <a:prstGeom prst="rect">
            <a:avLst/>
          </a:prstGeom>
          <a:noFill/>
          <a:ln>
            <a:noFill/>
          </a:ln>
        </p:spPr>
        <p:txBody>
          <a:bodyPr wrap="square" lIns="0" tIns="0" rIns="0" bIns="0" rtlCol="0" anchor="ctr">
            <a:noAutofit/>
          </a:bodyPr>
          <a:lstStyle/>
          <a:p>
            <a:pPr marL="0" indent="0" algn="r" rtl="1">
              <a:lnSpc>
                <a:spcPts val="3800"/>
              </a:lnSpc>
              <a:spcBef>
                <a:spcPts val="0"/>
              </a:spcBef>
              <a:spcAft>
                <a:spcPts val="0"/>
              </a:spcAft>
              <a:buNone/>
            </a:pPr>
            <a:r>
              <a:rPr lang="ar-SA" sz="2800" b="1" i="0" dirty="0" noProof="1">
                <a:solidFill>
                  <a:srgbClr val="7C32C9"/>
                </a:solidFill>
                <a:latin typeface="☞DIODRUM ARABIC SEMIBOLD" pitchFamily="2" charset="-78"/>
                <a:cs typeface="☞DIODRUM ARABIC SEMIBOLD" pitchFamily="2" charset="-78"/>
              </a:rPr>
              <a:t>350</a:t>
            </a:r>
            <a:endParaRPr lang="ar-SA" sz="2800" dirty="0"/>
          </a:p>
        </p:txBody>
      </p:sp>
      <p:sp>
        <p:nvSpPr>
          <p:cNvPr id="23" name="وصف"/>
          <p:cNvSpPr txBox="1"/>
          <p:nvPr/>
        </p:nvSpPr>
        <p:spPr>
          <a:xfrm>
            <a:off x="3694176" y="4425696"/>
            <a:ext cx="2139696" cy="98755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سجل مسؤولي تقنية المعلومات ضمن بيانات قدراتك، وليس حصرًا للموظفين.</a:t>
            </a:r>
            <a:endParaRPr lang="ar-SA" sz="1300" dirty="0"/>
          </a:p>
        </p:txBody>
      </p:sp>
      <p:sp>
        <p:nvSpPr>
          <p:cNvPr id="24" name="رقم 7 أكتوبر"/>
          <p:cNvSpPr/>
          <p:nvPr/>
        </p:nvSpPr>
        <p:spPr>
          <a:xfrm>
            <a:off x="841248" y="3803904"/>
            <a:ext cx="2505456" cy="1645920"/>
          </a:xfrm>
          <a:prstGeom prst="roundRect">
            <a:avLst>
              <a:gd name="adj" fmla="val 7777"/>
            </a:avLst>
          </a:prstGeom>
          <a:solidFill>
            <a:srgbClr val="F5F5F5"/>
          </a:solidFill>
          <a:ln>
            <a:noFill/>
          </a:ln>
        </p:spPr>
        <p:txBody>
          <a:bodyPr wrap="square" lIns="91440" tIns="45720" rIns="91440" bIns="45720" rtlCol="0" anchor="t">
            <a:noAutofit/>
          </a:bodyPr>
          <a:lstStyle/>
          <a:p>
            <a:endParaRPr lang="ar-SA"/>
          </a:p>
        </p:txBody>
      </p:sp>
      <p:sp>
        <p:nvSpPr>
          <p:cNvPr id="25" name="الرقم"/>
          <p:cNvSpPr txBox="1"/>
          <p:nvPr/>
        </p:nvSpPr>
        <p:spPr>
          <a:xfrm>
            <a:off x="1024128" y="3895344"/>
            <a:ext cx="2139696" cy="502920"/>
          </a:xfrm>
          <a:prstGeom prst="rect">
            <a:avLst/>
          </a:prstGeom>
          <a:noFill/>
          <a:ln>
            <a:noFill/>
          </a:ln>
        </p:spPr>
        <p:txBody>
          <a:bodyPr wrap="square" lIns="0" tIns="0" rIns="0" bIns="0" rtlCol="0" anchor="ctr">
            <a:noAutofit/>
          </a:bodyPr>
          <a:lstStyle/>
          <a:p>
            <a:pPr marL="0" indent="0" algn="r" rtl="1">
              <a:lnSpc>
                <a:spcPts val="3800"/>
              </a:lnSpc>
              <a:spcBef>
                <a:spcPts val="0"/>
              </a:spcBef>
              <a:spcAft>
                <a:spcPts val="0"/>
              </a:spcAft>
              <a:buNone/>
            </a:pPr>
            <a:r>
              <a:rPr lang="ar-SA" sz="2800" b="1" i="0" dirty="0" noProof="1">
                <a:solidFill>
                  <a:srgbClr val="00ABAF"/>
                </a:solidFill>
                <a:latin typeface="☞DIODRUM ARABIC SEMIBOLD" pitchFamily="2" charset="-78"/>
                <a:cs typeface="☞DIODRUM ARABIC SEMIBOLD" pitchFamily="2" charset="-78"/>
              </a:rPr>
              <a:t>7 أكتوبر</a:t>
            </a:r>
            <a:endParaRPr lang="ar-SA" sz="2800" dirty="0"/>
          </a:p>
        </p:txBody>
      </p:sp>
      <p:sp>
        <p:nvSpPr>
          <p:cNvPr id="26" name="وصف"/>
          <p:cNvSpPr txBox="1"/>
          <p:nvPr/>
        </p:nvSpPr>
        <p:spPr>
          <a:xfrm>
            <a:off x="1024128" y="4425696"/>
            <a:ext cx="2139696" cy="98755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أول ورشة توعوية افتراضية لمسار FDE — مخططة وليست منفذة بعد.</a:t>
            </a:r>
            <a:endParaRPr lang="ar-SA" sz="1300" dirty="0"/>
          </a:p>
        </p:txBody>
      </p:sp>
      <p:sp>
        <p:nvSpPr>
          <p:cNvPr id="27" name="حصر الجهود"/>
          <p:cNvSpPr/>
          <p:nvPr/>
        </p:nvSpPr>
        <p:spPr>
          <a:xfrm>
            <a:off x="841248" y="5559552"/>
            <a:ext cx="10515600" cy="429768"/>
          </a:xfrm>
          <a:prstGeom prst="roundRect">
            <a:avLst>
              <a:gd name="adj" fmla="val 25531"/>
            </a:avLst>
          </a:prstGeom>
          <a:solidFill>
            <a:srgbClr val="E5F6F6"/>
          </a:solidFill>
          <a:ln>
            <a:noFill/>
          </a:ln>
        </p:spPr>
        <p:txBody>
          <a:bodyPr wrap="square" lIns="91440" tIns="45720" rIns="91440" bIns="45720" rtlCol="0" anchor="t">
            <a:noAutofit/>
          </a:bodyPr>
          <a:lstStyle/>
          <a:p>
            <a:endParaRPr lang="ar-SA"/>
          </a:p>
        </p:txBody>
      </p:sp>
      <p:sp>
        <p:nvSpPr>
          <p:cNvPr id="28" name="دائرة أيقونة"/>
          <p:cNvSpPr/>
          <p:nvPr/>
        </p:nvSpPr>
        <p:spPr>
          <a:xfrm>
            <a:off x="10927080" y="5650992"/>
            <a:ext cx="246888" cy="246888"/>
          </a:xfrm>
          <a:prstGeom prst="ellipse">
            <a:avLst/>
          </a:prstGeom>
          <a:solidFill>
            <a:srgbClr val="FFFFFF"/>
          </a:solidFill>
          <a:ln>
            <a:noFill/>
          </a:ln>
        </p:spPr>
      </p:sp>
      <p:pic>
        <p:nvPicPr>
          <p:cNvPr id="29" name="أيقونة ListChecks" descr=""/>
          <p:cNvPicPr>
            <a:picLocks noChangeAspect="1"/>
          </p:cNvPicPr>
          <p:nvPr/>
        </p:nvPicPr>
        <p:blipFill>
          <a:blip r:embed="rId2"/>
          <a:stretch>
            <a:fillRect/>
          </a:stretch>
        </p:blipFill>
        <p:spPr>
          <a:xfrm>
            <a:off x="10983864" y="5707776"/>
            <a:ext cx="133320" cy="133320"/>
          </a:xfrm>
          <a:prstGeom prst="rect">
            <a:avLst/>
          </a:prstGeom>
        </p:spPr>
      </p:pic>
      <p:sp>
        <p:nvSpPr>
          <p:cNvPr id="30" name="حصر الجهود نص"/>
          <p:cNvSpPr txBox="1"/>
          <p:nvPr/>
        </p:nvSpPr>
        <p:spPr>
          <a:xfrm>
            <a:off x="1069848" y="5559552"/>
            <a:ext cx="9674352" cy="429768"/>
          </a:xfrm>
          <a:prstGeom prst="rect">
            <a:avLst/>
          </a:prstGeom>
          <a:noFill/>
          <a:ln>
            <a:noFill/>
          </a:ln>
        </p:spPr>
        <p:txBody>
          <a:bodyPr wrap="square" lIns="0" tIns="0" rIns="0" bIns="0" rtlCol="0" anchor="ctr">
            <a:noAutofit/>
          </a:bodyPr>
          <a:lstStyle/>
          <a:p>
            <a:pPr marL="0" indent="0" algn="r" rtl="1">
              <a:lnSpc>
                <a:spcPts val="225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حصر الجهود القائمة:  </a:t>
            </a:r>
            <a:r>
              <a:rPr lang="ar-SA" sz="1500" b="0" i="0" dirty="0" noProof="1">
                <a:solidFill>
                  <a:srgbClr val="333333"/>
                </a:solidFill>
                <a:latin typeface="☞DIODRUM ARABIC MEDIUM" pitchFamily="2" charset="-78"/>
                <a:cs typeface="☞DIODRUM ARABIC MEDIUM" pitchFamily="2" charset="-78"/>
              </a:rPr>
              <a:t>مشاركة البرامج المنفذة والمخططة وأعداد المستفيدين وعروض الشركاء.</a:t>
            </a:r>
            <a:endParaRPr lang="ar-SA" sz="1500" dirty="0"/>
          </a:p>
        </p:txBody>
      </p:sp>
      <p:sp>
        <p:nvSpPr>
          <p:cNvPr id="3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(الشرائح 4 و6 و7)؛ الدراسة المعيارية (ص 3 و6 و8).  الحالة: أرقام المسودة بتاريخ قطع يُؤكَّد؛ لا تُجمع الأرقام الثلاثة؛ الورشة مخططة.</a:t>
            </a:r>
            <a:endParaRPr lang="ar-SA" sz="105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6876288" cy="1143000"/>
          </a:xfrm>
        </p:spPr>
        <p:txBody>
          <a:bodyPr lIns="0" tIns="0" rIns="0" bIns="0" anchor="t"/>
          <a:lstStyle/>
          <a:p>
            <a:pPr algn="r" rtl="1">
              <a:lnSpc>
                <a:spcPts val="4800"/>
              </a:lnSpc>
            </a:pPr>
            <a:r>
              <a:rPr lang="ar-SA" sz="3600" b="1" dirty="0" noProof="1">
                <a:solidFill>
                  <a:srgbClr val="FFFFFF"/>
                </a:solidFill>
                <a:latin typeface="☞DIODRUM ARABIC SEMIBOLD" pitchFamily="2" charset="-78"/>
                <a:cs typeface="☞DIODRUM ARABIC SEMIBOLD" pitchFamily="2" charset="-78"/>
              </a:rPr>
              <a:t>النموذج المقترح</a:t>
            </a:r>
          </a:p>
        </p:txBody>
      </p:sp>
      <p:sp>
        <p:nvSpPr>
          <p:cNvPr id="3" name="رقم القسم"/>
          <p:cNvSpPr/>
          <p:nvPr/>
        </p:nvSpPr>
        <p:spPr>
          <a:xfrm>
            <a:off x="10305288" y="2084832"/>
            <a:ext cx="1051560" cy="1051560"/>
          </a:xfrm>
          <a:prstGeom prst="ellipse">
            <a:avLst/>
          </a:prstGeom>
          <a:solidFill>
            <a:srgbClr val="1CC182"/>
          </a:solidFill>
          <a:ln>
            <a:noFill/>
          </a:ln>
        </p:spPr>
        <p:txBody>
          <a:bodyPr wrap="square" lIns="0" tIns="0" rIns="0" bIns="0" rtlCol="0" anchor="ctr">
            <a:noAutofit/>
          </a:bodyPr>
          <a:lstStyle/>
          <a:p>
            <a:pPr marL="0" indent="0" algn="ctr" rtl="1">
              <a:lnSpc>
                <a:spcPts val="6000"/>
              </a:lnSpc>
              <a:spcBef>
                <a:spcPts val="0"/>
              </a:spcBef>
              <a:spcAft>
                <a:spcPts val="0"/>
              </a:spcAft>
              <a:buNone/>
            </a:pPr>
            <a:r>
              <a:rPr lang="ar-SA" sz="4600" b="1" i="0" dirty="0" noProof="1">
                <a:solidFill>
                  <a:srgbClr val="FFFFFF"/>
                </a:solidFill>
                <a:latin typeface="☞DIODRUM ARABIC SEMIBOLD" pitchFamily="2" charset="-78"/>
                <a:cs typeface="☞DIODRUM ARABIC SEMIBOLD" pitchFamily="2" charset="-78"/>
              </a:rPr>
              <a:t>2</a:t>
            </a:r>
            <a:endParaRPr lang="ar-SA" sz="4600" dirty="0"/>
          </a:p>
        </p:txBody>
      </p:sp>
      <p:sp>
        <p:nvSpPr>
          <p:cNvPr id="4" name="وصف القسم"/>
          <p:cNvSpPr txBox="1"/>
          <p:nvPr/>
        </p:nvSpPr>
        <p:spPr>
          <a:xfrm>
            <a:off x="4480560" y="4498848"/>
            <a:ext cx="6876288" cy="82296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000" b="0" i="0" dirty="0" noProof="1">
                <a:solidFill>
                  <a:srgbClr val="D5D3E8"/>
                </a:solidFill>
                <a:latin typeface="☞DIODRUM ARABIC MEDIUM" pitchFamily="2" charset="-78"/>
                <a:cs typeface="☞DIODRUM ARABIC MEDIUM" pitchFamily="2" charset="-78"/>
              </a:rPr>
              <a:t>خيارات التصميم والإطار والمسارات والمستهدف والبيانات</a:t>
            </a:r>
            <a:endParaRPr lang="ar-SA" sz="2000" dirty="0"/>
          </a:p>
        </p:txBody>
      </p:sp>
      <p:sp>
        <p:nvSpPr>
          <p:cNvPr id="5"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الانتقال إلى التنفيذ يتطلب حسم أربعة خيارات في تصميم المسار</a:t>
            </a:r>
          </a:p>
        </p:txBody>
      </p:sp>
      <p:sp>
        <p:nvSpPr>
          <p:cNvPr id="3" name="Text Placeholder 2"/>
          <p:cNvSpPr>
            <a:spLocks noGrp="1"/>
          </p:cNvSpPr>
          <p:nvPr>
            <p:ph type="body" idx="13" sz="quarter"/>
          </p:nvPr>
        </p:nvSpPr>
        <p:spPr/>
        <p:txBody>
          <a:bodyPr/>
          <a:lstStyle/>
          <a:p>
            <a:r>
              <a:rPr lang="ar-SA" dirty="0" noProof="1"/>
              <a:t>نحول موضوعات النقاش إلى قرارات يمكن البناء عليها.</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2  ·  النموذج المقترح</a:t>
            </a:r>
            <a:endParaRPr lang="ar-SA" sz="1100" dirty="0"/>
          </a:p>
        </p:txBody>
      </p:sp>
      <p:sp>
        <p:nvSpPr>
          <p:cNvPr id="6" name="خيار نطاق المسؤولية"/>
          <p:cNvSpPr/>
          <p:nvPr/>
        </p:nvSpPr>
        <p:spPr>
          <a:xfrm>
            <a:off x="6190488" y="2011680"/>
            <a:ext cx="5166360" cy="1897380"/>
          </a:xfrm>
          <a:prstGeom prst="roundRect">
            <a:avLst>
              <a:gd name="adj" fmla="val 6746"/>
            </a:avLst>
          </a:prstGeom>
          <a:solidFill>
            <a:srgbClr val="F5F5F5"/>
          </a:solidFill>
          <a:ln>
            <a:noFill/>
          </a:ln>
        </p:spPr>
        <p:txBody>
          <a:bodyPr wrap="square" lIns="91440" tIns="45720" rIns="91440" bIns="45720" rtlCol="0" anchor="t">
            <a:noAutofit/>
          </a:bodyPr>
          <a:lstStyle/>
          <a:p>
            <a:endParaRPr lang="ar-SA"/>
          </a:p>
        </p:txBody>
      </p:sp>
      <p:sp>
        <p:nvSpPr>
          <p:cNvPr id="7" name="دائرة أيقونة"/>
          <p:cNvSpPr/>
          <p:nvPr/>
        </p:nvSpPr>
        <p:spPr>
          <a:xfrm>
            <a:off x="10497312" y="2194560"/>
            <a:ext cx="603504" cy="603504"/>
          </a:xfrm>
          <a:prstGeom prst="ellipse">
            <a:avLst/>
          </a:prstGeom>
          <a:solidFill>
            <a:srgbClr val="F1E9FA"/>
          </a:solidFill>
          <a:ln>
            <a:noFill/>
          </a:ln>
        </p:spPr>
      </p:sp>
      <p:pic>
        <p:nvPicPr>
          <p:cNvPr id="8" name="أيقونة Scales" descr=""/>
          <p:cNvPicPr>
            <a:picLocks noChangeAspect="1"/>
          </p:cNvPicPr>
          <p:nvPr/>
        </p:nvPicPr>
        <p:blipFill>
          <a:blip r:embed="rId2"/>
          <a:stretch>
            <a:fillRect/>
          </a:stretch>
        </p:blipFill>
        <p:spPr>
          <a:xfrm>
            <a:off x="10636118" y="2333366"/>
            <a:ext cx="325892" cy="325892"/>
          </a:xfrm>
          <a:prstGeom prst="rect">
            <a:avLst/>
          </a:prstGeom>
        </p:spPr>
      </p:pic>
      <p:sp>
        <p:nvSpPr>
          <p:cNvPr id="9" name="عنوان نطاق المسؤولية"/>
          <p:cNvSpPr txBox="1"/>
          <p:nvPr/>
        </p:nvSpPr>
        <p:spPr>
          <a:xfrm>
            <a:off x="6446520" y="2194560"/>
            <a:ext cx="3867912" cy="603504"/>
          </a:xfrm>
          <a:prstGeom prst="rect">
            <a:avLst/>
          </a:prstGeom>
          <a:noFill/>
          <a:ln>
            <a:noFill/>
          </a:ln>
        </p:spPr>
        <p:txBody>
          <a:bodyPr wrap="square" lIns="0" tIns="0" rIns="0" bIns="0" rtlCol="0" anchor="ctr">
            <a:noAutofit/>
          </a:bodyPr>
          <a:lstStyle/>
          <a:p>
            <a:pPr marL="0" indent="0" algn="r" rtl="1">
              <a:lnSpc>
                <a:spcPts val="3000"/>
              </a:lnSpc>
              <a:spcBef>
                <a:spcPts val="0"/>
              </a:spcBef>
              <a:spcAft>
                <a:spcPts val="0"/>
              </a:spcAft>
              <a:buNone/>
            </a:pPr>
            <a:r>
              <a:rPr lang="ar-SA" sz="2100" b="0" i="0" dirty="0" noProof="1">
                <a:solidFill>
                  <a:srgbClr val="7C32C9"/>
                </a:solidFill>
                <a:latin typeface="☞DIODRUM ARABIC SEMIBOLD" pitchFamily="2" charset="-78"/>
                <a:cs typeface="☞DIODRUM ARABIC SEMIBOLD" pitchFamily="2" charset="-78"/>
              </a:rPr>
              <a:t>نطاق المسؤولية</a:t>
            </a:r>
            <a:endParaRPr lang="ar-SA" sz="2100" dirty="0"/>
          </a:p>
        </p:txBody>
      </p:sp>
      <p:sp>
        <p:nvSpPr>
          <p:cNvPr id="10" name="نص نطاق المسؤولية"/>
          <p:cNvSpPr txBox="1"/>
          <p:nvPr/>
        </p:nvSpPr>
        <p:spPr>
          <a:xfrm>
            <a:off x="6446520" y="2926080"/>
            <a:ext cx="4654296" cy="928116"/>
          </a:xfrm>
          <a:prstGeom prst="rect">
            <a:avLst/>
          </a:prstGeom>
          <a:noFill/>
          <a:ln>
            <a:noFill/>
          </a:ln>
        </p:spPr>
        <p:txBody>
          <a:bodyPr wrap="square" lIns="0" tIns="0" rIns="0" bIns="0" rtlCol="0" anchor="t">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توزيع مكتوب للأدوار بين قيادة المبادرة، ودعم المسار الحكومي، والجهات المنفذة، والجهات المالكة للبيانات.</a:t>
            </a:r>
            <a:endParaRPr lang="ar-SA" sz="1500" dirty="0"/>
          </a:p>
        </p:txBody>
      </p:sp>
      <p:sp>
        <p:nvSpPr>
          <p:cNvPr id="11" name="خيار نطاق التغطية"/>
          <p:cNvSpPr/>
          <p:nvPr/>
        </p:nvSpPr>
        <p:spPr>
          <a:xfrm>
            <a:off x="841248" y="2011680"/>
            <a:ext cx="5166360" cy="1897380"/>
          </a:xfrm>
          <a:prstGeom prst="roundRect">
            <a:avLst>
              <a:gd name="adj" fmla="val 6746"/>
            </a:avLst>
          </a:prstGeom>
          <a:solidFill>
            <a:srgbClr val="F5F5F5"/>
          </a:solidFill>
          <a:ln>
            <a:noFill/>
          </a:ln>
        </p:spPr>
        <p:txBody>
          <a:bodyPr wrap="square" lIns="91440" tIns="45720" rIns="91440" bIns="45720" rtlCol="0" anchor="t">
            <a:noAutofit/>
          </a:bodyPr>
          <a:lstStyle/>
          <a:p>
            <a:endParaRPr lang="ar-SA"/>
          </a:p>
        </p:txBody>
      </p:sp>
      <p:sp>
        <p:nvSpPr>
          <p:cNvPr id="12" name="دائرة أيقونة"/>
          <p:cNvSpPr/>
          <p:nvPr/>
        </p:nvSpPr>
        <p:spPr>
          <a:xfrm>
            <a:off x="5148072" y="2194560"/>
            <a:ext cx="603504" cy="603504"/>
          </a:xfrm>
          <a:prstGeom prst="ellipse">
            <a:avLst/>
          </a:prstGeom>
          <a:solidFill>
            <a:srgbClr val="E5F6F6"/>
          </a:solidFill>
          <a:ln>
            <a:noFill/>
          </a:ln>
        </p:spPr>
      </p:sp>
      <p:pic>
        <p:nvPicPr>
          <p:cNvPr id="13" name="أيقونة MapTrifold" descr=""/>
          <p:cNvPicPr>
            <a:picLocks noChangeAspect="1"/>
          </p:cNvPicPr>
          <p:nvPr/>
        </p:nvPicPr>
        <p:blipFill>
          <a:blip r:embed="rId3"/>
          <a:stretch>
            <a:fillRect/>
          </a:stretch>
        </p:blipFill>
        <p:spPr>
          <a:xfrm>
            <a:off x="5286878" y="2333366"/>
            <a:ext cx="325892" cy="325892"/>
          </a:xfrm>
          <a:prstGeom prst="rect">
            <a:avLst/>
          </a:prstGeom>
        </p:spPr>
      </p:pic>
      <p:sp>
        <p:nvSpPr>
          <p:cNvPr id="14" name="عنوان نطاق التغطية"/>
          <p:cNvSpPr txBox="1"/>
          <p:nvPr/>
        </p:nvSpPr>
        <p:spPr>
          <a:xfrm>
            <a:off x="1097280" y="2194560"/>
            <a:ext cx="3867912" cy="603504"/>
          </a:xfrm>
          <a:prstGeom prst="rect">
            <a:avLst/>
          </a:prstGeom>
          <a:noFill/>
          <a:ln>
            <a:noFill/>
          </a:ln>
        </p:spPr>
        <p:txBody>
          <a:bodyPr wrap="square" lIns="0" tIns="0" rIns="0" bIns="0" rtlCol="0" anchor="ctr">
            <a:noAutofit/>
          </a:bodyPr>
          <a:lstStyle/>
          <a:p>
            <a:pPr marL="0" indent="0" algn="r" rtl="1">
              <a:lnSpc>
                <a:spcPts val="3000"/>
              </a:lnSpc>
              <a:spcBef>
                <a:spcPts val="0"/>
              </a:spcBef>
              <a:spcAft>
                <a:spcPts val="0"/>
              </a:spcAft>
              <a:buNone/>
            </a:pPr>
            <a:r>
              <a:rPr lang="ar-SA" sz="2100" b="0" i="0" dirty="0" noProof="1">
                <a:solidFill>
                  <a:srgbClr val="00ABAF"/>
                </a:solidFill>
                <a:latin typeface="☞DIODRUM ARABIC SEMIBOLD" pitchFamily="2" charset="-78"/>
                <a:cs typeface="☞DIODRUM ARABIC SEMIBOLD" pitchFamily="2" charset="-78"/>
              </a:rPr>
              <a:t>نطاق التغطية</a:t>
            </a:r>
            <a:endParaRPr lang="ar-SA" sz="2100" dirty="0"/>
          </a:p>
        </p:txBody>
      </p:sp>
      <p:sp>
        <p:nvSpPr>
          <p:cNvPr id="15" name="نص نطاق التغطية"/>
          <p:cNvSpPr txBox="1"/>
          <p:nvPr/>
        </p:nvSpPr>
        <p:spPr>
          <a:xfrm>
            <a:off x="1097280" y="2926080"/>
            <a:ext cx="4654296" cy="928116"/>
          </a:xfrm>
          <a:prstGeom prst="rect">
            <a:avLst/>
          </a:prstGeom>
          <a:noFill/>
          <a:ln>
            <a:noFill/>
          </a:ln>
        </p:spPr>
        <p:txBody>
          <a:bodyPr wrap="square" lIns="0" tIns="0" rIns="0" bIns="0" rtlCol="0" anchor="t">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إطار مشترك يمكن تطبيقه على الحكومة، مع ترتيب التنفيذ بحسب الأولوية والأثر والجاهزية.</a:t>
            </a:r>
            <a:endParaRPr lang="ar-SA" sz="1500" dirty="0"/>
          </a:p>
        </p:txBody>
      </p:sp>
      <p:sp>
        <p:nvSpPr>
          <p:cNvPr id="16" name="خيار تقسيم المستفيدين"/>
          <p:cNvSpPr/>
          <p:nvPr/>
        </p:nvSpPr>
        <p:spPr>
          <a:xfrm>
            <a:off x="6190488" y="4091940"/>
            <a:ext cx="5166360" cy="1897380"/>
          </a:xfrm>
          <a:prstGeom prst="roundRect">
            <a:avLst>
              <a:gd name="adj" fmla="val 6746"/>
            </a:avLst>
          </a:prstGeom>
          <a:solidFill>
            <a:srgbClr val="F5F5F5"/>
          </a:solidFill>
          <a:ln>
            <a:noFill/>
          </a:ln>
        </p:spPr>
        <p:txBody>
          <a:bodyPr wrap="square" lIns="91440" tIns="45720" rIns="91440" bIns="45720" rtlCol="0" anchor="t">
            <a:noAutofit/>
          </a:bodyPr>
          <a:lstStyle/>
          <a:p>
            <a:endParaRPr lang="ar-SA"/>
          </a:p>
        </p:txBody>
      </p:sp>
      <p:sp>
        <p:nvSpPr>
          <p:cNvPr id="17" name="دائرة أيقونة"/>
          <p:cNvSpPr/>
          <p:nvPr/>
        </p:nvSpPr>
        <p:spPr>
          <a:xfrm>
            <a:off x="10497312" y="4274820"/>
            <a:ext cx="603504" cy="603504"/>
          </a:xfrm>
          <a:prstGeom prst="ellipse">
            <a:avLst/>
          </a:prstGeom>
          <a:solidFill>
            <a:srgbClr val="F1E9FA"/>
          </a:solidFill>
          <a:ln>
            <a:noFill/>
          </a:ln>
        </p:spPr>
      </p:sp>
      <p:pic>
        <p:nvPicPr>
          <p:cNvPr id="18" name="أيقونة ChartPieSlice" descr=""/>
          <p:cNvPicPr>
            <a:picLocks noChangeAspect="1"/>
          </p:cNvPicPr>
          <p:nvPr/>
        </p:nvPicPr>
        <p:blipFill>
          <a:blip r:embed="rId4"/>
          <a:stretch>
            <a:fillRect/>
          </a:stretch>
        </p:blipFill>
        <p:spPr>
          <a:xfrm>
            <a:off x="10636118" y="4413626"/>
            <a:ext cx="325892" cy="325892"/>
          </a:xfrm>
          <a:prstGeom prst="rect">
            <a:avLst/>
          </a:prstGeom>
        </p:spPr>
      </p:pic>
      <p:sp>
        <p:nvSpPr>
          <p:cNvPr id="19" name="عنوان تقسيم المستفيدين"/>
          <p:cNvSpPr txBox="1"/>
          <p:nvPr/>
        </p:nvSpPr>
        <p:spPr>
          <a:xfrm>
            <a:off x="6446520" y="4274820"/>
            <a:ext cx="3867912" cy="603504"/>
          </a:xfrm>
          <a:prstGeom prst="rect">
            <a:avLst/>
          </a:prstGeom>
          <a:noFill/>
          <a:ln>
            <a:noFill/>
          </a:ln>
        </p:spPr>
        <p:txBody>
          <a:bodyPr wrap="square" lIns="0" tIns="0" rIns="0" bIns="0" rtlCol="0" anchor="ctr">
            <a:noAutofit/>
          </a:bodyPr>
          <a:lstStyle/>
          <a:p>
            <a:pPr marL="0" indent="0" algn="r" rtl="1">
              <a:lnSpc>
                <a:spcPts val="3000"/>
              </a:lnSpc>
              <a:spcBef>
                <a:spcPts val="0"/>
              </a:spcBef>
              <a:spcAft>
                <a:spcPts val="0"/>
              </a:spcAft>
              <a:buNone/>
            </a:pPr>
            <a:r>
              <a:rPr lang="ar-SA" sz="2100" b="0" i="0" dirty="0" noProof="1">
                <a:solidFill>
                  <a:srgbClr val="7C32C9"/>
                </a:solidFill>
                <a:latin typeface="☞DIODRUM ARABIC SEMIBOLD" pitchFamily="2" charset="-78"/>
                <a:cs typeface="☞DIODRUM ARABIC SEMIBOLD" pitchFamily="2" charset="-78"/>
              </a:rPr>
              <a:t>تقسيم المستفيدين</a:t>
            </a:r>
            <a:endParaRPr lang="ar-SA" sz="2100" dirty="0"/>
          </a:p>
        </p:txBody>
      </p:sp>
      <p:sp>
        <p:nvSpPr>
          <p:cNvPr id="20" name="نص تقسيم المستفيدين"/>
          <p:cNvSpPr txBox="1"/>
          <p:nvPr/>
        </p:nvSpPr>
        <p:spPr>
          <a:xfrm>
            <a:off x="6446520" y="5006340"/>
            <a:ext cx="4654296" cy="928116"/>
          </a:xfrm>
          <a:prstGeom prst="rect">
            <a:avLst/>
          </a:prstGeom>
          <a:noFill/>
          <a:ln>
            <a:noFill/>
          </a:ln>
        </p:spPr>
        <p:txBody>
          <a:bodyPr wrap="square" lIns="0" tIns="0" rIns="0" bIns="0" rtlCol="0" anchor="t">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ثلاثة مسارات رئيسية، مع تفصيل المستوى الوظيفي والتخصص والدور داخل كل مسار.</a:t>
            </a:r>
            <a:endParaRPr lang="ar-SA" sz="1500" dirty="0"/>
          </a:p>
        </p:txBody>
      </p:sp>
      <p:sp>
        <p:nvSpPr>
          <p:cNvPr id="21" name="خيار البيانات والتمويل"/>
          <p:cNvSpPr/>
          <p:nvPr/>
        </p:nvSpPr>
        <p:spPr>
          <a:xfrm>
            <a:off x="841248" y="4091940"/>
            <a:ext cx="5166360" cy="1897380"/>
          </a:xfrm>
          <a:prstGeom prst="roundRect">
            <a:avLst>
              <a:gd name="adj" fmla="val 6746"/>
            </a:avLst>
          </a:prstGeom>
          <a:solidFill>
            <a:srgbClr val="F5F5F5"/>
          </a:solidFill>
          <a:ln>
            <a:noFill/>
          </a:ln>
        </p:spPr>
        <p:txBody>
          <a:bodyPr wrap="square" lIns="91440" tIns="45720" rIns="91440" bIns="45720" rtlCol="0" anchor="t">
            <a:noAutofit/>
          </a:bodyPr>
          <a:lstStyle/>
          <a:p>
            <a:endParaRPr lang="ar-SA"/>
          </a:p>
        </p:txBody>
      </p:sp>
      <p:sp>
        <p:nvSpPr>
          <p:cNvPr id="22" name="دائرة أيقونة"/>
          <p:cNvSpPr/>
          <p:nvPr/>
        </p:nvSpPr>
        <p:spPr>
          <a:xfrm>
            <a:off x="5148072" y="4274820"/>
            <a:ext cx="603504" cy="603504"/>
          </a:xfrm>
          <a:prstGeom prst="ellipse">
            <a:avLst/>
          </a:prstGeom>
          <a:solidFill>
            <a:srgbClr val="E5F6F6"/>
          </a:solidFill>
          <a:ln>
            <a:noFill/>
          </a:ln>
        </p:spPr>
      </p:sp>
      <p:pic>
        <p:nvPicPr>
          <p:cNvPr id="23" name="أيقونة Database" descr=""/>
          <p:cNvPicPr>
            <a:picLocks noChangeAspect="1"/>
          </p:cNvPicPr>
          <p:nvPr/>
        </p:nvPicPr>
        <p:blipFill>
          <a:blip r:embed="rId5"/>
          <a:stretch>
            <a:fillRect/>
          </a:stretch>
        </p:blipFill>
        <p:spPr>
          <a:xfrm>
            <a:off x="5286878" y="4413626"/>
            <a:ext cx="325892" cy="325892"/>
          </a:xfrm>
          <a:prstGeom prst="rect">
            <a:avLst/>
          </a:prstGeom>
        </p:spPr>
      </p:pic>
      <p:sp>
        <p:nvSpPr>
          <p:cNvPr id="24" name="عنوان البيانات والتمويل"/>
          <p:cNvSpPr txBox="1"/>
          <p:nvPr/>
        </p:nvSpPr>
        <p:spPr>
          <a:xfrm>
            <a:off x="1097280" y="4274820"/>
            <a:ext cx="3867912" cy="603504"/>
          </a:xfrm>
          <a:prstGeom prst="rect">
            <a:avLst/>
          </a:prstGeom>
          <a:noFill/>
          <a:ln>
            <a:noFill/>
          </a:ln>
        </p:spPr>
        <p:txBody>
          <a:bodyPr wrap="square" lIns="0" tIns="0" rIns="0" bIns="0" rtlCol="0" anchor="ctr">
            <a:noAutofit/>
          </a:bodyPr>
          <a:lstStyle/>
          <a:p>
            <a:pPr marL="0" indent="0" algn="r" rtl="1">
              <a:lnSpc>
                <a:spcPts val="3000"/>
              </a:lnSpc>
              <a:spcBef>
                <a:spcPts val="0"/>
              </a:spcBef>
              <a:spcAft>
                <a:spcPts val="0"/>
              </a:spcAft>
              <a:buNone/>
            </a:pPr>
            <a:r>
              <a:rPr lang="ar-SA" sz="2100" b="0" i="0" dirty="0" noProof="1">
                <a:solidFill>
                  <a:srgbClr val="00ABAF"/>
                </a:solidFill>
                <a:latin typeface="☞DIODRUM ARABIC SEMIBOLD" pitchFamily="2" charset="-78"/>
                <a:cs typeface="☞DIODRUM ARABIC SEMIBOLD" pitchFamily="2" charset="-78"/>
              </a:rPr>
              <a:t>البيانات والتمويل</a:t>
            </a:r>
            <a:endParaRPr lang="ar-SA" sz="2100" dirty="0"/>
          </a:p>
        </p:txBody>
      </p:sp>
      <p:sp>
        <p:nvSpPr>
          <p:cNvPr id="25" name="نص البيانات والتمويل"/>
          <p:cNvSpPr txBox="1"/>
          <p:nvPr/>
        </p:nvSpPr>
        <p:spPr>
          <a:xfrm>
            <a:off x="1097280" y="5006340"/>
            <a:ext cx="4654296" cy="928116"/>
          </a:xfrm>
          <a:prstGeom prst="rect">
            <a:avLst/>
          </a:prstGeom>
          <a:noFill/>
          <a:ln>
            <a:noFill/>
          </a:ln>
        </p:spPr>
        <p:txBody>
          <a:bodyPr wrap="square" lIns="0" tIns="0" rIns="0" bIns="0" rtlCol="0" anchor="t">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استكمال التقدير الوطني بالتوازي مع تشخيص الجهات الخمس، وتسعير البرامج المخصصة قبل اعتماد التنفيذ الممول.</a:t>
            </a:r>
            <a:endParaRPr lang="ar-SA" sz="1500" dirty="0"/>
          </a:p>
        </p:txBody>
      </p:sp>
      <p:sp>
        <p:nvSpPr>
          <p:cNvPr id="26"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(الشرائح 3 و6 و7)؛ وثيقة المهمة الوطنية (ص 3-5).  الحالة: تحليل وتوصية من قدراتك مبنيان على موضوعات النقاش، وليسا اتفاقًا معتمدًا.</a:t>
            </a:r>
            <a:endParaRPr lang="ar-SA" sz="105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نوصي بإطار للحكومة وتنفيذ متدرج يبدأ بالجهات ذات الأولوية</a:t>
            </a:r>
          </a:p>
        </p:txBody>
      </p:sp>
      <p:sp>
        <p:nvSpPr>
          <p:cNvPr id="3" name="Text Placeholder 2"/>
          <p:cNvSpPr>
            <a:spLocks noGrp="1"/>
          </p:cNvSpPr>
          <p:nvPr>
            <p:ph type="body" idx="13" sz="quarter"/>
          </p:nvPr>
        </p:nvSpPr>
        <p:spPr/>
        <p:txBody>
          <a:bodyPr/>
          <a:lstStyle/>
          <a:p>
            <a:r>
              <a:rPr lang="ar-SA" dirty="0" noProof="1"/>
              <a:t>نطاق التغطية يحدد من نخدم، وأولوية التنفيذ تحدد من نبدأ به.</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2  ·  النموذج المقترح</a:t>
            </a:r>
            <a:endParaRPr lang="ar-SA" sz="1100" dirty="0"/>
          </a:p>
        </p:txBody>
      </p:sp>
      <p:sp>
        <p:nvSpPr>
          <p:cNvPr id="6" name="الموجة الأولى"/>
          <p:cNvSpPr/>
          <p:nvPr/>
        </p:nvSpPr>
        <p:spPr>
          <a:xfrm>
            <a:off x="7072884" y="2011680"/>
            <a:ext cx="3566160" cy="1481328"/>
          </a:xfrm>
          <a:prstGeom prst="roundRect">
            <a:avLst>
              <a:gd name="adj" fmla="val 11111"/>
            </a:avLst>
          </a:prstGeom>
          <a:solidFill>
            <a:srgbClr val="7C32C9"/>
          </a:solidFill>
          <a:ln>
            <a:noFill/>
          </a:ln>
        </p:spPr>
        <p:txBody>
          <a:bodyPr wrap="square" lIns="91440" tIns="45720" rIns="91440" bIns="45720" rtlCol="0" anchor="t">
            <a:noAutofit/>
          </a:bodyPr>
          <a:lstStyle/>
          <a:p>
            <a:endParaRPr lang="ar-SA"/>
          </a:p>
        </p:txBody>
      </p:sp>
      <p:sp>
        <p:nvSpPr>
          <p:cNvPr id="7" name="وسم الموجة الأولى"/>
          <p:cNvSpPr txBox="1"/>
          <p:nvPr/>
        </p:nvSpPr>
        <p:spPr>
          <a:xfrm>
            <a:off x="7301484" y="2139696"/>
            <a:ext cx="3108960" cy="274320"/>
          </a:xfrm>
          <a:prstGeom prst="rect">
            <a:avLst/>
          </a:prstGeom>
          <a:noFill/>
          <a:ln>
            <a:noFill/>
          </a:ln>
        </p:spPr>
        <p:txBody>
          <a:bodyPr wrap="square" lIns="0" tIns="0" rIns="0" bIns="0" rtlCol="0" anchor="t">
            <a:noAutofit/>
          </a:bodyPr>
          <a:lstStyle/>
          <a:p>
            <a:pPr marL="0" indent="0" algn="ctr" rtl="1">
              <a:lnSpc>
                <a:spcPts val="1900"/>
              </a:lnSpc>
              <a:spcBef>
                <a:spcPts val="0"/>
              </a:spcBef>
              <a:spcAft>
                <a:spcPts val="0"/>
              </a:spcAft>
              <a:buNone/>
            </a:pPr>
            <a:r>
              <a:rPr lang="ar-SA" sz="1300" b="0" i="0" dirty="0" noProof="1">
                <a:solidFill>
                  <a:srgbClr val="E6D8F7"/>
                </a:solidFill>
                <a:latin typeface="☞DIODRUM ARABIC SEMIBOLD" pitchFamily="2" charset="-78"/>
                <a:cs typeface="☞DIODRUM ARABIC SEMIBOLD" pitchFamily="2" charset="-78"/>
              </a:rPr>
              <a:t>في البداية</a:t>
            </a:r>
            <a:endParaRPr lang="ar-SA" sz="1300" dirty="0"/>
          </a:p>
        </p:txBody>
      </p:sp>
      <p:sp>
        <p:nvSpPr>
          <p:cNvPr id="8" name="عنوان الموجة الأولى"/>
          <p:cNvSpPr txBox="1"/>
          <p:nvPr/>
        </p:nvSpPr>
        <p:spPr>
          <a:xfrm>
            <a:off x="7301484" y="2395728"/>
            <a:ext cx="3108960" cy="457200"/>
          </a:xfrm>
          <a:prstGeom prst="rect">
            <a:avLst/>
          </a:prstGeom>
          <a:noFill/>
          <a:ln>
            <a:noFill/>
          </a:ln>
        </p:spPr>
        <p:txBody>
          <a:bodyPr wrap="square" lIns="0" tIns="0" rIns="0" bIns="0" rtlCol="0" anchor="ctr">
            <a:noAutofit/>
          </a:bodyPr>
          <a:lstStyle/>
          <a:p>
            <a:pPr marL="0" indent="0" algn="ctr" rtl="1">
              <a:lnSpc>
                <a:spcPts val="3200"/>
              </a:lnSpc>
              <a:spcBef>
                <a:spcPts val="0"/>
              </a:spcBef>
              <a:spcAft>
                <a:spcPts val="0"/>
              </a:spcAft>
              <a:buNone/>
            </a:pPr>
            <a:r>
              <a:rPr lang="ar-SA" sz="2200" b="1" i="0" dirty="0" noProof="1">
                <a:solidFill>
                  <a:srgbClr val="FFFFFF"/>
                </a:solidFill>
                <a:latin typeface="☞DIODRUM ARABIC SEMIBOLD" pitchFamily="2" charset="-78"/>
                <a:cs typeface="☞DIODRUM ARABIC SEMIBOLD" pitchFamily="2" charset="-78"/>
              </a:rPr>
              <a:t>5 جهات ذات أولوية</a:t>
            </a:r>
            <a:endParaRPr lang="ar-SA" sz="2200" dirty="0"/>
          </a:p>
        </p:txBody>
      </p:sp>
      <p:sp>
        <p:nvSpPr>
          <p:cNvPr id="9" name="وصف الموجة الأولى"/>
          <p:cNvSpPr txBox="1"/>
          <p:nvPr/>
        </p:nvSpPr>
        <p:spPr>
          <a:xfrm>
            <a:off x="7274052" y="2862072"/>
            <a:ext cx="3163824" cy="594360"/>
          </a:xfrm>
          <a:prstGeom prst="rect">
            <a:avLst/>
          </a:prstGeom>
          <a:noFill/>
          <a:ln>
            <a:noFill/>
          </a:ln>
        </p:spPr>
        <p:txBody>
          <a:bodyPr wrap="square" lIns="0" tIns="0" rIns="0" bIns="0" rtlCol="0" anchor="t">
            <a:noAutofit/>
          </a:bodyPr>
          <a:lstStyle/>
          <a:p>
            <a:pPr marL="0" indent="0" algn="ctr" rtl="1">
              <a:lnSpc>
                <a:spcPts val="2000"/>
              </a:lnSpc>
              <a:spcBef>
                <a:spcPts val="0"/>
              </a:spcBef>
              <a:spcAft>
                <a:spcPts val="0"/>
              </a:spcAft>
              <a:buNone/>
            </a:pPr>
            <a:r>
              <a:rPr lang="ar-SA" sz="1400" b="0" i="0" dirty="0" noProof="1">
                <a:solidFill>
                  <a:srgbClr val="FFFFFF"/>
                </a:solidFill>
                <a:latin typeface="☞DIODRUM ARABIC MEDIUM" pitchFamily="2" charset="-78"/>
                <a:cs typeface="☞DIODRUM ARABIC MEDIUM" pitchFamily="2" charset="-78"/>
              </a:rPr>
              <a:t>تشخيص الاحتياج وبناء برامج نوعية — بعد تأكيد أسمائها</a:t>
            </a:r>
            <a:endParaRPr lang="ar-SA" sz="1400" dirty="0"/>
          </a:p>
        </p:txBody>
      </p:sp>
      <p:sp>
        <p:nvSpPr>
          <p:cNvPr id="10" name="سهم"/>
          <p:cNvSpPr/>
          <p:nvPr/>
        </p:nvSpPr>
        <p:spPr>
          <a:xfrm flipV="1">
            <a:off x="8709660" y="3511296"/>
            <a:ext cx="292608" cy="155448"/>
          </a:xfrm>
          <a:prstGeom prst="triangle">
            <a:avLst/>
          </a:prstGeom>
          <a:solidFill>
            <a:srgbClr val="7C32C9"/>
          </a:solidFill>
          <a:ln>
            <a:noFill/>
          </a:ln>
        </p:spPr>
      </p:sp>
      <p:sp>
        <p:nvSpPr>
          <p:cNvPr id="11" name="إطار الحكومة"/>
          <p:cNvSpPr/>
          <p:nvPr/>
        </p:nvSpPr>
        <p:spPr>
          <a:xfrm>
            <a:off x="6355080" y="3675888"/>
            <a:ext cx="5001768" cy="2313432"/>
          </a:xfrm>
          <a:prstGeom prst="roundRect">
            <a:avLst>
              <a:gd name="adj" fmla="val 7905"/>
            </a:avLst>
          </a:prstGeom>
          <a:solidFill>
            <a:srgbClr val="E5F6F6"/>
          </a:solidFill>
          <a:ln w="9525">
            <a:solidFill>
              <a:srgbClr val="00ABAF"/>
            </a:solidFill>
          </a:ln>
        </p:spPr>
        <p:txBody>
          <a:bodyPr wrap="square" lIns="91440" tIns="45720" rIns="91440" bIns="45720" rtlCol="0" anchor="t">
            <a:noAutofit/>
          </a:bodyPr>
          <a:lstStyle/>
          <a:p>
            <a:endParaRPr lang="ar-SA"/>
          </a:p>
        </p:txBody>
      </p:sp>
      <p:sp>
        <p:nvSpPr>
          <p:cNvPr id="12" name="وسم"/>
          <p:cNvSpPr/>
          <p:nvPr/>
        </p:nvSpPr>
        <p:spPr>
          <a:xfrm>
            <a:off x="9390888" y="3858768"/>
            <a:ext cx="1737360" cy="310896"/>
          </a:xfrm>
          <a:prstGeom prst="roundRect">
            <a:avLst>
              <a:gd name="adj" fmla="val 50000"/>
            </a:avLst>
          </a:prstGeom>
          <a:solidFill>
            <a:srgbClr val="00ABA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FFFFFF"/>
                </a:solidFill>
                <a:latin typeface="☞DIODRUM ARABIC SEMIBOLD" pitchFamily="2" charset="-78"/>
                <a:cs typeface="☞DIODRUM ARABIC SEMIBOLD" pitchFamily="2" charset="-78"/>
              </a:rPr>
              <a:t>على مستوى الحكومة</a:t>
            </a:r>
            <a:endParaRPr lang="ar-SA" sz="1200" dirty="0"/>
          </a:p>
        </p:txBody>
      </p:sp>
      <p:sp>
        <p:nvSpPr>
          <p:cNvPr id="13" name="عنوان الإطار"/>
          <p:cNvSpPr txBox="1"/>
          <p:nvPr/>
        </p:nvSpPr>
        <p:spPr>
          <a:xfrm>
            <a:off x="6583680" y="4206240"/>
            <a:ext cx="4544568" cy="411480"/>
          </a:xfrm>
          <a:prstGeom prst="rect">
            <a:avLst/>
          </a:prstGeom>
          <a:noFill/>
          <a:ln>
            <a:noFill/>
          </a:ln>
        </p:spPr>
        <p:txBody>
          <a:bodyPr wrap="square" lIns="0" tIns="0" rIns="0" bIns="0" rtlCol="0" anchor="ctr">
            <a:noAutofit/>
          </a:bodyPr>
          <a:lstStyle/>
          <a:p>
            <a:pPr marL="0" indent="0" algn="r" rtl="1">
              <a:lnSpc>
                <a:spcPts val="3100"/>
              </a:lnSpc>
              <a:spcBef>
                <a:spcPts val="0"/>
              </a:spcBef>
              <a:spcAft>
                <a:spcPts val="0"/>
              </a:spcAft>
              <a:buNone/>
            </a:pPr>
            <a:r>
              <a:rPr lang="ar-SA" sz="2200" b="1" i="0" dirty="0" noProof="1">
                <a:solidFill>
                  <a:srgbClr val="7C32C9"/>
                </a:solidFill>
                <a:latin typeface="☞DIODRUM ARABIC SEMIBOLD" pitchFamily="2" charset="-78"/>
                <a:cs typeface="☞DIODRUM ARABIC SEMIBOLD" pitchFamily="2" charset="-78"/>
              </a:rPr>
              <a:t>إطار مشترك</a:t>
            </a:r>
            <a:endParaRPr lang="ar-SA" sz="2200" dirty="0"/>
          </a:p>
        </p:txBody>
      </p:sp>
      <p:sp>
        <p:nvSpPr>
          <p:cNvPr id="14" name="عنصر الإطار"/>
          <p:cNvSpPr/>
          <p:nvPr/>
        </p:nvSpPr>
        <p:spPr>
          <a:xfrm>
            <a:off x="8924544" y="4681728"/>
            <a:ext cx="2203704" cy="365760"/>
          </a:xfrm>
          <a:prstGeom prst="roundRect">
            <a:avLst>
              <a:gd name="adj" fmla="val 25000"/>
            </a:avLst>
          </a:prstGeom>
          <a:solidFill>
            <a:srgbClr val="FFFFFF"/>
          </a:solidFill>
          <a:ln>
            <a:noFill/>
          </a:ln>
        </p:spPr>
        <p:txBody>
          <a:bodyPr wrap="square" lIns="45720" tIns="0" rIns="45720" bIns="0" rtlCol="0" anchor="ctr">
            <a:noAutofit/>
          </a:bodyPr>
          <a:lstStyle/>
          <a:p>
            <a:pPr marL="0" indent="0" algn="ctr" rtl="1">
              <a:lnSpc>
                <a:spcPts val="2000"/>
              </a:lnSpc>
              <a:spcBef>
                <a:spcPts val="0"/>
              </a:spcBef>
              <a:spcAft>
                <a:spcPts val="0"/>
              </a:spcAft>
              <a:buNone/>
            </a:pPr>
            <a:r>
              <a:rPr lang="ar-SA" sz="1400" b="0" i="0" dirty="0" noProof="1">
                <a:solidFill>
                  <a:srgbClr val="00ABAF"/>
                </a:solidFill>
                <a:latin typeface="☞DIODRUM ARABIC SEMIBOLD" pitchFamily="2" charset="-78"/>
                <a:cs typeface="☞DIODRUM ARABIC SEMIBOLD" pitchFamily="2" charset="-78"/>
              </a:rPr>
              <a:t>القدرات</a:t>
            </a:r>
            <a:endParaRPr lang="ar-SA" sz="1400" dirty="0"/>
          </a:p>
        </p:txBody>
      </p:sp>
      <p:sp>
        <p:nvSpPr>
          <p:cNvPr id="15" name="عنصر الإطار"/>
          <p:cNvSpPr/>
          <p:nvPr/>
        </p:nvSpPr>
        <p:spPr>
          <a:xfrm>
            <a:off x="6583680" y="4681728"/>
            <a:ext cx="2203704" cy="365760"/>
          </a:xfrm>
          <a:prstGeom prst="roundRect">
            <a:avLst>
              <a:gd name="adj" fmla="val 25000"/>
            </a:avLst>
          </a:prstGeom>
          <a:solidFill>
            <a:srgbClr val="FFFFFF"/>
          </a:solidFill>
          <a:ln>
            <a:noFill/>
          </a:ln>
        </p:spPr>
        <p:txBody>
          <a:bodyPr wrap="square" lIns="45720" tIns="0" rIns="45720" bIns="0" rtlCol="0" anchor="ctr">
            <a:noAutofit/>
          </a:bodyPr>
          <a:lstStyle/>
          <a:p>
            <a:pPr marL="0" indent="0" algn="ctr" rtl="1">
              <a:lnSpc>
                <a:spcPts val="2000"/>
              </a:lnSpc>
              <a:spcBef>
                <a:spcPts val="0"/>
              </a:spcBef>
              <a:spcAft>
                <a:spcPts val="0"/>
              </a:spcAft>
              <a:buNone/>
            </a:pPr>
            <a:r>
              <a:rPr lang="ar-SA" sz="1400" b="0" i="0" dirty="0" noProof="1">
                <a:solidFill>
                  <a:srgbClr val="00ABAF"/>
                </a:solidFill>
                <a:latin typeface="☞DIODRUM ARABIC SEMIBOLD" pitchFamily="2" charset="-78"/>
                <a:cs typeface="☞DIODRUM ARABIC SEMIBOLD" pitchFamily="2" charset="-78"/>
              </a:rPr>
              <a:t>التصنيف</a:t>
            </a:r>
            <a:endParaRPr lang="ar-SA" sz="1400" dirty="0"/>
          </a:p>
        </p:txBody>
      </p:sp>
      <p:sp>
        <p:nvSpPr>
          <p:cNvPr id="16" name="عنصر الإطار"/>
          <p:cNvSpPr/>
          <p:nvPr/>
        </p:nvSpPr>
        <p:spPr>
          <a:xfrm>
            <a:off x="8924544" y="5138928"/>
            <a:ext cx="2203704" cy="365760"/>
          </a:xfrm>
          <a:prstGeom prst="roundRect">
            <a:avLst>
              <a:gd name="adj" fmla="val 25000"/>
            </a:avLst>
          </a:prstGeom>
          <a:solidFill>
            <a:srgbClr val="FFFFFF"/>
          </a:solidFill>
          <a:ln>
            <a:noFill/>
          </a:ln>
        </p:spPr>
        <p:txBody>
          <a:bodyPr wrap="square" lIns="45720" tIns="0" rIns="45720" bIns="0" rtlCol="0" anchor="ctr">
            <a:noAutofit/>
          </a:bodyPr>
          <a:lstStyle/>
          <a:p>
            <a:pPr marL="0" indent="0" algn="ctr" rtl="1">
              <a:lnSpc>
                <a:spcPts val="2000"/>
              </a:lnSpc>
              <a:spcBef>
                <a:spcPts val="0"/>
              </a:spcBef>
              <a:spcAft>
                <a:spcPts val="0"/>
              </a:spcAft>
              <a:buNone/>
            </a:pPr>
            <a:r>
              <a:rPr lang="ar-SA" sz="1400" b="0" i="0" dirty="0" noProof="1">
                <a:solidFill>
                  <a:srgbClr val="00ABAF"/>
                </a:solidFill>
                <a:latin typeface="☞DIODRUM ARABIC SEMIBOLD" pitchFamily="2" charset="-78"/>
                <a:cs typeface="☞DIODRUM ARABIC SEMIBOLD" pitchFamily="2" charset="-78"/>
              </a:rPr>
              <a:t>مؤشرات القياس</a:t>
            </a:r>
            <a:endParaRPr lang="ar-SA" sz="1400" dirty="0"/>
          </a:p>
        </p:txBody>
      </p:sp>
      <p:sp>
        <p:nvSpPr>
          <p:cNvPr id="17" name="عنصر الإطار"/>
          <p:cNvSpPr/>
          <p:nvPr/>
        </p:nvSpPr>
        <p:spPr>
          <a:xfrm>
            <a:off x="6583680" y="5138928"/>
            <a:ext cx="2203704" cy="365760"/>
          </a:xfrm>
          <a:prstGeom prst="roundRect">
            <a:avLst>
              <a:gd name="adj" fmla="val 25000"/>
            </a:avLst>
          </a:prstGeom>
          <a:solidFill>
            <a:srgbClr val="FFFFFF"/>
          </a:solidFill>
          <a:ln>
            <a:noFill/>
          </a:ln>
        </p:spPr>
        <p:txBody>
          <a:bodyPr wrap="square" lIns="45720" tIns="0" rIns="45720" bIns="0" rtlCol="0" anchor="ctr">
            <a:noAutofit/>
          </a:bodyPr>
          <a:lstStyle/>
          <a:p>
            <a:pPr marL="0" indent="0" algn="ctr" rtl="1">
              <a:lnSpc>
                <a:spcPts val="2000"/>
              </a:lnSpc>
              <a:spcBef>
                <a:spcPts val="0"/>
              </a:spcBef>
              <a:spcAft>
                <a:spcPts val="0"/>
              </a:spcAft>
              <a:buNone/>
            </a:pPr>
            <a:r>
              <a:rPr lang="ar-SA" sz="1400" b="0" i="0" dirty="0" noProof="1">
                <a:solidFill>
                  <a:srgbClr val="00ABAF"/>
                </a:solidFill>
                <a:latin typeface="☞DIODRUM ARABIC SEMIBOLD" pitchFamily="2" charset="-78"/>
                <a:cs typeface="☞DIODRUM ARABIC SEMIBOLD" pitchFamily="2" charset="-78"/>
              </a:rPr>
              <a:t>محتوى تأسيسي</a:t>
            </a:r>
            <a:endParaRPr lang="ar-SA" sz="1400" dirty="0"/>
          </a:p>
        </p:txBody>
      </p:sp>
      <p:sp>
        <p:nvSpPr>
          <p:cNvPr id="18" name="تذييل الإطار"/>
          <p:cNvSpPr txBox="1"/>
          <p:nvPr/>
        </p:nvSpPr>
        <p:spPr>
          <a:xfrm>
            <a:off x="6583680" y="5522976"/>
            <a:ext cx="4544568" cy="429768"/>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تستفيد منه الجهات وفق جاهزيتها</a:t>
            </a:r>
            <a:endParaRPr lang="ar-SA" sz="1400" dirty="0"/>
          </a:p>
        </p:txBody>
      </p:sp>
      <p:sp>
        <p:nvSpPr>
          <p:cNvPr id="19" name="معايير الترتيب"/>
          <p:cNvSpPr/>
          <p:nvPr/>
        </p:nvSpPr>
        <p:spPr>
          <a:xfrm>
            <a:off x="841248" y="2011680"/>
            <a:ext cx="5330952" cy="1938528"/>
          </a:xfrm>
          <a:prstGeom prst="roundRect">
            <a:avLst>
              <a:gd name="adj" fmla="val 6603"/>
            </a:avLst>
          </a:prstGeom>
          <a:solidFill>
            <a:srgbClr val="F5F5F5"/>
          </a:solidFill>
          <a:ln>
            <a:noFill/>
          </a:ln>
        </p:spPr>
        <p:txBody>
          <a:bodyPr wrap="square" lIns="91440" tIns="45720" rIns="91440" bIns="45720" rtlCol="0" anchor="t">
            <a:noAutofit/>
          </a:bodyPr>
          <a:lstStyle/>
          <a:p>
            <a:endParaRPr lang="ar-SA"/>
          </a:p>
        </p:txBody>
      </p:sp>
      <p:sp>
        <p:nvSpPr>
          <p:cNvPr id="20" name="عنوان المعايير"/>
          <p:cNvSpPr txBox="1"/>
          <p:nvPr/>
        </p:nvSpPr>
        <p:spPr>
          <a:xfrm>
            <a:off x="1069848" y="2139696"/>
            <a:ext cx="4873752" cy="329184"/>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معايير ترتيب التنفيذ</a:t>
            </a:r>
            <a:endParaRPr lang="ar-SA" sz="1700" dirty="0"/>
          </a:p>
        </p:txBody>
      </p:sp>
      <p:sp>
        <p:nvSpPr>
          <p:cNvPr id="21" name="رقم"/>
          <p:cNvSpPr/>
          <p:nvPr/>
        </p:nvSpPr>
        <p:spPr>
          <a:xfrm>
            <a:off x="5669280" y="2560320"/>
            <a:ext cx="274320" cy="274320"/>
          </a:xfrm>
          <a:prstGeom prst="ellipse">
            <a:avLst/>
          </a:prstGeom>
          <a:solidFill>
            <a:srgbClr val="00ABAF"/>
          </a:solidFill>
          <a:ln>
            <a:noFill/>
          </a:ln>
        </p:spPr>
        <p:txBody>
          <a:bodyPr wrap="square" lIns="0" tIns="0" rIns="0" bIns="0" rtlCol="0" anchor="ctr">
            <a:noAutofit/>
          </a:bodyPr>
          <a:lstStyle/>
          <a:p>
            <a:pPr marL="0" indent="0" algn="ctr" rtl="1">
              <a:lnSpc>
                <a:spcPts val="1440"/>
              </a:lnSpc>
              <a:spcBef>
                <a:spcPts val="0"/>
              </a:spcBef>
              <a:spcAft>
                <a:spcPts val="0"/>
              </a:spcAft>
              <a:buNone/>
            </a:pPr>
            <a:r>
              <a:rPr lang="ar-SA" sz="1200" b="1" i="0" dirty="0" noProof="1">
                <a:solidFill>
                  <a:srgbClr val="FFFFFF"/>
                </a:solidFill>
                <a:latin typeface="☞DIODRUM ARABIC SEMIBOLD" pitchFamily="2" charset="-78"/>
                <a:cs typeface="☞DIODRUM ARABIC SEMIBOLD" pitchFamily="2" charset="-78"/>
              </a:rPr>
              <a:t>1</a:t>
            </a:r>
            <a:endParaRPr lang="ar-SA" sz="1200" dirty="0"/>
          </a:p>
        </p:txBody>
      </p:sp>
      <p:sp>
        <p:nvSpPr>
          <p:cNvPr id="22" name="معيار"/>
          <p:cNvSpPr txBox="1"/>
          <p:nvPr/>
        </p:nvSpPr>
        <p:spPr>
          <a:xfrm>
            <a:off x="1069848" y="2542032"/>
            <a:ext cx="4462272"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قيمة الاستخدام للخدمة أو العملية</a:t>
            </a:r>
            <a:endParaRPr lang="ar-SA" sz="1400" dirty="0"/>
          </a:p>
        </p:txBody>
      </p:sp>
      <p:sp>
        <p:nvSpPr>
          <p:cNvPr id="23" name="رقم"/>
          <p:cNvSpPr/>
          <p:nvPr/>
        </p:nvSpPr>
        <p:spPr>
          <a:xfrm>
            <a:off x="5669280" y="2907792"/>
            <a:ext cx="274320" cy="274320"/>
          </a:xfrm>
          <a:prstGeom prst="ellipse">
            <a:avLst/>
          </a:prstGeom>
          <a:solidFill>
            <a:srgbClr val="00ABAF"/>
          </a:solidFill>
          <a:ln>
            <a:noFill/>
          </a:ln>
        </p:spPr>
        <p:txBody>
          <a:bodyPr wrap="square" lIns="0" tIns="0" rIns="0" bIns="0" rtlCol="0" anchor="ctr">
            <a:noAutofit/>
          </a:bodyPr>
          <a:lstStyle/>
          <a:p>
            <a:pPr marL="0" indent="0" algn="ctr" rtl="1">
              <a:lnSpc>
                <a:spcPts val="1440"/>
              </a:lnSpc>
              <a:spcBef>
                <a:spcPts val="0"/>
              </a:spcBef>
              <a:spcAft>
                <a:spcPts val="0"/>
              </a:spcAft>
              <a:buNone/>
            </a:pPr>
            <a:r>
              <a:rPr lang="ar-SA" sz="1200" b="1" i="0" dirty="0" noProof="1">
                <a:solidFill>
                  <a:srgbClr val="FFFFFF"/>
                </a:solidFill>
                <a:latin typeface="☞DIODRUM ARABIC SEMIBOLD" pitchFamily="2" charset="-78"/>
                <a:cs typeface="☞DIODRUM ARABIC SEMIBOLD" pitchFamily="2" charset="-78"/>
              </a:rPr>
              <a:t>2</a:t>
            </a:r>
            <a:endParaRPr lang="ar-SA" sz="1200" dirty="0"/>
          </a:p>
        </p:txBody>
      </p:sp>
      <p:sp>
        <p:nvSpPr>
          <p:cNvPr id="24" name="معيار"/>
          <p:cNvSpPr txBox="1"/>
          <p:nvPr/>
        </p:nvSpPr>
        <p:spPr>
          <a:xfrm>
            <a:off x="1069848" y="2889504"/>
            <a:ext cx="4462272"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حجم الحاجة للمهارات</a:t>
            </a:r>
            <a:endParaRPr lang="ar-SA" sz="1400" dirty="0"/>
          </a:p>
        </p:txBody>
      </p:sp>
      <p:sp>
        <p:nvSpPr>
          <p:cNvPr id="25" name="رقم"/>
          <p:cNvSpPr/>
          <p:nvPr/>
        </p:nvSpPr>
        <p:spPr>
          <a:xfrm>
            <a:off x="5669280" y="3255264"/>
            <a:ext cx="274320" cy="274320"/>
          </a:xfrm>
          <a:prstGeom prst="ellipse">
            <a:avLst/>
          </a:prstGeom>
          <a:solidFill>
            <a:srgbClr val="00ABAF"/>
          </a:solidFill>
          <a:ln>
            <a:noFill/>
          </a:ln>
        </p:spPr>
        <p:txBody>
          <a:bodyPr wrap="square" lIns="0" tIns="0" rIns="0" bIns="0" rtlCol="0" anchor="ctr">
            <a:noAutofit/>
          </a:bodyPr>
          <a:lstStyle/>
          <a:p>
            <a:pPr marL="0" indent="0" algn="ctr" rtl="1">
              <a:lnSpc>
                <a:spcPts val="1440"/>
              </a:lnSpc>
              <a:spcBef>
                <a:spcPts val="0"/>
              </a:spcBef>
              <a:spcAft>
                <a:spcPts val="0"/>
              </a:spcAft>
              <a:buNone/>
            </a:pPr>
            <a:r>
              <a:rPr lang="ar-SA" sz="1200" b="1" i="0" dirty="0" noProof="1">
                <a:solidFill>
                  <a:srgbClr val="FFFFFF"/>
                </a:solidFill>
                <a:latin typeface="☞DIODRUM ARABIC SEMIBOLD" pitchFamily="2" charset="-78"/>
                <a:cs typeface="☞DIODRUM ARABIC SEMIBOLD" pitchFamily="2" charset="-78"/>
              </a:rPr>
              <a:t>3</a:t>
            </a:r>
            <a:endParaRPr lang="ar-SA" sz="1200" dirty="0"/>
          </a:p>
        </p:txBody>
      </p:sp>
      <p:sp>
        <p:nvSpPr>
          <p:cNvPr id="26" name="معيار"/>
          <p:cNvSpPr txBox="1"/>
          <p:nvPr/>
        </p:nvSpPr>
        <p:spPr>
          <a:xfrm>
            <a:off x="1069848" y="3236976"/>
            <a:ext cx="4462272"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جاهزية البيانات والأدوات</a:t>
            </a:r>
            <a:endParaRPr lang="ar-SA" sz="1400" dirty="0"/>
          </a:p>
        </p:txBody>
      </p:sp>
      <p:sp>
        <p:nvSpPr>
          <p:cNvPr id="27" name="رقم"/>
          <p:cNvSpPr/>
          <p:nvPr/>
        </p:nvSpPr>
        <p:spPr>
          <a:xfrm>
            <a:off x="5669280" y="3602736"/>
            <a:ext cx="274320" cy="274320"/>
          </a:xfrm>
          <a:prstGeom prst="ellipse">
            <a:avLst/>
          </a:prstGeom>
          <a:solidFill>
            <a:srgbClr val="00ABAF"/>
          </a:solidFill>
          <a:ln>
            <a:noFill/>
          </a:ln>
        </p:spPr>
        <p:txBody>
          <a:bodyPr wrap="square" lIns="0" tIns="0" rIns="0" bIns="0" rtlCol="0" anchor="ctr">
            <a:noAutofit/>
          </a:bodyPr>
          <a:lstStyle/>
          <a:p>
            <a:pPr marL="0" indent="0" algn="ctr" rtl="1">
              <a:lnSpc>
                <a:spcPts val="1440"/>
              </a:lnSpc>
              <a:spcBef>
                <a:spcPts val="0"/>
              </a:spcBef>
              <a:spcAft>
                <a:spcPts val="0"/>
              </a:spcAft>
              <a:buNone/>
            </a:pPr>
            <a:r>
              <a:rPr lang="ar-SA" sz="1200" b="1" i="0" dirty="0" noProof="1">
                <a:solidFill>
                  <a:srgbClr val="FFFFFF"/>
                </a:solidFill>
                <a:latin typeface="☞DIODRUM ARABIC SEMIBOLD" pitchFamily="2" charset="-78"/>
                <a:cs typeface="☞DIODRUM ARABIC SEMIBOLD" pitchFamily="2" charset="-78"/>
              </a:rPr>
              <a:t>4</a:t>
            </a:r>
            <a:endParaRPr lang="ar-SA" sz="1200" dirty="0"/>
          </a:p>
        </p:txBody>
      </p:sp>
      <p:sp>
        <p:nvSpPr>
          <p:cNvPr id="28" name="معيار"/>
          <p:cNvSpPr txBox="1"/>
          <p:nvPr/>
        </p:nvSpPr>
        <p:spPr>
          <a:xfrm>
            <a:off x="1069848" y="3584448"/>
            <a:ext cx="4462272"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التزام قيادة الجهة بالتطبيق</a:t>
            </a:r>
            <a:endParaRPr lang="ar-SA" sz="1400" dirty="0"/>
          </a:p>
        </p:txBody>
      </p:sp>
      <p:sp>
        <p:nvSpPr>
          <p:cNvPr id="29" name="ملاحظة حساسية الجهة والبيانات"/>
          <p:cNvSpPr/>
          <p:nvPr/>
        </p:nvSpPr>
        <p:spPr>
          <a:xfrm>
            <a:off x="841248" y="4059936"/>
            <a:ext cx="5330952" cy="918972"/>
          </a:xfrm>
          <a:prstGeom prst="roundRect">
            <a:avLst>
              <a:gd name="adj" fmla="val 13930"/>
            </a:avLst>
          </a:prstGeom>
          <a:solidFill>
            <a:srgbClr val="F5F5F5"/>
          </a:solidFill>
          <a:ln>
            <a:noFill/>
          </a:ln>
        </p:spPr>
        <p:txBody>
          <a:bodyPr wrap="square" lIns="91440" tIns="45720" rIns="91440" bIns="45720" rtlCol="0" anchor="t">
            <a:noAutofit/>
          </a:bodyPr>
          <a:lstStyle/>
          <a:p>
            <a:endParaRPr lang="ar-SA"/>
          </a:p>
        </p:txBody>
      </p:sp>
      <p:sp>
        <p:nvSpPr>
          <p:cNvPr id="30" name="نص حساسية الجهة والبيانات"/>
          <p:cNvSpPr txBox="1"/>
          <p:nvPr/>
        </p:nvSpPr>
        <p:spPr>
          <a:xfrm>
            <a:off x="1069848" y="4059936"/>
            <a:ext cx="4873752" cy="9189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حساسية الجهة والبيانات:  </a:t>
            </a:r>
            <a:r>
              <a:rPr lang="ar-SA" sz="1400" b="0" i="0" dirty="0" noProof="1">
                <a:solidFill>
                  <a:srgbClr val="333333"/>
                </a:solidFill>
                <a:latin typeface="☞DIODRUM ARABIC MEDIUM" pitchFamily="2" charset="-78"/>
                <a:cs typeface="☞DIODRUM ARABIC MEDIUM" pitchFamily="2" charset="-78"/>
              </a:rPr>
              <a:t>تحدد ضوابط التنفيذ وشكل التدريب، وتؤخذ في الاعتبار عند اختيار حالات التطبيق.</a:t>
            </a:r>
            <a:endParaRPr lang="ar-SA" sz="1400" dirty="0"/>
          </a:p>
        </p:txBody>
      </p:sp>
      <p:sp>
        <p:nvSpPr>
          <p:cNvPr id="31" name="ملاحظة التوسع"/>
          <p:cNvSpPr/>
          <p:nvPr/>
        </p:nvSpPr>
        <p:spPr>
          <a:xfrm>
            <a:off x="841248" y="5070348"/>
            <a:ext cx="5330952" cy="918972"/>
          </a:xfrm>
          <a:prstGeom prst="roundRect">
            <a:avLst>
              <a:gd name="adj" fmla="val 13930"/>
            </a:avLst>
          </a:prstGeom>
          <a:solidFill>
            <a:srgbClr val="F5F5F5"/>
          </a:solidFill>
          <a:ln>
            <a:noFill/>
          </a:ln>
        </p:spPr>
        <p:txBody>
          <a:bodyPr wrap="square" lIns="91440" tIns="45720" rIns="91440" bIns="45720" rtlCol="0" anchor="t">
            <a:noAutofit/>
          </a:bodyPr>
          <a:lstStyle/>
          <a:p>
            <a:endParaRPr lang="ar-SA"/>
          </a:p>
        </p:txBody>
      </p:sp>
      <p:sp>
        <p:nvSpPr>
          <p:cNvPr id="32" name="نص التوسع"/>
          <p:cNvSpPr txBox="1"/>
          <p:nvPr/>
        </p:nvSpPr>
        <p:spPr>
          <a:xfrm>
            <a:off x="1069848" y="5070348"/>
            <a:ext cx="4873752" cy="9189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التوسع:  </a:t>
            </a:r>
            <a:r>
              <a:rPr lang="ar-SA" sz="1400" b="0" i="0" dirty="0" noProof="1">
                <a:solidFill>
                  <a:srgbClr val="333333"/>
                </a:solidFill>
                <a:latin typeface="☞DIODRUM ARABIC MEDIUM" pitchFamily="2" charset="-78"/>
                <a:cs typeface="☞DIODRUM ARABIC MEDIUM" pitchFamily="2" charset="-78"/>
              </a:rPr>
              <a:t>إعادة استخدام ما ينجح من المحتوى والحالات، وتعديل المسارات بحسب اختلاف مهام الجهات ونتائج المرحلة الأولى.</a:t>
            </a:r>
            <a:endParaRPr lang="ar-SA" sz="1400" dirty="0"/>
          </a:p>
        </p:txBody>
      </p:sp>
      <p:sp>
        <p:nvSpPr>
          <p:cNvPr id="33"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(الشرائح 3 و7).  الحالة: إطار التغطية ومعايير الاختيار والتوسع توصية؛ التوجه إلى خمس جهات وارد في المسودة وأسماؤها تُؤكَّد.</a:t>
            </a:r>
            <a:endParaRPr lang="ar-SA" sz="105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ثلاثة مسارات تجمع البساطة في الإدارة</a:t>
            </a:r>
            <a:br>
              <a:rPr lang="ar-SA" dirty="0"/>
            </a:br>
            <a:r>
              <a:rPr lang="ar-SA" dirty="0" noProof="1"/>
              <a:t>والدقة في استهداف المستفيدين</a:t>
            </a:r>
          </a:p>
        </p:txBody>
      </p:sp>
      <p:sp>
        <p:nvSpPr>
          <p:cNvPr id="3" name="Text Placeholder 2"/>
          <p:cNvSpPr>
            <a:spLocks noGrp="1"/>
          </p:cNvSpPr>
          <p:nvPr>
            <p:ph type="body" idx="13" sz="quarter"/>
          </p:nvPr>
        </p:nvSpPr>
        <p:spPr/>
        <p:txBody>
          <a:bodyPr/>
          <a:lstStyle/>
          <a:p>
            <a:r>
              <a:rPr lang="ar-SA" dirty="0" noProof="1"/>
              <a:t>نحدد المسار بحسب ما يُطلب من الموظف أن يقرره أو يطوره أو يطبقه في عمله.</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2  ·  النموذج المقترح</a:t>
            </a:r>
            <a:endParaRPr lang="ar-SA" sz="1100" dirty="0"/>
          </a:p>
        </p:txBody>
      </p:sp>
      <p:sp>
        <p:nvSpPr>
          <p:cNvPr id="6" name="مسار القيادات"/>
          <p:cNvSpPr/>
          <p:nvPr/>
        </p:nvSpPr>
        <p:spPr>
          <a:xfrm>
            <a:off x="7973568" y="2011680"/>
            <a:ext cx="3383280" cy="3227832"/>
          </a:xfrm>
          <a:prstGeom prst="roundRect">
            <a:avLst>
              <a:gd name="adj" fmla="val 4532"/>
            </a:avLst>
          </a:prstGeom>
          <a:solidFill>
            <a:srgbClr val="F5F5F5"/>
          </a:solidFill>
          <a:ln>
            <a:noFill/>
          </a:ln>
        </p:spPr>
        <p:txBody>
          <a:bodyPr wrap="square" lIns="91440" tIns="45720" rIns="91440" bIns="45720" rtlCol="0" anchor="t">
            <a:noAutofit/>
          </a:bodyPr>
          <a:lstStyle/>
          <a:p>
            <a:endParaRPr lang="ar-SA"/>
          </a:p>
        </p:txBody>
      </p:sp>
      <p:sp>
        <p:nvSpPr>
          <p:cNvPr id="7" name="رأس القيادات"/>
          <p:cNvSpPr/>
          <p:nvPr/>
        </p:nvSpPr>
        <p:spPr>
          <a:xfrm>
            <a:off x="7973568" y="2011680"/>
            <a:ext cx="3383280" cy="768096"/>
          </a:xfrm>
          <a:prstGeom prst="round2SameRect">
            <a:avLst>
              <a:gd name="adj1" fmla="val 17000"/>
              <a:gd name="adj2" fmla="val 0"/>
            </a:avLst>
          </a:prstGeom>
          <a:solidFill>
            <a:srgbClr val="7C32C9"/>
          </a:solidFill>
          <a:ln>
            <a:noFill/>
          </a:ln>
        </p:spPr>
        <p:txBody>
          <a:bodyPr wrap="square" lIns="91440" tIns="45720" rIns="91440" bIns="45720" rtlCol="0" anchor="t">
            <a:noAutofit/>
          </a:bodyPr>
          <a:lstStyle/>
          <a:p>
            <a:endParaRPr lang="ar-SA"/>
          </a:p>
        </p:txBody>
      </p:sp>
      <p:sp>
        <p:nvSpPr>
          <p:cNvPr id="8" name="دائرة"/>
          <p:cNvSpPr/>
          <p:nvPr/>
        </p:nvSpPr>
        <p:spPr>
          <a:xfrm>
            <a:off x="10561320" y="2112264"/>
            <a:ext cx="566928" cy="566928"/>
          </a:xfrm>
          <a:prstGeom prst="ellipse">
            <a:avLst/>
          </a:prstGeom>
          <a:solidFill>
            <a:srgbClr val="FFFFFF"/>
          </a:solidFill>
          <a:ln>
            <a:noFill/>
          </a:ln>
        </p:spPr>
      </p:sp>
      <p:pic>
        <p:nvPicPr>
          <p:cNvPr id="9" name="أيقونة Crown" descr=""/>
          <p:cNvPicPr>
            <a:picLocks noChangeAspect="1"/>
          </p:cNvPicPr>
          <p:nvPr/>
        </p:nvPicPr>
        <p:blipFill>
          <a:blip r:embed="rId2"/>
          <a:stretch>
            <a:fillRect/>
          </a:stretch>
        </p:blipFill>
        <p:spPr>
          <a:xfrm>
            <a:off x="10698480" y="2249424"/>
            <a:ext cx="292608" cy="292608"/>
          </a:xfrm>
          <a:prstGeom prst="rect">
            <a:avLst/>
          </a:prstGeom>
        </p:spPr>
      </p:pic>
      <p:sp>
        <p:nvSpPr>
          <p:cNvPr id="10" name="اسم القيادات"/>
          <p:cNvSpPr txBox="1"/>
          <p:nvPr/>
        </p:nvSpPr>
        <p:spPr>
          <a:xfrm>
            <a:off x="8156448" y="2075688"/>
            <a:ext cx="2221992" cy="640080"/>
          </a:xfrm>
          <a:prstGeom prst="rect">
            <a:avLst/>
          </a:prstGeom>
          <a:noFill/>
          <a:ln>
            <a:noFill/>
          </a:ln>
        </p:spPr>
        <p:txBody>
          <a:bodyPr wrap="square" lIns="0" tIns="0" rIns="0" bIns="0" rtlCol="0" anchor="ctr">
            <a:noAutofit/>
          </a:bodyPr>
          <a:lstStyle/>
          <a:p>
            <a:pPr marL="0" indent="0" algn="r" rtl="1">
              <a:lnSpc>
                <a:spcPts val="2900"/>
              </a:lnSpc>
              <a:spcBef>
                <a:spcPts val="0"/>
              </a:spcBef>
              <a:spcAft>
                <a:spcPts val="0"/>
              </a:spcAft>
              <a:buNone/>
            </a:pPr>
            <a:r>
              <a:rPr lang="ar-SA" sz="2100" b="1" i="0" dirty="0" noProof="1">
                <a:solidFill>
                  <a:srgbClr val="FFFFFF"/>
                </a:solidFill>
                <a:latin typeface="☞DIODRUM ARABIC SEMIBOLD" pitchFamily="2" charset="-78"/>
                <a:cs typeface="☞DIODRUM ARABIC SEMIBOLD" pitchFamily="2" charset="-78"/>
              </a:rPr>
              <a:t>القيادات</a:t>
            </a:r>
            <a:endParaRPr lang="ar-SA" sz="2100" dirty="0"/>
          </a:p>
          <a:p>
            <a:pPr marL="0" indent="0" algn="r" rtl="1">
              <a:lnSpc>
                <a:spcPts val="2000"/>
              </a:lnSpc>
              <a:spcBef>
                <a:spcPts val="0"/>
              </a:spcBef>
              <a:spcAft>
                <a:spcPts val="0"/>
              </a:spcAft>
              <a:buNone/>
            </a:pPr>
            <a:r>
              <a:rPr lang="ar-SA" sz="1400" b="0" i="0" dirty="0" noProof="1">
                <a:solidFill>
                  <a:srgbClr val="E6E3F4"/>
                </a:solidFill>
                <a:latin typeface="☞DIODRUM ARABIC MEDIUM" pitchFamily="2" charset="-78"/>
                <a:cs typeface="☞DIODRUM ARABIC MEDIUM" pitchFamily="2" charset="-78"/>
              </a:rPr>
              <a:t>من يقرر</a:t>
            </a:r>
            <a:endParaRPr lang="ar-SA" sz="1400" dirty="0"/>
          </a:p>
        </p:txBody>
      </p:sp>
      <p:sp>
        <p:nvSpPr>
          <p:cNvPr id="11" name="فئات القيادات"/>
          <p:cNvSpPr txBox="1"/>
          <p:nvPr/>
        </p:nvSpPr>
        <p:spPr>
          <a:xfrm>
            <a:off x="8156448" y="2871216"/>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الفئات بحسب الدور</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من يحدد الاتجاه ويعتمد الأولويات والاستثمار والحوكمة، مع مستويات داخلية بحسب نطاق القرار.</a:t>
            </a:r>
            <a:endParaRPr lang="ar-SA" sz="1400" dirty="0"/>
          </a:p>
        </p:txBody>
      </p:sp>
      <p:cxnSp>
        <p:nvCxnSpPr>
          <p:cNvPr id="12" name="فاصل"/>
          <p:cNvCxnSpPr/>
          <p:nvPr/>
        </p:nvCxnSpPr>
        <p:spPr>
          <a:xfrm>
            <a:off x="8156448" y="4225036"/>
            <a:ext cx="3017520" cy="0"/>
          </a:xfrm>
          <a:prstGeom prst="line">
            <a:avLst/>
          </a:prstGeom>
          <a:ln w="12700" cap="rnd">
            <a:solidFill>
              <a:srgbClr val="E2E4EA"/>
            </a:solidFill>
          </a:ln>
        </p:spPr>
      </p:cxnSp>
      <p:sp>
        <p:nvSpPr>
          <p:cNvPr id="13" name="نتيجة القيادات"/>
          <p:cNvSpPr txBox="1"/>
          <p:nvPr/>
        </p:nvSpPr>
        <p:spPr>
          <a:xfrm>
            <a:off x="8156448" y="4289044"/>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النتيجة المطلوبة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أولويات واضحة للتبني، وحوكمة ومسؤوليات، وقرارات تدعم التنفيذ والمتابعة.</a:t>
            </a:r>
            <a:endParaRPr lang="ar-SA" sz="1400" dirty="0"/>
          </a:p>
        </p:txBody>
      </p:sp>
      <p:sp>
        <p:nvSpPr>
          <p:cNvPr id="14" name="مسار المحترفون"/>
          <p:cNvSpPr/>
          <p:nvPr/>
        </p:nvSpPr>
        <p:spPr>
          <a:xfrm>
            <a:off x="4407408" y="2011680"/>
            <a:ext cx="3383280" cy="3227832"/>
          </a:xfrm>
          <a:prstGeom prst="roundRect">
            <a:avLst>
              <a:gd name="adj" fmla="val 4532"/>
            </a:avLst>
          </a:prstGeom>
          <a:solidFill>
            <a:srgbClr val="F5F5F5"/>
          </a:solidFill>
          <a:ln>
            <a:noFill/>
          </a:ln>
        </p:spPr>
        <p:txBody>
          <a:bodyPr wrap="square" lIns="91440" tIns="45720" rIns="91440" bIns="45720" rtlCol="0" anchor="t">
            <a:noAutofit/>
          </a:bodyPr>
          <a:lstStyle/>
          <a:p>
            <a:endParaRPr lang="ar-SA"/>
          </a:p>
        </p:txBody>
      </p:sp>
      <p:sp>
        <p:nvSpPr>
          <p:cNvPr id="15" name="رأس المحترفون"/>
          <p:cNvSpPr/>
          <p:nvPr/>
        </p:nvSpPr>
        <p:spPr>
          <a:xfrm>
            <a:off x="4407408" y="2011680"/>
            <a:ext cx="3383280" cy="768096"/>
          </a:xfrm>
          <a:prstGeom prst="round2SameRect">
            <a:avLst>
              <a:gd name="adj1" fmla="val 17000"/>
              <a:gd name="adj2" fmla="val 0"/>
            </a:avLst>
          </a:prstGeom>
          <a:solidFill>
            <a:srgbClr val="00ABAF"/>
          </a:solidFill>
          <a:ln>
            <a:noFill/>
          </a:ln>
        </p:spPr>
        <p:txBody>
          <a:bodyPr wrap="square" lIns="91440" tIns="45720" rIns="91440" bIns="45720" rtlCol="0" anchor="t">
            <a:noAutofit/>
          </a:bodyPr>
          <a:lstStyle/>
          <a:p>
            <a:endParaRPr lang="ar-SA"/>
          </a:p>
        </p:txBody>
      </p:sp>
      <p:sp>
        <p:nvSpPr>
          <p:cNvPr id="16" name="دائرة"/>
          <p:cNvSpPr/>
          <p:nvPr/>
        </p:nvSpPr>
        <p:spPr>
          <a:xfrm>
            <a:off x="6995160" y="2112264"/>
            <a:ext cx="566928" cy="566928"/>
          </a:xfrm>
          <a:prstGeom prst="ellipse">
            <a:avLst/>
          </a:prstGeom>
          <a:solidFill>
            <a:srgbClr val="FFFFFF"/>
          </a:solidFill>
          <a:ln>
            <a:noFill/>
          </a:ln>
        </p:spPr>
      </p:sp>
      <p:pic>
        <p:nvPicPr>
          <p:cNvPr id="17" name="أيقونة GearSix" descr=""/>
          <p:cNvPicPr>
            <a:picLocks noChangeAspect="1"/>
          </p:cNvPicPr>
          <p:nvPr/>
        </p:nvPicPr>
        <p:blipFill>
          <a:blip r:embed="rId3"/>
          <a:stretch>
            <a:fillRect/>
          </a:stretch>
        </p:blipFill>
        <p:spPr>
          <a:xfrm>
            <a:off x="7132320" y="2249424"/>
            <a:ext cx="292608" cy="292608"/>
          </a:xfrm>
          <a:prstGeom prst="rect">
            <a:avLst/>
          </a:prstGeom>
        </p:spPr>
      </p:pic>
      <p:sp>
        <p:nvSpPr>
          <p:cNvPr id="18" name="اسم المحترفون"/>
          <p:cNvSpPr txBox="1"/>
          <p:nvPr/>
        </p:nvSpPr>
        <p:spPr>
          <a:xfrm>
            <a:off x="4590288" y="2075688"/>
            <a:ext cx="2221992" cy="640080"/>
          </a:xfrm>
          <a:prstGeom prst="rect">
            <a:avLst/>
          </a:prstGeom>
          <a:noFill/>
          <a:ln>
            <a:noFill/>
          </a:ln>
        </p:spPr>
        <p:txBody>
          <a:bodyPr wrap="square" lIns="0" tIns="0" rIns="0" bIns="0" rtlCol="0" anchor="ctr">
            <a:noAutofit/>
          </a:bodyPr>
          <a:lstStyle/>
          <a:p>
            <a:pPr marL="0" indent="0" algn="r" rtl="1">
              <a:lnSpc>
                <a:spcPts val="2900"/>
              </a:lnSpc>
              <a:spcBef>
                <a:spcPts val="0"/>
              </a:spcBef>
              <a:spcAft>
                <a:spcPts val="0"/>
              </a:spcAft>
              <a:buNone/>
            </a:pPr>
            <a:r>
              <a:rPr lang="ar-SA" sz="2100" b="1" i="0" dirty="0" noProof="1">
                <a:solidFill>
                  <a:srgbClr val="FFFFFF"/>
                </a:solidFill>
                <a:latin typeface="☞DIODRUM ARABIC SEMIBOLD" pitchFamily="2" charset="-78"/>
                <a:cs typeface="☞DIODRUM ARABIC SEMIBOLD" pitchFamily="2" charset="-78"/>
              </a:rPr>
              <a:t>المحترفون</a:t>
            </a:r>
            <a:endParaRPr lang="ar-SA" sz="2100" dirty="0"/>
          </a:p>
          <a:p>
            <a:pPr marL="0" indent="0" algn="r" rtl="1">
              <a:lnSpc>
                <a:spcPts val="2000"/>
              </a:lnSpc>
              <a:spcBef>
                <a:spcPts val="0"/>
              </a:spcBef>
              <a:spcAft>
                <a:spcPts val="0"/>
              </a:spcAft>
              <a:buNone/>
            </a:pPr>
            <a:r>
              <a:rPr lang="ar-SA" sz="1400" b="0" i="0" dirty="0" noProof="1">
                <a:solidFill>
                  <a:srgbClr val="E6E3F4"/>
                </a:solidFill>
                <a:latin typeface="☞DIODRUM ARABIC MEDIUM" pitchFamily="2" charset="-78"/>
                <a:cs typeface="☞DIODRUM ARABIC MEDIUM" pitchFamily="2" charset="-78"/>
              </a:rPr>
              <a:t>من يطوّر</a:t>
            </a:r>
            <a:endParaRPr lang="ar-SA" sz="1400" dirty="0"/>
          </a:p>
        </p:txBody>
      </p:sp>
      <p:sp>
        <p:nvSpPr>
          <p:cNvPr id="19" name="فئات المحترفون"/>
          <p:cNvSpPr txBox="1"/>
          <p:nvPr/>
        </p:nvSpPr>
        <p:spPr>
          <a:xfrm>
            <a:off x="4590288" y="2871216"/>
            <a:ext cx="3017520" cy="13327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الفئات بحسب الدور</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المتخصصون التقنيون، وخبراء المجالات ومالكو العمليات الذين يصممون الاستخدام ويشرفون على جودته.</a:t>
            </a:r>
            <a:endParaRPr lang="ar-SA" sz="1400" dirty="0"/>
          </a:p>
        </p:txBody>
      </p:sp>
      <p:cxnSp>
        <p:nvCxnSpPr>
          <p:cNvPr id="20" name="فاصل"/>
          <p:cNvCxnSpPr/>
          <p:nvPr/>
        </p:nvCxnSpPr>
        <p:spPr>
          <a:xfrm>
            <a:off x="4590288" y="4225036"/>
            <a:ext cx="3017520" cy="0"/>
          </a:xfrm>
          <a:prstGeom prst="line">
            <a:avLst/>
          </a:prstGeom>
          <a:ln w="12700" cap="rnd">
            <a:solidFill>
              <a:srgbClr val="E2E4EA"/>
            </a:solidFill>
          </a:ln>
        </p:spPr>
      </p:cxnSp>
      <p:sp>
        <p:nvSpPr>
          <p:cNvPr id="21" name="نتيجة المحترفون"/>
          <p:cNvSpPr txBox="1"/>
          <p:nvPr/>
        </p:nvSpPr>
        <p:spPr>
          <a:xfrm>
            <a:off x="4590288" y="4289044"/>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النتيجة المطلوبة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قدرة على بناء حالات الاستخدام أو إدارتها، واختبارها، وتطبيقها ضمن عمل الجهة.</a:t>
            </a:r>
            <a:endParaRPr lang="ar-SA" sz="1400" dirty="0"/>
          </a:p>
        </p:txBody>
      </p:sp>
      <p:sp>
        <p:nvSpPr>
          <p:cNvPr id="22" name="مسار الوعي والتبني"/>
          <p:cNvSpPr/>
          <p:nvPr/>
        </p:nvSpPr>
        <p:spPr>
          <a:xfrm>
            <a:off x="841248" y="2011680"/>
            <a:ext cx="3383280" cy="3227832"/>
          </a:xfrm>
          <a:prstGeom prst="roundRect">
            <a:avLst>
              <a:gd name="adj" fmla="val 4532"/>
            </a:avLst>
          </a:prstGeom>
          <a:solidFill>
            <a:srgbClr val="F5F5F5"/>
          </a:solidFill>
          <a:ln>
            <a:noFill/>
          </a:ln>
        </p:spPr>
        <p:txBody>
          <a:bodyPr wrap="square" lIns="91440" tIns="45720" rIns="91440" bIns="45720" rtlCol="0" anchor="t">
            <a:noAutofit/>
          </a:bodyPr>
          <a:lstStyle/>
          <a:p>
            <a:endParaRPr lang="ar-SA"/>
          </a:p>
        </p:txBody>
      </p:sp>
      <p:sp>
        <p:nvSpPr>
          <p:cNvPr id="23" name="رأس الوعي والتبني"/>
          <p:cNvSpPr/>
          <p:nvPr/>
        </p:nvSpPr>
        <p:spPr>
          <a:xfrm>
            <a:off x="841248" y="2011680"/>
            <a:ext cx="3383280" cy="768096"/>
          </a:xfrm>
          <a:prstGeom prst="round2SameRect">
            <a:avLst>
              <a:gd name="adj1" fmla="val 17000"/>
              <a:gd name="adj2" fmla="val 0"/>
            </a:avLst>
          </a:prstGeom>
          <a:solidFill>
            <a:srgbClr val="2A206A"/>
          </a:solidFill>
          <a:ln>
            <a:noFill/>
          </a:ln>
        </p:spPr>
        <p:txBody>
          <a:bodyPr wrap="square" lIns="91440" tIns="45720" rIns="91440" bIns="45720" rtlCol="0" anchor="t">
            <a:noAutofit/>
          </a:bodyPr>
          <a:lstStyle/>
          <a:p>
            <a:endParaRPr lang="ar-SA"/>
          </a:p>
        </p:txBody>
      </p:sp>
      <p:sp>
        <p:nvSpPr>
          <p:cNvPr id="24" name="دائرة"/>
          <p:cNvSpPr/>
          <p:nvPr/>
        </p:nvSpPr>
        <p:spPr>
          <a:xfrm>
            <a:off x="3429000" y="2112264"/>
            <a:ext cx="566928" cy="566928"/>
          </a:xfrm>
          <a:prstGeom prst="ellipse">
            <a:avLst/>
          </a:prstGeom>
          <a:solidFill>
            <a:srgbClr val="FFFFFF"/>
          </a:solidFill>
          <a:ln>
            <a:noFill/>
          </a:ln>
        </p:spPr>
      </p:sp>
      <p:pic>
        <p:nvPicPr>
          <p:cNvPr id="25" name="أيقونة UsersThree" descr=""/>
          <p:cNvPicPr>
            <a:picLocks noChangeAspect="1"/>
          </p:cNvPicPr>
          <p:nvPr/>
        </p:nvPicPr>
        <p:blipFill>
          <a:blip r:embed="rId4"/>
          <a:stretch>
            <a:fillRect/>
          </a:stretch>
        </p:blipFill>
        <p:spPr>
          <a:xfrm>
            <a:off x="3566160" y="2249424"/>
            <a:ext cx="292608" cy="292608"/>
          </a:xfrm>
          <a:prstGeom prst="rect">
            <a:avLst/>
          </a:prstGeom>
        </p:spPr>
      </p:pic>
      <p:sp>
        <p:nvSpPr>
          <p:cNvPr id="26" name="اسم الوعي والتبني"/>
          <p:cNvSpPr txBox="1"/>
          <p:nvPr/>
        </p:nvSpPr>
        <p:spPr>
          <a:xfrm>
            <a:off x="1024128" y="2075688"/>
            <a:ext cx="2221992" cy="640080"/>
          </a:xfrm>
          <a:prstGeom prst="rect">
            <a:avLst/>
          </a:prstGeom>
          <a:noFill/>
          <a:ln>
            <a:noFill/>
          </a:ln>
        </p:spPr>
        <p:txBody>
          <a:bodyPr wrap="square" lIns="0" tIns="0" rIns="0" bIns="0" rtlCol="0" anchor="ctr">
            <a:noAutofit/>
          </a:bodyPr>
          <a:lstStyle/>
          <a:p>
            <a:pPr marL="0" indent="0" algn="r" rtl="1">
              <a:lnSpc>
                <a:spcPts val="2900"/>
              </a:lnSpc>
              <a:spcBef>
                <a:spcPts val="0"/>
              </a:spcBef>
              <a:spcAft>
                <a:spcPts val="0"/>
              </a:spcAft>
              <a:buNone/>
            </a:pPr>
            <a:r>
              <a:rPr lang="ar-SA" sz="2100" b="1" i="0" dirty="0" noProof="1">
                <a:solidFill>
                  <a:srgbClr val="FFFFFF"/>
                </a:solidFill>
                <a:latin typeface="☞DIODRUM ARABIC SEMIBOLD" pitchFamily="2" charset="-78"/>
                <a:cs typeface="☞DIODRUM ARABIC SEMIBOLD" pitchFamily="2" charset="-78"/>
              </a:rPr>
              <a:t>الوعي والتبني</a:t>
            </a:r>
            <a:endParaRPr lang="ar-SA" sz="2100" dirty="0"/>
          </a:p>
          <a:p>
            <a:pPr marL="0" indent="0" algn="r" rtl="1">
              <a:lnSpc>
                <a:spcPts val="2000"/>
              </a:lnSpc>
              <a:spcBef>
                <a:spcPts val="0"/>
              </a:spcBef>
              <a:spcAft>
                <a:spcPts val="0"/>
              </a:spcAft>
              <a:buNone/>
            </a:pPr>
            <a:r>
              <a:rPr lang="ar-SA" sz="1400" b="0" i="0" dirty="0" noProof="1">
                <a:solidFill>
                  <a:srgbClr val="E6E3F4"/>
                </a:solidFill>
                <a:latin typeface="☞DIODRUM ARABIC MEDIUM" pitchFamily="2" charset="-78"/>
                <a:cs typeface="☞DIODRUM ARABIC MEDIUM" pitchFamily="2" charset="-78"/>
              </a:rPr>
              <a:t>من يطبّق</a:t>
            </a:r>
            <a:endParaRPr lang="ar-SA" sz="1400" dirty="0"/>
          </a:p>
        </p:txBody>
      </p:sp>
      <p:sp>
        <p:nvSpPr>
          <p:cNvPr id="27" name="فئات الوعي والتبني"/>
          <p:cNvSpPr txBox="1"/>
          <p:nvPr/>
        </p:nvSpPr>
        <p:spPr>
          <a:xfrm>
            <a:off x="1024128" y="2871216"/>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الفئات بحسب الدور</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عموم الموظفين بحسب المهام التي يؤدونها وإمكانية استفادتهم من الأدوات المتاحة في الجهة.</a:t>
            </a:r>
            <a:endParaRPr lang="ar-SA" sz="1400" dirty="0"/>
          </a:p>
        </p:txBody>
      </p:sp>
      <p:cxnSp>
        <p:nvCxnSpPr>
          <p:cNvPr id="28" name="فاصل"/>
          <p:cNvCxnSpPr/>
          <p:nvPr/>
        </p:nvCxnSpPr>
        <p:spPr>
          <a:xfrm>
            <a:off x="1024128" y="4225036"/>
            <a:ext cx="3017520" cy="0"/>
          </a:xfrm>
          <a:prstGeom prst="line">
            <a:avLst/>
          </a:prstGeom>
          <a:ln w="12700" cap="rnd">
            <a:solidFill>
              <a:srgbClr val="E2E4EA"/>
            </a:solidFill>
          </a:ln>
        </p:spPr>
      </p:cxnSp>
      <p:sp>
        <p:nvSpPr>
          <p:cNvPr id="29" name="نتيجة الوعي والتبني"/>
          <p:cNvSpPr txBox="1"/>
          <p:nvPr/>
        </p:nvSpPr>
        <p:spPr>
          <a:xfrm>
            <a:off x="1024128" y="4289044"/>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النتيجة المطلوبة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استخدام واعٍ ومسؤول، وتحسين مهام محددة، وقدرة على مراجعة المخرجات وحدود الأداة.</a:t>
            </a:r>
            <a:endParaRPr lang="ar-SA" sz="1400" dirty="0"/>
          </a:p>
        </p:txBody>
      </p:sp>
      <p:sp>
        <p:nvSpPr>
          <p:cNvPr id="30" name="تصنيف المستفيدين"/>
          <p:cNvSpPr/>
          <p:nvPr/>
        </p:nvSpPr>
        <p:spPr>
          <a:xfrm>
            <a:off x="841248" y="5330952"/>
            <a:ext cx="10515600" cy="658368"/>
          </a:xfrm>
          <a:prstGeom prst="roundRect">
            <a:avLst>
              <a:gd name="adj" fmla="val 16666"/>
            </a:avLst>
          </a:prstGeom>
          <a:solidFill>
            <a:srgbClr val="E5F6F6"/>
          </a:solidFill>
          <a:ln>
            <a:noFill/>
          </a:ln>
        </p:spPr>
        <p:txBody>
          <a:bodyPr wrap="square" lIns="91440" tIns="45720" rIns="91440" bIns="45720" rtlCol="0" anchor="t">
            <a:noAutofit/>
          </a:bodyPr>
          <a:lstStyle/>
          <a:p>
            <a:endParaRPr lang="ar-SA"/>
          </a:p>
        </p:txBody>
      </p:sp>
      <p:sp>
        <p:nvSpPr>
          <p:cNvPr id="31" name="دائرة أيقونة"/>
          <p:cNvSpPr/>
          <p:nvPr/>
        </p:nvSpPr>
        <p:spPr>
          <a:xfrm>
            <a:off x="10698480" y="5422392"/>
            <a:ext cx="475488" cy="475488"/>
          </a:xfrm>
          <a:prstGeom prst="ellipse">
            <a:avLst/>
          </a:prstGeom>
          <a:solidFill>
            <a:srgbClr val="FFFFFF"/>
          </a:solidFill>
          <a:ln>
            <a:noFill/>
          </a:ln>
        </p:spPr>
      </p:sp>
      <p:pic>
        <p:nvPicPr>
          <p:cNvPr id="32" name="أيقونة TreeStructure" descr=""/>
          <p:cNvPicPr>
            <a:picLocks noChangeAspect="1"/>
          </p:cNvPicPr>
          <p:nvPr/>
        </p:nvPicPr>
        <p:blipFill>
          <a:blip r:embed="rId5"/>
          <a:stretch>
            <a:fillRect/>
          </a:stretch>
        </p:blipFill>
        <p:spPr>
          <a:xfrm>
            <a:off x="10807842" y="5531754"/>
            <a:ext cx="256764" cy="256764"/>
          </a:xfrm>
          <a:prstGeom prst="rect">
            <a:avLst/>
          </a:prstGeom>
        </p:spPr>
      </p:pic>
      <p:sp>
        <p:nvSpPr>
          <p:cNvPr id="33" name="تصنيف المستفيدين نص"/>
          <p:cNvSpPr txBox="1"/>
          <p:nvPr/>
        </p:nvSpPr>
        <p:spPr>
          <a:xfrm>
            <a:off x="1069848" y="5330952"/>
            <a:ext cx="9445752" cy="658368"/>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يظل المستوى الوظيفي والعائلة المهنية والتخصص جزءًا من تصميم البرنامج والترشيح. </a:t>
            </a:r>
            <a:r>
              <a:rPr lang="ar-SA" sz="1400" b="0" i="0" dirty="0" noProof="1">
                <a:solidFill>
                  <a:srgbClr val="2A206A"/>
                </a:solidFill>
                <a:latin typeface="☞DIODRUM ARABIC MEDIUM" pitchFamily="2" charset="-78"/>
                <a:cs typeface="☞DIODRUM ARABIC MEDIUM" pitchFamily="2" charset="-78"/>
              </a:rPr>
              <a:t>ويُحدد موقع المدير بحسب دوره: قيادة القرار، أو إدارة عملية تطبيق، أو استخدام الأدوات في مهامه.</a:t>
            </a:r>
            <a:endParaRPr lang="ar-SA" sz="1400" dirty="0"/>
          </a:p>
        </p:txBody>
      </p:sp>
      <p:sp>
        <p:nvSpPr>
          <p:cNvPr id="34"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وثيقة المهمة الوطنية (ص 4)؛ الدراسة المعيارية (ص 8)؛ OECD (2026).  الحالة: نموذج مقترح من قدراتك، وليس إعادة تصنيف رسمية للمسميات أو المراتب.</a:t>
            </a:r>
            <a:endParaRPr lang="ar-SA" sz="10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رقم 130 ألف يصلح لبحث حجم الاستهداف بعد تحديد أساس احتسابه</a:t>
            </a:r>
          </a:p>
        </p:txBody>
      </p:sp>
      <p:sp>
        <p:nvSpPr>
          <p:cNvPr id="3" name="Text Placeholder 2"/>
          <p:cNvSpPr>
            <a:spLocks noGrp="1"/>
          </p:cNvSpPr>
          <p:nvPr>
            <p:ph type="body" idx="13" sz="quarter"/>
          </p:nvPr>
        </p:nvSpPr>
        <p:spPr/>
        <p:txBody>
          <a:bodyPr/>
          <a:lstStyle/>
          <a:p>
            <a:r>
              <a:rPr lang="ar-SA" dirty="0" noProof="1"/>
              <a:t>نقترح التعامل معه كفرضية تخطيطية، ثم التحقق من بياناته وفترته ونوع التدريب الذي يشمله.</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2  ·  النموذج المقترح</a:t>
            </a:r>
            <a:endParaRPr lang="ar-SA" sz="1100" dirty="0"/>
          </a:p>
        </p:txBody>
      </p:sp>
      <p:sp>
        <p:nvSpPr>
          <p:cNvPr id="6" name="فرضية 130 ألف"/>
          <p:cNvSpPr/>
          <p:nvPr/>
        </p:nvSpPr>
        <p:spPr>
          <a:xfrm>
            <a:off x="7699248" y="2011680"/>
            <a:ext cx="3657600" cy="3017520"/>
          </a:xfrm>
          <a:prstGeom prst="roundRect">
            <a:avLst>
              <a:gd name="adj" fmla="val 5454"/>
            </a:avLst>
          </a:prstGeom>
          <a:solidFill>
            <a:srgbClr val="F1E9FA"/>
          </a:solidFill>
          <a:ln w="19050">
            <a:solidFill>
              <a:srgbClr val="7C32C9"/>
            </a:solidFill>
            <a:prstDash val="dash"/>
          </a:ln>
        </p:spPr>
        <p:txBody>
          <a:bodyPr wrap="square" lIns="91440" tIns="45720" rIns="91440" bIns="45720" rtlCol="0" anchor="t">
            <a:noAutofit/>
          </a:bodyPr>
          <a:lstStyle/>
          <a:p>
            <a:endParaRPr lang="ar-SA"/>
          </a:p>
        </p:txBody>
      </p:sp>
      <p:sp>
        <p:nvSpPr>
          <p:cNvPr id="7" name="وسم"/>
          <p:cNvSpPr/>
          <p:nvPr/>
        </p:nvSpPr>
        <p:spPr>
          <a:xfrm>
            <a:off x="8887968" y="2157984"/>
            <a:ext cx="2240280" cy="310896"/>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FFFFFF"/>
                </a:solidFill>
                <a:latin typeface="☞DIODRUM ARABIC SEMIBOLD" pitchFamily="2" charset="-78"/>
                <a:cs typeface="☞DIODRUM ARABIC SEMIBOLD" pitchFamily="2" charset="-78"/>
              </a:rPr>
              <a:t>فرضية تخطيطية — لم تُعتمد</a:t>
            </a:r>
            <a:endParaRPr lang="ar-SA" sz="1200" dirty="0"/>
          </a:p>
        </p:txBody>
      </p:sp>
      <p:sp>
        <p:nvSpPr>
          <p:cNvPr id="8" name="130 ألف"/>
          <p:cNvSpPr txBox="1"/>
          <p:nvPr/>
        </p:nvSpPr>
        <p:spPr>
          <a:xfrm>
            <a:off x="7927848" y="2487168"/>
            <a:ext cx="3200400" cy="804672"/>
          </a:xfrm>
          <a:prstGeom prst="rect">
            <a:avLst/>
          </a:prstGeom>
          <a:noFill/>
          <a:ln>
            <a:noFill/>
          </a:ln>
        </p:spPr>
        <p:txBody>
          <a:bodyPr wrap="square" lIns="0" tIns="0" rIns="0" bIns="0" rtlCol="0" anchor="ctr">
            <a:noAutofit/>
          </a:bodyPr>
          <a:lstStyle/>
          <a:p>
            <a:pPr marL="0" indent="0" algn="r" rtl="1">
              <a:lnSpc>
                <a:spcPts val="6400"/>
              </a:lnSpc>
              <a:spcBef>
                <a:spcPts val="0"/>
              </a:spcBef>
              <a:spcAft>
                <a:spcPts val="0"/>
              </a:spcAft>
              <a:buNone/>
            </a:pPr>
            <a:r>
              <a:rPr lang="ar-SA" sz="5000" b="1" i="0" dirty="0" noProof="1">
                <a:solidFill>
                  <a:srgbClr val="7C32C9"/>
                </a:solidFill>
                <a:latin typeface="☞DIODRUM ARABIC SEMIBOLD" pitchFamily="2" charset="-78"/>
                <a:cs typeface="☞DIODRUM ARABIC SEMIBOLD" pitchFamily="2" charset="-78"/>
              </a:rPr>
              <a:t>130 ألف</a:t>
            </a:r>
            <a:r>
              <a:rPr lang="ar-SA" sz="1800" b="0" i="0" dirty="0" noProof="1">
                <a:solidFill>
                  <a:srgbClr val="2A206A"/>
                </a:solidFill>
                <a:latin typeface="☞DIODRUM ARABIC SEMIBOLD" pitchFamily="2" charset="-78"/>
                <a:cs typeface="☞DIODRUM ARABIC SEMIBOLD" pitchFamily="2" charset="-78"/>
              </a:rPr>
              <a:t>  موظف</a:t>
            </a:r>
            <a:endParaRPr lang="ar-SA" sz="5000" dirty="0"/>
          </a:p>
        </p:txBody>
      </p:sp>
      <p:sp>
        <p:nvSpPr>
          <p:cNvPr id="9" name="وصف الفرضية"/>
          <p:cNvSpPr txBox="1"/>
          <p:nvPr/>
        </p:nvSpPr>
        <p:spPr>
          <a:xfrm>
            <a:off x="7927848" y="3291840"/>
            <a:ext cx="3200400" cy="530352"/>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تصور ورد في النقاش، بحسب الإفادة، لتدريب نحو هذا العدد.</a:t>
            </a:r>
            <a:endParaRPr lang="ar-SA" sz="1400" dirty="0"/>
          </a:p>
        </p:txBody>
      </p:sp>
      <p:cxnSp>
        <p:nvCxnSpPr>
          <p:cNvPr id="10" name="فاصل"/>
          <p:cNvCxnSpPr/>
          <p:nvPr/>
        </p:nvCxnSpPr>
        <p:spPr>
          <a:xfrm>
            <a:off x="7927848" y="3895344"/>
            <a:ext cx="3200400" cy="0"/>
          </a:xfrm>
          <a:prstGeom prst="line">
            <a:avLst/>
          </a:prstGeom>
          <a:ln w="12700" cap="rnd">
            <a:solidFill>
              <a:srgbClr val="CDB8EA"/>
            </a:solidFill>
          </a:ln>
        </p:spPr>
      </p:cxnSp>
      <p:sp>
        <p:nvSpPr>
          <p:cNvPr id="11" name="افتراض الموظفين"/>
          <p:cNvSpPr txBox="1"/>
          <p:nvPr/>
        </p:nvSpPr>
        <p:spPr>
          <a:xfrm>
            <a:off x="9619488" y="3968496"/>
            <a:ext cx="1508760" cy="914400"/>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على افتراض وجود</a:t>
            </a:r>
            <a:endParaRPr lang="ar-SA" sz="1200" dirty="0"/>
          </a:p>
          <a:p>
            <a:pPr marL="0" indent="0" algn="r" rtl="1">
              <a:lnSpc>
                <a:spcPts val="3400"/>
              </a:lnSpc>
              <a:spcBef>
                <a:spcPts val="0"/>
              </a:spcBef>
              <a:spcAft>
                <a:spcPts val="0"/>
              </a:spcAft>
              <a:buNone/>
            </a:pPr>
            <a:r>
              <a:rPr lang="ar-SA" sz="2600" b="1" i="0" dirty="0" noProof="1">
                <a:solidFill>
                  <a:srgbClr val="00ABAF"/>
                </a:solidFill>
                <a:latin typeface="☞DIODRUM ARABIC SEMIBOLD" pitchFamily="2" charset="-78"/>
                <a:cs typeface="☞DIODRUM ARABIC SEMIBOLD" pitchFamily="2" charset="-78"/>
              </a:rPr>
              <a:t>2.5 مليون</a:t>
            </a:r>
            <a:endParaRPr lang="ar-SA" sz="2600" dirty="0"/>
          </a:p>
          <a:p>
            <a:pPr marL="0" indent="0" algn="r" rtl="1">
              <a:lnSpc>
                <a:spcPts val="1800"/>
              </a:lnSpc>
              <a:spcBef>
                <a:spcPts val="0"/>
              </a:spcBef>
              <a:spcAft>
                <a:spcPts val="0"/>
              </a:spcAft>
              <a:buNone/>
            </a:pPr>
            <a:r>
              <a:rPr lang="ar-SA" sz="1300" b="0" i="0" dirty="0" noProof="1">
                <a:solidFill>
                  <a:srgbClr val="2A206A"/>
                </a:solidFill>
                <a:latin typeface="☞DIODRUM ARABIC MEDIUM" pitchFamily="2" charset="-78"/>
                <a:cs typeface="☞DIODRUM ARABIC MEDIUM" pitchFamily="2" charset="-78"/>
              </a:rPr>
              <a:t>موظف حكومي</a:t>
            </a:r>
            <a:endParaRPr lang="ar-SA" sz="1300" dirty="0"/>
          </a:p>
        </p:txBody>
      </p:sp>
      <p:sp>
        <p:nvSpPr>
          <p:cNvPr id="12" name="النسبة"/>
          <p:cNvSpPr txBox="1"/>
          <p:nvPr/>
        </p:nvSpPr>
        <p:spPr>
          <a:xfrm>
            <a:off x="7927848" y="3968496"/>
            <a:ext cx="1508760" cy="914400"/>
          </a:xfrm>
          <a:prstGeom prst="rect">
            <a:avLst/>
          </a:prstGeom>
          <a:noFill/>
          <a:ln>
            <a:noFill/>
          </a:ln>
        </p:spPr>
        <p:txBody>
          <a:bodyPr wrap="square" lIns="0" tIns="0" rIns="0" bIns="0" rtlCol="0" anchor="t">
            <a:noAutofit/>
          </a:bodyPr>
          <a:lstStyle/>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أي نحو</a:t>
            </a:r>
            <a:endParaRPr lang="ar-SA" sz="1200" dirty="0"/>
          </a:p>
          <a:p>
            <a:pPr marL="0" indent="0" algn="r" rtl="1">
              <a:lnSpc>
                <a:spcPts val="3400"/>
              </a:lnSpc>
              <a:spcBef>
                <a:spcPts val="0"/>
              </a:spcBef>
              <a:spcAft>
                <a:spcPts val="0"/>
              </a:spcAft>
              <a:buNone/>
            </a:pPr>
            <a:r>
              <a:rPr lang="ar-SA" sz="2600" b="1" i="0" dirty="0" noProof="1">
                <a:solidFill>
                  <a:srgbClr val="00ABAF"/>
                </a:solidFill>
                <a:latin typeface="☞DIODRUM ARABIC SEMIBOLD" pitchFamily="2" charset="-78"/>
                <a:cs typeface="☞DIODRUM ARABIC SEMIBOLD" pitchFamily="2" charset="-78"/>
              </a:rPr>
              <a:t>5.2%</a:t>
            </a:r>
            <a:endParaRPr lang="ar-SA" sz="2600" dirty="0"/>
          </a:p>
          <a:p>
            <a:pPr marL="0" indent="0" algn="r" rtl="1">
              <a:lnSpc>
                <a:spcPts val="1800"/>
              </a:lnSpc>
              <a:spcBef>
                <a:spcPts val="0"/>
              </a:spcBef>
              <a:spcAft>
                <a:spcPts val="0"/>
              </a:spcAft>
              <a:buNone/>
            </a:pPr>
            <a:r>
              <a:rPr lang="ar-SA" sz="1300" b="0" i="0" dirty="0" noProof="1">
                <a:solidFill>
                  <a:srgbClr val="2A206A"/>
                </a:solidFill>
                <a:latin typeface="☞DIODRUM ARABIC MEDIUM" pitchFamily="2" charset="-78"/>
                <a:cs typeface="☞DIODRUM ARABIC MEDIUM" pitchFamily="2" charset="-78"/>
              </a:rPr>
              <a:t>من العدد المفترض</a:t>
            </a:r>
            <a:endParaRPr lang="ar-SA" sz="1300" dirty="0"/>
          </a:p>
        </p:txBody>
      </p:sp>
      <p:sp>
        <p:nvSpPr>
          <p:cNvPr id="13" name="التوزيع التقريبي"/>
          <p:cNvSpPr/>
          <p:nvPr/>
        </p:nvSpPr>
        <p:spPr>
          <a:xfrm>
            <a:off x="3995928" y="2011680"/>
            <a:ext cx="3520440" cy="3017520"/>
          </a:xfrm>
          <a:prstGeom prst="roundRect">
            <a:avLst>
              <a:gd name="adj" fmla="val 4242"/>
            </a:avLst>
          </a:prstGeom>
          <a:solidFill>
            <a:srgbClr val="F5F5F5"/>
          </a:solidFill>
          <a:ln>
            <a:noFill/>
          </a:ln>
        </p:spPr>
        <p:txBody>
          <a:bodyPr wrap="square" lIns="91440" tIns="45720" rIns="91440" bIns="45720" rtlCol="0" anchor="t">
            <a:noAutofit/>
          </a:bodyPr>
          <a:lstStyle/>
          <a:p>
            <a:endParaRPr lang="ar-SA"/>
          </a:p>
        </p:txBody>
      </p:sp>
      <p:sp>
        <p:nvSpPr>
          <p:cNvPr id="14" name="عنوان التوزيع"/>
          <p:cNvSpPr txBox="1"/>
          <p:nvPr/>
        </p:nvSpPr>
        <p:spPr>
          <a:xfrm>
            <a:off x="4197096" y="2157984"/>
            <a:ext cx="3118104" cy="329184"/>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توزيع تقريبي مطروح</a:t>
            </a:r>
            <a:endParaRPr lang="ar-SA" sz="1700" dirty="0"/>
          </a:p>
        </p:txBody>
      </p:sp>
      <p:sp>
        <p:nvSpPr>
          <p:cNvPr id="15" name="شريحة قيادات"/>
          <p:cNvSpPr/>
          <p:nvPr/>
        </p:nvSpPr>
        <p:spPr>
          <a:xfrm>
            <a:off x="7159295" y="2596896"/>
            <a:ext cx="155905" cy="420624"/>
          </a:xfrm>
          <a:prstGeom prst="rect">
            <a:avLst/>
          </a:prstGeom>
          <a:solidFill>
            <a:srgbClr val="7C32C9"/>
          </a:solidFill>
          <a:ln w="12700">
            <a:solidFill>
              <a:srgbClr val="FFFFFF"/>
            </a:solidFill>
          </a:ln>
        </p:spPr>
      </p:sp>
      <p:sp>
        <p:nvSpPr>
          <p:cNvPr id="16" name="شريحة خبراء فنيون"/>
          <p:cNvSpPr/>
          <p:nvPr/>
        </p:nvSpPr>
        <p:spPr>
          <a:xfrm>
            <a:off x="6691579" y="2596896"/>
            <a:ext cx="467716" cy="420624"/>
          </a:xfrm>
          <a:prstGeom prst="rect">
            <a:avLst/>
          </a:prstGeom>
          <a:solidFill>
            <a:srgbClr val="00ABAF"/>
          </a:solidFill>
          <a:ln w="12700">
            <a:solidFill>
              <a:srgbClr val="FFFFFF"/>
            </a:solidFill>
          </a:ln>
        </p:spPr>
      </p:sp>
      <p:sp>
        <p:nvSpPr>
          <p:cNvPr id="17" name="شريحة الوعي والتبني"/>
          <p:cNvSpPr/>
          <p:nvPr/>
        </p:nvSpPr>
        <p:spPr>
          <a:xfrm>
            <a:off x="4197096" y="2596896"/>
            <a:ext cx="2494483" cy="420624"/>
          </a:xfrm>
          <a:prstGeom prst="rect">
            <a:avLst/>
          </a:prstGeom>
          <a:solidFill>
            <a:srgbClr val="2A206A"/>
          </a:solidFill>
          <a:ln w="12700">
            <a:solidFill>
              <a:srgbClr val="FFFFFF"/>
            </a:solidFill>
          </a:ln>
        </p:spPr>
      </p:sp>
      <p:sp>
        <p:nvSpPr>
          <p:cNvPr id="18" name="لون"/>
          <p:cNvSpPr/>
          <p:nvPr/>
        </p:nvSpPr>
        <p:spPr>
          <a:xfrm>
            <a:off x="7132320" y="3282696"/>
            <a:ext cx="182880" cy="182880"/>
          </a:xfrm>
          <a:prstGeom prst="roundRect">
            <a:avLst>
              <a:gd name="adj" fmla="val 20000"/>
            </a:avLst>
          </a:prstGeom>
          <a:solidFill>
            <a:srgbClr val="7C32C9"/>
          </a:solidFill>
          <a:ln>
            <a:noFill/>
          </a:ln>
        </p:spPr>
      </p:sp>
      <p:sp>
        <p:nvSpPr>
          <p:cNvPr id="19" name="بيان"/>
          <p:cNvSpPr txBox="1"/>
          <p:nvPr/>
        </p:nvSpPr>
        <p:spPr>
          <a:xfrm>
            <a:off x="4197096" y="3218688"/>
            <a:ext cx="2825496"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5%  </a:t>
            </a:r>
            <a:r>
              <a:rPr lang="ar-SA" sz="1400" b="0" i="0" dirty="0" noProof="1">
                <a:solidFill>
                  <a:srgbClr val="333333"/>
                </a:solidFill>
                <a:latin typeface="☞DIODRUM ARABIC MEDIUM" pitchFamily="2" charset="-78"/>
                <a:cs typeface="☞DIODRUM ARABIC MEDIUM" pitchFamily="2" charset="-78"/>
              </a:rPr>
              <a:t>قيادات</a:t>
            </a:r>
            <a:endParaRPr lang="ar-SA" sz="1400" dirty="0"/>
          </a:p>
        </p:txBody>
      </p:sp>
      <p:sp>
        <p:nvSpPr>
          <p:cNvPr id="20" name="لون"/>
          <p:cNvSpPr/>
          <p:nvPr/>
        </p:nvSpPr>
        <p:spPr>
          <a:xfrm>
            <a:off x="7132320" y="3630168"/>
            <a:ext cx="182880" cy="182880"/>
          </a:xfrm>
          <a:prstGeom prst="roundRect">
            <a:avLst>
              <a:gd name="adj" fmla="val 20000"/>
            </a:avLst>
          </a:prstGeom>
          <a:solidFill>
            <a:srgbClr val="00ABAF"/>
          </a:solidFill>
          <a:ln>
            <a:noFill/>
          </a:ln>
        </p:spPr>
      </p:sp>
      <p:sp>
        <p:nvSpPr>
          <p:cNvPr id="21" name="بيان"/>
          <p:cNvSpPr txBox="1"/>
          <p:nvPr/>
        </p:nvSpPr>
        <p:spPr>
          <a:xfrm>
            <a:off x="4197096" y="3566160"/>
            <a:ext cx="2825496"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00ABAF"/>
                </a:solidFill>
                <a:latin typeface="☞DIODRUM ARABIC SEMIBOLD" pitchFamily="2" charset="-78"/>
                <a:cs typeface="☞DIODRUM ARABIC SEMIBOLD" pitchFamily="2" charset="-78"/>
              </a:rPr>
              <a:t>15%  </a:t>
            </a:r>
            <a:r>
              <a:rPr lang="ar-SA" sz="1400" b="0" i="0" dirty="0" noProof="1">
                <a:solidFill>
                  <a:srgbClr val="333333"/>
                </a:solidFill>
                <a:latin typeface="☞DIODRUM ARABIC MEDIUM" pitchFamily="2" charset="-78"/>
                <a:cs typeface="☞DIODRUM ARABIC MEDIUM" pitchFamily="2" charset="-78"/>
              </a:rPr>
              <a:t>خبراء فنيون</a:t>
            </a:r>
            <a:endParaRPr lang="ar-SA" sz="1400" dirty="0"/>
          </a:p>
        </p:txBody>
      </p:sp>
      <p:sp>
        <p:nvSpPr>
          <p:cNvPr id="22" name="لون"/>
          <p:cNvSpPr/>
          <p:nvPr/>
        </p:nvSpPr>
        <p:spPr>
          <a:xfrm>
            <a:off x="7132320" y="3977640"/>
            <a:ext cx="182880" cy="182880"/>
          </a:xfrm>
          <a:prstGeom prst="roundRect">
            <a:avLst>
              <a:gd name="adj" fmla="val 20000"/>
            </a:avLst>
          </a:prstGeom>
          <a:solidFill>
            <a:srgbClr val="2A206A"/>
          </a:solidFill>
          <a:ln>
            <a:noFill/>
          </a:ln>
        </p:spPr>
      </p:sp>
      <p:sp>
        <p:nvSpPr>
          <p:cNvPr id="23" name="بيان"/>
          <p:cNvSpPr txBox="1"/>
          <p:nvPr/>
        </p:nvSpPr>
        <p:spPr>
          <a:xfrm>
            <a:off x="4197096" y="3913632"/>
            <a:ext cx="2825496" cy="3108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SEMIBOLD" pitchFamily="2" charset="-78"/>
                <a:cs typeface="☞DIODRUM ARABIC SEMIBOLD" pitchFamily="2" charset="-78"/>
              </a:rPr>
              <a:t>الباقي (≈80%)  </a:t>
            </a:r>
            <a:r>
              <a:rPr lang="ar-SA" sz="1400" b="0" i="0" dirty="0" noProof="1">
                <a:solidFill>
                  <a:srgbClr val="333333"/>
                </a:solidFill>
                <a:latin typeface="☞DIODRUM ARABIC MEDIUM" pitchFamily="2" charset="-78"/>
                <a:cs typeface="☞DIODRUM ARABIC MEDIUM" pitchFamily="2" charset="-78"/>
              </a:rPr>
              <a:t>الوعي والتبني</a:t>
            </a:r>
            <a:endParaRPr lang="ar-SA" sz="1400" dirty="0"/>
          </a:p>
        </p:txBody>
      </p:sp>
      <p:sp>
        <p:nvSpPr>
          <p:cNvPr id="24" name="تنبيه التوزيع"/>
          <p:cNvSpPr txBox="1"/>
          <p:nvPr/>
        </p:nvSpPr>
        <p:spPr>
          <a:xfrm>
            <a:off x="4197096" y="4297680"/>
            <a:ext cx="3118104" cy="640080"/>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5F5F6B"/>
                </a:solidFill>
                <a:latin typeface="☞DIODRUM ARABIC MEDIUM" pitchFamily="2" charset="-78"/>
                <a:cs typeface="☞DIODRUM ARABIC MEDIUM" pitchFamily="2" charset="-78"/>
              </a:rPr>
              <a:t>يحتاج إلى تحديد المقصود بالقيادات والخبراء وأساس النسب.</a:t>
            </a:r>
            <a:endParaRPr lang="ar-SA" sz="1300" dirty="0"/>
          </a:p>
        </p:txBody>
      </p:sp>
      <p:sp>
        <p:nvSpPr>
          <p:cNvPr id="25" name="قائمة التثبيت"/>
          <p:cNvSpPr/>
          <p:nvPr/>
        </p:nvSpPr>
        <p:spPr>
          <a:xfrm>
            <a:off x="841248" y="2011680"/>
            <a:ext cx="2971800" cy="3017520"/>
          </a:xfrm>
          <a:prstGeom prst="roundRect">
            <a:avLst>
              <a:gd name="adj" fmla="val 4307"/>
            </a:avLst>
          </a:prstGeom>
          <a:solidFill>
            <a:srgbClr val="F5F5F5"/>
          </a:solidFill>
          <a:ln>
            <a:noFill/>
          </a:ln>
        </p:spPr>
        <p:txBody>
          <a:bodyPr wrap="square" lIns="91440" tIns="45720" rIns="91440" bIns="45720" rtlCol="0" anchor="t">
            <a:noAutofit/>
          </a:bodyPr>
          <a:lstStyle/>
          <a:p>
            <a:endParaRPr lang="ar-SA"/>
          </a:p>
        </p:txBody>
      </p:sp>
      <p:sp>
        <p:nvSpPr>
          <p:cNvPr id="26" name="عنوان التثبيت"/>
          <p:cNvSpPr txBox="1"/>
          <p:nvPr/>
        </p:nvSpPr>
        <p:spPr>
          <a:xfrm>
            <a:off x="1042416" y="2157984"/>
            <a:ext cx="2569464" cy="640080"/>
          </a:xfrm>
          <a:prstGeom prst="rect">
            <a:avLst/>
          </a:prstGeom>
          <a:noFill/>
          <a:ln>
            <a:noFill/>
          </a:ln>
        </p:spPr>
        <p:txBody>
          <a:bodyPr wrap="square" lIns="0" tIns="0" rIns="0" bIns="0" rtlCol="0" anchor="t">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قبل اعتماد المستهدف نحتاج إلى تثبيت:</a:t>
            </a:r>
            <a:endParaRPr lang="ar-SA" sz="1600" dirty="0"/>
          </a:p>
        </p:txBody>
      </p:sp>
      <p:pic>
        <p:nvPicPr>
          <p:cNvPr id="27" name="أيقونة CheckCircle" descr=""/>
          <p:cNvPicPr>
            <a:picLocks noChangeAspect="1"/>
          </p:cNvPicPr>
          <p:nvPr/>
        </p:nvPicPr>
        <p:blipFill>
          <a:blip r:embed="rId2"/>
          <a:stretch>
            <a:fillRect/>
          </a:stretch>
        </p:blipFill>
        <p:spPr>
          <a:xfrm>
            <a:off x="3337560" y="2871216"/>
            <a:ext cx="274320" cy="274320"/>
          </a:xfrm>
          <a:prstGeom prst="rect">
            <a:avLst/>
          </a:prstGeom>
        </p:spPr>
      </p:pic>
      <p:sp>
        <p:nvSpPr>
          <p:cNvPr id="28" name="بند"/>
          <p:cNvSpPr txBox="1"/>
          <p:nvPr/>
        </p:nvSpPr>
        <p:spPr>
          <a:xfrm>
            <a:off x="1024128" y="2834640"/>
            <a:ext cx="2176272" cy="3474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عدد الموظفين المشمولين</a:t>
            </a:r>
            <a:endParaRPr lang="ar-SA" sz="1400" dirty="0"/>
          </a:p>
        </p:txBody>
      </p:sp>
      <p:pic>
        <p:nvPicPr>
          <p:cNvPr id="29" name="أيقونة CheckCircle" descr=""/>
          <p:cNvPicPr>
            <a:picLocks noChangeAspect="1"/>
          </p:cNvPicPr>
          <p:nvPr/>
        </p:nvPicPr>
        <p:blipFill>
          <a:blip r:embed="rId2"/>
          <a:stretch>
            <a:fillRect/>
          </a:stretch>
        </p:blipFill>
        <p:spPr>
          <a:xfrm>
            <a:off x="3337560" y="3291840"/>
            <a:ext cx="274320" cy="274320"/>
          </a:xfrm>
          <a:prstGeom prst="rect">
            <a:avLst/>
          </a:prstGeom>
        </p:spPr>
      </p:pic>
      <p:sp>
        <p:nvSpPr>
          <p:cNvPr id="30" name="بند"/>
          <p:cNvSpPr txBox="1"/>
          <p:nvPr/>
        </p:nvSpPr>
        <p:spPr>
          <a:xfrm>
            <a:off x="1024128" y="3255264"/>
            <a:ext cx="2176272" cy="3474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الفترة الزمنية</a:t>
            </a:r>
            <a:endParaRPr lang="ar-SA" sz="1400" dirty="0"/>
          </a:p>
        </p:txBody>
      </p:sp>
      <p:pic>
        <p:nvPicPr>
          <p:cNvPr id="31" name="أيقونة CheckCircle" descr=""/>
          <p:cNvPicPr>
            <a:picLocks noChangeAspect="1"/>
          </p:cNvPicPr>
          <p:nvPr/>
        </p:nvPicPr>
        <p:blipFill>
          <a:blip r:embed="rId2"/>
          <a:stretch>
            <a:fillRect/>
          </a:stretch>
        </p:blipFill>
        <p:spPr>
          <a:xfrm>
            <a:off x="3337560" y="3712464"/>
            <a:ext cx="274320" cy="274320"/>
          </a:xfrm>
          <a:prstGeom prst="rect">
            <a:avLst/>
          </a:prstGeom>
        </p:spPr>
      </p:pic>
      <p:sp>
        <p:nvSpPr>
          <p:cNvPr id="32" name="بند"/>
          <p:cNvSpPr txBox="1"/>
          <p:nvPr/>
        </p:nvSpPr>
        <p:spPr>
          <a:xfrm>
            <a:off x="1024128" y="3675888"/>
            <a:ext cx="2176272" cy="3474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الجهات والفئات</a:t>
            </a:r>
            <a:endParaRPr lang="ar-SA" sz="1400" dirty="0"/>
          </a:p>
        </p:txBody>
      </p:sp>
      <p:pic>
        <p:nvPicPr>
          <p:cNvPr id="33" name="أيقونة CheckCircle" descr=""/>
          <p:cNvPicPr>
            <a:picLocks noChangeAspect="1"/>
          </p:cNvPicPr>
          <p:nvPr/>
        </p:nvPicPr>
        <p:blipFill>
          <a:blip r:embed="rId2"/>
          <a:stretch>
            <a:fillRect/>
          </a:stretch>
        </p:blipFill>
        <p:spPr>
          <a:xfrm>
            <a:off x="3337560" y="4133088"/>
            <a:ext cx="274320" cy="274320"/>
          </a:xfrm>
          <a:prstGeom prst="rect">
            <a:avLst/>
          </a:prstGeom>
        </p:spPr>
      </p:pic>
      <p:sp>
        <p:nvSpPr>
          <p:cNvPr id="34" name="بند"/>
          <p:cNvSpPr txBox="1"/>
          <p:nvPr/>
        </p:nvSpPr>
        <p:spPr>
          <a:xfrm>
            <a:off x="1024128" y="4096512"/>
            <a:ext cx="2176272" cy="3474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مستوى التدريب</a:t>
            </a:r>
            <a:endParaRPr lang="ar-SA" sz="1400" dirty="0"/>
          </a:p>
        </p:txBody>
      </p:sp>
      <p:pic>
        <p:nvPicPr>
          <p:cNvPr id="35" name="أيقونة CheckCircle" descr=""/>
          <p:cNvPicPr>
            <a:picLocks noChangeAspect="1"/>
          </p:cNvPicPr>
          <p:nvPr/>
        </p:nvPicPr>
        <p:blipFill>
          <a:blip r:embed="rId2"/>
          <a:stretch>
            <a:fillRect/>
          </a:stretch>
        </p:blipFill>
        <p:spPr>
          <a:xfrm>
            <a:off x="3337560" y="4553712"/>
            <a:ext cx="274320" cy="274320"/>
          </a:xfrm>
          <a:prstGeom prst="rect">
            <a:avLst/>
          </a:prstGeom>
        </p:spPr>
      </p:pic>
      <p:sp>
        <p:nvSpPr>
          <p:cNvPr id="36" name="بند"/>
          <p:cNvSpPr txBox="1"/>
          <p:nvPr/>
        </p:nvSpPr>
        <p:spPr>
          <a:xfrm>
            <a:off x="1024128" y="4517136"/>
            <a:ext cx="2176272" cy="3474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أعداد من سبق تدريبهم</a:t>
            </a:r>
            <a:endParaRPr lang="ar-SA" sz="1400" dirty="0"/>
          </a:p>
        </p:txBody>
      </p:sp>
      <p:sp>
        <p:nvSpPr>
          <p:cNvPr id="37" name="المقترح"/>
          <p:cNvSpPr/>
          <p:nvPr/>
        </p:nvSpPr>
        <p:spPr>
          <a:xfrm>
            <a:off x="841248" y="5157216"/>
            <a:ext cx="10515600" cy="832104"/>
          </a:xfrm>
          <a:prstGeom prst="roundRect">
            <a:avLst>
              <a:gd name="adj" fmla="val 13186"/>
            </a:avLst>
          </a:prstGeom>
          <a:solidFill>
            <a:srgbClr val="E5F6F6"/>
          </a:solidFill>
          <a:ln>
            <a:noFill/>
          </a:ln>
        </p:spPr>
        <p:txBody>
          <a:bodyPr wrap="square" lIns="91440" tIns="45720" rIns="91440" bIns="45720" rtlCol="0" anchor="t">
            <a:noAutofit/>
          </a:bodyPr>
          <a:lstStyle/>
          <a:p>
            <a:endParaRPr lang="ar-SA"/>
          </a:p>
        </p:txBody>
      </p:sp>
      <p:sp>
        <p:nvSpPr>
          <p:cNvPr id="38" name="دائرة أيقونة"/>
          <p:cNvSpPr/>
          <p:nvPr/>
        </p:nvSpPr>
        <p:spPr>
          <a:xfrm>
            <a:off x="10661904" y="5317236"/>
            <a:ext cx="512064" cy="512064"/>
          </a:xfrm>
          <a:prstGeom prst="ellipse">
            <a:avLst/>
          </a:prstGeom>
          <a:solidFill>
            <a:srgbClr val="FFFFFF"/>
          </a:solidFill>
          <a:ln>
            <a:noFill/>
          </a:ln>
        </p:spPr>
      </p:sp>
      <p:pic>
        <p:nvPicPr>
          <p:cNvPr id="39" name="أيقونة Target" descr=""/>
          <p:cNvPicPr>
            <a:picLocks noChangeAspect="1"/>
          </p:cNvPicPr>
          <p:nvPr/>
        </p:nvPicPr>
        <p:blipFill>
          <a:blip r:embed="rId3"/>
          <a:stretch>
            <a:fillRect/>
          </a:stretch>
        </p:blipFill>
        <p:spPr>
          <a:xfrm>
            <a:off x="10779679" y="5435011"/>
            <a:ext cx="276515" cy="276515"/>
          </a:xfrm>
          <a:prstGeom prst="rect">
            <a:avLst/>
          </a:prstGeom>
        </p:spPr>
      </p:pic>
      <p:sp>
        <p:nvSpPr>
          <p:cNvPr id="40" name="المقترح نص"/>
          <p:cNvSpPr txBox="1"/>
          <p:nvPr/>
        </p:nvSpPr>
        <p:spPr>
          <a:xfrm>
            <a:off x="1069848" y="5157216"/>
            <a:ext cx="9409176" cy="832104"/>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المقترح:  </a:t>
            </a:r>
            <a:r>
              <a:rPr lang="ar-SA" sz="1500" b="0" i="0" dirty="0" noProof="1">
                <a:solidFill>
                  <a:srgbClr val="2A206A"/>
                </a:solidFill>
                <a:latin typeface="☞DIODRUM ARABIC MEDIUM" pitchFamily="2" charset="-78"/>
                <a:cs typeface="☞DIODRUM ARABIC MEDIUM" pitchFamily="2" charset="-78"/>
              </a:rPr>
              <a:t>بناء مستهدفات منفصلة للمسارات والجهات، ثم تجميعها في مستهدف عام موثق، مع التمييز بين عدد الأفراد وعدد المشاركات التدريبية.</a:t>
            </a:r>
            <a:endParaRPr lang="ar-SA" sz="1500" dirty="0"/>
          </a:p>
        </p:txBody>
      </p:sp>
      <p:sp>
        <p:nvSpPr>
          <p:cNvPr id="4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إفادة محمد العُمري عن النقاش مع BCG والوزارة.  الحالة: الأرقام من إفادة النقاش؛ لا تتوفر منهجية BCG الأصلية ضمن المرفقات فلا تُنسب لدراسة.</a:t>
            </a:r>
            <a:endParaRPr lang="ar-SA" sz="105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نستكمل البيانات الوطنية</a:t>
            </a:r>
            <a:br>
              <a:rPr lang="ar-SA" dirty="0"/>
            </a:br>
            <a:r>
              <a:rPr lang="ar-SA" dirty="0" noProof="1"/>
              <a:t>ونبدأ تشخيص الجهات الخمس في مسارين متوازيين</a:t>
            </a:r>
          </a:p>
        </p:txBody>
      </p:sp>
      <p:sp>
        <p:nvSpPr>
          <p:cNvPr id="3" name="Text Placeholder 2"/>
          <p:cNvSpPr>
            <a:spLocks noGrp="1"/>
          </p:cNvSpPr>
          <p:nvPr>
            <p:ph type="body" idx="13" sz="quarter"/>
          </p:nvPr>
        </p:nvSpPr>
        <p:spPr/>
        <p:txBody>
          <a:bodyPr/>
          <a:lstStyle/>
          <a:p>
            <a:r>
              <a:rPr lang="ar-SA" dirty="0" noProof="1"/>
              <a:t>البيانات الشاملة تدعم اعتماد المستهدف؛ وبيانات الجهات الأولى تدعم تصميم برامج قابلة للتطبيق.</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2  ·  النموذج المقترح</a:t>
            </a:r>
            <a:endParaRPr lang="ar-SA" sz="1100" dirty="0"/>
          </a:p>
        </p:txBody>
      </p:sp>
      <p:sp>
        <p:nvSpPr>
          <p:cNvPr id="6" name="مسار التقدير على مستوى الحكومة"/>
          <p:cNvSpPr/>
          <p:nvPr/>
        </p:nvSpPr>
        <p:spPr>
          <a:xfrm>
            <a:off x="6190488" y="2011680"/>
            <a:ext cx="5166360" cy="3163824"/>
          </a:xfrm>
          <a:prstGeom prst="roundRect">
            <a:avLst>
              <a:gd name="adj" fmla="val 4624"/>
            </a:avLst>
          </a:prstGeom>
          <a:solidFill>
            <a:srgbClr val="F5F5F5"/>
          </a:solidFill>
          <a:ln>
            <a:noFill/>
          </a:ln>
        </p:spPr>
        <p:txBody>
          <a:bodyPr wrap="square" lIns="91440" tIns="45720" rIns="91440" bIns="45720" rtlCol="0" anchor="t">
            <a:noAutofit/>
          </a:bodyPr>
          <a:lstStyle/>
          <a:p>
            <a:endParaRPr lang="ar-SA"/>
          </a:p>
        </p:txBody>
      </p:sp>
      <p:sp>
        <p:nvSpPr>
          <p:cNvPr id="7" name="رأس التقدير على مستوى الحكومة"/>
          <p:cNvSpPr/>
          <p:nvPr/>
        </p:nvSpPr>
        <p:spPr>
          <a:xfrm>
            <a:off x="6190488" y="2011680"/>
            <a:ext cx="5166360" cy="566928"/>
          </a:xfrm>
          <a:prstGeom prst="round2SameRect">
            <a:avLst>
              <a:gd name="adj1" fmla="val 25000"/>
              <a:gd name="adj2" fmla="val 0"/>
            </a:avLst>
          </a:prstGeom>
          <a:solidFill>
            <a:srgbClr val="7C32C9"/>
          </a:solidFill>
          <a:ln>
            <a:noFill/>
          </a:ln>
        </p:spPr>
        <p:txBody>
          <a:bodyPr wrap="square" lIns="91440" tIns="45720" rIns="91440" bIns="45720" rtlCol="0" anchor="t">
            <a:noAutofit/>
          </a:bodyPr>
          <a:lstStyle/>
          <a:p>
            <a:endParaRPr lang="ar-SA"/>
          </a:p>
        </p:txBody>
      </p:sp>
      <p:sp>
        <p:nvSpPr>
          <p:cNvPr id="8" name="دائرة"/>
          <p:cNvSpPr/>
          <p:nvPr/>
        </p:nvSpPr>
        <p:spPr>
          <a:xfrm>
            <a:off x="10771632" y="2103120"/>
            <a:ext cx="384048" cy="384048"/>
          </a:xfrm>
          <a:prstGeom prst="ellipse">
            <a:avLst/>
          </a:prstGeom>
          <a:solidFill>
            <a:srgbClr val="FFFFFF"/>
          </a:solidFill>
          <a:ln>
            <a:noFill/>
          </a:ln>
        </p:spPr>
      </p:sp>
      <p:pic>
        <p:nvPicPr>
          <p:cNvPr id="9" name="أيقونة GlobeHemisphereEast" descr=""/>
          <p:cNvPicPr>
            <a:picLocks noChangeAspect="1"/>
          </p:cNvPicPr>
          <p:nvPr/>
        </p:nvPicPr>
        <p:blipFill>
          <a:blip r:embed="rId2"/>
          <a:stretch>
            <a:fillRect/>
          </a:stretch>
        </p:blipFill>
        <p:spPr>
          <a:xfrm>
            <a:off x="10863072" y="2194560"/>
            <a:ext cx="201168" cy="201168"/>
          </a:xfrm>
          <a:prstGeom prst="rect">
            <a:avLst/>
          </a:prstGeom>
        </p:spPr>
      </p:pic>
      <p:sp>
        <p:nvSpPr>
          <p:cNvPr id="10" name="اسم التقدير على مستوى الحكومة"/>
          <p:cNvSpPr txBox="1"/>
          <p:nvPr/>
        </p:nvSpPr>
        <p:spPr>
          <a:xfrm>
            <a:off x="6373368" y="2011680"/>
            <a:ext cx="4261104" cy="566928"/>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FFFFFF"/>
                </a:solidFill>
                <a:latin typeface="☞DIODRUM ARABIC SEMIBOLD" pitchFamily="2" charset="-78"/>
                <a:cs typeface="☞DIODRUM ARABIC SEMIBOLD" pitchFamily="2" charset="-78"/>
              </a:rPr>
              <a:t>التقدير على مستوى الحكومة</a:t>
            </a:r>
            <a:endParaRPr lang="ar-SA" sz="1900" dirty="0"/>
          </a:p>
        </p:txBody>
      </p:sp>
      <p:sp>
        <p:nvSpPr>
          <p:cNvPr id="11" name="وسم البيانات"/>
          <p:cNvSpPr txBox="1"/>
          <p:nvPr/>
        </p:nvSpPr>
        <p:spPr>
          <a:xfrm>
            <a:off x="6419088" y="2633472"/>
            <a:ext cx="4709160" cy="25603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البيانات المطلوبة</a:t>
            </a:r>
            <a:endParaRPr lang="ar-SA" sz="1300" dirty="0"/>
          </a:p>
        </p:txBody>
      </p:sp>
      <p:sp>
        <p:nvSpPr>
          <p:cNvPr id="12" name="نقطة"/>
          <p:cNvSpPr/>
          <p:nvPr/>
        </p:nvSpPr>
        <p:spPr>
          <a:xfrm>
            <a:off x="11018520" y="2985516"/>
            <a:ext cx="109728" cy="109728"/>
          </a:xfrm>
          <a:prstGeom prst="ellipse">
            <a:avLst/>
          </a:prstGeom>
          <a:solidFill>
            <a:srgbClr val="7C32C9"/>
          </a:solidFill>
          <a:ln>
            <a:noFill/>
          </a:ln>
        </p:spPr>
      </p:sp>
      <p:sp>
        <p:nvSpPr>
          <p:cNvPr id="13" name="بيان"/>
          <p:cNvSpPr txBox="1"/>
          <p:nvPr/>
        </p:nvSpPr>
        <p:spPr>
          <a:xfrm>
            <a:off x="6419088" y="2907792"/>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قائمة الجهات</a:t>
            </a:r>
            <a:endParaRPr lang="ar-SA" sz="1400" dirty="0"/>
          </a:p>
        </p:txBody>
      </p:sp>
      <p:sp>
        <p:nvSpPr>
          <p:cNvPr id="14" name="نقطة"/>
          <p:cNvSpPr/>
          <p:nvPr/>
        </p:nvSpPr>
        <p:spPr>
          <a:xfrm>
            <a:off x="11018520" y="3250692"/>
            <a:ext cx="109728" cy="109728"/>
          </a:xfrm>
          <a:prstGeom prst="ellipse">
            <a:avLst/>
          </a:prstGeom>
          <a:solidFill>
            <a:srgbClr val="7C32C9"/>
          </a:solidFill>
          <a:ln>
            <a:noFill/>
          </a:ln>
        </p:spPr>
      </p:sp>
      <p:sp>
        <p:nvSpPr>
          <p:cNvPr id="15" name="بيان"/>
          <p:cNvSpPr txBox="1"/>
          <p:nvPr/>
        </p:nvSpPr>
        <p:spPr>
          <a:xfrm>
            <a:off x="6419088" y="3172968"/>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أعداد الموظفين حسب الفئات والعائلات الوظيفية</a:t>
            </a:r>
            <a:endParaRPr lang="ar-SA" sz="1400" dirty="0"/>
          </a:p>
        </p:txBody>
      </p:sp>
      <p:sp>
        <p:nvSpPr>
          <p:cNvPr id="16" name="نقطة"/>
          <p:cNvSpPr/>
          <p:nvPr/>
        </p:nvSpPr>
        <p:spPr>
          <a:xfrm>
            <a:off x="11018520" y="3515868"/>
            <a:ext cx="109728" cy="109728"/>
          </a:xfrm>
          <a:prstGeom prst="ellipse">
            <a:avLst/>
          </a:prstGeom>
          <a:solidFill>
            <a:srgbClr val="7C32C9"/>
          </a:solidFill>
          <a:ln>
            <a:noFill/>
          </a:ln>
        </p:spPr>
      </p:sp>
      <p:sp>
        <p:nvSpPr>
          <p:cNvPr id="17" name="بيان"/>
          <p:cNvSpPr txBox="1"/>
          <p:nvPr/>
        </p:nvSpPr>
        <p:spPr>
          <a:xfrm>
            <a:off x="6419088" y="3438144"/>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سجل التدريب السابق</a:t>
            </a:r>
            <a:endParaRPr lang="ar-SA" sz="1400" dirty="0"/>
          </a:p>
        </p:txBody>
      </p:sp>
      <p:sp>
        <p:nvSpPr>
          <p:cNvPr id="18" name="نقطة"/>
          <p:cNvSpPr/>
          <p:nvPr/>
        </p:nvSpPr>
        <p:spPr>
          <a:xfrm>
            <a:off x="11018520" y="3781044"/>
            <a:ext cx="109728" cy="109728"/>
          </a:xfrm>
          <a:prstGeom prst="ellipse">
            <a:avLst/>
          </a:prstGeom>
          <a:solidFill>
            <a:srgbClr val="7C32C9"/>
          </a:solidFill>
          <a:ln>
            <a:noFill/>
          </a:ln>
        </p:spPr>
      </p:sp>
      <p:sp>
        <p:nvSpPr>
          <p:cNvPr id="19" name="بيان"/>
          <p:cNvSpPr txBox="1"/>
          <p:nvPr/>
        </p:nvSpPr>
        <p:spPr>
          <a:xfrm>
            <a:off x="6419088" y="3703320"/>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مصدر كل بيان وتاريخه ونطاقه</a:t>
            </a:r>
            <a:endParaRPr lang="ar-SA" sz="1400" dirty="0"/>
          </a:p>
        </p:txBody>
      </p:sp>
      <p:cxnSp>
        <p:nvCxnSpPr>
          <p:cNvPr id="20" name="فاصل"/>
          <p:cNvCxnSpPr/>
          <p:nvPr/>
        </p:nvCxnSpPr>
        <p:spPr>
          <a:xfrm>
            <a:off x="6419088" y="4325112"/>
            <a:ext cx="4709160" cy="0"/>
          </a:xfrm>
          <a:prstGeom prst="line">
            <a:avLst/>
          </a:prstGeom>
          <a:ln w="12700" cap="rnd">
            <a:solidFill>
              <a:srgbClr val="D4D6DE"/>
            </a:solidFill>
          </a:ln>
        </p:spPr>
      </p:cxnSp>
      <p:sp>
        <p:nvSpPr>
          <p:cNvPr id="21" name="استخدام التقدير على مستوى الحكومة"/>
          <p:cNvSpPr txBox="1"/>
          <p:nvPr/>
        </p:nvSpPr>
        <p:spPr>
          <a:xfrm>
            <a:off x="6419088" y="4370832"/>
            <a:ext cx="4709160"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كيف تُستخدم</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تقدير حجم الشرائح، وتجنب تكرار التدريب، وتحديد المستهدفات والميزانية اللازمة للتوسع.</a:t>
            </a:r>
            <a:endParaRPr lang="ar-SA" sz="1400" dirty="0"/>
          </a:p>
        </p:txBody>
      </p:sp>
      <p:sp>
        <p:nvSpPr>
          <p:cNvPr id="22" name="مسار التشخيص في الجهات الخمس"/>
          <p:cNvSpPr/>
          <p:nvPr/>
        </p:nvSpPr>
        <p:spPr>
          <a:xfrm>
            <a:off x="841248" y="2011680"/>
            <a:ext cx="5166360" cy="3163824"/>
          </a:xfrm>
          <a:prstGeom prst="roundRect">
            <a:avLst>
              <a:gd name="adj" fmla="val 4624"/>
            </a:avLst>
          </a:prstGeom>
          <a:solidFill>
            <a:srgbClr val="F5F5F5"/>
          </a:solidFill>
          <a:ln>
            <a:noFill/>
          </a:ln>
        </p:spPr>
        <p:txBody>
          <a:bodyPr wrap="square" lIns="91440" tIns="45720" rIns="91440" bIns="45720" rtlCol="0" anchor="t">
            <a:noAutofit/>
          </a:bodyPr>
          <a:lstStyle/>
          <a:p>
            <a:endParaRPr lang="ar-SA"/>
          </a:p>
        </p:txBody>
      </p:sp>
      <p:sp>
        <p:nvSpPr>
          <p:cNvPr id="23" name="رأس التشخيص في الجهات الخمس"/>
          <p:cNvSpPr/>
          <p:nvPr/>
        </p:nvSpPr>
        <p:spPr>
          <a:xfrm>
            <a:off x="841248" y="2011680"/>
            <a:ext cx="5166360" cy="566928"/>
          </a:xfrm>
          <a:prstGeom prst="round2SameRect">
            <a:avLst>
              <a:gd name="adj1" fmla="val 25000"/>
              <a:gd name="adj2" fmla="val 0"/>
            </a:avLst>
          </a:prstGeom>
          <a:solidFill>
            <a:srgbClr val="00ABAF"/>
          </a:solidFill>
          <a:ln>
            <a:noFill/>
          </a:ln>
        </p:spPr>
        <p:txBody>
          <a:bodyPr wrap="square" lIns="91440" tIns="45720" rIns="91440" bIns="45720" rtlCol="0" anchor="t">
            <a:noAutofit/>
          </a:bodyPr>
          <a:lstStyle/>
          <a:p>
            <a:endParaRPr lang="ar-SA"/>
          </a:p>
        </p:txBody>
      </p:sp>
      <p:sp>
        <p:nvSpPr>
          <p:cNvPr id="24" name="دائرة"/>
          <p:cNvSpPr/>
          <p:nvPr/>
        </p:nvSpPr>
        <p:spPr>
          <a:xfrm>
            <a:off x="5422392" y="2103120"/>
            <a:ext cx="384048" cy="384048"/>
          </a:xfrm>
          <a:prstGeom prst="ellipse">
            <a:avLst/>
          </a:prstGeom>
          <a:solidFill>
            <a:srgbClr val="FFFFFF"/>
          </a:solidFill>
          <a:ln>
            <a:noFill/>
          </a:ln>
        </p:spPr>
      </p:sp>
      <p:pic>
        <p:nvPicPr>
          <p:cNvPr id="25" name="أيقونة MagnifyingGlassPlus" descr=""/>
          <p:cNvPicPr>
            <a:picLocks noChangeAspect="1"/>
          </p:cNvPicPr>
          <p:nvPr/>
        </p:nvPicPr>
        <p:blipFill>
          <a:blip r:embed="rId3"/>
          <a:stretch>
            <a:fillRect/>
          </a:stretch>
        </p:blipFill>
        <p:spPr>
          <a:xfrm>
            <a:off x="5513832" y="2194560"/>
            <a:ext cx="201168" cy="201168"/>
          </a:xfrm>
          <a:prstGeom prst="rect">
            <a:avLst/>
          </a:prstGeom>
        </p:spPr>
      </p:pic>
      <p:sp>
        <p:nvSpPr>
          <p:cNvPr id="26" name="اسم التشخيص في الجهات الخمس"/>
          <p:cNvSpPr txBox="1"/>
          <p:nvPr/>
        </p:nvSpPr>
        <p:spPr>
          <a:xfrm>
            <a:off x="1024128" y="2011680"/>
            <a:ext cx="4261104" cy="566928"/>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FFFFFF"/>
                </a:solidFill>
                <a:latin typeface="☞DIODRUM ARABIC SEMIBOLD" pitchFamily="2" charset="-78"/>
                <a:cs typeface="☞DIODRUM ARABIC SEMIBOLD" pitchFamily="2" charset="-78"/>
              </a:rPr>
              <a:t>التشخيص في الجهات الخمس</a:t>
            </a:r>
            <a:endParaRPr lang="ar-SA" sz="1900" dirty="0"/>
          </a:p>
        </p:txBody>
      </p:sp>
      <p:sp>
        <p:nvSpPr>
          <p:cNvPr id="27" name="وسم البيانات"/>
          <p:cNvSpPr txBox="1"/>
          <p:nvPr/>
        </p:nvSpPr>
        <p:spPr>
          <a:xfrm>
            <a:off x="1069848" y="2633472"/>
            <a:ext cx="4709160" cy="256032"/>
          </a:xfrm>
          <a:prstGeom prst="rect">
            <a:avLst/>
          </a:prstGeom>
          <a:noFill/>
          <a:ln>
            <a:noFill/>
          </a:ln>
        </p:spPr>
        <p:txBody>
          <a:bodyPr wrap="square" lIns="0" tIns="0" rIns="0" bIns="0" rtlCol="0" anchor="t">
            <a:noAutofit/>
          </a:bodyPr>
          <a:lstStyle/>
          <a:p>
            <a:pPr marL="0" indent="0" algn="r" rtl="1">
              <a:lnSpc>
                <a:spcPts val="190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البيانات المطلوبة</a:t>
            </a:r>
            <a:endParaRPr lang="ar-SA" sz="1300" dirty="0"/>
          </a:p>
        </p:txBody>
      </p:sp>
      <p:sp>
        <p:nvSpPr>
          <p:cNvPr id="28" name="نقطة"/>
          <p:cNvSpPr/>
          <p:nvPr/>
        </p:nvSpPr>
        <p:spPr>
          <a:xfrm>
            <a:off x="5669280" y="2985516"/>
            <a:ext cx="109728" cy="109728"/>
          </a:xfrm>
          <a:prstGeom prst="ellipse">
            <a:avLst/>
          </a:prstGeom>
          <a:solidFill>
            <a:srgbClr val="00ABAF"/>
          </a:solidFill>
          <a:ln>
            <a:noFill/>
          </a:ln>
        </p:spPr>
      </p:sp>
      <p:sp>
        <p:nvSpPr>
          <p:cNvPr id="29" name="بيان"/>
          <p:cNvSpPr txBox="1"/>
          <p:nvPr/>
        </p:nvSpPr>
        <p:spPr>
          <a:xfrm>
            <a:off x="1069848" y="2907792"/>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أهم المهام وحالات الاستخدام</a:t>
            </a:r>
            <a:endParaRPr lang="ar-SA" sz="1400" dirty="0"/>
          </a:p>
        </p:txBody>
      </p:sp>
      <p:sp>
        <p:nvSpPr>
          <p:cNvPr id="30" name="نقطة"/>
          <p:cNvSpPr/>
          <p:nvPr/>
        </p:nvSpPr>
        <p:spPr>
          <a:xfrm>
            <a:off x="5669280" y="3250692"/>
            <a:ext cx="109728" cy="109728"/>
          </a:xfrm>
          <a:prstGeom prst="ellipse">
            <a:avLst/>
          </a:prstGeom>
          <a:solidFill>
            <a:srgbClr val="00ABAF"/>
          </a:solidFill>
          <a:ln>
            <a:noFill/>
          </a:ln>
        </p:spPr>
      </p:sp>
      <p:sp>
        <p:nvSpPr>
          <p:cNvPr id="31" name="بيان"/>
          <p:cNvSpPr txBox="1"/>
          <p:nvPr/>
        </p:nvSpPr>
        <p:spPr>
          <a:xfrm>
            <a:off x="1069848" y="3172968"/>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الفئات المرشحة</a:t>
            </a:r>
            <a:endParaRPr lang="ar-SA" sz="1400" dirty="0"/>
          </a:p>
        </p:txBody>
      </p:sp>
      <p:sp>
        <p:nvSpPr>
          <p:cNvPr id="32" name="نقطة"/>
          <p:cNvSpPr/>
          <p:nvPr/>
        </p:nvSpPr>
        <p:spPr>
          <a:xfrm>
            <a:off x="5669280" y="3515868"/>
            <a:ext cx="109728" cy="109728"/>
          </a:xfrm>
          <a:prstGeom prst="ellipse">
            <a:avLst/>
          </a:prstGeom>
          <a:solidFill>
            <a:srgbClr val="00ABAF"/>
          </a:solidFill>
          <a:ln>
            <a:noFill/>
          </a:ln>
        </p:spPr>
      </p:sp>
      <p:sp>
        <p:nvSpPr>
          <p:cNvPr id="33" name="بيان"/>
          <p:cNvSpPr txBox="1"/>
          <p:nvPr/>
        </p:nvSpPr>
        <p:spPr>
          <a:xfrm>
            <a:off x="1069848" y="3438144"/>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المهارات الحالية</a:t>
            </a:r>
            <a:endParaRPr lang="ar-SA" sz="1400" dirty="0"/>
          </a:p>
        </p:txBody>
      </p:sp>
      <p:sp>
        <p:nvSpPr>
          <p:cNvPr id="34" name="نقطة"/>
          <p:cNvSpPr/>
          <p:nvPr/>
        </p:nvSpPr>
        <p:spPr>
          <a:xfrm>
            <a:off x="5669280" y="3781044"/>
            <a:ext cx="109728" cy="109728"/>
          </a:xfrm>
          <a:prstGeom prst="ellipse">
            <a:avLst/>
          </a:prstGeom>
          <a:solidFill>
            <a:srgbClr val="00ABAF"/>
          </a:solidFill>
          <a:ln>
            <a:noFill/>
          </a:ln>
        </p:spPr>
      </p:sp>
      <p:sp>
        <p:nvSpPr>
          <p:cNvPr id="35" name="بيان"/>
          <p:cNvSpPr txBox="1"/>
          <p:nvPr/>
        </p:nvSpPr>
        <p:spPr>
          <a:xfrm>
            <a:off x="1069848" y="3703320"/>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الأدوات والبيانات المتاحة</a:t>
            </a:r>
            <a:endParaRPr lang="ar-SA" sz="1400" dirty="0"/>
          </a:p>
        </p:txBody>
      </p:sp>
      <p:sp>
        <p:nvSpPr>
          <p:cNvPr id="36" name="نقطة"/>
          <p:cNvSpPr/>
          <p:nvPr/>
        </p:nvSpPr>
        <p:spPr>
          <a:xfrm>
            <a:off x="5669280" y="4046220"/>
            <a:ext cx="109728" cy="109728"/>
          </a:xfrm>
          <a:prstGeom prst="ellipse">
            <a:avLst/>
          </a:prstGeom>
          <a:solidFill>
            <a:srgbClr val="00ABAF"/>
          </a:solidFill>
          <a:ln>
            <a:noFill/>
          </a:ln>
        </p:spPr>
      </p:sp>
      <p:sp>
        <p:nvSpPr>
          <p:cNvPr id="37" name="بيان"/>
          <p:cNvSpPr txBox="1"/>
          <p:nvPr/>
        </p:nvSpPr>
        <p:spPr>
          <a:xfrm>
            <a:off x="1069848" y="3968496"/>
            <a:ext cx="4462272" cy="265176"/>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مسؤول التطبيق</a:t>
            </a:r>
            <a:endParaRPr lang="ar-SA" sz="1400" dirty="0"/>
          </a:p>
        </p:txBody>
      </p:sp>
      <p:cxnSp>
        <p:nvCxnSpPr>
          <p:cNvPr id="38" name="فاصل"/>
          <p:cNvCxnSpPr/>
          <p:nvPr/>
        </p:nvCxnSpPr>
        <p:spPr>
          <a:xfrm>
            <a:off x="1069848" y="4325112"/>
            <a:ext cx="4709160" cy="0"/>
          </a:xfrm>
          <a:prstGeom prst="line">
            <a:avLst/>
          </a:prstGeom>
          <a:ln w="12700" cap="rnd">
            <a:solidFill>
              <a:srgbClr val="D4D6DE"/>
            </a:solidFill>
          </a:ln>
        </p:spPr>
      </p:cxnSp>
      <p:sp>
        <p:nvSpPr>
          <p:cNvPr id="39" name="استخدام التشخيص في الجهات الخمس"/>
          <p:cNvSpPr txBox="1"/>
          <p:nvPr/>
        </p:nvSpPr>
        <p:spPr>
          <a:xfrm>
            <a:off x="1069848" y="4370832"/>
            <a:ext cx="4709160"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كيف تُستخدم</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تحديد البرامج الأولى ومخرجاتها وتكلفتها، واختيار تطبيقات يمكن قياس أثرها.</a:t>
            </a:r>
            <a:endParaRPr lang="ar-SA" sz="1400" dirty="0"/>
          </a:p>
        </p:txBody>
      </p:sp>
      <p:sp>
        <p:nvSpPr>
          <p:cNvPr id="40" name="قالب البيانات"/>
          <p:cNvSpPr/>
          <p:nvPr/>
        </p:nvSpPr>
        <p:spPr>
          <a:xfrm>
            <a:off x="841248" y="5303520"/>
            <a:ext cx="10515600" cy="685800"/>
          </a:xfrm>
          <a:prstGeom prst="roundRect">
            <a:avLst>
              <a:gd name="adj" fmla="val 16000"/>
            </a:avLst>
          </a:prstGeom>
          <a:solidFill>
            <a:srgbClr val="E5F6F6"/>
          </a:solidFill>
          <a:ln>
            <a:noFill/>
          </a:ln>
        </p:spPr>
        <p:txBody>
          <a:bodyPr wrap="square" lIns="91440" tIns="45720" rIns="91440" bIns="45720" rtlCol="0" anchor="t">
            <a:noAutofit/>
          </a:bodyPr>
          <a:lstStyle/>
          <a:p>
            <a:endParaRPr lang="ar-SA"/>
          </a:p>
        </p:txBody>
      </p:sp>
      <p:sp>
        <p:nvSpPr>
          <p:cNvPr id="41" name="دائرة أيقونة"/>
          <p:cNvSpPr/>
          <p:nvPr/>
        </p:nvSpPr>
        <p:spPr>
          <a:xfrm>
            <a:off x="10671048" y="5394960"/>
            <a:ext cx="502920" cy="502920"/>
          </a:xfrm>
          <a:prstGeom prst="ellipse">
            <a:avLst/>
          </a:prstGeom>
          <a:solidFill>
            <a:srgbClr val="FFFFFF"/>
          </a:solidFill>
          <a:ln>
            <a:noFill/>
          </a:ln>
        </p:spPr>
      </p:sp>
      <p:pic>
        <p:nvPicPr>
          <p:cNvPr id="42" name="أيقونة ClipboardText" descr=""/>
          <p:cNvPicPr>
            <a:picLocks noChangeAspect="1"/>
          </p:cNvPicPr>
          <p:nvPr/>
        </p:nvPicPr>
        <p:blipFill>
          <a:blip r:embed="rId4"/>
          <a:stretch>
            <a:fillRect/>
          </a:stretch>
        </p:blipFill>
        <p:spPr>
          <a:xfrm>
            <a:off x="10786720" y="5510632"/>
            <a:ext cx="271577" cy="271577"/>
          </a:xfrm>
          <a:prstGeom prst="rect">
            <a:avLst/>
          </a:prstGeom>
        </p:spPr>
      </p:pic>
      <p:sp>
        <p:nvSpPr>
          <p:cNvPr id="43" name="قالب البيانات نص"/>
          <p:cNvSpPr txBox="1"/>
          <p:nvPr/>
        </p:nvSpPr>
        <p:spPr>
          <a:xfrm>
            <a:off x="1069848" y="5303520"/>
            <a:ext cx="9418320" cy="685800"/>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يقترح قدراتك البدء بقالب بيانات مختصر، وتحديد الجهة المالكة لكل بيان ونقطة الاتصال. </a:t>
            </a:r>
            <a:r>
              <a:rPr lang="ar-SA" sz="1400" b="0" i="0" dirty="0" noProof="1">
                <a:solidFill>
                  <a:srgbClr val="2A206A"/>
                </a:solidFill>
                <a:latin typeface="☞DIODRUM ARABIC MEDIUM" pitchFamily="2" charset="-78"/>
                <a:cs typeface="☞DIODRUM ARABIC MEDIUM" pitchFamily="2" charset="-78"/>
              </a:rPr>
              <a:t>ويمكن الاستفادة من مصادر الهيئة عن الجاهزية والتبني وحالات الاستخدام لدعم اختيار التطبيقات والجهات.</a:t>
            </a:r>
            <a:endParaRPr lang="ar-SA" sz="1400" dirty="0"/>
          </a:p>
        </p:txBody>
      </p:sp>
      <p:sp>
        <p:nvSpPr>
          <p:cNvPr id="44"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(الشريحة 6)؛ مذكرة بيانات التبني (3 أغسطس)؛ مراسلة 29 يوليو و5 أغسطس.  الحالة: طلبات البيانات من المسودة؛ المساران والقالب توصية.</a:t>
            </a:r>
            <a:endParaRPr lang="ar-SA" sz="10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6876288" cy="1143000"/>
          </a:xfrm>
        </p:spPr>
        <p:txBody>
          <a:bodyPr lIns="0" tIns="0" rIns="0" bIns="0" anchor="t"/>
          <a:lstStyle/>
          <a:p>
            <a:pPr algn="r" rtl="1">
              <a:lnSpc>
                <a:spcPts val="4800"/>
              </a:lnSpc>
            </a:pPr>
            <a:r>
              <a:rPr lang="ar-SA" sz="3600" b="1" dirty="0" noProof="1">
                <a:solidFill>
                  <a:srgbClr val="FFFFFF"/>
                </a:solidFill>
                <a:latin typeface="☞DIODRUM ARABIC SEMIBOLD" pitchFamily="2" charset="-78"/>
                <a:cs typeface="☞DIODRUM ARABIC SEMIBOLD" pitchFamily="2" charset="-78"/>
              </a:rPr>
              <a:t>تصميم المسارات والشراكات والتمويل</a:t>
            </a:r>
          </a:p>
        </p:txBody>
      </p:sp>
      <p:sp>
        <p:nvSpPr>
          <p:cNvPr id="3" name="رقم القسم"/>
          <p:cNvSpPr/>
          <p:nvPr/>
        </p:nvSpPr>
        <p:spPr>
          <a:xfrm>
            <a:off x="10305288" y="2084832"/>
            <a:ext cx="1051560" cy="1051560"/>
          </a:xfrm>
          <a:prstGeom prst="ellipse">
            <a:avLst/>
          </a:prstGeom>
          <a:solidFill>
            <a:srgbClr val="1CC182"/>
          </a:solidFill>
          <a:ln>
            <a:noFill/>
          </a:ln>
        </p:spPr>
        <p:txBody>
          <a:bodyPr wrap="square" lIns="0" tIns="0" rIns="0" bIns="0" rtlCol="0" anchor="ctr">
            <a:noAutofit/>
          </a:bodyPr>
          <a:lstStyle/>
          <a:p>
            <a:pPr marL="0" indent="0" algn="ctr" rtl="1">
              <a:lnSpc>
                <a:spcPts val="6000"/>
              </a:lnSpc>
              <a:spcBef>
                <a:spcPts val="0"/>
              </a:spcBef>
              <a:spcAft>
                <a:spcPts val="0"/>
              </a:spcAft>
              <a:buNone/>
            </a:pPr>
            <a:r>
              <a:rPr lang="ar-SA" sz="4600" b="1" i="0" dirty="0" noProof="1">
                <a:solidFill>
                  <a:srgbClr val="FFFFFF"/>
                </a:solidFill>
                <a:latin typeface="☞DIODRUM ARABIC SEMIBOLD" pitchFamily="2" charset="-78"/>
                <a:cs typeface="☞DIODRUM ARABIC SEMIBOLD" pitchFamily="2" charset="-78"/>
              </a:rPr>
              <a:t>3</a:t>
            </a:r>
            <a:endParaRPr lang="ar-SA" sz="4600" dirty="0"/>
          </a:p>
        </p:txBody>
      </p:sp>
      <p:sp>
        <p:nvSpPr>
          <p:cNvPr id="4" name="وصف القسم"/>
          <p:cNvSpPr txBox="1"/>
          <p:nvPr/>
        </p:nvSpPr>
        <p:spPr>
          <a:xfrm>
            <a:off x="4480560" y="4498848"/>
            <a:ext cx="6876288" cy="82296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000" b="0" i="0" dirty="0" noProof="1">
                <a:solidFill>
                  <a:srgbClr val="D5D3E8"/>
                </a:solidFill>
                <a:latin typeface="☞DIODRUM ARABIC MEDIUM" pitchFamily="2" charset="-78"/>
                <a:cs typeface="☞DIODRUM ARABIC MEDIUM" pitchFamily="2" charset="-78"/>
              </a:rPr>
              <a:t>القيادات والمحترفون والوعي، وعروض الشركاء، والتمويل</a:t>
            </a:r>
            <a:endParaRPr lang="ar-SA" sz="2000" dirty="0"/>
          </a:p>
        </p:txBody>
      </p:sp>
      <p:sp>
        <p:nvSpPr>
          <p:cNvPr id="5"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برامج القيادات تُصمم بحسب نطاق القرار والمسؤولية</a:t>
            </a:r>
          </a:p>
        </p:txBody>
      </p:sp>
      <p:sp>
        <p:nvSpPr>
          <p:cNvPr id="3" name="Text Placeholder 2"/>
          <p:cNvSpPr>
            <a:spLocks noGrp="1"/>
          </p:cNvSpPr>
          <p:nvPr>
            <p:ph type="body" idx="13" sz="quarter"/>
          </p:nvPr>
        </p:nvSpPr>
        <p:spPr/>
        <p:txBody>
          <a:bodyPr/>
          <a:lstStyle/>
          <a:p>
            <a:r>
              <a:rPr lang="ar-SA" dirty="0" noProof="1"/>
              <a:t>توصي الدراسة بأربعة مستويات؛ ترتفع الحاجة إلى التخصيص كلما اتسع نطاق القرار وحساسية الملفات.</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3  ·  تصميم المسارات والشراكات والتمويل</a:t>
            </a:r>
            <a:endParaRPr lang="ar-SA" sz="1100" dirty="0"/>
          </a:p>
        </p:txBody>
      </p:sp>
      <p:graphicFrame>
        <p:nvGraphicFramePr>
          <p:cNvPr id="6" name="مستويات برامج القيادات"/>
          <p:cNvGraphicFramePr>
            <a:graphicFrameLocks noGrp="1"/>
          </p:cNvGraphicFramePr>
          <p:nvPr/>
        </p:nvGraphicFramePr>
        <p:xfrm>
          <a:off x="841248" y="2011680"/>
          <a:ext cx="10515600" cy="3977640"/>
        </p:xfrm>
        <a:graphic>
          <a:graphicData uri="http://schemas.openxmlformats.org/drawingml/2006/table">
            <a:tbl>
              <a:tblPr firstRow="1"/>
              <a:tblGrid>
                <a:gridCol w="3931920"/>
                <a:gridCol w="3749040"/>
                <a:gridCol w="2834640"/>
              </a:tblGrid>
              <a:tr h="438912">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طريقة التقديم والمخرج</a:t>
                      </a:r>
                      <a:endParaRPr lang="ar-SA" sz="1400" dirty="0"/>
                    </a:p>
                  </a:txBody>
                  <a:tcPr marL="146304" marR="146304" marT="54864" marB="54864"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التركيز</a:t>
                      </a:r>
                      <a:endParaRPr lang="ar-SA" sz="1400" dirty="0"/>
                    </a:p>
                  </a:txBody>
                  <a:tcPr marL="146304" marR="146304" marT="54864" marB="54864"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المستوى المقترح</a:t>
                      </a:r>
                      <a:endParaRPr lang="ar-SA" sz="1400" dirty="0"/>
                    </a:p>
                  </a:txBody>
                  <a:tcPr marL="146304" marR="146304" marT="54864" marB="54864" anchor="ctr">
                    <a:lnL w="0">
                      <a:noFill/>
                    </a:lnL>
                    <a:lnR w="0">
                      <a:noFill/>
                    </a:lnR>
                    <a:lnT w="0">
                      <a:noFill/>
                    </a:lnT>
                    <a:lnB w="9525" cap="flat" cmpd="sng" algn="ctr">
                      <a:solidFill>
                        <a:srgbClr val="E2E4EA"/>
                      </a:solidFill>
                      <a:prstDash val="solid"/>
                    </a:lnB>
                    <a:solidFill>
                      <a:srgbClr val="00ABAF"/>
                    </a:solidFill>
                  </a:tcPr>
                </a:tc>
              </a:tr>
              <a:tr h="884682">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جلسات محلية مخصصة ترتبط بملفات فعلية؛ ومخرجها أولويات وقرارات وخطة متابعة.</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الاختيارات الاستراتيجية، والأثر على القطاع، والأولويات والحوكمة والمسؤولية عن القرارات.</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600"/>
                        </a:lnSpc>
                        <a:spcBef>
                          <a:spcPts val="0"/>
                        </a:spcBef>
                        <a:spcAft>
                          <a:spcPts val="0"/>
                        </a:spcAft>
                        <a:buNone/>
                      </a:pPr>
                      <a:r>
                        <a:rPr lang="ar-SA" sz="1200" b="0" i="0" dirty="0" noProof="1">
                          <a:solidFill>
                            <a:srgbClr val="FFFFFF"/>
                          </a:solidFill>
                          <a:latin typeface="☞DIODRUM ARABIC MEDIUM" pitchFamily="2" charset="-78"/>
                          <a:cs typeface="☞DIODRUM ARABIC MEDIUM" pitchFamily="2" charset="-78"/>
                        </a:rPr>
                        <a:t>المستوى 1</a:t>
                      </a:r>
                      <a:endParaRPr lang="ar-SA" sz="1200" dirty="0"/>
                    </a:p>
                    <a:p>
                      <a:pPr marL="0" indent="0" algn="r" rtl="1">
                        <a:lnSpc>
                          <a:spcPts val="2100"/>
                        </a:lnSpc>
                        <a:spcBef>
                          <a:spcPts val="0"/>
                        </a:spcBef>
                        <a:spcAft>
                          <a:spcPts val="0"/>
                        </a:spcAft>
                        <a:buNone/>
                      </a:pPr>
                      <a:r>
                        <a:rPr lang="ar-SA" sz="1500" b="0" i="0" dirty="0" noProof="1">
                          <a:solidFill>
                            <a:srgbClr val="FFFFFF"/>
                          </a:solidFill>
                          <a:latin typeface="☞DIODRUM ARABIC SEMIBOLD" pitchFamily="2" charset="-78"/>
                          <a:cs typeface="☞DIODRUM ARABIC SEMIBOLD" pitchFamily="2" charset="-78"/>
                        </a:rPr>
                        <a:t>الوزراء</a:t>
                      </a:r>
                      <a:endParaRPr lang="ar-SA" sz="15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7C32C9"/>
                    </a:solidFill>
                  </a:tcPr>
                </a:tc>
              </a:tr>
              <a:tr h="884682">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مجموعات منتقاة ومغلقة بمحتوى محلي وخبراء متخصصين؛ ومخرجها خارطة تبنٍّ ومسؤوليات تنفيذية.</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إدارة التبني داخل المؤسسة، والاستثمار، وتوجيه البرامج والأطراف التابعة.</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600"/>
                        </a:lnSpc>
                        <a:spcBef>
                          <a:spcPts val="0"/>
                        </a:spcBef>
                        <a:spcAft>
                          <a:spcPts val="0"/>
                        </a:spcAft>
                        <a:buNone/>
                      </a:pPr>
                      <a:r>
                        <a:rPr lang="ar-SA" sz="1200" b="0" i="0" dirty="0" noProof="1">
                          <a:solidFill>
                            <a:srgbClr val="FFFFFF"/>
                          </a:solidFill>
                          <a:latin typeface="☞DIODRUM ARABIC MEDIUM" pitchFamily="2" charset="-78"/>
                          <a:cs typeface="☞DIODRUM ARABIC MEDIUM" pitchFamily="2" charset="-78"/>
                        </a:rPr>
                        <a:t>المستوى 2</a:t>
                      </a:r>
                      <a:endParaRPr lang="ar-SA" sz="1200" dirty="0"/>
                    </a:p>
                    <a:p>
                      <a:pPr marL="0" indent="0" algn="r" rtl="1">
                        <a:lnSpc>
                          <a:spcPts val="2100"/>
                        </a:lnSpc>
                        <a:spcBef>
                          <a:spcPts val="0"/>
                        </a:spcBef>
                        <a:spcAft>
                          <a:spcPts val="0"/>
                        </a:spcAft>
                        <a:buNone/>
                      </a:pPr>
                      <a:r>
                        <a:rPr lang="ar-SA" sz="1500" b="0" i="0" dirty="0" noProof="1">
                          <a:solidFill>
                            <a:srgbClr val="FFFFFF"/>
                          </a:solidFill>
                          <a:latin typeface="☞DIODRUM ARABIC SEMIBOLD" pitchFamily="2" charset="-78"/>
                          <a:cs typeface="☞DIODRUM ARABIC SEMIBOLD" pitchFamily="2" charset="-78"/>
                        </a:rPr>
                        <a:t>نواب ومساعدو الوزراء وأصحاب المعالي والمحافظون</a:t>
                      </a:r>
                      <a:endParaRPr lang="ar-SA" sz="15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9D65D6"/>
                    </a:solidFill>
                  </a:tcPr>
                </a:tc>
              </a:tr>
              <a:tr h="884682">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برامج قائمة مع تخصيص على حالات الجهة؛ ومخرجها خطة تطبيق بمؤشرات وملاك واضحين.</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تحويل التوجه إلى برامج، وتحديد حالات الاستخدام، وتنسيق التنفيذ وإدارة التغيير.</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600"/>
                        </a:lnSpc>
                        <a:spcBef>
                          <a:spcPts val="0"/>
                        </a:spcBef>
                        <a:spcAft>
                          <a:spcPts val="0"/>
                        </a:spcAft>
                        <a:buNone/>
                      </a:pPr>
                      <a:r>
                        <a:rPr lang="ar-SA" sz="1200" b="0" i="0" dirty="0" noProof="1">
                          <a:solidFill>
                            <a:srgbClr val="2A206A"/>
                          </a:solidFill>
                          <a:latin typeface="☞DIODRUM ARABIC MEDIUM" pitchFamily="2" charset="-78"/>
                          <a:cs typeface="☞DIODRUM ARABIC MEDIUM" pitchFamily="2" charset="-78"/>
                        </a:rPr>
                        <a:t>المستوى 3</a:t>
                      </a:r>
                      <a:endParaRPr lang="ar-SA" sz="1200" dirty="0"/>
                    </a:p>
                    <a:p>
                      <a:pPr marL="0" indent="0" algn="r" rtl="1">
                        <a:lnSpc>
                          <a:spcPts val="21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وكلاء الوزارات ونواب المحافظين</a:t>
                      </a:r>
                      <a:endParaRPr lang="ar-SA" sz="15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BD98E4"/>
                    </a:solidFill>
                  </a:tcPr>
                </a:tc>
              </a:tr>
              <a:tr h="884682">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تعلم تطبيقي ومشروع مرتبط بالعمل؛ ومخرجه تحسين إجراء أو تشغيل حالة استخدام.</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الإشراف على التطبيق، وجاهزية الفرق، وجودة العمليات والمتابعة.</a:t>
                      </a:r>
                      <a:endParaRPr lang="ar-SA" sz="14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600"/>
                        </a:lnSpc>
                        <a:spcBef>
                          <a:spcPts val="0"/>
                        </a:spcBef>
                        <a:spcAft>
                          <a:spcPts val="0"/>
                        </a:spcAft>
                        <a:buNone/>
                      </a:pPr>
                      <a:r>
                        <a:rPr lang="ar-SA" sz="1200" b="0" i="0" dirty="0" noProof="1">
                          <a:solidFill>
                            <a:srgbClr val="2A206A"/>
                          </a:solidFill>
                          <a:latin typeface="☞DIODRUM ARABIC MEDIUM" pitchFamily="2" charset="-78"/>
                          <a:cs typeface="☞DIODRUM ARABIC MEDIUM" pitchFamily="2" charset="-78"/>
                        </a:rPr>
                        <a:t>المستوى 4</a:t>
                      </a:r>
                      <a:endParaRPr lang="ar-SA" sz="1200" dirty="0"/>
                    </a:p>
                    <a:p>
                      <a:pPr marL="0" indent="0" algn="r" rtl="1">
                        <a:lnSpc>
                          <a:spcPts val="21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مساعدو الوكلاء والرؤساء التنفيذيون ومن يعادلهم</a:t>
                      </a:r>
                      <a:endParaRPr lang="ar-SA" sz="1500" dirty="0"/>
                    </a:p>
                  </a:txBody>
                  <a:tcPr marL="146304" marR="146304" marT="54864" marB="54864" anchor="ctr">
                    <a:lnL w="0">
                      <a:noFill/>
                    </a:lnL>
                    <a:lnR w="0">
                      <a:noFill/>
                    </a:lnR>
                    <a:lnT w="9525" cap="flat" cmpd="sng" algn="ctr">
                      <a:solidFill>
                        <a:srgbClr val="E2E4EA"/>
                      </a:solidFill>
                      <a:prstDash val="solid"/>
                    </a:lnT>
                    <a:lnB w="9525" cap="flat" cmpd="sng" algn="ctr">
                      <a:solidFill>
                        <a:srgbClr val="E2E4EA"/>
                      </a:solidFill>
                      <a:prstDash val="solid"/>
                    </a:lnB>
                    <a:solidFill>
                      <a:srgbClr val="DECBF1"/>
                    </a:solidFill>
                  </a:tcPr>
                </a:tc>
              </a:tr>
            </a:tbl>
          </a:graphicData>
        </a:graphic>
      </p:graphicFrame>
      <p:sp>
        <p:nvSpPr>
          <p:cNvPr id="7"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الدراسة المعيارية (ص 8-13 و21-26).  الحالة: المستويات وطريقة التقديم توصية مبنية على الدراسة؛ التكلفة والميزانية غير معتمدة. تدرج اللون = مستوى التخصيص.</a:t>
            </a:r>
            <a:endParaRPr lang="ar-SA" sz="10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مسار المحترفين يجمع القدرة التقنية وفهم العمل الحكومي</a:t>
            </a:r>
          </a:p>
        </p:txBody>
      </p:sp>
      <p:sp>
        <p:nvSpPr>
          <p:cNvPr id="3" name="Text Placeholder 2"/>
          <p:cNvSpPr>
            <a:spLocks noGrp="1"/>
          </p:cNvSpPr>
          <p:nvPr>
            <p:ph type="body" idx="13" sz="quarter"/>
          </p:nvPr>
        </p:nvSpPr>
        <p:spPr/>
        <p:txBody>
          <a:bodyPr/>
          <a:lstStyle/>
          <a:p>
            <a:r>
              <a:rPr lang="ar-SA" dirty="0" noProof="1"/>
              <a:t>يُبنى التخصص حول حالة استخدام في الجهة، بمشاركة من ينفذ الحل ومن يملك العملية.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3  ·  تصميم المسارات والشراكات والتمويل</a:t>
            </a:r>
            <a:endParaRPr lang="ar-SA" sz="1100" dirty="0"/>
          </a:p>
        </p:txBody>
      </p:sp>
      <p:sp>
        <p:nvSpPr>
          <p:cNvPr id="6" name="فئة المتخصصون التقنيون"/>
          <p:cNvSpPr/>
          <p:nvPr/>
        </p:nvSpPr>
        <p:spPr>
          <a:xfrm>
            <a:off x="6190488" y="2011680"/>
            <a:ext cx="5166360" cy="1481328"/>
          </a:xfrm>
          <a:prstGeom prst="roundRect">
            <a:avLst>
              <a:gd name="adj" fmla="val 8641"/>
            </a:avLst>
          </a:prstGeom>
          <a:solidFill>
            <a:srgbClr val="F5F5F5"/>
          </a:solidFill>
          <a:ln>
            <a:noFill/>
          </a:ln>
        </p:spPr>
        <p:txBody>
          <a:bodyPr wrap="square" lIns="91440" tIns="45720" rIns="91440" bIns="45720" rtlCol="0" anchor="t">
            <a:noAutofit/>
          </a:bodyPr>
          <a:lstStyle/>
          <a:p>
            <a:endParaRPr lang="ar-SA"/>
          </a:p>
        </p:txBody>
      </p:sp>
      <p:sp>
        <p:nvSpPr>
          <p:cNvPr id="7" name="دائرة أيقونة"/>
          <p:cNvSpPr/>
          <p:nvPr/>
        </p:nvSpPr>
        <p:spPr>
          <a:xfrm>
            <a:off x="10543032" y="2176272"/>
            <a:ext cx="585216" cy="585216"/>
          </a:xfrm>
          <a:prstGeom prst="ellipse">
            <a:avLst/>
          </a:prstGeom>
          <a:solidFill>
            <a:srgbClr val="E5F6F6"/>
          </a:solidFill>
          <a:ln>
            <a:noFill/>
          </a:ln>
        </p:spPr>
      </p:sp>
      <p:pic>
        <p:nvPicPr>
          <p:cNvPr id="8" name="أيقونة Code" descr=""/>
          <p:cNvPicPr>
            <a:picLocks noChangeAspect="1"/>
          </p:cNvPicPr>
          <p:nvPr/>
        </p:nvPicPr>
        <p:blipFill>
          <a:blip r:embed="rId2"/>
          <a:stretch>
            <a:fillRect/>
          </a:stretch>
        </p:blipFill>
        <p:spPr>
          <a:xfrm>
            <a:off x="10677632" y="2310872"/>
            <a:ext cx="316017" cy="316017"/>
          </a:xfrm>
          <a:prstGeom prst="rect">
            <a:avLst/>
          </a:prstGeom>
        </p:spPr>
      </p:pic>
      <p:sp>
        <p:nvSpPr>
          <p:cNvPr id="9" name="عنوان المتخصصون التقنيون"/>
          <p:cNvSpPr txBox="1"/>
          <p:nvPr/>
        </p:nvSpPr>
        <p:spPr>
          <a:xfrm>
            <a:off x="6419088" y="2176272"/>
            <a:ext cx="3941064" cy="585216"/>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0" i="0" dirty="0" noProof="1">
                <a:solidFill>
                  <a:srgbClr val="00ABAF"/>
                </a:solidFill>
                <a:latin typeface="☞DIODRUM ARABIC SEMIBOLD" pitchFamily="2" charset="-78"/>
                <a:cs typeface="☞DIODRUM ARABIC SEMIBOLD" pitchFamily="2" charset="-78"/>
              </a:rPr>
              <a:t>المتخصصون التقنيون</a:t>
            </a:r>
            <a:endParaRPr lang="ar-SA" sz="1900" dirty="0"/>
          </a:p>
        </p:txBody>
      </p:sp>
      <p:sp>
        <p:nvSpPr>
          <p:cNvPr id="10" name="نص المتخصصون التقنيون"/>
          <p:cNvSpPr txBox="1"/>
          <p:nvPr/>
        </p:nvSpPr>
        <p:spPr>
          <a:xfrm>
            <a:off x="6419088" y="2834640"/>
            <a:ext cx="4709160" cy="621792"/>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تطوير التطبيقات، وتجهيز البيانات، وتكامل الأنظمة، والاختبار والتقييم والتشغيل، بحسب احتياج الجهة.</a:t>
            </a:r>
            <a:endParaRPr lang="ar-SA" sz="1400" dirty="0"/>
          </a:p>
        </p:txBody>
      </p:sp>
      <p:sp>
        <p:nvSpPr>
          <p:cNvPr id="11" name="فئة خبراء المجالات ومالكو العمليات"/>
          <p:cNvSpPr/>
          <p:nvPr/>
        </p:nvSpPr>
        <p:spPr>
          <a:xfrm>
            <a:off x="841248" y="2011680"/>
            <a:ext cx="5166360" cy="1481328"/>
          </a:xfrm>
          <a:prstGeom prst="roundRect">
            <a:avLst>
              <a:gd name="adj" fmla="val 8641"/>
            </a:avLst>
          </a:prstGeom>
          <a:solidFill>
            <a:srgbClr val="F5F5F5"/>
          </a:solidFill>
          <a:ln>
            <a:noFill/>
          </a:ln>
        </p:spPr>
        <p:txBody>
          <a:bodyPr wrap="square" lIns="91440" tIns="45720" rIns="91440" bIns="45720" rtlCol="0" anchor="t">
            <a:noAutofit/>
          </a:bodyPr>
          <a:lstStyle/>
          <a:p>
            <a:endParaRPr lang="ar-SA"/>
          </a:p>
        </p:txBody>
      </p:sp>
      <p:sp>
        <p:nvSpPr>
          <p:cNvPr id="12" name="دائرة أيقونة"/>
          <p:cNvSpPr/>
          <p:nvPr/>
        </p:nvSpPr>
        <p:spPr>
          <a:xfrm>
            <a:off x="5193792" y="2176272"/>
            <a:ext cx="585216" cy="585216"/>
          </a:xfrm>
          <a:prstGeom prst="ellipse">
            <a:avLst/>
          </a:prstGeom>
          <a:solidFill>
            <a:srgbClr val="F1E9FA"/>
          </a:solidFill>
          <a:ln>
            <a:noFill/>
          </a:ln>
        </p:spPr>
      </p:sp>
      <p:pic>
        <p:nvPicPr>
          <p:cNvPr id="13" name="أيقونة IdentificationBadge" descr=""/>
          <p:cNvPicPr>
            <a:picLocks noChangeAspect="1"/>
          </p:cNvPicPr>
          <p:nvPr/>
        </p:nvPicPr>
        <p:blipFill>
          <a:blip r:embed="rId3"/>
          <a:stretch>
            <a:fillRect/>
          </a:stretch>
        </p:blipFill>
        <p:spPr>
          <a:xfrm>
            <a:off x="5328392" y="2310872"/>
            <a:ext cx="316017" cy="316017"/>
          </a:xfrm>
          <a:prstGeom prst="rect">
            <a:avLst/>
          </a:prstGeom>
        </p:spPr>
      </p:pic>
      <p:sp>
        <p:nvSpPr>
          <p:cNvPr id="14" name="عنوان خبراء المجالات ومالكو العمليات"/>
          <p:cNvSpPr txBox="1"/>
          <p:nvPr/>
        </p:nvSpPr>
        <p:spPr>
          <a:xfrm>
            <a:off x="1069848" y="2176272"/>
            <a:ext cx="3941064" cy="585216"/>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0" i="0" dirty="0" noProof="1">
                <a:solidFill>
                  <a:srgbClr val="7C32C9"/>
                </a:solidFill>
                <a:latin typeface="☞DIODRUM ARABIC SEMIBOLD" pitchFamily="2" charset="-78"/>
                <a:cs typeface="☞DIODRUM ARABIC SEMIBOLD" pitchFamily="2" charset="-78"/>
              </a:rPr>
              <a:t>خبراء المجالات ومالكو العمليات</a:t>
            </a:r>
            <a:endParaRPr lang="ar-SA" sz="1900" dirty="0"/>
          </a:p>
        </p:txBody>
      </p:sp>
      <p:sp>
        <p:nvSpPr>
          <p:cNvPr id="15" name="نص خبراء المجالات ومالكو العمليات"/>
          <p:cNvSpPr txBox="1"/>
          <p:nvPr/>
        </p:nvSpPr>
        <p:spPr>
          <a:xfrm>
            <a:off x="1069848" y="2834640"/>
            <a:ext cx="4709160" cy="621792"/>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تحديد المهام المناسبة، ومعايير الجودة، وحدود التفويض، وطريقة دمج الحل في الإجراء ومتابعة نتيجته.</a:t>
            </a:r>
            <a:endParaRPr lang="ar-SA" sz="1400" dirty="0"/>
          </a:p>
        </p:txBody>
      </p:sp>
      <p:sp>
        <p:nvSpPr>
          <p:cNvPr id="16" name="يتعلمان معًا"/>
          <p:cNvSpPr/>
          <p:nvPr/>
        </p:nvSpPr>
        <p:spPr>
          <a:xfrm>
            <a:off x="5907024" y="2560320"/>
            <a:ext cx="384048" cy="384048"/>
          </a:xfrm>
          <a:prstGeom prst="ellipse">
            <a:avLst/>
          </a:prstGeom>
          <a:solidFill>
            <a:srgbClr val="FFFFFF"/>
          </a:solidFill>
          <a:ln w="12700">
            <a:solidFill>
              <a:srgbClr val="E2E4EA"/>
            </a:solidFill>
          </a:ln>
        </p:spPr>
        <p:txBody>
          <a:bodyPr wrap="square" lIns="0" tIns="0" rIns="0" bIns="0" rtlCol="0" anchor="ctr">
            <a:noAutofit/>
          </a:bodyPr>
          <a:lstStyle/>
          <a:p>
            <a:pPr marL="0" indent="0" algn="ctr" rtl="1">
              <a:lnSpc>
                <a:spcPts val="2600"/>
              </a:lnSpc>
              <a:spcBef>
                <a:spcPts val="0"/>
              </a:spcBef>
              <a:spcAft>
                <a:spcPts val="0"/>
              </a:spcAft>
              <a:buNone/>
            </a:pPr>
            <a:r>
              <a:rPr lang="ar-SA" sz="2200" b="1" i="0" dirty="0" noProof="1">
                <a:solidFill>
                  <a:srgbClr val="2A206A"/>
                </a:solidFill>
                <a:latin typeface="☞DIODRUM ARABIC SEMIBOLD" pitchFamily="2" charset="-78"/>
                <a:cs typeface="☞DIODRUM ARABIC SEMIBOLD" pitchFamily="2" charset="-78"/>
              </a:rPr>
              <a:t>+</a:t>
            </a:r>
            <a:endParaRPr lang="ar-SA" sz="2200" dirty="0"/>
          </a:p>
        </p:txBody>
      </p:sp>
      <p:sp>
        <p:nvSpPr>
          <p:cNvPr id="17" name="طريقة التعلم"/>
          <p:cNvSpPr txBox="1"/>
          <p:nvPr/>
        </p:nvSpPr>
        <p:spPr>
          <a:xfrm>
            <a:off x="9756648" y="3602736"/>
            <a:ext cx="1600200" cy="822960"/>
          </a:xfrm>
          <a:prstGeom prst="rect">
            <a:avLst/>
          </a:prstGeom>
          <a:noFill/>
          <a:ln>
            <a:noFill/>
          </a:ln>
        </p:spPr>
        <p:txBody>
          <a:bodyPr wrap="square" lIns="0" tIns="0" rIns="0" bIns="0" rtlCol="0" anchor="ctr">
            <a:noAutofit/>
          </a:bodyPr>
          <a:lstStyle/>
          <a:p>
            <a:pPr marL="0" indent="0" algn="r" rtl="1">
              <a:lnSpc>
                <a:spcPts val="2400"/>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طريقة التعلم</a:t>
            </a:r>
            <a:endParaRPr lang="ar-SA" sz="1700" dirty="0"/>
          </a:p>
          <a:p>
            <a:pPr marL="0" indent="0" algn="r" rtl="1">
              <a:lnSpc>
                <a:spcPts val="1700"/>
              </a:lnSpc>
              <a:spcBef>
                <a:spcPts val="0"/>
              </a:spcBef>
              <a:spcAft>
                <a:spcPts val="0"/>
              </a:spcAft>
              <a:buNone/>
            </a:pPr>
            <a:r>
              <a:rPr lang="ar-SA" sz="1200" b="0" i="0" dirty="0" noProof="1">
                <a:solidFill>
                  <a:srgbClr val="5F5F6B"/>
                </a:solidFill>
                <a:latin typeface="☞DIODRUM ARABIC MEDIUM" pitchFamily="2" charset="-78"/>
                <a:cs typeface="☞DIODRUM ARABIC MEDIUM" pitchFamily="2" charset="-78"/>
              </a:rPr>
              <a:t>معًا على حالة استخدام</a:t>
            </a:r>
            <a:endParaRPr lang="ar-SA" sz="1200" dirty="0"/>
          </a:p>
        </p:txBody>
      </p:sp>
      <p:sp>
        <p:nvSpPr>
          <p:cNvPr id="18" name="خطوة 1"/>
          <p:cNvSpPr/>
          <p:nvPr/>
        </p:nvSpPr>
        <p:spPr>
          <a:xfrm flipH="1">
            <a:off x="7514082" y="3602736"/>
            <a:ext cx="2151126" cy="822960"/>
          </a:xfrm>
          <a:prstGeom prst="homePlate">
            <a:avLst>
              <a:gd name="adj" fmla="val 32000"/>
            </a:avLst>
          </a:prstGeom>
          <a:solidFill>
            <a:srgbClr val="00ABAF"/>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تدريب عملي</a:t>
            </a:r>
            <a:endParaRPr lang="ar-SA" sz="1400" dirty="0"/>
          </a:p>
        </p:txBody>
      </p:sp>
      <p:sp>
        <p:nvSpPr>
          <p:cNvPr id="19" name="خطوة 2"/>
          <p:cNvSpPr/>
          <p:nvPr/>
        </p:nvSpPr>
        <p:spPr>
          <a:xfrm flipH="1">
            <a:off x="5289804" y="3602736"/>
            <a:ext cx="2151126" cy="822960"/>
          </a:xfrm>
          <a:prstGeom prst="homePlate">
            <a:avLst>
              <a:gd name="adj" fmla="val 32000"/>
            </a:avLst>
          </a:prstGeom>
          <a:solidFill>
            <a:srgbClr val="7C32C9"/>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تطبيق موجّه على حالة استخدام</a:t>
            </a:r>
            <a:endParaRPr lang="ar-SA" sz="1400" dirty="0"/>
          </a:p>
        </p:txBody>
      </p:sp>
      <p:sp>
        <p:nvSpPr>
          <p:cNvPr id="20" name="خطوة 3"/>
          <p:cNvSpPr/>
          <p:nvPr/>
        </p:nvSpPr>
        <p:spPr>
          <a:xfrm flipH="1">
            <a:off x="3065526" y="3602736"/>
            <a:ext cx="2151126" cy="822960"/>
          </a:xfrm>
          <a:prstGeom prst="homePlate">
            <a:avLst>
              <a:gd name="adj" fmla="val 32000"/>
            </a:avLst>
          </a:prstGeom>
          <a:solidFill>
            <a:srgbClr val="00ABAF"/>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إرشاد أثناء التجربة</a:t>
            </a:r>
            <a:endParaRPr lang="ar-SA" sz="1400" dirty="0"/>
          </a:p>
        </p:txBody>
      </p:sp>
      <p:sp>
        <p:nvSpPr>
          <p:cNvPr id="21" name="خطوة 4"/>
          <p:cNvSpPr/>
          <p:nvPr/>
        </p:nvSpPr>
        <p:spPr>
          <a:xfrm flipH="1">
            <a:off x="841248" y="3602736"/>
            <a:ext cx="2151126" cy="822960"/>
          </a:xfrm>
          <a:prstGeom prst="homePlate">
            <a:avLst>
              <a:gd name="adj" fmla="val 32000"/>
            </a:avLst>
          </a:prstGeom>
          <a:solidFill>
            <a:srgbClr val="7C32C9"/>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تقييم للقدرة على التنفيذ</a:t>
            </a:r>
            <a:endParaRPr lang="ar-SA" sz="1400" dirty="0"/>
          </a:p>
        </p:txBody>
      </p:sp>
      <p:sp>
        <p:nvSpPr>
          <p:cNvPr id="22" name="مسار FDE"/>
          <p:cNvSpPr/>
          <p:nvPr/>
        </p:nvSpPr>
        <p:spPr>
          <a:xfrm>
            <a:off x="841248" y="4535424"/>
            <a:ext cx="10515600" cy="1453896"/>
          </a:xfrm>
          <a:prstGeom prst="roundRect">
            <a:avLst>
              <a:gd name="adj" fmla="val 10062"/>
            </a:avLst>
          </a:prstGeom>
          <a:solidFill>
            <a:srgbClr val="2A206A"/>
          </a:solidFill>
          <a:ln>
            <a:noFill/>
          </a:ln>
        </p:spPr>
        <p:txBody>
          <a:bodyPr wrap="square" lIns="91440" tIns="45720" rIns="91440" bIns="45720" rtlCol="0" anchor="t">
            <a:noAutofit/>
          </a:bodyPr>
          <a:lstStyle/>
          <a:p>
            <a:endParaRPr lang="ar-SA"/>
          </a:p>
        </p:txBody>
      </p:sp>
      <p:sp>
        <p:nvSpPr>
          <p:cNvPr id="23" name="عنوان FDE"/>
          <p:cNvSpPr txBox="1"/>
          <p:nvPr/>
        </p:nvSpPr>
        <p:spPr>
          <a:xfrm>
            <a:off x="6099048" y="4663440"/>
            <a:ext cx="4983480" cy="329184"/>
          </a:xfrm>
          <a:prstGeom prst="rect">
            <a:avLst/>
          </a:prstGeom>
          <a:noFill/>
          <a:ln>
            <a:noFill/>
          </a:ln>
        </p:spPr>
        <p:txBody>
          <a:bodyPr wrap="square" lIns="0" tIns="0" rIns="0" bIns="0" rtlCol="0" anchor="t">
            <a:noAutofit/>
          </a:bodyPr>
          <a:lstStyle/>
          <a:p>
            <a:pPr marL="0" indent="0" algn="r" rtl="1">
              <a:lnSpc>
                <a:spcPts val="2500"/>
              </a:lnSpc>
              <a:spcBef>
                <a:spcPts val="0"/>
              </a:spcBef>
              <a:spcAft>
                <a:spcPts val="0"/>
              </a:spcAft>
              <a:buNone/>
            </a:pPr>
            <a:r>
              <a:rPr lang="ar-SA" sz="1800" b="0" i="0" dirty="0" noProof="1">
                <a:solidFill>
                  <a:srgbClr val="FFFFFF"/>
                </a:solidFill>
                <a:latin typeface="☞DIODRUM ARABIC SEMIBOLD" pitchFamily="2" charset="-78"/>
                <a:cs typeface="☞DIODRUM ARABIC SEMIBOLD" pitchFamily="2" charset="-78"/>
              </a:rPr>
              <a:t>مسار FDE المقترح</a:t>
            </a:r>
            <a:endParaRPr lang="ar-SA" sz="1800" dirty="0"/>
          </a:p>
        </p:txBody>
      </p:sp>
      <p:sp>
        <p:nvSpPr>
          <p:cNvPr id="24" name="نص FDE"/>
          <p:cNvSpPr txBox="1"/>
          <p:nvPr/>
        </p:nvSpPr>
        <p:spPr>
          <a:xfrm>
            <a:off x="6099048" y="5010912"/>
            <a:ext cx="4983480" cy="905256"/>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FFFFFF"/>
                </a:solidFill>
                <a:latin typeface="☞DIODRUM ARABIC MEDIUM" pitchFamily="2" charset="-78"/>
                <a:cs typeface="☞DIODRUM ARABIC MEDIUM" pitchFamily="2" charset="-78"/>
              </a:rPr>
              <a:t>تطوير قدرة فرق تعمل بالقرب من تحديات الجهة، وتربط فهم العملية بالبناء التقني والتطبيق والتحسين.</a:t>
            </a:r>
            <a:endParaRPr lang="ar-SA" sz="1400" dirty="0"/>
          </a:p>
        </p:txBody>
      </p:sp>
      <p:cxnSp>
        <p:nvCxnSpPr>
          <p:cNvPr id="25" name="فاصل"/>
          <p:cNvCxnSpPr/>
          <p:nvPr/>
        </p:nvCxnSpPr>
        <p:spPr>
          <a:xfrm>
            <a:off x="6099048" y="4718304"/>
            <a:ext cx="0" cy="1088136"/>
          </a:xfrm>
          <a:prstGeom prst="line">
            <a:avLst/>
          </a:prstGeom>
          <a:ln w="12700" cap="rnd">
            <a:solidFill>
              <a:srgbClr val="5B52A0"/>
            </a:solidFill>
          </a:ln>
        </p:spPr>
      </p:cxnSp>
      <p:sp>
        <p:nvSpPr>
          <p:cNvPr id="26" name="عنوان الخطوة"/>
          <p:cNvSpPr txBox="1"/>
          <p:nvPr/>
        </p:nvSpPr>
        <p:spPr>
          <a:xfrm>
            <a:off x="2898648" y="4663440"/>
            <a:ext cx="2926080" cy="329184"/>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1CC182"/>
                </a:solidFill>
                <a:latin typeface="☞DIODRUM ARABIC SEMIBOLD" pitchFamily="2" charset="-78"/>
                <a:cs typeface="☞DIODRUM ARABIC SEMIBOLD" pitchFamily="2" charset="-78"/>
              </a:rPr>
              <a:t>الخطوة الحالية</a:t>
            </a:r>
            <a:endParaRPr lang="ar-SA" sz="1600" dirty="0"/>
          </a:p>
        </p:txBody>
      </p:sp>
      <p:sp>
        <p:nvSpPr>
          <p:cNvPr id="27" name="وسم"/>
          <p:cNvSpPr/>
          <p:nvPr/>
        </p:nvSpPr>
        <p:spPr>
          <a:xfrm>
            <a:off x="1115568" y="4681728"/>
            <a:ext cx="1554480" cy="292608"/>
          </a:xfrm>
          <a:prstGeom prst="roundRect">
            <a:avLst>
              <a:gd name="adj" fmla="val 50000"/>
            </a:avLst>
          </a:prstGeom>
          <a:solidFill>
            <a:srgbClr val="1CC182"/>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2A206A"/>
                </a:solidFill>
                <a:latin typeface="☞DIODRUM ARABIC SEMIBOLD" pitchFamily="2" charset="-78"/>
                <a:cs typeface="☞DIODRUM ARABIC SEMIBOLD" pitchFamily="2" charset="-78"/>
              </a:rPr>
              <a:t>مخطط — لم يُنفَّذ</a:t>
            </a:r>
            <a:endParaRPr lang="ar-SA" sz="1200" dirty="0"/>
          </a:p>
        </p:txBody>
      </p:sp>
      <p:sp>
        <p:nvSpPr>
          <p:cNvPr id="28" name="نص الخطوة"/>
          <p:cNvSpPr txBox="1"/>
          <p:nvPr/>
        </p:nvSpPr>
        <p:spPr>
          <a:xfrm>
            <a:off x="1115568" y="5029200"/>
            <a:ext cx="4709160" cy="905256"/>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FFFFFF"/>
                </a:solidFill>
                <a:latin typeface="☞DIODRUM ARABIC MEDIUM" pitchFamily="2" charset="-78"/>
                <a:cs typeface="☞DIODRUM ARABIC MEDIUM" pitchFamily="2" charset="-78"/>
              </a:rPr>
              <a:t>تواصل مع شركاء وخبراء؛ ورشة تعريفية مخطط لها في 7 أكتوبر؛ يليها تحديد نموذج المسار والفئات والشركاء ومتطلبات التطبيق.</a:t>
            </a:r>
            <a:endParaRPr lang="ar-SA" sz="1400" dirty="0"/>
          </a:p>
        </p:txBody>
      </p:sp>
      <p:sp>
        <p:nvSpPr>
          <p:cNvPr id="29"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مسودة التحديث (الشريحة 7)؛ وثيقة المهمة الوطنية (ص 4)؛ Palantir (تعريف FDE).  الحالة: التواصل والورشة مخططان؛ نموذج المحترفين وFDE مقترح.</a:t>
            </a:r>
            <a:endParaRPr lang="ar-SA" sz="105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الوعي والتبني يحتاجان إلى تعلم مستمر ومساندة داخل بيئة العمل</a:t>
            </a:r>
          </a:p>
        </p:txBody>
      </p:sp>
      <p:sp>
        <p:nvSpPr>
          <p:cNvPr id="3" name="Text Placeholder 2"/>
          <p:cNvSpPr>
            <a:spLocks noGrp="1"/>
          </p:cNvSpPr>
          <p:nvPr>
            <p:ph type="body" idx="13" sz="quarter"/>
          </p:nvPr>
        </p:nvSpPr>
        <p:spPr/>
        <p:txBody>
          <a:bodyPr/>
          <a:lstStyle/>
          <a:p>
            <a:r>
              <a:rPr lang="ar-SA" dirty="0" noProof="1"/>
              <a:t>تغير الأدوات سريع؛ لذلك نصمم تدريبًا يبني قدرة الموظف على التعلم والتطبيق والمراجعة.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3  ·  تصميم المسارات والشراكات والتمويل</a:t>
            </a:r>
            <a:endParaRPr lang="ar-SA" sz="1100" dirty="0"/>
          </a:p>
        </p:txBody>
      </p:sp>
      <p:sp>
        <p:nvSpPr>
          <p:cNvPr id="6" name="عنصر أساس مشترك"/>
          <p:cNvSpPr/>
          <p:nvPr/>
        </p:nvSpPr>
        <p:spPr>
          <a:xfrm>
            <a:off x="8961120" y="2011680"/>
            <a:ext cx="2395728" cy="2834640"/>
          </a:xfrm>
          <a:prstGeom prst="roundRect">
            <a:avLst>
              <a:gd name="adj" fmla="val 5343"/>
            </a:avLst>
          </a:prstGeom>
          <a:solidFill>
            <a:srgbClr val="F5F5F5"/>
          </a:solidFill>
          <a:ln>
            <a:noFill/>
          </a:ln>
        </p:spPr>
        <p:txBody>
          <a:bodyPr wrap="square" lIns="91440" tIns="45720" rIns="91440" bIns="45720" rtlCol="0" anchor="t">
            <a:noAutofit/>
          </a:bodyPr>
          <a:lstStyle/>
          <a:p>
            <a:endParaRPr lang="ar-SA"/>
          </a:p>
        </p:txBody>
      </p:sp>
      <p:sp>
        <p:nvSpPr>
          <p:cNvPr id="7" name="دائرة أيقونة"/>
          <p:cNvSpPr/>
          <p:nvPr/>
        </p:nvSpPr>
        <p:spPr>
          <a:xfrm>
            <a:off x="10607040" y="2194560"/>
            <a:ext cx="566928" cy="566928"/>
          </a:xfrm>
          <a:prstGeom prst="ellipse">
            <a:avLst/>
          </a:prstGeom>
          <a:solidFill>
            <a:srgbClr val="E5F6F6"/>
          </a:solidFill>
          <a:ln>
            <a:noFill/>
          </a:ln>
        </p:spPr>
      </p:sp>
      <p:pic>
        <p:nvPicPr>
          <p:cNvPr id="8" name="أيقونة Brain" descr=""/>
          <p:cNvPicPr>
            <a:picLocks noChangeAspect="1"/>
          </p:cNvPicPr>
          <p:nvPr/>
        </p:nvPicPr>
        <p:blipFill>
          <a:blip r:embed="rId2"/>
          <a:stretch>
            <a:fillRect/>
          </a:stretch>
        </p:blipFill>
        <p:spPr>
          <a:xfrm>
            <a:off x="10737433" y="2324953"/>
            <a:ext cx="306141" cy="306141"/>
          </a:xfrm>
          <a:prstGeom prst="rect">
            <a:avLst/>
          </a:prstGeom>
        </p:spPr>
      </p:pic>
      <p:sp>
        <p:nvSpPr>
          <p:cNvPr id="9" name="رقم"/>
          <p:cNvSpPr/>
          <p:nvPr/>
        </p:nvSpPr>
        <p:spPr>
          <a:xfrm>
            <a:off x="9144000" y="226771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FFFFFF"/>
                </a:solidFill>
                <a:latin typeface="☞DIODRUM ARABIC SEMIBOLD" pitchFamily="2" charset="-78"/>
                <a:cs typeface="☞DIODRUM ARABIC SEMIBOLD" pitchFamily="2" charset="-78"/>
              </a:rPr>
              <a:t>1</a:t>
            </a:r>
            <a:endParaRPr lang="ar-SA" sz="1500" dirty="0"/>
          </a:p>
        </p:txBody>
      </p:sp>
      <p:sp>
        <p:nvSpPr>
          <p:cNvPr id="10" name="عنوان أساس مشترك"/>
          <p:cNvSpPr txBox="1"/>
          <p:nvPr/>
        </p:nvSpPr>
        <p:spPr>
          <a:xfrm>
            <a:off x="9144000" y="2880360"/>
            <a:ext cx="202996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أساس مشترك</a:t>
            </a:r>
            <a:endParaRPr lang="ar-SA" sz="1600" dirty="0"/>
          </a:p>
        </p:txBody>
      </p:sp>
      <p:sp>
        <p:nvSpPr>
          <p:cNvPr id="11" name="نص أساس مشترك"/>
          <p:cNvSpPr txBox="1"/>
          <p:nvPr/>
        </p:nvSpPr>
        <p:spPr>
          <a:xfrm>
            <a:off x="9144000" y="3291840"/>
            <a:ext cx="2029968" cy="150876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فهم قدرات الذكاء الاصطناعي وحدوده، وصياغة الطلب، والتحقق من النتائج، والتعامل مع البيانات وفق ضوابط الجهة.</a:t>
            </a:r>
            <a:endParaRPr lang="ar-SA" sz="1400" dirty="0"/>
          </a:p>
        </p:txBody>
      </p:sp>
      <p:sp>
        <p:nvSpPr>
          <p:cNvPr id="12" name="سهم"/>
          <p:cNvSpPr/>
          <p:nvPr/>
        </p:nvSpPr>
        <p:spPr>
          <a:xfrm>
            <a:off x="8668512" y="2322576"/>
            <a:ext cx="274320" cy="274320"/>
          </a:xfrm>
          <a:prstGeom prst="ellipse">
            <a:avLst/>
          </a:prstGeom>
          <a:solidFill>
            <a:srgbClr val="E5F6F6"/>
          </a:solidFill>
          <a:ln>
            <a:noFill/>
          </a:ln>
        </p:spPr>
      </p:sp>
      <p:pic>
        <p:nvPicPr>
          <p:cNvPr id="13" name="أيقونة ArrowLeft" descr=""/>
          <p:cNvPicPr>
            <a:picLocks noChangeAspect="1"/>
          </p:cNvPicPr>
          <p:nvPr/>
        </p:nvPicPr>
        <p:blipFill>
          <a:blip r:embed="rId3"/>
          <a:stretch>
            <a:fillRect/>
          </a:stretch>
        </p:blipFill>
        <p:spPr>
          <a:xfrm>
            <a:off x="8714232" y="2368296"/>
            <a:ext cx="182880" cy="182880"/>
          </a:xfrm>
          <a:prstGeom prst="rect">
            <a:avLst/>
          </a:prstGeom>
        </p:spPr>
      </p:pic>
      <p:sp>
        <p:nvSpPr>
          <p:cNvPr id="14" name="عنصر تطبيق بحسب المهمة"/>
          <p:cNvSpPr/>
          <p:nvPr/>
        </p:nvSpPr>
        <p:spPr>
          <a:xfrm>
            <a:off x="6254496" y="2011680"/>
            <a:ext cx="2395728" cy="2834640"/>
          </a:xfrm>
          <a:prstGeom prst="roundRect">
            <a:avLst>
              <a:gd name="adj" fmla="val 5343"/>
            </a:avLst>
          </a:prstGeom>
          <a:solidFill>
            <a:srgbClr val="F5F5F5"/>
          </a:solidFill>
          <a:ln>
            <a:noFill/>
          </a:ln>
        </p:spPr>
        <p:txBody>
          <a:bodyPr wrap="square" lIns="91440" tIns="45720" rIns="91440" bIns="45720" rtlCol="0" anchor="t">
            <a:noAutofit/>
          </a:bodyPr>
          <a:lstStyle/>
          <a:p>
            <a:endParaRPr lang="ar-SA"/>
          </a:p>
        </p:txBody>
      </p:sp>
      <p:sp>
        <p:nvSpPr>
          <p:cNvPr id="15" name="دائرة أيقونة"/>
          <p:cNvSpPr/>
          <p:nvPr/>
        </p:nvSpPr>
        <p:spPr>
          <a:xfrm>
            <a:off x="7900416" y="2194560"/>
            <a:ext cx="566928" cy="566928"/>
          </a:xfrm>
          <a:prstGeom prst="ellipse">
            <a:avLst/>
          </a:prstGeom>
          <a:solidFill>
            <a:srgbClr val="E5F6F6"/>
          </a:solidFill>
          <a:ln>
            <a:noFill/>
          </a:ln>
        </p:spPr>
      </p:sp>
      <p:pic>
        <p:nvPicPr>
          <p:cNvPr id="16" name="أيقونة NotePencil" descr=""/>
          <p:cNvPicPr>
            <a:picLocks noChangeAspect="1"/>
          </p:cNvPicPr>
          <p:nvPr/>
        </p:nvPicPr>
        <p:blipFill>
          <a:blip r:embed="rId4"/>
          <a:stretch>
            <a:fillRect/>
          </a:stretch>
        </p:blipFill>
        <p:spPr>
          <a:xfrm>
            <a:off x="8030809" y="2324953"/>
            <a:ext cx="306141" cy="306141"/>
          </a:xfrm>
          <a:prstGeom prst="rect">
            <a:avLst/>
          </a:prstGeom>
        </p:spPr>
      </p:pic>
      <p:sp>
        <p:nvSpPr>
          <p:cNvPr id="17" name="رقم"/>
          <p:cNvSpPr/>
          <p:nvPr/>
        </p:nvSpPr>
        <p:spPr>
          <a:xfrm>
            <a:off x="6437376" y="226771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FFFFFF"/>
                </a:solidFill>
                <a:latin typeface="☞DIODRUM ARABIC SEMIBOLD" pitchFamily="2" charset="-78"/>
                <a:cs typeface="☞DIODRUM ARABIC SEMIBOLD" pitchFamily="2" charset="-78"/>
              </a:rPr>
              <a:t>2</a:t>
            </a:r>
            <a:endParaRPr lang="ar-SA" sz="1500" dirty="0"/>
          </a:p>
        </p:txBody>
      </p:sp>
      <p:sp>
        <p:nvSpPr>
          <p:cNvPr id="18" name="عنوان تطبيق بحسب المهمة"/>
          <p:cNvSpPr txBox="1"/>
          <p:nvPr/>
        </p:nvSpPr>
        <p:spPr>
          <a:xfrm>
            <a:off x="6437376" y="2880360"/>
            <a:ext cx="202996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تطبيق بحسب المهمة</a:t>
            </a:r>
            <a:endParaRPr lang="ar-SA" sz="1600" dirty="0"/>
          </a:p>
        </p:txBody>
      </p:sp>
      <p:sp>
        <p:nvSpPr>
          <p:cNvPr id="19" name="نص تطبيق بحسب المهمة"/>
          <p:cNvSpPr txBox="1"/>
          <p:nvPr/>
        </p:nvSpPr>
        <p:spPr>
          <a:xfrm>
            <a:off x="6437376" y="3291840"/>
            <a:ext cx="2029968" cy="150876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أمثلة وتمارين مرتبطة بالعمل الفعلي، مثل إعداد مسودة، أو تحليل مادة، أو تلخيص مستند، باستخدام الأدوات المتاحة والمعتمدة.</a:t>
            </a:r>
            <a:endParaRPr lang="ar-SA" sz="1400" dirty="0"/>
          </a:p>
        </p:txBody>
      </p:sp>
      <p:sp>
        <p:nvSpPr>
          <p:cNvPr id="20" name="سهم"/>
          <p:cNvSpPr/>
          <p:nvPr/>
        </p:nvSpPr>
        <p:spPr>
          <a:xfrm>
            <a:off x="5961888" y="2322576"/>
            <a:ext cx="274320" cy="274320"/>
          </a:xfrm>
          <a:prstGeom prst="ellipse">
            <a:avLst/>
          </a:prstGeom>
          <a:solidFill>
            <a:srgbClr val="E5F6F6"/>
          </a:solidFill>
          <a:ln>
            <a:noFill/>
          </a:ln>
        </p:spPr>
      </p:sp>
      <p:pic>
        <p:nvPicPr>
          <p:cNvPr id="21" name="أيقونة ArrowLeft" descr=""/>
          <p:cNvPicPr>
            <a:picLocks noChangeAspect="1"/>
          </p:cNvPicPr>
          <p:nvPr/>
        </p:nvPicPr>
        <p:blipFill>
          <a:blip r:embed="rId3"/>
          <a:stretch>
            <a:fillRect/>
          </a:stretch>
        </p:blipFill>
        <p:spPr>
          <a:xfrm>
            <a:off x="6007608" y="2368296"/>
            <a:ext cx="182880" cy="182880"/>
          </a:xfrm>
          <a:prstGeom prst="rect">
            <a:avLst/>
          </a:prstGeom>
        </p:spPr>
      </p:pic>
      <p:sp>
        <p:nvSpPr>
          <p:cNvPr id="22" name="عنصر تحديثات قصيرة"/>
          <p:cNvSpPr/>
          <p:nvPr/>
        </p:nvSpPr>
        <p:spPr>
          <a:xfrm>
            <a:off x="3547872" y="2011680"/>
            <a:ext cx="2395728" cy="2834640"/>
          </a:xfrm>
          <a:prstGeom prst="roundRect">
            <a:avLst>
              <a:gd name="adj" fmla="val 5343"/>
            </a:avLst>
          </a:prstGeom>
          <a:solidFill>
            <a:srgbClr val="F5F5F5"/>
          </a:solidFill>
          <a:ln>
            <a:noFill/>
          </a:ln>
        </p:spPr>
        <p:txBody>
          <a:bodyPr wrap="square" lIns="91440" tIns="45720" rIns="91440" bIns="45720" rtlCol="0" anchor="t">
            <a:noAutofit/>
          </a:bodyPr>
          <a:lstStyle/>
          <a:p>
            <a:endParaRPr lang="ar-SA"/>
          </a:p>
        </p:txBody>
      </p:sp>
      <p:sp>
        <p:nvSpPr>
          <p:cNvPr id="23" name="دائرة أيقونة"/>
          <p:cNvSpPr/>
          <p:nvPr/>
        </p:nvSpPr>
        <p:spPr>
          <a:xfrm>
            <a:off x="5193792" y="2194560"/>
            <a:ext cx="566928" cy="566928"/>
          </a:xfrm>
          <a:prstGeom prst="ellipse">
            <a:avLst/>
          </a:prstGeom>
          <a:solidFill>
            <a:srgbClr val="E5F6F6"/>
          </a:solidFill>
          <a:ln>
            <a:noFill/>
          </a:ln>
        </p:spPr>
      </p:sp>
      <p:pic>
        <p:nvPicPr>
          <p:cNvPr id="24" name="أيقونة ArrowsClockwise" descr=""/>
          <p:cNvPicPr>
            <a:picLocks noChangeAspect="1"/>
          </p:cNvPicPr>
          <p:nvPr/>
        </p:nvPicPr>
        <p:blipFill>
          <a:blip r:embed="rId5"/>
          <a:stretch>
            <a:fillRect/>
          </a:stretch>
        </p:blipFill>
        <p:spPr>
          <a:xfrm>
            <a:off x="5324185" y="2324953"/>
            <a:ext cx="306141" cy="306141"/>
          </a:xfrm>
          <a:prstGeom prst="rect">
            <a:avLst/>
          </a:prstGeom>
        </p:spPr>
      </p:pic>
      <p:sp>
        <p:nvSpPr>
          <p:cNvPr id="25" name="رقم"/>
          <p:cNvSpPr/>
          <p:nvPr/>
        </p:nvSpPr>
        <p:spPr>
          <a:xfrm>
            <a:off x="3730752" y="226771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FFFFFF"/>
                </a:solidFill>
                <a:latin typeface="☞DIODRUM ARABIC SEMIBOLD" pitchFamily="2" charset="-78"/>
                <a:cs typeface="☞DIODRUM ARABIC SEMIBOLD" pitchFamily="2" charset="-78"/>
              </a:rPr>
              <a:t>3</a:t>
            </a:r>
            <a:endParaRPr lang="ar-SA" sz="1500" dirty="0"/>
          </a:p>
        </p:txBody>
      </p:sp>
      <p:sp>
        <p:nvSpPr>
          <p:cNvPr id="26" name="عنوان تحديثات قصيرة"/>
          <p:cNvSpPr txBox="1"/>
          <p:nvPr/>
        </p:nvSpPr>
        <p:spPr>
          <a:xfrm>
            <a:off x="3730752" y="2880360"/>
            <a:ext cx="202996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تحديثات قصيرة</a:t>
            </a:r>
            <a:endParaRPr lang="ar-SA" sz="1600" dirty="0"/>
          </a:p>
        </p:txBody>
      </p:sp>
      <p:sp>
        <p:nvSpPr>
          <p:cNvPr id="27" name="نص تحديثات قصيرة"/>
          <p:cNvSpPr txBox="1"/>
          <p:nvPr/>
        </p:nvSpPr>
        <p:spPr>
          <a:xfrm>
            <a:off x="3730752" y="3291840"/>
            <a:ext cx="2029968" cy="150876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محتوى يُراجع دوريًا عندما تتغير الأدوات أو الممارسات ذات الصلة بالعمل، دون إعادة البرنامج كاملًا في كل مرة.</a:t>
            </a:r>
            <a:endParaRPr lang="ar-SA" sz="1400" dirty="0"/>
          </a:p>
        </p:txBody>
      </p:sp>
      <p:sp>
        <p:nvSpPr>
          <p:cNvPr id="28" name="سهم"/>
          <p:cNvSpPr/>
          <p:nvPr/>
        </p:nvSpPr>
        <p:spPr>
          <a:xfrm>
            <a:off x="3255264" y="2322576"/>
            <a:ext cx="274320" cy="274320"/>
          </a:xfrm>
          <a:prstGeom prst="ellipse">
            <a:avLst/>
          </a:prstGeom>
          <a:solidFill>
            <a:srgbClr val="E5F6F6"/>
          </a:solidFill>
          <a:ln>
            <a:noFill/>
          </a:ln>
        </p:spPr>
      </p:sp>
      <p:pic>
        <p:nvPicPr>
          <p:cNvPr id="29" name="أيقونة ArrowLeft" descr=""/>
          <p:cNvPicPr>
            <a:picLocks noChangeAspect="1"/>
          </p:cNvPicPr>
          <p:nvPr/>
        </p:nvPicPr>
        <p:blipFill>
          <a:blip r:embed="rId3"/>
          <a:stretch>
            <a:fillRect/>
          </a:stretch>
        </p:blipFill>
        <p:spPr>
          <a:xfrm>
            <a:off x="3300984" y="2368296"/>
            <a:ext cx="182880" cy="182880"/>
          </a:xfrm>
          <a:prstGeom prst="rect">
            <a:avLst/>
          </a:prstGeom>
        </p:spPr>
      </p:pic>
      <p:sp>
        <p:nvSpPr>
          <p:cNvPr id="30" name="عنصر إدارة تغيير"/>
          <p:cNvSpPr/>
          <p:nvPr/>
        </p:nvSpPr>
        <p:spPr>
          <a:xfrm>
            <a:off x="841248" y="2011680"/>
            <a:ext cx="2395728" cy="2834640"/>
          </a:xfrm>
          <a:prstGeom prst="roundRect">
            <a:avLst>
              <a:gd name="adj" fmla="val 5343"/>
            </a:avLst>
          </a:prstGeom>
          <a:solidFill>
            <a:srgbClr val="F5F5F5"/>
          </a:solidFill>
          <a:ln>
            <a:noFill/>
          </a:ln>
        </p:spPr>
        <p:txBody>
          <a:bodyPr wrap="square" lIns="91440" tIns="45720" rIns="91440" bIns="45720" rtlCol="0" anchor="t">
            <a:noAutofit/>
          </a:bodyPr>
          <a:lstStyle/>
          <a:p>
            <a:endParaRPr lang="ar-SA"/>
          </a:p>
        </p:txBody>
      </p:sp>
      <p:sp>
        <p:nvSpPr>
          <p:cNvPr id="31" name="دائرة أيقونة"/>
          <p:cNvSpPr/>
          <p:nvPr/>
        </p:nvSpPr>
        <p:spPr>
          <a:xfrm>
            <a:off x="2487168" y="2194560"/>
            <a:ext cx="566928" cy="566928"/>
          </a:xfrm>
          <a:prstGeom prst="ellipse">
            <a:avLst/>
          </a:prstGeom>
          <a:solidFill>
            <a:srgbClr val="E5F6F6"/>
          </a:solidFill>
          <a:ln>
            <a:noFill/>
          </a:ln>
        </p:spPr>
      </p:sp>
      <p:pic>
        <p:nvPicPr>
          <p:cNvPr id="32" name="أيقونة ChatsCircle" descr=""/>
          <p:cNvPicPr>
            <a:picLocks noChangeAspect="1"/>
          </p:cNvPicPr>
          <p:nvPr/>
        </p:nvPicPr>
        <p:blipFill>
          <a:blip r:embed="rId6"/>
          <a:stretch>
            <a:fillRect/>
          </a:stretch>
        </p:blipFill>
        <p:spPr>
          <a:xfrm>
            <a:off x="2617561" y="2324953"/>
            <a:ext cx="306141" cy="306141"/>
          </a:xfrm>
          <a:prstGeom prst="rect">
            <a:avLst/>
          </a:prstGeom>
        </p:spPr>
      </p:pic>
      <p:sp>
        <p:nvSpPr>
          <p:cNvPr id="33" name="رقم"/>
          <p:cNvSpPr/>
          <p:nvPr/>
        </p:nvSpPr>
        <p:spPr>
          <a:xfrm>
            <a:off x="1024128" y="226771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FFFFFF"/>
                </a:solidFill>
                <a:latin typeface="☞DIODRUM ARABIC SEMIBOLD" pitchFamily="2" charset="-78"/>
                <a:cs typeface="☞DIODRUM ARABIC SEMIBOLD" pitchFamily="2" charset="-78"/>
              </a:rPr>
              <a:t>4</a:t>
            </a:r>
            <a:endParaRPr lang="ar-SA" sz="1500" dirty="0"/>
          </a:p>
        </p:txBody>
      </p:sp>
      <p:sp>
        <p:nvSpPr>
          <p:cNvPr id="34" name="عنوان إدارة تغيير"/>
          <p:cNvSpPr txBox="1"/>
          <p:nvPr/>
        </p:nvSpPr>
        <p:spPr>
          <a:xfrm>
            <a:off x="1024128" y="2880360"/>
            <a:ext cx="2029968" cy="36576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إدارة تغيير</a:t>
            </a:r>
            <a:endParaRPr lang="ar-SA" sz="1600" dirty="0"/>
          </a:p>
        </p:txBody>
      </p:sp>
      <p:sp>
        <p:nvSpPr>
          <p:cNvPr id="35" name="نص إدارة تغيير"/>
          <p:cNvSpPr txBox="1"/>
          <p:nvPr/>
        </p:nvSpPr>
        <p:spPr>
          <a:xfrm>
            <a:off x="1024128" y="3291840"/>
            <a:ext cx="2029968" cy="150876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توضيح فائدة الاستخدام للموظف، وإتاحة دعم تطبيقي، وتسمية أشخاص في الجهة يساعدون زملاءهم، ومتابعة ما يعيق الاستفادة.</a:t>
            </a:r>
            <a:endParaRPr lang="ar-SA" sz="1400" dirty="0"/>
          </a:p>
        </p:txBody>
      </p:sp>
      <p:cxnSp>
        <p:nvCxnSpPr>
          <p:cNvPr id="36" name="عودة"/>
          <p:cNvCxnSpPr/>
          <p:nvPr/>
        </p:nvCxnSpPr>
        <p:spPr>
          <a:xfrm>
            <a:off x="2039112" y="4846320"/>
            <a:ext cx="0" cy="155448"/>
          </a:xfrm>
          <a:prstGeom prst="line">
            <a:avLst/>
          </a:prstGeom>
          <a:ln w="19050" cap="rnd">
            <a:solidFill>
              <a:srgbClr val="00ABAF"/>
            </a:solidFill>
          </a:ln>
        </p:spPr>
      </p:cxnSp>
      <p:cxnSp>
        <p:nvCxnSpPr>
          <p:cNvPr id="37" name="عودة"/>
          <p:cNvCxnSpPr/>
          <p:nvPr/>
        </p:nvCxnSpPr>
        <p:spPr>
          <a:xfrm>
            <a:off x="2039112" y="5001768"/>
            <a:ext cx="8119872" cy="0"/>
          </a:xfrm>
          <a:prstGeom prst="line">
            <a:avLst/>
          </a:prstGeom>
          <a:ln w="19050" cap="rnd">
            <a:solidFill>
              <a:srgbClr val="00ABAF"/>
            </a:solidFill>
          </a:ln>
        </p:spPr>
      </p:cxnSp>
      <p:cxnSp>
        <p:nvCxnSpPr>
          <p:cNvPr id="38" name="عودة"/>
          <p:cNvCxnSpPr/>
          <p:nvPr/>
        </p:nvCxnSpPr>
        <p:spPr>
          <a:xfrm flipV="1">
            <a:off x="10158984" y="4855464"/>
            <a:ext cx="0" cy="146304"/>
          </a:xfrm>
          <a:prstGeom prst="line">
            <a:avLst/>
          </a:prstGeom>
          <a:ln w="19050" cap="rnd">
            <a:solidFill>
              <a:srgbClr val="00ABAF"/>
            </a:solidFill>
            <a:tailEnd type="triangle" w="med" len="med"/>
          </a:ln>
        </p:spPr>
      </p:cxnSp>
      <p:sp>
        <p:nvSpPr>
          <p:cNvPr id="39" name="وسم"/>
          <p:cNvSpPr/>
          <p:nvPr/>
        </p:nvSpPr>
        <p:spPr>
          <a:xfrm>
            <a:off x="5367528" y="4855464"/>
            <a:ext cx="1463040" cy="292608"/>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تعلم مستمر</a:t>
            </a:r>
            <a:endParaRPr lang="ar-SA" sz="1200" dirty="0"/>
          </a:p>
        </p:txBody>
      </p:sp>
      <p:sp>
        <p:nvSpPr>
          <p:cNvPr id="40" name="مقياس النجاح"/>
          <p:cNvSpPr/>
          <p:nvPr/>
        </p:nvSpPr>
        <p:spPr>
          <a:xfrm>
            <a:off x="841248" y="5257800"/>
            <a:ext cx="10515600" cy="731520"/>
          </a:xfrm>
          <a:prstGeom prst="roundRect">
            <a:avLst>
              <a:gd name="adj" fmla="val 15000"/>
            </a:avLst>
          </a:prstGeom>
          <a:solidFill>
            <a:srgbClr val="E4F7EF"/>
          </a:solidFill>
          <a:ln>
            <a:noFill/>
          </a:ln>
        </p:spPr>
        <p:txBody>
          <a:bodyPr wrap="square" lIns="91440" tIns="45720" rIns="91440" bIns="45720" rtlCol="0" anchor="t">
            <a:noAutofit/>
          </a:bodyPr>
          <a:lstStyle/>
          <a:p>
            <a:endParaRPr lang="ar-SA"/>
          </a:p>
        </p:txBody>
      </p:sp>
      <p:sp>
        <p:nvSpPr>
          <p:cNvPr id="41" name="دائرة أيقونة"/>
          <p:cNvSpPr/>
          <p:nvPr/>
        </p:nvSpPr>
        <p:spPr>
          <a:xfrm>
            <a:off x="10661904" y="5367528"/>
            <a:ext cx="512064" cy="512064"/>
          </a:xfrm>
          <a:prstGeom prst="ellipse">
            <a:avLst/>
          </a:prstGeom>
          <a:solidFill>
            <a:srgbClr val="FFFFFF"/>
          </a:solidFill>
          <a:ln>
            <a:noFill/>
          </a:ln>
        </p:spPr>
      </p:sp>
      <p:pic>
        <p:nvPicPr>
          <p:cNvPr id="42" name="أيقونة SealCheck" descr=""/>
          <p:cNvPicPr>
            <a:picLocks noChangeAspect="1"/>
          </p:cNvPicPr>
          <p:nvPr/>
        </p:nvPicPr>
        <p:blipFill>
          <a:blip r:embed="rId7"/>
          <a:stretch>
            <a:fillRect/>
          </a:stretch>
        </p:blipFill>
        <p:spPr>
          <a:xfrm>
            <a:off x="10779679" y="5485303"/>
            <a:ext cx="276515" cy="276515"/>
          </a:xfrm>
          <a:prstGeom prst="rect">
            <a:avLst/>
          </a:prstGeom>
        </p:spPr>
      </p:pic>
      <p:sp>
        <p:nvSpPr>
          <p:cNvPr id="43" name="مقياس النجاح نص"/>
          <p:cNvSpPr txBox="1"/>
          <p:nvPr/>
        </p:nvSpPr>
        <p:spPr>
          <a:xfrm>
            <a:off x="1069848" y="5257800"/>
            <a:ext cx="9409176" cy="731520"/>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مقياس النجاح:  </a:t>
            </a:r>
            <a:r>
              <a:rPr lang="ar-SA" sz="1500" b="0" i="0" dirty="0" noProof="1">
                <a:solidFill>
                  <a:srgbClr val="2A206A"/>
                </a:solidFill>
                <a:latin typeface="☞DIODRUM ARABIC MEDIUM" pitchFamily="2" charset="-78"/>
                <a:cs typeface="☞DIODRUM ARABIC MEDIUM" pitchFamily="2" charset="-78"/>
              </a:rPr>
              <a:t>أن يتمكن الموظف من استخدام الأداة في مهمة مناسبة وتحسين نتيجتها، مع الحفاظ على المراجعة والمسؤولية المهنية.</a:t>
            </a:r>
            <a:endParaRPr lang="ar-SA" sz="1500" dirty="0"/>
          </a:p>
        </p:txBody>
      </p:sp>
      <p:sp>
        <p:nvSpPr>
          <p:cNvPr id="44"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وثيقة المهمة الوطنية (ص 3 و4)؛ OECD (2026).  الحالة: تصور مقترح من قدراتك؛ أمثلة المهام تُختار بحسب سياسات وأدوات كل جهة.</a:t>
            </a:r>
            <a:endParaRPr lang="ar-SA" sz="105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نربط عروض الشركاء باحتياج المسارات ونوحّد متابعة المقاعد</a:t>
            </a:r>
          </a:p>
        </p:txBody>
      </p:sp>
      <p:sp>
        <p:nvSpPr>
          <p:cNvPr id="3" name="Text Placeholder 2"/>
          <p:cNvSpPr>
            <a:spLocks noGrp="1"/>
          </p:cNvSpPr>
          <p:nvPr>
            <p:ph type="body" idx="13" sz="quarter"/>
          </p:nvPr>
        </p:nvSpPr>
        <p:spPr/>
        <p:txBody>
          <a:bodyPr/>
          <a:lstStyle/>
          <a:p>
            <a:r>
              <a:rPr lang="ar-SA" dirty="0" noProof="1"/>
              <a:t>نقارن العروض بحسب القدرة والمخرج، ونعرض المستهدف والمقدم والمنفذ في خانات مستقلة.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3  ·  تصميم المسارات والشراكات والتمويل</a:t>
            </a:r>
            <a:endParaRPr lang="ar-SA" sz="1100" dirty="0"/>
          </a:p>
        </p:txBody>
      </p:sp>
      <p:sp>
        <p:nvSpPr>
          <p:cNvPr id="6" name="حالة مستهدف تخطيطي"/>
          <p:cNvSpPr/>
          <p:nvPr/>
        </p:nvSpPr>
        <p:spPr>
          <a:xfrm flipH="1">
            <a:off x="9326880" y="2011680"/>
            <a:ext cx="2029968" cy="530352"/>
          </a:xfrm>
          <a:prstGeom prst="homePlate">
            <a:avLst>
              <a:gd name="adj" fmla="val 32000"/>
            </a:avLst>
          </a:prstGeom>
          <a:solidFill>
            <a:srgbClr val="7C32C9"/>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مستهدف تخطيطي</a:t>
            </a:r>
            <a:endParaRPr lang="ar-SA" sz="1400" dirty="0"/>
          </a:p>
        </p:txBody>
      </p:sp>
      <p:sp>
        <p:nvSpPr>
          <p:cNvPr id="7" name="رقم مستهدف تخطيطي"/>
          <p:cNvSpPr/>
          <p:nvPr/>
        </p:nvSpPr>
        <p:spPr>
          <a:xfrm>
            <a:off x="9326880" y="2615184"/>
            <a:ext cx="2029968" cy="1371600"/>
          </a:xfrm>
          <a:prstGeom prst="roundRect">
            <a:avLst>
              <a:gd name="adj" fmla="val 9333"/>
            </a:avLst>
          </a:prstGeom>
          <a:solidFill>
            <a:srgbClr val="F5F5F5"/>
          </a:solidFill>
          <a:ln>
            <a:noFill/>
          </a:ln>
        </p:spPr>
        <p:txBody>
          <a:bodyPr wrap="square" lIns="91440" tIns="45720" rIns="91440" bIns="45720" rtlCol="0" anchor="t">
            <a:noAutofit/>
          </a:bodyPr>
          <a:lstStyle/>
          <a:p>
            <a:endParaRPr lang="ar-SA"/>
          </a:p>
        </p:txBody>
      </p:sp>
      <p:sp>
        <p:nvSpPr>
          <p:cNvPr id="8" name="الرقم"/>
          <p:cNvSpPr txBox="1"/>
          <p:nvPr/>
        </p:nvSpPr>
        <p:spPr>
          <a:xfrm>
            <a:off x="9436608" y="2651760"/>
            <a:ext cx="1810512" cy="566928"/>
          </a:xfrm>
          <a:prstGeom prst="rect">
            <a:avLst/>
          </a:prstGeom>
          <a:noFill/>
          <a:ln>
            <a:noFill/>
          </a:ln>
        </p:spPr>
        <p:txBody>
          <a:bodyPr wrap="square" lIns="0" tIns="0" rIns="0" bIns="0" rtlCol="0" anchor="ctr">
            <a:noAutofit/>
          </a:bodyPr>
          <a:lstStyle/>
          <a:p>
            <a:pPr marL="0" indent="0" algn="ctr" rtl="1">
              <a:lnSpc>
                <a:spcPts val="4400"/>
              </a:lnSpc>
              <a:spcBef>
                <a:spcPts val="0"/>
              </a:spcBef>
              <a:spcAft>
                <a:spcPts val="0"/>
              </a:spcAft>
              <a:buNone/>
            </a:pPr>
            <a:r>
              <a:rPr lang="ar-SA" sz="3200" b="1" i="0" dirty="0" noProof="1">
                <a:solidFill>
                  <a:srgbClr val="7C32C9"/>
                </a:solidFill>
                <a:latin typeface="☞DIODRUM ARABIC SEMIBOLD" pitchFamily="2" charset="-78"/>
                <a:cs typeface="☞DIODRUM ARABIC SEMIBOLD" pitchFamily="2" charset="-78"/>
              </a:rPr>
              <a:t>1,600</a:t>
            </a:r>
            <a:endParaRPr lang="ar-SA" sz="3200" dirty="0"/>
          </a:p>
        </p:txBody>
      </p:sp>
      <p:sp>
        <p:nvSpPr>
          <p:cNvPr id="9" name="وصف"/>
          <p:cNvSpPr txBox="1"/>
          <p:nvPr/>
        </p:nvSpPr>
        <p:spPr>
          <a:xfrm>
            <a:off x="9454896" y="3255264"/>
            <a:ext cx="1773936" cy="694944"/>
          </a:xfrm>
          <a:prstGeom prst="rect">
            <a:avLst/>
          </a:prstGeom>
          <a:noFill/>
          <a:ln>
            <a:noFill/>
          </a:ln>
        </p:spPr>
        <p:txBody>
          <a:bodyPr wrap="square" lIns="0" tIns="0" rIns="0" bIns="0" rtlCol="0" anchor="t">
            <a:noAutofit/>
          </a:bodyPr>
          <a:lstStyle/>
          <a:p>
            <a:pPr marL="0" indent="0" algn="ct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مستفيد على سنتين، منها 800 مستهدف سنوي في 2026</a:t>
            </a:r>
            <a:endParaRPr lang="ar-SA" sz="1300" dirty="0"/>
          </a:p>
        </p:txBody>
      </p:sp>
      <p:sp>
        <p:nvSpPr>
          <p:cNvPr id="10" name="حالة عرض مقدَّم"/>
          <p:cNvSpPr/>
          <p:nvPr/>
        </p:nvSpPr>
        <p:spPr>
          <a:xfrm flipH="1">
            <a:off x="7205472" y="2011680"/>
            <a:ext cx="2029968" cy="530352"/>
          </a:xfrm>
          <a:prstGeom prst="homePlate">
            <a:avLst>
              <a:gd name="adj" fmla="val 32000"/>
            </a:avLst>
          </a:prstGeom>
          <a:solidFill>
            <a:srgbClr val="00ABAF"/>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عرض مقدَّم</a:t>
            </a:r>
            <a:endParaRPr lang="ar-SA" sz="1400" dirty="0"/>
          </a:p>
        </p:txBody>
      </p:sp>
      <p:sp>
        <p:nvSpPr>
          <p:cNvPr id="11" name="رقم عرض مقدَّم"/>
          <p:cNvSpPr/>
          <p:nvPr/>
        </p:nvSpPr>
        <p:spPr>
          <a:xfrm>
            <a:off x="7205472" y="2615184"/>
            <a:ext cx="2029968" cy="1371600"/>
          </a:xfrm>
          <a:prstGeom prst="roundRect">
            <a:avLst>
              <a:gd name="adj" fmla="val 9333"/>
            </a:avLst>
          </a:prstGeom>
          <a:solidFill>
            <a:srgbClr val="F5F5F5"/>
          </a:solidFill>
          <a:ln>
            <a:noFill/>
          </a:ln>
        </p:spPr>
        <p:txBody>
          <a:bodyPr wrap="square" lIns="91440" tIns="45720" rIns="91440" bIns="45720" rtlCol="0" anchor="t">
            <a:noAutofit/>
          </a:bodyPr>
          <a:lstStyle/>
          <a:p>
            <a:endParaRPr lang="ar-SA"/>
          </a:p>
        </p:txBody>
      </p:sp>
      <p:sp>
        <p:nvSpPr>
          <p:cNvPr id="12" name="الرقم"/>
          <p:cNvSpPr txBox="1"/>
          <p:nvPr/>
        </p:nvSpPr>
        <p:spPr>
          <a:xfrm>
            <a:off x="7315200" y="2651760"/>
            <a:ext cx="1810512" cy="566928"/>
          </a:xfrm>
          <a:prstGeom prst="rect">
            <a:avLst/>
          </a:prstGeom>
          <a:noFill/>
          <a:ln>
            <a:noFill/>
          </a:ln>
        </p:spPr>
        <p:txBody>
          <a:bodyPr wrap="square" lIns="0" tIns="0" rIns="0" bIns="0" rtlCol="0" anchor="ctr">
            <a:noAutofit/>
          </a:bodyPr>
          <a:lstStyle/>
          <a:p>
            <a:pPr marL="0" indent="0" algn="ctr" rtl="1">
              <a:lnSpc>
                <a:spcPts val="4400"/>
              </a:lnSpc>
              <a:spcBef>
                <a:spcPts val="0"/>
              </a:spcBef>
              <a:spcAft>
                <a:spcPts val="0"/>
              </a:spcAft>
              <a:buNone/>
            </a:pPr>
            <a:r>
              <a:rPr lang="ar-SA" sz="3200" b="1" i="0" dirty="0" noProof="1">
                <a:solidFill>
                  <a:srgbClr val="00ABAF"/>
                </a:solidFill>
                <a:latin typeface="☞DIODRUM ARABIC SEMIBOLD" pitchFamily="2" charset="-78"/>
                <a:cs typeface="☞DIODRUM ARABIC SEMIBOLD" pitchFamily="2" charset="-78"/>
              </a:rPr>
              <a:t>165</a:t>
            </a:r>
            <a:endParaRPr lang="ar-SA" sz="3200" dirty="0"/>
          </a:p>
        </p:txBody>
      </p:sp>
      <p:sp>
        <p:nvSpPr>
          <p:cNvPr id="13" name="وصف"/>
          <p:cNvSpPr txBox="1"/>
          <p:nvPr/>
        </p:nvSpPr>
        <p:spPr>
          <a:xfrm>
            <a:off x="7333488" y="3255264"/>
            <a:ext cx="1773936" cy="694944"/>
          </a:xfrm>
          <a:prstGeom prst="rect">
            <a:avLst/>
          </a:prstGeom>
          <a:noFill/>
          <a:ln>
            <a:noFill/>
          </a:ln>
        </p:spPr>
        <p:txBody>
          <a:bodyPr wrap="square" lIns="0" tIns="0" rIns="0" bIns="0" rtlCol="0" anchor="t">
            <a:noAutofit/>
          </a:bodyPr>
          <a:lstStyle/>
          <a:p>
            <a:pPr marL="0" indent="0" algn="ct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مقعدًا في البرامج المقدمة</a:t>
            </a:r>
            <a:endParaRPr lang="ar-SA" sz="1300" dirty="0"/>
          </a:p>
        </p:txBody>
      </p:sp>
      <p:sp>
        <p:nvSpPr>
          <p:cNvPr id="14" name="حالة التزام مثبت"/>
          <p:cNvSpPr/>
          <p:nvPr/>
        </p:nvSpPr>
        <p:spPr>
          <a:xfrm flipH="1">
            <a:off x="5084064" y="2011680"/>
            <a:ext cx="2029968" cy="530352"/>
          </a:xfrm>
          <a:prstGeom prst="homePlate">
            <a:avLst>
              <a:gd name="adj" fmla="val 32000"/>
            </a:avLst>
          </a:prstGeom>
          <a:solidFill>
            <a:srgbClr val="FFFFFF"/>
          </a:solidFill>
          <a:ln w="15875">
            <a:solidFill>
              <a:srgbClr val="9A9AA8"/>
            </a:solidFill>
            <a:prstDash val="dash"/>
          </a:ln>
        </p:spPr>
        <p:txBody>
          <a:bodyPr wrap="square" lIns="347472" tIns="0" rIns="137160" bIns="0" rtlCol="0" anchor="ctr">
            <a:noAutofit/>
          </a:bodyPr>
          <a:lstStyle/>
          <a:p>
            <a:pPr marL="0" indent="0" algn="ctr" rtl="1">
              <a:lnSpc>
                <a:spcPts val="2000"/>
              </a:lnSpc>
              <a:spcBef>
                <a:spcPts val="0"/>
              </a:spcBef>
              <a:spcAft>
                <a:spcPts val="0"/>
              </a:spcAft>
              <a:buNone/>
            </a:pPr>
            <a:r>
              <a:rPr lang="ar-SA" sz="1400" b="0" i="0" dirty="0" noProof="1">
                <a:solidFill>
                  <a:srgbClr val="5F5F6B"/>
                </a:solidFill>
                <a:latin typeface="☞DIODRUM ARABIC SEMIBOLD" pitchFamily="2" charset="-78"/>
                <a:cs typeface="☞DIODRUM ARABIC SEMIBOLD" pitchFamily="2" charset="-78"/>
              </a:rPr>
              <a:t>التزام مثبت</a:t>
            </a:r>
            <a:endParaRPr lang="ar-SA" sz="1400" dirty="0"/>
          </a:p>
        </p:txBody>
      </p:sp>
      <p:sp>
        <p:nvSpPr>
          <p:cNvPr id="15" name="رقم التزام مثبت"/>
          <p:cNvSpPr/>
          <p:nvPr/>
        </p:nvSpPr>
        <p:spPr>
          <a:xfrm>
            <a:off x="5084064" y="2615184"/>
            <a:ext cx="2029968" cy="1371600"/>
          </a:xfrm>
          <a:prstGeom prst="roundRect">
            <a:avLst>
              <a:gd name="adj" fmla="val 9333"/>
            </a:avLst>
          </a:prstGeom>
          <a:solidFill>
            <a:srgbClr val="FFFFFF"/>
          </a:solidFill>
          <a:ln w="15875">
            <a:solidFill>
              <a:srgbClr val="9A9AA8"/>
            </a:solidFill>
            <a:prstDash val="dash"/>
          </a:ln>
        </p:spPr>
        <p:txBody>
          <a:bodyPr wrap="square" lIns="91440" tIns="45720" rIns="91440" bIns="45720" rtlCol="0" anchor="t">
            <a:noAutofit/>
          </a:bodyPr>
          <a:lstStyle/>
          <a:p>
            <a:endParaRPr lang="ar-SA"/>
          </a:p>
        </p:txBody>
      </p:sp>
      <p:sp>
        <p:nvSpPr>
          <p:cNvPr id="16" name="الرقم"/>
          <p:cNvSpPr txBox="1"/>
          <p:nvPr/>
        </p:nvSpPr>
        <p:spPr>
          <a:xfrm>
            <a:off x="5193792" y="2651760"/>
            <a:ext cx="1810512" cy="566928"/>
          </a:xfrm>
          <a:prstGeom prst="rect">
            <a:avLst/>
          </a:prstGeom>
          <a:noFill/>
          <a:ln>
            <a:noFill/>
          </a:ln>
        </p:spPr>
        <p:txBody>
          <a:bodyPr wrap="square" lIns="0" tIns="0" rIns="0" bIns="0" rtlCol="0" anchor="ctr">
            <a:noAutofit/>
          </a:bodyPr>
          <a:lstStyle/>
          <a:p>
            <a:pPr marL="0" indent="0" algn="ctr" rtl="1">
              <a:lnSpc>
                <a:spcPts val="4400"/>
              </a:lnSpc>
              <a:spcBef>
                <a:spcPts val="0"/>
              </a:spcBef>
              <a:spcAft>
                <a:spcPts val="0"/>
              </a:spcAft>
              <a:buNone/>
            </a:pPr>
            <a:r>
              <a:rPr lang="ar-SA" sz="3200" b="1" i="0" dirty="0" noProof="1">
                <a:solidFill>
                  <a:srgbClr val="9A9AA8"/>
                </a:solidFill>
                <a:latin typeface="☞DIODRUM ARABIC SEMIBOLD" pitchFamily="2" charset="-78"/>
                <a:cs typeface="☞DIODRUM ARABIC SEMIBOLD" pitchFamily="2" charset="-78"/>
              </a:rPr>
              <a:t>—</a:t>
            </a:r>
            <a:endParaRPr lang="ar-SA" sz="3200" dirty="0"/>
          </a:p>
        </p:txBody>
      </p:sp>
      <p:sp>
        <p:nvSpPr>
          <p:cNvPr id="17" name="وصف"/>
          <p:cNvSpPr txBox="1"/>
          <p:nvPr/>
        </p:nvSpPr>
        <p:spPr>
          <a:xfrm>
            <a:off x="5212080" y="3255264"/>
            <a:ext cx="1773936" cy="694944"/>
          </a:xfrm>
          <a:prstGeom prst="rect">
            <a:avLst/>
          </a:prstGeom>
          <a:noFill/>
          <a:ln>
            <a:noFill/>
          </a:ln>
        </p:spPr>
        <p:txBody>
          <a:bodyPr wrap="square" lIns="0" tIns="0" rIns="0" bIns="0" rtlCol="0" anchor="t">
            <a:noAutofit/>
          </a:bodyPr>
          <a:lstStyle/>
          <a:p>
            <a:pPr marL="0" indent="0" algn="ctr" rtl="1">
              <a:lnSpc>
                <a:spcPts val="1800"/>
              </a:lnSpc>
              <a:spcBef>
                <a:spcPts val="0"/>
              </a:spcBef>
              <a:spcAft>
                <a:spcPts val="0"/>
              </a:spcAft>
              <a:buNone/>
            </a:pPr>
            <a:r>
              <a:rPr lang="ar-SA" sz="1300" b="0" i="0" dirty="0" noProof="1">
                <a:solidFill>
                  <a:srgbClr val="5F5F6B"/>
                </a:solidFill>
                <a:latin typeface="☞DIODRUM ARABIC MEDIUM" pitchFamily="2" charset="-78"/>
                <a:cs typeface="☞DIODRUM ARABIC MEDIUM" pitchFamily="2" charset="-78"/>
              </a:rPr>
              <a:t>لا مستندات التزام في المرفقات</a:t>
            </a:r>
            <a:endParaRPr lang="ar-SA" sz="1300" dirty="0"/>
          </a:p>
        </p:txBody>
      </p:sp>
      <p:sp>
        <p:nvSpPr>
          <p:cNvPr id="18" name="حالة مقاعد مجدولة"/>
          <p:cNvSpPr/>
          <p:nvPr/>
        </p:nvSpPr>
        <p:spPr>
          <a:xfrm flipH="1">
            <a:off x="2962656" y="2011680"/>
            <a:ext cx="2029968" cy="530352"/>
          </a:xfrm>
          <a:prstGeom prst="homePlate">
            <a:avLst>
              <a:gd name="adj" fmla="val 32000"/>
            </a:avLst>
          </a:prstGeom>
          <a:solidFill>
            <a:srgbClr val="FFFFFF"/>
          </a:solidFill>
          <a:ln w="15875">
            <a:solidFill>
              <a:srgbClr val="9A9AA8"/>
            </a:solidFill>
            <a:prstDash val="dash"/>
          </a:ln>
        </p:spPr>
        <p:txBody>
          <a:bodyPr wrap="square" lIns="347472" tIns="0" rIns="137160" bIns="0" rtlCol="0" anchor="ctr">
            <a:noAutofit/>
          </a:bodyPr>
          <a:lstStyle/>
          <a:p>
            <a:pPr marL="0" indent="0" algn="ctr" rtl="1">
              <a:lnSpc>
                <a:spcPts val="2000"/>
              </a:lnSpc>
              <a:spcBef>
                <a:spcPts val="0"/>
              </a:spcBef>
              <a:spcAft>
                <a:spcPts val="0"/>
              </a:spcAft>
              <a:buNone/>
            </a:pPr>
            <a:r>
              <a:rPr lang="ar-SA" sz="1400" b="0" i="0" dirty="0" noProof="1">
                <a:solidFill>
                  <a:srgbClr val="5F5F6B"/>
                </a:solidFill>
                <a:latin typeface="☞DIODRUM ARABIC SEMIBOLD" pitchFamily="2" charset="-78"/>
                <a:cs typeface="☞DIODRUM ARABIC SEMIBOLD" pitchFamily="2" charset="-78"/>
              </a:rPr>
              <a:t>مقاعد مجدولة</a:t>
            </a:r>
            <a:endParaRPr lang="ar-SA" sz="1400" dirty="0"/>
          </a:p>
        </p:txBody>
      </p:sp>
      <p:sp>
        <p:nvSpPr>
          <p:cNvPr id="19" name="رقم مقاعد مجدولة"/>
          <p:cNvSpPr/>
          <p:nvPr/>
        </p:nvSpPr>
        <p:spPr>
          <a:xfrm>
            <a:off x="2962656" y="2615184"/>
            <a:ext cx="2029968" cy="1371600"/>
          </a:xfrm>
          <a:prstGeom prst="roundRect">
            <a:avLst>
              <a:gd name="adj" fmla="val 9333"/>
            </a:avLst>
          </a:prstGeom>
          <a:solidFill>
            <a:srgbClr val="FFFFFF"/>
          </a:solidFill>
          <a:ln w="15875">
            <a:solidFill>
              <a:srgbClr val="9A9AA8"/>
            </a:solidFill>
            <a:prstDash val="dash"/>
          </a:ln>
        </p:spPr>
        <p:txBody>
          <a:bodyPr wrap="square" lIns="91440" tIns="45720" rIns="91440" bIns="45720" rtlCol="0" anchor="t">
            <a:noAutofit/>
          </a:bodyPr>
          <a:lstStyle/>
          <a:p>
            <a:endParaRPr lang="ar-SA"/>
          </a:p>
        </p:txBody>
      </p:sp>
      <p:sp>
        <p:nvSpPr>
          <p:cNvPr id="20" name="الرقم"/>
          <p:cNvSpPr txBox="1"/>
          <p:nvPr/>
        </p:nvSpPr>
        <p:spPr>
          <a:xfrm>
            <a:off x="3072384" y="2651760"/>
            <a:ext cx="1810512" cy="566928"/>
          </a:xfrm>
          <a:prstGeom prst="rect">
            <a:avLst/>
          </a:prstGeom>
          <a:noFill/>
          <a:ln>
            <a:noFill/>
          </a:ln>
        </p:spPr>
        <p:txBody>
          <a:bodyPr wrap="square" lIns="0" tIns="0" rIns="0" bIns="0" rtlCol="0" anchor="ctr">
            <a:noAutofit/>
          </a:bodyPr>
          <a:lstStyle/>
          <a:p>
            <a:pPr marL="0" indent="0" algn="ctr" rtl="1">
              <a:lnSpc>
                <a:spcPts val="4400"/>
              </a:lnSpc>
              <a:spcBef>
                <a:spcPts val="0"/>
              </a:spcBef>
              <a:spcAft>
                <a:spcPts val="0"/>
              </a:spcAft>
              <a:buNone/>
            </a:pPr>
            <a:r>
              <a:rPr lang="ar-SA" sz="3200" b="1" i="0" dirty="0" noProof="1">
                <a:solidFill>
                  <a:srgbClr val="9A9AA8"/>
                </a:solidFill>
                <a:latin typeface="☞DIODRUM ARABIC SEMIBOLD" pitchFamily="2" charset="-78"/>
                <a:cs typeface="☞DIODRUM ARABIC SEMIBOLD" pitchFamily="2" charset="-78"/>
              </a:rPr>
              <a:t>—</a:t>
            </a:r>
            <a:endParaRPr lang="ar-SA" sz="3200" dirty="0"/>
          </a:p>
        </p:txBody>
      </p:sp>
      <p:sp>
        <p:nvSpPr>
          <p:cNvPr id="21" name="وصف"/>
          <p:cNvSpPr txBox="1"/>
          <p:nvPr/>
        </p:nvSpPr>
        <p:spPr>
          <a:xfrm>
            <a:off x="3090672" y="3255264"/>
            <a:ext cx="1773936" cy="694944"/>
          </a:xfrm>
          <a:prstGeom prst="rect">
            <a:avLst/>
          </a:prstGeom>
          <a:noFill/>
          <a:ln>
            <a:noFill/>
          </a:ln>
        </p:spPr>
        <p:txBody>
          <a:bodyPr wrap="square" lIns="0" tIns="0" rIns="0" bIns="0" rtlCol="0" anchor="t">
            <a:noAutofit/>
          </a:bodyPr>
          <a:lstStyle/>
          <a:p>
            <a:pPr marL="0" indent="0" algn="ctr" rtl="1">
              <a:lnSpc>
                <a:spcPts val="1800"/>
              </a:lnSpc>
              <a:spcBef>
                <a:spcPts val="0"/>
              </a:spcBef>
              <a:spcAft>
                <a:spcPts val="0"/>
              </a:spcAft>
              <a:buNone/>
            </a:pPr>
            <a:r>
              <a:rPr lang="ar-SA" sz="1300" b="0" i="0" dirty="0" noProof="1">
                <a:solidFill>
                  <a:srgbClr val="5F5F6B"/>
                </a:solidFill>
                <a:latin typeface="☞DIODRUM ARABIC MEDIUM" pitchFamily="2" charset="-78"/>
                <a:cs typeface="☞DIODRUM ARABIC MEDIUM" pitchFamily="2" charset="-78"/>
              </a:rPr>
              <a:t>يُستكمل من ملف المتابعة</a:t>
            </a:r>
            <a:endParaRPr lang="ar-SA" sz="1300" dirty="0"/>
          </a:p>
        </p:txBody>
      </p:sp>
      <p:sp>
        <p:nvSpPr>
          <p:cNvPr id="22" name="حالة تدريب منفذ"/>
          <p:cNvSpPr/>
          <p:nvPr/>
        </p:nvSpPr>
        <p:spPr>
          <a:xfrm flipH="1">
            <a:off x="841248" y="2011680"/>
            <a:ext cx="2029968" cy="530352"/>
          </a:xfrm>
          <a:prstGeom prst="homePlate">
            <a:avLst>
              <a:gd name="adj" fmla="val 32000"/>
            </a:avLst>
          </a:prstGeom>
          <a:solidFill>
            <a:srgbClr val="2A206A"/>
          </a:solidFill>
          <a:ln>
            <a:noFill/>
          </a:ln>
        </p:spPr>
        <p:txBody>
          <a:bodyPr wrap="square" lIns="347472" tIns="0" rIns="137160" bIns="0" rtlCol="0" anchor="ctr">
            <a:noAutofit/>
          </a:bodyPr>
          <a:lstStyle/>
          <a:p>
            <a:pPr marL="0" indent="0" algn="ctr" rtl="1">
              <a:lnSpc>
                <a:spcPts val="196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تدريب منفذ</a:t>
            </a:r>
            <a:endParaRPr lang="ar-SA" sz="1400" dirty="0"/>
          </a:p>
        </p:txBody>
      </p:sp>
      <p:sp>
        <p:nvSpPr>
          <p:cNvPr id="23" name="رقم تدريب منفذ"/>
          <p:cNvSpPr/>
          <p:nvPr/>
        </p:nvSpPr>
        <p:spPr>
          <a:xfrm>
            <a:off x="841248" y="2615184"/>
            <a:ext cx="2029968" cy="1371600"/>
          </a:xfrm>
          <a:prstGeom prst="roundRect">
            <a:avLst>
              <a:gd name="adj" fmla="val 9333"/>
            </a:avLst>
          </a:prstGeom>
          <a:solidFill>
            <a:srgbClr val="F5F5F5"/>
          </a:solidFill>
          <a:ln>
            <a:noFill/>
          </a:ln>
        </p:spPr>
        <p:txBody>
          <a:bodyPr wrap="square" lIns="91440" tIns="45720" rIns="91440" bIns="45720" rtlCol="0" anchor="t">
            <a:noAutofit/>
          </a:bodyPr>
          <a:lstStyle/>
          <a:p>
            <a:endParaRPr lang="ar-SA"/>
          </a:p>
        </p:txBody>
      </p:sp>
      <p:sp>
        <p:nvSpPr>
          <p:cNvPr id="24" name="الرقم"/>
          <p:cNvSpPr txBox="1"/>
          <p:nvPr/>
        </p:nvSpPr>
        <p:spPr>
          <a:xfrm>
            <a:off x="950976" y="2651760"/>
            <a:ext cx="1810512" cy="566928"/>
          </a:xfrm>
          <a:prstGeom prst="rect">
            <a:avLst/>
          </a:prstGeom>
          <a:noFill/>
          <a:ln>
            <a:noFill/>
          </a:ln>
        </p:spPr>
        <p:txBody>
          <a:bodyPr wrap="square" lIns="0" tIns="0" rIns="0" bIns="0" rtlCol="0" anchor="ctr">
            <a:noAutofit/>
          </a:bodyPr>
          <a:lstStyle/>
          <a:p>
            <a:pPr marL="0" indent="0" algn="ctr" rtl="1">
              <a:lnSpc>
                <a:spcPts val="4400"/>
              </a:lnSpc>
              <a:spcBef>
                <a:spcPts val="0"/>
              </a:spcBef>
              <a:spcAft>
                <a:spcPts val="0"/>
              </a:spcAft>
              <a:buNone/>
            </a:pPr>
            <a:r>
              <a:rPr lang="ar-SA" sz="3200" b="1" i="0" dirty="0" noProof="1">
                <a:solidFill>
                  <a:srgbClr val="2A206A"/>
                </a:solidFill>
                <a:latin typeface="☞DIODRUM ARABIC SEMIBOLD" pitchFamily="2" charset="-78"/>
                <a:cs typeface="☞DIODRUM ARABIC SEMIBOLD" pitchFamily="2" charset="-78"/>
              </a:rPr>
              <a:t>115</a:t>
            </a:r>
            <a:endParaRPr lang="ar-SA" sz="3200" dirty="0"/>
          </a:p>
        </p:txBody>
      </p:sp>
      <p:sp>
        <p:nvSpPr>
          <p:cNvPr id="25" name="وصف"/>
          <p:cNvSpPr txBox="1"/>
          <p:nvPr/>
        </p:nvSpPr>
        <p:spPr>
          <a:xfrm>
            <a:off x="969264" y="3255264"/>
            <a:ext cx="1773936" cy="694944"/>
          </a:xfrm>
          <a:prstGeom prst="rect">
            <a:avLst/>
          </a:prstGeom>
          <a:noFill/>
          <a:ln>
            <a:noFill/>
          </a:ln>
        </p:spPr>
        <p:txBody>
          <a:bodyPr wrap="square" lIns="0" tIns="0" rIns="0" bIns="0" rtlCol="0" anchor="t">
            <a:noAutofit/>
          </a:bodyPr>
          <a:lstStyle/>
          <a:p>
            <a:pPr marL="0" indent="0" algn="ct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مستفيدًا منفذًا ضمن نطاق ملف الشركاء</a:t>
            </a:r>
            <a:endParaRPr lang="ar-SA" sz="1300" dirty="0"/>
          </a:p>
        </p:txBody>
      </p:sp>
      <p:sp>
        <p:nvSpPr>
          <p:cNvPr id="26" name="تنبيه النطاق"/>
          <p:cNvSpPr/>
          <p:nvPr/>
        </p:nvSpPr>
        <p:spPr>
          <a:xfrm>
            <a:off x="841248" y="4096512"/>
            <a:ext cx="10515600" cy="566928"/>
          </a:xfrm>
          <a:prstGeom prst="roundRect">
            <a:avLst>
              <a:gd name="adj" fmla="val 19354"/>
            </a:avLst>
          </a:prstGeom>
          <a:solidFill>
            <a:srgbClr val="F1E9FA"/>
          </a:solidFill>
          <a:ln>
            <a:noFill/>
          </a:ln>
        </p:spPr>
        <p:txBody>
          <a:bodyPr wrap="square" lIns="91440" tIns="45720" rIns="91440" bIns="45720" rtlCol="0" anchor="t">
            <a:noAutofit/>
          </a:bodyPr>
          <a:lstStyle/>
          <a:p>
            <a:endParaRPr lang="ar-SA"/>
          </a:p>
        </p:txBody>
      </p:sp>
      <p:sp>
        <p:nvSpPr>
          <p:cNvPr id="27" name="دائرة أيقونة"/>
          <p:cNvSpPr/>
          <p:nvPr/>
        </p:nvSpPr>
        <p:spPr>
          <a:xfrm>
            <a:off x="10789920" y="4187952"/>
            <a:ext cx="384048" cy="384048"/>
          </a:xfrm>
          <a:prstGeom prst="ellipse">
            <a:avLst/>
          </a:prstGeom>
          <a:solidFill>
            <a:srgbClr val="FFFFFF"/>
          </a:solidFill>
          <a:ln>
            <a:noFill/>
          </a:ln>
        </p:spPr>
      </p:sp>
      <p:pic>
        <p:nvPicPr>
          <p:cNvPr id="28" name="أيقونة Warning" descr=""/>
          <p:cNvPicPr>
            <a:picLocks noChangeAspect="1"/>
          </p:cNvPicPr>
          <p:nvPr/>
        </p:nvPicPr>
        <p:blipFill>
          <a:blip r:embed="rId2"/>
          <a:stretch>
            <a:fillRect/>
          </a:stretch>
        </p:blipFill>
        <p:spPr>
          <a:xfrm>
            <a:off x="10878251" y="4276283"/>
            <a:ext cx="207386" cy="207386"/>
          </a:xfrm>
          <a:prstGeom prst="rect">
            <a:avLst/>
          </a:prstGeom>
        </p:spPr>
      </p:pic>
      <p:sp>
        <p:nvSpPr>
          <p:cNvPr id="29" name="تنبيه النطاق نص"/>
          <p:cNvSpPr txBox="1"/>
          <p:nvPr/>
        </p:nvSpPr>
        <p:spPr>
          <a:xfrm>
            <a:off x="1069848" y="4096512"/>
            <a:ext cx="9537192" cy="566928"/>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SEMIBOLD" pitchFamily="2" charset="-78"/>
                <a:cs typeface="☞DIODRUM ARABIC SEMIBOLD" pitchFamily="2" charset="-78"/>
              </a:rPr>
              <a:t>نطاق مختلف:  </a:t>
            </a:r>
            <a:r>
              <a:rPr lang="ar-SA" sz="1400" b="0" i="0" dirty="0" noProof="1">
                <a:solidFill>
                  <a:srgbClr val="2A206A"/>
                </a:solidFill>
                <a:latin typeface="☞DIODRUM ARABIC MEDIUM" pitchFamily="2" charset="-78"/>
                <a:cs typeface="☞DIODRUM ARABIC MEDIUM" pitchFamily="2" charset="-78"/>
              </a:rPr>
              <a:t>هذه الأعداد لها نطاق متابعة مختلف عن أرقام قدراتك الواردة في الشريحة 7؛ ويُطابق النطاق وتاريخ القطع قبل استخدامها في مقارنة أو تجميع.</a:t>
            </a:r>
            <a:endParaRPr lang="ar-SA" sz="1400" dirty="0"/>
          </a:p>
        </p:txBody>
      </p:sp>
      <p:sp>
        <p:nvSpPr>
          <p:cNvPr id="30" name="الوصف الموحد"/>
          <p:cNvSpPr/>
          <p:nvPr/>
        </p:nvSpPr>
        <p:spPr>
          <a:xfrm>
            <a:off x="4681728" y="4773168"/>
            <a:ext cx="6675120" cy="1216152"/>
          </a:xfrm>
          <a:prstGeom prst="roundRect">
            <a:avLst>
              <a:gd name="adj" fmla="val 10526"/>
            </a:avLst>
          </a:prstGeom>
          <a:solidFill>
            <a:srgbClr val="F5F5F5"/>
          </a:solidFill>
          <a:ln>
            <a:noFill/>
          </a:ln>
        </p:spPr>
        <p:txBody>
          <a:bodyPr wrap="square" lIns="91440" tIns="45720" rIns="91440" bIns="45720" rtlCol="0" anchor="t">
            <a:noAutofit/>
          </a:bodyPr>
          <a:lstStyle/>
          <a:p>
            <a:endParaRPr lang="ar-SA"/>
          </a:p>
        </p:txBody>
      </p:sp>
      <p:sp>
        <p:nvSpPr>
          <p:cNvPr id="31" name="وسم الوصف الموحد"/>
          <p:cNvSpPr txBox="1"/>
          <p:nvPr/>
        </p:nvSpPr>
        <p:spPr>
          <a:xfrm>
            <a:off x="4864608" y="4846320"/>
            <a:ext cx="6309360" cy="27432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وصف موحد يُطلب من كل مزود</a:t>
            </a:r>
            <a:endParaRPr lang="ar-SA" sz="1400" dirty="0"/>
          </a:p>
        </p:txBody>
      </p:sp>
      <p:sp>
        <p:nvSpPr>
          <p:cNvPr id="32" name="وسم"/>
          <p:cNvSpPr/>
          <p:nvPr/>
        </p:nvSpPr>
        <p:spPr>
          <a:xfrm>
            <a:off x="9665208" y="5184648"/>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الفئة</a:t>
            </a:r>
            <a:endParaRPr lang="ar-SA" sz="1200" dirty="0"/>
          </a:p>
        </p:txBody>
      </p:sp>
      <p:sp>
        <p:nvSpPr>
          <p:cNvPr id="33" name="وسم"/>
          <p:cNvSpPr/>
          <p:nvPr/>
        </p:nvSpPr>
        <p:spPr>
          <a:xfrm>
            <a:off x="8065008" y="5184648"/>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الجدارات</a:t>
            </a:r>
            <a:endParaRPr lang="ar-SA" sz="1200" dirty="0"/>
          </a:p>
        </p:txBody>
      </p:sp>
      <p:sp>
        <p:nvSpPr>
          <p:cNvPr id="34" name="وسم"/>
          <p:cNvSpPr/>
          <p:nvPr/>
        </p:nvSpPr>
        <p:spPr>
          <a:xfrm>
            <a:off x="6464808" y="5184648"/>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المستوى</a:t>
            </a:r>
            <a:endParaRPr lang="ar-SA" sz="1200" dirty="0"/>
          </a:p>
        </p:txBody>
      </p:sp>
      <p:sp>
        <p:nvSpPr>
          <p:cNvPr id="35" name="وسم"/>
          <p:cNvSpPr/>
          <p:nvPr/>
        </p:nvSpPr>
        <p:spPr>
          <a:xfrm>
            <a:off x="4864608" y="5184648"/>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ساعات التعلم</a:t>
            </a:r>
            <a:endParaRPr lang="ar-SA" sz="1200" dirty="0"/>
          </a:p>
        </p:txBody>
      </p:sp>
      <p:sp>
        <p:nvSpPr>
          <p:cNvPr id="36" name="وسم"/>
          <p:cNvSpPr/>
          <p:nvPr/>
        </p:nvSpPr>
        <p:spPr>
          <a:xfrm>
            <a:off x="9665208" y="5568696"/>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التطبيق العملي</a:t>
            </a:r>
            <a:endParaRPr lang="ar-SA" sz="1200" dirty="0"/>
          </a:p>
        </p:txBody>
      </p:sp>
      <p:sp>
        <p:nvSpPr>
          <p:cNvPr id="37" name="وسم"/>
          <p:cNvSpPr/>
          <p:nvPr/>
        </p:nvSpPr>
        <p:spPr>
          <a:xfrm>
            <a:off x="8065008" y="5568696"/>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أسلوب التقييم</a:t>
            </a:r>
            <a:endParaRPr lang="ar-SA" sz="1200" dirty="0"/>
          </a:p>
        </p:txBody>
      </p:sp>
      <p:sp>
        <p:nvSpPr>
          <p:cNvPr id="38" name="وسم"/>
          <p:cNvSpPr/>
          <p:nvPr/>
        </p:nvSpPr>
        <p:spPr>
          <a:xfrm>
            <a:off x="6464808" y="5568696"/>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الإرشاد بعد التدريب</a:t>
            </a:r>
            <a:endParaRPr lang="ar-SA" sz="1200" dirty="0"/>
          </a:p>
        </p:txBody>
      </p:sp>
      <p:sp>
        <p:nvSpPr>
          <p:cNvPr id="39" name="وسم"/>
          <p:cNvSpPr/>
          <p:nvPr/>
        </p:nvSpPr>
        <p:spPr>
          <a:xfrm>
            <a:off x="4864608" y="5568696"/>
            <a:ext cx="1508760" cy="310896"/>
          </a:xfrm>
          <a:prstGeom prst="roundRect">
            <a:avLst>
              <a:gd name="adj" fmla="val 50000"/>
            </a:avLst>
          </a:prstGeom>
          <a:solidFill>
            <a:srgbClr val="FFFFFF"/>
          </a:solidFill>
          <a:ln>
            <a:noFill/>
          </a:ln>
        </p:spPr>
        <p:txBody>
          <a:bodyPr wrap="square" lIns="54864" tIns="0" rIns="54864" bIns="0" rtlCol="0" anchor="ctr">
            <a:noAutofit/>
          </a:bodyPr>
          <a:lstStyle/>
          <a:p>
            <a:pPr marL="0" indent="0" algn="ctr" rtl="1">
              <a:lnSpc>
                <a:spcPts val="1500"/>
              </a:lnSpc>
              <a:spcBef>
                <a:spcPts val="0"/>
              </a:spcBef>
              <a:spcAft>
                <a:spcPts val="0"/>
              </a:spcAft>
              <a:buNone/>
            </a:pPr>
            <a:r>
              <a:rPr lang="ar-SA" sz="1200" b="0" i="0" dirty="0" noProof="1">
                <a:solidFill>
                  <a:srgbClr val="00ABAF"/>
                </a:solidFill>
                <a:latin typeface="☞DIODRUM ARABIC SEMIBOLD" pitchFamily="2" charset="-78"/>
                <a:cs typeface="☞DIODRUM ARABIC SEMIBOLD" pitchFamily="2" charset="-78"/>
              </a:rPr>
              <a:t>المخرج المتوقع</a:t>
            </a:r>
            <a:endParaRPr lang="ar-SA" sz="1200" dirty="0"/>
          </a:p>
        </p:txBody>
      </p:sp>
      <p:sp>
        <p:nvSpPr>
          <p:cNvPr id="40" name="الاستفادة"/>
          <p:cNvSpPr/>
          <p:nvPr/>
        </p:nvSpPr>
        <p:spPr>
          <a:xfrm>
            <a:off x="841248" y="4773168"/>
            <a:ext cx="3657600" cy="1216152"/>
          </a:xfrm>
          <a:prstGeom prst="roundRect">
            <a:avLst>
              <a:gd name="adj" fmla="val 10526"/>
            </a:avLst>
          </a:prstGeom>
          <a:solidFill>
            <a:srgbClr val="E5F6F6"/>
          </a:solidFill>
          <a:ln>
            <a:noFill/>
          </a:ln>
        </p:spPr>
        <p:txBody>
          <a:bodyPr wrap="square" lIns="91440" tIns="45720" rIns="91440" bIns="45720" rtlCol="0" anchor="t">
            <a:noAutofit/>
          </a:bodyPr>
          <a:lstStyle/>
          <a:p>
            <a:endParaRPr lang="ar-SA"/>
          </a:p>
        </p:txBody>
      </p:sp>
      <p:sp>
        <p:nvSpPr>
          <p:cNvPr id="41" name="نص الاستفادة"/>
          <p:cNvSpPr txBox="1"/>
          <p:nvPr/>
        </p:nvSpPr>
        <p:spPr>
          <a:xfrm>
            <a:off x="1024128" y="4773168"/>
            <a:ext cx="3291840" cy="121615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تُستفاد مساهمات الشركاء في البرامج الملائمة، مع تخصيص ما يحتاج محتوى حكوميًا أو تطبيقًا وإرشادًا إضافيًا.</a:t>
            </a:r>
            <a:endParaRPr lang="ar-SA" sz="1400" dirty="0"/>
          </a:p>
        </p:txBody>
      </p:sp>
      <p:sp>
        <p:nvSpPr>
          <p:cNvPr id="42"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متابعة الشركاء (الشاملة، الشرائح 1-6؛ والمجمعة)؛ مسودة التحديث (الشريحة 4).  الحالة: أرقام الملف وقت إعداده؛ لا تثبت المرفقات أن 800 كلها التزامات مؤكدة.</a:t>
            </a:r>
            <a:endParaRPr lang="ar-SA" sz="105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نوصي بمزيج تمويل يستفيد من المساهمات ويمول الاحتياج المخصص</a:t>
            </a:r>
          </a:p>
        </p:txBody>
      </p:sp>
      <p:sp>
        <p:nvSpPr>
          <p:cNvPr id="3" name="Text Placeholder 2"/>
          <p:cNvSpPr>
            <a:spLocks noGrp="1"/>
          </p:cNvSpPr>
          <p:nvPr>
            <p:ph type="body" idx="13" sz="quarter"/>
          </p:nvPr>
        </p:nvSpPr>
        <p:spPr/>
        <p:txBody>
          <a:bodyPr/>
          <a:lstStyle/>
          <a:p>
            <a:r>
              <a:rPr lang="ar-SA" dirty="0" noProof="1"/>
              <a:t>يُحدد التمويل بحسب نوع البرنامج واحتياجه إلى التصميم والتطبيق والمتابعة.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3  ·  تصميم المسارات والشراكات والتمويل</a:t>
            </a:r>
            <a:endParaRPr lang="ar-SA" sz="1100" dirty="0"/>
          </a:p>
        </p:txBody>
      </p:sp>
      <p:sp>
        <p:nvSpPr>
          <p:cNvPr id="6" name="خيار مساهمات الشركاء"/>
          <p:cNvSpPr/>
          <p:nvPr/>
        </p:nvSpPr>
        <p:spPr>
          <a:xfrm>
            <a:off x="8229600" y="2011680"/>
            <a:ext cx="3127248" cy="3127248"/>
          </a:xfrm>
          <a:prstGeom prst="roundRect">
            <a:avLst>
              <a:gd name="adj" fmla="val 4093"/>
            </a:avLst>
          </a:prstGeom>
          <a:solidFill>
            <a:srgbClr val="F5F5F5"/>
          </a:solidFill>
          <a:ln>
            <a:noFill/>
          </a:ln>
        </p:spPr>
        <p:txBody>
          <a:bodyPr wrap="square" lIns="91440" tIns="45720" rIns="91440" bIns="45720" rtlCol="0" anchor="t">
            <a:noAutofit/>
          </a:bodyPr>
          <a:lstStyle/>
          <a:p>
            <a:endParaRPr lang="ar-SA"/>
          </a:p>
        </p:txBody>
      </p:sp>
      <p:sp>
        <p:nvSpPr>
          <p:cNvPr id="7" name="دائرة أيقونة"/>
          <p:cNvSpPr/>
          <p:nvPr/>
        </p:nvSpPr>
        <p:spPr>
          <a:xfrm>
            <a:off x="10607040" y="2194560"/>
            <a:ext cx="548640" cy="548640"/>
          </a:xfrm>
          <a:prstGeom prst="ellipse">
            <a:avLst/>
          </a:prstGeom>
          <a:solidFill>
            <a:srgbClr val="FFFFFF"/>
          </a:solidFill>
          <a:ln>
            <a:noFill/>
          </a:ln>
        </p:spPr>
      </p:sp>
      <p:pic>
        <p:nvPicPr>
          <p:cNvPr id="8" name="أيقونة Handshake" descr=""/>
          <p:cNvPicPr>
            <a:picLocks noChangeAspect="1"/>
          </p:cNvPicPr>
          <p:nvPr/>
        </p:nvPicPr>
        <p:blipFill>
          <a:blip r:embed="rId2"/>
          <a:stretch>
            <a:fillRect/>
          </a:stretch>
        </p:blipFill>
        <p:spPr>
          <a:xfrm>
            <a:off x="10733227" y="2320747"/>
            <a:ext cx="296266" cy="296266"/>
          </a:xfrm>
          <a:prstGeom prst="rect">
            <a:avLst/>
          </a:prstGeom>
        </p:spPr>
      </p:pic>
      <p:sp>
        <p:nvSpPr>
          <p:cNvPr id="9" name="عنوان مساهمات الشركاء"/>
          <p:cNvSpPr txBox="1"/>
          <p:nvPr/>
        </p:nvSpPr>
        <p:spPr>
          <a:xfrm>
            <a:off x="8430768" y="2139696"/>
            <a:ext cx="2039112" cy="658368"/>
          </a:xfrm>
          <a:prstGeom prst="rect">
            <a:avLst/>
          </a:prstGeom>
          <a:noFill/>
          <a:ln>
            <a:noFill/>
          </a:ln>
        </p:spPr>
        <p:txBody>
          <a:bodyPr wrap="square" lIns="0" tIns="0" rIns="0" bIns="0" rtlCol="0" anchor="ctr">
            <a:noAutofit/>
          </a:bodyPr>
          <a:lstStyle/>
          <a:p>
            <a:pPr marL="0" indent="0" algn="r" rtl="1">
              <a:lnSpc>
                <a:spcPts val="2500"/>
              </a:lnSpc>
              <a:spcBef>
                <a:spcPts val="0"/>
              </a:spcBef>
              <a:spcAft>
                <a:spcPts val="0"/>
              </a:spcAft>
              <a:buNone/>
            </a:pPr>
            <a:r>
              <a:rPr lang="ar-SA" sz="1800" b="0" i="0" dirty="0" noProof="1">
                <a:solidFill>
                  <a:srgbClr val="00ABAF"/>
                </a:solidFill>
                <a:latin typeface="☞DIODRUM ARABIC SEMIBOLD" pitchFamily="2" charset="-78"/>
                <a:cs typeface="☞DIODRUM ARABIC SEMIBOLD" pitchFamily="2" charset="-78"/>
              </a:rPr>
              <a:t>مساهمات الشركاء</a:t>
            </a:r>
            <a:endParaRPr lang="ar-SA" sz="1800" dirty="0"/>
          </a:p>
        </p:txBody>
      </p:sp>
      <p:sp>
        <p:nvSpPr>
          <p:cNvPr id="10" name="متى مساهمات الشركاء"/>
          <p:cNvSpPr txBox="1"/>
          <p:nvPr/>
        </p:nvSpPr>
        <p:spPr>
          <a:xfrm>
            <a:off x="8430768" y="2880360"/>
            <a:ext cx="2724912"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متى يخدم المبادرة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المحتوى التأسيسي والبرامج القائمة التي تطابق الفئات والجدارات المطلوبة.</a:t>
            </a:r>
            <a:endParaRPr lang="ar-SA" sz="1400" dirty="0"/>
          </a:p>
        </p:txBody>
      </p:sp>
      <p:sp>
        <p:nvSpPr>
          <p:cNvPr id="11" name="ما يلزم مساهمات الشركاء"/>
          <p:cNvSpPr txBox="1"/>
          <p:nvPr/>
        </p:nvSpPr>
        <p:spPr>
          <a:xfrm>
            <a:off x="8430768" y="4074414"/>
            <a:ext cx="2724912"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ما يلزم لتقديره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تثبيت المقاعد والمواعيد والجودة والتغطية، وتحديد حدود المحتوى والإرشاد المتاح.</a:t>
            </a:r>
            <a:endParaRPr lang="ar-SA" sz="1400" dirty="0"/>
          </a:p>
        </p:txBody>
      </p:sp>
      <p:sp>
        <p:nvSpPr>
          <p:cNvPr id="12" name="عامل"/>
          <p:cNvSpPr/>
          <p:nvPr/>
        </p:nvSpPr>
        <p:spPr>
          <a:xfrm>
            <a:off x="7735824" y="2258568"/>
            <a:ext cx="420624" cy="420624"/>
          </a:xfrm>
          <a:prstGeom prst="ellipse">
            <a:avLst/>
          </a:prstGeom>
          <a:solidFill>
            <a:srgbClr val="2A206A"/>
          </a:solidFill>
          <a:ln>
            <a:noFill/>
          </a:ln>
        </p:spPr>
        <p:txBody>
          <a:bodyPr wrap="square" lIns="0" tIns="0" rIns="0" bIns="0" rtlCol="0" anchor="ctr">
            <a:noAutofit/>
          </a:bodyPr>
          <a:lstStyle/>
          <a:p>
            <a:pPr marL="0" indent="0" algn="ctr" rtl="1">
              <a:lnSpc>
                <a:spcPts val="2600"/>
              </a:lnSpc>
              <a:spcBef>
                <a:spcPts val="0"/>
              </a:spcBef>
              <a:spcAft>
                <a:spcPts val="0"/>
              </a:spcAft>
              <a:buNone/>
            </a:pPr>
            <a:r>
              <a:rPr lang="ar-SA" sz="2200" b="1" i="0" dirty="0" noProof="1">
                <a:solidFill>
                  <a:srgbClr val="FFFFFF"/>
                </a:solidFill>
                <a:latin typeface="☞DIODRUM ARABIC SEMIBOLD" pitchFamily="2" charset="-78"/>
                <a:cs typeface="☞DIODRUM ARABIC SEMIBOLD" pitchFamily="2" charset="-78"/>
              </a:rPr>
              <a:t>+</a:t>
            </a:r>
            <a:endParaRPr lang="ar-SA" sz="2200" dirty="0"/>
          </a:p>
        </p:txBody>
      </p:sp>
      <p:sp>
        <p:nvSpPr>
          <p:cNvPr id="13" name="خيار تمويل برامج مخصصة"/>
          <p:cNvSpPr/>
          <p:nvPr/>
        </p:nvSpPr>
        <p:spPr>
          <a:xfrm>
            <a:off x="4535424" y="2011680"/>
            <a:ext cx="3127248" cy="3127248"/>
          </a:xfrm>
          <a:prstGeom prst="roundRect">
            <a:avLst>
              <a:gd name="adj" fmla="val 4093"/>
            </a:avLst>
          </a:prstGeom>
          <a:solidFill>
            <a:srgbClr val="F5F5F5"/>
          </a:solidFill>
          <a:ln>
            <a:noFill/>
          </a:ln>
        </p:spPr>
        <p:txBody>
          <a:bodyPr wrap="square" lIns="91440" tIns="45720" rIns="91440" bIns="45720" rtlCol="0" anchor="t">
            <a:noAutofit/>
          </a:bodyPr>
          <a:lstStyle/>
          <a:p>
            <a:endParaRPr lang="ar-SA"/>
          </a:p>
        </p:txBody>
      </p:sp>
      <p:sp>
        <p:nvSpPr>
          <p:cNvPr id="14" name="دائرة أيقونة"/>
          <p:cNvSpPr/>
          <p:nvPr/>
        </p:nvSpPr>
        <p:spPr>
          <a:xfrm>
            <a:off x="6912864" y="2194560"/>
            <a:ext cx="548640" cy="548640"/>
          </a:xfrm>
          <a:prstGeom prst="ellipse">
            <a:avLst/>
          </a:prstGeom>
          <a:solidFill>
            <a:srgbClr val="FFFFFF"/>
          </a:solidFill>
          <a:ln>
            <a:noFill/>
          </a:ln>
        </p:spPr>
      </p:sp>
      <p:pic>
        <p:nvPicPr>
          <p:cNvPr id="15" name="أيقونة Coins" descr=""/>
          <p:cNvPicPr>
            <a:picLocks noChangeAspect="1"/>
          </p:cNvPicPr>
          <p:nvPr/>
        </p:nvPicPr>
        <p:blipFill>
          <a:blip r:embed="rId3"/>
          <a:stretch>
            <a:fillRect/>
          </a:stretch>
        </p:blipFill>
        <p:spPr>
          <a:xfrm>
            <a:off x="7039051" y="2320747"/>
            <a:ext cx="296266" cy="296266"/>
          </a:xfrm>
          <a:prstGeom prst="rect">
            <a:avLst/>
          </a:prstGeom>
        </p:spPr>
      </p:pic>
      <p:sp>
        <p:nvSpPr>
          <p:cNvPr id="16" name="عنوان تمويل برامج مخصصة"/>
          <p:cNvSpPr txBox="1"/>
          <p:nvPr/>
        </p:nvSpPr>
        <p:spPr>
          <a:xfrm>
            <a:off x="4736592" y="2139696"/>
            <a:ext cx="2039112" cy="658368"/>
          </a:xfrm>
          <a:prstGeom prst="rect">
            <a:avLst/>
          </a:prstGeom>
          <a:noFill/>
          <a:ln>
            <a:noFill/>
          </a:ln>
        </p:spPr>
        <p:txBody>
          <a:bodyPr wrap="square" lIns="0" tIns="0" rIns="0" bIns="0" rtlCol="0" anchor="ctr">
            <a:noAutofit/>
          </a:bodyPr>
          <a:lstStyle/>
          <a:p>
            <a:pPr marL="0" indent="0" algn="r" rtl="1">
              <a:lnSpc>
                <a:spcPts val="25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تمويل برامج مخصصة</a:t>
            </a:r>
            <a:endParaRPr lang="ar-SA" sz="1800" dirty="0"/>
          </a:p>
        </p:txBody>
      </p:sp>
      <p:sp>
        <p:nvSpPr>
          <p:cNvPr id="17" name="متى تمويل برامج مخصصة"/>
          <p:cNvSpPr txBox="1"/>
          <p:nvPr/>
        </p:nvSpPr>
        <p:spPr>
          <a:xfrm>
            <a:off x="4736592" y="2880360"/>
            <a:ext cx="2724912"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متى يخدم المبادرة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القيادات العليا، والحالات الحكومية المحلية، والتطبيقات المتخصصة التي تحتاج تصميمًا وإرشادًا.</a:t>
            </a:r>
            <a:endParaRPr lang="ar-SA" sz="1400" dirty="0"/>
          </a:p>
        </p:txBody>
      </p:sp>
      <p:sp>
        <p:nvSpPr>
          <p:cNvPr id="18" name="ما يلزم تمويل برامج مخصصة"/>
          <p:cNvSpPr txBox="1"/>
          <p:nvPr/>
        </p:nvSpPr>
        <p:spPr>
          <a:xfrm>
            <a:off x="4736592" y="4074414"/>
            <a:ext cx="2724912"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ما يلزم لتقديره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تسعير التصميم والتقديم والإرشاد والمتابعة وقياس الأثر على نطاق معلوم.</a:t>
            </a:r>
            <a:endParaRPr lang="ar-SA" sz="1400" dirty="0"/>
          </a:p>
        </p:txBody>
      </p:sp>
      <p:sp>
        <p:nvSpPr>
          <p:cNvPr id="19" name="عامل"/>
          <p:cNvSpPr/>
          <p:nvPr/>
        </p:nvSpPr>
        <p:spPr>
          <a:xfrm>
            <a:off x="4041648" y="2258568"/>
            <a:ext cx="420624" cy="420624"/>
          </a:xfrm>
          <a:prstGeom prst="ellipse">
            <a:avLst/>
          </a:prstGeom>
          <a:solidFill>
            <a:srgbClr val="2A206A"/>
          </a:solidFill>
          <a:ln>
            <a:noFill/>
          </a:ln>
        </p:spPr>
        <p:txBody>
          <a:bodyPr wrap="square" lIns="0" tIns="0" rIns="0" bIns="0" rtlCol="0" anchor="ctr">
            <a:noAutofit/>
          </a:bodyPr>
          <a:lstStyle/>
          <a:p>
            <a:pPr marL="0" indent="0" algn="ctr" rtl="1">
              <a:lnSpc>
                <a:spcPts val="2600"/>
              </a:lnSpc>
              <a:spcBef>
                <a:spcPts val="0"/>
              </a:spcBef>
              <a:spcAft>
                <a:spcPts val="0"/>
              </a:spcAft>
              <a:buNone/>
            </a:pPr>
            <a:r>
              <a:rPr lang="ar-SA" sz="2200" b="1" i="0" dirty="0" noProof="1">
                <a:solidFill>
                  <a:srgbClr val="FFFFFF"/>
                </a:solidFill>
                <a:latin typeface="☞DIODRUM ARABIC SEMIBOLD" pitchFamily="2" charset="-78"/>
                <a:cs typeface="☞DIODRUM ARABIC SEMIBOLD" pitchFamily="2" charset="-78"/>
              </a:rPr>
              <a:t>=</a:t>
            </a:r>
            <a:endParaRPr lang="ar-SA" sz="2200" dirty="0"/>
          </a:p>
        </p:txBody>
      </p:sp>
      <p:sp>
        <p:nvSpPr>
          <p:cNvPr id="20" name="خيار المزيج المقترح"/>
          <p:cNvSpPr/>
          <p:nvPr/>
        </p:nvSpPr>
        <p:spPr>
          <a:xfrm>
            <a:off x="841248" y="2011680"/>
            <a:ext cx="3127248" cy="3127248"/>
          </a:xfrm>
          <a:prstGeom prst="roundRect">
            <a:avLst>
              <a:gd name="adj" fmla="val 4093"/>
            </a:avLst>
          </a:prstGeom>
          <a:solidFill>
            <a:srgbClr val="F1E9FA"/>
          </a:solidFill>
          <a:ln w="9525">
            <a:solidFill>
              <a:srgbClr val="7C32C9"/>
            </a:solidFill>
          </a:ln>
        </p:spPr>
        <p:txBody>
          <a:bodyPr wrap="square" lIns="91440" tIns="45720" rIns="91440" bIns="45720" rtlCol="0" anchor="t">
            <a:noAutofit/>
          </a:bodyPr>
          <a:lstStyle/>
          <a:p>
            <a:endParaRPr lang="ar-SA"/>
          </a:p>
        </p:txBody>
      </p:sp>
      <p:sp>
        <p:nvSpPr>
          <p:cNvPr id="21" name="دائرة أيقونة"/>
          <p:cNvSpPr/>
          <p:nvPr/>
        </p:nvSpPr>
        <p:spPr>
          <a:xfrm>
            <a:off x="3218688" y="2194560"/>
            <a:ext cx="548640" cy="548640"/>
          </a:xfrm>
          <a:prstGeom prst="ellipse">
            <a:avLst/>
          </a:prstGeom>
          <a:solidFill>
            <a:srgbClr val="FFFFFF"/>
          </a:solidFill>
          <a:ln>
            <a:noFill/>
          </a:ln>
        </p:spPr>
      </p:sp>
      <p:pic>
        <p:nvPicPr>
          <p:cNvPr id="22" name="أيقونة PuzzlePiece" descr=""/>
          <p:cNvPicPr>
            <a:picLocks noChangeAspect="1"/>
          </p:cNvPicPr>
          <p:nvPr/>
        </p:nvPicPr>
        <p:blipFill>
          <a:blip r:embed="rId4"/>
          <a:stretch>
            <a:fillRect/>
          </a:stretch>
        </p:blipFill>
        <p:spPr>
          <a:xfrm>
            <a:off x="3344875" y="2320747"/>
            <a:ext cx="296266" cy="296266"/>
          </a:xfrm>
          <a:prstGeom prst="rect">
            <a:avLst/>
          </a:prstGeom>
        </p:spPr>
      </p:pic>
      <p:sp>
        <p:nvSpPr>
          <p:cNvPr id="23" name="عنوان المزيج المقترح"/>
          <p:cNvSpPr txBox="1"/>
          <p:nvPr/>
        </p:nvSpPr>
        <p:spPr>
          <a:xfrm>
            <a:off x="1042416" y="2139696"/>
            <a:ext cx="2039112" cy="658368"/>
          </a:xfrm>
          <a:prstGeom prst="rect">
            <a:avLst/>
          </a:prstGeom>
          <a:noFill/>
          <a:ln>
            <a:noFill/>
          </a:ln>
        </p:spPr>
        <p:txBody>
          <a:bodyPr wrap="square" lIns="0" tIns="0" rIns="0" bIns="0" rtlCol="0" anchor="ctr">
            <a:noAutofit/>
          </a:bodyPr>
          <a:lstStyle/>
          <a:p>
            <a:pPr marL="0" indent="0" algn="r" rtl="1">
              <a:lnSpc>
                <a:spcPts val="25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المزيج المقترح</a:t>
            </a:r>
            <a:endParaRPr lang="ar-SA" sz="1800" dirty="0"/>
          </a:p>
        </p:txBody>
      </p:sp>
      <p:sp>
        <p:nvSpPr>
          <p:cNvPr id="24" name="متى المزيج المقترح"/>
          <p:cNvSpPr txBox="1"/>
          <p:nvPr/>
        </p:nvSpPr>
        <p:spPr>
          <a:xfrm>
            <a:off x="1042416" y="2880360"/>
            <a:ext cx="2724912"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متى يخدم المبادرة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الاستفادة من العروض الملائمة، واستكمالها بتمويل موجه للبرامج والحالات التي تتطلب تخصيصًا.</a:t>
            </a:r>
            <a:endParaRPr lang="ar-SA" sz="1400" dirty="0"/>
          </a:p>
        </p:txBody>
      </p:sp>
      <p:sp>
        <p:nvSpPr>
          <p:cNvPr id="25" name="ما يلزم المزيج المقترح"/>
          <p:cNvSpPr txBox="1"/>
          <p:nvPr/>
        </p:nvSpPr>
        <p:spPr>
          <a:xfrm>
            <a:off x="1042416" y="4074414"/>
            <a:ext cx="2724912"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ما يلزم لتقديره</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حزمة برامج محددة، وخيارات تكلفة وتمويل، ثم قرار بالأولوية والتنفيذ.</a:t>
            </a:r>
            <a:endParaRPr lang="ar-SA" sz="1400" dirty="0"/>
          </a:p>
        </p:txBody>
      </p:sp>
      <p:sp>
        <p:nvSpPr>
          <p:cNvPr id="26" name="لا ميزانية معتمدة"/>
          <p:cNvSpPr/>
          <p:nvPr/>
        </p:nvSpPr>
        <p:spPr>
          <a:xfrm>
            <a:off x="841248" y="5248656"/>
            <a:ext cx="10515600" cy="740664"/>
          </a:xfrm>
          <a:prstGeom prst="roundRect">
            <a:avLst>
              <a:gd name="adj" fmla="val 14814"/>
            </a:avLst>
          </a:prstGeom>
          <a:solidFill>
            <a:srgbClr val="2A206A"/>
          </a:solidFill>
          <a:ln>
            <a:noFill/>
          </a:ln>
        </p:spPr>
        <p:txBody>
          <a:bodyPr wrap="square" lIns="91440" tIns="45720" rIns="91440" bIns="45720" rtlCol="0" anchor="t">
            <a:noAutofit/>
          </a:bodyPr>
          <a:lstStyle/>
          <a:p>
            <a:endParaRPr lang="ar-SA"/>
          </a:p>
        </p:txBody>
      </p:sp>
      <p:sp>
        <p:nvSpPr>
          <p:cNvPr id="27" name="دائرة أيقونة"/>
          <p:cNvSpPr/>
          <p:nvPr/>
        </p:nvSpPr>
        <p:spPr>
          <a:xfrm>
            <a:off x="10661904" y="5362956"/>
            <a:ext cx="512064" cy="512064"/>
          </a:xfrm>
          <a:prstGeom prst="ellipse">
            <a:avLst/>
          </a:prstGeom>
          <a:solidFill>
            <a:srgbClr val="1CC182"/>
          </a:solidFill>
          <a:ln>
            <a:noFill/>
          </a:ln>
        </p:spPr>
      </p:sp>
      <p:pic>
        <p:nvPicPr>
          <p:cNvPr id="28" name="أيقونة Warning" descr=""/>
          <p:cNvPicPr>
            <a:picLocks noChangeAspect="1"/>
          </p:cNvPicPr>
          <p:nvPr/>
        </p:nvPicPr>
        <p:blipFill>
          <a:blip r:embed="rId5"/>
          <a:stretch>
            <a:fillRect/>
          </a:stretch>
        </p:blipFill>
        <p:spPr>
          <a:xfrm>
            <a:off x="10779679" y="5480731"/>
            <a:ext cx="276515" cy="276515"/>
          </a:xfrm>
          <a:prstGeom prst="rect">
            <a:avLst/>
          </a:prstGeom>
        </p:spPr>
      </p:pic>
      <p:sp>
        <p:nvSpPr>
          <p:cNvPr id="29" name="لا ميزانية معتمدة نص"/>
          <p:cNvSpPr txBox="1"/>
          <p:nvPr/>
        </p:nvSpPr>
        <p:spPr>
          <a:xfrm>
            <a:off x="1069848" y="5248656"/>
            <a:ext cx="9409176" cy="740664"/>
          </a:xfrm>
          <a:prstGeom prst="rect">
            <a:avLst/>
          </a:prstGeom>
          <a:noFill/>
          <a:ln>
            <a:noFill/>
          </a:ln>
        </p:spPr>
        <p:txBody>
          <a:bodyPr wrap="square" lIns="0" tIns="0" rIns="0" bIns="0" rtlCol="0" anchor="ctr">
            <a:noAutofit/>
          </a:bodyPr>
          <a:lstStyle/>
          <a:p>
            <a:pPr marL="0" indent="0" algn="r" rtl="1">
              <a:lnSpc>
                <a:spcPts val="2400"/>
              </a:lnSpc>
              <a:spcBef>
                <a:spcPts val="0"/>
              </a:spcBef>
              <a:spcAft>
                <a:spcPts val="0"/>
              </a:spcAft>
              <a:buNone/>
            </a:pPr>
            <a:r>
              <a:rPr lang="ar-SA" sz="1600" b="0" i="0" dirty="0" noProof="1">
                <a:solidFill>
                  <a:srgbClr val="FFFFFF"/>
                </a:solidFill>
                <a:latin typeface="☞DIODRUM ARABIC SEMIBOLD" pitchFamily="2" charset="-78"/>
                <a:cs typeface="☞DIODRUM ARABIC SEMIBOLD" pitchFamily="2" charset="-78"/>
              </a:rPr>
              <a:t>لم يتضح حتى الآن في المدخلات وجود ميزانية معتمدة للبرامج المخصصة. </a:t>
            </a:r>
            <a:r>
              <a:rPr lang="ar-SA" sz="1600" b="0" i="0" dirty="0" noProof="1">
                <a:solidFill>
                  <a:srgbClr val="FFFFFF"/>
                </a:solidFill>
                <a:latin typeface="☞DIODRUM ARABIC MEDIUM" pitchFamily="2" charset="-78"/>
                <a:cs typeface="☞DIODRUM ARABIC MEDIUM" pitchFamily="2" charset="-78"/>
              </a:rPr>
              <a:t>نوصي بتطوير نطاقها وخياراتها المالية ورفعها للقرار.</a:t>
            </a:r>
            <a:endParaRPr lang="ar-SA" sz="1600" dirty="0"/>
          </a:p>
        </p:txBody>
      </p:sp>
      <p:sp>
        <p:nvSpPr>
          <p:cNvPr id="30"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الدراسة المعيارية (ص 6 و21-26)؛ وثيقة المهمة الوطنية (ص 5).  الحالة: مقترح تمويل؛ الميزانية والتكاليف النهائية غير محسومة؛ أسعار الدراسة مرجع أولي.</a:t>
            </a:r>
            <a:endParaRPr lang="ar-SA" sz="105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6876288" cy="1143000"/>
          </a:xfrm>
        </p:spPr>
        <p:txBody>
          <a:bodyPr lIns="0" tIns="0" rIns="0" bIns="0" anchor="t"/>
          <a:lstStyle/>
          <a:p>
            <a:pPr algn="r" rtl="1">
              <a:lnSpc>
                <a:spcPts val="4800"/>
              </a:lnSpc>
            </a:pPr>
            <a:r>
              <a:rPr lang="ar-SA" sz="3600" b="1" dirty="0" noProof="1">
                <a:solidFill>
                  <a:srgbClr val="FFFFFF"/>
                </a:solidFill>
                <a:latin typeface="☞DIODRUM ARABIC SEMIBOLD" pitchFamily="2" charset="-78"/>
                <a:cs typeface="☞DIODRUM ARABIC SEMIBOLD" pitchFamily="2" charset="-78"/>
              </a:rPr>
              <a:t>التنفيذ والقياس والتوجيهات</a:t>
            </a:r>
          </a:p>
        </p:txBody>
      </p:sp>
      <p:sp>
        <p:nvSpPr>
          <p:cNvPr id="3" name="رقم القسم"/>
          <p:cNvSpPr/>
          <p:nvPr/>
        </p:nvSpPr>
        <p:spPr>
          <a:xfrm>
            <a:off x="10305288" y="2084832"/>
            <a:ext cx="1051560" cy="1051560"/>
          </a:xfrm>
          <a:prstGeom prst="ellipse">
            <a:avLst/>
          </a:prstGeom>
          <a:solidFill>
            <a:srgbClr val="1CC182"/>
          </a:solidFill>
          <a:ln>
            <a:noFill/>
          </a:ln>
        </p:spPr>
        <p:txBody>
          <a:bodyPr wrap="square" lIns="0" tIns="0" rIns="0" bIns="0" rtlCol="0" anchor="ctr">
            <a:noAutofit/>
          </a:bodyPr>
          <a:lstStyle/>
          <a:p>
            <a:pPr marL="0" indent="0" algn="ctr" rtl="1">
              <a:lnSpc>
                <a:spcPts val="6000"/>
              </a:lnSpc>
              <a:spcBef>
                <a:spcPts val="0"/>
              </a:spcBef>
              <a:spcAft>
                <a:spcPts val="0"/>
              </a:spcAft>
              <a:buNone/>
            </a:pPr>
            <a:r>
              <a:rPr lang="ar-SA" sz="4600" b="1" i="0" dirty="0" noProof="1">
                <a:solidFill>
                  <a:srgbClr val="FFFFFF"/>
                </a:solidFill>
                <a:latin typeface="☞DIODRUM ARABIC SEMIBOLD" pitchFamily="2" charset="-78"/>
                <a:cs typeface="☞DIODRUM ARABIC SEMIBOLD" pitchFamily="2" charset="-78"/>
              </a:rPr>
              <a:t>4</a:t>
            </a:r>
            <a:endParaRPr lang="ar-SA" sz="4600" dirty="0"/>
          </a:p>
        </p:txBody>
      </p:sp>
      <p:sp>
        <p:nvSpPr>
          <p:cNvPr id="4" name="وصف القسم"/>
          <p:cNvSpPr txBox="1"/>
          <p:nvPr/>
        </p:nvSpPr>
        <p:spPr>
          <a:xfrm>
            <a:off x="4480560" y="4498848"/>
            <a:ext cx="6876288" cy="82296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000" b="0" i="0" dirty="0" noProof="1">
                <a:solidFill>
                  <a:srgbClr val="D5D3E8"/>
                </a:solidFill>
                <a:latin typeface="☞DIODRUM ARABIC MEDIUM" pitchFamily="2" charset="-78"/>
                <a:cs typeface="☞DIODRUM ARABIC MEDIUM" pitchFamily="2" charset="-78"/>
              </a:rPr>
              <a:t>خطة العمل، ومؤشرات القياس، والمطلوب من معاليكم</a:t>
            </a:r>
            <a:endParaRPr lang="ar-SA" sz="2000" dirty="0"/>
          </a:p>
        </p:txBody>
      </p:sp>
      <p:sp>
        <p:nvSpPr>
          <p:cNvPr id="5"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خطة العمل التالية تنتج نطاقًا معتمدًا وبرامج قابلة للتسعير والتنفيذ</a:t>
            </a:r>
          </a:p>
        </p:txBody>
      </p:sp>
      <p:sp>
        <p:nvSpPr>
          <p:cNvPr id="3" name="Text Placeholder 2"/>
          <p:cNvSpPr>
            <a:spLocks noGrp="1"/>
          </p:cNvSpPr>
          <p:nvPr>
            <p:ph type="body" idx="13" sz="quarter"/>
          </p:nvPr>
        </p:nvSpPr>
        <p:spPr/>
        <p:txBody>
          <a:bodyPr/>
          <a:lstStyle/>
          <a:p>
            <a:r>
              <a:rPr lang="ar-SA" dirty="0" noProof="1"/>
              <a:t>مراحل مقترحة تبدأ بعد الاتفاق على نطاق العمل وتسمية المسؤولين؛ تُضبط المواعيد بحسب البيانات والتمويل.</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4  ·  التنفيذ والقياس والتوجيهات</a:t>
            </a:r>
            <a:endParaRPr lang="ar-SA" sz="1100" dirty="0"/>
          </a:p>
        </p:txBody>
      </p:sp>
      <p:sp>
        <p:nvSpPr>
          <p:cNvPr id="6" name="مرحلة التأسيس"/>
          <p:cNvSpPr/>
          <p:nvPr/>
        </p:nvSpPr>
        <p:spPr>
          <a:xfrm flipH="1">
            <a:off x="7973568" y="2011680"/>
            <a:ext cx="3383280" cy="603504"/>
          </a:xfrm>
          <a:prstGeom prst="homePlate">
            <a:avLst>
              <a:gd name="adj" fmla="val 32000"/>
            </a:avLst>
          </a:prstGeom>
          <a:solidFill>
            <a:srgbClr val="7C32C9"/>
          </a:solidFill>
          <a:ln>
            <a:noFill/>
          </a:ln>
        </p:spPr>
        <p:txBody>
          <a:bodyPr wrap="square" lIns="347472" tIns="0" rIns="137160" bIns="0" rtlCol="0" anchor="ctr">
            <a:noAutofit/>
          </a:bodyPr>
          <a:lstStyle/>
          <a:p>
            <a:pPr marL="0" indent="0" algn="ctr" rtl="1">
              <a:lnSpc>
                <a:spcPts val="238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التأسيس</a:t>
            </a:r>
            <a:endParaRPr lang="ar-SA" sz="1700" dirty="0"/>
          </a:p>
        </p:txBody>
      </p:sp>
      <p:sp>
        <p:nvSpPr>
          <p:cNvPr id="7" name="عمل التأسيس"/>
          <p:cNvSpPr/>
          <p:nvPr/>
        </p:nvSpPr>
        <p:spPr>
          <a:xfrm>
            <a:off x="7973568" y="2724912"/>
            <a:ext cx="3383280" cy="1298448"/>
          </a:xfrm>
          <a:prstGeom prst="roundRect">
            <a:avLst>
              <a:gd name="adj" fmla="val 9859"/>
            </a:avLst>
          </a:prstGeom>
          <a:solidFill>
            <a:srgbClr val="F5F5F5"/>
          </a:solidFill>
          <a:ln>
            <a:noFill/>
          </a:ln>
        </p:spPr>
        <p:txBody>
          <a:bodyPr wrap="square" lIns="91440" tIns="45720" rIns="91440" bIns="45720" rtlCol="0" anchor="t">
            <a:noAutofit/>
          </a:bodyPr>
          <a:lstStyle/>
          <a:p>
            <a:endParaRPr lang="ar-SA"/>
          </a:p>
        </p:txBody>
      </p:sp>
      <p:sp>
        <p:nvSpPr>
          <p:cNvPr id="8" name="عمل التأسيس نص"/>
          <p:cNvSpPr txBox="1"/>
          <p:nvPr/>
        </p:nvSpPr>
        <p:spPr>
          <a:xfrm>
            <a:off x="8156448" y="2834640"/>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العمل</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توثيق الأدوار، وتأكيد الجهات الخمس ونقاط الاتصال، وإرسال قالب البيانات، وتحديث حصر البرامج والشركاء.</a:t>
            </a:r>
            <a:endParaRPr lang="ar-SA" sz="1400" dirty="0"/>
          </a:p>
        </p:txBody>
      </p:sp>
      <p:sp>
        <p:nvSpPr>
          <p:cNvPr id="9" name="مخرج التأسيس"/>
          <p:cNvSpPr/>
          <p:nvPr/>
        </p:nvSpPr>
        <p:spPr>
          <a:xfrm>
            <a:off x="7973568" y="4096512"/>
            <a:ext cx="3383280" cy="1024128"/>
          </a:xfrm>
          <a:prstGeom prst="roundRect">
            <a:avLst>
              <a:gd name="adj" fmla="val 12500"/>
            </a:avLst>
          </a:prstGeom>
          <a:solidFill>
            <a:srgbClr val="E4F7EF"/>
          </a:solidFill>
          <a:ln>
            <a:noFill/>
          </a:ln>
        </p:spPr>
        <p:txBody>
          <a:bodyPr wrap="square" lIns="91440" tIns="45720" rIns="91440" bIns="45720" rtlCol="0" anchor="t">
            <a:noAutofit/>
          </a:bodyPr>
          <a:lstStyle/>
          <a:p>
            <a:endParaRPr lang="ar-SA"/>
          </a:p>
        </p:txBody>
      </p:sp>
      <p:sp>
        <p:nvSpPr>
          <p:cNvPr id="10" name="مخرج التأسيس نص"/>
          <p:cNvSpPr txBox="1"/>
          <p:nvPr/>
        </p:nvSpPr>
        <p:spPr>
          <a:xfrm>
            <a:off x="8156448" y="4206240"/>
            <a:ext cx="3017520"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E8E5F"/>
                </a:solidFill>
                <a:latin typeface="☞DIODRUM ARABIC SEMIBOLD" pitchFamily="2" charset="-78"/>
                <a:cs typeface="☞DIODRUM ARABIC SEMIBOLD" pitchFamily="2" charset="-78"/>
              </a:rPr>
              <a:t>المخرج القابل للمراجعة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وثيقة نطاق ومسؤوليات؛ وخطة بيانات بملاك ومواعيد؛ وقائمة أولويات أولية.</a:t>
            </a:r>
            <a:endParaRPr lang="ar-SA" sz="1400" dirty="0"/>
          </a:p>
        </p:txBody>
      </p:sp>
      <p:sp>
        <p:nvSpPr>
          <p:cNvPr id="11" name="مرحلة التصميم"/>
          <p:cNvSpPr/>
          <p:nvPr/>
        </p:nvSpPr>
        <p:spPr>
          <a:xfrm flipH="1">
            <a:off x="4407408" y="2011680"/>
            <a:ext cx="3383280" cy="603504"/>
          </a:xfrm>
          <a:prstGeom prst="homePlate">
            <a:avLst>
              <a:gd name="adj" fmla="val 32000"/>
            </a:avLst>
          </a:prstGeom>
          <a:solidFill>
            <a:srgbClr val="00ABAF"/>
          </a:solidFill>
          <a:ln>
            <a:noFill/>
          </a:ln>
        </p:spPr>
        <p:txBody>
          <a:bodyPr wrap="square" lIns="347472" tIns="0" rIns="137160" bIns="0" rtlCol="0" anchor="ctr">
            <a:noAutofit/>
          </a:bodyPr>
          <a:lstStyle/>
          <a:p>
            <a:pPr marL="0" indent="0" algn="ctr" rtl="1">
              <a:lnSpc>
                <a:spcPts val="238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التصميم</a:t>
            </a:r>
            <a:endParaRPr lang="ar-SA" sz="1700" dirty="0"/>
          </a:p>
        </p:txBody>
      </p:sp>
      <p:sp>
        <p:nvSpPr>
          <p:cNvPr id="12" name="عمل التصميم"/>
          <p:cNvSpPr/>
          <p:nvPr/>
        </p:nvSpPr>
        <p:spPr>
          <a:xfrm>
            <a:off x="4407408" y="2724912"/>
            <a:ext cx="3383280" cy="1298448"/>
          </a:xfrm>
          <a:prstGeom prst="roundRect">
            <a:avLst>
              <a:gd name="adj" fmla="val 9859"/>
            </a:avLst>
          </a:prstGeom>
          <a:solidFill>
            <a:srgbClr val="F5F5F5"/>
          </a:solidFill>
          <a:ln>
            <a:noFill/>
          </a:ln>
        </p:spPr>
        <p:txBody>
          <a:bodyPr wrap="square" lIns="91440" tIns="45720" rIns="91440" bIns="45720" rtlCol="0" anchor="t">
            <a:noAutofit/>
          </a:bodyPr>
          <a:lstStyle/>
          <a:p>
            <a:endParaRPr lang="ar-SA"/>
          </a:p>
        </p:txBody>
      </p:sp>
      <p:sp>
        <p:nvSpPr>
          <p:cNvPr id="13" name="عمل التصميم نص"/>
          <p:cNvSpPr txBox="1"/>
          <p:nvPr/>
        </p:nvSpPr>
        <p:spPr>
          <a:xfrm>
            <a:off x="4590288" y="2834640"/>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0ABAF"/>
                </a:solidFill>
                <a:latin typeface="☞DIODRUM ARABIC SEMIBOLD" pitchFamily="2" charset="-78"/>
                <a:cs typeface="☞DIODRUM ARABIC SEMIBOLD" pitchFamily="2" charset="-78"/>
              </a:rPr>
              <a:t>العمل</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تشخيص احتياج الجهات، وتحديد شرائح البرامج، واختيار حالات التطبيق، وتطوير عروض القيادات والمحترفين والوعي.</a:t>
            </a:r>
            <a:endParaRPr lang="ar-SA" sz="1400" dirty="0"/>
          </a:p>
        </p:txBody>
      </p:sp>
      <p:sp>
        <p:nvSpPr>
          <p:cNvPr id="14" name="مخرج التصميم"/>
          <p:cNvSpPr/>
          <p:nvPr/>
        </p:nvSpPr>
        <p:spPr>
          <a:xfrm>
            <a:off x="4407408" y="4096512"/>
            <a:ext cx="3383280" cy="1024128"/>
          </a:xfrm>
          <a:prstGeom prst="roundRect">
            <a:avLst>
              <a:gd name="adj" fmla="val 12500"/>
            </a:avLst>
          </a:prstGeom>
          <a:solidFill>
            <a:srgbClr val="E4F7EF"/>
          </a:solidFill>
          <a:ln>
            <a:noFill/>
          </a:ln>
        </p:spPr>
        <p:txBody>
          <a:bodyPr wrap="square" lIns="91440" tIns="45720" rIns="91440" bIns="45720" rtlCol="0" anchor="t">
            <a:noAutofit/>
          </a:bodyPr>
          <a:lstStyle/>
          <a:p>
            <a:endParaRPr lang="ar-SA"/>
          </a:p>
        </p:txBody>
      </p:sp>
      <p:sp>
        <p:nvSpPr>
          <p:cNvPr id="15" name="مخرج التصميم نص"/>
          <p:cNvSpPr txBox="1"/>
          <p:nvPr/>
        </p:nvSpPr>
        <p:spPr>
          <a:xfrm>
            <a:off x="4590288" y="4206240"/>
            <a:ext cx="3017520"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E8E5F"/>
                </a:solidFill>
                <a:latin typeface="☞DIODRUM ARABIC SEMIBOLD" pitchFamily="2" charset="-78"/>
                <a:cs typeface="☞DIODRUM ARABIC SEMIBOLD" pitchFamily="2" charset="-78"/>
              </a:rPr>
              <a:t>المخرج القابل للمراجعة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حزمة برامج بمخرجات وأعداد وتكاليف ومؤشرات، وخيارات تمويل وجدولة.</a:t>
            </a:r>
            <a:endParaRPr lang="ar-SA" sz="1400" dirty="0"/>
          </a:p>
        </p:txBody>
      </p:sp>
      <p:sp>
        <p:nvSpPr>
          <p:cNvPr id="16" name="مرحلة التجربة والتقييم"/>
          <p:cNvSpPr/>
          <p:nvPr/>
        </p:nvSpPr>
        <p:spPr>
          <a:xfrm flipH="1">
            <a:off x="841248" y="2011680"/>
            <a:ext cx="3383280" cy="603504"/>
          </a:xfrm>
          <a:prstGeom prst="homePlate">
            <a:avLst>
              <a:gd name="adj" fmla="val 32000"/>
            </a:avLst>
          </a:prstGeom>
          <a:solidFill>
            <a:srgbClr val="2A206A"/>
          </a:solidFill>
          <a:ln>
            <a:noFill/>
          </a:ln>
        </p:spPr>
        <p:txBody>
          <a:bodyPr wrap="square" lIns="347472" tIns="0" rIns="137160" bIns="0" rtlCol="0" anchor="ctr">
            <a:noAutofit/>
          </a:bodyPr>
          <a:lstStyle/>
          <a:p>
            <a:pPr marL="0" indent="0" algn="ctr" rtl="1">
              <a:lnSpc>
                <a:spcPts val="238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التجربة والتقييم</a:t>
            </a:r>
            <a:endParaRPr lang="ar-SA" sz="1700" dirty="0"/>
          </a:p>
        </p:txBody>
      </p:sp>
      <p:sp>
        <p:nvSpPr>
          <p:cNvPr id="17" name="عمل التجربة والتقييم"/>
          <p:cNvSpPr/>
          <p:nvPr/>
        </p:nvSpPr>
        <p:spPr>
          <a:xfrm>
            <a:off x="841248" y="2724912"/>
            <a:ext cx="3383280" cy="1298448"/>
          </a:xfrm>
          <a:prstGeom prst="roundRect">
            <a:avLst>
              <a:gd name="adj" fmla="val 9859"/>
            </a:avLst>
          </a:prstGeom>
          <a:solidFill>
            <a:srgbClr val="F5F5F5"/>
          </a:solidFill>
          <a:ln>
            <a:noFill/>
          </a:ln>
        </p:spPr>
        <p:txBody>
          <a:bodyPr wrap="square" lIns="91440" tIns="45720" rIns="91440" bIns="45720" rtlCol="0" anchor="t">
            <a:noAutofit/>
          </a:bodyPr>
          <a:lstStyle/>
          <a:p>
            <a:endParaRPr lang="ar-SA"/>
          </a:p>
        </p:txBody>
      </p:sp>
      <p:sp>
        <p:nvSpPr>
          <p:cNvPr id="18" name="عمل التجربة والتقييم نص"/>
          <p:cNvSpPr txBox="1"/>
          <p:nvPr/>
        </p:nvSpPr>
        <p:spPr>
          <a:xfrm>
            <a:off x="1024128" y="2834640"/>
            <a:ext cx="3017520" cy="10660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7C32C9"/>
                </a:solidFill>
                <a:latin typeface="☞DIODRUM ARABIC SEMIBOLD" pitchFamily="2" charset="-78"/>
                <a:cs typeface="☞DIODRUM ARABIC SEMIBOLD" pitchFamily="2" charset="-78"/>
              </a:rPr>
              <a:t>العمل</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تنفيذ البرامج التي يُعتمد نطاقها وتتوافر متطلباتها، ومتابعة التطبيق داخل الجهات، ثم مراجعة نتائجها.</a:t>
            </a:r>
            <a:endParaRPr lang="ar-SA" sz="1400" dirty="0"/>
          </a:p>
        </p:txBody>
      </p:sp>
      <p:sp>
        <p:nvSpPr>
          <p:cNvPr id="19" name="مخرج التجربة والتقييم"/>
          <p:cNvSpPr/>
          <p:nvPr/>
        </p:nvSpPr>
        <p:spPr>
          <a:xfrm>
            <a:off x="841248" y="4096512"/>
            <a:ext cx="3383280" cy="1024128"/>
          </a:xfrm>
          <a:prstGeom prst="roundRect">
            <a:avLst>
              <a:gd name="adj" fmla="val 12500"/>
            </a:avLst>
          </a:prstGeom>
          <a:solidFill>
            <a:srgbClr val="E4F7EF"/>
          </a:solidFill>
          <a:ln>
            <a:noFill/>
          </a:ln>
        </p:spPr>
        <p:txBody>
          <a:bodyPr wrap="square" lIns="91440" tIns="45720" rIns="91440" bIns="45720" rtlCol="0" anchor="t">
            <a:noAutofit/>
          </a:bodyPr>
          <a:lstStyle/>
          <a:p>
            <a:endParaRPr lang="ar-SA"/>
          </a:p>
        </p:txBody>
      </p:sp>
      <p:sp>
        <p:nvSpPr>
          <p:cNvPr id="20" name="مخرج التجربة والتقييم نص"/>
          <p:cNvSpPr txBox="1"/>
          <p:nvPr/>
        </p:nvSpPr>
        <p:spPr>
          <a:xfrm>
            <a:off x="1024128" y="4206240"/>
            <a:ext cx="3017520" cy="799338"/>
          </a:xfrm>
          <a:prstGeom prst="rect">
            <a:avLst/>
          </a:prstGeom>
          <a:noFill/>
          <a:ln>
            <a:noFill/>
          </a:ln>
        </p:spPr>
        <p:txBody>
          <a:bodyPr wrap="square" lIns="0" tIns="0" rIns="0" bIns="0" rtlCol="0" anchor="t">
            <a:noAutofit/>
          </a:bodyPr>
          <a:lstStyle/>
          <a:p>
            <a:pPr marL="0" indent="0" algn="r" rtl="1">
              <a:lnSpc>
                <a:spcPts val="1950"/>
              </a:lnSpc>
              <a:spcBef>
                <a:spcPts val="0"/>
              </a:spcBef>
              <a:spcAft>
                <a:spcPts val="0"/>
              </a:spcAft>
              <a:buNone/>
            </a:pPr>
            <a:r>
              <a:rPr lang="ar-SA" sz="1300" b="0" i="0" dirty="0" noProof="1">
                <a:solidFill>
                  <a:srgbClr val="0E8E5F"/>
                </a:solidFill>
                <a:latin typeface="☞DIODRUM ARABIC SEMIBOLD" pitchFamily="2" charset="-78"/>
                <a:cs typeface="☞DIODRUM ARABIC SEMIBOLD" pitchFamily="2" charset="-78"/>
              </a:rPr>
              <a:t>المخرج القابل للمراجعة</a:t>
            </a:r>
            <a:endParaRPr lang="ar-SA" sz="1300" dirty="0"/>
          </a:p>
          <a:p>
            <a:pPr marL="0" indent="0" algn="r" rtl="1">
              <a:lnSpc>
                <a:spcPts val="21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نتائج تعلم وتطبيق موثقة؛ وتحسينات على النموذج؛ وتوصية بالتوسع.</a:t>
            </a:r>
            <a:endParaRPr lang="ar-SA" sz="1400" dirty="0"/>
          </a:p>
        </p:txBody>
      </p:sp>
      <p:sp>
        <p:nvSpPr>
          <p:cNvPr id="21" name="الخطة والتحديث القادم"/>
          <p:cNvSpPr/>
          <p:nvPr/>
        </p:nvSpPr>
        <p:spPr>
          <a:xfrm>
            <a:off x="841248" y="5230368"/>
            <a:ext cx="10515600" cy="758952"/>
          </a:xfrm>
          <a:prstGeom prst="roundRect">
            <a:avLst>
              <a:gd name="adj" fmla="val 14457"/>
            </a:avLst>
          </a:prstGeom>
          <a:solidFill>
            <a:srgbClr val="E5F6F6"/>
          </a:solidFill>
          <a:ln>
            <a:noFill/>
          </a:ln>
        </p:spPr>
        <p:txBody>
          <a:bodyPr wrap="square" lIns="91440" tIns="45720" rIns="91440" bIns="45720" rtlCol="0" anchor="t">
            <a:noAutofit/>
          </a:bodyPr>
          <a:lstStyle/>
          <a:p>
            <a:endParaRPr lang="ar-SA"/>
          </a:p>
        </p:txBody>
      </p:sp>
      <p:sp>
        <p:nvSpPr>
          <p:cNvPr id="22" name="دائرة أيقونة"/>
          <p:cNvSpPr/>
          <p:nvPr/>
        </p:nvSpPr>
        <p:spPr>
          <a:xfrm>
            <a:off x="10661904" y="5353812"/>
            <a:ext cx="512064" cy="512064"/>
          </a:xfrm>
          <a:prstGeom prst="ellipse">
            <a:avLst/>
          </a:prstGeom>
          <a:solidFill>
            <a:srgbClr val="FFFFFF"/>
          </a:solidFill>
          <a:ln>
            <a:noFill/>
          </a:ln>
        </p:spPr>
      </p:sp>
      <p:pic>
        <p:nvPicPr>
          <p:cNvPr id="23" name="أيقونة CalendarCheck" descr=""/>
          <p:cNvPicPr>
            <a:picLocks noChangeAspect="1"/>
          </p:cNvPicPr>
          <p:nvPr/>
        </p:nvPicPr>
        <p:blipFill>
          <a:blip r:embed="rId2"/>
          <a:stretch>
            <a:fillRect/>
          </a:stretch>
        </p:blipFill>
        <p:spPr>
          <a:xfrm>
            <a:off x="10779679" y="5471587"/>
            <a:ext cx="276515" cy="276515"/>
          </a:xfrm>
          <a:prstGeom prst="rect">
            <a:avLst/>
          </a:prstGeom>
        </p:spPr>
      </p:pic>
      <p:sp>
        <p:nvSpPr>
          <p:cNvPr id="24" name="الخطة والتحديث القادم نص"/>
          <p:cNvSpPr txBox="1"/>
          <p:nvPr/>
        </p:nvSpPr>
        <p:spPr>
          <a:xfrm>
            <a:off x="1069848" y="5230368"/>
            <a:ext cx="9409176" cy="75895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SEMIBOLD" pitchFamily="2" charset="-78"/>
                <a:cs typeface="☞DIODRUM ARABIC SEMIBOLD" pitchFamily="2" charset="-78"/>
              </a:rPr>
              <a:t>يُقترح تفصيل المراحل في خطة 30 / 60 / 90 يومًا عند اعتماد النطاق.</a:t>
            </a:r>
            <a:br>
              <a:rPr lang="ar-SA" sz="1400" dirty="0"/>
            </a:br>
            <a:r>
              <a:rPr lang="ar-SA" sz="1400" b="0" i="0" dirty="0" noProof="1">
                <a:solidFill>
                  <a:srgbClr val="2A206A"/>
                </a:solidFill>
                <a:latin typeface="☞DIODRUM ARABIC MEDIUM" pitchFamily="2" charset="-78"/>
                <a:cs typeface="☞DIODRUM ARABIC MEDIUM" pitchFamily="2" charset="-78"/>
              </a:rPr>
              <a:t>التحديث القادم للمعالي: مسؤوليات متفق عليها، واحتياج الجهات الأولى، وحزمة البرامج وتكاليفها، وحالة البيانات والتنفيذ.</a:t>
            </a:r>
            <a:endParaRPr lang="ar-SA" sz="1400" dirty="0"/>
          </a:p>
        </p:txBody>
      </p:sp>
      <p:sp>
        <p:nvSpPr>
          <p:cNvPr id="25"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تصور مقترح من قدراتك استنادًا إلى مسودة التحديث ووثيقة المهمة الوطنية.  الحالة: خارطة مقترحة؛ ليست التزامًا زمنيًا أو ماليًا معتمدًا.</a:t>
            </a:r>
            <a:endParaRPr lang="ar-SA" sz="105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نقيس الوصول والتعلم والتطبيق ثم أثر الاستخدام على العمل</a:t>
            </a:r>
          </a:p>
        </p:txBody>
      </p:sp>
      <p:sp>
        <p:nvSpPr>
          <p:cNvPr id="3" name="Text Placeholder 2"/>
          <p:cNvSpPr>
            <a:spLocks noGrp="1"/>
          </p:cNvSpPr>
          <p:nvPr>
            <p:ph type="body" idx="13" sz="quarter"/>
          </p:nvPr>
        </p:nvSpPr>
        <p:spPr/>
        <p:txBody>
          <a:bodyPr/>
          <a:lstStyle/>
          <a:p>
            <a:r>
              <a:rPr lang="ar-SA" dirty="0" noProof="1"/>
              <a:t>نضيف متابعة التطبيق إلى مؤشرات الحضور والرضا الحالية، بمؤشرات مناسبة لكل مسار.</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4  ·  التنفيذ والقياس والتوجيهات</a:t>
            </a:r>
            <a:endParaRPr lang="ar-SA" sz="1100" dirty="0"/>
          </a:p>
        </p:txBody>
      </p:sp>
      <p:sp>
        <p:nvSpPr>
          <p:cNvPr id="6" name="مستوى الوصول"/>
          <p:cNvSpPr/>
          <p:nvPr/>
        </p:nvSpPr>
        <p:spPr>
          <a:xfrm>
            <a:off x="8837676" y="2688336"/>
            <a:ext cx="2519172" cy="2359152"/>
          </a:xfrm>
          <a:prstGeom prst="roundRect">
            <a:avLst>
              <a:gd name="adj" fmla="val 6201"/>
            </a:avLst>
          </a:prstGeom>
          <a:solidFill>
            <a:srgbClr val="F1E9FA"/>
          </a:solidFill>
          <a:ln>
            <a:noFill/>
          </a:ln>
        </p:spPr>
        <p:txBody>
          <a:bodyPr wrap="square" lIns="91440" tIns="45720" rIns="91440" bIns="45720" rtlCol="0" anchor="t">
            <a:noAutofit/>
          </a:bodyPr>
          <a:lstStyle/>
          <a:p>
            <a:endParaRPr lang="ar-SA"/>
          </a:p>
        </p:txBody>
      </p:sp>
      <p:sp>
        <p:nvSpPr>
          <p:cNvPr id="7" name="دائرة أيقونة"/>
          <p:cNvSpPr/>
          <p:nvPr/>
        </p:nvSpPr>
        <p:spPr>
          <a:xfrm>
            <a:off x="10716768" y="2834640"/>
            <a:ext cx="457200" cy="457200"/>
          </a:xfrm>
          <a:prstGeom prst="ellipse">
            <a:avLst/>
          </a:prstGeom>
          <a:solidFill>
            <a:srgbClr val="FFFFFF"/>
          </a:solidFill>
          <a:ln>
            <a:noFill/>
          </a:ln>
        </p:spPr>
      </p:sp>
      <p:pic>
        <p:nvPicPr>
          <p:cNvPr id="8" name="أيقونة Users" descr=""/>
          <p:cNvPicPr>
            <a:picLocks noChangeAspect="1"/>
          </p:cNvPicPr>
          <p:nvPr/>
        </p:nvPicPr>
        <p:blipFill>
          <a:blip r:embed="rId2"/>
          <a:stretch>
            <a:fillRect/>
          </a:stretch>
        </p:blipFill>
        <p:spPr>
          <a:xfrm>
            <a:off x="10817352" y="2935224"/>
            <a:ext cx="256032" cy="256032"/>
          </a:xfrm>
          <a:prstGeom prst="rect">
            <a:avLst/>
          </a:prstGeom>
        </p:spPr>
      </p:pic>
      <p:sp>
        <p:nvSpPr>
          <p:cNvPr id="9" name="عنوان الوصول"/>
          <p:cNvSpPr txBox="1"/>
          <p:nvPr/>
        </p:nvSpPr>
        <p:spPr>
          <a:xfrm>
            <a:off x="9020556" y="2834640"/>
            <a:ext cx="1559052" cy="457200"/>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7C32C9"/>
                </a:solidFill>
                <a:latin typeface="☞DIODRUM ARABIC SEMIBOLD" pitchFamily="2" charset="-78"/>
                <a:cs typeface="☞DIODRUM ARABIC SEMIBOLD" pitchFamily="2" charset="-78"/>
              </a:rPr>
              <a:t>الوصول</a:t>
            </a:r>
            <a:endParaRPr lang="ar-SA" sz="1900" dirty="0"/>
          </a:p>
        </p:txBody>
      </p:sp>
      <p:sp>
        <p:nvSpPr>
          <p:cNvPr id="10" name="نص الوصول"/>
          <p:cNvSpPr txBox="1"/>
          <p:nvPr/>
        </p:nvSpPr>
        <p:spPr>
          <a:xfrm>
            <a:off x="9020556" y="3419856"/>
            <a:ext cx="2153412" cy="1572768"/>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عدد المستفيدين الفريدين، والفئات والجهات التي وصلت إليها البرامج، ونسبة التغطية من المستهدف المحدد.</a:t>
            </a:r>
            <a:endParaRPr lang="ar-SA" sz="1400" dirty="0"/>
          </a:p>
        </p:txBody>
      </p:sp>
      <p:sp>
        <p:nvSpPr>
          <p:cNvPr id="11" name="مستوى التعلم"/>
          <p:cNvSpPr/>
          <p:nvPr/>
        </p:nvSpPr>
        <p:spPr>
          <a:xfrm>
            <a:off x="6172200" y="2432304"/>
            <a:ext cx="2519172" cy="2615184"/>
          </a:xfrm>
          <a:prstGeom prst="roundRect">
            <a:avLst>
              <a:gd name="adj" fmla="val 5807"/>
            </a:avLst>
          </a:prstGeom>
          <a:solidFill>
            <a:srgbClr val="DECBF1"/>
          </a:solidFill>
          <a:ln>
            <a:noFill/>
          </a:ln>
        </p:spPr>
        <p:txBody>
          <a:bodyPr wrap="square" lIns="91440" tIns="45720" rIns="91440" bIns="45720" rtlCol="0" anchor="t">
            <a:noAutofit/>
          </a:bodyPr>
          <a:lstStyle/>
          <a:p>
            <a:endParaRPr lang="ar-SA"/>
          </a:p>
        </p:txBody>
      </p:sp>
      <p:sp>
        <p:nvSpPr>
          <p:cNvPr id="12" name="دائرة أيقونة"/>
          <p:cNvSpPr/>
          <p:nvPr/>
        </p:nvSpPr>
        <p:spPr>
          <a:xfrm>
            <a:off x="8051292" y="2578608"/>
            <a:ext cx="457200" cy="457200"/>
          </a:xfrm>
          <a:prstGeom prst="ellipse">
            <a:avLst/>
          </a:prstGeom>
          <a:solidFill>
            <a:srgbClr val="FFFFFF"/>
          </a:solidFill>
          <a:ln>
            <a:noFill/>
          </a:ln>
        </p:spPr>
      </p:sp>
      <p:pic>
        <p:nvPicPr>
          <p:cNvPr id="13" name="أيقونة BookOpenText" descr=""/>
          <p:cNvPicPr>
            <a:picLocks noChangeAspect="1"/>
          </p:cNvPicPr>
          <p:nvPr/>
        </p:nvPicPr>
        <p:blipFill>
          <a:blip r:embed="rId3"/>
          <a:stretch>
            <a:fillRect/>
          </a:stretch>
        </p:blipFill>
        <p:spPr>
          <a:xfrm>
            <a:off x="8151876" y="2679192"/>
            <a:ext cx="256032" cy="256032"/>
          </a:xfrm>
          <a:prstGeom prst="rect">
            <a:avLst/>
          </a:prstGeom>
        </p:spPr>
      </p:pic>
      <p:sp>
        <p:nvSpPr>
          <p:cNvPr id="14" name="عنوان التعلم"/>
          <p:cNvSpPr txBox="1"/>
          <p:nvPr/>
        </p:nvSpPr>
        <p:spPr>
          <a:xfrm>
            <a:off x="6355080" y="2578608"/>
            <a:ext cx="1559052" cy="457200"/>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7C32C9"/>
                </a:solidFill>
                <a:latin typeface="☞DIODRUM ARABIC SEMIBOLD" pitchFamily="2" charset="-78"/>
                <a:cs typeface="☞DIODRUM ARABIC SEMIBOLD" pitchFamily="2" charset="-78"/>
              </a:rPr>
              <a:t>التعلم</a:t>
            </a:r>
            <a:endParaRPr lang="ar-SA" sz="1900" dirty="0"/>
          </a:p>
        </p:txBody>
      </p:sp>
      <p:sp>
        <p:nvSpPr>
          <p:cNvPr id="15" name="نص التعلم"/>
          <p:cNvSpPr txBox="1"/>
          <p:nvPr/>
        </p:nvSpPr>
        <p:spPr>
          <a:xfrm>
            <a:off x="6355080" y="3163824"/>
            <a:ext cx="2153412" cy="1828800"/>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تقييم القدرة أو المخرج العملي، إلى جانب إكمال التدريب ورضا المشاركين.</a:t>
            </a:r>
            <a:endParaRPr lang="ar-SA" sz="1400" dirty="0"/>
          </a:p>
        </p:txBody>
      </p:sp>
      <p:sp>
        <p:nvSpPr>
          <p:cNvPr id="16" name="مستوى التطبيق"/>
          <p:cNvSpPr/>
          <p:nvPr/>
        </p:nvSpPr>
        <p:spPr>
          <a:xfrm>
            <a:off x="3506724" y="2212848"/>
            <a:ext cx="2519172" cy="2834640"/>
          </a:xfrm>
          <a:prstGeom prst="roundRect">
            <a:avLst>
              <a:gd name="adj" fmla="val 5807"/>
            </a:avLst>
          </a:prstGeom>
          <a:solidFill>
            <a:srgbClr val="BD98E4"/>
          </a:solidFill>
          <a:ln>
            <a:noFill/>
          </a:ln>
        </p:spPr>
        <p:txBody>
          <a:bodyPr wrap="square" lIns="91440" tIns="45720" rIns="91440" bIns="45720" rtlCol="0" anchor="t">
            <a:noAutofit/>
          </a:bodyPr>
          <a:lstStyle/>
          <a:p>
            <a:endParaRPr lang="ar-SA"/>
          </a:p>
        </p:txBody>
      </p:sp>
      <p:sp>
        <p:nvSpPr>
          <p:cNvPr id="17" name="دائرة أيقونة"/>
          <p:cNvSpPr/>
          <p:nvPr/>
        </p:nvSpPr>
        <p:spPr>
          <a:xfrm>
            <a:off x="5385816" y="2359152"/>
            <a:ext cx="457200" cy="457200"/>
          </a:xfrm>
          <a:prstGeom prst="ellipse">
            <a:avLst/>
          </a:prstGeom>
          <a:solidFill>
            <a:srgbClr val="FFFFFF"/>
          </a:solidFill>
          <a:ln>
            <a:noFill/>
          </a:ln>
        </p:spPr>
      </p:sp>
      <p:pic>
        <p:nvPicPr>
          <p:cNvPr id="18" name="أيقونة GearSix" descr=""/>
          <p:cNvPicPr>
            <a:picLocks noChangeAspect="1"/>
          </p:cNvPicPr>
          <p:nvPr/>
        </p:nvPicPr>
        <p:blipFill>
          <a:blip r:embed="rId4"/>
          <a:stretch>
            <a:fillRect/>
          </a:stretch>
        </p:blipFill>
        <p:spPr>
          <a:xfrm>
            <a:off x="5486400" y="2459736"/>
            <a:ext cx="256032" cy="256032"/>
          </a:xfrm>
          <a:prstGeom prst="rect">
            <a:avLst/>
          </a:prstGeom>
        </p:spPr>
      </p:pic>
      <p:sp>
        <p:nvSpPr>
          <p:cNvPr id="19" name="عنوان التطبيق"/>
          <p:cNvSpPr txBox="1"/>
          <p:nvPr/>
        </p:nvSpPr>
        <p:spPr>
          <a:xfrm>
            <a:off x="3689604" y="2359152"/>
            <a:ext cx="1559052" cy="457200"/>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2A206A"/>
                </a:solidFill>
                <a:latin typeface="☞DIODRUM ARABIC SEMIBOLD" pitchFamily="2" charset="-78"/>
                <a:cs typeface="☞DIODRUM ARABIC SEMIBOLD" pitchFamily="2" charset="-78"/>
              </a:rPr>
              <a:t>التطبيق</a:t>
            </a:r>
            <a:endParaRPr lang="ar-SA" sz="1900" dirty="0"/>
          </a:p>
        </p:txBody>
      </p:sp>
      <p:sp>
        <p:nvSpPr>
          <p:cNvPr id="20" name="نص التطبيق"/>
          <p:cNvSpPr txBox="1"/>
          <p:nvPr/>
        </p:nvSpPr>
        <p:spPr>
          <a:xfrm>
            <a:off x="3689604" y="2944368"/>
            <a:ext cx="2153412" cy="2048256"/>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للقيادات قرارات وخطط متابعة؛ وللمحترفين حالات استخدام ومخرجات اختبار؛ ولعموم الموظفين استخدام في مهام مناسبة.</a:t>
            </a:r>
            <a:endParaRPr lang="ar-SA" sz="1400" dirty="0"/>
          </a:p>
        </p:txBody>
      </p:sp>
      <p:sp>
        <p:nvSpPr>
          <p:cNvPr id="21" name="مستوى الأثر"/>
          <p:cNvSpPr/>
          <p:nvPr/>
        </p:nvSpPr>
        <p:spPr>
          <a:xfrm>
            <a:off x="841248" y="2011680"/>
            <a:ext cx="2519172" cy="3035808"/>
          </a:xfrm>
          <a:prstGeom prst="roundRect">
            <a:avLst>
              <a:gd name="adj" fmla="val 5807"/>
            </a:avLst>
          </a:prstGeom>
          <a:solidFill>
            <a:srgbClr val="7C32C9"/>
          </a:solidFill>
          <a:ln>
            <a:noFill/>
          </a:ln>
        </p:spPr>
        <p:txBody>
          <a:bodyPr wrap="square" lIns="91440" tIns="45720" rIns="91440" bIns="45720" rtlCol="0" anchor="t">
            <a:noAutofit/>
          </a:bodyPr>
          <a:lstStyle/>
          <a:p>
            <a:endParaRPr lang="ar-SA"/>
          </a:p>
        </p:txBody>
      </p:sp>
      <p:sp>
        <p:nvSpPr>
          <p:cNvPr id="22" name="دائرة أيقونة"/>
          <p:cNvSpPr/>
          <p:nvPr/>
        </p:nvSpPr>
        <p:spPr>
          <a:xfrm>
            <a:off x="2720340" y="2157984"/>
            <a:ext cx="457200" cy="457200"/>
          </a:xfrm>
          <a:prstGeom prst="ellipse">
            <a:avLst/>
          </a:prstGeom>
          <a:solidFill>
            <a:srgbClr val="FFFFFF"/>
          </a:solidFill>
          <a:ln>
            <a:noFill/>
          </a:ln>
        </p:spPr>
      </p:sp>
      <p:pic>
        <p:nvPicPr>
          <p:cNvPr id="23" name="أيقونة TrendUp" descr=""/>
          <p:cNvPicPr>
            <a:picLocks noChangeAspect="1"/>
          </p:cNvPicPr>
          <p:nvPr/>
        </p:nvPicPr>
        <p:blipFill>
          <a:blip r:embed="rId5"/>
          <a:stretch>
            <a:fillRect/>
          </a:stretch>
        </p:blipFill>
        <p:spPr>
          <a:xfrm>
            <a:off x="2820924" y="2258568"/>
            <a:ext cx="256032" cy="256032"/>
          </a:xfrm>
          <a:prstGeom prst="rect">
            <a:avLst/>
          </a:prstGeom>
        </p:spPr>
      </p:pic>
      <p:sp>
        <p:nvSpPr>
          <p:cNvPr id="24" name="عنوان الأثر"/>
          <p:cNvSpPr txBox="1"/>
          <p:nvPr/>
        </p:nvSpPr>
        <p:spPr>
          <a:xfrm>
            <a:off x="1024128" y="2157984"/>
            <a:ext cx="1559052" cy="457200"/>
          </a:xfrm>
          <a:prstGeom prst="rect">
            <a:avLst/>
          </a:prstGeom>
          <a:noFill/>
          <a:ln>
            <a:noFill/>
          </a:ln>
        </p:spPr>
        <p:txBody>
          <a:bodyPr wrap="square" lIns="0" tIns="0" rIns="0" bIns="0" rtlCol="0" anchor="ctr">
            <a:noAutofit/>
          </a:bodyPr>
          <a:lstStyle/>
          <a:p>
            <a:pPr marL="0" indent="0" algn="r" rtl="1">
              <a:lnSpc>
                <a:spcPts val="2700"/>
              </a:lnSpc>
              <a:spcBef>
                <a:spcPts val="0"/>
              </a:spcBef>
              <a:spcAft>
                <a:spcPts val="0"/>
              </a:spcAft>
              <a:buNone/>
            </a:pPr>
            <a:r>
              <a:rPr lang="ar-SA" sz="1900" b="1" i="0" dirty="0" noProof="1">
                <a:solidFill>
                  <a:srgbClr val="FFFFFF"/>
                </a:solidFill>
                <a:latin typeface="☞DIODRUM ARABIC SEMIBOLD" pitchFamily="2" charset="-78"/>
                <a:cs typeface="☞DIODRUM ARABIC SEMIBOLD" pitchFamily="2" charset="-78"/>
              </a:rPr>
              <a:t>الأثر</a:t>
            </a:r>
            <a:endParaRPr lang="ar-SA" sz="1900" dirty="0"/>
          </a:p>
        </p:txBody>
      </p:sp>
      <p:sp>
        <p:nvSpPr>
          <p:cNvPr id="25" name="نص الأثر"/>
          <p:cNvSpPr txBox="1"/>
          <p:nvPr/>
        </p:nvSpPr>
        <p:spPr>
          <a:xfrm>
            <a:off x="1024128" y="2743200"/>
            <a:ext cx="2153412" cy="2249424"/>
          </a:xfrm>
          <a:prstGeom prst="rect">
            <a:avLst/>
          </a:prstGeom>
          <a:noFill/>
          <a:ln>
            <a:noFill/>
          </a:ln>
        </p:spPr>
        <p:txBody>
          <a:bodyPr wrap="square" lIns="0" tIns="0" rIns="0" bIns="0" rtlCol="0" anchor="t">
            <a:noAutofit/>
          </a:bodyPr>
          <a:lstStyle/>
          <a:p>
            <a:pPr marL="0" indent="0" algn="r" rtl="1">
              <a:lnSpc>
                <a:spcPts val="2000"/>
              </a:lnSpc>
              <a:spcBef>
                <a:spcPts val="0"/>
              </a:spcBef>
              <a:spcAft>
                <a:spcPts val="0"/>
              </a:spcAft>
              <a:buNone/>
            </a:pPr>
            <a:r>
              <a:rPr lang="ar-SA" sz="1400" b="0" i="0" dirty="0" noProof="1">
                <a:solidFill>
                  <a:srgbClr val="FFFFFF"/>
                </a:solidFill>
                <a:latin typeface="☞DIODRUM ARABIC MEDIUM" pitchFamily="2" charset="-78"/>
                <a:cs typeface="☞DIODRUM ARABIC MEDIUM" pitchFamily="2" charset="-78"/>
              </a:rPr>
              <a:t>قياس تغير الوقت أو جودة المخرج أو إعادة العمل في حالة محددة، مع خط أساس ونطاق مقارنة واضحين.</a:t>
            </a:r>
            <a:endParaRPr lang="ar-SA" sz="1400" dirty="0"/>
          </a:p>
        </p:txBody>
      </p:sp>
      <p:sp>
        <p:nvSpPr>
          <p:cNvPr id="26" name="مسؤولية المتابعة"/>
          <p:cNvSpPr/>
          <p:nvPr/>
        </p:nvSpPr>
        <p:spPr>
          <a:xfrm>
            <a:off x="841248" y="5193792"/>
            <a:ext cx="10515600" cy="795528"/>
          </a:xfrm>
          <a:prstGeom prst="roundRect">
            <a:avLst>
              <a:gd name="adj" fmla="val 13793"/>
            </a:avLst>
          </a:prstGeom>
          <a:solidFill>
            <a:srgbClr val="E5F6F6"/>
          </a:solidFill>
          <a:ln>
            <a:noFill/>
          </a:ln>
        </p:spPr>
        <p:txBody>
          <a:bodyPr wrap="square" lIns="91440" tIns="45720" rIns="91440" bIns="45720" rtlCol="0" anchor="t">
            <a:noAutofit/>
          </a:bodyPr>
          <a:lstStyle/>
          <a:p>
            <a:endParaRPr lang="ar-SA"/>
          </a:p>
        </p:txBody>
      </p:sp>
      <p:sp>
        <p:nvSpPr>
          <p:cNvPr id="27" name="دائرة أيقونة"/>
          <p:cNvSpPr/>
          <p:nvPr/>
        </p:nvSpPr>
        <p:spPr>
          <a:xfrm>
            <a:off x="10661904" y="5335524"/>
            <a:ext cx="512064" cy="512064"/>
          </a:xfrm>
          <a:prstGeom prst="ellipse">
            <a:avLst/>
          </a:prstGeom>
          <a:solidFill>
            <a:srgbClr val="FFFFFF"/>
          </a:solidFill>
          <a:ln>
            <a:noFill/>
          </a:ln>
        </p:spPr>
      </p:sp>
      <p:pic>
        <p:nvPicPr>
          <p:cNvPr id="28" name="أيقونة IdentificationBadge" descr=""/>
          <p:cNvPicPr>
            <a:picLocks noChangeAspect="1"/>
          </p:cNvPicPr>
          <p:nvPr/>
        </p:nvPicPr>
        <p:blipFill>
          <a:blip r:embed="rId6"/>
          <a:stretch>
            <a:fillRect/>
          </a:stretch>
        </p:blipFill>
        <p:spPr>
          <a:xfrm>
            <a:off x="10779679" y="5453299"/>
            <a:ext cx="276515" cy="276515"/>
          </a:xfrm>
          <a:prstGeom prst="rect">
            <a:avLst/>
          </a:prstGeom>
        </p:spPr>
      </p:pic>
      <p:sp>
        <p:nvSpPr>
          <p:cNvPr id="29" name="مسؤولية المتابعة نص"/>
          <p:cNvSpPr txBox="1"/>
          <p:nvPr/>
        </p:nvSpPr>
        <p:spPr>
          <a:xfrm>
            <a:off x="1069848" y="5193792"/>
            <a:ext cx="9409176" cy="795528"/>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المسؤولية:  </a:t>
            </a:r>
            <a:r>
              <a:rPr lang="ar-SA" sz="1500" b="0" i="0" dirty="0" noProof="1">
                <a:solidFill>
                  <a:srgbClr val="2A206A"/>
                </a:solidFill>
                <a:latin typeface="☞DIODRUM ARABIC MEDIUM" pitchFamily="2" charset="-78"/>
                <a:cs typeface="☞DIODRUM ARABIC MEDIUM" pitchFamily="2" charset="-78"/>
              </a:rPr>
              <a:t>تسمية مالك للمتابعة داخل كل جهة، وتحديد دور قدراتك والوزارة في تجميع النتائج ومراجعتها ضمن النموذج المتفق عليه.</a:t>
            </a:r>
            <a:endParaRPr lang="ar-SA" sz="1500" dirty="0"/>
          </a:p>
        </p:txBody>
      </p:sp>
      <p:sp>
        <p:nvSpPr>
          <p:cNvPr id="30"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المرجع: وثيقة المهمة الوطنية (ص 2 و3 و7)؛ الدراسة المعيارية (ص 25-26).  الحالة: إطار قياس مقترح؛ لا توجد نتائج أثر إنتاجي شاملة، ولا نذكر مكاسب قبل قياسها.</a:t>
            </a:r>
            <a:endParaRPr lang="ar-SA" sz="10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نرفع أربعة توجيهات لاستكمال العمل المشترك والانتقال إلى التنفيذ</a:t>
            </a:r>
          </a:p>
        </p:txBody>
      </p:sp>
      <p:sp>
        <p:nvSpPr>
          <p:cNvPr id="3" name="Text Placeholder 2"/>
          <p:cNvSpPr>
            <a:spLocks noGrp="1"/>
          </p:cNvSpPr>
          <p:nvPr>
            <p:ph type="body" idx="13" sz="quarter"/>
          </p:nvPr>
        </p:nvSpPr>
        <p:spPr/>
        <p:txBody>
          <a:bodyPr/>
          <a:lstStyle/>
          <a:p>
            <a:r>
              <a:rPr lang="ar-SA" dirty="0" noProof="1"/>
              <a:t>المطلوب من معاليكم دعم مواءمة هذا التصور مع الوزارة، وتحديد دور قدراتك والخطوات التالية.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5F6F6"/>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00ABAF"/>
                </a:solidFill>
                <a:latin typeface="☞DIODRUM ARABIC SEMIBOLD" pitchFamily="2" charset="-78"/>
                <a:cs typeface="☞DIODRUM ARABIC SEMIBOLD" pitchFamily="2" charset="-78"/>
              </a:rPr>
              <a:t>القسم 4  ·  التنفيذ والقياس والتوجيهات</a:t>
            </a:r>
            <a:endParaRPr lang="ar-SA" sz="1100" dirty="0"/>
          </a:p>
        </p:txBody>
      </p:sp>
      <p:sp>
        <p:nvSpPr>
          <p:cNvPr id="6" name="توجيه 1"/>
          <p:cNvSpPr/>
          <p:nvPr/>
        </p:nvSpPr>
        <p:spPr>
          <a:xfrm>
            <a:off x="841248" y="2011680"/>
            <a:ext cx="10515600" cy="768096"/>
          </a:xfrm>
          <a:prstGeom prst="roundRect">
            <a:avLst>
              <a:gd name="adj" fmla="val 16666"/>
            </a:avLst>
          </a:prstGeom>
          <a:solidFill>
            <a:srgbClr val="F5F5F5"/>
          </a:solidFill>
          <a:ln>
            <a:noFill/>
          </a:ln>
        </p:spPr>
        <p:txBody>
          <a:bodyPr wrap="square" lIns="91440" tIns="45720" rIns="91440" bIns="45720" rtlCol="0" anchor="t">
            <a:noAutofit/>
          </a:bodyPr>
          <a:lstStyle/>
          <a:p>
            <a:endParaRPr lang="ar-SA"/>
          </a:p>
        </p:txBody>
      </p:sp>
      <p:sp>
        <p:nvSpPr>
          <p:cNvPr id="7" name="رقم"/>
          <p:cNvSpPr/>
          <p:nvPr/>
        </p:nvSpPr>
        <p:spPr>
          <a:xfrm>
            <a:off x="10588752" y="2112264"/>
            <a:ext cx="566928" cy="566928"/>
          </a:xfrm>
          <a:prstGeom prst="ellipse">
            <a:avLst/>
          </a:prstGeom>
          <a:solidFill>
            <a:srgbClr val="1CC182"/>
          </a:solidFill>
          <a:ln>
            <a:noFill/>
          </a:ln>
        </p:spPr>
        <p:txBody>
          <a:bodyPr wrap="square" lIns="0" tIns="0" rIns="0" bIns="0" rtlCol="0" anchor="ctr">
            <a:noAutofit/>
          </a:bodyPr>
          <a:lstStyle/>
          <a:p>
            <a:pPr marL="0" indent="0" algn="ctr" rtl="1">
              <a:lnSpc>
                <a:spcPts val="2640"/>
              </a:lnSpc>
              <a:spcBef>
                <a:spcPts val="0"/>
              </a:spcBef>
              <a:spcAft>
                <a:spcPts val="0"/>
              </a:spcAft>
              <a:buNone/>
            </a:pPr>
            <a:r>
              <a:rPr lang="ar-SA" sz="2200" b="1" i="0" dirty="0" noProof="1">
                <a:solidFill>
                  <a:srgbClr val="2A206A"/>
                </a:solidFill>
                <a:latin typeface="☞DIODRUM ARABIC SEMIBOLD" pitchFamily="2" charset="-78"/>
                <a:cs typeface="☞DIODRUM ARABIC SEMIBOLD" pitchFamily="2" charset="-78"/>
              </a:rPr>
              <a:t>1</a:t>
            </a:r>
            <a:endParaRPr lang="ar-SA" sz="2200" dirty="0"/>
          </a:p>
        </p:txBody>
      </p:sp>
      <p:sp>
        <p:nvSpPr>
          <p:cNvPr id="8" name="نوع الطلب"/>
          <p:cNvSpPr/>
          <p:nvPr/>
        </p:nvSpPr>
        <p:spPr>
          <a:xfrm>
            <a:off x="9537192" y="2221992"/>
            <a:ext cx="868680" cy="347472"/>
          </a:xfrm>
          <a:prstGeom prst="roundRect">
            <a:avLst>
              <a:gd name="adj" fmla="val 50000"/>
            </a:avLst>
          </a:prstGeom>
          <a:solidFill>
            <a:srgbClr val="7C32C9"/>
          </a:solidFill>
          <a:ln>
            <a:noFill/>
          </a:ln>
        </p:spPr>
        <p:txBody>
          <a:bodyPr wrap="square" lIns="0" tIns="0" rIns="0" bIns="0" rtlCol="0" anchor="ctr">
            <a:noAutofit/>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توجيه</a:t>
            </a:r>
            <a:endParaRPr lang="ar-SA" sz="1400" dirty="0"/>
          </a:p>
        </p:txBody>
      </p:sp>
      <p:sp>
        <p:nvSpPr>
          <p:cNvPr id="9" name="نص 1"/>
          <p:cNvSpPr txBox="1"/>
          <p:nvPr/>
        </p:nvSpPr>
        <p:spPr>
          <a:xfrm>
            <a:off x="1069848" y="2011680"/>
            <a:ext cx="8284464" cy="768096"/>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قدراتك باستكمال توزيع الأدوار مع وزارة الاتصالات وتقنية المعلومات والجهات ذات العلاقة، وتوثيق نطاق مسؤولية الهيئة ومخرجاتها في المسار الحكومي.</a:t>
            </a:r>
            <a:endParaRPr lang="ar-SA" sz="1500" dirty="0"/>
          </a:p>
        </p:txBody>
      </p:sp>
      <p:sp>
        <p:nvSpPr>
          <p:cNvPr id="10" name="توجيه 2"/>
          <p:cNvSpPr/>
          <p:nvPr/>
        </p:nvSpPr>
        <p:spPr>
          <a:xfrm>
            <a:off x="841248" y="2852928"/>
            <a:ext cx="10515600" cy="768096"/>
          </a:xfrm>
          <a:prstGeom prst="roundRect">
            <a:avLst>
              <a:gd name="adj" fmla="val 16666"/>
            </a:avLst>
          </a:prstGeom>
          <a:solidFill>
            <a:srgbClr val="F5F5F5"/>
          </a:solidFill>
          <a:ln>
            <a:noFill/>
          </a:ln>
        </p:spPr>
        <p:txBody>
          <a:bodyPr wrap="square" lIns="91440" tIns="45720" rIns="91440" bIns="45720" rtlCol="0" anchor="t">
            <a:noAutofit/>
          </a:bodyPr>
          <a:lstStyle/>
          <a:p>
            <a:endParaRPr lang="ar-SA"/>
          </a:p>
        </p:txBody>
      </p:sp>
      <p:sp>
        <p:nvSpPr>
          <p:cNvPr id="11" name="رقم"/>
          <p:cNvSpPr/>
          <p:nvPr/>
        </p:nvSpPr>
        <p:spPr>
          <a:xfrm>
            <a:off x="10588752" y="2953512"/>
            <a:ext cx="566928" cy="566928"/>
          </a:xfrm>
          <a:prstGeom prst="ellipse">
            <a:avLst/>
          </a:prstGeom>
          <a:solidFill>
            <a:srgbClr val="1CC182"/>
          </a:solidFill>
          <a:ln>
            <a:noFill/>
          </a:ln>
        </p:spPr>
        <p:txBody>
          <a:bodyPr wrap="square" lIns="0" tIns="0" rIns="0" bIns="0" rtlCol="0" anchor="ctr">
            <a:noAutofit/>
          </a:bodyPr>
          <a:lstStyle/>
          <a:p>
            <a:pPr marL="0" indent="0" algn="ctr" rtl="1">
              <a:lnSpc>
                <a:spcPts val="2640"/>
              </a:lnSpc>
              <a:spcBef>
                <a:spcPts val="0"/>
              </a:spcBef>
              <a:spcAft>
                <a:spcPts val="0"/>
              </a:spcAft>
              <a:buNone/>
            </a:pPr>
            <a:r>
              <a:rPr lang="ar-SA" sz="2200" b="1" i="0" dirty="0" noProof="1">
                <a:solidFill>
                  <a:srgbClr val="2A206A"/>
                </a:solidFill>
                <a:latin typeface="☞DIODRUM ARABIC SEMIBOLD" pitchFamily="2" charset="-78"/>
                <a:cs typeface="☞DIODRUM ARABIC SEMIBOLD" pitchFamily="2" charset="-78"/>
              </a:rPr>
              <a:t>2</a:t>
            </a:r>
            <a:endParaRPr lang="ar-SA" sz="2200" dirty="0"/>
          </a:p>
        </p:txBody>
      </p:sp>
      <p:sp>
        <p:nvSpPr>
          <p:cNvPr id="12" name="نوع الطلب"/>
          <p:cNvSpPr/>
          <p:nvPr/>
        </p:nvSpPr>
        <p:spPr>
          <a:xfrm>
            <a:off x="9537192" y="3063240"/>
            <a:ext cx="868680" cy="347472"/>
          </a:xfrm>
          <a:prstGeom prst="roundRect">
            <a:avLst>
              <a:gd name="adj" fmla="val 50000"/>
            </a:avLst>
          </a:prstGeom>
          <a:solidFill>
            <a:srgbClr val="7C32C9"/>
          </a:solidFill>
          <a:ln>
            <a:noFill/>
          </a:ln>
        </p:spPr>
        <p:txBody>
          <a:bodyPr wrap="square" lIns="0" tIns="0" rIns="0" bIns="0" rtlCol="0" anchor="ctr">
            <a:noAutofit/>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تأييد</a:t>
            </a:r>
            <a:endParaRPr lang="ar-SA" sz="1400" dirty="0"/>
          </a:p>
        </p:txBody>
      </p:sp>
      <p:sp>
        <p:nvSpPr>
          <p:cNvPr id="13" name="نص 2"/>
          <p:cNvSpPr txBox="1"/>
          <p:nvPr/>
        </p:nvSpPr>
        <p:spPr>
          <a:xfrm>
            <a:off x="1069848" y="2852928"/>
            <a:ext cx="8284464" cy="768096"/>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مواءمة نموذج المسارات الثلاثة مع تصنيف الوزارة، مع إطار للحكومة وتنفيذ نوعي متدرج يبدأ بالجهات الخمس ذات الأولوية.</a:t>
            </a:r>
            <a:endParaRPr lang="ar-SA" sz="1500" dirty="0"/>
          </a:p>
        </p:txBody>
      </p:sp>
      <p:sp>
        <p:nvSpPr>
          <p:cNvPr id="14" name="توجيه 3"/>
          <p:cNvSpPr/>
          <p:nvPr/>
        </p:nvSpPr>
        <p:spPr>
          <a:xfrm>
            <a:off x="841248" y="3694176"/>
            <a:ext cx="10515600" cy="768096"/>
          </a:xfrm>
          <a:prstGeom prst="roundRect">
            <a:avLst>
              <a:gd name="adj" fmla="val 16666"/>
            </a:avLst>
          </a:prstGeom>
          <a:solidFill>
            <a:srgbClr val="F5F5F5"/>
          </a:solidFill>
          <a:ln>
            <a:noFill/>
          </a:ln>
        </p:spPr>
        <p:txBody>
          <a:bodyPr wrap="square" lIns="91440" tIns="45720" rIns="91440" bIns="45720" rtlCol="0" anchor="t">
            <a:noAutofit/>
          </a:bodyPr>
          <a:lstStyle/>
          <a:p>
            <a:endParaRPr lang="ar-SA"/>
          </a:p>
        </p:txBody>
      </p:sp>
      <p:sp>
        <p:nvSpPr>
          <p:cNvPr id="15" name="رقم"/>
          <p:cNvSpPr/>
          <p:nvPr/>
        </p:nvSpPr>
        <p:spPr>
          <a:xfrm>
            <a:off x="10588752" y="3794760"/>
            <a:ext cx="566928" cy="566928"/>
          </a:xfrm>
          <a:prstGeom prst="ellipse">
            <a:avLst/>
          </a:prstGeom>
          <a:solidFill>
            <a:srgbClr val="1CC182"/>
          </a:solidFill>
          <a:ln>
            <a:noFill/>
          </a:ln>
        </p:spPr>
        <p:txBody>
          <a:bodyPr wrap="square" lIns="0" tIns="0" rIns="0" bIns="0" rtlCol="0" anchor="ctr">
            <a:noAutofit/>
          </a:bodyPr>
          <a:lstStyle/>
          <a:p>
            <a:pPr marL="0" indent="0" algn="ctr" rtl="1">
              <a:lnSpc>
                <a:spcPts val="2640"/>
              </a:lnSpc>
              <a:spcBef>
                <a:spcPts val="0"/>
              </a:spcBef>
              <a:spcAft>
                <a:spcPts val="0"/>
              </a:spcAft>
              <a:buNone/>
            </a:pPr>
            <a:r>
              <a:rPr lang="ar-SA" sz="2200" b="1" i="0" dirty="0" noProof="1">
                <a:solidFill>
                  <a:srgbClr val="2A206A"/>
                </a:solidFill>
                <a:latin typeface="☞DIODRUM ARABIC SEMIBOLD" pitchFamily="2" charset="-78"/>
                <a:cs typeface="☞DIODRUM ARABIC SEMIBOLD" pitchFamily="2" charset="-78"/>
              </a:rPr>
              <a:t>3</a:t>
            </a:r>
            <a:endParaRPr lang="ar-SA" sz="2200" dirty="0"/>
          </a:p>
        </p:txBody>
      </p:sp>
      <p:sp>
        <p:nvSpPr>
          <p:cNvPr id="16" name="نوع الطلب"/>
          <p:cNvSpPr/>
          <p:nvPr/>
        </p:nvSpPr>
        <p:spPr>
          <a:xfrm>
            <a:off x="9537192" y="3904488"/>
            <a:ext cx="868680" cy="347472"/>
          </a:xfrm>
          <a:prstGeom prst="roundRect">
            <a:avLst>
              <a:gd name="adj" fmla="val 50000"/>
            </a:avLst>
          </a:prstGeom>
          <a:solidFill>
            <a:srgbClr val="7C32C9"/>
          </a:solidFill>
          <a:ln>
            <a:noFill/>
          </a:ln>
        </p:spPr>
        <p:txBody>
          <a:bodyPr wrap="square" lIns="0" tIns="0" rIns="0" bIns="0" rtlCol="0" anchor="ctr">
            <a:noAutofit/>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دعم</a:t>
            </a:r>
            <a:endParaRPr lang="ar-SA" sz="1400" dirty="0"/>
          </a:p>
        </p:txBody>
      </p:sp>
      <p:sp>
        <p:nvSpPr>
          <p:cNvPr id="17" name="نص 3"/>
          <p:cNvSpPr txBox="1"/>
          <p:nvPr/>
        </p:nvSpPr>
        <p:spPr>
          <a:xfrm>
            <a:off x="1069848" y="3694176"/>
            <a:ext cx="8284464" cy="768096"/>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التنسيق مع ملاك بيانات الموظفين والتدريب، وتسمية نقاط اتصال من الجهات الخمس لبناء تشخيص احتياج موثق.</a:t>
            </a:r>
            <a:endParaRPr lang="ar-SA" sz="1500" dirty="0"/>
          </a:p>
        </p:txBody>
      </p:sp>
      <p:sp>
        <p:nvSpPr>
          <p:cNvPr id="18" name="توجيه 4"/>
          <p:cNvSpPr/>
          <p:nvPr/>
        </p:nvSpPr>
        <p:spPr>
          <a:xfrm>
            <a:off x="841248" y="4535424"/>
            <a:ext cx="10515600" cy="768096"/>
          </a:xfrm>
          <a:prstGeom prst="roundRect">
            <a:avLst>
              <a:gd name="adj" fmla="val 16666"/>
            </a:avLst>
          </a:prstGeom>
          <a:solidFill>
            <a:srgbClr val="F5F5F5"/>
          </a:solidFill>
          <a:ln>
            <a:noFill/>
          </a:ln>
        </p:spPr>
        <p:txBody>
          <a:bodyPr wrap="square" lIns="91440" tIns="45720" rIns="91440" bIns="45720" rtlCol="0" anchor="t">
            <a:noAutofit/>
          </a:bodyPr>
          <a:lstStyle/>
          <a:p>
            <a:endParaRPr lang="ar-SA"/>
          </a:p>
        </p:txBody>
      </p:sp>
      <p:sp>
        <p:nvSpPr>
          <p:cNvPr id="19" name="رقم"/>
          <p:cNvSpPr/>
          <p:nvPr/>
        </p:nvSpPr>
        <p:spPr>
          <a:xfrm>
            <a:off x="10588752" y="4636008"/>
            <a:ext cx="566928" cy="566928"/>
          </a:xfrm>
          <a:prstGeom prst="ellipse">
            <a:avLst/>
          </a:prstGeom>
          <a:solidFill>
            <a:srgbClr val="1CC182"/>
          </a:solidFill>
          <a:ln>
            <a:noFill/>
          </a:ln>
        </p:spPr>
        <p:txBody>
          <a:bodyPr wrap="square" lIns="0" tIns="0" rIns="0" bIns="0" rtlCol="0" anchor="ctr">
            <a:noAutofit/>
          </a:bodyPr>
          <a:lstStyle/>
          <a:p>
            <a:pPr marL="0" indent="0" algn="ctr" rtl="1">
              <a:lnSpc>
                <a:spcPts val="2640"/>
              </a:lnSpc>
              <a:spcBef>
                <a:spcPts val="0"/>
              </a:spcBef>
              <a:spcAft>
                <a:spcPts val="0"/>
              </a:spcAft>
              <a:buNone/>
            </a:pPr>
            <a:r>
              <a:rPr lang="ar-SA" sz="2200" b="1" i="0" dirty="0" noProof="1">
                <a:solidFill>
                  <a:srgbClr val="2A206A"/>
                </a:solidFill>
                <a:latin typeface="☞DIODRUM ARABIC SEMIBOLD" pitchFamily="2" charset="-78"/>
                <a:cs typeface="☞DIODRUM ARABIC SEMIBOLD" pitchFamily="2" charset="-78"/>
              </a:rPr>
              <a:t>4</a:t>
            </a:r>
            <a:endParaRPr lang="ar-SA" sz="2200" dirty="0"/>
          </a:p>
        </p:txBody>
      </p:sp>
      <p:sp>
        <p:nvSpPr>
          <p:cNvPr id="20" name="نوع الطلب"/>
          <p:cNvSpPr/>
          <p:nvPr/>
        </p:nvSpPr>
        <p:spPr>
          <a:xfrm>
            <a:off x="9537192" y="4745736"/>
            <a:ext cx="868680" cy="347472"/>
          </a:xfrm>
          <a:prstGeom prst="roundRect">
            <a:avLst>
              <a:gd name="adj" fmla="val 50000"/>
            </a:avLst>
          </a:prstGeom>
          <a:solidFill>
            <a:srgbClr val="7C32C9"/>
          </a:solidFill>
          <a:ln>
            <a:noFill/>
          </a:ln>
        </p:spPr>
        <p:txBody>
          <a:bodyPr wrap="square" lIns="0" tIns="0" rIns="0" bIns="0" rtlCol="0" anchor="ctr">
            <a:noAutofit/>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توجيه</a:t>
            </a:r>
            <a:endParaRPr lang="ar-SA" sz="1400" dirty="0"/>
          </a:p>
        </p:txBody>
      </p:sp>
      <p:sp>
        <p:nvSpPr>
          <p:cNvPr id="21" name="نص 4"/>
          <p:cNvSpPr txBox="1"/>
          <p:nvPr/>
        </p:nvSpPr>
        <p:spPr>
          <a:xfrm>
            <a:off x="1069848" y="4535424"/>
            <a:ext cx="8284464" cy="768096"/>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333333"/>
                </a:solidFill>
                <a:latin typeface="☞DIODRUM ARABIC MEDIUM" pitchFamily="2" charset="-78"/>
                <a:cs typeface="☞DIODRUM ARABIC MEDIUM" pitchFamily="2" charset="-78"/>
              </a:rPr>
              <a:t>قدراتك بتطوير حزمة القيادات والمسارات التطبيقية، ورفع خيارات التكلفة والتمويل والجدولة؛ ليُعتمد التنفيذ على نطاق ومتطلبات واضحة.</a:t>
            </a:r>
            <a:endParaRPr lang="ar-SA" sz="1500" dirty="0"/>
          </a:p>
        </p:txBody>
      </p:sp>
      <p:sp>
        <p:nvSpPr>
          <p:cNvPr id="22" name="ما سنعود به"/>
          <p:cNvSpPr/>
          <p:nvPr/>
        </p:nvSpPr>
        <p:spPr>
          <a:xfrm>
            <a:off x="841248" y="5413248"/>
            <a:ext cx="10515600" cy="576072"/>
          </a:xfrm>
          <a:prstGeom prst="roundRect">
            <a:avLst>
              <a:gd name="adj" fmla="val 19047"/>
            </a:avLst>
          </a:prstGeom>
          <a:solidFill>
            <a:srgbClr val="2A206A"/>
          </a:solidFill>
          <a:ln>
            <a:noFill/>
          </a:ln>
        </p:spPr>
        <p:txBody>
          <a:bodyPr wrap="square" lIns="91440" tIns="45720" rIns="91440" bIns="45720" rtlCol="0" anchor="t">
            <a:noAutofit/>
          </a:bodyPr>
          <a:lstStyle/>
          <a:p>
            <a:endParaRPr lang="ar-SA"/>
          </a:p>
        </p:txBody>
      </p:sp>
      <p:sp>
        <p:nvSpPr>
          <p:cNvPr id="23" name="دائرة أيقونة"/>
          <p:cNvSpPr/>
          <p:nvPr/>
        </p:nvSpPr>
        <p:spPr>
          <a:xfrm>
            <a:off x="10780776" y="5504688"/>
            <a:ext cx="393192" cy="393192"/>
          </a:xfrm>
          <a:prstGeom prst="ellipse">
            <a:avLst/>
          </a:prstGeom>
          <a:solidFill>
            <a:srgbClr val="1CC182"/>
          </a:solidFill>
          <a:ln>
            <a:noFill/>
          </a:ln>
        </p:spPr>
      </p:sp>
      <p:pic>
        <p:nvPicPr>
          <p:cNvPr id="24" name="أيقونة ArrowUUpLeft" descr=""/>
          <p:cNvPicPr>
            <a:picLocks noChangeAspect="1"/>
          </p:cNvPicPr>
          <p:nvPr/>
        </p:nvPicPr>
        <p:blipFill>
          <a:blip r:embed="rId2"/>
          <a:stretch>
            <a:fillRect/>
          </a:stretch>
        </p:blipFill>
        <p:spPr>
          <a:xfrm>
            <a:off x="10871210" y="5595122"/>
            <a:ext cx="212324" cy="212324"/>
          </a:xfrm>
          <a:prstGeom prst="rect">
            <a:avLst/>
          </a:prstGeom>
        </p:spPr>
      </p:pic>
      <p:sp>
        <p:nvSpPr>
          <p:cNvPr id="25" name="ما سنعود به نص"/>
          <p:cNvSpPr txBox="1"/>
          <p:nvPr/>
        </p:nvSpPr>
        <p:spPr>
          <a:xfrm>
            <a:off x="1069848" y="5413248"/>
            <a:ext cx="9528048" cy="57607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سنعود لمعاليكم بـ:  </a:t>
            </a:r>
            <a:r>
              <a:rPr lang="ar-SA" sz="1400" b="0" i="0" dirty="0" noProof="1">
                <a:solidFill>
                  <a:srgbClr val="FFFFFF"/>
                </a:solidFill>
                <a:latin typeface="☞DIODRUM ARABIC MEDIUM" pitchFamily="2" charset="-78"/>
                <a:cs typeface="☞DIODRUM ARABIC MEDIUM" pitchFamily="2" charset="-78"/>
              </a:rPr>
              <a:t>توزيع أدوار متفق عليه، واحتياجات الجهات الأولى، وخيارات برامج وتكلفة وتمويل، ومؤشرات لقياس التطبيق.</a:t>
            </a:r>
            <a:endParaRPr lang="ar-SA" sz="1400" dirty="0"/>
          </a:p>
        </p:txBody>
      </p:sp>
      <p:sp>
        <p:nvSpPr>
          <p:cNvPr id="26"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الحالة: طلبات توجيه مقترحة لمعالي المحافظ؛ واعتماد الأعداد الكبيرة أو الالتزامات المالية مرتبط باستكمال بياناتها ونطاقها.</a:t>
            </a:r>
            <a:endParaRPr lang="ar-SA" sz="105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480560" y="3246120"/>
            <a:ext cx="6876288" cy="1143000"/>
          </a:xfrm>
        </p:spPr>
        <p:txBody>
          <a:bodyPr lIns="0" tIns="0" rIns="0" bIns="0" anchor="t"/>
          <a:lstStyle/>
          <a:p>
            <a:pPr algn="r" rtl="1">
              <a:lnSpc>
                <a:spcPts val="4800"/>
              </a:lnSpc>
            </a:pPr>
            <a:r>
              <a:rPr lang="ar-SA" sz="3600" b="1" dirty="0" noProof="1">
                <a:solidFill>
                  <a:srgbClr val="FFFFFF"/>
                </a:solidFill>
                <a:latin typeface="☞DIODRUM ARABIC SEMIBOLD" pitchFamily="2" charset="-78"/>
                <a:cs typeface="☞DIODRUM ARABIC SEMIBOLD" pitchFamily="2" charset="-78"/>
              </a:rPr>
              <a:t>الملاحق</a:t>
            </a:r>
          </a:p>
        </p:txBody>
      </p:sp>
      <p:sp>
        <p:nvSpPr>
          <p:cNvPr id="3" name="رمز القسم"/>
          <p:cNvSpPr/>
          <p:nvPr/>
        </p:nvSpPr>
        <p:spPr>
          <a:xfrm>
            <a:off x="10305288" y="2084832"/>
            <a:ext cx="1051560" cy="1051560"/>
          </a:xfrm>
          <a:prstGeom prst="ellipse">
            <a:avLst/>
          </a:prstGeom>
          <a:solidFill>
            <a:srgbClr val="1CC182"/>
          </a:solidFill>
          <a:ln>
            <a:noFill/>
          </a:ln>
        </p:spPr>
      </p:sp>
      <p:pic>
        <p:nvPicPr>
          <p:cNvPr id="4" name="أيقونة FolderOpen" descr=""/>
          <p:cNvPicPr>
            <a:picLocks noChangeAspect="1"/>
          </p:cNvPicPr>
          <p:nvPr/>
        </p:nvPicPr>
        <p:blipFill>
          <a:blip r:embed="rId2"/>
          <a:stretch>
            <a:fillRect/>
          </a:stretch>
        </p:blipFill>
        <p:spPr>
          <a:xfrm>
            <a:off x="10579608" y="2359152"/>
            <a:ext cx="502920" cy="502920"/>
          </a:xfrm>
          <a:prstGeom prst="rect">
            <a:avLst/>
          </a:prstGeom>
        </p:spPr>
      </p:pic>
      <p:sp>
        <p:nvSpPr>
          <p:cNvPr id="5" name="وصف القسم"/>
          <p:cNvSpPr txBox="1"/>
          <p:nvPr/>
        </p:nvSpPr>
        <p:spPr>
          <a:xfrm>
            <a:off x="4480560" y="4498848"/>
            <a:ext cx="6876288" cy="822960"/>
          </a:xfrm>
          <a:prstGeom prst="rect">
            <a:avLst/>
          </a:prstGeom>
          <a:noFill/>
          <a:ln>
            <a:noFill/>
          </a:ln>
        </p:spPr>
        <p:txBody>
          <a:bodyPr wrap="square" lIns="0" tIns="0" rIns="0" bIns="0" rtlCol="0" anchor="t">
            <a:noAutofit/>
          </a:bodyPr>
          <a:lstStyle/>
          <a:p>
            <a:pPr marL="0" indent="0" algn="r" rtl="1">
              <a:lnSpc>
                <a:spcPts val="3000"/>
              </a:lnSpc>
              <a:spcBef>
                <a:spcPts val="0"/>
              </a:spcBef>
              <a:spcAft>
                <a:spcPts val="0"/>
              </a:spcAft>
              <a:buNone/>
            </a:pPr>
            <a:r>
              <a:rPr lang="ar-SA" sz="2000" b="0" i="0" dirty="0" noProof="1">
                <a:solidFill>
                  <a:srgbClr val="D5D3E8"/>
                </a:solidFill>
                <a:latin typeface="☞DIODRUM ARABIC MEDIUM" pitchFamily="2" charset="-78"/>
                <a:cs typeface="☞DIODRUM ARABIC MEDIUM" pitchFamily="2" charset="-78"/>
              </a:rPr>
              <a:t>بيانات داعمة، وضبط الأرقام، وإجابات مختصرة، والمراجع</a:t>
            </a:r>
            <a:endParaRPr lang="ar-SA" sz="2000" dirty="0"/>
          </a:p>
        </p:txBody>
      </p:sp>
      <p:sp>
        <p:nvSpPr>
          <p:cNvPr id="6" name="التصنيف"/>
          <p:cNvSpPr txBox="1"/>
          <p:nvPr/>
        </p:nvSpPr>
        <p:spPr>
          <a:xfrm>
            <a:off x="4727448" y="6355080"/>
            <a:ext cx="2743200" cy="329184"/>
          </a:xfrm>
          <a:prstGeom prst="rect">
            <a:avLst/>
          </a:prstGeom>
          <a:noFill/>
          <a:ln>
            <a:noFill/>
          </a:ln>
        </p:spPr>
        <p:txBody>
          <a:bodyPr wrap="square" lIns="0" tIns="0" rIns="0" bIns="0" rtlCol="0" anchor="ctr">
            <a:noAutofit/>
          </a:bodyPr>
          <a:lstStyle/>
          <a:p>
            <a:pPr marL="0" indent="0" algn="ctr" rtl="1">
              <a:lnSpc>
                <a:spcPts val="1600"/>
              </a:lnSpc>
              <a:spcBef>
                <a:spcPts val="0"/>
              </a:spcBef>
              <a:spcAft>
                <a:spcPts val="0"/>
              </a:spcAft>
              <a:buNone/>
            </a:pPr>
            <a:r>
              <a:rPr lang="ar-SA" sz="1200" b="0" i="0" dirty="0" noProof="1">
                <a:solidFill>
                  <a:srgbClr val="1CC182"/>
                </a:solidFill>
                <a:latin typeface="☞DIODRUM ARABIC SEMIBOLD" pitchFamily="2" charset="-78"/>
                <a:cs typeface="☞DIODRUM ARABIC SEMIBOLD" pitchFamily="2" charset="-78"/>
              </a:rPr>
              <a:t>عام - Public</a:t>
            </a:r>
            <a:endParaRPr lang="ar-SA" sz="12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1: طلبات الفريق القائد واستجابة قدراتك</a:t>
            </a:r>
          </a:p>
        </p:txBody>
      </p:sp>
      <p:sp>
        <p:nvSpPr>
          <p:cNvPr id="3" name="Text Placeholder 2"/>
          <p:cNvSpPr>
            <a:spLocks noGrp="1"/>
          </p:cNvSpPr>
          <p:nvPr>
            <p:ph type="body" idx="13" sz="quarter"/>
          </p:nvPr>
        </p:nvSpPr>
        <p:spPr/>
        <p:txBody>
          <a:bodyPr/>
          <a:lstStyle/>
          <a:p>
            <a:r>
              <a:rPr lang="ar-SA" dirty="0" noProof="1"/>
              <a:t>يوضح هذا الملحق ما قُدم بالفعل، وما يحتاج إلى تنسيق إضافي. حالة الردود والبيانات تُحدث قبل الاجتماع.</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1</a:t>
            </a:r>
            <a:endParaRPr lang="ar-SA" sz="1100" dirty="0"/>
          </a:p>
        </p:txBody>
      </p:sp>
      <p:graphicFrame>
        <p:nvGraphicFramePr>
          <p:cNvPr id="6" name="طلبات الفريق القائد"/>
          <p:cNvGraphicFramePr>
            <a:graphicFrameLocks noGrp="1"/>
          </p:cNvGraphicFramePr>
          <p:nvPr/>
        </p:nvGraphicFramePr>
        <p:xfrm>
          <a:off x="841248" y="2011680"/>
          <a:ext cx="10515600" cy="3289808"/>
        </p:xfrm>
        <a:graphic>
          <a:graphicData uri="http://schemas.openxmlformats.org/drawingml/2006/table">
            <a:tbl>
              <a:tblPr firstRow="1"/>
              <a:tblGrid>
                <a:gridCol w="4114800"/>
                <a:gridCol w="4023360"/>
                <a:gridCol w="237744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الخطوة التالية</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ما قدمه قدراتك</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الطلب</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r>
              <a:tr h="90144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مطابقة البرنامج والمستفيد وتاريخ التنفيذ، وتثبيت حالات المقاعد: مستهدف، مقدم، ملتزم، مجدول، منفذ.</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حصر البرامج وأعداد المستفيدين وعروض الشركاء بحسب البيانات المتاحة.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البرامج القائمة والمخططة</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68046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تحديث الردود، وتسمية نقاط اتصال، واعتماد قالب مختصر ومتابعة ضمن التنسيق المشترك.</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التواصل مع 52 جهة لحصر البرامج والمستفيدين؛ لم ترد البيانات بحسب المسودة.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التدريب السابق على مستوى الجهات</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64363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تحديد الفئات ذات الأولوية وتصميم الحزمة وتسعيرها ورفع خيارات التمويل.</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إعداد ومشاركة دراسة معيارية لأربعة مستويات، راجعت 32 برنامجًا وأبرزت 12.</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برامج القيادات</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64363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استكمال بيانات الموظفين من ملاكها؛ وحصر شرائح الجهات الأولى بحسب الأدوار والمهام.</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مشاركة البيانات المتاحة، ومنها سجل 350 من مسؤولي تقنية المعلومات، وتوضيح نطاقها.</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أعداد الشرائح الوظيفية</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bl>
          </a:graphicData>
        </a:graphic>
      </p:graphicFrame>
      <p:sp>
        <p:nvSpPr>
          <p:cNvPr id="7" name="تنبيه سجل مسؤولي التقنية"/>
          <p:cNvSpPr/>
          <p:nvPr/>
        </p:nvSpPr>
        <p:spPr>
          <a:xfrm>
            <a:off x="841248" y="5429504"/>
            <a:ext cx="10515600" cy="559816"/>
          </a:xfrm>
          <a:prstGeom prst="roundRect">
            <a:avLst>
              <a:gd name="adj" fmla="val 19600"/>
            </a:avLst>
          </a:prstGeom>
          <a:solidFill>
            <a:srgbClr val="F1E9FA"/>
          </a:solidFill>
          <a:ln>
            <a:noFill/>
          </a:ln>
        </p:spPr>
        <p:txBody>
          <a:bodyPr wrap="square" lIns="91440" tIns="45720" rIns="91440" bIns="45720" rtlCol="0" anchor="t">
            <a:noAutofit/>
          </a:bodyPr>
          <a:lstStyle/>
          <a:p>
            <a:endParaRPr lang="ar-SA"/>
          </a:p>
        </p:txBody>
      </p:sp>
      <p:sp>
        <p:nvSpPr>
          <p:cNvPr id="8" name="دائرة أيقونة"/>
          <p:cNvSpPr/>
          <p:nvPr/>
        </p:nvSpPr>
        <p:spPr>
          <a:xfrm>
            <a:off x="10797032" y="5520944"/>
            <a:ext cx="376936" cy="376936"/>
          </a:xfrm>
          <a:prstGeom prst="ellipse">
            <a:avLst/>
          </a:prstGeom>
          <a:solidFill>
            <a:srgbClr val="FFFFFF"/>
          </a:solidFill>
          <a:ln>
            <a:noFill/>
          </a:ln>
        </p:spPr>
      </p:sp>
      <p:pic>
        <p:nvPicPr>
          <p:cNvPr id="9" name="أيقونة Warning" descr=""/>
          <p:cNvPicPr>
            <a:picLocks noChangeAspect="1"/>
          </p:cNvPicPr>
          <p:nvPr/>
        </p:nvPicPr>
        <p:blipFill>
          <a:blip r:embed="rId2"/>
          <a:stretch>
            <a:fillRect/>
          </a:stretch>
        </p:blipFill>
        <p:spPr>
          <a:xfrm>
            <a:off x="10883727" y="5607639"/>
            <a:ext cx="203545" cy="203545"/>
          </a:xfrm>
          <a:prstGeom prst="rect">
            <a:avLst/>
          </a:prstGeom>
        </p:spPr>
      </p:pic>
      <p:sp>
        <p:nvSpPr>
          <p:cNvPr id="10" name="تنبيه سجل مسؤولي التقنية نص"/>
          <p:cNvSpPr txBox="1"/>
          <p:nvPr/>
        </p:nvSpPr>
        <p:spPr>
          <a:xfrm>
            <a:off x="1069848" y="5429504"/>
            <a:ext cx="9544304" cy="55981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SEMIBOLD" pitchFamily="2" charset="-78"/>
                <a:cs typeface="☞DIODRUM ARABIC SEMIBOLD" pitchFamily="2" charset="-78"/>
              </a:rPr>
              <a:t>سجل مسؤولي التقنية جزء من البيانات المتاحة، ولا يُستخدم مقامًا لحساب حجم موظفي الحكومة أو قياداتها كافة.</a:t>
            </a:r>
            <a:endParaRPr lang="ar-SA" sz="1400" dirty="0"/>
          </a:p>
        </p:txBody>
      </p:sp>
      <p:sp>
        <p:nvSpPr>
          <p:cNvPr id="1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مسودة التحديث (الشريحة 6)؛ الدراسة المعيارية (ص 3).</a:t>
            </a:r>
            <a:endParaRPr lang="ar-SA" sz="105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2: سجل الاجتماعات الذي يُستكمل من المحاضر</a:t>
            </a:r>
          </a:p>
        </p:txBody>
      </p:sp>
      <p:sp>
        <p:nvSpPr>
          <p:cNvPr id="3" name="Text Placeholder 2"/>
          <p:cNvSpPr>
            <a:spLocks noGrp="1"/>
          </p:cNvSpPr>
          <p:nvPr>
            <p:ph type="body" idx="13" sz="quarter"/>
          </p:nvPr>
        </p:nvSpPr>
        <p:spPr/>
        <p:txBody>
          <a:bodyPr/>
          <a:lstStyle/>
          <a:p>
            <a:r>
              <a:rPr lang="ar-SA" dirty="0" noProof="1"/>
              <a:t>الاجتماعات الخمسة واردة في المسودة؛ تواريخها وتفاصيلها تُستكمل من المحاضر.</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2</a:t>
            </a:r>
            <a:endParaRPr lang="ar-SA" sz="1100" dirty="0"/>
          </a:p>
        </p:txBody>
      </p:sp>
      <p:graphicFrame>
        <p:nvGraphicFramePr>
          <p:cNvPr id="6" name="سجل الاجتماعات"/>
          <p:cNvGraphicFramePr>
            <a:graphicFrameLocks noGrp="1"/>
          </p:cNvGraphicFramePr>
          <p:nvPr/>
        </p:nvGraphicFramePr>
        <p:xfrm>
          <a:off x="841248" y="2011680"/>
          <a:ext cx="10515600" cy="3224022"/>
        </p:xfrm>
        <a:graphic>
          <a:graphicData uri="http://schemas.openxmlformats.org/drawingml/2006/table">
            <a:tbl>
              <a:tblPr firstRow="1"/>
              <a:tblGrid>
                <a:gridCol w="4572000"/>
                <a:gridCol w="4114800"/>
                <a:gridCol w="182880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الموضوع والمخرج</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التاريخ والمشاركون</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الاجتماع</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r>
              <a:tr h="475488">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يُربط بموضوعاته ومخرجاته الفعلية من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يُستكمل من الدعوة أو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الأول</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75488">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يُربط بموضوعاته ومخرجاته الفعلية من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يُستكمل من الدعوة أو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الثاني</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475488">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يُربط بموضوعاته ومخرجاته الفعلية من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يُستكمل من الدعوة أو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الثالث</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75488">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يُربط بموضوعاته ومخرجاته الفعلية من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يُستكمل من الدعوة أو المحضر.</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الرابع</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90144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مناقشة مصادر أعداد الموظفين والبيانات المتاحة؛ والتوجه للتنسيق المباشر مع الجهات الخمس ذات الأولوية.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التاريخ والمشاركون يُستكملان؛ تذكر المسودة مشاركة لجنة رفع الإنتاجية.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175"/>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الخامس</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
        <p:nvSpPr>
          <p:cNvPr id="7" name="ملاحظة 1"/>
          <p:cNvSpPr/>
          <p:nvPr/>
        </p:nvSpPr>
        <p:spPr>
          <a:xfrm>
            <a:off x="6190488" y="5363718"/>
            <a:ext cx="5166360" cy="625602"/>
          </a:xfrm>
          <a:prstGeom prst="roundRect">
            <a:avLst>
              <a:gd name="adj" fmla="val 17539"/>
            </a:avLst>
          </a:prstGeom>
          <a:solidFill>
            <a:srgbClr val="E5F6F6"/>
          </a:solidFill>
          <a:ln>
            <a:noFill/>
          </a:ln>
        </p:spPr>
        <p:txBody>
          <a:bodyPr wrap="square" lIns="91440" tIns="45720" rIns="91440" bIns="45720" rtlCol="0" anchor="t">
            <a:noAutofit/>
          </a:bodyPr>
          <a:lstStyle/>
          <a:p>
            <a:endParaRPr lang="ar-SA"/>
          </a:p>
        </p:txBody>
      </p:sp>
      <p:sp>
        <p:nvSpPr>
          <p:cNvPr id="8" name="دائرة أيقونة"/>
          <p:cNvSpPr/>
          <p:nvPr/>
        </p:nvSpPr>
        <p:spPr>
          <a:xfrm>
            <a:off x="10731246" y="5455158"/>
            <a:ext cx="442722" cy="442722"/>
          </a:xfrm>
          <a:prstGeom prst="ellipse">
            <a:avLst/>
          </a:prstGeom>
          <a:solidFill>
            <a:srgbClr val="FFFFFF"/>
          </a:solidFill>
          <a:ln>
            <a:noFill/>
          </a:ln>
        </p:spPr>
      </p:sp>
      <p:pic>
        <p:nvPicPr>
          <p:cNvPr id="9" name="أيقونة Info" descr=""/>
          <p:cNvPicPr>
            <a:picLocks noChangeAspect="1"/>
          </p:cNvPicPr>
          <p:nvPr/>
        </p:nvPicPr>
        <p:blipFill>
          <a:blip r:embed="rId2"/>
          <a:stretch>
            <a:fillRect/>
          </a:stretch>
        </p:blipFill>
        <p:spPr>
          <a:xfrm>
            <a:off x="10833072" y="5556984"/>
            <a:ext cx="239070" cy="239070"/>
          </a:xfrm>
          <a:prstGeom prst="rect">
            <a:avLst/>
          </a:prstGeom>
        </p:spPr>
      </p:pic>
      <p:sp>
        <p:nvSpPr>
          <p:cNvPr id="10" name="ملاحظة 1 نص"/>
          <p:cNvSpPr txBox="1"/>
          <p:nvPr/>
        </p:nvSpPr>
        <p:spPr>
          <a:xfrm>
            <a:off x="6419088" y="5363718"/>
            <a:ext cx="4129278" cy="62560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لكل مخرج يُضاف: هل هو قرار أم توصية أم إجراء متابعة؟ وما المسؤول والموعد؟</a:t>
            </a:r>
            <a:endParaRPr lang="ar-SA" sz="1400" dirty="0"/>
          </a:p>
        </p:txBody>
      </p:sp>
      <p:sp>
        <p:nvSpPr>
          <p:cNvPr id="11" name="ملاحظة 2"/>
          <p:cNvSpPr/>
          <p:nvPr/>
        </p:nvSpPr>
        <p:spPr>
          <a:xfrm>
            <a:off x="841248" y="5363718"/>
            <a:ext cx="5166360" cy="625602"/>
          </a:xfrm>
          <a:prstGeom prst="roundRect">
            <a:avLst>
              <a:gd name="adj" fmla="val 17539"/>
            </a:avLst>
          </a:prstGeom>
          <a:solidFill>
            <a:srgbClr val="E5F6F6"/>
          </a:solidFill>
          <a:ln>
            <a:noFill/>
          </a:ln>
        </p:spPr>
        <p:txBody>
          <a:bodyPr wrap="square" lIns="91440" tIns="45720" rIns="91440" bIns="45720" rtlCol="0" anchor="t">
            <a:noAutofit/>
          </a:bodyPr>
          <a:lstStyle/>
          <a:p>
            <a:endParaRPr lang="ar-SA"/>
          </a:p>
        </p:txBody>
      </p:sp>
      <p:sp>
        <p:nvSpPr>
          <p:cNvPr id="12" name="دائرة أيقونة"/>
          <p:cNvSpPr/>
          <p:nvPr/>
        </p:nvSpPr>
        <p:spPr>
          <a:xfrm>
            <a:off x="5382006" y="5455158"/>
            <a:ext cx="442722" cy="442722"/>
          </a:xfrm>
          <a:prstGeom prst="ellipse">
            <a:avLst/>
          </a:prstGeom>
          <a:solidFill>
            <a:srgbClr val="FFFFFF"/>
          </a:solidFill>
          <a:ln>
            <a:noFill/>
          </a:ln>
        </p:spPr>
      </p:sp>
      <p:pic>
        <p:nvPicPr>
          <p:cNvPr id="13" name="أيقونة ListNumbers" descr=""/>
          <p:cNvPicPr>
            <a:picLocks noChangeAspect="1"/>
          </p:cNvPicPr>
          <p:nvPr/>
        </p:nvPicPr>
        <p:blipFill>
          <a:blip r:embed="rId3"/>
          <a:stretch>
            <a:fillRect/>
          </a:stretch>
        </p:blipFill>
        <p:spPr>
          <a:xfrm>
            <a:off x="5483832" y="5556984"/>
            <a:ext cx="239070" cy="239070"/>
          </a:xfrm>
          <a:prstGeom prst="rect">
            <a:avLst/>
          </a:prstGeom>
        </p:spPr>
      </p:pic>
      <p:sp>
        <p:nvSpPr>
          <p:cNvPr id="14" name="ملاحظة 2 نص"/>
          <p:cNvSpPr txBox="1"/>
          <p:nvPr/>
        </p:nvSpPr>
        <p:spPr>
          <a:xfrm>
            <a:off x="1069848" y="5363718"/>
            <a:ext cx="4129278" cy="625602"/>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2A206A"/>
                </a:solidFill>
                <a:latin typeface="☞DIODRUM ARABIC MEDIUM" pitchFamily="2" charset="-78"/>
                <a:cs typeface="☞DIODRUM ARABIC MEDIUM" pitchFamily="2" charset="-78"/>
              </a:rPr>
              <a:t>الخمس جهات الحكومية تختلف عن الاجتماعات الخمسة؛ ويُثبت اسما القائمتين كل على حدة.</a:t>
            </a:r>
            <a:endParaRPr lang="ar-SA" sz="1400" dirty="0"/>
          </a:p>
        </p:txBody>
      </p:sp>
      <p:sp>
        <p:nvSpPr>
          <p:cNvPr id="15"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الحالة: عدد الاجتماعات من مسودة التحديث؛ التواريخ والتفاصيل غير متاحة في المرفقات؛ مراحل النقاش الموثقة في الشريحة 6.</a:t>
            </a:r>
            <a:endParaRPr lang="ar-SA" sz="105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3 (1/3): ضبط أرقام قدراتك ونطاق المقارنة</a:t>
            </a:r>
          </a:p>
        </p:txBody>
      </p:sp>
      <p:sp>
        <p:nvSpPr>
          <p:cNvPr id="3" name="Text Placeholder 2"/>
          <p:cNvSpPr>
            <a:spLocks noGrp="1"/>
          </p:cNvSpPr>
          <p:nvPr>
            <p:ph type="body" idx="13" sz="quarter"/>
          </p:nvPr>
        </p:nvSpPr>
        <p:spPr/>
        <p:txBody>
          <a:bodyPr/>
          <a:lstStyle/>
          <a:p>
            <a:r>
              <a:rPr lang="ar-SA" dirty="0" noProof="1"/>
              <a:t>توجد ثلاثة أنواع من الأعداد؛ تُراجع مستقلّة قبل أي تجميع أو مقارنة.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3</a:t>
            </a:r>
            <a:endParaRPr lang="ar-SA" sz="1100" dirty="0"/>
          </a:p>
        </p:txBody>
      </p:sp>
      <p:graphicFrame>
        <p:nvGraphicFramePr>
          <p:cNvPr id="6" name="ضبط أرقام قدراتك"/>
          <p:cNvGraphicFramePr>
            <a:graphicFrameLocks noGrp="1"/>
          </p:cNvGraphicFramePr>
          <p:nvPr/>
        </p:nvGraphicFramePr>
        <p:xfrm>
          <a:off x="841248" y="2011680"/>
          <a:ext cx="10515600" cy="3493516"/>
        </p:xfrm>
        <a:graphic>
          <a:graphicData uri="http://schemas.openxmlformats.org/drawingml/2006/table">
            <a:tbl>
              <a:tblPr firstRow="1"/>
              <a:tblGrid>
                <a:gridCol w="4023360"/>
                <a:gridCol w="4297680"/>
                <a:gridCol w="219456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ما يحتاج إلى تحقق</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معناه في المصدر</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الرقم</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r>
              <a:tr h="115925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تاريخ القطع ونطاق كل رقم، وتكرار الأفراد بين الأرقام الثلاثة؛ لا تُجمع في رقم واحد.</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أرقام الشريحة 7: برامج قدراتك (10 برامج وورشة توعوية)، وشركاء رواد السحابة (23 برنامجًا)، والشركاء المرتبطون بمكتب رفع الإنتاجية (8 برامج وورش عمل).</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465"/>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627 / 770 / 272</a:t>
                      </a:r>
                      <a:endParaRPr lang="ar-SA" sz="17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1182116">
                <a:tc>
                  <a:txBody>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تاريخ القطع ونطاق البرامج وتكرار الأفراد وموقع كل برنامج من المبادرة الحالية.</a:t>
                      </a:r>
                      <a:endParaRPr lang="ar-SA" sz="1400" dirty="0"/>
                    </a:p>
                    <a:p>
                      <a:pPr marL="0" indent="0" algn="r" rtl="1">
                        <a:lnSpc>
                          <a:spcPts val="2000"/>
                        </a:lnSpc>
                        <a:spcBef>
                          <a:spcPts val="300"/>
                        </a:spcBef>
                        <a:spcAft>
                          <a:spcPts val="0"/>
                        </a:spcAft>
                        <a:buNone/>
                      </a:pPr>
                      <a:r>
                        <a:rPr lang="ar-SA" sz="1400" b="0" i="0" dirty="0" noProof="1">
                          <a:solidFill>
                            <a:srgbClr val="7C32C9"/>
                          </a:solidFill>
                          <a:latin typeface="☞DIODRUM ARABIC SEMIBOLD" pitchFamily="2" charset="-78"/>
                          <a:cs typeface="☞DIODRUM ARABIC SEMIBOLD" pitchFamily="2" charset="-78"/>
                        </a:rPr>
                        <a:t>يتعارض 222 مع 272 في الشريحة 7؛ يُحسم الرقم المعتمد قبل العرض.</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8 برامج منفذة، و222 مستفيدًا، و9 برامج مخططة في مسودة قدراتك.</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465"/>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8 / 222 / 9</a:t>
                      </a:r>
                      <a:endParaRPr lang="ar-SA" sz="17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731520">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تحديث الردود وتعريف السجل واكتماله؛ ليست أرقامًا لإجمالي الجهات أو موظفي الحكومة.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جهات جرى التواصل معها؛ وسجل متاح لمسؤولي تقنية المعلومات.</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465"/>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52 / 350</a:t>
                      </a:r>
                      <a:endParaRPr lang="ar-SA" sz="17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
        <p:nvSpPr>
          <p:cNvPr id="7"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مسودة التحديث (الشرائح 4-7)؛ الشريحة 7 من هذا العرض.</a:t>
            </a:r>
            <a:endParaRPr lang="ar-SA" sz="105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3 (2/3): أرقام الشركاء في ملف المتابعة</a:t>
            </a:r>
          </a:p>
        </p:txBody>
      </p:sp>
      <p:sp>
        <p:nvSpPr>
          <p:cNvPr id="3" name="Text Placeholder 2"/>
          <p:cNvSpPr>
            <a:spLocks noGrp="1"/>
          </p:cNvSpPr>
          <p:nvPr>
            <p:ph type="body" idx="13" sz="quarter"/>
          </p:nvPr>
        </p:nvSpPr>
        <p:spPr/>
        <p:txBody>
          <a:bodyPr/>
          <a:lstStyle/>
          <a:p>
            <a:r>
              <a:rPr lang="ar-SA" dirty="0" noProof="1"/>
              <a:t>مستهدفات ومقاعد ومنفذ لكل شريك، كما في ملف متابعة الشركاء وقت إعداده.</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3</a:t>
            </a:r>
            <a:endParaRPr lang="ar-SA" sz="1100" dirty="0"/>
          </a:p>
        </p:txBody>
      </p:sp>
      <p:graphicFrame>
        <p:nvGraphicFramePr>
          <p:cNvPr id="6" name="أرقام الشركاء"/>
          <p:cNvGraphicFramePr>
            <a:graphicFrameLocks noGrp="1"/>
          </p:cNvGraphicFramePr>
          <p:nvPr/>
        </p:nvGraphicFramePr>
        <p:xfrm>
          <a:off x="5230368" y="2011680"/>
          <a:ext cx="6126480" cy="3639312"/>
        </p:xfrm>
        <a:graphic>
          <a:graphicData uri="http://schemas.openxmlformats.org/drawingml/2006/table">
            <a:tbl>
              <a:tblPr firstRow="1"/>
              <a:tblGrid>
                <a:gridCol w="1188720"/>
                <a:gridCol w="1371600"/>
                <a:gridCol w="1554480"/>
                <a:gridCol w="2011680"/>
              </a:tblGrid>
              <a:tr h="420624">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منفذ</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مقاعد مقدمة</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مستهدف سنتين</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الشريك</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r>
              <a:tr h="402336">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69</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85</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260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Microsoft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02336">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33</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40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130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Amazon</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402336">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13</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40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130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SAP</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02336">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500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Google Cloud</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402336">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240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HUMAIN</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02336">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210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PwC</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402336">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5F5F6B"/>
                          </a:solidFill>
                          <a:latin typeface="☞DIODRUM ARABIC MEDIUM" pitchFamily="2" charset="-78"/>
                          <a:cs typeface="☞DIODRUM ARABIC MEDIUM" pitchFamily="2" charset="-78"/>
                        </a:rPr>
                        <a:t>—</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130</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00"/>
                        </a:lnSpc>
                        <a:spcBef>
                          <a:spcPts val="0"/>
                        </a:spcBef>
                        <a:spcAft>
                          <a:spcPts val="0"/>
                        </a:spcAft>
                        <a:buNone/>
                      </a:pPr>
                      <a:r>
                        <a:rPr lang="en-US" sz="1400" b="0" i="0" dirty="0" noProof="1">
                          <a:solidFill>
                            <a:srgbClr val="2A206A"/>
                          </a:solidFill>
                          <a:latin typeface="☞DIODRUM ARABIC SEMIBOLD" pitchFamily="2" charset="-78"/>
                          <a:cs typeface="☞DIODRUM ARABIC SEMIBOLD" pitchFamily="2" charset="-78"/>
                        </a:rPr>
                        <a:t>IBM</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402336">
                <a:tc>
                  <a:txBody>
                    <a:bodyPr/>
                    <a:lstStyle/>
                    <a:p>
                      <a:pPr marL="0" indent="0" algn="ctr" rtl="1">
                        <a:lnSpc>
                          <a:spcPts val="2100"/>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115</a:t>
                      </a:r>
                      <a:endParaRPr lang="ar-SA" sz="15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ECEAF4"/>
                    </a:solidFill>
                  </a:tcPr>
                </a:tc>
                <a:tc>
                  <a:txBody>
                    <a:bodyPr/>
                    <a:lstStyle/>
                    <a:p>
                      <a:pPr marL="0" indent="0" algn="ctr" rtl="1">
                        <a:lnSpc>
                          <a:spcPts val="2100"/>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165</a:t>
                      </a:r>
                      <a:endParaRPr lang="ar-SA" sz="15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ECEAF4"/>
                    </a:solidFill>
                  </a:tcPr>
                </a:tc>
                <a:tc>
                  <a:txBody>
                    <a:bodyPr/>
                    <a:lstStyle/>
                    <a:p>
                      <a:pPr marL="0" indent="0" algn="ctr" rtl="1">
                        <a:lnSpc>
                          <a:spcPts val="2100"/>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1,600</a:t>
                      </a:r>
                      <a:endParaRPr lang="ar-SA" sz="15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ECEAF4"/>
                    </a:solidFill>
                  </a:tcPr>
                </a:tc>
                <a:tc>
                  <a:txBody>
                    <a:bodyPr/>
                    <a:lstStyle/>
                    <a:p>
                      <a:pPr marL="0" indent="0" algn="r" rtl="1">
                        <a:lnSpc>
                          <a:spcPts val="2000"/>
                        </a:lnSpc>
                        <a:spcBef>
                          <a:spcPts val="0"/>
                        </a:spcBef>
                        <a:spcAft>
                          <a:spcPts val="0"/>
                        </a:spcAft>
                        <a:buNone/>
                      </a:pPr>
                      <a:r>
                        <a:rPr lang="ar-SA" sz="1400" b="0" i="0" dirty="0" noProof="1">
                          <a:solidFill>
                            <a:srgbClr val="2A206A"/>
                          </a:solidFill>
                          <a:latin typeface="☞DIODRUM ARABIC SEMIBOLD" pitchFamily="2" charset="-78"/>
                          <a:cs typeface="☞DIODRUM ARABIC SEMIBOLD" pitchFamily="2" charset="-78"/>
                        </a:rPr>
                        <a:t>المجموع</a:t>
                      </a:r>
                      <a:endParaRPr lang="ar-SA" sz="14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ECEAF4"/>
                    </a:solidFill>
                  </a:tcPr>
                </a:tc>
              </a:tr>
            </a:tbl>
          </a:graphicData>
        </a:graphic>
      </p:graphicFrame>
      <p:sp>
        <p:nvSpPr>
          <p:cNvPr id="7" name="ملاحظة 1,600 / 800"/>
          <p:cNvSpPr/>
          <p:nvPr/>
        </p:nvSpPr>
        <p:spPr>
          <a:xfrm>
            <a:off x="841248" y="2011680"/>
            <a:ext cx="4206240" cy="1252728"/>
          </a:xfrm>
          <a:prstGeom prst="roundRect">
            <a:avLst>
              <a:gd name="adj" fmla="val 10218"/>
            </a:avLst>
          </a:prstGeom>
          <a:solidFill>
            <a:srgbClr val="F5F5F5"/>
          </a:solidFill>
          <a:ln>
            <a:noFill/>
          </a:ln>
        </p:spPr>
        <p:txBody>
          <a:bodyPr wrap="square" lIns="91440" tIns="45720" rIns="91440" bIns="45720" rtlCol="0" anchor="t">
            <a:noAutofit/>
          </a:bodyPr>
          <a:lstStyle/>
          <a:p>
            <a:endParaRPr lang="ar-SA"/>
          </a:p>
        </p:txBody>
      </p:sp>
      <p:sp>
        <p:nvSpPr>
          <p:cNvPr id="8" name="نص 1,600 / 800"/>
          <p:cNvSpPr txBox="1"/>
          <p:nvPr/>
        </p:nvSpPr>
        <p:spPr>
          <a:xfrm>
            <a:off x="1024128" y="2048256"/>
            <a:ext cx="3840480" cy="117957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1,600 / 800</a:t>
            </a:r>
            <a:endParaRPr lang="ar-SA" sz="1400" dirty="0"/>
          </a:p>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مستهدف الشركاء على سنتين، ومستهدف 2026 السنوي في ملف المتابعة. توثيق اعتماد المستهدف؛ لا يُعاد وصف 800 كالتزام مؤكد من سبع شركات دون مستندات.</a:t>
            </a:r>
            <a:endParaRPr lang="ar-SA" sz="1300" dirty="0"/>
          </a:p>
        </p:txBody>
      </p:sp>
      <p:sp>
        <p:nvSpPr>
          <p:cNvPr id="9" name="ملاحظة 165 / 115"/>
          <p:cNvSpPr/>
          <p:nvPr/>
        </p:nvSpPr>
        <p:spPr>
          <a:xfrm>
            <a:off x="841248" y="3374136"/>
            <a:ext cx="4206240" cy="1252728"/>
          </a:xfrm>
          <a:prstGeom prst="roundRect">
            <a:avLst>
              <a:gd name="adj" fmla="val 10218"/>
            </a:avLst>
          </a:prstGeom>
          <a:solidFill>
            <a:srgbClr val="F5F5F5"/>
          </a:solidFill>
          <a:ln>
            <a:noFill/>
          </a:ln>
        </p:spPr>
        <p:txBody>
          <a:bodyPr wrap="square" lIns="91440" tIns="45720" rIns="91440" bIns="45720" rtlCol="0" anchor="t">
            <a:noAutofit/>
          </a:bodyPr>
          <a:lstStyle/>
          <a:p>
            <a:endParaRPr lang="ar-SA"/>
          </a:p>
        </p:txBody>
      </p:sp>
      <p:sp>
        <p:nvSpPr>
          <p:cNvPr id="10" name="نص 165 / 115"/>
          <p:cNvSpPr txBox="1"/>
          <p:nvPr/>
        </p:nvSpPr>
        <p:spPr>
          <a:xfrm>
            <a:off x="1024128" y="3410712"/>
            <a:ext cx="3840480" cy="117957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165 / 115</a:t>
            </a:r>
            <a:endParaRPr lang="ar-SA" sz="1400" dirty="0"/>
          </a:p>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مقاعد في البرامج المقدمة، ومستفيدون منفذون ضمن ملف متابعة الشركاء. الالتزامات الفعلية والنطاق والتاريخ؛ والمطابقة مع إجمالي قدراتك قبل أي مقارنة.</a:t>
            </a:r>
            <a:endParaRPr lang="ar-SA" sz="1300" dirty="0"/>
          </a:p>
        </p:txBody>
      </p:sp>
      <p:sp>
        <p:nvSpPr>
          <p:cNvPr id="11" name="ملاحظة قاعدة"/>
          <p:cNvSpPr/>
          <p:nvPr/>
        </p:nvSpPr>
        <p:spPr>
          <a:xfrm>
            <a:off x="841248" y="4736592"/>
            <a:ext cx="4206240" cy="1252728"/>
          </a:xfrm>
          <a:prstGeom prst="roundRect">
            <a:avLst>
              <a:gd name="adj" fmla="val 10218"/>
            </a:avLst>
          </a:prstGeom>
          <a:solidFill>
            <a:srgbClr val="F5F5F5"/>
          </a:solidFill>
          <a:ln>
            <a:noFill/>
          </a:ln>
        </p:spPr>
        <p:txBody>
          <a:bodyPr wrap="square" lIns="91440" tIns="45720" rIns="91440" bIns="45720" rtlCol="0" anchor="t">
            <a:noAutofit/>
          </a:bodyPr>
          <a:lstStyle/>
          <a:p>
            <a:endParaRPr lang="ar-SA"/>
          </a:p>
        </p:txBody>
      </p:sp>
      <p:sp>
        <p:nvSpPr>
          <p:cNvPr id="12" name="نص قاعدة"/>
          <p:cNvSpPr txBox="1"/>
          <p:nvPr/>
        </p:nvSpPr>
        <p:spPr>
          <a:xfrm>
            <a:off x="1024128" y="4773168"/>
            <a:ext cx="3840480" cy="117957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7C32C9"/>
                </a:solidFill>
                <a:latin typeface="☞DIODRUM ARABIC SEMIBOLD" pitchFamily="2" charset="-78"/>
                <a:cs typeface="☞DIODRUM ARABIC SEMIBOLD" pitchFamily="2" charset="-78"/>
              </a:rPr>
              <a:t>قاعدة</a:t>
            </a:r>
            <a:endParaRPr lang="ar-SA" sz="1400" dirty="0"/>
          </a:p>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لا تُجمع 115 مع أرقام قدراتك؛ وقد توجد برامج وأفراد مشتركون. بقية الشركاء ليست لهم برامج مقدمة في الملف وقت إعداده.</a:t>
            </a:r>
            <a:endParaRPr lang="ar-SA" sz="1300" dirty="0"/>
          </a:p>
        </p:txBody>
      </p:sp>
      <p:sp>
        <p:nvSpPr>
          <p:cNvPr id="13"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متابعة الشركاء — النسخة الشاملة (الشرائح 1-6) والمجمعة (الشريحة 1). المجاميع تطابق الشريحة 18.</a:t>
            </a:r>
            <a:endParaRPr lang="ar-SA" sz="105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3 (3/3): ضبط فرضيات الاستهداف</a:t>
            </a:r>
          </a:p>
        </p:txBody>
      </p:sp>
      <p:sp>
        <p:nvSpPr>
          <p:cNvPr id="3" name="Text Placeholder 2"/>
          <p:cNvSpPr>
            <a:spLocks noGrp="1"/>
          </p:cNvSpPr>
          <p:nvPr>
            <p:ph type="body" idx="13" sz="quarter"/>
          </p:nvPr>
        </p:nvSpPr>
        <p:spPr/>
        <p:txBody>
          <a:bodyPr/>
          <a:lstStyle/>
          <a:p>
            <a:r>
              <a:rPr lang="ar-SA" dirty="0" noProof="1"/>
              <a:t>فرضيات طُرحت في النقاش؛ لا تُعامل كمستهدفات معتمدة قبل تثبيت أساسها.</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3</a:t>
            </a:r>
            <a:endParaRPr lang="ar-SA" sz="1100" dirty="0"/>
          </a:p>
        </p:txBody>
      </p:sp>
      <p:graphicFrame>
        <p:nvGraphicFramePr>
          <p:cNvPr id="6" name="ضبط فرضيات الاستهداف"/>
          <p:cNvGraphicFramePr>
            <a:graphicFrameLocks noGrp="1"/>
          </p:cNvGraphicFramePr>
          <p:nvPr/>
        </p:nvGraphicFramePr>
        <p:xfrm>
          <a:off x="841248" y="2011680"/>
          <a:ext cx="10515600" cy="2145030"/>
        </p:xfrm>
        <a:graphic>
          <a:graphicData uri="http://schemas.openxmlformats.org/drawingml/2006/table">
            <a:tbl>
              <a:tblPr firstRow="1"/>
              <a:tblGrid>
                <a:gridCol w="3840480"/>
                <a:gridCol w="4023360"/>
                <a:gridCol w="265176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ما يحتاج إلى تحقق</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معناه في المصدر</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الرقم</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r>
              <a:tr h="822960">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منهجية BCG الأصلية، ومصدر عدد الموظفين ونطاقه وفترة التدريب.</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فرضية استهداف وافتراض لعدد الموظفين وردا في النقاش، بحسب الإفادة.</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465"/>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130,000 / 2.5 مليون</a:t>
                      </a:r>
                      <a:endParaRPr lang="ar-SA" sz="17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901446">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تحديد المقام والتعريف؛ إذا طُبق على 130 ألفًا ينتج 6,500 / 19,500 / 104,000، كتفسير حسابي مشروط فقط.</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توزيع تقريبي متداول على القيادات والخبراء والوعي والتبني.</a:t>
                      </a:r>
                      <a:endParaRPr lang="ar-SA" sz="14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465"/>
                        </a:lnSpc>
                        <a:spcBef>
                          <a:spcPts val="0"/>
                        </a:spcBef>
                        <a:spcAft>
                          <a:spcPts val="0"/>
                        </a:spcAft>
                        <a:buNone/>
                      </a:pPr>
                      <a:r>
                        <a:rPr lang="ar-SA" sz="1700" b="0" i="0" dirty="0" noProof="1">
                          <a:solidFill>
                            <a:srgbClr val="7C32C9"/>
                          </a:solidFill>
                          <a:latin typeface="☞DIODRUM ARABIC SEMIBOLD" pitchFamily="2" charset="-78"/>
                          <a:cs typeface="☞DIODRUM ARABIC SEMIBOLD" pitchFamily="2" charset="-78"/>
                        </a:rPr>
                        <a:t>5% / 15% / 80%</a:t>
                      </a:r>
                      <a:endParaRPr lang="ar-SA" sz="17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bl>
          </a:graphicData>
        </a:graphic>
      </p:graphicFrame>
      <p:sp>
        <p:nvSpPr>
          <p:cNvPr id="7" name="قواعد الضبط"/>
          <p:cNvSpPr/>
          <p:nvPr/>
        </p:nvSpPr>
        <p:spPr>
          <a:xfrm>
            <a:off x="841248" y="4339590"/>
            <a:ext cx="10515600" cy="1463040"/>
          </a:xfrm>
          <a:prstGeom prst="roundRect">
            <a:avLst>
              <a:gd name="adj" fmla="val 8750"/>
            </a:avLst>
          </a:prstGeom>
          <a:solidFill>
            <a:srgbClr val="E5F6F6"/>
          </a:solidFill>
          <a:ln>
            <a:noFill/>
          </a:ln>
        </p:spPr>
        <p:txBody>
          <a:bodyPr wrap="square" lIns="91440" tIns="45720" rIns="91440" bIns="45720" rtlCol="0" anchor="t">
            <a:noAutofit/>
          </a:bodyPr>
          <a:lstStyle/>
          <a:p>
            <a:endParaRPr lang="ar-SA"/>
          </a:p>
        </p:txBody>
      </p:sp>
      <p:sp>
        <p:nvSpPr>
          <p:cNvPr id="8" name="عنوان القواعد"/>
          <p:cNvSpPr txBox="1"/>
          <p:nvPr/>
        </p:nvSpPr>
        <p:spPr>
          <a:xfrm>
            <a:off x="1115568" y="4449318"/>
            <a:ext cx="9966960" cy="310896"/>
          </a:xfrm>
          <a:prstGeom prst="rect">
            <a:avLst/>
          </a:prstGeom>
          <a:noFill/>
          <a:ln>
            <a:noFill/>
          </a:ln>
        </p:spPr>
        <p:txBody>
          <a:bodyPr wrap="square" lIns="0" tIns="0" rIns="0" bIns="0" rtlCol="0" anchor="t">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قواعد لتجنب الخلط عند التجميع</a:t>
            </a:r>
            <a:endParaRPr lang="ar-SA" sz="1600" dirty="0"/>
          </a:p>
        </p:txBody>
      </p:sp>
      <p:sp>
        <p:nvSpPr>
          <p:cNvPr id="9" name="نقطة"/>
          <p:cNvSpPr/>
          <p:nvPr/>
        </p:nvSpPr>
        <p:spPr>
          <a:xfrm>
            <a:off x="10972800" y="4924806"/>
            <a:ext cx="109728" cy="109728"/>
          </a:xfrm>
          <a:prstGeom prst="ellipse">
            <a:avLst/>
          </a:prstGeom>
          <a:solidFill>
            <a:srgbClr val="00ABAF"/>
          </a:solidFill>
          <a:ln>
            <a:noFill/>
          </a:ln>
        </p:spPr>
      </p:sp>
      <p:sp>
        <p:nvSpPr>
          <p:cNvPr id="10" name="قاعدة"/>
          <p:cNvSpPr txBox="1"/>
          <p:nvPr/>
        </p:nvSpPr>
        <p:spPr>
          <a:xfrm>
            <a:off x="1115568" y="4842510"/>
            <a:ext cx="9692640" cy="292608"/>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لا تُجمع 115 و222؛ وقد توجد برامج وأفراد مشتركون.</a:t>
            </a:r>
            <a:endParaRPr lang="ar-SA" sz="1400" dirty="0"/>
          </a:p>
        </p:txBody>
      </p:sp>
      <p:sp>
        <p:nvSpPr>
          <p:cNvPr id="11" name="نقطة"/>
          <p:cNvSpPr/>
          <p:nvPr/>
        </p:nvSpPr>
        <p:spPr>
          <a:xfrm>
            <a:off x="10972800" y="5290566"/>
            <a:ext cx="109728" cy="109728"/>
          </a:xfrm>
          <a:prstGeom prst="ellipse">
            <a:avLst/>
          </a:prstGeom>
          <a:solidFill>
            <a:srgbClr val="00ABAF"/>
          </a:solidFill>
          <a:ln>
            <a:noFill/>
          </a:ln>
        </p:spPr>
      </p:sp>
      <p:sp>
        <p:nvSpPr>
          <p:cNvPr id="12" name="قاعدة"/>
          <p:cNvSpPr txBox="1"/>
          <p:nvPr/>
        </p:nvSpPr>
        <p:spPr>
          <a:xfrm>
            <a:off x="1115568" y="5208270"/>
            <a:ext cx="9692640" cy="292608"/>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لا تُجمع الجهات المستفيدة من برامج مختلفة لاستخراج عدد جهات فريد.</a:t>
            </a:r>
            <a:endParaRPr lang="ar-SA" sz="1400" dirty="0"/>
          </a:p>
        </p:txBody>
      </p:sp>
      <p:sp>
        <p:nvSpPr>
          <p:cNvPr id="13"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إفادة محمد العُمري عن النقاش مع BCG والوزارة. لا تتوفر منهجية BCG الأصلية ضمن المرفقات.</a:t>
            </a:r>
            <a:endParaRPr lang="ar-SA" sz="105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4: أمثلة البرامج القيادية المنفذة</a:t>
            </a:r>
          </a:p>
        </p:txBody>
      </p:sp>
      <p:sp>
        <p:nvSpPr>
          <p:cNvPr id="3" name="Text Placeholder 2"/>
          <p:cNvSpPr>
            <a:spLocks noGrp="1"/>
          </p:cNvSpPr>
          <p:nvPr>
            <p:ph type="body" idx="13" sz="quarter"/>
          </p:nvPr>
        </p:nvSpPr>
        <p:spPr/>
        <p:txBody>
          <a:bodyPr/>
          <a:lstStyle/>
          <a:p>
            <a:r>
              <a:rPr lang="ar-SA" dirty="0" noProof="1"/>
              <a:t>كما في مسودة تحديث قدراتك؛ يحتاج ربطها بالمبادرة الحالية وتواريخها إلى المطابقة.</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4</a:t>
            </a:r>
            <a:endParaRPr lang="ar-SA" sz="1100" dirty="0"/>
          </a:p>
        </p:txBody>
      </p:sp>
      <p:graphicFrame>
        <p:nvGraphicFramePr>
          <p:cNvPr id="6" name="برامج القيادات المنفذة"/>
          <p:cNvGraphicFramePr>
            <a:graphicFrameLocks noGrp="1"/>
          </p:cNvGraphicFramePr>
          <p:nvPr/>
        </p:nvGraphicFramePr>
        <p:xfrm>
          <a:off x="841248" y="2011680"/>
          <a:ext cx="10515600" cy="2560320"/>
        </p:xfrm>
        <a:graphic>
          <a:graphicData uri="http://schemas.openxmlformats.org/drawingml/2006/table">
            <a:tbl>
              <a:tblPr firstRow="1"/>
              <a:tblGrid>
                <a:gridCol w="1737360"/>
                <a:gridCol w="1828800"/>
                <a:gridCol w="1828800"/>
                <a:gridCol w="5120640"/>
              </a:tblGrid>
              <a:tr h="420624">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الرضا</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الجهات</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ct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المستفيدون</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0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البرنامج</a:t>
                      </a:r>
                      <a:endParaRPr lang="ar-SA" sz="1400" dirty="0"/>
                    </a:p>
                  </a:txBody>
                  <a:tcPr marL="128016" marR="128016" marT="64008" marB="64008" anchor="ctr">
                    <a:lnL w="0">
                      <a:noFill/>
                    </a:lnL>
                    <a:lnR w="0">
                      <a:noFill/>
                    </a:lnR>
                    <a:lnT w="0">
                      <a:noFill/>
                    </a:lnT>
                    <a:lnB w="9525" cap="flat" cmpd="sng" algn="ctr">
                      <a:solidFill>
                        <a:srgbClr val="E2E4EA"/>
                      </a:solidFill>
                      <a:prstDash val="solid"/>
                    </a:lnB>
                    <a:solidFill>
                      <a:srgbClr val="00ABAF"/>
                    </a:solidFill>
                  </a:tcPr>
                </a:tc>
              </a:tr>
              <a:tr h="713232">
                <a:tc>
                  <a:txBody>
                    <a:bodyPr/>
                    <a:lstStyle/>
                    <a:p>
                      <a:pPr marL="0" indent="0" algn="ctr" rtl="1">
                        <a:lnSpc>
                          <a:spcPts val="3000"/>
                        </a:lnSpc>
                        <a:spcBef>
                          <a:spcPts val="0"/>
                        </a:spcBef>
                        <a:spcAft>
                          <a:spcPts val="0"/>
                        </a:spcAft>
                        <a:buNone/>
                      </a:pPr>
                      <a:r>
                        <a:rPr lang="ar-SA" sz="2200" b="0" i="0" dirty="0" noProof="1">
                          <a:solidFill>
                            <a:srgbClr val="00ABAF"/>
                          </a:solidFill>
                          <a:latin typeface="☞DIODRUM ARABIC SEMIBOLD" pitchFamily="2" charset="-78"/>
                          <a:cs typeface="☞DIODRUM ARABIC SEMIBOLD" pitchFamily="2" charset="-78"/>
                        </a:rPr>
                        <a:t>96%</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18</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23</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0"/>
                        </a:spcAft>
                        <a:buNone/>
                      </a:pPr>
                      <a:r>
                        <a:rPr lang="en-US" sz="1500" b="0" i="0" dirty="0" noProof="1">
                          <a:solidFill>
                            <a:srgbClr val="2A206A"/>
                          </a:solidFill>
                          <a:latin typeface="☞DIODRUM ARABIC SEMIBOLD" pitchFamily="2" charset="-78"/>
                          <a:cs typeface="☞DIODRUM ARABIC SEMIBOLD" pitchFamily="2" charset="-78"/>
                        </a:rPr>
                        <a:t>Microsoft AI Global Leadership Program 1</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713232">
                <a:tc>
                  <a:txBody>
                    <a:bodyPr/>
                    <a:lstStyle/>
                    <a:p>
                      <a:pPr marL="0" indent="0" algn="ctr" rtl="1">
                        <a:lnSpc>
                          <a:spcPts val="3000"/>
                        </a:lnSpc>
                        <a:spcBef>
                          <a:spcPts val="0"/>
                        </a:spcBef>
                        <a:spcAft>
                          <a:spcPts val="0"/>
                        </a:spcAft>
                        <a:buNone/>
                      </a:pPr>
                      <a:r>
                        <a:rPr lang="ar-SA" sz="2200" b="0" i="0" dirty="0" noProof="1">
                          <a:solidFill>
                            <a:srgbClr val="00ABAF"/>
                          </a:solidFill>
                          <a:latin typeface="☞DIODRUM ARABIC SEMIBOLD" pitchFamily="2" charset="-78"/>
                          <a:cs typeface="☞DIODRUM ARABIC SEMIBOLD" pitchFamily="2" charset="-78"/>
                        </a:rPr>
                        <a:t>92%</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13</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15</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200"/>
                        </a:lnSpc>
                        <a:spcBef>
                          <a:spcPts val="0"/>
                        </a:spcBef>
                        <a:spcAft>
                          <a:spcPts val="0"/>
                        </a:spcAft>
                        <a:buNone/>
                      </a:pPr>
                      <a:r>
                        <a:rPr lang="en-US" sz="1500" b="0" i="0" dirty="0" noProof="1">
                          <a:solidFill>
                            <a:srgbClr val="2A206A"/>
                          </a:solidFill>
                          <a:latin typeface="☞DIODRUM ARABIC SEMIBOLD" pitchFamily="2" charset="-78"/>
                          <a:cs typeface="☞DIODRUM ARABIC SEMIBOLD" pitchFamily="2" charset="-78"/>
                        </a:rPr>
                        <a:t>Microsoft AI Global Leadership Program 2</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713232">
                <a:tc>
                  <a:txBody>
                    <a:bodyPr/>
                    <a:lstStyle/>
                    <a:p>
                      <a:pPr marL="0" indent="0" algn="ctr" rtl="1">
                        <a:lnSpc>
                          <a:spcPts val="3000"/>
                        </a:lnSpc>
                        <a:spcBef>
                          <a:spcPts val="0"/>
                        </a:spcBef>
                        <a:spcAft>
                          <a:spcPts val="0"/>
                        </a:spcAft>
                        <a:buNone/>
                      </a:pPr>
                      <a:r>
                        <a:rPr lang="ar-SA" sz="2200" b="0" i="0" dirty="0" noProof="1">
                          <a:solidFill>
                            <a:srgbClr val="00ABAF"/>
                          </a:solidFill>
                          <a:latin typeface="☞DIODRUM ARABIC SEMIBOLD" pitchFamily="2" charset="-78"/>
                          <a:cs typeface="☞DIODRUM ARABIC SEMIBOLD" pitchFamily="2" charset="-78"/>
                        </a:rPr>
                        <a:t>86%</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30</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3000"/>
                        </a:lnSpc>
                        <a:spcBef>
                          <a:spcPts val="0"/>
                        </a:spcBef>
                        <a:spcAft>
                          <a:spcPts val="0"/>
                        </a:spcAft>
                        <a:buNone/>
                      </a:pPr>
                      <a:r>
                        <a:rPr lang="ar-SA" sz="2200" b="0" i="0" dirty="0" noProof="1">
                          <a:solidFill>
                            <a:srgbClr val="7C32C9"/>
                          </a:solidFill>
                          <a:latin typeface="☞DIODRUM ARABIC SEMIBOLD" pitchFamily="2" charset="-78"/>
                          <a:cs typeface="☞DIODRUM ARABIC SEMIBOLD" pitchFamily="2" charset="-78"/>
                        </a:rPr>
                        <a:t>33</a:t>
                      </a:r>
                      <a:endParaRPr lang="ar-SA" sz="22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0"/>
                        </a:spcAft>
                        <a:buNone/>
                      </a:pPr>
                      <a:r>
                        <a:rPr lang="ar-SA" sz="1500" b="0" i="0" dirty="0" noProof="1">
                          <a:solidFill>
                            <a:srgbClr val="2A206A"/>
                          </a:solidFill>
                          <a:latin typeface="☞DIODRUM ARABIC SEMIBOLD" pitchFamily="2" charset="-78"/>
                          <a:cs typeface="☞DIODRUM ARABIC SEMIBOLD" pitchFamily="2" charset="-78"/>
                        </a:rPr>
                        <a:t>الذكاء الاصطناعي التوليدي للتنفيذيين</a:t>
                      </a:r>
                      <a:endParaRPr lang="ar-SA" sz="1500" dirty="0"/>
                    </a:p>
                  </a:txBody>
                  <a:tcPr marL="128016" marR="128016" marT="64008" marB="64008"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
        <p:nvSpPr>
          <p:cNvPr id="7" name="ملاحظة نسب الرضا"/>
          <p:cNvSpPr/>
          <p:nvPr/>
        </p:nvSpPr>
        <p:spPr>
          <a:xfrm>
            <a:off x="6190488" y="4754880"/>
            <a:ext cx="5166360" cy="1234440"/>
          </a:xfrm>
          <a:prstGeom prst="roundRect">
            <a:avLst>
              <a:gd name="adj" fmla="val 10370"/>
            </a:avLst>
          </a:prstGeom>
          <a:solidFill>
            <a:srgbClr val="F5F5F5"/>
          </a:solidFill>
          <a:ln>
            <a:noFill/>
          </a:ln>
        </p:spPr>
        <p:txBody>
          <a:bodyPr wrap="square" lIns="91440" tIns="45720" rIns="91440" bIns="45720" rtlCol="0" anchor="t">
            <a:noAutofit/>
          </a:bodyPr>
          <a:lstStyle/>
          <a:p>
            <a:endParaRPr lang="ar-SA"/>
          </a:p>
        </p:txBody>
      </p:sp>
      <p:sp>
        <p:nvSpPr>
          <p:cNvPr id="8" name="دائرة أيقونة"/>
          <p:cNvSpPr/>
          <p:nvPr/>
        </p:nvSpPr>
        <p:spPr>
          <a:xfrm>
            <a:off x="10661904" y="4901184"/>
            <a:ext cx="512064" cy="512064"/>
          </a:xfrm>
          <a:prstGeom prst="ellipse">
            <a:avLst/>
          </a:prstGeom>
          <a:solidFill>
            <a:srgbClr val="E5F6F6"/>
          </a:solidFill>
          <a:ln>
            <a:noFill/>
          </a:ln>
        </p:spPr>
      </p:sp>
      <p:pic>
        <p:nvPicPr>
          <p:cNvPr id="9" name="أيقونة Gauge" descr=""/>
          <p:cNvPicPr>
            <a:picLocks noChangeAspect="1"/>
          </p:cNvPicPr>
          <p:nvPr/>
        </p:nvPicPr>
        <p:blipFill>
          <a:blip r:embed="rId2"/>
          <a:stretch>
            <a:fillRect/>
          </a:stretch>
        </p:blipFill>
        <p:spPr>
          <a:xfrm>
            <a:off x="10779679" y="5018959"/>
            <a:ext cx="276515" cy="276515"/>
          </a:xfrm>
          <a:prstGeom prst="rect">
            <a:avLst/>
          </a:prstGeom>
        </p:spPr>
      </p:pic>
      <p:sp>
        <p:nvSpPr>
          <p:cNvPr id="10" name="نص نسب الرضا"/>
          <p:cNvSpPr txBox="1"/>
          <p:nvPr/>
        </p:nvSpPr>
        <p:spPr>
          <a:xfrm>
            <a:off x="6373368" y="4846320"/>
            <a:ext cx="4151376" cy="1051560"/>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نسب الرضا</a:t>
            </a:r>
            <a:endParaRPr lang="ar-SA" sz="1500" dirty="0"/>
          </a:p>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مؤشرات لتجربة المشاركين. أثر البرامج على الأداء أو الإنتاجية يحتاج متابعة تطبيق مستقلة.</a:t>
            </a:r>
            <a:endParaRPr lang="ar-SA" sz="1400" dirty="0"/>
          </a:p>
        </p:txBody>
      </p:sp>
      <p:sp>
        <p:nvSpPr>
          <p:cNvPr id="11" name="ملاحظة برامج 2026"/>
          <p:cNvSpPr/>
          <p:nvPr/>
        </p:nvSpPr>
        <p:spPr>
          <a:xfrm>
            <a:off x="841248" y="4754880"/>
            <a:ext cx="5166360" cy="1234440"/>
          </a:xfrm>
          <a:prstGeom prst="roundRect">
            <a:avLst>
              <a:gd name="adj" fmla="val 10370"/>
            </a:avLst>
          </a:prstGeom>
          <a:solidFill>
            <a:srgbClr val="F5F5F5"/>
          </a:solidFill>
          <a:ln>
            <a:noFill/>
          </a:ln>
        </p:spPr>
        <p:txBody>
          <a:bodyPr wrap="square" lIns="91440" tIns="45720" rIns="91440" bIns="45720" rtlCol="0" anchor="t">
            <a:noAutofit/>
          </a:bodyPr>
          <a:lstStyle/>
          <a:p>
            <a:endParaRPr lang="ar-SA"/>
          </a:p>
        </p:txBody>
      </p:sp>
      <p:sp>
        <p:nvSpPr>
          <p:cNvPr id="12" name="دائرة أيقونة"/>
          <p:cNvSpPr/>
          <p:nvPr/>
        </p:nvSpPr>
        <p:spPr>
          <a:xfrm>
            <a:off x="5312664" y="4901184"/>
            <a:ext cx="512064" cy="512064"/>
          </a:xfrm>
          <a:prstGeom prst="ellipse">
            <a:avLst/>
          </a:prstGeom>
          <a:solidFill>
            <a:srgbClr val="E5F6F6"/>
          </a:solidFill>
          <a:ln>
            <a:noFill/>
          </a:ln>
        </p:spPr>
      </p:sp>
      <p:pic>
        <p:nvPicPr>
          <p:cNvPr id="13" name="أيقونة CalendarBlank" descr=""/>
          <p:cNvPicPr>
            <a:picLocks noChangeAspect="1"/>
          </p:cNvPicPr>
          <p:nvPr/>
        </p:nvPicPr>
        <p:blipFill>
          <a:blip r:embed="rId3"/>
          <a:stretch>
            <a:fillRect/>
          </a:stretch>
        </p:blipFill>
        <p:spPr>
          <a:xfrm>
            <a:off x="5430439" y="5018959"/>
            <a:ext cx="276515" cy="276515"/>
          </a:xfrm>
          <a:prstGeom prst="rect">
            <a:avLst/>
          </a:prstGeom>
        </p:spPr>
      </p:pic>
      <p:sp>
        <p:nvSpPr>
          <p:cNvPr id="14" name="نص برامج 2026"/>
          <p:cNvSpPr txBox="1"/>
          <p:nvPr/>
        </p:nvSpPr>
        <p:spPr>
          <a:xfrm>
            <a:off x="1024128" y="4846320"/>
            <a:ext cx="4151376" cy="1051560"/>
          </a:xfrm>
          <a:prstGeom prst="rect">
            <a:avLst/>
          </a:prstGeom>
          <a:noFill/>
          <a:ln>
            <a:noFill/>
          </a:ln>
        </p:spPr>
        <p:txBody>
          <a:bodyPr wrap="square" lIns="0" tIns="0" rIns="0" bIns="0" rtlCol="0" anchor="ctr">
            <a:noAutofit/>
          </a:bodyPr>
          <a:lstStyle/>
          <a:p>
            <a:pPr marL="0" indent="0" algn="r" rtl="1">
              <a:lnSpc>
                <a:spcPts val="2200"/>
              </a:lnSpc>
              <a:spcBef>
                <a:spcPts val="0"/>
              </a:spcBef>
              <a:spcAft>
                <a:spcPts val="0"/>
              </a:spcAft>
              <a:buNone/>
            </a:pPr>
            <a:r>
              <a:rPr lang="ar-SA" sz="1500" b="0" i="0" dirty="0" noProof="1">
                <a:solidFill>
                  <a:srgbClr val="7C32C9"/>
                </a:solidFill>
                <a:latin typeface="☞DIODRUM ARABIC SEMIBOLD" pitchFamily="2" charset="-78"/>
                <a:cs typeface="☞DIODRUM ARABIC SEMIBOLD" pitchFamily="2" charset="-78"/>
              </a:rPr>
              <a:t>برامج 2026</a:t>
            </a:r>
            <a:endParaRPr lang="ar-SA" sz="1500" dirty="0"/>
          </a:p>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بعض برامج 2026 سابقة على وثيقة المبادرة المؤرخة يوليو؛ تُعرض كخبرة وجهد قائم يمكن البناء عليه.</a:t>
            </a:r>
            <a:endParaRPr lang="ar-SA" sz="1400" dirty="0"/>
          </a:p>
        </p:txBody>
      </p:sp>
      <p:sp>
        <p:nvSpPr>
          <p:cNvPr id="15"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مسودة التحديث (الشريحة 5). التواريخ في الشريحة تحتاج مطابقة بسبب تكرارها في مواضع مختلفة. لا تُجمع أعداد الجهات.</a:t>
            </a:r>
            <a:endParaRPr lang="ar-SA" sz="105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5 (1/3): إجابات مختصرة للأسئلة المتوقعة</a:t>
            </a:r>
          </a:p>
        </p:txBody>
      </p:sp>
      <p:sp>
        <p:nvSpPr>
          <p:cNvPr id="3" name="Text Placeholder 2"/>
          <p:cNvSpPr>
            <a:spLocks noGrp="1"/>
          </p:cNvSpPr>
          <p:nvPr>
            <p:ph type="body" idx="13" sz="quarter"/>
          </p:nvPr>
        </p:nvSpPr>
        <p:spPr/>
        <p:txBody>
          <a:bodyPr/>
          <a:lstStyle/>
          <a:p>
            <a:r>
              <a:rPr lang="ar-SA" dirty="0" noProof="1"/>
              <a:t>إجابات موجزة جاهزة للنقاش مع معاليكم.</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5</a:t>
            </a:r>
            <a:endParaRPr lang="ar-SA" sz="1100" dirty="0"/>
          </a:p>
        </p:txBody>
      </p:sp>
      <p:sp>
        <p:nvSpPr>
          <p:cNvPr id="6" name="سؤال 1"/>
          <p:cNvSpPr/>
          <p:nvPr/>
        </p:nvSpPr>
        <p:spPr>
          <a:xfrm>
            <a:off x="7973568" y="2011680"/>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7" name="رقم"/>
          <p:cNvSpPr/>
          <p:nvPr/>
        </p:nvSpPr>
        <p:spPr>
          <a:xfrm>
            <a:off x="10789920" y="217627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1</a:t>
            </a:r>
            <a:endParaRPr lang="ar-SA" sz="1500" dirty="0"/>
          </a:p>
        </p:txBody>
      </p:sp>
      <p:sp>
        <p:nvSpPr>
          <p:cNvPr id="8" name="السؤال 1"/>
          <p:cNvSpPr txBox="1"/>
          <p:nvPr/>
        </p:nvSpPr>
        <p:spPr>
          <a:xfrm>
            <a:off x="8156448" y="2578608"/>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من المسؤول عن هذا المسار؟</a:t>
            </a:r>
            <a:endParaRPr lang="ar-SA" sz="1700" dirty="0"/>
          </a:p>
        </p:txBody>
      </p:sp>
      <p:sp>
        <p:nvSpPr>
          <p:cNvPr id="9" name="إجابة 1"/>
          <p:cNvSpPr/>
          <p:nvPr/>
        </p:nvSpPr>
        <p:spPr>
          <a:xfrm>
            <a:off x="841248" y="2011680"/>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0" name="الإجابة 1"/>
          <p:cNvSpPr txBox="1"/>
          <p:nvPr/>
        </p:nvSpPr>
        <p:spPr>
          <a:xfrm>
            <a:off x="1069848" y="2011680"/>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الوزارة تقود العمل المشترك، وقدراتك يدعم المسار الحكومي ضمن نطاق يُستكمل الاتفاق عليه. ونقترح توثيق المسؤولية عن الاعتماد والبيانات والتنفيذ والمتابعة، مع احتفاظ كل جهة بمسؤوليتها عن تطبيق التعلم في أعمالها.</a:t>
            </a:r>
            <a:endParaRPr lang="ar-SA" sz="1400" dirty="0"/>
          </a:p>
        </p:txBody>
      </p:sp>
      <p:sp>
        <p:nvSpPr>
          <p:cNvPr id="11" name="سؤال 2"/>
          <p:cNvSpPr/>
          <p:nvPr/>
        </p:nvSpPr>
        <p:spPr>
          <a:xfrm>
            <a:off x="7973568" y="3392424"/>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2" name="رقم"/>
          <p:cNvSpPr/>
          <p:nvPr/>
        </p:nvSpPr>
        <p:spPr>
          <a:xfrm>
            <a:off x="10789920" y="3557016"/>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2</a:t>
            </a:r>
            <a:endParaRPr lang="ar-SA" sz="1500" dirty="0"/>
          </a:p>
        </p:txBody>
      </p:sp>
      <p:sp>
        <p:nvSpPr>
          <p:cNvPr id="13" name="السؤال 2"/>
          <p:cNvSpPr txBox="1"/>
          <p:nvPr/>
        </p:nvSpPr>
        <p:spPr>
          <a:xfrm>
            <a:off x="8156448" y="3959352"/>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لماذا لم يُعتمد عدد المتدربين؟</a:t>
            </a:r>
            <a:endParaRPr lang="ar-SA" sz="1700" dirty="0"/>
          </a:p>
        </p:txBody>
      </p:sp>
      <p:sp>
        <p:nvSpPr>
          <p:cNvPr id="14" name="إجابة 2"/>
          <p:cNvSpPr/>
          <p:nvPr/>
        </p:nvSpPr>
        <p:spPr>
          <a:xfrm>
            <a:off x="841248" y="3392424"/>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5" name="الإجابة 2"/>
          <p:cNvSpPr txBox="1"/>
          <p:nvPr/>
        </p:nvSpPr>
        <p:spPr>
          <a:xfrm>
            <a:off x="1069848" y="3392424"/>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لأن العدد يتوقف على تعريف الفئات والفترة ونوع التدريب وبيانات الموظفين والتدريب السابق. قدمنا المتاح لدى قدراتك، ونقترح استكمال التقدير الوطني بالتوازي مع تشخيص الجهات الأولى.</a:t>
            </a:r>
            <a:endParaRPr lang="ar-SA" sz="1400" dirty="0"/>
          </a:p>
        </p:txBody>
      </p:sp>
      <p:sp>
        <p:nvSpPr>
          <p:cNvPr id="16" name="سؤال 3"/>
          <p:cNvSpPr/>
          <p:nvPr/>
        </p:nvSpPr>
        <p:spPr>
          <a:xfrm>
            <a:off x="7973568" y="4773168"/>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7" name="رقم"/>
          <p:cNvSpPr/>
          <p:nvPr/>
        </p:nvSpPr>
        <p:spPr>
          <a:xfrm>
            <a:off x="10789920" y="4937760"/>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3</a:t>
            </a:r>
            <a:endParaRPr lang="ar-SA" sz="1500" dirty="0"/>
          </a:p>
        </p:txBody>
      </p:sp>
      <p:sp>
        <p:nvSpPr>
          <p:cNvPr id="18" name="السؤال 3"/>
          <p:cNvSpPr txBox="1"/>
          <p:nvPr/>
        </p:nvSpPr>
        <p:spPr>
          <a:xfrm>
            <a:off x="8156448" y="5340096"/>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هل 130 ألفًا رقم مناسب؟</a:t>
            </a:r>
            <a:endParaRPr lang="ar-SA" sz="1700" dirty="0"/>
          </a:p>
        </p:txBody>
      </p:sp>
      <p:sp>
        <p:nvSpPr>
          <p:cNvPr id="19" name="إجابة 3"/>
          <p:cNvSpPr/>
          <p:nvPr/>
        </p:nvSpPr>
        <p:spPr>
          <a:xfrm>
            <a:off x="841248" y="4773168"/>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20" name="الإجابة 3"/>
          <p:cNvSpPr txBox="1"/>
          <p:nvPr/>
        </p:nvSpPr>
        <p:spPr>
          <a:xfrm>
            <a:off x="1069848" y="4773168"/>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هو فرضية يمكن بحثها. لا تتوفر في المرفقات منهجيته الأصلية أو مصدر عدد الموظفين؛ لذلك نحتاج تثبيت أساسه قبل رفعه كمستهدف معتمد.</a:t>
            </a:r>
            <a:endParaRPr lang="ar-SA" sz="1400" dirty="0"/>
          </a:p>
        </p:txBody>
      </p:sp>
      <p:sp>
        <p:nvSpPr>
          <p:cNvPr id="2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ملخص من محتوى الشرائح 2-18 وملاحظات التقديم.</a:t>
            </a:r>
            <a:endParaRPr lang="ar-SA" sz="105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5 (2/3): إجابات مختصرة للأسئلة المتوقعة</a:t>
            </a:r>
          </a:p>
        </p:txBody>
      </p:sp>
      <p:sp>
        <p:nvSpPr>
          <p:cNvPr id="3" name="Text Placeholder 2"/>
          <p:cNvSpPr>
            <a:spLocks noGrp="1"/>
          </p:cNvSpPr>
          <p:nvPr>
            <p:ph type="body" idx="13" sz="quarter"/>
          </p:nvPr>
        </p:nvSpPr>
        <p:spPr/>
        <p:txBody>
          <a:bodyPr/>
          <a:lstStyle/>
          <a:p>
            <a:r>
              <a:rPr lang="ar-SA" dirty="0" noProof="1"/>
              <a:t>إجابات موجزة جاهزة للنقاش مع معاليكم.</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5</a:t>
            </a:r>
            <a:endParaRPr lang="ar-SA" sz="1100" dirty="0"/>
          </a:p>
        </p:txBody>
      </p:sp>
      <p:sp>
        <p:nvSpPr>
          <p:cNvPr id="6" name="سؤال 1"/>
          <p:cNvSpPr/>
          <p:nvPr/>
        </p:nvSpPr>
        <p:spPr>
          <a:xfrm>
            <a:off x="7973568" y="2011680"/>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7" name="رقم"/>
          <p:cNvSpPr/>
          <p:nvPr/>
        </p:nvSpPr>
        <p:spPr>
          <a:xfrm>
            <a:off x="10789920" y="217627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4</a:t>
            </a:r>
            <a:endParaRPr lang="ar-SA" sz="1500" dirty="0"/>
          </a:p>
        </p:txBody>
      </p:sp>
      <p:sp>
        <p:nvSpPr>
          <p:cNvPr id="8" name="السؤال 1"/>
          <p:cNvSpPr txBox="1"/>
          <p:nvPr/>
        </p:nvSpPr>
        <p:spPr>
          <a:xfrm>
            <a:off x="8156448" y="2578608"/>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هل نحتاج تدريب كل الحكومة أم خمس جهات؟</a:t>
            </a:r>
            <a:endParaRPr lang="ar-SA" sz="1700" dirty="0"/>
          </a:p>
        </p:txBody>
      </p:sp>
      <p:sp>
        <p:nvSpPr>
          <p:cNvPr id="9" name="إجابة 1"/>
          <p:cNvSpPr/>
          <p:nvPr/>
        </p:nvSpPr>
        <p:spPr>
          <a:xfrm>
            <a:off x="841248" y="2011680"/>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0" name="الإجابة 1"/>
          <p:cNvSpPr txBox="1"/>
          <p:nvPr/>
        </p:nvSpPr>
        <p:spPr>
          <a:xfrm>
            <a:off x="1069848" y="2011680"/>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نوصي بإطار يمكن تطبيقه على الحكومة، مع بدء البرامج النوعية في الجهات الخمس ذات الأولوية، ثم التوسع وفق نتائج واضحة وجاهزية الجهات.</a:t>
            </a:r>
            <a:endParaRPr lang="ar-SA" sz="1400" dirty="0"/>
          </a:p>
        </p:txBody>
      </p:sp>
      <p:sp>
        <p:nvSpPr>
          <p:cNvPr id="11" name="سؤال 2"/>
          <p:cNvSpPr/>
          <p:nvPr/>
        </p:nvSpPr>
        <p:spPr>
          <a:xfrm>
            <a:off x="7973568" y="3392424"/>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2" name="رقم"/>
          <p:cNvSpPr/>
          <p:nvPr/>
        </p:nvSpPr>
        <p:spPr>
          <a:xfrm>
            <a:off x="10789920" y="3557016"/>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5</a:t>
            </a:r>
            <a:endParaRPr lang="ar-SA" sz="1500" dirty="0"/>
          </a:p>
        </p:txBody>
      </p:sp>
      <p:sp>
        <p:nvSpPr>
          <p:cNvPr id="13" name="السؤال 2"/>
          <p:cNvSpPr txBox="1"/>
          <p:nvPr/>
        </p:nvSpPr>
        <p:spPr>
          <a:xfrm>
            <a:off x="8156448" y="3959352"/>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لماذا ثلاثة مسارات بينما توجد شرائح أكثر؟</a:t>
            </a:r>
            <a:endParaRPr lang="ar-SA" sz="1700" dirty="0"/>
          </a:p>
        </p:txBody>
      </p:sp>
      <p:sp>
        <p:nvSpPr>
          <p:cNvPr id="14" name="إجابة 2"/>
          <p:cNvSpPr/>
          <p:nvPr/>
        </p:nvSpPr>
        <p:spPr>
          <a:xfrm>
            <a:off x="841248" y="3392424"/>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5" name="الإجابة 2"/>
          <p:cNvSpPr txBox="1"/>
          <p:nvPr/>
        </p:nvSpPr>
        <p:spPr>
          <a:xfrm>
            <a:off x="1069848" y="3392424"/>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الثلاثة تنظم البرامج، وتظل الشرائح الوظيفية والتخصصات أساسًا للتصميم داخلها. يمكن ربطها بتصنيف الوزارة دون فقد تفاصيل المستفيدين.</a:t>
            </a:r>
            <a:endParaRPr lang="ar-SA" sz="1400" dirty="0"/>
          </a:p>
        </p:txBody>
      </p:sp>
      <p:sp>
        <p:nvSpPr>
          <p:cNvPr id="16" name="سؤال 3"/>
          <p:cNvSpPr/>
          <p:nvPr/>
        </p:nvSpPr>
        <p:spPr>
          <a:xfrm>
            <a:off x="7973568" y="4773168"/>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7" name="رقم"/>
          <p:cNvSpPr/>
          <p:nvPr/>
        </p:nvSpPr>
        <p:spPr>
          <a:xfrm>
            <a:off x="10789920" y="4937760"/>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6</a:t>
            </a:r>
            <a:endParaRPr lang="ar-SA" sz="1500" dirty="0"/>
          </a:p>
        </p:txBody>
      </p:sp>
      <p:sp>
        <p:nvSpPr>
          <p:cNvPr id="18" name="السؤال 3"/>
          <p:cNvSpPr txBox="1"/>
          <p:nvPr/>
        </p:nvSpPr>
        <p:spPr>
          <a:xfrm>
            <a:off x="8156448" y="5340096"/>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ما الذي يميز برنامج القيادات؟</a:t>
            </a:r>
            <a:endParaRPr lang="ar-SA" sz="1700" dirty="0"/>
          </a:p>
        </p:txBody>
      </p:sp>
      <p:sp>
        <p:nvSpPr>
          <p:cNvPr id="19" name="إجابة 3"/>
          <p:cNvSpPr/>
          <p:nvPr/>
        </p:nvSpPr>
        <p:spPr>
          <a:xfrm>
            <a:off x="841248" y="4773168"/>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20" name="الإجابة 3"/>
          <p:cNvSpPr txBox="1"/>
          <p:nvPr/>
        </p:nvSpPr>
        <p:spPr>
          <a:xfrm>
            <a:off x="1069848" y="4773168"/>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تصميمه حول القرارات والملفات الفعلية ونطاق المسؤولية، مع خصوصية مناسبة للقيادات العليا ومخرجات قابلة للمتابعة. الدراسة تقدم تصورًا، ويحتاج البرنامج إلى تصميم وتسعير واعتماد.</a:t>
            </a:r>
            <a:endParaRPr lang="ar-SA" sz="1400" dirty="0"/>
          </a:p>
        </p:txBody>
      </p:sp>
      <p:sp>
        <p:nvSpPr>
          <p:cNvPr id="2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ملخص من محتوى الشرائح 2-18 وملاحظات التقديم.</a:t>
            </a:r>
            <a:endParaRPr lang="ar-SA" sz="105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ملحق 5 (3/3): إجابات مختصرة للأسئلة المتوقعة</a:t>
            </a:r>
          </a:p>
        </p:txBody>
      </p:sp>
      <p:sp>
        <p:nvSpPr>
          <p:cNvPr id="3" name="Text Placeholder 2"/>
          <p:cNvSpPr>
            <a:spLocks noGrp="1"/>
          </p:cNvSpPr>
          <p:nvPr>
            <p:ph type="body" idx="13" sz="quarter"/>
          </p:nvPr>
        </p:nvSpPr>
        <p:spPr/>
        <p:txBody>
          <a:bodyPr/>
          <a:lstStyle/>
          <a:p>
            <a:r>
              <a:rPr lang="ar-SA" dirty="0" noProof="1"/>
              <a:t>إجابات موجزة جاهزة للنقاش مع معاليكم.</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ملحق 5</a:t>
            </a:r>
            <a:endParaRPr lang="ar-SA" sz="1100" dirty="0"/>
          </a:p>
        </p:txBody>
      </p:sp>
      <p:sp>
        <p:nvSpPr>
          <p:cNvPr id="6" name="سؤال 1"/>
          <p:cNvSpPr/>
          <p:nvPr/>
        </p:nvSpPr>
        <p:spPr>
          <a:xfrm>
            <a:off x="7973568" y="2011680"/>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7" name="رقم"/>
          <p:cNvSpPr/>
          <p:nvPr/>
        </p:nvSpPr>
        <p:spPr>
          <a:xfrm>
            <a:off x="10789920" y="2176272"/>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7</a:t>
            </a:r>
            <a:endParaRPr lang="ar-SA" sz="1500" dirty="0"/>
          </a:p>
        </p:txBody>
      </p:sp>
      <p:sp>
        <p:nvSpPr>
          <p:cNvPr id="8" name="السؤال 1"/>
          <p:cNvSpPr txBox="1"/>
          <p:nvPr/>
        </p:nvSpPr>
        <p:spPr>
          <a:xfrm>
            <a:off x="8156448" y="2578608"/>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ما موقع جهود سدايا والجهات الأخرى؟</a:t>
            </a:r>
            <a:endParaRPr lang="ar-SA" sz="1700" dirty="0"/>
          </a:p>
        </p:txBody>
      </p:sp>
      <p:sp>
        <p:nvSpPr>
          <p:cNvPr id="9" name="إجابة 1"/>
          <p:cNvSpPr/>
          <p:nvPr/>
        </p:nvSpPr>
        <p:spPr>
          <a:xfrm>
            <a:off x="841248" y="2011680"/>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0" name="الإجابة 1"/>
          <p:cNvSpPr txBox="1"/>
          <p:nvPr/>
        </p:nvSpPr>
        <p:spPr>
          <a:xfrm>
            <a:off x="1069848" y="2011680"/>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نرى إدراج البرامج ذات الصلة في خطة تنسيق مشتركة تُظهر التغطية والفئات والمخرجات، وتتيح الاستفادة من نقاط القوة لدى كل جهة وتوجيه الجهد إلى الاحتياج.</a:t>
            </a:r>
            <a:endParaRPr lang="ar-SA" sz="1400" dirty="0"/>
          </a:p>
        </p:txBody>
      </p:sp>
      <p:sp>
        <p:nvSpPr>
          <p:cNvPr id="11" name="سؤال 2"/>
          <p:cNvSpPr/>
          <p:nvPr/>
        </p:nvSpPr>
        <p:spPr>
          <a:xfrm>
            <a:off x="7973568" y="3392424"/>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2" name="رقم"/>
          <p:cNvSpPr/>
          <p:nvPr/>
        </p:nvSpPr>
        <p:spPr>
          <a:xfrm>
            <a:off x="10789920" y="3557016"/>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8</a:t>
            </a:r>
            <a:endParaRPr lang="ar-SA" sz="1500" dirty="0"/>
          </a:p>
        </p:txBody>
      </p:sp>
      <p:sp>
        <p:nvSpPr>
          <p:cNvPr id="13" name="السؤال 2"/>
          <p:cNvSpPr txBox="1"/>
          <p:nvPr/>
        </p:nvSpPr>
        <p:spPr>
          <a:xfrm>
            <a:off x="8156448" y="3959352"/>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هل توجد ميزانية؟</a:t>
            </a:r>
            <a:endParaRPr lang="ar-SA" sz="1700" dirty="0"/>
          </a:p>
        </p:txBody>
      </p:sp>
      <p:sp>
        <p:nvSpPr>
          <p:cNvPr id="14" name="إجابة 2"/>
          <p:cNvSpPr/>
          <p:nvPr/>
        </p:nvSpPr>
        <p:spPr>
          <a:xfrm>
            <a:off x="841248" y="3392424"/>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15" name="الإجابة 2"/>
          <p:cNvSpPr txBox="1"/>
          <p:nvPr/>
        </p:nvSpPr>
        <p:spPr>
          <a:xfrm>
            <a:off x="1069848" y="3392424"/>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لم يتضح حتى الآن وجود ميزانية معتمدة في المدخلات. نوصي بحزمة محددة وخيارات تسعير وتمويل، تستفيد من المساهمات وتستكملها في البرامج المخصصة، ثم تُرفع للقرار.</a:t>
            </a:r>
            <a:endParaRPr lang="ar-SA" sz="1400" dirty="0"/>
          </a:p>
        </p:txBody>
      </p:sp>
      <p:sp>
        <p:nvSpPr>
          <p:cNvPr id="16" name="سؤال 3"/>
          <p:cNvSpPr/>
          <p:nvPr/>
        </p:nvSpPr>
        <p:spPr>
          <a:xfrm>
            <a:off x="7973568" y="4773168"/>
            <a:ext cx="3383280" cy="1225296"/>
          </a:xfrm>
          <a:prstGeom prst="roundRect">
            <a:avLst>
              <a:gd name="adj" fmla="val 11940"/>
            </a:avLst>
          </a:prstGeom>
          <a:solidFill>
            <a:srgbClr val="7C32C9"/>
          </a:solidFill>
          <a:ln>
            <a:noFill/>
          </a:ln>
        </p:spPr>
        <p:txBody>
          <a:bodyPr wrap="square" lIns="91440" tIns="45720" rIns="91440" bIns="45720" rtlCol="0" anchor="t">
            <a:noAutofit/>
          </a:bodyPr>
          <a:lstStyle/>
          <a:p>
            <a:endParaRPr lang="ar-SA"/>
          </a:p>
        </p:txBody>
      </p:sp>
      <p:sp>
        <p:nvSpPr>
          <p:cNvPr id="17" name="رقم"/>
          <p:cNvSpPr/>
          <p:nvPr/>
        </p:nvSpPr>
        <p:spPr>
          <a:xfrm>
            <a:off x="10789920" y="4937760"/>
            <a:ext cx="384048" cy="384048"/>
          </a:xfrm>
          <a:prstGeom prst="ellipse">
            <a:avLst/>
          </a:prstGeom>
          <a:solidFill>
            <a:srgbClr val="1CC182"/>
          </a:solidFill>
          <a:ln>
            <a:noFill/>
          </a:ln>
        </p:spPr>
        <p:txBody>
          <a:bodyPr wrap="square" lIns="0" tIns="0" rIns="0" bIns="0" rtlCol="0" anchor="ctr">
            <a:noAutofit/>
          </a:bodyPr>
          <a:lstStyle/>
          <a:p>
            <a:pPr marL="0" indent="0" algn="ctr" rtl="1">
              <a:lnSpc>
                <a:spcPts val="1800"/>
              </a:lnSpc>
              <a:spcBef>
                <a:spcPts val="0"/>
              </a:spcBef>
              <a:spcAft>
                <a:spcPts val="0"/>
              </a:spcAft>
              <a:buNone/>
            </a:pPr>
            <a:r>
              <a:rPr lang="ar-SA" sz="1500" b="1" i="0" dirty="0" noProof="1">
                <a:solidFill>
                  <a:srgbClr val="2A206A"/>
                </a:solidFill>
                <a:latin typeface="☞DIODRUM ARABIC SEMIBOLD" pitchFamily="2" charset="-78"/>
                <a:cs typeface="☞DIODRUM ARABIC SEMIBOLD" pitchFamily="2" charset="-78"/>
              </a:rPr>
              <a:t>9</a:t>
            </a:r>
            <a:endParaRPr lang="ar-SA" sz="1500" dirty="0"/>
          </a:p>
        </p:txBody>
      </p:sp>
      <p:sp>
        <p:nvSpPr>
          <p:cNvPr id="18" name="السؤال 3"/>
          <p:cNvSpPr txBox="1"/>
          <p:nvPr/>
        </p:nvSpPr>
        <p:spPr>
          <a:xfrm>
            <a:off x="8156448" y="5340096"/>
            <a:ext cx="3017520" cy="640080"/>
          </a:xfrm>
          <a:prstGeom prst="rect">
            <a:avLst/>
          </a:prstGeom>
          <a:noFill/>
          <a:ln>
            <a:noFill/>
          </a:ln>
        </p:spPr>
        <p:txBody>
          <a:bodyPr wrap="square" lIns="0" tIns="0" rIns="0" bIns="0" rtlCol="0" anchor="t">
            <a:noAutofit/>
          </a:bodyPr>
          <a:lstStyle/>
          <a:p>
            <a:pPr marL="0" indent="0" algn="r" rtl="1">
              <a:lnSpc>
                <a:spcPts val="2400"/>
              </a:lnSpc>
              <a:spcBef>
                <a:spcPts val="0"/>
              </a:spcBef>
              <a:spcAft>
                <a:spcPts val="0"/>
              </a:spcAft>
              <a:buNone/>
            </a:pPr>
            <a:r>
              <a:rPr lang="ar-SA" sz="1700" b="0" i="0" dirty="0" noProof="1">
                <a:solidFill>
                  <a:srgbClr val="FFFFFF"/>
                </a:solidFill>
                <a:latin typeface="☞DIODRUM ARABIC SEMIBOLD" pitchFamily="2" charset="-78"/>
                <a:cs typeface="☞DIODRUM ARABIC SEMIBOLD" pitchFamily="2" charset="-78"/>
              </a:rPr>
              <a:t>ماذا سنرى في التحديث القادم؟</a:t>
            </a:r>
            <a:endParaRPr lang="ar-SA" sz="1700" dirty="0"/>
          </a:p>
        </p:txBody>
      </p:sp>
      <p:sp>
        <p:nvSpPr>
          <p:cNvPr id="19" name="إجابة 3"/>
          <p:cNvSpPr/>
          <p:nvPr/>
        </p:nvSpPr>
        <p:spPr>
          <a:xfrm>
            <a:off x="841248" y="4773168"/>
            <a:ext cx="6995160" cy="1225296"/>
          </a:xfrm>
          <a:prstGeom prst="roundRect">
            <a:avLst>
              <a:gd name="adj" fmla="val 10447"/>
            </a:avLst>
          </a:prstGeom>
          <a:solidFill>
            <a:srgbClr val="F5F5F5"/>
          </a:solidFill>
          <a:ln>
            <a:noFill/>
          </a:ln>
        </p:spPr>
        <p:txBody>
          <a:bodyPr wrap="square" lIns="91440" tIns="45720" rIns="91440" bIns="45720" rtlCol="0" anchor="t">
            <a:noAutofit/>
          </a:bodyPr>
          <a:lstStyle/>
          <a:p>
            <a:endParaRPr lang="ar-SA"/>
          </a:p>
        </p:txBody>
      </p:sp>
      <p:sp>
        <p:nvSpPr>
          <p:cNvPr id="20" name="الإجابة 3"/>
          <p:cNvSpPr txBox="1"/>
          <p:nvPr/>
        </p:nvSpPr>
        <p:spPr>
          <a:xfrm>
            <a:off x="1069848" y="4773168"/>
            <a:ext cx="6537960" cy="1225296"/>
          </a:xfrm>
          <a:prstGeom prst="rect">
            <a:avLst/>
          </a:prstGeom>
          <a:noFill/>
          <a:ln>
            <a:noFill/>
          </a:ln>
        </p:spPr>
        <p:txBody>
          <a:bodyPr wrap="square" lIns="0" tIns="0" rIns="0" bIns="0" rtlCol="0" anchor="ctr">
            <a:noAutofit/>
          </a:bodyPr>
          <a:lstStyle/>
          <a:p>
            <a:pPr marL="0" indent="0" algn="r" rtl="1">
              <a:lnSpc>
                <a:spcPts val="200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نطاق أدوار متفق عليه، واحتياج الجهات الأولى، وحزمة برامج بأعداد وتكاليف وجدولة، وحالة طلب البيانات، ومؤشرات للتعلم والتطبيق والأثر.</a:t>
            </a:r>
            <a:endParaRPr lang="ar-SA" sz="1400" dirty="0"/>
          </a:p>
        </p:txBody>
      </p:sp>
      <p:sp>
        <p:nvSpPr>
          <p:cNvPr id="21" name="المرجع"/>
          <p:cNvSpPr txBox="1"/>
          <p:nvPr/>
        </p:nvSpPr>
        <p:spPr>
          <a:xfrm>
            <a:off x="1600200" y="6035040"/>
            <a:ext cx="9756648" cy="347472"/>
          </a:xfrm>
          <a:prstGeom prst="rect">
            <a:avLst/>
          </a:prstGeom>
          <a:noFill/>
          <a:ln>
            <a:noFill/>
          </a:ln>
        </p:spPr>
        <p:txBody>
          <a:bodyPr wrap="square" lIns="0" tIns="0" rIns="0" bIns="0" rtlCol="0" anchor="t">
            <a:noAutofit/>
          </a:bodyPr>
          <a:lstStyle/>
          <a:p>
            <a:pPr marL="0" indent="0" algn="r" rtl="1">
              <a:lnSpc>
                <a:spcPts val="14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مرجع الملحق: ملخص من محتوى الشرائح 2-18 وملاحظات التقديم.</a:t>
            </a:r>
            <a:endParaRPr lang="ar-SA" sz="105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المراجع ونطاق استخدامها (1/3)</a:t>
            </a:r>
          </a:p>
        </p:txBody>
      </p:sp>
      <p:sp>
        <p:nvSpPr>
          <p:cNvPr id="3" name="Text Placeholder 2"/>
          <p:cNvSpPr>
            <a:spLocks noGrp="1"/>
          </p:cNvSpPr>
          <p:nvPr>
            <p:ph type="body" idx="13" sz="quarter"/>
          </p:nvPr>
        </p:nvSpPr>
        <p:spPr/>
        <p:txBody>
          <a:bodyPr/>
          <a:lstStyle/>
          <a:p>
            <a:r>
              <a:rPr lang="ar-SA" dirty="0" noProof="1"/>
              <a:t>بُني المحتوى على المرفقات وإفادة محمد العُمري؛ والمراجع الخارجية لتدعيم تعريف القدرات ومفهوم FDE فقط.</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المراجع</a:t>
            </a:r>
            <a:endParaRPr lang="ar-SA" sz="1100" dirty="0"/>
          </a:p>
        </p:txBody>
      </p:sp>
      <p:graphicFrame>
        <p:nvGraphicFramePr>
          <p:cNvPr id="6" name="المراجع"/>
          <p:cNvGraphicFramePr>
            <a:graphicFrameLocks noGrp="1"/>
          </p:cNvGraphicFramePr>
          <p:nvPr/>
        </p:nvGraphicFramePr>
        <p:xfrm>
          <a:off x="841248" y="2011680"/>
          <a:ext cx="10515600" cy="3977640"/>
        </p:xfrm>
        <a:graphic>
          <a:graphicData uri="http://schemas.openxmlformats.org/drawingml/2006/table">
            <a:tbl>
              <a:tblPr firstRow="1"/>
              <a:tblGrid>
                <a:gridCol w="6035040"/>
                <a:gridCol w="448056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نطاق الاستخدام</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المرجع</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الشرائح 3-7: الاجتماعات، والتنفيذ، ومتطلبات الفريق، والمقترحات والورشة القادمة.</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مسودة تحديث 5 أكتوبر 2026</a:t>
                      </a:r>
                      <a:endParaRPr lang="ar-SA" sz="1500" dirty="0"/>
                    </a:p>
                    <a:p>
                      <a:pPr marL="0" indent="0" algn="r" rtl="1">
                        <a:lnSpc>
                          <a:spcPts val="15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التدريب في الذكاء الاصطناعي - تحديث 5 اكتوبر.pptx</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الشرائح 1-6: المستهدف والمقاعد المقدمة والمنفذ، ووصف العروض وحالة الشركاء.</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متابعة الشركاء — النسخة الشاملة</a:t>
                      </a:r>
                      <a:endParaRPr lang="ar-SA" sz="1500" dirty="0"/>
                    </a:p>
                    <a:p>
                      <a:pPr marL="0" indent="0" algn="l" rtl="1">
                        <a:lnSpc>
                          <a:spcPts val="1500"/>
                        </a:lnSpc>
                        <a:spcBef>
                          <a:spcPts val="0"/>
                        </a:spcBef>
                        <a:spcAft>
                          <a:spcPts val="0"/>
                        </a:spcAft>
                        <a:buNone/>
                      </a:pPr>
                      <a:r>
                        <a:rPr lang="en-US" sz="1050" b="0" i="0" dirty="0" noProof="1">
                          <a:solidFill>
                            <a:srgbClr val="5F5F6B"/>
                          </a:solidFill>
                          <a:latin typeface="☞DIODRUM ARABIC MEDIUM" pitchFamily="2" charset="-78"/>
                          <a:cs typeface="☞DIODRUM ARABIC MEDIUM" pitchFamily="2" charset="-78"/>
                        </a:rPr>
                        <a:t>AI National Productivity Acceleration Initiative - DGA - Comprehensive.pptx</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الشريحة 1: تجميع الأرقام ووصف البرامج.</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متابعة الشركاء — النسخة المجمعة</a:t>
                      </a:r>
                      <a:endParaRPr lang="ar-SA" sz="1500" dirty="0"/>
                    </a:p>
                    <a:p>
                      <a:pPr marL="0" indent="0" algn="l" rtl="1">
                        <a:lnSpc>
                          <a:spcPts val="1500"/>
                        </a:lnSpc>
                        <a:spcBef>
                          <a:spcPts val="0"/>
                        </a:spcBef>
                        <a:spcAft>
                          <a:spcPts val="0"/>
                        </a:spcAft>
                        <a:buNone/>
                      </a:pPr>
                      <a:r>
                        <a:rPr lang="en-US" sz="1050" b="0" i="0" dirty="0" noProof="1">
                          <a:solidFill>
                            <a:srgbClr val="5F5F6B"/>
                          </a:solidFill>
                          <a:latin typeface="☞DIODRUM ARABIC MEDIUM" pitchFamily="2" charset="-78"/>
                          <a:cs typeface="☞DIODRUM ARABIC MEDIUM" pitchFamily="2" charset="-78"/>
                        </a:rPr>
                        <a:t>AI National Productivity Acceleration Initiative - DGA - Consolidated.pptx</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المراجع ونطاق استخدامها (2/3)</a:t>
            </a:r>
          </a:p>
        </p:txBody>
      </p:sp>
      <p:sp>
        <p:nvSpPr>
          <p:cNvPr id="3" name="Text Placeholder 2"/>
          <p:cNvSpPr>
            <a:spLocks noGrp="1"/>
          </p:cNvSpPr>
          <p:nvPr>
            <p:ph type="body" idx="13" sz="quarter"/>
          </p:nvPr>
        </p:nvSpPr>
        <p:spPr/>
        <p:txBody>
          <a:bodyPr/>
          <a:lstStyle/>
          <a:p>
            <a:r>
              <a:rPr lang="ar-SA" dirty="0" noProof="1"/>
              <a:t>المقترحات التنفيذية تحتاج مواءمة واعتمادًا بحسب نطاق كل طرف.</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المراجع</a:t>
            </a:r>
            <a:endParaRPr lang="ar-SA" sz="1100" dirty="0"/>
          </a:p>
        </p:txBody>
      </p:sp>
      <p:graphicFrame>
        <p:nvGraphicFramePr>
          <p:cNvPr id="6" name="المراجع"/>
          <p:cNvGraphicFramePr>
            <a:graphicFrameLocks noGrp="1"/>
          </p:cNvGraphicFramePr>
          <p:nvPr/>
        </p:nvGraphicFramePr>
        <p:xfrm>
          <a:off x="841248" y="2011680"/>
          <a:ext cx="10515600" cy="3977640"/>
        </p:xfrm>
        <a:graphic>
          <a:graphicData uri="http://schemas.openxmlformats.org/drawingml/2006/table">
            <a:tbl>
              <a:tblPr firstRow="1"/>
              <a:tblGrid>
                <a:gridCol w="6035040"/>
                <a:gridCol w="448056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نطاق الاستخدام</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المرجع</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الصفحات 2-5 و7: نطاق المبادرة، والشرائح، ومبادئ الاحتياج والإنتاجية، ونموذج المساهمات.</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وثيقة المهمة الوطنية — يوليو 2026</a:t>
                      </a:r>
                      <a:endParaRPr lang="ar-SA" sz="1500" dirty="0"/>
                    </a:p>
                    <a:p>
                      <a:pPr marL="0" indent="0" algn="l" rtl="1">
                        <a:lnSpc>
                          <a:spcPts val="1500"/>
                        </a:lnSpc>
                        <a:spcBef>
                          <a:spcPts val="0"/>
                        </a:spcBef>
                        <a:spcAft>
                          <a:spcPts val="0"/>
                        </a:spcAft>
                        <a:buNone/>
                      </a:pPr>
                      <a:r>
                        <a:rPr lang="en-US" sz="1050" b="0" i="0" dirty="0" noProof="1">
                          <a:solidFill>
                            <a:srgbClr val="5F5F6B"/>
                          </a:solidFill>
                          <a:latin typeface="☞DIODRUM ARABIC MEDIUM" pitchFamily="2" charset="-78"/>
                          <a:cs typeface="☞DIODRUM ARABIC MEDIUM" pitchFamily="2" charset="-78"/>
                        </a:rPr>
                        <a:t>AI National Productivity Acceleration Mission.pdf</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الصفحات 3 و6 و8-13 و21-26: 32 برنامجًا و12 مختارًا، ونطاق الدراسة، والمستويات والتوصيات. مراجعة السوق حتى 24 أغسطس 2026.</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الدراسة المعيارية لبرامج القيادات</a:t>
                      </a:r>
                      <a:endParaRPr lang="ar-SA" sz="1500" dirty="0"/>
                    </a:p>
                    <a:p>
                      <a:pPr marL="0" indent="0" algn="r" rtl="1">
                        <a:lnSpc>
                          <a:spcPts val="15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نهائي- دراسة التدريب في الذكاء الاصطناعي.pdf</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طلب 29 يوليو ورد 5 أغسطس؛ مذكرة معدة في 3 أغسطس تضم 8 مصادر عن التبني والجاهزية وحالات الاستخدام. مسار مرتبط بالمبادرة لكنه مستقل في غرضه عن حصر تدريب الموظفين.</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مراسلة دعم دراسة أثر الذكاء الاصطناعي على المهن</a:t>
                      </a:r>
                      <a:endParaRPr lang="ar-SA" sz="1500" dirty="0"/>
                    </a:p>
                    <a:p>
                      <a:pPr marL="0" indent="0" algn="l" rtl="1">
                        <a:lnSpc>
                          <a:spcPts val="15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RE_ التعاون في دعم دراسة أثر الذكاء الاصطناعي على المهن في سوق العمل السعودي.msg</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ar-SA" dirty="0" noProof="1"/>
              <a:t>المراجع ونطاق استخدامها (3/3)</a:t>
            </a:r>
          </a:p>
        </p:txBody>
      </p:sp>
      <p:sp>
        <p:nvSpPr>
          <p:cNvPr id="3" name="Text Placeholder 2"/>
          <p:cNvSpPr>
            <a:spLocks noGrp="1"/>
          </p:cNvSpPr>
          <p:nvPr>
            <p:ph type="body" idx="13" sz="quarter"/>
          </p:nvPr>
        </p:nvSpPr>
        <p:spPr/>
        <p:txBody>
          <a:bodyPr/>
          <a:lstStyle/>
          <a:p>
            <a:r>
              <a:rPr lang="ar-SA" dirty="0" noProof="1"/>
              <a:t>المقترحات التنفيذية تحتاج مواءمة واعتمادًا بحسب نطاق كل طرف.</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3108960" cy="274320"/>
          </a:xfrm>
          <a:prstGeom prst="roundRect">
            <a:avLst>
              <a:gd name="adj" fmla="val 50000"/>
            </a:avLst>
          </a:prstGeom>
          <a:solidFill>
            <a:srgbClr val="ECEAF4"/>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2A206A"/>
                </a:solidFill>
                <a:latin typeface="☞DIODRUM ARABIC SEMIBOLD" pitchFamily="2" charset="-78"/>
                <a:cs typeface="☞DIODRUM ARABIC SEMIBOLD" pitchFamily="2" charset="-78"/>
              </a:rPr>
              <a:t>الملاحق  ·  المراجع</a:t>
            </a:r>
            <a:endParaRPr lang="ar-SA" sz="1100" dirty="0"/>
          </a:p>
        </p:txBody>
      </p:sp>
      <p:graphicFrame>
        <p:nvGraphicFramePr>
          <p:cNvPr id="6" name="المراجع"/>
          <p:cNvGraphicFramePr>
            <a:graphicFrameLocks noGrp="1"/>
          </p:cNvGraphicFramePr>
          <p:nvPr/>
        </p:nvGraphicFramePr>
        <p:xfrm>
          <a:off x="841248" y="2011680"/>
          <a:ext cx="10515600" cy="3977640"/>
        </p:xfrm>
        <a:graphic>
          <a:graphicData uri="http://schemas.openxmlformats.org/drawingml/2006/table">
            <a:tbl>
              <a:tblPr firstRow="1"/>
              <a:tblGrid>
                <a:gridCol w="6035040"/>
                <a:gridCol w="4480560"/>
              </a:tblGrid>
              <a:tr h="420624">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نطاق الاستخدام</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المرجع</a:t>
                      </a:r>
                      <a:endParaRPr lang="ar-SA" sz="1400" dirty="0"/>
                    </a:p>
                  </a:txBody>
                  <a:tcPr marL="146304" marR="146304" marT="73152" marB="73152" anchor="ctr">
                    <a:lnL w="0">
                      <a:noFill/>
                    </a:lnL>
                    <a:lnR w="0">
                      <a:noFill/>
                    </a:lnR>
                    <a:lnT w="0">
                      <a:noFill/>
                    </a:lnT>
                    <a:lnB w="9525" cap="flat" cmpd="sng" algn="ctr">
                      <a:solidFill>
                        <a:srgbClr val="E2E4EA"/>
                      </a:solidFill>
                      <a:prstDash val="solid"/>
                    </a:lnB>
                    <a:solidFill>
                      <a:srgbClr val="00ABA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أدوار الفريقين، وفرضية BCG، والتصور المقترح للمسارات والتغطية والتمويل وإدارة التغيير.</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إفادة محمد العُمري</a:t>
                      </a:r>
                      <a:endParaRPr lang="ar-SA" sz="1500" dirty="0"/>
                    </a:p>
                    <a:p>
                      <a:pPr marL="0" indent="0" algn="r" rtl="1">
                        <a:lnSpc>
                          <a:spcPts val="1500"/>
                        </a:lnSpc>
                        <a:spcBef>
                          <a:spcPts val="0"/>
                        </a:spcBef>
                        <a:spcAft>
                          <a:spcPts val="0"/>
                        </a:spcAft>
                        <a:buNone/>
                      </a:pPr>
                      <a:r>
                        <a:rPr lang="ar-SA" sz="1050" b="0" i="0" dirty="0" noProof="1">
                          <a:solidFill>
                            <a:srgbClr val="5F5F6B"/>
                          </a:solidFill>
                          <a:latin typeface="☞DIODRUM ARABIC MEDIUM" pitchFamily="2" charset="-78"/>
                          <a:cs typeface="☞DIODRUM ARABIC MEDIUM" pitchFamily="2" charset="-78"/>
                        </a:rPr>
                        <a:t>نص المحادثة الحالية</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OECD، 19 يناير 2026: قدرات تأسيسية للموظفين، وقدرات استراتيجية للقيادات، وقدرات تقنية لمتخصصي البيانات والرقمية. يدعم الفكرة العامة ولا يعتمد النموذج المحلي المقترح.</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مرجع دولي للقدرات — OECD</a:t>
                      </a:r>
                      <a:endParaRPr lang="ar-SA" sz="1500" dirty="0"/>
                    </a:p>
                    <a:p>
                      <a:pPr marL="0" indent="0" algn="l" rtl="1">
                        <a:lnSpc>
                          <a:spcPts val="1500"/>
                        </a:lnSpc>
                        <a:spcBef>
                          <a:spcPts val="0"/>
                        </a:spcBef>
                        <a:spcAft>
                          <a:spcPts val="0"/>
                        </a:spcAft>
                        <a:buNone/>
                      </a:pPr>
                      <a:r>
                        <a:rPr lang="en-US" sz="1050" b="0" i="0" dirty="0" noProof="1">
                          <a:solidFill>
                            <a:srgbClr val="5F5F6B"/>
                          </a:solidFill>
                          <a:latin typeface="☞DIODRUM ARABIC MEDIUM" pitchFamily="2" charset="-78"/>
                          <a:cs typeface="☞DIODRUM ARABIC MEDIUM" pitchFamily="2" charset="-78"/>
                          <a:hlinkClick r:id="rId2"/>
                        </a:rPr>
                        <a:t>https://www.oecd.org/en/publications/building-an-ai-ready-public-workforce_b89244c7-en/full-report.html</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1185672">
                <a:tc>
                  <a:txBody>
                    <a:bodyPr/>
                    <a:lstStyle/>
                    <a:p>
                      <a:pPr marL="0" indent="0" algn="r" rtl="1">
                        <a:lnSpc>
                          <a:spcPts val="2030"/>
                        </a:lnSpc>
                        <a:spcBef>
                          <a:spcPts val="0"/>
                        </a:spcBef>
                        <a:spcAft>
                          <a:spcPts val="0"/>
                        </a:spcAft>
                        <a:buNone/>
                      </a:pPr>
                      <a:r>
                        <a:rPr lang="ar-SA" sz="1400" b="0" i="0" dirty="0" noProof="1">
                          <a:solidFill>
                            <a:srgbClr val="333333"/>
                          </a:solidFill>
                          <a:latin typeface="☞DIODRUM ARABIC MEDIUM" pitchFamily="2" charset="-78"/>
                          <a:cs typeface="☞DIODRUM ARABIC MEDIUM" pitchFamily="2" charset="-78"/>
                        </a:rPr>
                        <a:t>مرجع أولي لتعريف فرق الهندسة القريبة من المشكلة والتطوير بالتغذية الراجعة. استُخدم لتعريف المفهوم، وليس لترشيح المزود.</a:t>
                      </a:r>
                      <a:endParaRPr lang="ar-SA" sz="140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2200"/>
                        </a:lnSpc>
                        <a:spcBef>
                          <a:spcPts val="0"/>
                        </a:spcBef>
                        <a:spcAft>
                          <a:spcPts val="200"/>
                        </a:spcAft>
                        <a:buNone/>
                      </a:pPr>
                      <a:r>
                        <a:rPr lang="ar-SA" sz="1500" b="0" i="0" dirty="0" noProof="1">
                          <a:solidFill>
                            <a:srgbClr val="7C32C9"/>
                          </a:solidFill>
                          <a:latin typeface="☞DIODRUM ARABIC SEMIBOLD" pitchFamily="2" charset="-78"/>
                          <a:cs typeface="☞DIODRUM ARABIC SEMIBOLD" pitchFamily="2" charset="-78"/>
                        </a:rPr>
                        <a:t>تعريف منهج FDE — Palantir</a:t>
                      </a:r>
                      <a:endParaRPr lang="ar-SA" sz="1500" dirty="0"/>
                    </a:p>
                    <a:p>
                      <a:pPr marL="0" indent="0" algn="l" rtl="1">
                        <a:lnSpc>
                          <a:spcPts val="1500"/>
                        </a:lnSpc>
                        <a:spcBef>
                          <a:spcPts val="0"/>
                        </a:spcBef>
                        <a:spcAft>
                          <a:spcPts val="0"/>
                        </a:spcAft>
                        <a:buNone/>
                      </a:pPr>
                      <a:r>
                        <a:rPr lang="en-US" sz="1050" b="0" i="0" dirty="0" noProof="1">
                          <a:solidFill>
                            <a:srgbClr val="5F5F6B"/>
                          </a:solidFill>
                          <a:latin typeface="☞DIODRUM ARABIC MEDIUM" pitchFamily="2" charset="-78"/>
                          <a:cs typeface="☞DIODRUM ARABIC MEDIUM" pitchFamily="2" charset="-78"/>
                          <a:hlinkClick r:id="rId3"/>
                        </a:rPr>
                        <a:t>https://www.palantir.com/docs/foundry/architecture-center/overview</a:t>
                      </a:r>
                      <a:endParaRPr lang="ar-SA" sz="1050" dirty="0"/>
                    </a:p>
                  </a:txBody>
                  <a:tcPr marL="146304" marR="146304" marT="73152" marB="73152"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lang="ar-SA" dirty="0" noProof="1"/>
              <a:t>داخلي — ملاحظات من إعداد العرض (احذف قبل التداول)</a:t>
            </a:r>
          </a:p>
        </p:txBody>
      </p:sp>
      <p:sp>
        <p:nvSpPr>
          <p:cNvPr id="3" name="Text Placeholder 2"/>
          <p:cNvSpPr>
            <a:spLocks noGrp="1"/>
          </p:cNvSpPr>
          <p:nvPr>
            <p:ph type="body" idx="13" sz="quarter"/>
          </p:nvPr>
        </p:nvSpPr>
        <p:spPr/>
        <p:txBody>
          <a:bodyPr/>
          <a:lstStyle/>
          <a:p>
            <a:r>
              <a:rPr lang="ar-SA" dirty="0" noProof="1"/>
              <a:t>شرائح مخفية لا تظهر في العرض؛ تُحذف قبل مشاركة الملف خارج الفريق.</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2743200" cy="274320"/>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FFFFFF"/>
                </a:solidFill>
                <a:latin typeface="☞DIODRUM ARABIC SEMIBOLD" pitchFamily="2" charset="-78"/>
                <a:cs typeface="☞DIODRUM ARABIC SEMIBOLD" pitchFamily="2" charset="-78"/>
              </a:rPr>
              <a:t>داخلي — للمراجعة فقط</a:t>
            </a:r>
            <a:endParaRPr lang="ar-SA" sz="1100" dirty="0"/>
          </a:p>
        </p:txBody>
      </p:sp>
      <p:sp>
        <p:nvSpPr>
          <p:cNvPr id="6" name="بند 1"/>
          <p:cNvSpPr/>
          <p:nvPr/>
        </p:nvSpPr>
        <p:spPr>
          <a:xfrm>
            <a:off x="841248" y="1965960"/>
            <a:ext cx="10515600" cy="731520"/>
          </a:xfrm>
          <a:prstGeom prst="roundRect">
            <a:avLst>
              <a:gd name="adj" fmla="val 17500"/>
            </a:avLst>
          </a:prstGeom>
          <a:solidFill>
            <a:srgbClr val="F5F5F5"/>
          </a:solidFill>
          <a:ln>
            <a:noFill/>
          </a:ln>
        </p:spPr>
        <p:txBody>
          <a:bodyPr wrap="square" lIns="91440" tIns="45720" rIns="91440" bIns="45720" rtlCol="0" anchor="t">
            <a:noAutofit/>
          </a:bodyPr>
          <a:lstStyle/>
          <a:p>
            <a:endParaRPr lang="ar-SA"/>
          </a:p>
        </p:txBody>
      </p:sp>
      <p:sp>
        <p:nvSpPr>
          <p:cNvPr id="7" name="عنوان"/>
          <p:cNvSpPr txBox="1"/>
          <p:nvPr/>
        </p:nvSpPr>
        <p:spPr>
          <a:xfrm>
            <a:off x="9025128" y="1965960"/>
            <a:ext cx="2103120" cy="731520"/>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تعارض في الأرقام</a:t>
            </a:r>
            <a:endParaRPr lang="ar-SA" sz="1600" dirty="0"/>
          </a:p>
        </p:txBody>
      </p:sp>
      <p:sp>
        <p:nvSpPr>
          <p:cNvPr id="8" name="نص"/>
          <p:cNvSpPr txBox="1"/>
          <p:nvPr/>
        </p:nvSpPr>
        <p:spPr>
          <a:xfrm>
            <a:off x="1069848" y="1965960"/>
            <a:ext cx="7589520" cy="731520"/>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350" b="0" i="0" dirty="0" noProof="1">
                <a:solidFill>
                  <a:srgbClr val="333333"/>
                </a:solidFill>
                <a:latin typeface="☞DIODRUM ARABIC MEDIUM" pitchFamily="2" charset="-78"/>
                <a:cs typeface="☞DIODRUM ARABIC MEDIUM" pitchFamily="2" charset="-78"/>
              </a:rPr>
              <a:t>الشريحة 5 (ص 7) تذكر 272 موظفًا لثمانية برامج، بينما تذكر الشريحة 14 (ص 18) والملحق 3 وسجل الإثبات 222 مستفيدًا لثمانية برامج (ترقيم النص الأصلي). يُحسم الرقم المعتمد وتُوحَّد المواضع.</a:t>
            </a:r>
            <a:endParaRPr lang="ar-SA" sz="1350" dirty="0"/>
          </a:p>
        </p:txBody>
      </p:sp>
      <p:sp>
        <p:nvSpPr>
          <p:cNvPr id="9" name="بند 2"/>
          <p:cNvSpPr/>
          <p:nvPr/>
        </p:nvSpPr>
        <p:spPr>
          <a:xfrm>
            <a:off x="841248" y="2761488"/>
            <a:ext cx="10515600" cy="731520"/>
          </a:xfrm>
          <a:prstGeom prst="roundRect">
            <a:avLst>
              <a:gd name="adj" fmla="val 17500"/>
            </a:avLst>
          </a:prstGeom>
          <a:solidFill>
            <a:srgbClr val="F5F5F5"/>
          </a:solidFill>
          <a:ln>
            <a:noFill/>
          </a:ln>
        </p:spPr>
        <p:txBody>
          <a:bodyPr wrap="square" lIns="91440" tIns="45720" rIns="91440" bIns="45720" rtlCol="0" anchor="t">
            <a:noAutofit/>
          </a:bodyPr>
          <a:lstStyle/>
          <a:p>
            <a:endParaRPr lang="ar-SA"/>
          </a:p>
        </p:txBody>
      </p:sp>
      <p:sp>
        <p:nvSpPr>
          <p:cNvPr id="10" name="عنوان"/>
          <p:cNvSpPr txBox="1"/>
          <p:nvPr/>
        </p:nvSpPr>
        <p:spPr>
          <a:xfrm>
            <a:off x="9025128" y="2761488"/>
            <a:ext cx="2103120" cy="731520"/>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التصنيف</a:t>
            </a:r>
            <a:endParaRPr lang="ar-SA" sz="1600" dirty="0"/>
          </a:p>
        </p:txBody>
      </p:sp>
      <p:sp>
        <p:nvSpPr>
          <p:cNvPr id="11" name="نص"/>
          <p:cNvSpPr txBox="1"/>
          <p:nvPr/>
        </p:nvSpPr>
        <p:spPr>
          <a:xfrm>
            <a:off x="1069848" y="2761488"/>
            <a:ext cx="7589520" cy="731520"/>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350" b="0" i="0" dirty="0" noProof="1">
                <a:solidFill>
                  <a:srgbClr val="333333"/>
                </a:solidFill>
                <a:latin typeface="☞DIODRUM ARABIC MEDIUM" pitchFamily="2" charset="-78"/>
                <a:cs typeface="☞DIODRUM ARABIC MEDIUM" pitchFamily="2" charset="-78"/>
              </a:rPr>
              <a:t>التسمية الحالية «عام - Public» كما تشترط هوية الهيئة؛ المحتوى (حالة التنسيق مع الوزارة وأرقام غير مؤكدة ولا ميزانية معتمدة) قد يستوجب «مقيّد» قبل التداول.</a:t>
            </a:r>
            <a:endParaRPr lang="ar-SA" sz="1350" dirty="0"/>
          </a:p>
        </p:txBody>
      </p:sp>
      <p:sp>
        <p:nvSpPr>
          <p:cNvPr id="12" name="بند 3"/>
          <p:cNvSpPr/>
          <p:nvPr/>
        </p:nvSpPr>
        <p:spPr>
          <a:xfrm>
            <a:off x="841248" y="3557016"/>
            <a:ext cx="10515600" cy="731520"/>
          </a:xfrm>
          <a:prstGeom prst="roundRect">
            <a:avLst>
              <a:gd name="adj" fmla="val 17500"/>
            </a:avLst>
          </a:prstGeom>
          <a:solidFill>
            <a:srgbClr val="F5F5F5"/>
          </a:solidFill>
          <a:ln>
            <a:noFill/>
          </a:ln>
        </p:spPr>
        <p:txBody>
          <a:bodyPr wrap="square" lIns="91440" tIns="45720" rIns="91440" bIns="45720" rtlCol="0" anchor="t">
            <a:noAutofit/>
          </a:bodyPr>
          <a:lstStyle/>
          <a:p>
            <a:endParaRPr lang="ar-SA"/>
          </a:p>
        </p:txBody>
      </p:sp>
      <p:sp>
        <p:nvSpPr>
          <p:cNvPr id="13" name="عنوان"/>
          <p:cNvSpPr txBox="1"/>
          <p:nvPr/>
        </p:nvSpPr>
        <p:spPr>
          <a:xfrm>
            <a:off x="9025128" y="3557016"/>
            <a:ext cx="2103120" cy="731520"/>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الخطوط</a:t>
            </a:r>
            <a:endParaRPr lang="ar-SA" sz="1600" dirty="0"/>
          </a:p>
        </p:txBody>
      </p:sp>
      <p:sp>
        <p:nvSpPr>
          <p:cNvPr id="14" name="نص"/>
          <p:cNvSpPr txBox="1"/>
          <p:nvPr/>
        </p:nvSpPr>
        <p:spPr>
          <a:xfrm>
            <a:off x="1069848" y="3557016"/>
            <a:ext cx="7589520" cy="731520"/>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350" b="0" i="0" dirty="0" noProof="1">
                <a:solidFill>
                  <a:srgbClr val="333333"/>
                </a:solidFill>
                <a:latin typeface="☞DIODRUM ARABIC MEDIUM" pitchFamily="2" charset="-78"/>
                <a:cs typeface="☞DIODRUM ARABIC MEDIUM" pitchFamily="2" charset="-78"/>
              </a:rPr>
              <a:t>خطوط Diodrum Arabic المضمّنة في القالب جزئية (حروف القالب فقط)؛ ثبّت الخط على جهاز العرض أو استخدم نسخة PDF المرفقة احتياطًا.</a:t>
            </a:r>
            <a:endParaRPr lang="ar-SA" sz="1350" dirty="0"/>
          </a:p>
        </p:txBody>
      </p:sp>
      <p:sp>
        <p:nvSpPr>
          <p:cNvPr id="15" name="بند 4"/>
          <p:cNvSpPr/>
          <p:nvPr/>
        </p:nvSpPr>
        <p:spPr>
          <a:xfrm>
            <a:off x="841248" y="4352544"/>
            <a:ext cx="10515600" cy="731520"/>
          </a:xfrm>
          <a:prstGeom prst="roundRect">
            <a:avLst>
              <a:gd name="adj" fmla="val 17500"/>
            </a:avLst>
          </a:prstGeom>
          <a:solidFill>
            <a:srgbClr val="F5F5F5"/>
          </a:solidFill>
          <a:ln>
            <a:noFill/>
          </a:ln>
        </p:spPr>
        <p:txBody>
          <a:bodyPr wrap="square" lIns="91440" tIns="45720" rIns="91440" bIns="45720" rtlCol="0" anchor="t">
            <a:noAutofit/>
          </a:bodyPr>
          <a:lstStyle/>
          <a:p>
            <a:endParaRPr lang="ar-SA"/>
          </a:p>
        </p:txBody>
      </p:sp>
      <p:sp>
        <p:nvSpPr>
          <p:cNvPr id="16" name="عنوان"/>
          <p:cNvSpPr txBox="1"/>
          <p:nvPr/>
        </p:nvSpPr>
        <p:spPr>
          <a:xfrm>
            <a:off x="9025128" y="4352544"/>
            <a:ext cx="2103120" cy="731520"/>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بيانات ناقصة</a:t>
            </a:r>
            <a:endParaRPr lang="ar-SA" sz="1600" dirty="0"/>
          </a:p>
        </p:txBody>
      </p:sp>
      <p:sp>
        <p:nvSpPr>
          <p:cNvPr id="17" name="نص"/>
          <p:cNvSpPr txBox="1"/>
          <p:nvPr/>
        </p:nvSpPr>
        <p:spPr>
          <a:xfrm>
            <a:off x="1069848" y="4352544"/>
            <a:ext cx="7589520" cy="731520"/>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350" b="0" i="0" dirty="0" noProof="1">
                <a:solidFill>
                  <a:srgbClr val="333333"/>
                </a:solidFill>
                <a:latin typeface="☞DIODRUM ARABIC MEDIUM" pitchFamily="2" charset="-78"/>
                <a:cs typeface="☞DIODRUM ARABIC MEDIUM" pitchFamily="2" charset="-78"/>
              </a:rPr>
              <a:t>الملحق 2 (تواريخ ومشاركو الاجتماعات) وأسماء الجهات الخمس وحالة ردود الجهات الـ52 وتاريخ قطع الأرقام.</a:t>
            </a:r>
            <a:endParaRPr lang="ar-SA" sz="1350" dirty="0"/>
          </a:p>
        </p:txBody>
      </p:sp>
      <p:sp>
        <p:nvSpPr>
          <p:cNvPr id="18" name="بند 5"/>
          <p:cNvSpPr/>
          <p:nvPr/>
        </p:nvSpPr>
        <p:spPr>
          <a:xfrm>
            <a:off x="841248" y="5148072"/>
            <a:ext cx="10515600" cy="731520"/>
          </a:xfrm>
          <a:prstGeom prst="roundRect">
            <a:avLst>
              <a:gd name="adj" fmla="val 17500"/>
            </a:avLst>
          </a:prstGeom>
          <a:solidFill>
            <a:srgbClr val="F5F5F5"/>
          </a:solidFill>
          <a:ln>
            <a:noFill/>
          </a:ln>
        </p:spPr>
        <p:txBody>
          <a:bodyPr wrap="square" lIns="91440" tIns="45720" rIns="91440" bIns="45720" rtlCol="0" anchor="t">
            <a:noAutofit/>
          </a:bodyPr>
          <a:lstStyle/>
          <a:p>
            <a:endParaRPr lang="ar-SA"/>
          </a:p>
        </p:txBody>
      </p:sp>
      <p:sp>
        <p:nvSpPr>
          <p:cNvPr id="19" name="عنوان"/>
          <p:cNvSpPr txBox="1"/>
          <p:nvPr/>
        </p:nvSpPr>
        <p:spPr>
          <a:xfrm>
            <a:off x="9025128" y="5148072"/>
            <a:ext cx="2103120" cy="731520"/>
          </a:xfrm>
          <a:prstGeom prst="rect">
            <a:avLst/>
          </a:prstGeom>
          <a:noFill/>
          <a:ln>
            <a:noFill/>
          </a:ln>
        </p:spPr>
        <p:txBody>
          <a:bodyPr wrap="square" lIns="0" tIns="0" rIns="0" bIns="0" rtlCol="0" anchor="ctr">
            <a:noAutofit/>
          </a:bodyPr>
          <a:lstStyle/>
          <a:p>
            <a:pPr marL="0" indent="0" algn="r" rtl="1">
              <a:lnSpc>
                <a:spcPts val="2300"/>
              </a:lnSpc>
              <a:spcBef>
                <a:spcPts val="0"/>
              </a:spcBef>
              <a:spcAft>
                <a:spcPts val="0"/>
              </a:spcAft>
              <a:buNone/>
            </a:pPr>
            <a:r>
              <a:rPr lang="ar-SA" sz="1600" b="0" i="0" dirty="0" noProof="1">
                <a:solidFill>
                  <a:srgbClr val="7C32C9"/>
                </a:solidFill>
                <a:latin typeface="☞DIODRUM ARABIC SEMIBOLD" pitchFamily="2" charset="-78"/>
                <a:cs typeface="☞DIODRUM ARABIC SEMIBOLD" pitchFamily="2" charset="-78"/>
              </a:rPr>
              <a:t>تعديلات على النص</a:t>
            </a:r>
            <a:endParaRPr lang="ar-SA" sz="1600" dirty="0"/>
          </a:p>
        </p:txBody>
      </p:sp>
      <p:sp>
        <p:nvSpPr>
          <p:cNvPr id="20" name="نص"/>
          <p:cNvSpPr txBox="1"/>
          <p:nvPr/>
        </p:nvSpPr>
        <p:spPr>
          <a:xfrm>
            <a:off x="1069848" y="5148072"/>
            <a:ext cx="7589520" cy="731520"/>
          </a:xfrm>
          <a:prstGeom prst="rect">
            <a:avLst/>
          </a:prstGeom>
          <a:noFill/>
          <a:ln>
            <a:noFill/>
          </a:ln>
        </p:spPr>
        <p:txBody>
          <a:bodyPr wrap="square" lIns="0" tIns="0" rIns="0" bIns="0" rtlCol="0" anchor="ctr">
            <a:noAutofit/>
          </a:bodyPr>
          <a:lstStyle/>
          <a:p>
            <a:pPr marL="0" indent="0" algn="r" rtl="1">
              <a:lnSpc>
                <a:spcPts val="1900"/>
              </a:lnSpc>
              <a:spcBef>
                <a:spcPts val="0"/>
              </a:spcBef>
              <a:spcAft>
                <a:spcPts val="0"/>
              </a:spcAft>
              <a:buNone/>
            </a:pPr>
            <a:r>
              <a:rPr lang="ar-SA" sz="1350" b="0" i="0" dirty="0" noProof="1">
                <a:solidFill>
                  <a:srgbClr val="333333"/>
                </a:solidFill>
                <a:latin typeface="☞DIODRUM ARABIC MEDIUM" pitchFamily="2" charset="-78"/>
                <a:cs typeface="☞DIODRUM ARABIC MEDIUM" pitchFamily="2" charset="-78"/>
              </a:rPr>
              <a:t>حُذفت «من المعالي» من عنوان الملحق 5؛ وأُشير في الشريحة 14 إلى «أرقام قدراتك في الشريحة 5» بدل رقم 222؛ وعُدّلت «إفادة المستخدم» إلى «الإفادة عن النقاش» في الملحق 3-ج.</a:t>
            </a:r>
            <a:endParaRPr lang="ar-SA" sz="135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lang="ar-SA" dirty="0" noProof="1"/>
              <a:t>داخلي — سجل الإثبات قبل الاجتماع (1/4)</a:t>
            </a:r>
          </a:p>
        </p:txBody>
      </p:sp>
      <p:sp>
        <p:nvSpPr>
          <p:cNvPr id="3" name="Text Placeholder 2"/>
          <p:cNvSpPr>
            <a:spLocks noGrp="1"/>
          </p:cNvSpPr>
          <p:nvPr>
            <p:ph type="body" idx="13" sz="quarter"/>
          </p:nvPr>
        </p:nvSpPr>
        <p:spPr/>
        <p:txBody>
          <a:bodyPr/>
          <a:lstStyle/>
          <a:p>
            <a:r>
              <a:rPr lang="ar-SA" dirty="0" noProof="1"/>
              <a:t>قائمة عمل للمراجعة الداخلية؛ تُستكمل قبل تحويل النص إلى عرض معتمد.</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2743200" cy="274320"/>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FFFFFF"/>
                </a:solidFill>
                <a:latin typeface="☞DIODRUM ARABIC SEMIBOLD" pitchFamily="2" charset="-78"/>
                <a:cs typeface="☞DIODRUM ARABIC SEMIBOLD" pitchFamily="2" charset="-78"/>
              </a:rPr>
              <a:t>داخلي — للمراجعة فقط</a:t>
            </a:r>
            <a:endParaRPr lang="ar-SA" sz="1100" dirty="0"/>
          </a:p>
        </p:txBody>
      </p:sp>
      <p:graphicFrame>
        <p:nvGraphicFramePr>
          <p:cNvPr id="6" name="سجل الإثبات"/>
          <p:cNvGraphicFramePr>
            <a:graphicFrameLocks noGrp="1"/>
          </p:cNvGraphicFramePr>
          <p:nvPr/>
        </p:nvGraphicFramePr>
        <p:xfrm>
          <a:off x="841248" y="2011680"/>
          <a:ext cx="10515600" cy="3447288"/>
        </p:xfrm>
        <a:graphic>
          <a:graphicData uri="http://schemas.openxmlformats.org/drawingml/2006/table">
            <a:tbl>
              <a:tblPr firstRow="1"/>
              <a:tblGrid>
                <a:gridCol w="6583680"/>
                <a:gridCol w="3017520"/>
                <a:gridCol w="914400"/>
              </a:tblGrid>
              <a:tr h="402336">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المطلوب إثباته واستكماله</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العنوان</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الشريحة</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تاريخ الاجتماع والمسمى الرسمي للمبادرة واللجنة في عنوان العرض.</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التدريب في الذكاء الاصطناعي: تحديث العمل والتوجه المقترح</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العدد الإجمالي للاجتماعات، وحالة اعتماد الجهات الخمس؛ تجنب عرض التصور المقترح كقرار مشترك معتمد.</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لدينا تقدم في التدريب، والمرحلة التالية تحتاج إلى نموذج يربطه باحتياج الجهات</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2</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الألقاب الوظيفية للأستاذ محمد الربيعان والأستاذة صفاء الراشد، والاسم الرسمي للفريق واللجنة؛ مراجعة توزيع المسؤوليات مع الوزارة قبل وصفه بأنه متفق عليه.</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قيادة الوزارة ودعم قدراتك يحتاجان إلى توزيع تنفيذي واضح للأدوار</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3</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إرفاق سجل الاجتماعات الخمسة: التاريخ، المشاركون، موضوع الاجتماع، القرار أو المخرج، ومسؤول المتابعة. لا تُعامل تواريخ خارطة الطريق الوطنية كتواريخ اجتماعات.</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خمسة اجتماعات نقلت النقاش من عرض البرامج إلى تحديد احتياج الحكومة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4</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تاريخ قطع الأرقام؛ هل 222 أفراد فريدون أم مشاركات؟ هل البرامج الثمانية كلها ضمن النطاق ذاته؟ تحديث الردود من الجهات الـ52، وصف سجل الـ350، وتأكيد عقد الورشة وموعدها.</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استمر التدريب بالتوازي مع تجهيز المدخلات اللازمة للمبادرة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5</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lang="ar-SA" dirty="0" noProof="1"/>
              <a:t>داخلي — سجل الإثبات قبل الاجتماع (2/4)</a:t>
            </a:r>
          </a:p>
        </p:txBody>
      </p:sp>
      <p:sp>
        <p:nvSpPr>
          <p:cNvPr id="3" name="Text Placeholder 2"/>
          <p:cNvSpPr>
            <a:spLocks noGrp="1"/>
          </p:cNvSpPr>
          <p:nvPr>
            <p:ph type="body" idx="13" sz="quarter"/>
          </p:nvPr>
        </p:nvSpPr>
        <p:spPr/>
        <p:txBody>
          <a:bodyPr/>
          <a:lstStyle/>
          <a:p>
            <a:r>
              <a:rPr lang="ar-SA" dirty="0" noProof="1"/>
              <a:t>قائمة عمل للمراجعة الداخلية؛ تُستكمل قبل تحويل النص إلى عرض معتمد.</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2743200" cy="274320"/>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FFFFFF"/>
                </a:solidFill>
                <a:latin typeface="☞DIODRUM ARABIC SEMIBOLD" pitchFamily="2" charset="-78"/>
                <a:cs typeface="☞DIODRUM ARABIC SEMIBOLD" pitchFamily="2" charset="-78"/>
              </a:rPr>
              <a:t>داخلي — للمراجعة فقط</a:t>
            </a:r>
            <a:endParaRPr lang="ar-SA" sz="1100" dirty="0"/>
          </a:p>
        </p:txBody>
      </p:sp>
      <p:graphicFrame>
        <p:nvGraphicFramePr>
          <p:cNvPr id="6" name="سجل الإثبات"/>
          <p:cNvGraphicFramePr>
            <a:graphicFrameLocks noGrp="1"/>
          </p:cNvGraphicFramePr>
          <p:nvPr/>
        </p:nvGraphicFramePr>
        <p:xfrm>
          <a:off x="841248" y="2011680"/>
          <a:ext cx="10515600" cy="3657600"/>
        </p:xfrm>
        <a:graphic>
          <a:graphicData uri="http://schemas.openxmlformats.org/drawingml/2006/table">
            <a:tbl>
              <a:tblPr firstRow="1"/>
              <a:tblGrid>
                <a:gridCol w="6583680"/>
                <a:gridCol w="3017520"/>
                <a:gridCol w="914400"/>
              </a:tblGrid>
              <a:tr h="402336">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المطلوب إثباته واستكماله</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العنوان</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الشريحة</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مراجعة وضع كل خيار: هل نوقش فقط، أم صدرت بشأنه توصية، أم اعتُمد؟ توثيق حالة القرار قبل عرض الصياغة النهائية.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الانتقال إلى التنفيذ يتطلب حسم أربعة خيارات في تصميم المسار</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6</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الجهات الخمس، وصاحب قرار اختيارها، وعلاقة اختيارها بمعايير الأولوية والجاهزية، وعدم وصفها بأنها تمثل جميع الحكومة.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نوصي بإطار للحكومة وتنفيذ متدرج يبدأ بالجهات ذات الأولوية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7</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الاتفاق على تعريف كل مسار وربطه بشرائح الوزارة، وتحديد موضع المديرين وخبراء المجالات، وكيفية احتساب المستفيدين دون تكرار.</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ثلاثة مسارات تجمع البساطة في الإدارة والدقة في استهداف المستفيدين</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8</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الحصول على ورقة BCG أو العرض الأصلي، ومصدر عدد الموظفين وتعريفهم، وفترة التدريب، ومقام نسب 5% و15%، وتعريف القيادة والخبراء. لا تُنسب الأرقام إلى دراسة مثبتة قبل الحصول عليها.</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رقم 130 ألف يصلح لبحث حجم الاستهداف بعد تحديد أساس احتسابه</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9</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تحديد ملاك بيانات الموظفين والتدريب وقنوات طلبها، وتحديث نتائج مخاطبة الجهات. المراسلة تخص دراسة أثر الذكاء الاصطناعي على المهن؛ تُستخدم لبيان مصادر متاحة، ولا تُعامل كتفويض لحصر جميع موظفي الحكومة.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نستكمل البيانات الوطنية ونبدأ تشخيص الجهات الخمس في مسارين متوازيين</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10</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lang="ar-SA" dirty="0" noProof="1"/>
              <a:t>داخلي — سجل الإثبات قبل الاجتماع (3/4)</a:t>
            </a:r>
          </a:p>
        </p:txBody>
      </p:sp>
      <p:sp>
        <p:nvSpPr>
          <p:cNvPr id="3" name="Text Placeholder 2"/>
          <p:cNvSpPr>
            <a:spLocks noGrp="1"/>
          </p:cNvSpPr>
          <p:nvPr>
            <p:ph type="body" idx="13" sz="quarter"/>
          </p:nvPr>
        </p:nvSpPr>
        <p:spPr/>
        <p:txBody>
          <a:bodyPr/>
          <a:lstStyle/>
          <a:p>
            <a:r>
              <a:rPr lang="ar-SA" dirty="0" noProof="1"/>
              <a:t>قائمة عمل للمراجعة الداخلية؛ تُستكمل قبل تحويل النص إلى عرض معتمد.</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2743200" cy="274320"/>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FFFFFF"/>
                </a:solidFill>
                <a:latin typeface="☞DIODRUM ARABIC SEMIBOLD" pitchFamily="2" charset="-78"/>
                <a:cs typeface="☞DIODRUM ARABIC SEMIBOLD" pitchFamily="2" charset="-78"/>
              </a:rPr>
              <a:t>داخلي — للمراجعة فقط</a:t>
            </a:r>
            <a:endParaRPr lang="ar-SA" sz="1100" dirty="0"/>
          </a:p>
        </p:txBody>
      </p:sp>
      <p:graphicFrame>
        <p:nvGraphicFramePr>
          <p:cNvPr id="6" name="سجل الإثبات"/>
          <p:cNvGraphicFramePr>
            <a:graphicFrameLocks noGrp="1"/>
          </p:cNvGraphicFramePr>
          <p:nvPr/>
        </p:nvGraphicFramePr>
        <p:xfrm>
          <a:off x="841248" y="2011680"/>
          <a:ext cx="10515600" cy="3867912"/>
        </p:xfrm>
        <a:graphic>
          <a:graphicData uri="http://schemas.openxmlformats.org/drawingml/2006/table">
            <a:tbl>
              <a:tblPr firstRow="1"/>
              <a:tblGrid>
                <a:gridCol w="6583680"/>
                <a:gridCol w="3017520"/>
                <a:gridCol w="914400"/>
              </a:tblGrid>
              <a:tr h="402336">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المطلوب إثباته واستكماله</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العنوان</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الشريحة</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تثبيت تعريف المستويات والترشيح بحسب نطاق المسؤولية، وإرفاق مثالين موثقين لخبرة قدراتك في برامج القيادات. أسعار الدراسة استرشادية ولا تُعرض كميزانية أو عروض تعاقدية.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برامج القيادات تُصمم بحسب نطاق القرار والمسؤولية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11</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موعد الورشة والشركاء، وعدم وصفها بأنها تأهيل مكتمل لـFDE. تحديد المقصود بالمسار، ومعايير الدخول، والمخرج التطبيقي، والإرشاد بعد التدريب؛ لا توجد توصية شراء لمزود محدد.</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مسار المحترفين يجمع القدرة التقنية وفهم العمل الحكومي</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12</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تحديد الأدوات المتاحة في الجهات الأولى، وضوابط استخدامها، ومسؤول الدعم بعد التدريب، ووتيرة مراجعة المحتوى بحسب الحاجة.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الوعي والتبني يحتاجان إلى تعلم مستمر ومساندة داخل بيئة العمل</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13</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777240">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تأكيد تاريخ الملف ونطاقه؛ الحصول على مستندات الالتزام؛ مطابقة 115 مع 222 على مستوى البرامج والمستفيدين؛ تحديث حالة الشركاء السبعة. تجنب عرض نسبة إنجاز مبنية على نطاقين أو تاريخين مختلفين.</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نربط عروض الشركاء باحتياج المسارات ونوحّد متابعة المقاعد</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14</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مراجعة أي ميزانيات أو التزامات تمويل متاحة، والحصول على أسعار متجانسة في وحدات التكلفة والنطاق. لا يُستنتج مبلغ معتمد من أسعار برامج منفردة في الدراسة.</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نوصي بمزيج تمويل يستفيد من المساهمات ويمول الاحتياج المخصص</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15</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lang="ar-SA" dirty="0" noProof="1"/>
              <a:t>داخلي — سجل الإثبات قبل الاجتماع (4/4)</a:t>
            </a:r>
          </a:p>
        </p:txBody>
      </p:sp>
      <p:sp>
        <p:nvSpPr>
          <p:cNvPr id="3" name="Text Placeholder 2"/>
          <p:cNvSpPr>
            <a:spLocks noGrp="1"/>
          </p:cNvSpPr>
          <p:nvPr>
            <p:ph type="body" idx="13" sz="quarter"/>
          </p:nvPr>
        </p:nvSpPr>
        <p:spPr/>
        <p:txBody>
          <a:bodyPr/>
          <a:lstStyle/>
          <a:p>
            <a:r>
              <a:rPr lang="ar-SA" dirty="0" noProof="1"/>
              <a:t>قائمة عمل للمراجعة الداخلية؛ تُستكمل قبل تحويل النص إلى عرض معتمد.</a:t>
            </a:r>
          </a:p>
        </p:txBody>
      </p:sp>
      <p:sp>
        <p:nvSpPr>
          <p:cNvPr id="4" name="Slide Number"/>
          <p:cNvSpPr>
            <a:spLocks noGrp="1"/>
          </p:cNvSpPr>
          <p:nvPr>
            <p:ph type="sldNum" sz="quarter" idx="11"/>
          </p:nvPr>
        </p:nvSpPr>
        <p:spPr/>
        <p:txBody>
          <a:bodyPr/>
          <a:lstStyle/>
          <a:p>
            <a:fld id="{E783386A-6F2F-1D4B-9C0A-84490692B308}" type="slidenum">
              <a:rPr lang="en-US"/>
              <a:t>‹#›</a:t>
            </a:fld>
            <a:endParaRPr lang="en-US" dirty="0"/>
          </a:p>
        </p:txBody>
      </p:sp>
      <p:sp>
        <p:nvSpPr>
          <p:cNvPr id="5" name="وسم"/>
          <p:cNvSpPr/>
          <p:nvPr/>
        </p:nvSpPr>
        <p:spPr>
          <a:xfrm>
            <a:off x="841248" y="91440"/>
            <a:ext cx="2743200" cy="274320"/>
          </a:xfrm>
          <a:prstGeom prst="roundRect">
            <a:avLst>
              <a:gd name="adj" fmla="val 50000"/>
            </a:avLst>
          </a:prstGeom>
          <a:solidFill>
            <a:srgbClr val="7C32C9"/>
          </a:solidFill>
          <a:ln>
            <a:noFill/>
          </a:ln>
        </p:spPr>
        <p:txBody>
          <a:bodyPr wrap="square" lIns="54864" tIns="0" rIns="54864" bIns="0" rtlCol="0" anchor="ctr">
            <a:noAutofit/>
          </a:bodyPr>
          <a:lstStyle/>
          <a:p>
            <a:pPr marL="0" indent="0" algn="ctr" rtl="1">
              <a:lnSpc>
                <a:spcPts val="1375"/>
              </a:lnSpc>
              <a:spcBef>
                <a:spcPts val="0"/>
              </a:spcBef>
              <a:spcAft>
                <a:spcPts val="0"/>
              </a:spcAft>
              <a:buNone/>
            </a:pPr>
            <a:r>
              <a:rPr lang="ar-SA" sz="1100" b="0" i="0" dirty="0" noProof="1">
                <a:solidFill>
                  <a:srgbClr val="FFFFFF"/>
                </a:solidFill>
                <a:latin typeface="☞DIODRUM ARABIC SEMIBOLD" pitchFamily="2" charset="-78"/>
                <a:cs typeface="☞DIODRUM ARABIC SEMIBOLD" pitchFamily="2" charset="-78"/>
              </a:rPr>
              <a:t>داخلي — للمراجعة فقط</a:t>
            </a:r>
            <a:endParaRPr lang="ar-SA" sz="1100" dirty="0"/>
          </a:p>
        </p:txBody>
      </p:sp>
      <p:graphicFrame>
        <p:nvGraphicFramePr>
          <p:cNvPr id="6" name="سجل الإثبات"/>
          <p:cNvGraphicFramePr>
            <a:graphicFrameLocks noGrp="1"/>
          </p:cNvGraphicFramePr>
          <p:nvPr/>
        </p:nvGraphicFramePr>
        <p:xfrm>
          <a:off x="841248" y="2011680"/>
          <a:ext cx="10515600" cy="2103120"/>
        </p:xfrm>
        <a:graphic>
          <a:graphicData uri="http://schemas.openxmlformats.org/drawingml/2006/table">
            <a:tbl>
              <a:tblPr firstRow="1"/>
              <a:tblGrid>
                <a:gridCol w="6583680"/>
                <a:gridCol w="3017520"/>
                <a:gridCol w="914400"/>
              </a:tblGrid>
              <a:tr h="402336">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المطلوب إثباته واستكماله</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العنوان</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c>
                  <a:txBody>
                    <a:bodyPr/>
                    <a:lstStyle/>
                    <a:p>
                      <a:pPr marL="0" indent="0" algn="r" rtl="1">
                        <a:lnSpc>
                          <a:spcPts val="2100"/>
                        </a:lnSpc>
                        <a:spcBef>
                          <a:spcPts val="0"/>
                        </a:spcBef>
                        <a:spcAft>
                          <a:spcPts val="0"/>
                        </a:spcAft>
                        <a:buNone/>
                      </a:pPr>
                      <a:r>
                        <a:rPr lang="ar-SA" sz="1400" b="0" i="0" dirty="0" noProof="1">
                          <a:solidFill>
                            <a:srgbClr val="FFFFFF"/>
                          </a:solidFill>
                          <a:latin typeface="☞DIODRUM ARABIC SEMIBOLD" pitchFamily="2" charset="-78"/>
                          <a:cs typeface="☞DIODRUM ARABIC SEMIBOLD" pitchFamily="2" charset="-78"/>
                        </a:rPr>
                        <a:t>الشريحة</a:t>
                      </a:r>
                      <a:endParaRPr lang="ar-SA" sz="1400" dirty="0"/>
                    </a:p>
                  </a:txBody>
                  <a:tcPr marL="128016" marR="128016" marT="45720" marB="45720" anchor="ctr">
                    <a:lnL w="0">
                      <a:noFill/>
                    </a:lnL>
                    <a:lnR w="0">
                      <a:noFill/>
                    </a:lnR>
                    <a:lnT w="0">
                      <a:noFill/>
                    </a:lnT>
                    <a:lnB w="9525" cap="flat" cmpd="sng" algn="ctr">
                      <a:solidFill>
                        <a:srgbClr val="E2E4EA"/>
                      </a:solidFill>
                      <a:prstDash val="solid"/>
                    </a:lnB>
                    <a:solidFill>
                      <a:srgbClr val="00ABA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تحديد تاريخ بدء الخطة، ومسؤول كل مرحلة، وتواريخ وصول البيانات واعتماد البرامج والتمويل. لا يُعلن تنفيذ برامج مدفوعة قبل توافر اعتمادها.</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خطة العمل التالية تنتج نطاقًا معتمدًا وبرامج قابلة للتسعير والتنفيذ</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16</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تحديد المؤشرات وخط الأساس وآلية المتابعة لكل برنامج؛ فصل الرضا عن جودة التعلم وعن الأثر الفعلي، وتحديد مصدر النتائج ومسؤول التحقق منها.</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نقيس الوصول والتعلم والتطبيق ثم أثر الاستخدام على العمل</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17</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5F5F5"/>
                    </a:solidFill>
                  </a:tcPr>
                </a:tc>
              </a:tr>
              <a:tr h="566928">
                <a:tc>
                  <a:txBody>
                    <a:bodyPr/>
                    <a:lstStyle/>
                    <a:p>
                      <a:pPr marL="0" indent="0" algn="r" rtl="1">
                        <a:lnSpc>
                          <a:spcPts val="1800"/>
                        </a:lnSpc>
                        <a:spcBef>
                          <a:spcPts val="0"/>
                        </a:spcBef>
                        <a:spcAft>
                          <a:spcPts val="0"/>
                        </a:spcAft>
                        <a:buNone/>
                      </a:pPr>
                      <a:r>
                        <a:rPr lang="ar-SA" sz="1300" b="0" i="0" dirty="0" noProof="1">
                          <a:solidFill>
                            <a:srgbClr val="333333"/>
                          </a:solidFill>
                          <a:latin typeface="☞DIODRUM ARABIC MEDIUM" pitchFamily="2" charset="-78"/>
                          <a:cs typeface="☞DIODRUM ARABIC MEDIUM" pitchFamily="2" charset="-78"/>
                        </a:rPr>
                        <a:t>مراجعة سلطة القرار: توجيه أعمال الهيئة ومواءمتها مع الوزارة، ودعم طلب البيانات، ورفع خيارات التمويل؛ لا تُصاغ كتوجيه نافذ على جهات خارج نطاق اختصاص المعالي.</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r" rtl="1">
                        <a:lnSpc>
                          <a:spcPts val="1800"/>
                        </a:lnSpc>
                        <a:spcBef>
                          <a:spcPts val="0"/>
                        </a:spcBef>
                        <a:spcAft>
                          <a:spcPts val="0"/>
                        </a:spcAft>
                        <a:buNone/>
                      </a:pPr>
                      <a:r>
                        <a:rPr lang="ar-SA" sz="1300" b="0" i="0" dirty="0" noProof="1">
                          <a:solidFill>
                            <a:srgbClr val="2A206A"/>
                          </a:solidFill>
                          <a:latin typeface="☞DIODRUM ARABIC SEMIBOLD" pitchFamily="2" charset="-78"/>
                          <a:cs typeface="☞DIODRUM ARABIC SEMIBOLD" pitchFamily="2" charset="-78"/>
                        </a:rPr>
                        <a:t>نرفع أربعة توجيهات لاستكمال العمل المشترك والانتقال إلى التنفيذ</a:t>
                      </a:r>
                      <a:endParaRPr lang="ar-SA" sz="13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c>
                  <a:txBody>
                    <a:bodyPr/>
                    <a:lstStyle/>
                    <a:p>
                      <a:pPr marL="0" indent="0" algn="ctr" rtl="1">
                        <a:lnSpc>
                          <a:spcPts val="2600"/>
                        </a:lnSpc>
                        <a:spcBef>
                          <a:spcPts val="0"/>
                        </a:spcBef>
                        <a:spcAft>
                          <a:spcPts val="0"/>
                        </a:spcAft>
                        <a:buNone/>
                      </a:pPr>
                      <a:r>
                        <a:rPr lang="ar-SA" sz="1800" b="0" i="0" dirty="0" noProof="1">
                          <a:solidFill>
                            <a:srgbClr val="7C32C9"/>
                          </a:solidFill>
                          <a:latin typeface="☞DIODRUM ARABIC SEMIBOLD" pitchFamily="2" charset="-78"/>
                          <a:cs typeface="☞DIODRUM ARABIC SEMIBOLD" pitchFamily="2" charset="-78"/>
                        </a:rPr>
                        <a:t>18</a:t>
                      </a:r>
                      <a:endParaRPr lang="ar-SA" sz="1800" dirty="0"/>
                    </a:p>
                  </a:txBody>
                  <a:tcPr marL="128016" marR="128016" marT="45720" marB="45720" anchor="ctr">
                    <a:lnL w="0">
                      <a:noFill/>
                    </a:lnL>
                    <a:lnR w="0">
                      <a:noFill/>
                    </a:lnR>
                    <a:lnT w="9525" cap="flat" cmpd="sng" algn="ctr">
                      <a:solidFill>
                        <a:srgbClr val="E2E4EA"/>
                      </a:solidFill>
                      <a:prstDash val="solid"/>
                    </a:lnT>
                    <a:lnB w="9525" cap="flat" cmpd="sng" algn="ctr">
                      <a:solidFill>
                        <a:srgbClr val="E2E4EA"/>
                      </a:solidFill>
                      <a:prstDash val="soli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DGA COLORS">
      <a:dk1>
        <a:srgbClr val="FEFFFF"/>
      </a:dk1>
      <a:lt1>
        <a:srgbClr val="565755"/>
      </a:lt1>
      <a:dk2>
        <a:srgbClr val="00ABAE"/>
      </a:dk2>
      <a:lt2>
        <a:srgbClr val="7B31C9"/>
      </a:lt2>
      <a:accent1>
        <a:srgbClr val="1AC082"/>
      </a:accent1>
      <a:accent2>
        <a:srgbClr val="2A1F6A"/>
      </a:accent2>
      <a:accent3>
        <a:srgbClr val="B30001"/>
      </a:accent3>
      <a:accent4>
        <a:srgbClr val="FEA92B"/>
      </a:accent4>
      <a:accent5>
        <a:srgbClr val="BEE2FE"/>
      </a:accent5>
      <a:accent6>
        <a:srgbClr val="A3A1A1"/>
      </a:accent6>
      <a:hlink>
        <a:srgbClr val="0432FF"/>
      </a:hlink>
      <a:folHlink>
        <a:srgbClr val="0432FF"/>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dirty="0" err="1" smtClean="0">
            <a:latin typeface="Titillium" charset="0"/>
            <a:ea typeface="Titillium" charset="0"/>
            <a:cs typeface="Titillium" charset="0"/>
          </a:defRPr>
        </a:defPPr>
      </a:lstStyle>
    </a:txDef>
  </a:objectDefaults>
  <a:extraClrSchemeLst/>
  <a:extLst>
    <a:ext uri="{05A4C25C-085E-4340-85A3-A5531E510DB2}">
      <thm15:themeFamily xmlns:thm15="http://schemas.microsoft.com/office/thememl/2012/main" name="Presentation3" id="{D0116876-396B-624D-BCD8-D7D86EF221CB}" vid="{BC75A1D8-2C43-4D4B-8CF9-4ED4543FD3B1}"/>
    </a:ext>
  </a:extLst>
</a:theme>
</file>

<file path=ppt/theme/theme2.xml><?xml version="1.0" encoding="utf-8"?>
<a:theme xmlns:a="http://schemas.openxmlformats.org/drawingml/2006/main" name="Custom Design">
  <a:themeElements>
    <a:clrScheme name="DGA">
      <a:dk1>
        <a:srgbClr val="FEFFFF"/>
      </a:dk1>
      <a:lt1>
        <a:srgbClr val="565755"/>
      </a:lt1>
      <a:dk2>
        <a:srgbClr val="00ABAE"/>
      </a:dk2>
      <a:lt2>
        <a:srgbClr val="7B31C9"/>
      </a:lt2>
      <a:accent1>
        <a:srgbClr val="1AC082"/>
      </a:accent1>
      <a:accent2>
        <a:srgbClr val="2A1F6A"/>
      </a:accent2>
      <a:accent3>
        <a:srgbClr val="B30001"/>
      </a:accent3>
      <a:accent4>
        <a:srgbClr val="FEA92B"/>
      </a:accent4>
      <a:accent5>
        <a:srgbClr val="BEE2FE"/>
      </a:accent5>
      <a:accent6>
        <a:srgbClr val="A3A1A1"/>
      </a:accent6>
      <a:hlink>
        <a:srgbClr val="0432FF"/>
      </a:hlink>
      <a:folHlink>
        <a:srgbClr val="0432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41</Slides>
  <Notes>41</Notes>
  <HiddenSlides>5</HiddenSlides>
  <Company>هيئة الحكومة الرقمية</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التدريب في الذكاء الاصطناعي — تحديث لمعالي المحافظ</dc:title>
  <dc:creator>برنامج قدراتك — هيئة الحكومة الرقمية</dc:creator>
  <cp:lastModifiedBy>برنامج قدراتك — هيئة الحكومة الرقمية</cp:lastModifiedBy>
  <cp:revision>1</cp:revision>
  <dcterms:created xsi:type="dcterms:W3CDTF">2026-10-04T12:00:00Z</dcterms:created>
  <dcterms:modified xsi:type="dcterms:W3CDTF">2026-10-04T12:00:00Z</dcterms:modified>
  <dc:subject>برنامج قدراتك — هيئة الحكومة الرقمية</dc:subject>
  <cp:keywords>الذكاء الاصطناعي، التدريب، قدراتك، هيئة الحكومة الرقمية</cp:keywords>
  <dc:description/>
  <cp:category/>
</cp:coreProperties>
</file>

<file path=docProps/custom.xml><?xml version="1.0" encoding="utf-8"?>
<Properties xmlns="http://schemas.openxmlformats.org/officeDocument/2006/custom-properties" xmlns:vt="http://schemas.openxmlformats.org/officeDocument/2006/docPropsVTypes"/>
</file>